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Afacad Flux"/>
      <p:regular r:id="rId25"/>
      <p:bold r:id="rId26"/>
    </p:embeddedFont>
    <p:embeddedFont>
      <p:font typeface="Comfortaa"/>
      <p:regular r:id="rId27"/>
      <p:bold r:id="rId28"/>
    </p:embeddedFont>
    <p:embeddedFont>
      <p:font typeface="Afacad Flux SemiBol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facadFlux-bold.fntdata"/><Relationship Id="rId25" Type="http://schemas.openxmlformats.org/officeDocument/2006/relationships/font" Target="fonts/AfacadFlux-regular.fntdata"/><Relationship Id="rId28" Type="http://schemas.openxmlformats.org/officeDocument/2006/relationships/font" Target="fonts/Comfortaa-bold.fntdata"/><Relationship Id="rId27" Type="http://schemas.openxmlformats.org/officeDocument/2006/relationships/font" Target="fonts/Comforta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facadFlux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AfacadFlux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38.png"/><Relationship Id="rId8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46.png"/><Relationship Id="rId5" Type="http://schemas.openxmlformats.org/officeDocument/2006/relationships/image" Target="../media/image16.png"/><Relationship Id="rId6" Type="http://schemas.openxmlformats.org/officeDocument/2006/relationships/image" Target="../media/image48.png"/><Relationship Id="rId7" Type="http://schemas.openxmlformats.org/officeDocument/2006/relationships/image" Target="../media/image31.png"/><Relationship Id="rId8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9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46.png"/><Relationship Id="rId5" Type="http://schemas.openxmlformats.org/officeDocument/2006/relationships/image" Target="../media/image16.png"/><Relationship Id="rId6" Type="http://schemas.openxmlformats.org/officeDocument/2006/relationships/image" Target="../media/image33.png"/><Relationship Id="rId7" Type="http://schemas.openxmlformats.org/officeDocument/2006/relationships/image" Target="../media/image36.png"/><Relationship Id="rId8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42.png"/><Relationship Id="rId7" Type="http://schemas.openxmlformats.org/officeDocument/2006/relationships/image" Target="../media/image44.png"/><Relationship Id="rId8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Relationship Id="rId4" Type="http://schemas.openxmlformats.org/officeDocument/2006/relationships/image" Target="../media/image39.png"/><Relationship Id="rId5" Type="http://schemas.openxmlformats.org/officeDocument/2006/relationships/image" Target="../media/image43.png"/><Relationship Id="rId6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CFD8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635692" y="2138362"/>
            <a:ext cx="4920615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Phonetics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 Phonology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752850" y="4005262"/>
            <a:ext cx="46863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Or: Why "Ghoti" sounds like "Fish"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547937"/>
            <a:ext cx="361950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0" y="2547937"/>
            <a:ext cx="361950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547937"/>
            <a:ext cx="3619500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381000" y="381000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Intro Quiz: Trust Issues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381000" y="1652587"/>
            <a:ext cx="914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Q: Why shouldn't you trust English spelling?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81000" y="5910262"/>
            <a:ext cx="11430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(Spoiler: They are all correct.)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695688" y="3719512"/>
            <a:ext cx="99012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A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95325" y="4395787"/>
            <a:ext cx="299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Because "ough" has 9 different pronunciations.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605938" y="3719512"/>
            <a:ext cx="98012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B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600575" y="4395787"/>
            <a:ext cx="299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Because "phonetic" isn't even spelled phonetically.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501187" y="3719512"/>
            <a:ext cx="10001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C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05825" y="4395787"/>
            <a:ext cx="299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Because the alphabet was designed by chaos demons.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4062" y="28813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0" y="28813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58375" y="2881312"/>
            <a:ext cx="2857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571500" y="1638300"/>
            <a:ext cx="5200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Meme Placeholder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2124075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To the User: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Please paste your "IPA Beer" meme here.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2924175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Concept: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57250" y="3648075"/>
            <a:ext cx="4667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Customer: "I'd like an IPA."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57250" y="4133850"/>
            <a:ext cx="4667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Bartender: "wɪtʃ bɪə wʊd juː laɪk?"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57250" y="4619625"/>
            <a:ext cx="4667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Caption: Be careful what you ask for.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3600450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4086225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4572000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895600"/>
            <a:ext cx="547687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4314825"/>
            <a:ext cx="5476875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381000" y="381000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The Rules of Transcription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381000" y="2276475"/>
            <a:ext cx="5476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Don't write letters. Write sounds.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129587" y="3467100"/>
            <a:ext cx="198024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284C7"/>
                </a:solidFill>
                <a:latin typeface="Afacad Flux"/>
                <a:ea typeface="Afacad Flux"/>
                <a:cs typeface="Afacad Flux"/>
                <a:sym typeface="Afacad Flux"/>
              </a:rPr>
              <a:t>[ b æ ŋ ]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66750" y="2809875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[ ] Square Brackets: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Phonetics (The physical sound).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66750" y="3295650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/ / Slanted Brackets: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Phonology (The mental category).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66750" y="3781425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&lt; &gt; Angle Brackets: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Orthography (The spelling).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4695825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Fun Fact: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"Bang" ends with [ŋ]. There is no [g] sound, despite the spelling. "Photo" and "Enough" share the same [f] sound.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381000" y="2762250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381000" y="3248025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381000" y="3733800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928937"/>
            <a:ext cx="361950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0" y="2928937"/>
            <a:ext cx="361950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928937"/>
            <a:ext cx="3619500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381000" y="381000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Intro Quiz: Air Traffic Control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381000" y="2033587"/>
            <a:ext cx="914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Q: What is the difference between a "Stop" and a "Fricative"?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695688" y="4100512"/>
            <a:ext cx="99012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A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95325" y="4776787"/>
            <a:ext cx="299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 Stop blocks air completely; a Fricative creates friction.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605938" y="4100512"/>
            <a:ext cx="98012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B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4600575" y="4776787"/>
            <a:ext cx="299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 Stop is a red light; a Fricative is a yellow light.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501187" y="4100512"/>
            <a:ext cx="10001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C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505825" y="4776787"/>
            <a:ext cx="299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 Fricative is just a Stop with commitment issues.</a:t>
            </a:r>
            <a:endParaRPr/>
          </a:p>
        </p:txBody>
      </p:sp>
      <p:pic>
        <p:nvPicPr>
          <p:cNvPr descr="image.png" id="150" name="Google Shape;15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0250" y="32623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76937" y="3262312"/>
            <a:ext cx="2381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10750" y="3262312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/>
        </p:nvSpPr>
        <p:spPr>
          <a:xfrm>
            <a:off x="571500" y="1519237"/>
            <a:ext cx="5200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Meme Placeholder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2005012"/>
            <a:ext cx="495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To the User: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Please paste your "Suez Canal Ship" meme here.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3148012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Concept:</a:t>
            </a:r>
            <a:endParaRPr/>
          </a:p>
        </p:txBody>
      </p:sp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857250" y="3871912"/>
            <a:ext cx="4667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Left (Fricative): Ship moving through narrow gap.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57250" y="4357687"/>
            <a:ext cx="4667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Right (Stop): Ship stuck sideways blocking everything.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3824287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4310062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5391150"/>
            <a:ext cx="1143000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381000" y="381000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Manner of Articulation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23875" y="5762625"/>
            <a:ext cx="11144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Affricates: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The Remix. Start as a stop, release as a fricative (e.g., [ʧ] "cheap").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381000" y="2241798"/>
            <a:ext cx="57507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Stops (Plosives)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381000" y="2708523"/>
            <a:ext cx="5476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Block airflow completely, then let it explode.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334125" y="2241798"/>
            <a:ext cx="57507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Fricatives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334125" y="2708523"/>
            <a:ext cx="5476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Almost block airflow, squeezing it through a narrow gap.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66750" y="3280023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Voiceless: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[p], [t], [k]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66750" y="3765798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Voiced: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[b], [d], [g]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619875" y="3280023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[f], [v], [s], [z], [h]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6619875" y="3765798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"My love for you is like a fricative... it never stops."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381000" y="3232398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381000" y="3718173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334125" y="3232398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334125" y="3718173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466850"/>
            <a:ext cx="54768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381000" y="381000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The Consonant Chart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381000" y="2943225"/>
            <a:ext cx="5476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This chart maps sounds by:</a:t>
            </a:r>
            <a:endParaRPr/>
          </a:p>
        </p:txBody>
      </p:sp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-639960"/>
            <a:ext cx="5476875" cy="897627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666750" y="3514725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Place: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Where in the mouth? (Lips, Teeth, Palate)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66750" y="4000500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Manner: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How is air blocked? (Stop, Fricative)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66750" y="4486275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Voicing: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Are the vocal cords vibrating?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381000" y="3467100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381000" y="3952875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381000" y="4438650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100387"/>
            <a:ext cx="361950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0" y="3100387"/>
            <a:ext cx="361950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3100387"/>
            <a:ext cx="361950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381000" y="381000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Intro Quiz: Tongue Gymnastics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381000" y="2205037"/>
            <a:ext cx="914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Q: To make the sound [i] (as in "heat"), where is your tongue?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1695688" y="4271962"/>
            <a:ext cx="99012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A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1200150" y="4948237"/>
            <a:ext cx="1981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High and to the Front.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5605938" y="4271962"/>
            <a:ext cx="98012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B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5143500" y="4948237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Relaxing on the sofa.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9501187" y="4271962"/>
            <a:ext cx="10001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C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8667750" y="4948237"/>
            <a:ext cx="2667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Trying to escape your mouth.</a:t>
            </a:r>
            <a:endParaRPr/>
          </a:p>
        </p:txBody>
      </p:sp>
      <p:pic>
        <p:nvPicPr>
          <p:cNvPr descr="image.png" id="213" name="Google Shape;21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47875" y="3433762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875" y="34337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34562" y="3433762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775817"/>
            <a:ext cx="5476875" cy="414456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381000" y="381000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The Vowel Quadrilateral</a:t>
            </a:r>
            <a:endParaRPr/>
          </a:p>
        </p:txBody>
      </p:sp>
      <p:pic>
        <p:nvPicPr>
          <p:cNvPr descr="image.png"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775817"/>
            <a:ext cx="5476875" cy="414456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6334125" y="2824162"/>
            <a:ext cx="57507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Mapping the Mouth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619875" y="3240583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High Front [i]: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"Bead" (Mouth closed, tongue forward).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619875" y="3726358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Low Back [ɑ]: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"Bob" (Mouth open, tongue back).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619875" y="4212133"/>
            <a:ext cx="5191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The Schwa [ə]: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The sound of laziness. Central, unstressed, effortless. (e.g., "About").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334125" y="3192958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334125" y="3678733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334125" y="4164508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947862"/>
            <a:ext cx="361950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0" y="1947862"/>
            <a:ext cx="361950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947862"/>
            <a:ext cx="361950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381000" y="381000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Diphthongs: Vowels on the Move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381000" y="5176837"/>
            <a:ext cx="1143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Accent Note: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Americans pronounce the final [r] in "Car". British English drops the [r] and often uses diphthongs instead.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1913844" y="2528887"/>
            <a:ext cx="55366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[ aɪ ]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1628775" y="3205162"/>
            <a:ext cx="1123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Buy, Eye, My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057275" y="4005262"/>
            <a:ext cx="22669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Gliding from Low to High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5788934" y="2528887"/>
            <a:ext cx="61398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[ aʊ ]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5553075" y="3205162"/>
            <a:ext cx="1085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Cow, Doubt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5286375" y="4005262"/>
            <a:ext cx="1619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The "Ouch" sound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9716530" y="2528887"/>
            <a:ext cx="56928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[ ɔɪ ]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9525000" y="3205162"/>
            <a:ext cx="95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Boy, Noise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9105900" y="4005262"/>
            <a:ext cx="179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The "Oy Vey" sound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928937"/>
            <a:ext cx="361950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0" y="2928937"/>
            <a:ext cx="361950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928937"/>
            <a:ext cx="3619500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381000" y="381000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Intro Quiz: Perception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381000" y="2033587"/>
            <a:ext cx="914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Q: If a Phonologist looks at a dog, what do they see?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1695688" y="4100512"/>
            <a:ext cx="99012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A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695325" y="4776787"/>
            <a:ext cx="299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 contrastively meaningful sequence of segments.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5605938" y="4100512"/>
            <a:ext cx="98012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B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5557837" y="4776787"/>
            <a:ext cx="10763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 good boy.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9501187" y="4100512"/>
            <a:ext cx="10001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C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9648825" y="4776787"/>
            <a:ext cx="7048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[ d ɔ g ]</a:t>
            </a:r>
            <a:endParaRPr/>
          </a:p>
        </p:txBody>
      </p:sp>
      <p:pic>
        <p:nvPicPr>
          <p:cNvPr descr="image.png" id="263" name="Google Shape;26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0250" y="32623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1687" y="326231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63125" y="3262312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382589"/>
            <a:ext cx="5476875" cy="2931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82589"/>
            <a:ext cx="5476875" cy="293102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381000" y="381000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Phonemes vs. Allophones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666750" y="2846635"/>
            <a:ext cx="515064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Phoneme / /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666750" y="3313360"/>
            <a:ext cx="4905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The Mental Idea.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666750" y="3884860"/>
            <a:ext cx="4905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If you swap a phoneme, you change the meaning.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666750" y="4456360"/>
            <a:ext cx="4905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Example: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Fat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vs.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Vat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6619875" y="2846635"/>
            <a:ext cx="515064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Allophone [ ]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6619875" y="3313360"/>
            <a:ext cx="4905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The Physical Reality.</a:t>
            </a:r>
            <a:endParaRPr/>
          </a:p>
        </p:txBody>
      </p:sp>
      <p:sp>
        <p:nvSpPr>
          <p:cNvPr id="279" name="Google Shape;279;p25"/>
          <p:cNvSpPr txBox="1"/>
          <p:nvPr/>
        </p:nvSpPr>
        <p:spPr>
          <a:xfrm>
            <a:off x="6619875" y="3884860"/>
            <a:ext cx="4905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Different versions of the same sound.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6619875" y="4456360"/>
            <a:ext cx="4905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Example: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The [t] in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Tar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(exploded) vs.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Star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(soft).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6"/>
          <p:cNvSpPr txBox="1"/>
          <p:nvPr/>
        </p:nvSpPr>
        <p:spPr>
          <a:xfrm>
            <a:off x="571500" y="2157412"/>
            <a:ext cx="5200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Meme Placeholder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571500" y="2643187"/>
            <a:ext cx="495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To the User: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Please paste your "Futurama Fry" meme here.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571500" y="3786187"/>
            <a:ext cx="495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Concept: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"Not sure if those are allophones or different phonemes."</a:t>
            </a:r>
            <a:endParaRPr/>
          </a:p>
        </p:txBody>
      </p:sp>
      <p:pic>
        <p:nvPicPr>
          <p:cNvPr descr="image.png" id="288" name="Google Shape;2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3" name="Google Shape;29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3100387"/>
            <a:ext cx="361950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0" y="3100387"/>
            <a:ext cx="361950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3100387"/>
            <a:ext cx="361950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7"/>
          <p:cNvSpPr txBox="1"/>
          <p:nvPr/>
        </p:nvSpPr>
        <p:spPr>
          <a:xfrm>
            <a:off x="381000" y="381000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Intro Quiz: Rhyme Time</a:t>
            </a:r>
            <a:endParaRPr/>
          </a:p>
        </p:txBody>
      </p:sp>
      <p:sp>
        <p:nvSpPr>
          <p:cNvPr id="297" name="Google Shape;297;p27"/>
          <p:cNvSpPr txBox="1"/>
          <p:nvPr/>
        </p:nvSpPr>
        <p:spPr>
          <a:xfrm>
            <a:off x="381000" y="2205037"/>
            <a:ext cx="914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Q: Which of these is a "Minimal Pair"?</a:t>
            </a:r>
            <a:endParaRPr/>
          </a:p>
        </p:txBody>
      </p:sp>
      <p:sp>
        <p:nvSpPr>
          <p:cNvPr id="298" name="Google Shape;298;p27"/>
          <p:cNvSpPr txBox="1"/>
          <p:nvPr/>
        </p:nvSpPr>
        <p:spPr>
          <a:xfrm>
            <a:off x="1695688" y="4271962"/>
            <a:ext cx="99012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A</a:t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1600200" y="4948237"/>
            <a:ext cx="1181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Fan and Van.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5605938" y="4271962"/>
            <a:ext cx="98012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B</a:t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4972050" y="4948237"/>
            <a:ext cx="2247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Orange and Door-hinge.</a:t>
            </a:r>
            <a:endParaRPr/>
          </a:p>
        </p:txBody>
      </p:sp>
      <p:sp>
        <p:nvSpPr>
          <p:cNvPr id="302" name="Google Shape;302;p27"/>
          <p:cNvSpPr txBox="1"/>
          <p:nvPr/>
        </p:nvSpPr>
        <p:spPr>
          <a:xfrm>
            <a:off x="9501187" y="4271962"/>
            <a:ext cx="10001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C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9043987" y="4948237"/>
            <a:ext cx="19145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Tomato and Tomato.</a:t>
            </a:r>
            <a:endParaRPr/>
          </a:p>
        </p:txBody>
      </p:sp>
      <p:pic>
        <p:nvPicPr>
          <p:cNvPr descr="image.png" id="304" name="Google Shape;30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2625" y="34337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1687" y="343376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10750" y="3433762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"/>
          <p:cNvSpPr txBox="1"/>
          <p:nvPr/>
        </p:nvSpPr>
        <p:spPr>
          <a:xfrm>
            <a:off x="381000" y="381000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Minimal Pairs &amp; Phonotactics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381000" y="2756148"/>
            <a:ext cx="57507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The Test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381000" y="3222873"/>
            <a:ext cx="54768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If changing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one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sound changes the meaning, those sounds are distinct phonemes.</a:t>
            </a:r>
            <a:endParaRPr/>
          </a:p>
        </p:txBody>
      </p:sp>
      <p:sp>
        <p:nvSpPr>
          <p:cNvPr id="314" name="Google Shape;314;p28"/>
          <p:cNvSpPr txBox="1"/>
          <p:nvPr/>
        </p:nvSpPr>
        <p:spPr>
          <a:xfrm>
            <a:off x="6334125" y="2927598"/>
            <a:ext cx="57507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Phonotactics</a:t>
            </a: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6334125" y="3394323"/>
            <a:ext cx="5476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The "Rules of the Club". Some sounds just can't sit together.</a:t>
            </a:r>
            <a:endParaRPr/>
          </a:p>
        </p:txBody>
      </p:sp>
      <p:sp>
        <p:nvSpPr>
          <p:cNvPr id="316" name="Google Shape;316;p28"/>
          <p:cNvSpPr txBox="1"/>
          <p:nvPr/>
        </p:nvSpPr>
        <p:spPr>
          <a:xfrm>
            <a:off x="666750" y="4137273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Pair: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Fan vs. Van (/f/ vs /v/)</a:t>
            </a:r>
            <a:endParaRPr/>
          </a:p>
        </p:txBody>
      </p:sp>
      <p:sp>
        <p:nvSpPr>
          <p:cNvPr id="317" name="Google Shape;317;p28"/>
          <p:cNvSpPr txBox="1"/>
          <p:nvPr/>
        </p:nvSpPr>
        <p:spPr>
          <a:xfrm>
            <a:off x="666750" y="4623048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Set: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Big, Pig, Rig, Fig, Dig, Wig</a:t>
            </a:r>
            <a:endParaRPr/>
          </a:p>
        </p:txBody>
      </p:sp>
      <p:sp>
        <p:nvSpPr>
          <p:cNvPr id="318" name="Google Shape;318;p28"/>
          <p:cNvSpPr txBox="1"/>
          <p:nvPr/>
        </p:nvSpPr>
        <p:spPr>
          <a:xfrm>
            <a:off x="6619875" y="3965823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Legal: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/pl-/ (Play), /kl-/ (Clean)</a:t>
            </a:r>
            <a:endParaRPr/>
          </a:p>
        </p:txBody>
      </p:sp>
      <p:sp>
        <p:nvSpPr>
          <p:cNvPr id="319" name="Google Shape;319;p28"/>
          <p:cNvSpPr txBox="1"/>
          <p:nvPr/>
        </p:nvSpPr>
        <p:spPr>
          <a:xfrm>
            <a:off x="6619875" y="4451598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Illegal: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/vl-/, /nl-/, /fsig/</a:t>
            </a:r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381000" y="4089648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321" name="Google Shape;321;p28"/>
          <p:cNvSpPr txBox="1"/>
          <p:nvPr/>
        </p:nvSpPr>
        <p:spPr>
          <a:xfrm>
            <a:off x="381000" y="4575423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322" name="Google Shape;322;p28"/>
          <p:cNvSpPr txBox="1"/>
          <p:nvPr/>
        </p:nvSpPr>
        <p:spPr>
          <a:xfrm>
            <a:off x="6334125" y="3918198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6334125" y="4403973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pic>
        <p:nvPicPr>
          <p:cNvPr descr="image.png" id="324" name="Google Shape;32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9875" y="4013448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9875" y="4499223"/>
            <a:ext cx="1714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0" name="Google Shape;33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928937"/>
            <a:ext cx="361950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0" y="2928937"/>
            <a:ext cx="361950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928937"/>
            <a:ext cx="3619500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9"/>
          <p:cNvSpPr txBox="1"/>
          <p:nvPr/>
        </p:nvSpPr>
        <p:spPr>
          <a:xfrm>
            <a:off x="381000" y="381000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Intro Quiz: Fast Talk</a:t>
            </a:r>
            <a:endParaRPr/>
          </a:p>
        </p:txBody>
      </p:sp>
      <p:sp>
        <p:nvSpPr>
          <p:cNvPr id="334" name="Google Shape;334;p29"/>
          <p:cNvSpPr txBox="1"/>
          <p:nvPr/>
        </p:nvSpPr>
        <p:spPr>
          <a:xfrm>
            <a:off x="381000" y="2033587"/>
            <a:ext cx="914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334155"/>
                </a:solidFill>
                <a:latin typeface="Afacad Flux SemiBold"/>
                <a:ea typeface="Afacad Flux SemiBold"/>
                <a:cs typeface="Afacad Flux SemiBold"/>
                <a:sym typeface="Afacad Flux SemiBold"/>
              </a:rPr>
              <a:t>Q: Why do we say "Hafta" instead of "Have to"?</a:t>
            </a:r>
            <a:endParaRPr/>
          </a:p>
        </p:txBody>
      </p:sp>
      <p:sp>
        <p:nvSpPr>
          <p:cNvPr id="335" name="Google Shape;335;p29"/>
          <p:cNvSpPr txBox="1"/>
          <p:nvPr/>
        </p:nvSpPr>
        <p:spPr>
          <a:xfrm>
            <a:off x="1695688" y="4100512"/>
            <a:ext cx="99012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A</a:t>
            </a:r>
            <a:endParaRPr/>
          </a:p>
        </p:txBody>
      </p:sp>
      <p:sp>
        <p:nvSpPr>
          <p:cNvPr id="336" name="Google Shape;336;p29"/>
          <p:cNvSpPr txBox="1"/>
          <p:nvPr/>
        </p:nvSpPr>
        <p:spPr>
          <a:xfrm>
            <a:off x="695325" y="4776787"/>
            <a:ext cx="299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Our brains anticipate the next sound (Assimilation).</a:t>
            </a:r>
            <a:endParaRPr/>
          </a:p>
        </p:txBody>
      </p:sp>
      <p:sp>
        <p:nvSpPr>
          <p:cNvPr id="337" name="Google Shape;337;p29"/>
          <p:cNvSpPr txBox="1"/>
          <p:nvPr/>
        </p:nvSpPr>
        <p:spPr>
          <a:xfrm>
            <a:off x="5605938" y="4100512"/>
            <a:ext cx="98012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B</a:t>
            </a:r>
            <a:endParaRPr/>
          </a:p>
        </p:txBody>
      </p:sp>
      <p:sp>
        <p:nvSpPr>
          <p:cNvPr id="338" name="Google Shape;338;p29"/>
          <p:cNvSpPr txBox="1"/>
          <p:nvPr/>
        </p:nvSpPr>
        <p:spPr>
          <a:xfrm>
            <a:off x="4600575" y="4776787"/>
            <a:ext cx="29908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Because enunciating is exhausting.</a:t>
            </a:r>
            <a:endParaRPr/>
          </a:p>
        </p:txBody>
      </p:sp>
      <p:sp>
        <p:nvSpPr>
          <p:cNvPr id="339" name="Google Shape;339;p29"/>
          <p:cNvSpPr txBox="1"/>
          <p:nvPr/>
        </p:nvSpPr>
        <p:spPr>
          <a:xfrm>
            <a:off x="9501187" y="4100512"/>
            <a:ext cx="10001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Option C</a:t>
            </a:r>
            <a:endParaRPr/>
          </a:p>
        </p:txBody>
      </p:sp>
      <p:sp>
        <p:nvSpPr>
          <p:cNvPr id="340" name="Google Shape;340;p29"/>
          <p:cNvSpPr txBox="1"/>
          <p:nvPr/>
        </p:nvSpPr>
        <p:spPr>
          <a:xfrm>
            <a:off x="9386887" y="4776787"/>
            <a:ext cx="12287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Both A and B.</a:t>
            </a:r>
            <a:endParaRPr/>
          </a:p>
        </p:txBody>
      </p:sp>
      <p:pic>
        <p:nvPicPr>
          <p:cNvPr descr="image.png" id="341" name="Google Shape;34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4062" y="32623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875" y="32623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34562" y="3262312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"/>
          <p:cNvSpPr txBox="1"/>
          <p:nvPr/>
        </p:nvSpPr>
        <p:spPr>
          <a:xfrm>
            <a:off x="381000" y="381000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Why We Sound Different Than We Spell</a:t>
            </a:r>
            <a:endParaRPr/>
          </a:p>
        </p:txBody>
      </p:sp>
      <p:sp>
        <p:nvSpPr>
          <p:cNvPr id="349" name="Google Shape;349;p30"/>
          <p:cNvSpPr txBox="1"/>
          <p:nvPr/>
        </p:nvSpPr>
        <p:spPr>
          <a:xfrm>
            <a:off x="381000" y="2789485"/>
            <a:ext cx="57507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Assimilation</a:t>
            </a:r>
            <a:endParaRPr/>
          </a:p>
        </p:txBody>
      </p:sp>
      <p:sp>
        <p:nvSpPr>
          <p:cNvPr id="350" name="Google Shape;350;p30"/>
          <p:cNvSpPr txBox="1"/>
          <p:nvPr/>
        </p:nvSpPr>
        <p:spPr>
          <a:xfrm>
            <a:off x="381000" y="3256210"/>
            <a:ext cx="54768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One sound copies a feature from its neighbor to make it easier to say.</a:t>
            </a:r>
            <a:endParaRPr/>
          </a:p>
        </p:txBody>
      </p:sp>
      <p:sp>
        <p:nvSpPr>
          <p:cNvPr id="351" name="Google Shape;351;p30"/>
          <p:cNvSpPr txBox="1"/>
          <p:nvPr/>
        </p:nvSpPr>
        <p:spPr>
          <a:xfrm>
            <a:off x="381000" y="4170610"/>
            <a:ext cx="54768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Example: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"I have to" → /v/ becomes voiceless /f/ to match the /t/. Result: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"Hafta"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6334125" y="2675185"/>
            <a:ext cx="57507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Elision</a:t>
            </a:r>
            <a:endParaRPr/>
          </a:p>
        </p:txBody>
      </p:sp>
      <p:sp>
        <p:nvSpPr>
          <p:cNvPr id="353" name="Google Shape;353;p30"/>
          <p:cNvSpPr txBox="1"/>
          <p:nvPr/>
        </p:nvSpPr>
        <p:spPr>
          <a:xfrm>
            <a:off x="6334125" y="3141910"/>
            <a:ext cx="5476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Leaving sounds out completely (The "Ghost" sounds).</a:t>
            </a: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6334125" y="3713410"/>
            <a:ext cx="54768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Example: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"Friendship" → We usually drop the [d].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[frɛnʃɪp]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  <a:endParaRPr/>
          </a:p>
        </p:txBody>
      </p:sp>
      <p:sp>
        <p:nvSpPr>
          <p:cNvPr id="355" name="Google Shape;355;p30"/>
          <p:cNvSpPr txBox="1"/>
          <p:nvPr/>
        </p:nvSpPr>
        <p:spPr>
          <a:xfrm>
            <a:off x="6334125" y="4284910"/>
            <a:ext cx="54768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Example: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 "Camera" → We don't say Ca-me-ra. We say </a:t>
            </a:r>
            <a:r>
              <a:rPr b="1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[kæmrə]</a:t>
            </a:r>
            <a:r>
              <a:rPr b="0" i="0" lang="en-US" sz="18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"/>
          <p:cNvSpPr txBox="1"/>
          <p:nvPr/>
        </p:nvSpPr>
        <p:spPr>
          <a:xfrm>
            <a:off x="381000" y="381000"/>
            <a:ext cx="1181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93B"/>
                </a:solidFill>
                <a:latin typeface="Comfortaa"/>
                <a:ea typeface="Comfortaa"/>
                <a:cs typeface="Comfortaa"/>
                <a:sym typeface="Comfortaa"/>
              </a:rPr>
              <a:t>Image Sources</a:t>
            </a:r>
            <a:endParaRPr/>
          </a:p>
        </p:txBody>
      </p:sp>
      <p:sp>
        <p:nvSpPr>
          <p:cNvPr id="361" name="Google Shape;361;p31"/>
          <p:cNvSpPr/>
          <p:nvPr/>
        </p:nvSpPr>
        <p:spPr>
          <a:xfrm>
            <a:off x="381000" y="2309812"/>
            <a:ext cx="11430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1"/>
          <p:cNvSpPr/>
          <p:nvPr/>
        </p:nvSpPr>
        <p:spPr>
          <a:xfrm>
            <a:off x="381000" y="3081337"/>
            <a:ext cx="11430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381000" y="3852862"/>
            <a:ext cx="11430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1"/>
          <p:cNvSpPr txBox="1"/>
          <p:nvPr/>
        </p:nvSpPr>
        <p:spPr>
          <a:xfrm>
            <a:off x="381000" y="2262187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365" name="Google Shape;365;p31"/>
          <p:cNvSpPr/>
          <p:nvPr/>
        </p:nvSpPr>
        <p:spPr>
          <a:xfrm>
            <a:off x="381000" y="3071812"/>
            <a:ext cx="1143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381000" y="3071812"/>
            <a:ext cx="1143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1"/>
          <p:cNvSpPr txBox="1"/>
          <p:nvPr/>
        </p:nvSpPr>
        <p:spPr>
          <a:xfrm>
            <a:off x="381000" y="3033712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368" name="Google Shape;368;p31"/>
          <p:cNvSpPr/>
          <p:nvPr/>
        </p:nvSpPr>
        <p:spPr>
          <a:xfrm>
            <a:off x="381000" y="3843337"/>
            <a:ext cx="1143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1"/>
          <p:cNvSpPr/>
          <p:nvPr/>
        </p:nvSpPr>
        <p:spPr>
          <a:xfrm>
            <a:off x="381000" y="3843337"/>
            <a:ext cx="1143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1"/>
          <p:cNvSpPr txBox="1"/>
          <p:nvPr/>
        </p:nvSpPr>
        <p:spPr>
          <a:xfrm>
            <a:off x="381000" y="3805237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sp>
        <p:nvSpPr>
          <p:cNvPr id="371" name="Google Shape;371;p31"/>
          <p:cNvSpPr/>
          <p:nvPr/>
        </p:nvSpPr>
        <p:spPr>
          <a:xfrm>
            <a:off x="381000" y="4614862"/>
            <a:ext cx="1143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381000" y="4614862"/>
            <a:ext cx="11430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1"/>
          <p:cNvSpPr txBox="1"/>
          <p:nvPr/>
        </p:nvSpPr>
        <p:spPr>
          <a:xfrm>
            <a:off x="381000" y="4576762"/>
            <a:ext cx="95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•</a:t>
            </a:r>
            <a:endParaRPr/>
          </a:p>
        </p:txBody>
      </p:sp>
      <p:pic>
        <p:nvPicPr>
          <p:cNvPr descr="image.png" id="374" name="Google Shape;37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4526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1476375" y="2459831"/>
            <a:ext cx="10334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https://www.rizzolieducation.it/content/uploads/2023/01/image4-1.png</a:t>
            </a:r>
            <a:endParaRPr/>
          </a:p>
        </p:txBody>
      </p:sp>
      <p:sp>
        <p:nvSpPr>
          <p:cNvPr id="376" name="Google Shape;376;p31"/>
          <p:cNvSpPr txBox="1"/>
          <p:nvPr/>
        </p:nvSpPr>
        <p:spPr>
          <a:xfrm>
            <a:off x="1476375" y="2693193"/>
            <a:ext cx="10334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www.rizzolieducation.it</a:t>
            </a:r>
            <a:endParaRPr/>
          </a:p>
        </p:txBody>
      </p:sp>
      <p:pic>
        <p:nvPicPr>
          <p:cNvPr descr="image.png" id="377" name="Google Shape;37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32242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1"/>
          <p:cNvSpPr txBox="1"/>
          <p:nvPr/>
        </p:nvSpPr>
        <p:spPr>
          <a:xfrm>
            <a:off x="1476375" y="3231356"/>
            <a:ext cx="10334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https://media.tenor.com/LeexVki7avsAAAAe/alinathehack-guy-confused-looking-at-the-paper.png</a:t>
            </a:r>
            <a:endParaRPr/>
          </a:p>
        </p:txBody>
      </p:sp>
      <p:sp>
        <p:nvSpPr>
          <p:cNvPr id="379" name="Google Shape;379;p31"/>
          <p:cNvSpPr txBox="1"/>
          <p:nvPr/>
        </p:nvSpPr>
        <p:spPr>
          <a:xfrm>
            <a:off x="1476375" y="3464718"/>
            <a:ext cx="10334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tenor.com</a:t>
            </a:r>
            <a:endParaRPr/>
          </a:p>
        </p:txBody>
      </p:sp>
      <p:pic>
        <p:nvPicPr>
          <p:cNvPr descr="image.png" id="380" name="Google Shape;38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39957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1"/>
          <p:cNvSpPr txBox="1"/>
          <p:nvPr/>
        </p:nvSpPr>
        <p:spPr>
          <a:xfrm>
            <a:off x="1476375" y="4002881"/>
            <a:ext cx="10334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https://englishlikeanative.co.uk/wp-content/uploads/2020/07/IPA-consonants.png</a:t>
            </a:r>
            <a:endParaRPr/>
          </a:p>
        </p:txBody>
      </p:sp>
      <p:sp>
        <p:nvSpPr>
          <p:cNvPr id="382" name="Google Shape;382;p31"/>
          <p:cNvSpPr txBox="1"/>
          <p:nvPr/>
        </p:nvSpPr>
        <p:spPr>
          <a:xfrm>
            <a:off x="1476375" y="4236243"/>
            <a:ext cx="10334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englishlikeanative.co.uk</a:t>
            </a:r>
            <a:endParaRPr/>
          </a:p>
        </p:txBody>
      </p:sp>
      <p:pic>
        <p:nvPicPr>
          <p:cNvPr descr="image.png" id="383" name="Google Shape;38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1000" y="47672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1"/>
          <p:cNvSpPr txBox="1"/>
          <p:nvPr/>
        </p:nvSpPr>
        <p:spPr>
          <a:xfrm>
            <a:off x="1476375" y="4774406"/>
            <a:ext cx="10334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https://upload.wikimedia.org/wikipedia/commons/0/08/California_English_vowel_chart.svg</a:t>
            </a:r>
            <a:endParaRPr/>
          </a:p>
        </p:txBody>
      </p:sp>
      <p:sp>
        <p:nvSpPr>
          <p:cNvPr id="385" name="Google Shape;385;p31"/>
          <p:cNvSpPr txBox="1"/>
          <p:nvPr/>
        </p:nvSpPr>
        <p:spPr>
          <a:xfrm>
            <a:off x="1476375" y="5007768"/>
            <a:ext cx="10334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Afacad Flux"/>
                <a:ea typeface="Afacad Flux"/>
                <a:cs typeface="Afacad Flux"/>
                <a:sym typeface="Afacad Flux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Afacad Flux"/>
                <a:ea typeface="Afacad Flux"/>
                <a:cs typeface="Afacad Flux"/>
                <a:sym typeface="Afacad Flux"/>
              </a:rPr>
              <a:t>en.wikipedia.org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