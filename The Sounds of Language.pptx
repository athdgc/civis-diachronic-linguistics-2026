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Spline Sans"/>
      <p:regular r:id="rId19"/>
      <p:bold r:id="rId20"/>
    </p:embeddedFont>
    <p:embeddedFont>
      <p:font typeface="Outfit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ECF6413-722F-40A6-8FB3-7C304477FCBB}">
  <a:tblStyle styleId="{0ECF6413-722F-40A6-8FB3-7C304477FCB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plineSans-bold.fntdata"/><Relationship Id="rId11" Type="http://schemas.openxmlformats.org/officeDocument/2006/relationships/slide" Target="slides/slide5.xml"/><Relationship Id="rId22" Type="http://schemas.openxmlformats.org/officeDocument/2006/relationships/font" Target="fonts/Outfit-bold.fntdata"/><Relationship Id="rId10" Type="http://schemas.openxmlformats.org/officeDocument/2006/relationships/slide" Target="slides/slide4.xml"/><Relationship Id="rId21" Type="http://schemas.openxmlformats.org/officeDocument/2006/relationships/font" Target="fonts/Outfit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SplineSans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9" Type="http://schemas.openxmlformats.org/officeDocument/2006/relationships/image" Target="../media/image15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image" Target="../media/image11.png"/><Relationship Id="rId8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14.png"/><Relationship Id="rId6" Type="http://schemas.openxmlformats.org/officeDocument/2006/relationships/image" Target="../media/image12.png"/><Relationship Id="rId7" Type="http://schemas.openxmlformats.org/officeDocument/2006/relationships/image" Target="../media/image9.png"/><Relationship Id="rId8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21.png"/><Relationship Id="rId5" Type="http://schemas.openxmlformats.org/officeDocument/2006/relationships/image" Target="../media/image7.png"/><Relationship Id="rId6" Type="http://schemas.openxmlformats.org/officeDocument/2006/relationships/image" Target="../media/image13.png"/><Relationship Id="rId7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23.png"/><Relationship Id="rId5" Type="http://schemas.openxmlformats.org/officeDocument/2006/relationships/image" Target="../media/image18.png"/><Relationship Id="rId6" Type="http://schemas.openxmlformats.org/officeDocument/2006/relationships/image" Target="../media/image22.png"/><Relationship Id="rId7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32.png"/><Relationship Id="rId5" Type="http://schemas.openxmlformats.org/officeDocument/2006/relationships/image" Target="../media/image17.png"/><Relationship Id="rId6" Type="http://schemas.openxmlformats.org/officeDocument/2006/relationships/image" Target="../media/image2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33.png"/><Relationship Id="rId6" Type="http://schemas.openxmlformats.org/officeDocument/2006/relationships/image" Target="../media/image3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31.png"/><Relationship Id="rId5" Type="http://schemas.openxmlformats.org/officeDocument/2006/relationships/image" Target="../media/image3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41.png"/><Relationship Id="rId5" Type="http://schemas.openxmlformats.org/officeDocument/2006/relationships/image" Target="../media/image36.png"/><Relationship Id="rId6" Type="http://schemas.openxmlformats.org/officeDocument/2006/relationships/image" Target="../media/image35.png"/><Relationship Id="rId7" Type="http://schemas.openxmlformats.org/officeDocument/2006/relationships/image" Target="../media/image3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7.png"/><Relationship Id="rId4" Type="http://schemas.openxmlformats.org/officeDocument/2006/relationships/image" Target="../media/image42.png"/><Relationship Id="rId5" Type="http://schemas.openxmlformats.org/officeDocument/2006/relationships/image" Target="../media/image38.png"/><Relationship Id="rId6" Type="http://schemas.openxmlformats.org/officeDocument/2006/relationships/image" Target="../media/image40.png"/><Relationship Id="rId7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1996529"/>
            <a:ext cx="5500687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F2937"/>
                </a:solidFill>
                <a:latin typeface="Outfit"/>
                <a:ea typeface="Outfit"/>
                <a:cs typeface="Outfit"/>
                <a:sym typeface="Outfit"/>
              </a:rPr>
              <a:t>The Sounds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of Language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901529"/>
            <a:ext cx="47625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An exploration of Phonetics, Articulation, and the hidden mechanics of human speech.</a:t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047750"/>
            <a:ext cx="5238750" cy="47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84587" y="4364235"/>
            <a:ext cx="1126331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01419" y="4364235"/>
            <a:ext cx="121533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07249" y="4364235"/>
            <a:ext cx="1300013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76250"/>
            <a:ext cx="11049000" cy="590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524500" y="1209675"/>
            <a:ext cx="1143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450383" y="2733675"/>
            <a:ext cx="129108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F46E5"/>
                </a:solidFill>
                <a:latin typeface="Spline Sans"/>
                <a:ea typeface="Spline Sans"/>
                <a:cs typeface="Spline Sans"/>
                <a:sym typeface="Spline Sans"/>
              </a:rPr>
              <a:t>INTRO QUIZ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3285648" y="3133725"/>
            <a:ext cx="5620702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F2937"/>
                </a:solidFill>
                <a:latin typeface="Outfit"/>
                <a:ea typeface="Outfit"/>
                <a:cs typeface="Outfit"/>
                <a:sym typeface="Outfit"/>
              </a:rPr>
              <a:t>English has 26 letters...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700" u="none" cap="none" strike="noStrike">
                <a:solidFill>
                  <a:srgbClr val="1F2937"/>
                </a:solidFill>
                <a:latin typeface="Outfit"/>
                <a:ea typeface="Outfit"/>
                <a:cs typeface="Outfit"/>
                <a:sym typeface="Outfit"/>
              </a:rPr>
              <a:t> but how many </a:t>
            </a:r>
            <a:r>
              <a:rPr b="1" i="1" lang="en-US" sz="2700" u="none" cap="none" strike="noStrike">
                <a:solidFill>
                  <a:srgbClr val="1F2937"/>
                </a:solidFill>
                <a:latin typeface="Outfit"/>
                <a:ea typeface="Outfit"/>
                <a:cs typeface="Outfit"/>
                <a:sym typeface="Outfit"/>
              </a:rPr>
              <a:t>sounds</a:t>
            </a:r>
            <a:r>
              <a:rPr b="1" i="0" lang="en-US" sz="2700" u="none" cap="none" strike="noStrike">
                <a:solidFill>
                  <a:srgbClr val="1F2937"/>
                </a:solidFill>
                <a:latin typeface="Outfit"/>
                <a:ea typeface="Outfit"/>
                <a:cs typeface="Outfit"/>
                <a:sym typeface="Outfit"/>
              </a:rPr>
              <a:t> does it have?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4452342" y="5202435"/>
            <a:ext cx="328731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(This mismatch is why we need Phonetics!)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919787" y="1495425"/>
            <a:ext cx="352425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599158"/>
            <a:ext cx="523875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967037"/>
            <a:ext cx="5238750" cy="9105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68067"/>
            <a:ext cx="5238750" cy="9105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169098"/>
            <a:ext cx="5238750" cy="91053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571500" y="2071687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Phonetics</a:t>
            </a:r>
            <a:r>
              <a:rPr b="0" i="0" lang="en-US" sz="15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 is the general study of speech sound characteristics. It has three main branches:</a:t>
            </a:r>
            <a:endParaRPr/>
          </a:p>
        </p:txBody>
      </p:sp>
      <p:pic>
        <p:nvPicPr>
          <p:cNvPr descr="image.png" id="112" name="Google Shape;11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91275" y="1608683"/>
            <a:ext cx="5219700" cy="4743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809625" y="3167062"/>
            <a:ext cx="1069181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F46E5"/>
                </a:solidFill>
                <a:latin typeface="Spline Sans"/>
                <a:ea typeface="Spline Sans"/>
                <a:cs typeface="Spline Sans"/>
                <a:sym typeface="Spline Sans"/>
              </a:rPr>
              <a:t>Articulatory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09625" y="3433762"/>
            <a:ext cx="48006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How sounds are made (mouth, tongue, lungs).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09625" y="4268092"/>
            <a:ext cx="804564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6B6D4"/>
                </a:solidFill>
                <a:latin typeface="Spline Sans"/>
                <a:ea typeface="Spline Sans"/>
                <a:cs typeface="Spline Sans"/>
                <a:sym typeface="Spline Sans"/>
              </a:rPr>
              <a:t>Acoustic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09625" y="4534792"/>
            <a:ext cx="48006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The physical properties of sound waves.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09625" y="5369123"/>
            <a:ext cx="783133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C4899"/>
                </a:solidFill>
                <a:latin typeface="Spline Sans"/>
                <a:ea typeface="Spline Sans"/>
                <a:cs typeface="Spline Sans"/>
                <a:sym typeface="Spline Sans"/>
              </a:rPr>
              <a:t>Auditory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09625" y="5635823"/>
            <a:ext cx="48006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How we perceive sounds via the ear.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571500" y="476250"/>
            <a:ext cx="11601450" cy="5314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F2937"/>
                </a:solidFill>
                <a:latin typeface="Outfit"/>
                <a:ea typeface="Outfit"/>
                <a:cs typeface="Outfit"/>
                <a:sym typeface="Outfit"/>
              </a:rPr>
              <a:t>The Analytical Framework </a:t>
            </a:r>
            <a:r>
              <a:rPr b="1" i="0" lang="en-US" sz="3600" u="none" cap="none" strike="noStrike">
                <a:solidFill>
                  <a:srgbClr val="4F46E5"/>
                </a:solidFill>
                <a:latin typeface="Outfit"/>
                <a:ea typeface="Outfit"/>
                <a:cs typeface="Outfit"/>
                <a:sym typeface="Outfit"/>
              </a:rPr>
              <a:t>Phonetics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571500" y="1169640"/>
            <a:ext cx="11049000" cy="2857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30762" y="3924300"/>
            <a:ext cx="3330326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76250"/>
            <a:ext cx="11049000" cy="590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24500" y="971550"/>
            <a:ext cx="1143000" cy="72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4825454" y="2076598"/>
            <a:ext cx="254094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6A34A"/>
                </a:solidFill>
                <a:latin typeface="Spline Sans"/>
                <a:ea typeface="Spline Sans"/>
                <a:cs typeface="Spline Sans"/>
                <a:sym typeface="Spline Sans"/>
              </a:rPr>
              <a:t>PHYSICAL CHALLENGE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4145756" y="2476648"/>
            <a:ext cx="3900487" cy="37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F2937"/>
                </a:solidFill>
                <a:latin typeface="Outfit"/>
                <a:ea typeface="Outfit"/>
                <a:cs typeface="Outfit"/>
                <a:sym typeface="Outfit"/>
              </a:rPr>
              <a:t>The "Throat Touch" Test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3685133" y="3272879"/>
            <a:ext cx="4821584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Place your fingers gently on your Adam's apple.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4906267" y="5391150"/>
            <a:ext cx="2379464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Can you feel the difference?</a:t>
            </a:r>
            <a:endParaRPr/>
          </a:p>
        </p:txBody>
      </p:sp>
      <p:pic>
        <p:nvPicPr>
          <p:cNvPr descr="image.png" id="133" name="Google Shape;13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0" y="10477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6808291" y="4276725"/>
            <a:ext cx="667047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CA3AF"/>
                </a:solidFill>
                <a:latin typeface="Spline Sans"/>
                <a:ea typeface="Spline Sans"/>
                <a:cs typeface="Spline Sans"/>
                <a:sym typeface="Spline Sans"/>
              </a:rPr>
              <a:t>(Snake)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863953" y="4581525"/>
            <a:ext cx="46583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CA3AF"/>
                </a:solidFill>
                <a:latin typeface="Spline Sans"/>
                <a:ea typeface="Spline Sans"/>
                <a:cs typeface="Spline Sans"/>
                <a:sym typeface="Spline Sans"/>
              </a:rPr>
              <a:t>(Bee)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99158"/>
            <a:ext cx="523875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049785"/>
            <a:ext cx="5238750" cy="1476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716660"/>
            <a:ext cx="5238750" cy="1476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1608683"/>
            <a:ext cx="5219700" cy="4743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6381750" y="1767929"/>
            <a:ext cx="5500687" cy="196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F2937"/>
                </a:solidFill>
                <a:latin typeface="Outfit"/>
                <a:ea typeface="Outfit"/>
                <a:cs typeface="Outfit"/>
                <a:sym typeface="Outfit"/>
              </a:rPr>
              <a:t>It's all in the Larynx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6381750" y="215443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The vibration you felt comes from the </a:t>
            </a:r>
            <a:r>
              <a:rPr b="1" i="0" lang="en-US" sz="15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vocal folds</a:t>
            </a:r>
            <a:r>
              <a:rPr b="0" i="0" lang="en-US" sz="15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 (vocal cords).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6572250" y="3240285"/>
            <a:ext cx="168473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B91C1C"/>
                </a:solidFill>
                <a:latin typeface="Spline Sans"/>
                <a:ea typeface="Spline Sans"/>
                <a:cs typeface="Spline Sans"/>
                <a:sym typeface="Spline Sans"/>
              </a:rPr>
              <a:t>Voiceless (Open)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6572250" y="3535560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7F1D1D"/>
                </a:solidFill>
                <a:latin typeface="Spline Sans"/>
                <a:ea typeface="Spline Sans"/>
                <a:cs typeface="Spline Sans"/>
                <a:sym typeface="Spline Sans"/>
              </a:rPr>
              <a:t>Folds are spread apart. Air passes clearly.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500" u="none" cap="none" strike="noStrike">
                <a:solidFill>
                  <a:srgbClr val="7F1D1D"/>
                </a:solidFill>
                <a:latin typeface="Spline Sans"/>
                <a:ea typeface="Spline Sans"/>
                <a:cs typeface="Spline Sans"/>
                <a:sym typeface="Spline Sans"/>
              </a:rPr>
              <a:t>Examples: [s], [f], [t], [k]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6572250" y="4907160"/>
            <a:ext cx="177373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5803D"/>
                </a:solidFill>
                <a:latin typeface="Spline Sans"/>
                <a:ea typeface="Spline Sans"/>
                <a:cs typeface="Spline Sans"/>
                <a:sym typeface="Spline Sans"/>
              </a:rPr>
              <a:t>Voiced (Vibrating)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6572250" y="5202435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4532D"/>
                </a:solidFill>
                <a:latin typeface="Spline Sans"/>
                <a:ea typeface="Spline Sans"/>
                <a:cs typeface="Spline Sans"/>
                <a:sym typeface="Spline Sans"/>
              </a:rPr>
              <a:t>Folds are drawn together. Air pushes through.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500" u="none" cap="none" strike="noStrike">
                <a:solidFill>
                  <a:srgbClr val="14532D"/>
                </a:solidFill>
                <a:latin typeface="Spline Sans"/>
                <a:ea typeface="Spline Sans"/>
                <a:cs typeface="Spline Sans"/>
                <a:sym typeface="Spline Sans"/>
              </a:rPr>
              <a:t>Examples: [z], [v], [d], [g]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571500" y="476250"/>
            <a:ext cx="11601450" cy="5314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F2937"/>
                </a:solidFill>
                <a:latin typeface="Outfit"/>
                <a:ea typeface="Outfit"/>
                <a:cs typeface="Outfit"/>
                <a:sym typeface="Outfit"/>
              </a:rPr>
              <a:t>Voiced vs. Voiceless </a:t>
            </a:r>
            <a:r>
              <a:rPr b="1" i="0" lang="en-US" sz="3600" u="none" cap="none" strike="noStrike">
                <a:solidFill>
                  <a:srgbClr val="4F46E5"/>
                </a:solidFill>
                <a:latin typeface="Outfit"/>
                <a:ea typeface="Outfit"/>
                <a:cs typeface="Outfit"/>
                <a:sym typeface="Outfit"/>
              </a:rPr>
              <a:t>The Mechanics</a:t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571500" y="1169640"/>
            <a:ext cx="11049000" cy="2857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76250"/>
            <a:ext cx="11049000" cy="590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24500" y="1420266"/>
            <a:ext cx="1143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4998243" y="2944266"/>
            <a:ext cx="21955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A580C"/>
                </a:solidFill>
                <a:latin typeface="Spline Sans"/>
                <a:ea typeface="Spline Sans"/>
                <a:cs typeface="Spline Sans"/>
                <a:sym typeface="Spline Sans"/>
              </a:rPr>
              <a:t>ARTICULATION MAP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4300775" y="3344316"/>
            <a:ext cx="3590448" cy="37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F2937"/>
                </a:solidFill>
                <a:latin typeface="Outfit"/>
                <a:ea typeface="Outfit"/>
                <a:cs typeface="Outfit"/>
                <a:sym typeface="Outfit"/>
              </a:rPr>
              <a:t>Where is your tongue?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3917602" y="4121497"/>
            <a:ext cx="4356794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Say these three words and freeze your tongue.</a:t>
            </a:r>
            <a:endParaRPr/>
          </a:p>
        </p:txBody>
      </p:sp>
      <p:pic>
        <p:nvPicPr>
          <p:cNvPr descr="image.png" id="163" name="Google Shape;16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38812" y="1706016"/>
            <a:ext cx="71437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4469457" y="4837658"/>
            <a:ext cx="804713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A580C"/>
                </a:solidFill>
                <a:latin typeface="Spline Sans"/>
                <a:ea typeface="Spline Sans"/>
                <a:cs typeface="Spline Sans"/>
                <a:sym typeface="Spline Sans"/>
              </a:rPr>
              <a:t>POP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4469457" y="5266283"/>
            <a:ext cx="80471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A3412"/>
                </a:solidFill>
                <a:latin typeface="Spline Sans"/>
                <a:ea typeface="Spline Sans"/>
                <a:cs typeface="Spline Sans"/>
                <a:sym typeface="Spline Sans"/>
              </a:rPr>
              <a:t>(Lips?)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5655171" y="4837658"/>
            <a:ext cx="75500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A580C"/>
                </a:solidFill>
                <a:latin typeface="Spline Sans"/>
                <a:ea typeface="Spline Sans"/>
                <a:cs typeface="Spline Sans"/>
                <a:sym typeface="Spline Sans"/>
              </a:rPr>
              <a:t>TOT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5655171" y="5266283"/>
            <a:ext cx="75500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A3412"/>
                </a:solidFill>
                <a:latin typeface="Spline Sans"/>
                <a:ea typeface="Spline Sans"/>
                <a:cs typeface="Spline Sans"/>
                <a:sym typeface="Spline Sans"/>
              </a:rPr>
              <a:t>(Teeth?)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6791176" y="4837658"/>
            <a:ext cx="931366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A580C"/>
                </a:solidFill>
                <a:latin typeface="Spline Sans"/>
                <a:ea typeface="Spline Sans"/>
                <a:cs typeface="Spline Sans"/>
                <a:sym typeface="Spline Sans"/>
              </a:rPr>
              <a:t>KICK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6791176" y="5266283"/>
            <a:ext cx="93136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A3412"/>
                </a:solidFill>
                <a:latin typeface="Spline Sans"/>
                <a:ea typeface="Spline Sans"/>
                <a:cs typeface="Spline Sans"/>
                <a:sym typeface="Spline Sans"/>
              </a:rPr>
              <a:t>(Back?)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599158"/>
            <a:ext cx="523875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571500" y="2551658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We classify consonants based on </a:t>
            </a:r>
            <a:r>
              <a:rPr b="1" i="0" lang="en-US" sz="15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where</a:t>
            </a:r>
            <a:r>
              <a:rPr b="0" i="0" lang="en-US" sz="15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 the air constriction happens in the vocal tract.</a:t>
            </a:r>
            <a:endParaRPr/>
          </a:p>
        </p:txBody>
      </p:sp>
      <p:pic>
        <p:nvPicPr>
          <p:cNvPr descr="image.png" id="177" name="Google Shape;17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608683"/>
            <a:ext cx="5219700" cy="4743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571500" y="3351758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Lips:</a:t>
            </a:r>
            <a:r>
              <a:rPr b="0" i="0" lang="en-US" sz="15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 Bilabials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571500" y="3799433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Teeth:</a:t>
            </a:r>
            <a:r>
              <a:rPr b="0" i="0" lang="en-US" sz="15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 Dentals &amp; Labiodentals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571500" y="4247108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Ridge:</a:t>
            </a:r>
            <a:r>
              <a:rPr b="0" i="0" lang="en-US" sz="15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 Alveolars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571500" y="4694783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Roof:</a:t>
            </a:r>
            <a:r>
              <a:rPr b="0" i="0" lang="en-US" sz="15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 Palatals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571500" y="5142458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Back:</a:t>
            </a:r>
            <a:r>
              <a:rPr b="0" i="0" lang="en-US" sz="15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 Velars</a:t>
            </a:r>
            <a:endParaRPr/>
          </a:p>
        </p:txBody>
      </p:sp>
      <p:pic>
        <p:nvPicPr>
          <p:cNvPr descr="image.png" id="183" name="Google Shape;18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408908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856583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304258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751933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199608"/>
            <a:ext cx="1428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9"/>
          <p:cNvSpPr txBox="1"/>
          <p:nvPr/>
        </p:nvSpPr>
        <p:spPr>
          <a:xfrm>
            <a:off x="571500" y="476250"/>
            <a:ext cx="11601450" cy="5314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F2937"/>
                </a:solidFill>
                <a:latin typeface="Outfit"/>
                <a:ea typeface="Outfit"/>
                <a:cs typeface="Outfit"/>
                <a:sym typeface="Outfit"/>
              </a:rPr>
              <a:t>Place of Articulation </a:t>
            </a:r>
            <a:r>
              <a:rPr b="1" i="0" lang="en-US" sz="3600" u="none" cap="none" strike="noStrike">
                <a:solidFill>
                  <a:srgbClr val="4F46E5"/>
                </a:solidFill>
                <a:latin typeface="Outfit"/>
                <a:ea typeface="Outfit"/>
                <a:cs typeface="Outfit"/>
                <a:sym typeface="Outfit"/>
              </a:rPr>
              <a:t>The Map</a:t>
            </a:r>
            <a:endParaRPr/>
          </a:p>
        </p:txBody>
      </p:sp>
      <p:sp>
        <p:nvSpPr>
          <p:cNvPr id="189" name="Google Shape;189;p19"/>
          <p:cNvSpPr/>
          <p:nvPr/>
        </p:nvSpPr>
        <p:spPr>
          <a:xfrm>
            <a:off x="571500" y="1169640"/>
            <a:ext cx="11049000" cy="2857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04219"/>
            <a:ext cx="3492400" cy="23525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804219"/>
            <a:ext cx="3492549" cy="23525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2804219"/>
            <a:ext cx="3492400" cy="2352526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0"/>
          <p:cNvSpPr txBox="1"/>
          <p:nvPr/>
        </p:nvSpPr>
        <p:spPr>
          <a:xfrm>
            <a:off x="866775" y="3099494"/>
            <a:ext cx="3046943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F46E5"/>
                </a:solidFill>
                <a:latin typeface="Outfit"/>
                <a:ea typeface="Outfit"/>
                <a:cs typeface="Outfit"/>
                <a:sym typeface="Outfit"/>
              </a:rPr>
              <a:t>Bilabials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866775" y="3503265"/>
            <a:ext cx="29018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Using both lips.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866775" y="3947070"/>
            <a:ext cx="2901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91C1C"/>
                </a:solidFill>
                <a:latin typeface="Spline Sans"/>
                <a:ea typeface="Spline Sans"/>
                <a:cs typeface="Spline Sans"/>
                <a:sym typeface="Spline Sans"/>
              </a:rPr>
              <a:t>[p]</a:t>
            </a:r>
            <a:r>
              <a:rPr b="0" i="0" lang="en-US" sz="13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</a:t>
            </a:r>
            <a:r>
              <a:rPr b="1" i="0" lang="en-US" sz="13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P</a:t>
            </a:r>
            <a:r>
              <a:rPr b="0" i="0" lang="en-US" sz="13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op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50" u="none" cap="none" strike="noStrike">
                <a:solidFill>
                  <a:srgbClr val="15803D"/>
                </a:solidFill>
                <a:latin typeface="Spline Sans"/>
                <a:ea typeface="Spline Sans"/>
                <a:cs typeface="Spline Sans"/>
                <a:sym typeface="Spline Sans"/>
              </a:rPr>
              <a:t>[b]</a:t>
            </a:r>
            <a:r>
              <a:rPr b="0" i="0" lang="en-US" sz="13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</a:t>
            </a:r>
            <a:r>
              <a:rPr b="1" i="0" lang="en-US" sz="13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B</a:t>
            </a:r>
            <a:r>
              <a:rPr b="0" i="0" lang="en-US" sz="13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ob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50" u="none" cap="none" strike="noStrike">
                <a:solidFill>
                  <a:srgbClr val="15803D"/>
                </a:solidFill>
                <a:latin typeface="Spline Sans"/>
                <a:ea typeface="Spline Sans"/>
                <a:cs typeface="Spline Sans"/>
                <a:sym typeface="Spline Sans"/>
              </a:rPr>
              <a:t>[m]</a:t>
            </a:r>
            <a:r>
              <a:rPr b="0" i="0" lang="en-US" sz="13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</a:t>
            </a:r>
            <a:r>
              <a:rPr b="1" i="0" lang="en-US" sz="13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M</a:t>
            </a:r>
            <a:r>
              <a:rPr b="0" i="0" lang="en-US" sz="13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om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50" u="none" cap="none" strike="noStrike">
                <a:solidFill>
                  <a:srgbClr val="15803D"/>
                </a:solidFill>
                <a:latin typeface="Spline Sans"/>
                <a:ea typeface="Spline Sans"/>
                <a:cs typeface="Spline Sans"/>
                <a:sym typeface="Spline Sans"/>
              </a:rPr>
              <a:t>[w]</a:t>
            </a:r>
            <a:r>
              <a:rPr b="0" i="0" lang="en-US" sz="13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</a:t>
            </a:r>
            <a:r>
              <a:rPr b="1" i="0" lang="en-US" sz="13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W</a:t>
            </a:r>
            <a:r>
              <a:rPr b="0" i="0" lang="en-US" sz="13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et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4644925" y="3099494"/>
            <a:ext cx="3047099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F46E5"/>
                </a:solidFill>
                <a:latin typeface="Outfit"/>
                <a:ea typeface="Outfit"/>
                <a:cs typeface="Outfit"/>
                <a:sym typeface="Outfit"/>
              </a:rPr>
              <a:t>Labiodentals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4644925" y="3503265"/>
            <a:ext cx="2901999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Upper teeth + Lower lip.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4644925" y="3947070"/>
            <a:ext cx="29019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91C1C"/>
                </a:solidFill>
                <a:latin typeface="Spline Sans"/>
                <a:ea typeface="Spline Sans"/>
                <a:cs typeface="Spline Sans"/>
                <a:sym typeface="Spline Sans"/>
              </a:rPr>
              <a:t>[f]</a:t>
            </a:r>
            <a:r>
              <a:rPr b="0" i="0" lang="en-US" sz="13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</a:t>
            </a:r>
            <a:r>
              <a:rPr b="1" i="0" lang="en-US" sz="13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F</a:t>
            </a:r>
            <a:r>
              <a:rPr b="0" i="0" lang="en-US" sz="13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at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50" u="none" cap="none" strike="noStrike">
                <a:solidFill>
                  <a:srgbClr val="15803D"/>
                </a:solidFill>
                <a:latin typeface="Spline Sans"/>
                <a:ea typeface="Spline Sans"/>
                <a:cs typeface="Spline Sans"/>
                <a:sym typeface="Spline Sans"/>
              </a:rPr>
              <a:t>[v]</a:t>
            </a:r>
            <a:r>
              <a:rPr b="0" i="0" lang="en-US" sz="13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</a:t>
            </a:r>
            <a:r>
              <a:rPr b="1" i="0" lang="en-US" sz="13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V</a:t>
            </a:r>
            <a:r>
              <a:rPr b="0" i="0" lang="en-US" sz="13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at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8423225" y="3099494"/>
            <a:ext cx="3046943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F46E5"/>
                </a:solidFill>
                <a:latin typeface="Outfit"/>
                <a:ea typeface="Outfit"/>
                <a:cs typeface="Outfit"/>
                <a:sym typeface="Outfit"/>
              </a:rPr>
              <a:t>Dentals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8423225" y="3503265"/>
            <a:ext cx="29018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Tongue tip behind/between teeth.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8423225" y="3947070"/>
            <a:ext cx="2901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91C1C"/>
                </a:solidFill>
                <a:latin typeface="Spline Sans"/>
                <a:ea typeface="Spline Sans"/>
                <a:cs typeface="Spline Sans"/>
                <a:sym typeface="Spline Sans"/>
              </a:rPr>
              <a:t>[θ]</a:t>
            </a:r>
            <a:r>
              <a:rPr b="0" i="0" lang="en-US" sz="13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</a:t>
            </a:r>
            <a:r>
              <a:rPr b="1" i="0" lang="en-US" sz="13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Th</a:t>
            </a:r>
            <a:r>
              <a:rPr b="0" i="0" lang="en-US" sz="13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in (Theta)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50" u="none" cap="none" strike="noStrike">
                <a:solidFill>
                  <a:srgbClr val="15803D"/>
                </a:solidFill>
                <a:latin typeface="Spline Sans"/>
                <a:ea typeface="Spline Sans"/>
                <a:cs typeface="Spline Sans"/>
                <a:sym typeface="Spline Sans"/>
              </a:rPr>
              <a:t>[ð]</a:t>
            </a:r>
            <a:r>
              <a:rPr b="0" i="0" lang="en-US" sz="13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</a:t>
            </a:r>
            <a:r>
              <a:rPr b="1" i="0" lang="en-US" sz="13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Th</a:t>
            </a:r>
            <a:r>
              <a:rPr b="0" i="0" lang="en-US" sz="135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us (Eth)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571500" y="476250"/>
            <a:ext cx="11601450" cy="5314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F2937"/>
                </a:solidFill>
                <a:latin typeface="Outfit"/>
                <a:ea typeface="Outfit"/>
                <a:cs typeface="Outfit"/>
                <a:sym typeface="Outfit"/>
              </a:rPr>
              <a:t>The Front </a:t>
            </a:r>
            <a:r>
              <a:rPr b="1" i="0" lang="en-US" sz="3600" u="none" cap="none" strike="noStrike">
                <a:solidFill>
                  <a:srgbClr val="4F46E5"/>
                </a:solidFill>
                <a:latin typeface="Outfit"/>
                <a:ea typeface="Outfit"/>
                <a:cs typeface="Outfit"/>
                <a:sym typeface="Outfit"/>
              </a:rPr>
              <a:t>Lips &amp; Teeth</a:t>
            </a:r>
            <a:endParaRPr/>
          </a:p>
        </p:txBody>
      </p:sp>
      <p:sp>
        <p:nvSpPr>
          <p:cNvPr id="208" name="Google Shape;208;p20"/>
          <p:cNvSpPr/>
          <p:nvPr/>
        </p:nvSpPr>
        <p:spPr>
          <a:xfrm>
            <a:off x="571500" y="1169640"/>
            <a:ext cx="11049000" cy="2857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3" name="Google Shape;21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79215"/>
            <a:ext cx="5238750" cy="48025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579215"/>
            <a:ext cx="5238750" cy="4802534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 txBox="1"/>
          <p:nvPr/>
        </p:nvSpPr>
        <p:spPr>
          <a:xfrm>
            <a:off x="866775" y="1874490"/>
            <a:ext cx="4880610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F46E5"/>
                </a:solidFill>
                <a:latin typeface="Outfit"/>
                <a:ea typeface="Outfit"/>
                <a:cs typeface="Outfit"/>
                <a:sym typeface="Outfit"/>
              </a:rPr>
              <a:t>Alveolars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866775" y="2316360"/>
            <a:ext cx="4648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Tongue tip touches the Alveolar Ridge (bumpy part behind top teeth).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6677025" y="1874490"/>
            <a:ext cx="4880610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F46E5"/>
                </a:solidFill>
                <a:latin typeface="Outfit"/>
                <a:ea typeface="Outfit"/>
                <a:cs typeface="Outfit"/>
                <a:sym typeface="Outfit"/>
              </a:rPr>
              <a:t>Palatals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6677025" y="2316360"/>
            <a:ext cx="4648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Tongue and the hard Palate (roof of mouth).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866775" y="3116460"/>
            <a:ext cx="22764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91C1C"/>
                </a:solidFill>
                <a:latin typeface="Spline Sans"/>
                <a:ea typeface="Spline Sans"/>
                <a:cs typeface="Spline Sans"/>
                <a:sym typeface="Spline Sans"/>
              </a:rPr>
              <a:t>[t]</a:t>
            </a:r>
            <a:r>
              <a:rPr b="0" i="0" lang="en-US" sz="12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Top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3238500" y="3116460"/>
            <a:ext cx="22764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5803D"/>
                </a:solidFill>
                <a:latin typeface="Spline Sans"/>
                <a:ea typeface="Spline Sans"/>
                <a:cs typeface="Spline Sans"/>
                <a:sym typeface="Spline Sans"/>
              </a:rPr>
              <a:t>[d]</a:t>
            </a:r>
            <a:r>
              <a:rPr b="0" i="0" lang="en-US" sz="12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Dog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866775" y="3440310"/>
            <a:ext cx="22764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91C1C"/>
                </a:solidFill>
                <a:latin typeface="Spline Sans"/>
                <a:ea typeface="Spline Sans"/>
                <a:cs typeface="Spline Sans"/>
                <a:sym typeface="Spline Sans"/>
              </a:rPr>
              <a:t>[s]</a:t>
            </a:r>
            <a:r>
              <a:rPr b="0" i="0" lang="en-US" sz="12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Sit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3238500" y="3440310"/>
            <a:ext cx="22764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5803D"/>
                </a:solidFill>
                <a:latin typeface="Spline Sans"/>
                <a:ea typeface="Spline Sans"/>
                <a:cs typeface="Spline Sans"/>
                <a:sym typeface="Spline Sans"/>
              </a:rPr>
              <a:t>[z]</a:t>
            </a:r>
            <a:r>
              <a:rPr b="0" i="0" lang="en-US" sz="12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Zoo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866775" y="3764160"/>
            <a:ext cx="22764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5803D"/>
                </a:solidFill>
                <a:latin typeface="Spline Sans"/>
                <a:ea typeface="Spline Sans"/>
                <a:cs typeface="Spline Sans"/>
                <a:sym typeface="Spline Sans"/>
              </a:rPr>
              <a:t>[n]</a:t>
            </a:r>
            <a:r>
              <a:rPr b="0" i="0" lang="en-US" sz="12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Nut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3238500" y="3764160"/>
            <a:ext cx="22764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5803D"/>
                </a:solidFill>
                <a:latin typeface="Spline Sans"/>
                <a:ea typeface="Spline Sans"/>
                <a:cs typeface="Spline Sans"/>
                <a:sym typeface="Spline Sans"/>
              </a:rPr>
              <a:t>[l]</a:t>
            </a:r>
            <a:r>
              <a:rPr b="0" i="0" lang="en-US" sz="12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Lap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6677025" y="2811660"/>
            <a:ext cx="22764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91C1C"/>
                </a:solidFill>
                <a:latin typeface="Spline Sans"/>
                <a:ea typeface="Spline Sans"/>
                <a:cs typeface="Spline Sans"/>
                <a:sym typeface="Spline Sans"/>
              </a:rPr>
              <a:t>[ʃ]</a:t>
            </a:r>
            <a:r>
              <a:rPr b="0" i="0" lang="en-US" sz="12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</a:t>
            </a:r>
            <a:r>
              <a:rPr b="1" i="0" lang="en-US" sz="12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Sh</a:t>
            </a:r>
            <a:r>
              <a:rPr b="0" i="0" lang="en-US" sz="12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ip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9048750" y="2811660"/>
            <a:ext cx="22764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5803D"/>
                </a:solidFill>
                <a:latin typeface="Spline Sans"/>
                <a:ea typeface="Spline Sans"/>
                <a:cs typeface="Spline Sans"/>
                <a:sym typeface="Spline Sans"/>
              </a:rPr>
              <a:t>[ʒ]</a:t>
            </a:r>
            <a:r>
              <a:rPr b="0" i="0" lang="en-US" sz="12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Casual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6677025" y="3135510"/>
            <a:ext cx="22764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91C1C"/>
                </a:solidFill>
                <a:latin typeface="Spline Sans"/>
                <a:ea typeface="Spline Sans"/>
                <a:cs typeface="Spline Sans"/>
                <a:sym typeface="Spline Sans"/>
              </a:rPr>
              <a:t>[ʧ]</a:t>
            </a:r>
            <a:r>
              <a:rPr b="0" i="0" lang="en-US" sz="12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</a:t>
            </a:r>
            <a:r>
              <a:rPr b="1" i="0" lang="en-US" sz="12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Ch</a:t>
            </a:r>
            <a:r>
              <a:rPr b="0" i="0" lang="en-US" sz="12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ip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9048750" y="3135510"/>
            <a:ext cx="22764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5803D"/>
                </a:solidFill>
                <a:latin typeface="Spline Sans"/>
                <a:ea typeface="Spline Sans"/>
                <a:cs typeface="Spline Sans"/>
                <a:sym typeface="Spline Sans"/>
              </a:rPr>
              <a:t>[ʤ]</a:t>
            </a:r>
            <a:r>
              <a:rPr b="0" i="0" lang="en-US" sz="12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Gem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6677025" y="3459360"/>
            <a:ext cx="22764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5803D"/>
                </a:solidFill>
                <a:latin typeface="Spline Sans"/>
                <a:ea typeface="Spline Sans"/>
                <a:cs typeface="Spline Sans"/>
                <a:sym typeface="Spline Sans"/>
              </a:rPr>
              <a:t>[j]</a:t>
            </a:r>
            <a:r>
              <a:rPr b="0" i="0" lang="en-US" sz="12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</a:t>
            </a:r>
            <a:r>
              <a:rPr b="1" i="0" lang="en-US" sz="12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Y</a:t>
            </a:r>
            <a:r>
              <a:rPr b="0" i="0" lang="en-US" sz="12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et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571500" y="476250"/>
            <a:ext cx="11601450" cy="5314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F2937"/>
                </a:solidFill>
                <a:latin typeface="Outfit"/>
                <a:ea typeface="Outfit"/>
                <a:cs typeface="Outfit"/>
                <a:sym typeface="Outfit"/>
              </a:rPr>
              <a:t>The Middle </a:t>
            </a:r>
            <a:r>
              <a:rPr b="1" i="0" lang="en-US" sz="3600" u="none" cap="none" strike="noStrike">
                <a:solidFill>
                  <a:srgbClr val="4F46E5"/>
                </a:solidFill>
                <a:latin typeface="Outfit"/>
                <a:ea typeface="Outfit"/>
                <a:cs typeface="Outfit"/>
                <a:sym typeface="Outfit"/>
              </a:rPr>
              <a:t>Ridge &amp; Roof</a:t>
            </a:r>
            <a:endParaRPr/>
          </a:p>
        </p:txBody>
      </p:sp>
      <p:sp>
        <p:nvSpPr>
          <p:cNvPr id="232" name="Google Shape;232;p21"/>
          <p:cNvSpPr/>
          <p:nvPr/>
        </p:nvSpPr>
        <p:spPr>
          <a:xfrm>
            <a:off x="571500" y="1169640"/>
            <a:ext cx="11049000" cy="2857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7" name="Google Shape;23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24112"/>
            <a:ext cx="3492400" cy="31125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424112"/>
            <a:ext cx="3492549" cy="31125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2424112"/>
            <a:ext cx="3492400" cy="3112591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2"/>
          <p:cNvSpPr txBox="1"/>
          <p:nvPr/>
        </p:nvSpPr>
        <p:spPr>
          <a:xfrm>
            <a:off x="866775" y="2719387"/>
            <a:ext cx="3046943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F46E5"/>
                </a:solidFill>
                <a:latin typeface="Outfit"/>
                <a:ea typeface="Outfit"/>
                <a:cs typeface="Outfit"/>
                <a:sym typeface="Outfit"/>
              </a:rPr>
              <a:t>Velars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866775" y="3161258"/>
            <a:ext cx="2901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Back of tongue touches Velum (Soft Palate).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4644925" y="2719387"/>
            <a:ext cx="3047099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F46E5"/>
                </a:solidFill>
                <a:latin typeface="Outfit"/>
                <a:ea typeface="Outfit"/>
                <a:cs typeface="Outfit"/>
                <a:sym typeface="Outfit"/>
              </a:rPr>
              <a:t>Glottals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4644925" y="3161258"/>
            <a:ext cx="290199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Space between vocal folds.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866775" y="3961358"/>
            <a:ext cx="2901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91C1C"/>
                </a:solidFill>
                <a:latin typeface="Spline Sans"/>
                <a:ea typeface="Spline Sans"/>
                <a:cs typeface="Spline Sans"/>
                <a:sym typeface="Spline Sans"/>
              </a:rPr>
              <a:t>[k]</a:t>
            </a:r>
            <a:r>
              <a:rPr b="0" i="0" lang="en-US" sz="12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</a:t>
            </a:r>
            <a:r>
              <a:rPr b="1" i="0" lang="en-US" sz="12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C</a:t>
            </a:r>
            <a:r>
              <a:rPr b="0" i="0" lang="en-US" sz="12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at, </a:t>
            </a:r>
            <a:r>
              <a:rPr b="1" i="0" lang="en-US" sz="12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K</a:t>
            </a:r>
            <a:r>
              <a:rPr b="0" i="0" lang="en-US" sz="12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ick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866775" y="4266158"/>
            <a:ext cx="2901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5803D"/>
                </a:solidFill>
                <a:latin typeface="Spline Sans"/>
                <a:ea typeface="Spline Sans"/>
                <a:cs typeface="Spline Sans"/>
                <a:sym typeface="Spline Sans"/>
              </a:rPr>
              <a:t>[g]</a:t>
            </a:r>
            <a:r>
              <a:rPr b="0" i="0" lang="en-US" sz="12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</a:t>
            </a:r>
            <a:r>
              <a:rPr b="1" i="0" lang="en-US" sz="12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G</a:t>
            </a:r>
            <a:r>
              <a:rPr b="0" i="0" lang="en-US" sz="12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un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866775" y="4570958"/>
            <a:ext cx="2901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5803D"/>
                </a:solidFill>
                <a:latin typeface="Spline Sans"/>
                <a:ea typeface="Spline Sans"/>
                <a:cs typeface="Spline Sans"/>
                <a:sym typeface="Spline Sans"/>
              </a:rPr>
              <a:t>[ŋ]</a:t>
            </a:r>
            <a:r>
              <a:rPr b="0" i="0" lang="en-US" sz="12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Ba</a:t>
            </a:r>
            <a:r>
              <a:rPr b="1" i="0" lang="en-US" sz="12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ng</a:t>
            </a:r>
            <a:r>
              <a:rPr b="0" i="0" lang="en-US" sz="12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(Angma)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866775" y="4894808"/>
            <a:ext cx="29018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66666"/>
                </a:solidFill>
                <a:latin typeface="Spline Sans"/>
                <a:ea typeface="Spline Sans"/>
                <a:cs typeface="Spline Sans"/>
                <a:sym typeface="Spline Sans"/>
              </a:rPr>
              <a:t>*Note: No [g] sound in "ringing"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4644925" y="3656558"/>
            <a:ext cx="290199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91C1C"/>
                </a:solidFill>
                <a:latin typeface="Spline Sans"/>
                <a:ea typeface="Spline Sans"/>
                <a:cs typeface="Spline Sans"/>
                <a:sym typeface="Spline Sans"/>
              </a:rPr>
              <a:t>[h]</a:t>
            </a:r>
            <a:r>
              <a:rPr b="0" i="0" lang="en-US" sz="12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 </a:t>
            </a:r>
            <a:r>
              <a:rPr b="1" i="0" lang="en-US" sz="12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H</a:t>
            </a:r>
            <a:r>
              <a:rPr b="0" i="0" lang="en-US" sz="1200" u="none" cap="none" strike="noStrike">
                <a:solidFill>
                  <a:srgbClr val="1F2937"/>
                </a:solidFill>
                <a:latin typeface="Spline Sans"/>
                <a:ea typeface="Spline Sans"/>
                <a:cs typeface="Spline Sans"/>
                <a:sym typeface="Spline Sans"/>
              </a:rPr>
              <a:t>at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4644925" y="3980408"/>
            <a:ext cx="2901999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Air passes through without active tongue use.</a:t>
            </a:r>
            <a:endParaRPr/>
          </a:p>
        </p:txBody>
      </p:sp>
      <p:pic>
        <p:nvPicPr>
          <p:cNvPr descr="image.png" id="251" name="Google Shape;251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59838" y="3346102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2"/>
          <p:cNvSpPr txBox="1"/>
          <p:nvPr/>
        </p:nvSpPr>
        <p:spPr>
          <a:xfrm>
            <a:off x="8432750" y="3974752"/>
            <a:ext cx="28828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These are the furthest back sounds in English.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571500" y="476250"/>
            <a:ext cx="11601450" cy="5314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F2937"/>
                </a:solidFill>
                <a:latin typeface="Outfit"/>
                <a:ea typeface="Outfit"/>
                <a:cs typeface="Outfit"/>
                <a:sym typeface="Outfit"/>
              </a:rPr>
              <a:t>The Back </a:t>
            </a:r>
            <a:r>
              <a:rPr b="1" i="0" lang="en-US" sz="3600" u="none" cap="none" strike="noStrike">
                <a:solidFill>
                  <a:srgbClr val="4F46E5"/>
                </a:solidFill>
                <a:latin typeface="Outfit"/>
                <a:ea typeface="Outfit"/>
                <a:cs typeface="Outfit"/>
                <a:sym typeface="Outfit"/>
              </a:rPr>
              <a:t>Velars &amp; Glottals</a:t>
            </a:r>
            <a:endParaRPr/>
          </a:p>
        </p:txBody>
      </p:sp>
      <p:sp>
        <p:nvSpPr>
          <p:cNvPr id="254" name="Google Shape;254;p22"/>
          <p:cNvSpPr/>
          <p:nvPr/>
        </p:nvSpPr>
        <p:spPr>
          <a:xfrm>
            <a:off x="571500" y="1169640"/>
            <a:ext cx="11049000" cy="2857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9" name="Google Shape;25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60" name="Google Shape;260;p23"/>
          <p:cNvGraphicFramePr/>
          <p:nvPr/>
        </p:nvGraphicFramePr>
        <p:xfrm>
          <a:off x="571500" y="201349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{0ECF6413-722F-40A6-8FB3-7C304477FCBB}</a:tableStyleId>
              </a:tblPr>
              <a:tblGrid>
                <a:gridCol w="2306400"/>
                <a:gridCol w="1728500"/>
                <a:gridCol w="2776975"/>
                <a:gridCol w="4237125"/>
              </a:tblGrid>
              <a:tr h="491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Place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Voiceless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Voiced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Example Articulators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46E5"/>
                    </a:solidFill>
                  </a:tcPr>
                </a:tc>
              </a:tr>
              <a:tr h="491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Bilabials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[p]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[b], [m], [w]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Both lips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1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Labiodentals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[f]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[v]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Upper teeth + Lower lip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1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Dentals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[θ] (thin)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[ð] (then)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Tongue tip + Upper teeth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1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Alveolars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[t], [s]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[d], [z], [n], [l], [r]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Tongue tip + Alveolar ridge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1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Palatals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[ʃ], [ʧ]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[ʒ], [ʤ], [j]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Tongue + Palate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1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Velars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[k]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[g], [ŋ]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Back tongue + Velum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1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Glottals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[h]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-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2937"/>
                          </a:solidFill>
                          <a:latin typeface="Spline Sans"/>
                          <a:ea typeface="Spline Sans"/>
                          <a:cs typeface="Spline Sans"/>
                          <a:sym typeface="Spline Sans"/>
                        </a:rPr>
                        <a:t>Vocal folds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1" name="Google Shape;261;p23"/>
          <p:cNvSpPr/>
          <p:nvPr/>
        </p:nvSpPr>
        <p:spPr>
          <a:xfrm>
            <a:off x="571500" y="2970758"/>
            <a:ext cx="230638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2877889" y="2970758"/>
            <a:ext cx="172848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4606379" y="2970758"/>
            <a:ext cx="277698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/>
          <p:cNvSpPr/>
          <p:nvPr/>
        </p:nvSpPr>
        <p:spPr>
          <a:xfrm>
            <a:off x="7383363" y="2970758"/>
            <a:ext cx="423713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3"/>
          <p:cNvSpPr/>
          <p:nvPr/>
        </p:nvSpPr>
        <p:spPr>
          <a:xfrm>
            <a:off x="571500" y="3466058"/>
            <a:ext cx="230638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3"/>
          <p:cNvSpPr/>
          <p:nvPr/>
        </p:nvSpPr>
        <p:spPr>
          <a:xfrm>
            <a:off x="2877889" y="3466058"/>
            <a:ext cx="172848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3"/>
          <p:cNvSpPr/>
          <p:nvPr/>
        </p:nvSpPr>
        <p:spPr>
          <a:xfrm>
            <a:off x="4606379" y="3466058"/>
            <a:ext cx="277698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/>
          <p:nvPr/>
        </p:nvSpPr>
        <p:spPr>
          <a:xfrm>
            <a:off x="7383363" y="3466058"/>
            <a:ext cx="423713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3"/>
          <p:cNvSpPr/>
          <p:nvPr/>
        </p:nvSpPr>
        <p:spPr>
          <a:xfrm>
            <a:off x="571500" y="3961358"/>
            <a:ext cx="230638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2877889" y="3961358"/>
            <a:ext cx="172848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3"/>
          <p:cNvSpPr/>
          <p:nvPr/>
        </p:nvSpPr>
        <p:spPr>
          <a:xfrm>
            <a:off x="4606379" y="3961358"/>
            <a:ext cx="277698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3"/>
          <p:cNvSpPr/>
          <p:nvPr/>
        </p:nvSpPr>
        <p:spPr>
          <a:xfrm>
            <a:off x="7383363" y="3961358"/>
            <a:ext cx="423713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3"/>
          <p:cNvSpPr/>
          <p:nvPr/>
        </p:nvSpPr>
        <p:spPr>
          <a:xfrm>
            <a:off x="571500" y="4456658"/>
            <a:ext cx="230638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3"/>
          <p:cNvSpPr/>
          <p:nvPr/>
        </p:nvSpPr>
        <p:spPr>
          <a:xfrm>
            <a:off x="2877889" y="4456658"/>
            <a:ext cx="172848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3"/>
          <p:cNvSpPr/>
          <p:nvPr/>
        </p:nvSpPr>
        <p:spPr>
          <a:xfrm>
            <a:off x="4606379" y="4456658"/>
            <a:ext cx="277698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7383363" y="4456658"/>
            <a:ext cx="423713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3"/>
          <p:cNvSpPr/>
          <p:nvPr/>
        </p:nvSpPr>
        <p:spPr>
          <a:xfrm>
            <a:off x="571500" y="4951958"/>
            <a:ext cx="230638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2877889" y="4951958"/>
            <a:ext cx="172848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3"/>
          <p:cNvSpPr/>
          <p:nvPr/>
        </p:nvSpPr>
        <p:spPr>
          <a:xfrm>
            <a:off x="4606379" y="4951958"/>
            <a:ext cx="277698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3"/>
          <p:cNvSpPr/>
          <p:nvPr/>
        </p:nvSpPr>
        <p:spPr>
          <a:xfrm>
            <a:off x="7383363" y="4951958"/>
            <a:ext cx="423713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3"/>
          <p:cNvSpPr/>
          <p:nvPr/>
        </p:nvSpPr>
        <p:spPr>
          <a:xfrm>
            <a:off x="571500" y="5447258"/>
            <a:ext cx="230638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3"/>
          <p:cNvSpPr/>
          <p:nvPr/>
        </p:nvSpPr>
        <p:spPr>
          <a:xfrm>
            <a:off x="2877889" y="5447258"/>
            <a:ext cx="172848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3"/>
          <p:cNvSpPr/>
          <p:nvPr/>
        </p:nvSpPr>
        <p:spPr>
          <a:xfrm>
            <a:off x="4606379" y="5447258"/>
            <a:ext cx="277698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3"/>
          <p:cNvSpPr/>
          <p:nvPr/>
        </p:nvSpPr>
        <p:spPr>
          <a:xfrm>
            <a:off x="7383363" y="5447258"/>
            <a:ext cx="423713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3"/>
          <p:cNvSpPr txBox="1"/>
          <p:nvPr/>
        </p:nvSpPr>
        <p:spPr>
          <a:xfrm>
            <a:off x="571500" y="476250"/>
            <a:ext cx="11601450" cy="5314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F2937"/>
                </a:solidFill>
                <a:latin typeface="Outfit"/>
                <a:ea typeface="Outfit"/>
                <a:cs typeface="Outfit"/>
                <a:sym typeface="Outfit"/>
              </a:rPr>
              <a:t>Consonant Summary </a:t>
            </a:r>
            <a:r>
              <a:rPr b="1" i="0" lang="en-US" sz="3600" u="none" cap="none" strike="noStrike">
                <a:solidFill>
                  <a:srgbClr val="4F46E5"/>
                </a:solidFill>
                <a:latin typeface="Outfit"/>
                <a:ea typeface="Outfit"/>
                <a:cs typeface="Outfit"/>
                <a:sym typeface="Outfit"/>
              </a:rPr>
              <a:t>The Big Picture</a:t>
            </a:r>
            <a:endParaRPr/>
          </a:p>
        </p:txBody>
      </p:sp>
      <p:sp>
        <p:nvSpPr>
          <p:cNvPr id="286" name="Google Shape;286;p23"/>
          <p:cNvSpPr/>
          <p:nvPr/>
        </p:nvSpPr>
        <p:spPr>
          <a:xfrm>
            <a:off x="571500" y="1169640"/>
            <a:ext cx="11049000" cy="2857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1" name="Google Shape;29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4"/>
          <p:cNvSpPr/>
          <p:nvPr/>
        </p:nvSpPr>
        <p:spPr>
          <a:xfrm>
            <a:off x="571500" y="31908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4"/>
          <p:cNvSpPr/>
          <p:nvPr/>
        </p:nvSpPr>
        <p:spPr>
          <a:xfrm>
            <a:off x="571500" y="397564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4"/>
          <p:cNvSpPr/>
          <p:nvPr/>
        </p:nvSpPr>
        <p:spPr>
          <a:xfrm>
            <a:off x="571500" y="476041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5" name="Google Shape;29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6505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4"/>
          <p:cNvSpPr txBox="1"/>
          <p:nvPr/>
        </p:nvSpPr>
        <p:spPr>
          <a:xfrm>
            <a:off x="1666875" y="2558504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https://media.istockphoto.com/id/1385384411/vector/colorful-silhouettes-of-sound-waves.jpg?s=612x612&amp;w=0&amp;k=20&amp;c=Z0fDbBevc9LH-ZMAgIfgxoT9p4NkBovfZemXy9D2IvM=</a:t>
            </a:r>
            <a:endParaRPr/>
          </a:p>
        </p:txBody>
      </p:sp>
      <p:sp>
        <p:nvSpPr>
          <p:cNvPr id="297" name="Google Shape;297;p24"/>
          <p:cNvSpPr txBox="1"/>
          <p:nvPr/>
        </p:nvSpPr>
        <p:spPr>
          <a:xfrm>
            <a:off x="1666875" y="280421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Spline Sans"/>
                <a:ea typeface="Spline Sans"/>
                <a:cs typeface="Spline Sans"/>
                <a:sym typeface="Spline Sans"/>
              </a:rPr>
              <a:t>www.istockphoto.com</a:t>
            </a:r>
            <a:endParaRPr/>
          </a:p>
        </p:txBody>
      </p:sp>
      <p:pic>
        <p:nvPicPr>
          <p:cNvPr descr="image.png" id="298" name="Google Shape;29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34982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4"/>
          <p:cNvSpPr txBox="1"/>
          <p:nvPr/>
        </p:nvSpPr>
        <p:spPr>
          <a:xfrm>
            <a:off x="1666875" y="334327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https://englishlikeanative.co.uk/wp-content/uploads/2021/11/Phoneme-chart.jpg</a:t>
            </a:r>
            <a:endParaRPr/>
          </a:p>
        </p:txBody>
      </p:sp>
      <p:sp>
        <p:nvSpPr>
          <p:cNvPr id="300" name="Google Shape;300;p24"/>
          <p:cNvSpPr txBox="1"/>
          <p:nvPr/>
        </p:nvSpPr>
        <p:spPr>
          <a:xfrm>
            <a:off x="1666875" y="358899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Spline Sans"/>
                <a:ea typeface="Spline Sans"/>
                <a:cs typeface="Spline Sans"/>
                <a:sym typeface="Spline Sans"/>
              </a:rPr>
              <a:t>englishlikeanative.co.uk</a:t>
            </a:r>
            <a:endParaRPr/>
          </a:p>
        </p:txBody>
      </p:sp>
      <p:pic>
        <p:nvPicPr>
          <p:cNvPr descr="image.png" id="301" name="Google Shape;301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13459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4"/>
          <p:cNvSpPr txBox="1"/>
          <p:nvPr/>
        </p:nvSpPr>
        <p:spPr>
          <a:xfrm>
            <a:off x="1666875" y="412804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https://phonicshero.com/wp-content/uploads/vocal_cords_open_versus_closed.png</a:t>
            </a:r>
            <a:endParaRPr/>
          </a:p>
        </p:txBody>
      </p:sp>
      <p:sp>
        <p:nvSpPr>
          <p:cNvPr id="303" name="Google Shape;303;p24"/>
          <p:cNvSpPr txBox="1"/>
          <p:nvPr/>
        </p:nvSpPr>
        <p:spPr>
          <a:xfrm>
            <a:off x="1666875" y="437376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Spline Sans"/>
                <a:ea typeface="Spline Sans"/>
                <a:cs typeface="Spline Sans"/>
                <a:sym typeface="Spline Sans"/>
              </a:rPr>
              <a:t>phonicshero.com</a:t>
            </a:r>
            <a:endParaRPr/>
          </a:p>
        </p:txBody>
      </p:sp>
      <p:pic>
        <p:nvPicPr>
          <p:cNvPr descr="image.png" id="304" name="Google Shape;304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91936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4"/>
          <p:cNvSpPr txBox="1"/>
          <p:nvPr/>
        </p:nvSpPr>
        <p:spPr>
          <a:xfrm>
            <a:off x="1666875" y="4912816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https://opentextbc.ca/psyclanguage/wp-content/uploads/sites/356/2021/02/Parts-of-the-Vocal-Tract-2.png</a:t>
            </a:r>
            <a:endParaRPr/>
          </a:p>
        </p:txBody>
      </p:sp>
      <p:sp>
        <p:nvSpPr>
          <p:cNvPr id="306" name="Google Shape;306;p24"/>
          <p:cNvSpPr txBox="1"/>
          <p:nvPr/>
        </p:nvSpPr>
        <p:spPr>
          <a:xfrm>
            <a:off x="1666875" y="515853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Spline Sans"/>
                <a:ea typeface="Spline Sans"/>
                <a:cs typeface="Spline Sans"/>
                <a:sym typeface="Spline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Spline Sans"/>
                <a:ea typeface="Spline Sans"/>
                <a:cs typeface="Spline Sans"/>
                <a:sym typeface="Spline Sans"/>
              </a:rPr>
              <a:t>opentextbc.ca</a:t>
            </a:r>
            <a:endParaRPr/>
          </a:p>
        </p:txBody>
      </p:sp>
      <p:sp>
        <p:nvSpPr>
          <p:cNvPr id="307" name="Google Shape;307;p24"/>
          <p:cNvSpPr txBox="1"/>
          <p:nvPr/>
        </p:nvSpPr>
        <p:spPr>
          <a:xfrm>
            <a:off x="571500" y="476250"/>
            <a:ext cx="11601450" cy="5314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F2937"/>
                </a:solidFill>
                <a:latin typeface="Outfit"/>
                <a:ea typeface="Outfit"/>
                <a:cs typeface="Outfit"/>
                <a:sym typeface="Outfit"/>
              </a:rPr>
              <a:t>Image Sources</a:t>
            </a:r>
            <a:endParaRPr/>
          </a:p>
        </p:txBody>
      </p:sp>
      <p:sp>
        <p:nvSpPr>
          <p:cNvPr id="308" name="Google Shape;308;p24"/>
          <p:cNvSpPr/>
          <p:nvPr/>
        </p:nvSpPr>
        <p:spPr>
          <a:xfrm>
            <a:off x="571500" y="1169640"/>
            <a:ext cx="11049000" cy="2857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