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C72"/>
        </a:solidFill>
        <a:effectLst/>
      </p:bgPr>
    </p:bg>
    <p:spTree>
      <p:nvGrpSpPr>
        <p:cNvPr id="1" name=""/>
        <p:cNvGrpSpPr/>
        <p:nvPr/>
      </p:nvGrpSpPr>
      <p:grpSpPr/>
      <p:sp>
        <p:nvSpPr>
          <p:cNvPr id="2" name="TextBox 1"/>
          <p:cNvSpPr txBox="1"/>
          <p:nvPr/>
        </p:nvSpPr>
        <p:spPr>
          <a:xfrm>
            <a:off x="457200" y="1097280"/>
            <a:ext cx="8229600" cy="2011680"/>
          </a:xfrm>
          <a:prstGeom prst="rect">
            <a:avLst/>
          </a:prstGeom>
          <a:noFill/>
        </p:spPr>
        <p:txBody>
          <a:bodyPr wrap="square">
            <a:spAutoFit/>
          </a:bodyPr>
          <a:lstStyle/>
          <a:p>
            <a:pPr algn="ctr">
              <a:lnSpc>
                <a:spcPct val="120000"/>
              </a:lnSpc>
              <a:defRPr sz="4000" b="1">
                <a:solidFill>
                  <a:srgbClr val="FBBF24"/>
                </a:solidFill>
              </a:defRPr>
            </a:pPr>
            <a:r>
              <a:t>Retranslations Across Millennia: A Diachronic Contrastive Corpus for Studying Interlingual and Intralingual Language Contact</a:t>
            </a:r>
          </a:p>
        </p:txBody>
      </p:sp>
      <p:sp>
        <p:nvSpPr>
          <p:cNvPr id="3" name="TextBox 2"/>
          <p:cNvSpPr txBox="1"/>
          <p:nvPr/>
        </p:nvSpPr>
        <p:spPr>
          <a:xfrm>
            <a:off x="457200" y="3474720"/>
            <a:ext cx="8229600" cy="1097280"/>
          </a:xfrm>
          <a:prstGeom prst="rect">
            <a:avLst/>
          </a:prstGeom>
          <a:noFill/>
        </p:spPr>
        <p:txBody>
          <a:bodyPr wrap="square">
            <a:spAutoFit/>
          </a:bodyPr>
          <a:lstStyle/>
          <a:p>
            <a:pPr algn="ctr">
              <a:defRPr sz="2200">
                <a:solidFill>
                  <a:srgbClr val="FFFFFF"/>
                </a:solidFill>
              </a:defRPr>
            </a:pPr>
            <a:r>
              <a:t>Nikolaos Lavidas, Theodoros Michalareas, Vassilios Symeonidis,</a:t>
            </a:r>
          </a:p>
          <a:p>
            <a:pPr algn="ctr">
              <a:defRPr sz="2200">
                <a:solidFill>
                  <a:srgbClr val="FFFFFF"/>
                </a:solidFill>
              </a:defRPr>
            </a:pPr>
            <a:r>
              <a:t>Sofia Chionidi, Anastasia Tsiropina, Eleni Plakoutsi</a:t>
            </a:r>
          </a:p>
        </p:txBody>
      </p:sp>
      <p:sp>
        <p:nvSpPr>
          <p:cNvPr id="4" name="TextBox 3"/>
          <p:cNvSpPr txBox="1"/>
          <p:nvPr/>
        </p:nvSpPr>
        <p:spPr>
          <a:xfrm>
            <a:off x="457200" y="4754880"/>
            <a:ext cx="8229600" cy="548640"/>
          </a:xfrm>
          <a:prstGeom prst="rect">
            <a:avLst/>
          </a:prstGeom>
          <a:noFill/>
        </p:spPr>
        <p:txBody>
          <a:bodyPr wrap="none">
            <a:spAutoFit/>
          </a:bodyPr>
          <a:lstStyle/>
          <a:p>
            <a:pPr algn="ctr">
              <a:defRPr sz="2000" i="1">
                <a:solidFill>
                  <a:srgbClr val="FBBF24"/>
                </a:solidFill>
              </a:defRPr>
            </a:pPr>
            <a:r>
              <a:t>Athens Digital Glossa Chronos (AthDGC)</a:t>
            </a:r>
          </a:p>
        </p:txBody>
      </p:sp>
      <p:sp>
        <p:nvSpPr>
          <p:cNvPr id="5" name="TextBox 4"/>
          <p:cNvSpPr txBox="1"/>
          <p:nvPr/>
        </p:nvSpPr>
        <p:spPr>
          <a:xfrm>
            <a:off x="457200" y="5669280"/>
            <a:ext cx="8229600" cy="914400"/>
          </a:xfrm>
          <a:prstGeom prst="rect">
            <a:avLst/>
          </a:prstGeom>
          <a:noFill/>
        </p:spPr>
        <p:txBody>
          <a:bodyPr wrap="square">
            <a:spAutoFit/>
          </a:bodyPr>
          <a:lstStyle/>
          <a:p>
            <a:pPr algn="ctr">
              <a:defRPr sz="1800">
                <a:solidFill>
                  <a:srgbClr val="FFFFFF"/>
                </a:solidFill>
              </a:defRPr>
            </a:pPr>
            <a:r>
              <a:t>DELPHI 2025: Corpora and Diachrony</a:t>
            </a:r>
          </a:p>
          <a:p>
            <a:pPr algn="ctr">
              <a:defRPr sz="1800">
                <a:solidFill>
                  <a:srgbClr val="FFFFFF"/>
                </a:solidFill>
              </a:defRPr>
            </a:pPr>
            <a:r>
              <a:t>Influential Texts, Text Types and Genres</a:t>
            </a:r>
          </a:p>
          <a:p>
            <a:pPr algn="ctr">
              <a:defRPr sz="1800">
                <a:solidFill>
                  <a:srgbClr val="FFFFFF"/>
                </a:solidFill>
              </a:defRPr>
            </a:pPr>
            <a:r>
              <a:t>Delphi, Greece | November 26-29, 2025 | 10:15 | 75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ctr">
              <a:defRPr sz="4000" b="1">
                <a:solidFill>
                  <a:srgbClr val="1E3C72"/>
                </a:solidFill>
              </a:defRPr>
            </a:pPr>
            <a:r>
              <a:t>The Textual Foundation and Computational Architecture of the CVL-CDSAML Corpus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Bridging three millennia of linguistic history through computational philology</a:t>
            </a:r>
          </a:p>
          <a:p>
            <a:pPr>
              <a:spcAft>
                <a:spcPts val="1800"/>
              </a:spcAft>
              <a:defRPr sz="2400">
                <a:solidFill>
                  <a:srgbClr val="1E293B"/>
                </a:solidFill>
              </a:defRPr>
            </a:pPr>
            <a:r>
              <a:t>This presentation explores Part 2 of our research paper, focusing on how the CVL-CDSAML corpus is structured and how it serves as the foundation for extracting diachronic valency patterns. We will examine the corpus architecture, text selection criteria, and the computational methods used to create a comprehensive valency lexicon spanning multiple languages and historical periods.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does Part 2 of this research focus 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What is the main architectural framework?</a:t>
            </a:r>
          </a:p>
          <a:p>
            <a:pPr>
              <a:spcAft>
                <a:spcPts val="1800"/>
              </a:spcAft>
              <a:defRPr sz="2200">
                <a:solidFill>
                  <a:srgbClr val="1E293B"/>
                </a:solidFill>
              </a:defRPr>
            </a:pPr>
            <a:r>
              <a:t>How does it support linguistic research?</a:t>
            </a:r>
          </a:p>
          <a:p>
            <a:pPr>
              <a:spcAft>
                <a:spcPts val="1800"/>
              </a:spcAft>
              <a:defRPr sz="2200">
                <a:solidFill>
                  <a:srgbClr val="1E293B"/>
                </a:solidFill>
              </a:defRPr>
            </a:pPr>
            <a:r>
              <a:t>What makes this approach unique?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Part 2: Textual Foundation &amp; Computational Architecture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A comprehensive approach to diachronic valency research</a:t>
            </a:r>
          </a:p>
          <a:p>
            <a:pPr>
              <a:spcAft>
                <a:spcPts val="1800"/>
              </a:spcAft>
              <a:defRPr sz="2400">
                <a:solidFill>
                  <a:srgbClr val="1E293B"/>
                </a:solidFill>
              </a:defRPr>
            </a:pPr>
            <a:r>
              <a:t>The CVL-CDSAML project represents a novel integration of traditional philological expertise with modern computational linguistics. This corpus contains 338 carefully curated historical texts that enable systematic analysis of how verb valency patterns evolve over time. The architecture supports both qualitative philological analysis and quantitative computational extraction of linguistic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Why do we need a comprehensive foundation for diachronic research?</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What challenges do historical linguists face?</a:t>
            </a:r>
          </a:p>
          <a:p>
            <a:pPr>
              <a:spcAft>
                <a:spcPts val="1800"/>
              </a:spcAft>
              <a:defRPr sz="2200">
                <a:solidFill>
                  <a:srgbClr val="1E293B"/>
                </a:solidFill>
              </a:defRPr>
            </a:pPr>
            <a:r>
              <a:t>How does text quality affect research outcomes?</a:t>
            </a:r>
          </a:p>
          <a:p>
            <a:pPr>
              <a:spcAft>
                <a:spcPts val="1800"/>
              </a:spcAft>
              <a:defRPr sz="2200">
                <a:solidFill>
                  <a:srgbClr val="1E293B"/>
                </a:solidFill>
              </a:defRPr>
            </a:pPr>
            <a:r>
              <a:t>What factors must be controlled?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Introduction: The Need for a Comprehensive Foundation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Diachronic linguistic analysis requires careful consideration of multiple elements:</a:t>
            </a:r>
          </a:p>
          <a:p>
            <a:pPr>
              <a:spcAft>
                <a:spcPts val="1800"/>
              </a:spcAft>
              <a:defRPr sz="2400">
                <a:solidFill>
                  <a:srgbClr val="1E293B"/>
                </a:solidFill>
              </a:defRPr>
            </a:pPr>
            <a:r>
              <a:t>Studying language change over millennia demands rigorous methodology in selecting and preparing texts. The CVL-CDSAML corpus addresses this need by establishing clear criteria for text inclusion and implementing systematic quality control measures. This foundation ensures that observed linguistic patterns reflect genuine historical developments rather than artifacts of inconsistent data.</a:t>
            </a:r>
          </a:p>
          <a:p>
            <a:pPr>
              <a:spcAft>
                <a:spcPts val="1800"/>
              </a:spcAft>
              <a:defRPr sz="2200">
                <a:solidFill>
                  <a:srgbClr val="1E293B"/>
                </a:solidFill>
              </a:defRPr>
            </a:pPr>
            <a:r>
              <a:t>Text selectionand preparation</a:t>
            </a:r>
          </a:p>
          <a:p>
            <a:pPr>
              <a:spcAft>
                <a:spcPts val="1800"/>
              </a:spcAft>
              <a:defRPr sz="2200">
                <a:solidFill>
                  <a:srgbClr val="1E293B"/>
                </a:solidFill>
              </a:defRPr>
            </a:pPr>
            <a:r>
              <a:t>Assessment ofhistorical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Introduction: The Need for a Comprehensive Foundation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Understandinglanguage developmentcontexts</a:t>
            </a:r>
          </a:p>
          <a:p>
            <a:pPr>
              <a:spcAft>
                <a:spcPts val="1800"/>
              </a:spcAft>
              <a:defRPr sz="2200">
                <a:solidFill>
                  <a:srgbClr val="1E293B"/>
                </a:solidFill>
              </a:defRPr>
            </a:pPr>
            <a:r>
              <a:t>Recognition ofexternal factorsinfluencing linguistic change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exactly is the CVL-CDSAML Corpus?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Ask yourself:</a:t>
            </a:r>
          </a:p>
          <a:p>
            <a:pPr>
              <a:spcAft>
                <a:spcPts val="1800"/>
              </a:spcAft>
              <a:defRPr sz="2200">
                <a:solidFill>
                  <a:srgbClr val="1E293B"/>
                </a:solidFill>
              </a:defRPr>
            </a:pPr>
            <a:r>
              <a:t>What does CVL-CDSAML stand for?</a:t>
            </a:r>
          </a:p>
          <a:p>
            <a:pPr>
              <a:spcAft>
                <a:spcPts val="1800"/>
              </a:spcAft>
              <a:defRPr sz="2200">
                <a:solidFill>
                  <a:srgbClr val="1E293B"/>
                </a:solidFill>
              </a:defRPr>
            </a:pPr>
            <a:r>
              <a:t>How many texts does it contain?</a:t>
            </a:r>
          </a:p>
          <a:p>
            <a:pPr>
              <a:spcAft>
                <a:spcPts val="1800"/>
              </a:spcAft>
              <a:defRPr sz="2200">
                <a:solidFill>
                  <a:srgbClr val="1E293B"/>
                </a:solidFill>
              </a:defRPr>
            </a:pPr>
            <a:r>
              <a:t>What time period does it cover?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What is the CVL-CDSAML Corpus?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CVL-CDSAML (Corpus for Valency Lexicon - Corpus of Diachronic and Synchronic Analyses of Multiple Languages) serves as the textual database for extracting valency information across languages and time periods. Each text is digitally encoded with linguistic annotations that enable automatic extraction of verb-argument structures. The corpus architecture supports both synchronic comparison across languages and diachronic tracking of changes within individual languages.</a:t>
            </a:r>
          </a:p>
          <a:p>
            <a:pPr>
              <a:spcAft>
                <a:spcPts val="1800"/>
              </a:spcAft>
              <a:defRPr sz="2200">
                <a:solidFill>
                  <a:srgbClr val="1E293B"/>
                </a:solidFill>
              </a:defRPr>
            </a:pPr>
            <a:r>
              <a:t>Purpose:Foundation for a diachronic valency lexicon project</a:t>
            </a:r>
          </a:p>
          <a:p>
            <a:pPr>
              <a:spcAft>
                <a:spcPts val="1800"/>
              </a:spcAft>
              <a:defRPr sz="2200">
                <a:solidFill>
                  <a:srgbClr val="1E293B"/>
                </a:solidFill>
              </a:defRPr>
            </a:pPr>
            <a:r>
              <a:t>Scope:338 historical texts coveringthree millenniaof Greek language development</a:t>
            </a:r>
          </a:p>
          <a:p>
            <a:pPr>
              <a:spcAft>
                <a:spcPts val="1800"/>
              </a:spcAft>
              <a:defRPr sz="2200">
                <a:solidFill>
                  <a:srgbClr val="1E293B"/>
                </a:solidFill>
              </a:defRPr>
            </a:pPr>
            <a:r>
              <a:t>Inclusion:Parallel traditions fromGermanicandRomancelanguages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What is the CVL-CDSAML Corpus?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Approach:Enables study of both internal and external language interactions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research questions can this corpus address?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Internal vs. external language development</a:t>
            </a:r>
          </a:p>
          <a:p>
            <a:pPr>
              <a:spcAft>
                <a:spcPts val="1800"/>
              </a:spcAft>
              <a:defRPr sz="2200">
                <a:solidFill>
                  <a:srgbClr val="1E293B"/>
                </a:solidFill>
              </a:defRPr>
            </a:pPr>
            <a:r>
              <a:t>Genre and register effects</a:t>
            </a:r>
          </a:p>
          <a:p>
            <a:pPr>
              <a:spcAft>
                <a:spcPts val="1800"/>
              </a:spcAft>
              <a:defRPr sz="2200">
                <a:solidFill>
                  <a:srgbClr val="1E293B"/>
                </a:solidFill>
              </a:defRPr>
            </a:pPr>
            <a:r>
              <a:t>Historical transmission problems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Context &amp; Methodology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corpus allows researchers to analyze:</a:t>
            </a:r>
          </a:p>
          <a:p>
            <a:pPr>
              <a:spcAft>
                <a:spcPts val="1800"/>
              </a:spcAft>
              <a:defRPr sz="2400">
                <a:solidFill>
                  <a:srgbClr val="1E293B"/>
                </a:solidFill>
              </a:defRPr>
            </a:pPr>
            <a:r>
              <a:t>Based on Biber &amp; Conrad (2009)</a:t>
            </a:r>
          </a:p>
          <a:p>
            <a:pPr>
              <a:spcAft>
                <a:spcPts val="1800"/>
              </a:spcAft>
              <a:defRPr sz="2400">
                <a:solidFill>
                  <a:srgbClr val="1E293B"/>
                </a:solidFill>
              </a:defRPr>
            </a:pPr>
            <a:r>
              <a:t>Our methodology combines variationist sociolinguistics with diachronic corpus linguistics to track how valency patterns change. For example, the corpus is structured to allow comparison of the same text (e.g., Genesis 1) across five Greek translations spanning 2000 years, enabling precise tracking of how specific verbs likeποιέω"to make" change their argument structures over time.</a:t>
            </a:r>
          </a:p>
          <a:p>
            <a:pPr>
              <a:spcAft>
                <a:spcPts val="1800"/>
              </a:spcAft>
              <a:defRPr sz="2200">
                <a:solidFill>
                  <a:srgbClr val="1E293B"/>
                </a:solidFill>
              </a:defRPr>
            </a:pPr>
            <a:r>
              <a:t>Internal language developmentpatterns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Context &amp; Methodology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External language interactionsthrough contact</a:t>
            </a:r>
          </a:p>
          <a:p>
            <a:pPr>
              <a:spcAft>
                <a:spcPts val="1800"/>
              </a:spcAft>
              <a:defRPr sz="2200">
                <a:solidFill>
                  <a:srgbClr val="1E293B"/>
                </a:solidFill>
              </a:defRPr>
            </a:pPr>
            <a:r>
              <a:t>Genre effectson linguistic features</a:t>
            </a:r>
          </a:p>
          <a:p>
            <a:pPr>
              <a:spcAft>
                <a:spcPts val="1800"/>
              </a:spcAft>
              <a:defRPr sz="2200">
                <a:solidFill>
                  <a:srgbClr val="1E293B"/>
                </a:solidFill>
              </a:defRPr>
            </a:pPr>
            <a:r>
              <a:t>Register variationsacross time periods</a:t>
            </a:r>
          </a:p>
          <a:p>
            <a:pPr>
              <a:spcAft>
                <a:spcPts val="1800"/>
              </a:spcAft>
              <a:defRPr sz="2200">
                <a:solidFill>
                  <a:srgbClr val="1E293B"/>
                </a:solidFill>
              </a:defRPr>
            </a:pPr>
            <a:r>
              <a:t>Transmission problemsin historical linguistic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Who funds this research and what is the timeline?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Key questions:</a:t>
            </a:r>
          </a:p>
          <a:p>
            <a:pPr>
              <a:spcAft>
                <a:spcPts val="1800"/>
              </a:spcAft>
              <a:defRPr sz="2200">
                <a:solidFill>
                  <a:srgbClr val="1E293B"/>
                </a:solidFill>
              </a:defRPr>
            </a:pPr>
            <a:r>
              <a:t>Which foundation supports the project?</a:t>
            </a:r>
          </a:p>
          <a:p>
            <a:pPr>
              <a:spcAft>
                <a:spcPts val="1800"/>
              </a:spcAft>
              <a:defRPr sz="2200">
                <a:solidFill>
                  <a:srgbClr val="1E293B"/>
                </a:solidFill>
              </a:defRPr>
            </a:pPr>
            <a:r>
              <a:t>What is the funding period?</a:t>
            </a:r>
          </a:p>
          <a:p>
            <a:pPr>
              <a:spcAft>
                <a:spcPts val="1800"/>
              </a:spcAft>
              <a:defRPr sz="2200">
                <a:solidFill>
                  <a:srgbClr val="1E293B"/>
                </a:solidFill>
              </a:defRPr>
            </a:pPr>
            <a:r>
              <a:t>What makes this project competitive?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CVL-CDSAML Project Overview</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Funded by:Hellenic Foundation for Research &amp; Innovation (H.F.R.I.)Program:ELIDEK Excellence funding programTimeline:2024-2025</a:t>
            </a:r>
          </a:p>
          <a:p>
            <a:pPr>
              <a:spcAft>
                <a:spcPts val="1800"/>
              </a:spcAft>
              <a:defRPr sz="2400">
                <a:solidFill>
                  <a:srgbClr val="1E293B"/>
                </a:solidFill>
              </a:defRPr>
            </a:pPr>
            <a:r>
              <a:t>This project is funded through the competitive ELIDEK Excellence program, which supports high-quality research in Greece. The 2024-2025 funding period focuses on completing the core corpus construction and releasing the initial version of the valency lexicon. The project employs a team of philologists, computational linguists, and software engineers working collaboratively on text digitization, annotation, and lexicon development.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are the main deliverables of this project?</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Two major outputs:</a:t>
            </a:r>
          </a:p>
          <a:p>
            <a:pPr>
              <a:spcAft>
                <a:spcPts val="1800"/>
              </a:spcAft>
              <a:defRPr sz="2200">
                <a:solidFill>
                  <a:srgbClr val="1E293B"/>
                </a:solidFill>
              </a:defRPr>
            </a:pPr>
            <a:r>
              <a:t>What kind of corpus will be produced?</a:t>
            </a:r>
          </a:p>
          <a:p>
            <a:pPr>
              <a:spcAft>
                <a:spcPts val="1800"/>
              </a:spcAft>
              <a:defRPr sz="2200">
                <a:solidFill>
                  <a:srgbClr val="1E293B"/>
                </a:solidFill>
              </a:defRPr>
            </a:pPr>
            <a:r>
              <a:t>What kind of lexicon will be created?</a:t>
            </a:r>
          </a:p>
          <a:p>
            <a:pPr>
              <a:spcAft>
                <a:spcPts val="1800"/>
              </a:spcAft>
              <a:defRPr sz="2200">
                <a:solidFill>
                  <a:srgbClr val="1E293B"/>
                </a:solidFill>
              </a:defRPr>
            </a:pPr>
            <a:r>
              <a:t>How do these tools work together?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Goals &amp; Deliverables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Two Major Linguistic Tools:</a:t>
            </a:r>
          </a:p>
          <a:p>
            <a:pPr>
              <a:spcAft>
                <a:spcPts val="1800"/>
              </a:spcAft>
              <a:defRPr sz="2400">
                <a:solidFill>
                  <a:srgbClr val="1E293B"/>
                </a:solidFill>
              </a:defRPr>
            </a:pPr>
            <a:r>
              <a:t>Parallel Diachronic Corpus</a:t>
            </a:r>
          </a:p>
          <a:p>
            <a:pPr>
              <a:spcAft>
                <a:spcPts val="1800"/>
              </a:spcAft>
              <a:defRPr sz="2400">
                <a:solidFill>
                  <a:srgbClr val="1E293B"/>
                </a:solidFill>
              </a:defRPr>
            </a:pPr>
            <a:r>
              <a:t>Diachronic Valency Lexicon</a:t>
            </a:r>
          </a:p>
          <a:p>
            <a:pPr>
              <a:spcAft>
                <a:spcPts val="1800"/>
              </a:spcAft>
              <a:defRPr sz="2400">
                <a:solidFill>
                  <a:srgbClr val="1E293B"/>
                </a:solidFill>
              </a:defRPr>
            </a:pPr>
            <a:r>
              <a:t>The parallel corpus allows direct comparison of translations, revealing how source language structures influence target language valency. The valency lexicon will contain entries for approximately 5,000 predicates (verbs, adjectives, and nouns) with time-stamped valency frames. Each lexicon entry includes corpus examples showing the predicate in context with its arguments clearly marked.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Goals &amp; Deliverables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Bible texts across multiple languages and time periods</a:t>
            </a:r>
          </a:p>
          <a:p>
            <a:pPr>
              <a:spcAft>
                <a:spcPts val="1800"/>
              </a:spcAft>
              <a:defRPr sz="2200">
                <a:solidFill>
                  <a:srgbClr val="1E293B"/>
                </a:solidFill>
              </a:defRPr>
            </a:pPr>
            <a:r>
              <a:t>Other significant historical texts</a:t>
            </a:r>
          </a:p>
          <a:p>
            <a:pPr>
              <a:spcAft>
                <a:spcPts val="1800"/>
              </a:spcAft>
              <a:defRPr sz="2200">
                <a:solidFill>
                  <a:srgbClr val="1E293B"/>
                </a:solidFill>
              </a:defRPr>
            </a:pPr>
            <a:r>
              <a:t>Extracted systematically from the corpus</a:t>
            </a:r>
          </a:p>
          <a:p>
            <a:pPr>
              <a:spcAft>
                <a:spcPts val="1800"/>
              </a:spcAft>
              <a:defRPr sz="2200">
                <a:solidFill>
                  <a:srgbClr val="1E293B"/>
                </a:solidFill>
              </a:defRPr>
            </a:pPr>
            <a:r>
              <a:t>Tracks valency patterns across 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large is the corpus and how is it organized?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Scale questions:</a:t>
            </a:r>
          </a:p>
          <a:p>
            <a:pPr>
              <a:spcAft>
                <a:spcPts val="1800"/>
              </a:spcAft>
              <a:defRPr sz="2200">
                <a:solidFill>
                  <a:srgbClr val="1E293B"/>
                </a:solidFill>
              </a:defRPr>
            </a:pPr>
            <a:r>
              <a:t>How many texts total?</a:t>
            </a:r>
          </a:p>
          <a:p>
            <a:pPr>
              <a:spcAft>
                <a:spcPts val="1800"/>
              </a:spcAft>
              <a:defRPr sz="2200">
                <a:solidFill>
                  <a:srgbClr val="1E293B"/>
                </a:solidFill>
              </a:defRPr>
            </a:pPr>
            <a:r>
              <a:t>How many years of history?</a:t>
            </a:r>
          </a:p>
          <a:p>
            <a:pPr>
              <a:spcAft>
                <a:spcPts val="1800"/>
              </a:spcAft>
              <a:defRPr sz="2200">
                <a:solidFill>
                  <a:srgbClr val="1E293B"/>
                </a:solidFill>
              </a:defRPr>
            </a:pPr>
            <a:r>
              <a:t>How is it structured hierarchically?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Scope &amp; Scale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corpus is organized hierarchically: at the top level by language family (Hellenic, Germanic, Romance), then by historical period, then by text type (biblical, historical prose, etc.). Each text is assigned a unique identifier (e.g.,GRK-KOINE-NT-JOHNfor the Gospel of John in Koine Greek). This systematic organization enables efficient querying and comparison across temporal and spatial dimensions.</a:t>
            </a:r>
          </a:p>
          <a:p>
            <a:pPr>
              <a:spcAft>
                <a:spcPts val="1800"/>
              </a:spcAft>
              <a:defRPr sz="2200">
                <a:solidFill>
                  <a:srgbClr val="1E293B"/>
                </a:solidFill>
              </a:defRPr>
            </a:pPr>
            <a:r>
              <a:t>338 historical textsto be processed systematically</a:t>
            </a:r>
          </a:p>
          <a:p>
            <a:pPr>
              <a:spcAft>
                <a:spcPts val="1800"/>
              </a:spcAft>
              <a:defRPr sz="2200">
                <a:solidFill>
                  <a:srgbClr val="1E293B"/>
                </a:solidFill>
              </a:defRPr>
            </a:pPr>
            <a:r>
              <a:t>Over two millenniaof documented linguistic development</a:t>
            </a:r>
          </a:p>
          <a:p>
            <a:pPr>
              <a:spcAft>
                <a:spcPts val="1800"/>
              </a:spcAft>
              <a:defRPr sz="2200">
                <a:solidFill>
                  <a:srgbClr val="1E293B"/>
                </a:solidFill>
              </a:defRPr>
            </a:pPr>
            <a:r>
              <a:t>Multiple language familiesrepresented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Scope &amp; Scale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Comprehensive coverageof major periods and genres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Can you show us the actual directory structure?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Structure details:</a:t>
            </a:r>
          </a:p>
          <a:p>
            <a:pPr>
              <a:spcAft>
                <a:spcPts val="1800"/>
              </a:spcAft>
              <a:defRPr sz="2200">
                <a:solidFill>
                  <a:srgbClr val="1E293B"/>
                </a:solidFill>
              </a:defRPr>
            </a:pPr>
            <a:r>
              <a:t>How are files organized?</a:t>
            </a:r>
          </a:p>
          <a:p>
            <a:pPr>
              <a:spcAft>
                <a:spcPts val="1800"/>
              </a:spcAft>
              <a:defRPr sz="2200">
                <a:solidFill>
                  <a:srgbClr val="1E293B"/>
                </a:solidFill>
              </a:defRPr>
            </a:pPr>
            <a:r>
              <a:t>What naming conventions are used?</a:t>
            </a:r>
          </a:p>
          <a:p>
            <a:pPr>
              <a:spcAft>
                <a:spcPts val="1800"/>
              </a:spcAft>
              <a:defRPr sz="2200">
                <a:solidFill>
                  <a:srgbClr val="1E293B"/>
                </a:solidFill>
              </a:defRPr>
            </a:pPr>
            <a:r>
              <a:t>How does this enable efficient querying?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Corpus Structure Example: Hierarchical Organization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This hierarchical structure allows researchers to query specific periods (e.g., "all Koine texts") or track individual texts across translations (e.g., "Genesis in all Greek periods"). The file naming convention includes language code, period, text type, and specific work identifier.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makes a text "influential" enough to include?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Selection criteria:</a:t>
            </a:r>
          </a:p>
          <a:p>
            <a:pPr>
              <a:spcAft>
                <a:spcPts val="1800"/>
              </a:spcAft>
              <a:defRPr sz="2200">
                <a:solidFill>
                  <a:srgbClr val="1E293B"/>
                </a:solidFill>
              </a:defRPr>
            </a:pPr>
            <a:r>
              <a:t>What defines cultural significance?</a:t>
            </a:r>
          </a:p>
          <a:p>
            <a:pPr>
              <a:spcAft>
                <a:spcPts val="1800"/>
              </a:spcAft>
              <a:defRPr sz="2200">
                <a:solidFill>
                  <a:srgbClr val="1E293B"/>
                </a:solidFill>
              </a:defRPr>
            </a:pPr>
            <a:r>
              <a:t>Why is translation availability important?</a:t>
            </a:r>
          </a:p>
          <a:p>
            <a:pPr>
              <a:spcAft>
                <a:spcPts val="1800"/>
              </a:spcAft>
              <a:defRPr sz="2200">
                <a:solidFill>
                  <a:srgbClr val="1E293B"/>
                </a:solidFill>
              </a:defRPr>
            </a:pPr>
            <a:r>
              <a:t>How do these criteria work together?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Defining Influential Texts: Criteria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Two Essential Conditions for Text Selection:</a:t>
            </a:r>
          </a:p>
          <a:p>
            <a:pPr>
              <a:spcAft>
                <a:spcPts val="1800"/>
              </a:spcAft>
              <a:defRPr sz="2400">
                <a:solidFill>
                  <a:srgbClr val="1E293B"/>
                </a:solidFill>
              </a:defRPr>
            </a:pPr>
            <a:r>
              <a:t>(a)The text holdscultural and linguistic significanceaccording to historical documentation</a:t>
            </a:r>
          </a:p>
          <a:p>
            <a:pPr>
              <a:spcAft>
                <a:spcPts val="1800"/>
              </a:spcAft>
              <a:defRPr sz="2400">
                <a:solidFill>
                  <a:srgbClr val="1E293B"/>
                </a:solidFill>
              </a:defRPr>
            </a:pPr>
            <a:r>
              <a:t>(b)The text exists inmultiple translationsacross various geographical areas and time periods</a:t>
            </a:r>
          </a:p>
          <a:p>
            <a:pPr>
              <a:spcAft>
                <a:spcPts val="1800"/>
              </a:spcAft>
              <a:defRPr sz="2400">
                <a:solidFill>
                  <a:srgbClr val="1E293B"/>
                </a:solidFill>
              </a:defRPr>
            </a:pPr>
            <a:r>
              <a:t>(Lavidas 2021: 283)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Defining Influential Texts: Criteria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These criteria ensure that included texts have both influenced language use historically and are available in sufficient translations for comparative analysis. For example, the Book of Psalms meets both criteria: it shaped liturgical language across centuries and exists in numerous translations from Hebrew to Greek (Septuagint, Byzantine, Modern), Latin (Vulgate), Old English, Middle English, and Modern English. This allows tracking of how the same poetic-religious register evolves across languages and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does the corpus capture language contact effects?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Contact linguistics:</a:t>
            </a:r>
          </a:p>
          <a:p>
            <a:pPr>
              <a:spcAft>
                <a:spcPts val="1800"/>
              </a:spcAft>
              <a:defRPr sz="2200">
                <a:solidFill>
                  <a:srgbClr val="1E293B"/>
                </a:solidFill>
              </a:defRPr>
            </a:pPr>
            <a:r>
              <a:t>What is written language contact?</a:t>
            </a:r>
          </a:p>
          <a:p>
            <a:pPr>
              <a:spcAft>
                <a:spcPts val="1800"/>
              </a:spcAft>
              <a:defRPr sz="2200">
                <a:solidFill>
                  <a:srgbClr val="1E293B"/>
                </a:solidFill>
              </a:defRPr>
            </a:pPr>
            <a:r>
              <a:t>How do translations create contact?</a:t>
            </a:r>
          </a:p>
          <a:p>
            <a:pPr>
              <a:spcAft>
                <a:spcPts val="1800"/>
              </a:spcAft>
              <a:defRPr sz="2200">
                <a:solidFill>
                  <a:srgbClr val="1E293B"/>
                </a:solidFill>
              </a:defRPr>
            </a:pPr>
            <a:r>
              <a:t>What types of contact can we study?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Written Language Contact: A Key Focus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corpus is designed to analyzewritten language contactthrough:</a:t>
            </a:r>
          </a:p>
          <a:p>
            <a:pPr>
              <a:spcAft>
                <a:spcPts val="1800"/>
              </a:spcAft>
              <a:defRPr sz="2400">
                <a:solidFill>
                  <a:srgbClr val="1E293B"/>
                </a:solidFill>
              </a:defRPr>
            </a:pPr>
            <a:r>
              <a:t>Written language contact occurs when translators transfer structures from source to target languages, creating non-native patterns. The corpus structure captures these effects by aligning parallel texts with metadata indicating translation direction. For instance, in the corpus, the Septuagint (Hebrew→Greek) shows different contact effects than Byzantine Greek retranslations (Greek→Greek), and comparing these reveals which features are translation universals versus language-pair-specific transfers.</a:t>
            </a:r>
          </a:p>
          <a:p>
            <a:pPr>
              <a:spcAft>
                <a:spcPts val="1800"/>
              </a:spcAft>
              <a:defRPr sz="2200">
                <a:solidFill>
                  <a:srgbClr val="1E293B"/>
                </a:solidFill>
              </a:defRPr>
            </a:pPr>
            <a:r>
              <a:t>Translation-based interactions</a:t>
            </a:r>
          </a:p>
          <a:p>
            <a:pPr>
              <a:spcAft>
                <a:spcPts val="1800"/>
              </a:spcAft>
              <a:defRPr sz="2200">
                <a:solidFill>
                  <a:srgbClr val="1E293B"/>
                </a:solidFill>
              </a:defRPr>
            </a:pPr>
            <a:r>
              <a:t>Interlingual contact(between different languages)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Written Language Contact: A Key Focus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Intralingual contact(within the same language over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metadata does each text file contain?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Metadata questions:</a:t>
            </a:r>
          </a:p>
          <a:p>
            <a:pPr>
              <a:spcAft>
                <a:spcPts val="1800"/>
              </a:spcAft>
              <a:defRPr sz="2200">
                <a:solidFill>
                  <a:srgbClr val="1E293B"/>
                </a:solidFill>
              </a:defRPr>
            </a:pPr>
            <a:r>
              <a:t>What information is tracked?</a:t>
            </a:r>
          </a:p>
          <a:p>
            <a:pPr>
              <a:spcAft>
                <a:spcPts val="1800"/>
              </a:spcAft>
              <a:defRPr sz="2200">
                <a:solidFill>
                  <a:srgbClr val="1E293B"/>
                </a:solidFill>
              </a:defRPr>
            </a:pPr>
            <a:r>
              <a:t>How is translation direction encoded?</a:t>
            </a:r>
          </a:p>
          <a:p>
            <a:pPr>
              <a:spcAft>
                <a:spcPts val="1800"/>
              </a:spcAft>
              <a:defRPr sz="2200">
                <a:solidFill>
                  <a:srgbClr val="1E293B"/>
                </a:solidFill>
              </a:defRPr>
            </a:pPr>
            <a:r>
              <a:t>Why is this metadata crucial?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Corpus Metadata Structure Example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Each text file includes comprehensive metadata enabling filtering by translation type, date, register, and source language. This metadata structure is crucial for distinguishing genuine language change from translation effects. Researchers can query the corpus to exclude translations or specifically target them for contact studies.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are retranslations and why do they matter?</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Retranslation concepts:</a:t>
            </a:r>
          </a:p>
          <a:p>
            <a:pPr>
              <a:spcAft>
                <a:spcPts val="1800"/>
              </a:spcAft>
              <a:defRPr sz="2200">
                <a:solidFill>
                  <a:srgbClr val="1E293B"/>
                </a:solidFill>
              </a:defRPr>
            </a:pPr>
            <a:r>
              <a:t>How are they defined?</a:t>
            </a:r>
          </a:p>
          <a:p>
            <a:pPr>
              <a:spcAft>
                <a:spcPts val="1800"/>
              </a:spcAft>
              <a:defRPr sz="2200">
                <a:solidFill>
                  <a:srgbClr val="1E293B"/>
                </a:solidFill>
              </a:defRPr>
            </a:pPr>
            <a:r>
              <a:t>What types exist?</a:t>
            </a:r>
          </a:p>
          <a:p>
            <a:pPr>
              <a:spcAft>
                <a:spcPts val="1800"/>
              </a:spcAft>
              <a:defRPr sz="2200">
                <a:solidFill>
                  <a:srgbClr val="1E293B"/>
                </a:solidFill>
              </a:defRPr>
            </a:pPr>
            <a:r>
              <a:t>How are they encoded in the corpus?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Understanding Retranslations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Definition:Translations of the same source text in the same language over time</a:t>
            </a:r>
          </a:p>
          <a:p>
            <a:pPr>
              <a:spcAft>
                <a:spcPts val="1800"/>
              </a:spcAft>
              <a:defRPr sz="2400">
                <a:solidFill>
                  <a:srgbClr val="1E293B"/>
                </a:solidFill>
              </a:defRPr>
            </a:pPr>
            <a:r>
              <a:t>Two Types:</a:t>
            </a:r>
          </a:p>
          <a:p>
            <a:pPr>
              <a:spcAft>
                <a:spcPts val="1800"/>
              </a:spcAft>
              <a:defRPr sz="2400">
                <a:solidFill>
                  <a:srgbClr val="1E293B"/>
                </a:solidFill>
              </a:defRPr>
            </a:pPr>
            <a:r>
              <a:t>(Pym 1998)</a:t>
            </a:r>
          </a:p>
          <a:p>
            <a:pPr>
              <a:spcAft>
                <a:spcPts val="1800"/>
              </a:spcAft>
              <a:defRPr sz="2400">
                <a:solidFill>
                  <a:srgbClr val="1E293B"/>
                </a:solidFill>
              </a:defRPr>
            </a:pPr>
            <a:r>
              <a:t>Retranslations are encoded in the corpus with version numbers and dates, allowing tracking of how translation practices evolve. For example, the corpus containsGRK-MOD-NT-JOHN-1904,GRK-MOD-NT-JOHN-1985, andGRK-MOD-NT-JOHN-2006, enabling analysis of 20th-century trends in biblical translation strategies. The valency lexicon entries can be filtered to show how the same source text's predicates are rendered differently across these versions.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Passive Retranslation Explained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Occurs when:A previous translation becomes inaccessible or unintelligible to contemporary speakers</a:t>
            </a:r>
          </a:p>
          <a:p>
            <a:pPr>
              <a:spcAft>
                <a:spcPts val="1800"/>
              </a:spcAft>
              <a:defRPr sz="2400">
                <a:solidFill>
                  <a:srgbClr val="1E293B"/>
                </a:solidFill>
              </a:defRPr>
            </a:pPr>
            <a:r>
              <a:t>Example: Modern Greek Translations of the Old Testament</a:t>
            </a:r>
          </a:p>
          <a:p>
            <a:pPr>
              <a:spcAft>
                <a:spcPts val="1800"/>
              </a:spcAft>
              <a:defRPr sz="2200">
                <a:solidFill>
                  <a:srgbClr val="1E293B"/>
                </a:solidFill>
              </a:defRPr>
            </a:pPr>
            <a:r>
              <a:t>The Septuagint (c. 150 BCE) became no longer intelligible to modern speakers</a:t>
            </a:r>
          </a:p>
          <a:p>
            <a:pPr>
              <a:spcAft>
                <a:spcPts val="1800"/>
              </a:spcAft>
              <a:defRPr sz="2200">
                <a:solidFill>
                  <a:srgbClr val="1E293B"/>
                </a:solidFill>
              </a:defRPr>
            </a:pPr>
            <a:r>
              <a:t>This necessitated new translation work for contemporary audiences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Active Retranslation Explained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Occurs when:New translations offer competing perspectives based on different theological, doctrinal, or interpretive preferences</a:t>
            </a:r>
          </a:p>
          <a:p>
            <a:pPr>
              <a:spcAft>
                <a:spcPts val="1800"/>
              </a:spcAft>
              <a:defRPr sz="2400">
                <a:solidFill>
                  <a:srgbClr val="1E293B"/>
                </a:solidFill>
              </a:defRPr>
            </a:pPr>
            <a:r>
              <a:t>Example: English Bible Translations (19th-20th centuries)</a:t>
            </a:r>
          </a:p>
          <a:p>
            <a:pPr>
              <a:spcAft>
                <a:spcPts val="1800"/>
              </a:spcAft>
              <a:defRPr sz="2200">
                <a:solidFill>
                  <a:srgbClr val="1E293B"/>
                </a:solidFill>
              </a:defRPr>
            </a:pPr>
            <a:r>
              <a:t>Protestant versions</a:t>
            </a:r>
          </a:p>
          <a:p>
            <a:pPr>
              <a:spcAft>
                <a:spcPts val="1800"/>
              </a:spcAft>
              <a:defRPr sz="2200">
                <a:solidFill>
                  <a:srgbClr val="1E293B"/>
                </a:solidFill>
              </a:defRPr>
            </a:pPr>
            <a:r>
              <a:t>Catholic versions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Active Retranslation Explained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Each reflecting different theological and doctrinal preferences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Language Families in the Corpus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CVL-CDSAML corpus includes texts fromthree Indo-European language families: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Three Language Families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Hellenic</a:t>
            </a:r>
          </a:p>
          <a:p>
            <a:pPr>
              <a:spcAft>
                <a:spcPts val="1800"/>
              </a:spcAft>
              <a:defRPr sz="2400">
                <a:solidFill>
                  <a:srgbClr val="1E293B"/>
                </a:solidFill>
              </a:defRPr>
            </a:pPr>
            <a:r>
              <a:t>Germanic</a:t>
            </a:r>
          </a:p>
          <a:p>
            <a:pPr>
              <a:spcAft>
                <a:spcPts val="1800"/>
              </a:spcAft>
              <a:defRPr sz="2400">
                <a:solidFill>
                  <a:srgbClr val="1E293B"/>
                </a:solidFill>
              </a:defRPr>
            </a:pPr>
            <a:r>
              <a:t>Romance</a:t>
            </a:r>
          </a:p>
          <a:p>
            <a:pPr>
              <a:spcAft>
                <a:spcPts val="1800"/>
              </a:spcAft>
              <a:defRPr sz="2200">
                <a:solidFill>
                  <a:srgbClr val="1E293B"/>
                </a:solidFill>
              </a:defRPr>
            </a:pPr>
            <a:r>
              <a:t>Greek (across all historical periods)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Three Language Families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English (various historical stages)</a:t>
            </a:r>
          </a:p>
          <a:p>
            <a:pPr>
              <a:spcAft>
                <a:spcPts val="1800"/>
              </a:spcAft>
              <a:defRPr sz="2200">
                <a:solidFill>
                  <a:srgbClr val="1E293B"/>
                </a:solidFill>
              </a:defRPr>
            </a:pPr>
            <a:r>
              <a:t>Latin</a:t>
            </a:r>
          </a:p>
          <a:p>
            <a:pPr>
              <a:spcAft>
                <a:spcPts val="1800"/>
              </a:spcAft>
              <a:defRPr sz="2200">
                <a:solidFill>
                  <a:srgbClr val="1E293B"/>
                </a:solidFill>
              </a:defRPr>
            </a:pPr>
            <a:r>
              <a:t>French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Why These Languages?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Strategic Selection Based On:</a:t>
            </a:r>
          </a:p>
          <a:p>
            <a:pPr>
              <a:spcAft>
                <a:spcPts val="1800"/>
              </a:spcAft>
              <a:defRPr sz="2200">
                <a:solidFill>
                  <a:srgbClr val="1E293B"/>
                </a:solidFill>
              </a:defRPr>
            </a:pPr>
            <a:r>
              <a:t>Significantattested historyof written contact</a:t>
            </a:r>
          </a:p>
          <a:p>
            <a:pPr>
              <a:spcAft>
                <a:spcPts val="1800"/>
              </a:spcAft>
              <a:defRPr sz="2200">
                <a:solidFill>
                  <a:srgbClr val="1E293B"/>
                </a:solidFill>
              </a:defRPr>
            </a:pPr>
            <a:r>
              <a:t>Longdocumented traditions</a:t>
            </a:r>
          </a:p>
          <a:p>
            <a:pPr>
              <a:spcAft>
                <a:spcPts val="1800"/>
              </a:spcAft>
              <a:defRPr sz="2200">
                <a:solidFill>
                  <a:srgbClr val="1E293B"/>
                </a:solidFill>
              </a:defRPr>
            </a:pPr>
            <a:r>
              <a:t>Richtranslation practices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Why These Languages?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Extensivehistorical records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Role of Original Texts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Original influential texts are included as:</a:t>
            </a:r>
          </a:p>
          <a:p>
            <a:pPr>
              <a:spcAft>
                <a:spcPts val="1800"/>
              </a:spcAft>
              <a:defRPr sz="2400">
                <a:solidFill>
                  <a:srgbClr val="1E293B"/>
                </a:solidFill>
              </a:defRPr>
            </a:pPr>
            <a:r>
              <a:t>(Toury 1995)</a:t>
            </a:r>
          </a:p>
          <a:p>
            <a:pPr>
              <a:spcAft>
                <a:spcPts val="1800"/>
              </a:spcAft>
              <a:defRPr sz="2200">
                <a:solidFill>
                  <a:srgbClr val="1E293B"/>
                </a:solidFill>
              </a:defRPr>
            </a:pPr>
            <a:r>
              <a:t>Source textsfor translation analysis</a:t>
            </a:r>
          </a:p>
          <a:p>
            <a:pPr>
              <a:spcAft>
                <a:spcPts val="1800"/>
              </a:spcAft>
              <a:defRPr sz="2200">
                <a:solidFill>
                  <a:srgbClr val="1E293B"/>
                </a:solidFill>
              </a:defRPr>
            </a:pPr>
            <a:r>
              <a:t>Control groupto identify and filter:Source language influencesUnique characteristics of translations"Translationese" phenomena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Role of Original Texts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Source language influences</a:t>
            </a:r>
          </a:p>
          <a:p>
            <a:pPr>
              <a:spcAft>
                <a:spcPts val="1800"/>
              </a:spcAft>
              <a:defRPr sz="2200">
                <a:solidFill>
                  <a:srgbClr val="1E293B"/>
                </a:solidFill>
              </a:defRPr>
            </a:pPr>
            <a:r>
              <a:t>Unique characteristics of translations</a:t>
            </a:r>
          </a:p>
          <a:p>
            <a:pPr>
              <a:spcAft>
                <a:spcPts val="1800"/>
              </a:spcAft>
              <a:defRPr sz="2200">
                <a:solidFill>
                  <a:srgbClr val="1E293B"/>
                </a:solidFill>
              </a:defRPr>
            </a:pPr>
            <a:r>
              <a:t>"Translationese" phenomena</a:t>
            </a:r>
          </a:p>
          <a:p>
            <a:pPr>
              <a:spcAft>
                <a:spcPts val="1800"/>
              </a:spcAft>
              <a:defRPr sz="2200">
                <a:solidFill>
                  <a:srgbClr val="1E293B"/>
                </a:solidFill>
              </a:defRPr>
            </a:pPr>
            <a:r>
              <a:t>Source language influences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Role of Original Texts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Unique characteristics of translations</a:t>
            </a:r>
          </a:p>
          <a:p>
            <a:pPr>
              <a:spcAft>
                <a:spcPts val="1800"/>
              </a:spcAft>
              <a:defRPr sz="2200">
                <a:solidFill>
                  <a:srgbClr val="1E293B"/>
                </a:solidFill>
              </a:defRPr>
            </a:pPr>
            <a:r>
              <a:t>"Translationese" phenomena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Core Hellenic Tradition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Greek: The Longest Historical Record</a:t>
            </a:r>
          </a:p>
          <a:p>
            <a:pPr>
              <a:spcAft>
                <a:spcPts val="1800"/>
              </a:spcAft>
              <a:defRPr sz="2200">
                <a:solidFill>
                  <a:srgbClr val="1E293B"/>
                </a:solidFill>
              </a:defRPr>
            </a:pPr>
            <a:r>
              <a:t>Written documents fromMycenaean erato present day</a:t>
            </a:r>
          </a:p>
          <a:p>
            <a:pPr>
              <a:spcAft>
                <a:spcPts val="1800"/>
              </a:spcAft>
              <a:defRPr sz="2200">
                <a:solidFill>
                  <a:srgbClr val="1E293B"/>
                </a:solidFill>
              </a:defRPr>
            </a:pPr>
            <a:r>
              <a:t>Unparalleledcontinuityof documentation</a:t>
            </a:r>
          </a:p>
          <a:p>
            <a:pPr>
              <a:spcAft>
                <a:spcPts val="1800"/>
              </a:spcAft>
              <a:defRPr sz="2200">
                <a:solidFill>
                  <a:srgbClr val="1E293B"/>
                </a:solidFill>
              </a:defRPr>
            </a:pPr>
            <a:r>
              <a:t>Critical for understandinglong-term language change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Focus on Post-Classical Development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CVL-CDSAML corpus examines:</a:t>
            </a:r>
          </a:p>
          <a:p>
            <a:pPr>
              <a:spcAft>
                <a:spcPts val="1800"/>
              </a:spcAft>
              <a:defRPr sz="2400">
                <a:solidFill>
                  <a:srgbClr val="1E293B"/>
                </a:solidFill>
              </a:defRPr>
            </a:pPr>
            <a:r>
              <a:t>Why?This period represents a crucial time for studying Greek grammar shift</a:t>
            </a:r>
          </a:p>
          <a:p>
            <a:pPr>
              <a:spcAft>
                <a:spcPts val="1800"/>
              </a:spcAft>
              <a:defRPr sz="2200">
                <a:solidFill>
                  <a:srgbClr val="1E293B"/>
                </a:solidFill>
              </a:defRPr>
            </a:pPr>
            <a:r>
              <a:t>Koine Greek(Hellenistic and Roman periods)</a:t>
            </a:r>
          </a:p>
          <a:p>
            <a:pPr>
              <a:spcAft>
                <a:spcPts val="1800"/>
              </a:spcAft>
              <a:defRPr sz="2200">
                <a:solidFill>
                  <a:srgbClr val="1E293B"/>
                </a:solidFill>
              </a:defRPr>
            </a:pPr>
            <a:r>
              <a:t>Byzantine Greek(Medieval period)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Focus on Post-Classical Development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Modern Greekvarieties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Grammatical Shift: Synthetic to Analytic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Major Transition in Greek:</a:t>
            </a:r>
          </a:p>
          <a:p>
            <a:pPr>
              <a:spcAft>
                <a:spcPts val="1800"/>
              </a:spcAft>
              <a:defRPr sz="2400">
                <a:solidFill>
                  <a:srgbClr val="1E293B"/>
                </a:solidFill>
              </a:defRPr>
            </a:pPr>
            <a:r>
              <a:t>Key Research Question:How and when did this shift occur?</a:t>
            </a:r>
          </a:p>
          <a:p>
            <a:pPr>
              <a:spcAft>
                <a:spcPts val="1800"/>
              </a:spcAft>
              <a:defRPr sz="2400">
                <a:solidFill>
                  <a:srgbClr val="1E293B"/>
                </a:solidFill>
              </a:defRPr>
            </a:pPr>
            <a:r>
              <a:t>(Browning 1983; Horrocks 2010)</a:t>
            </a:r>
          </a:p>
          <a:p>
            <a:pPr>
              <a:spcAft>
                <a:spcPts val="1800"/>
              </a:spcAft>
              <a:defRPr sz="2200">
                <a:solidFill>
                  <a:srgbClr val="1E293B"/>
                </a:solidFill>
              </a:defRPr>
            </a:pPr>
            <a:r>
              <a:t>Fromsynthetic structures(morphologically complex)</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Grammatical Shift: Synthetic to Analytic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Toanalytic structures(syntactically complex)</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Dual Methodology Approach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Philological Curation:</a:t>
            </a:r>
          </a:p>
          <a:p>
            <a:pPr>
              <a:spcAft>
                <a:spcPts val="1800"/>
              </a:spcAft>
              <a:defRPr sz="2400">
                <a:solidFill>
                  <a:srgbClr val="1E293B"/>
                </a:solidFill>
              </a:defRPr>
            </a:pPr>
            <a:r>
              <a:t>+</a:t>
            </a:r>
          </a:p>
          <a:p>
            <a:pPr>
              <a:spcAft>
                <a:spcPts val="1800"/>
              </a:spcAft>
              <a:defRPr sz="2400">
                <a:solidFill>
                  <a:srgbClr val="1E293B"/>
                </a:solidFill>
              </a:defRPr>
            </a:pPr>
            <a:r>
              <a:t>Computational Processing:</a:t>
            </a:r>
          </a:p>
          <a:p>
            <a:pPr>
              <a:spcAft>
                <a:spcPts val="1800"/>
              </a:spcAft>
              <a:defRPr sz="2200">
                <a:solidFill>
                  <a:srgbClr val="1E293B"/>
                </a:solidFill>
              </a:defRPr>
            </a:pPr>
            <a:r>
              <a:t>Expert text selection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Dual Methodology Approach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Critical edition standards</a:t>
            </a:r>
          </a:p>
          <a:p>
            <a:pPr>
              <a:spcAft>
                <a:spcPts val="1800"/>
              </a:spcAft>
              <a:defRPr sz="2200">
                <a:solidFill>
                  <a:srgbClr val="1E293B"/>
                </a:solidFill>
              </a:defRPr>
            </a:pPr>
            <a:r>
              <a:t>Historical authenticity</a:t>
            </a:r>
          </a:p>
          <a:p>
            <a:pPr>
              <a:spcAft>
                <a:spcPts val="1800"/>
              </a:spcAft>
              <a:defRPr sz="2200">
                <a:solidFill>
                  <a:srgbClr val="1E293B"/>
                </a:solidFill>
              </a:defRPr>
            </a:pPr>
            <a:r>
              <a:t>Systematic analysis</a:t>
            </a:r>
          </a:p>
          <a:p>
            <a:pPr>
              <a:spcAft>
                <a:spcPts val="1800"/>
              </a:spcAft>
              <a:defRPr sz="2200">
                <a:solidFill>
                  <a:srgbClr val="1E293B"/>
                </a:solidFill>
              </a:defRPr>
            </a:pPr>
            <a:r>
              <a:t>Large-scale pattern detection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Dual Methodology Approach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Reproducible results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Classical Greek Baseline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Herodotus'Historiesprovides:</a:t>
            </a:r>
          </a:p>
          <a:p>
            <a:pPr>
              <a:spcAft>
                <a:spcPts val="1800"/>
              </a:spcAft>
              <a:defRPr sz="2400">
                <a:solidFill>
                  <a:srgbClr val="1E293B"/>
                </a:solidFill>
              </a:defRPr>
            </a:pPr>
            <a:r>
              <a:t>(Biber &amp; Conrad 2009)</a:t>
            </a:r>
          </a:p>
          <a:p>
            <a:pPr>
              <a:spcAft>
                <a:spcPts val="1800"/>
              </a:spcAft>
              <a:defRPr sz="2200">
                <a:solidFill>
                  <a:srgbClr val="1E293B"/>
                </a:solidFill>
              </a:defRPr>
            </a:pPr>
            <a:r>
              <a:t>Evidence forregister variationin Classical Greek</a:t>
            </a:r>
          </a:p>
          <a:p>
            <a:pPr>
              <a:spcAft>
                <a:spcPts val="1800"/>
              </a:spcAft>
              <a:defRPr sz="2200">
                <a:solidFill>
                  <a:srgbClr val="1E293B"/>
                </a:solidFill>
              </a:defRPr>
            </a:pPr>
            <a:r>
              <a:t>Contextual baseline forlater developments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Classical Greek Baseline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Comparison point forlinguistic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 Koine Greek Core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Foundation of the Early Corpus:</a:t>
            </a:r>
          </a:p>
          <a:p>
            <a:pPr>
              <a:spcAft>
                <a:spcPts val="1800"/>
              </a:spcAft>
              <a:defRPr sz="2200">
                <a:solidFill>
                  <a:srgbClr val="1E293B"/>
                </a:solidFill>
              </a:defRPr>
            </a:pPr>
            <a:r>
              <a:t>Septuagint(Greek Old Testament, c. 150 BCE)</a:t>
            </a:r>
          </a:p>
          <a:p>
            <a:pPr>
              <a:spcAft>
                <a:spcPts val="1800"/>
              </a:spcAft>
              <a:defRPr sz="2200">
                <a:solidFill>
                  <a:srgbClr val="1E293B"/>
                </a:solidFill>
              </a:defRPr>
            </a:pPr>
            <a:r>
              <a:t>New Testament(1st-2nd century CE)</a:t>
            </a:r>
          </a:p>
          <a:p>
            <a:pPr>
              <a:spcAft>
                <a:spcPts val="1800"/>
              </a:spcAft>
              <a:defRPr sz="2200">
                <a:solidFill>
                  <a:srgbClr val="1E293B"/>
                </a:solidFill>
              </a:defRPr>
            </a:pPr>
            <a:r>
              <a:t>Other Koine texts from theHellenistic and Roman periods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Significance of Koine Greek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Why Koine is Central:</a:t>
            </a:r>
          </a:p>
          <a:p>
            <a:pPr>
              <a:spcAft>
                <a:spcPts val="1800"/>
              </a:spcAft>
              <a:defRPr sz="2200">
                <a:solidFill>
                  <a:srgbClr val="1E293B"/>
                </a:solidFill>
              </a:defRPr>
            </a:pPr>
            <a:r>
              <a:t>Transition period between Classical and Medieval Greek</a:t>
            </a:r>
          </a:p>
          <a:p>
            <a:pPr>
              <a:spcAft>
                <a:spcPts val="1800"/>
              </a:spcAft>
              <a:defRPr sz="2200">
                <a:solidFill>
                  <a:srgbClr val="1E293B"/>
                </a:solidFill>
              </a:defRPr>
            </a:pPr>
            <a:r>
              <a:t>Extensivetranslation activity(Hebrew → Greek)</a:t>
            </a:r>
          </a:p>
          <a:p>
            <a:pPr>
              <a:spcAft>
                <a:spcPts val="1800"/>
              </a:spcAft>
              <a:defRPr sz="2200">
                <a:solidFill>
                  <a:srgbClr val="1E293B"/>
                </a:solidFill>
              </a:defRPr>
            </a:pPr>
            <a:r>
              <a:t>Widespread useacross the Mediterranean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Significance of Koine Greek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Rich evidence forlanguage contactphenomena</a:t>
            </a:r>
          </a:p>
          <a:p>
            <a:pPr>
              <a:spcAft>
                <a:spcPts val="1800"/>
              </a:spcAft>
              <a:defRPr sz="2200">
                <a:solidFill>
                  <a:srgbClr val="1E293B"/>
                </a:solidFill>
              </a:defRPr>
            </a:pPr>
            <a:r>
              <a:t>Foundation forByzantineandModern Greek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Summary: A Comprehensive Resource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CVL-CDSAML corpus provides:</a:t>
            </a:r>
          </a:p>
          <a:p>
            <a:pPr>
              <a:spcAft>
                <a:spcPts val="1800"/>
              </a:spcAft>
              <a:defRPr sz="2200">
                <a:solidFill>
                  <a:srgbClr val="1E293B"/>
                </a:solidFill>
              </a:defRPr>
            </a:pPr>
            <a:r>
              <a:t>338 textsacross multiple languages</a:t>
            </a:r>
          </a:p>
          <a:p>
            <a:pPr>
              <a:spcAft>
                <a:spcPts val="1800"/>
              </a:spcAft>
              <a:defRPr sz="2200">
                <a:solidFill>
                  <a:srgbClr val="1E293B"/>
                </a:solidFill>
              </a:defRPr>
            </a:pPr>
            <a:r>
              <a:t>Three millenniaof language history</a:t>
            </a:r>
          </a:p>
          <a:p>
            <a:pPr>
              <a:spcAft>
                <a:spcPts val="1800"/>
              </a:spcAft>
              <a:defRPr sz="2200">
                <a:solidFill>
                  <a:srgbClr val="1E293B"/>
                </a:solidFill>
              </a:defRPr>
            </a:pPr>
            <a:r>
              <a:t>Systematic methodologycombining philology and computation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Summary: A Comprehensive Resource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Translation-basedapproach to language contact</a:t>
            </a:r>
          </a:p>
          <a:p>
            <a:pPr>
              <a:spcAft>
                <a:spcPts val="1800"/>
              </a:spcAft>
              <a:defRPr sz="2200">
                <a:solidFill>
                  <a:srgbClr val="1E293B"/>
                </a:solidFill>
              </a:defRPr>
            </a:pPr>
            <a:r>
              <a:t>Foundation fordiachronic valency research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Detailed Example: The Septuagint as a Translation Corpus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Historical Context:</a:t>
            </a:r>
          </a:p>
          <a:p>
            <a:pPr>
              <a:spcAft>
                <a:spcPts val="1800"/>
              </a:spcAft>
              <a:defRPr sz="2400">
                <a:solidFill>
                  <a:srgbClr val="1E293B"/>
                </a:solidFill>
              </a:defRPr>
            </a:pPr>
            <a:r>
              <a:t>Research Value:</a:t>
            </a:r>
          </a:p>
          <a:p>
            <a:pPr>
              <a:spcAft>
                <a:spcPts val="1800"/>
              </a:spcAft>
              <a:defRPr sz="2200">
                <a:solidFill>
                  <a:srgbClr val="1E293B"/>
                </a:solidFill>
              </a:defRPr>
            </a:pPr>
            <a:r>
              <a:t>Translated in Alexandria, Egypt (3rd-2nd century BCE)</a:t>
            </a:r>
          </a:p>
          <a:p>
            <a:pPr>
              <a:spcAft>
                <a:spcPts val="1800"/>
              </a:spcAft>
              <a:defRPr sz="2200">
                <a:solidFill>
                  <a:srgbClr val="1E293B"/>
                </a:solidFill>
              </a:defRPr>
            </a:pPr>
            <a:r>
              <a:t>Hebrew Bible → Koine Greek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Detailed Example: The Septuagint as a Translation Corpus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Major cultural and linguistic bridge</a:t>
            </a:r>
          </a:p>
          <a:p>
            <a:pPr>
              <a:spcAft>
                <a:spcPts val="1800"/>
              </a:spcAft>
              <a:defRPr sz="2200">
                <a:solidFill>
                  <a:srgbClr val="1E293B"/>
                </a:solidFill>
              </a:defRPr>
            </a:pPr>
            <a:r>
              <a:t>Evidence ofHebrew-Greek language contact</a:t>
            </a:r>
          </a:p>
          <a:p>
            <a:pPr>
              <a:spcAft>
                <a:spcPts val="1800"/>
              </a:spcAft>
              <a:defRPr sz="2200">
                <a:solidFill>
                  <a:srgbClr val="1E293B"/>
                </a:solidFill>
              </a:defRPr>
            </a:pPr>
            <a:r>
              <a:t>Translation strategies and techniques</a:t>
            </a:r>
          </a:p>
          <a:p>
            <a:pPr>
              <a:spcAft>
                <a:spcPts val="1800"/>
              </a:spcAft>
              <a:defRPr sz="2200">
                <a:solidFill>
                  <a:srgbClr val="1E293B"/>
                </a:solidFill>
              </a:defRPr>
            </a:pPr>
            <a:r>
              <a:t>Lexical and syntactic innovations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Septuagint Translation Patterns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Hebrew Source Influence:</a:t>
            </a:r>
          </a:p>
          <a:p>
            <a:pPr>
              <a:spcAft>
                <a:spcPts val="1800"/>
              </a:spcAft>
              <a:defRPr sz="2400">
                <a:solidFill>
                  <a:srgbClr val="1E293B"/>
                </a:solidFill>
              </a:defRPr>
            </a:pPr>
            <a:r>
              <a:t>Translationese Features:</a:t>
            </a:r>
          </a:p>
          <a:p>
            <a:pPr>
              <a:spcAft>
                <a:spcPts val="1800"/>
              </a:spcAft>
              <a:defRPr sz="2200">
                <a:solidFill>
                  <a:srgbClr val="1E293B"/>
                </a:solidFill>
              </a:defRPr>
            </a:pPr>
            <a:r>
              <a:t>Word-for-word translation approach</a:t>
            </a:r>
          </a:p>
          <a:p>
            <a:pPr>
              <a:spcAft>
                <a:spcPts val="1800"/>
              </a:spcAft>
              <a:defRPr sz="2200">
                <a:solidFill>
                  <a:srgbClr val="1E293B"/>
                </a:solidFill>
              </a:defRPr>
            </a:pPr>
            <a:r>
              <a:t>Preservation of Hebrew syntax patterns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Septuagint Translation Patterns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Creation of new Greek semantic extensions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New Testament: A Koine Greek Case Study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Corpus Characteristics:</a:t>
            </a:r>
          </a:p>
          <a:p>
            <a:pPr>
              <a:spcAft>
                <a:spcPts val="1800"/>
              </a:spcAft>
              <a:defRPr sz="2400">
                <a:solidFill>
                  <a:srgbClr val="1E293B"/>
                </a:solidFill>
              </a:defRPr>
            </a:pPr>
            <a:r>
              <a:t>Linguistic Features:</a:t>
            </a:r>
          </a:p>
          <a:p>
            <a:pPr>
              <a:spcAft>
                <a:spcPts val="1800"/>
              </a:spcAft>
              <a:defRPr sz="2200">
                <a:solidFill>
                  <a:srgbClr val="1E293B"/>
                </a:solidFill>
              </a:defRPr>
            </a:pPr>
            <a:r>
              <a:t>Written inKoine Greek(1st-2nd century CE)</a:t>
            </a:r>
          </a:p>
          <a:p>
            <a:pPr>
              <a:spcAft>
                <a:spcPts val="1800"/>
              </a:spcAft>
              <a:defRPr sz="2200">
                <a:solidFill>
                  <a:srgbClr val="1E293B"/>
                </a:solidFill>
              </a:defRPr>
            </a:pPr>
            <a:r>
              <a:t>Multipleauthorswith varying linguistic backgrounds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New Testament: A Koine Greek Case Study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Differentregistersand styles</a:t>
            </a:r>
          </a:p>
          <a:p>
            <a:pPr>
              <a:spcAft>
                <a:spcPts val="1800"/>
              </a:spcAft>
              <a:defRPr sz="2200">
                <a:solidFill>
                  <a:srgbClr val="1E293B"/>
                </a:solidFill>
              </a:defRPr>
            </a:pPr>
            <a:r>
              <a:t>Vernacular Koine grammar</a:t>
            </a:r>
          </a:p>
          <a:p>
            <a:pPr>
              <a:spcAft>
                <a:spcPts val="1800"/>
              </a:spcAft>
              <a:defRPr sz="2200">
                <a:solidFill>
                  <a:srgbClr val="1E293B"/>
                </a:solidFill>
              </a:defRPr>
            </a:pPr>
            <a:r>
              <a:t>Semitic influences from bilingual authors</a:t>
            </a:r>
          </a:p>
          <a:p>
            <a:pPr>
              <a:spcAft>
                <a:spcPts val="1800"/>
              </a:spcAft>
              <a:defRPr sz="2200">
                <a:solidFill>
                  <a:srgbClr val="1E293B"/>
                </a:solidFill>
              </a:defRPr>
            </a:pPr>
            <a:r>
              <a:t>Range from "sophisticated" to "simple" Greek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Gospel Language Variation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Luke's Gospel:</a:t>
            </a:r>
          </a:p>
          <a:p>
            <a:pPr>
              <a:spcAft>
                <a:spcPts val="1800"/>
              </a:spcAft>
              <a:defRPr sz="2400">
                <a:solidFill>
                  <a:srgbClr val="1E293B"/>
                </a:solidFill>
              </a:defRPr>
            </a:pPr>
            <a:r>
              <a:t>Mark's Gospel:</a:t>
            </a:r>
          </a:p>
          <a:p>
            <a:pPr>
              <a:spcAft>
                <a:spcPts val="1800"/>
              </a:spcAft>
              <a:defRPr sz="2400">
                <a:solidFill>
                  <a:srgbClr val="1E293B"/>
                </a:solidFill>
              </a:defRPr>
            </a:pPr>
            <a:r>
              <a:t>Same content, different linguistic realizations</a:t>
            </a:r>
          </a:p>
          <a:p>
            <a:pPr>
              <a:spcAft>
                <a:spcPts val="1800"/>
              </a:spcAft>
              <a:defRPr sz="2200">
                <a:solidFill>
                  <a:srgbClr val="1E293B"/>
                </a:solidFill>
              </a:defRPr>
            </a:pPr>
            <a:r>
              <a:t>MoreliteraryKoine style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Gospel Language Variation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Classical influences</a:t>
            </a:r>
          </a:p>
          <a:p>
            <a:pPr>
              <a:spcAft>
                <a:spcPts val="1800"/>
              </a:spcAft>
              <a:defRPr sz="2200">
                <a:solidFill>
                  <a:srgbClr val="1E293B"/>
                </a:solidFill>
              </a:defRPr>
            </a:pPr>
            <a:r>
              <a:t>Sophisticated vocabulary</a:t>
            </a:r>
          </a:p>
          <a:p>
            <a:pPr>
              <a:spcAft>
                <a:spcPts val="1800"/>
              </a:spcAft>
              <a:defRPr sz="2200">
                <a:solidFill>
                  <a:srgbClr val="1E293B"/>
                </a:solidFill>
              </a:defRPr>
            </a:pPr>
            <a:r>
              <a:t>Morecolloquialstyle</a:t>
            </a:r>
          </a:p>
          <a:p>
            <a:pPr>
              <a:spcAft>
                <a:spcPts val="1800"/>
              </a:spcAft>
              <a:defRPr sz="2200">
                <a:solidFill>
                  <a:srgbClr val="1E293B"/>
                </a:solidFill>
              </a:defRPr>
            </a:pPr>
            <a:r>
              <a:t>Simpler syntax</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Gospel Language Variation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Oral narrative features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Byzantine Greek: The Medieval Transition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Time Period:4th-15th centuries CE</a:t>
            </a:r>
          </a:p>
          <a:p>
            <a:pPr>
              <a:spcAft>
                <a:spcPts val="1800"/>
              </a:spcAft>
              <a:defRPr sz="2400">
                <a:solidFill>
                  <a:srgbClr val="1E293B"/>
                </a:solidFill>
              </a:defRPr>
            </a:pPr>
            <a:r>
              <a:t>Key Changes:</a:t>
            </a:r>
          </a:p>
          <a:p>
            <a:pPr>
              <a:spcAft>
                <a:spcPts val="1800"/>
              </a:spcAft>
              <a:defRPr sz="2200">
                <a:solidFill>
                  <a:srgbClr val="1E293B"/>
                </a:solidFill>
              </a:defRPr>
            </a:pPr>
            <a:r>
              <a:t>Loss ofdative case(replaced by prepositional phrases)</a:t>
            </a:r>
          </a:p>
          <a:p>
            <a:pPr>
              <a:spcAft>
                <a:spcPts val="1800"/>
              </a:spcAft>
              <a:defRPr sz="2200">
                <a:solidFill>
                  <a:srgbClr val="1E293B"/>
                </a:solidFill>
              </a:defRPr>
            </a:pPr>
            <a:r>
              <a:t>Simplification ofinfinitivesystem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Byzantine Greek: The Medieval Transition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Development ofperiphrastic constructions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Dative Case Replacement</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Classical/Koine Greek:</a:t>
            </a:r>
          </a:p>
          <a:p>
            <a:pPr>
              <a:spcAft>
                <a:spcPts val="1800"/>
              </a:spcAft>
              <a:defRPr sz="2400">
                <a:solidFill>
                  <a:srgbClr val="1E293B"/>
                </a:solidFill>
              </a:defRPr>
            </a:pPr>
            <a:r>
              <a:t>Byzantine/Modern Greek: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Modern Greek in the Corpus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Varieties Included:</a:t>
            </a:r>
          </a:p>
          <a:p>
            <a:pPr>
              <a:spcAft>
                <a:spcPts val="1800"/>
              </a:spcAft>
              <a:defRPr sz="2400">
                <a:solidFill>
                  <a:srgbClr val="1E293B"/>
                </a:solidFill>
              </a:defRPr>
            </a:pPr>
            <a:r>
              <a:t>Research Focus:</a:t>
            </a:r>
          </a:p>
          <a:p>
            <a:pPr>
              <a:spcAft>
                <a:spcPts val="1800"/>
              </a:spcAft>
              <a:defRPr sz="2200">
                <a:solidFill>
                  <a:srgbClr val="1E293B"/>
                </a:solidFill>
              </a:defRPr>
            </a:pPr>
            <a:r>
              <a:t>Katharevousa(formal, archaic)</a:t>
            </a:r>
          </a:p>
          <a:p>
            <a:pPr>
              <a:spcAft>
                <a:spcPts val="1800"/>
              </a:spcAft>
              <a:defRPr sz="2200">
                <a:solidFill>
                  <a:srgbClr val="1E293B"/>
                </a:solidFill>
              </a:defRPr>
            </a:pPr>
            <a:r>
              <a:t>Dimotiki(vernacular, spoken)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Modern Greek in the Corpus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Modern translations of ancient texts</a:t>
            </a:r>
          </a:p>
          <a:p>
            <a:pPr>
              <a:spcAft>
                <a:spcPts val="1800"/>
              </a:spcAft>
              <a:defRPr sz="2200">
                <a:solidFill>
                  <a:srgbClr val="1E293B"/>
                </a:solidFill>
              </a:defRPr>
            </a:pPr>
            <a:r>
              <a:t>Completion of the synthetic→analytic shift</a:t>
            </a:r>
          </a:p>
          <a:p>
            <a:pPr>
              <a:spcAft>
                <a:spcPts val="1800"/>
              </a:spcAft>
              <a:defRPr sz="2200">
                <a:solidFill>
                  <a:srgbClr val="1E293B"/>
                </a:solidFill>
              </a:defRPr>
            </a:pPr>
            <a:r>
              <a:t>Standardization processes</a:t>
            </a:r>
          </a:p>
          <a:p>
            <a:pPr>
              <a:spcAft>
                <a:spcPts val="1800"/>
              </a:spcAft>
              <a:defRPr sz="2200">
                <a:solidFill>
                  <a:srgbClr val="1E293B"/>
                </a:solidFill>
              </a:defRPr>
            </a:pPr>
            <a:r>
              <a:t>Contemporary translation practices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Multiple Greek Translations Compared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Source:Old Testament passage</a:t>
            </a:r>
          </a:p>
          <a:p>
            <a:pPr>
              <a:spcAft>
                <a:spcPts val="1800"/>
              </a:spcAft>
              <a:defRPr sz="2400">
                <a:solidFill>
                  <a:srgbClr val="1E293B"/>
                </a:solidFill>
              </a:defRPr>
            </a:pPr>
            <a:r>
              <a:t>Septuagint(150 BCE): Literal from HebrewByzantine translation(10th century): Simplified syntaxModern translation(20th century): Contemporary idiom</a:t>
            </a:r>
          </a:p>
          <a:p>
            <a:pPr>
              <a:spcAft>
                <a:spcPts val="1800"/>
              </a:spcAft>
              <a:defRPr sz="2400">
                <a:solidFill>
                  <a:srgbClr val="1E293B"/>
                </a:solidFill>
              </a:defRPr>
            </a:pPr>
            <a:r>
              <a:t>Analysis:How do valency patterns change across 2000+ years?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Germanic Language Family: English Corpus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Historical Stages Included:</a:t>
            </a:r>
          </a:p>
          <a:p>
            <a:pPr>
              <a:spcAft>
                <a:spcPts val="1800"/>
              </a:spcAft>
              <a:defRPr sz="2200">
                <a:solidFill>
                  <a:srgbClr val="1E293B"/>
                </a:solidFill>
              </a:defRPr>
            </a:pPr>
            <a:r>
              <a:t>Old English(Anglo-Saxon Bible translations)</a:t>
            </a:r>
          </a:p>
          <a:p>
            <a:pPr>
              <a:spcAft>
                <a:spcPts val="1800"/>
              </a:spcAft>
              <a:defRPr sz="2200">
                <a:solidFill>
                  <a:srgbClr val="1E293B"/>
                </a:solidFill>
              </a:defRPr>
            </a:pPr>
            <a:r>
              <a:t>Middle English(Wycliffe Bible, 14th century)</a:t>
            </a:r>
          </a:p>
          <a:p>
            <a:pPr>
              <a:spcAft>
                <a:spcPts val="1800"/>
              </a:spcAft>
              <a:defRPr sz="2200">
                <a:solidFill>
                  <a:srgbClr val="1E293B"/>
                </a:solidFill>
              </a:defRPr>
            </a:pPr>
            <a:r>
              <a:t>Early Modern English(King James Bible, 1611)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Germanic Language Family: English Corpus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Modern English(20th-21st century translations)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English Bible Translation Evolution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Same Verse Across Time:</a:t>
            </a:r>
          </a:p>
          <a:p>
            <a:pPr>
              <a:spcAft>
                <a:spcPts val="1800"/>
              </a:spcAft>
              <a:defRPr sz="2400">
                <a:solidFill>
                  <a:srgbClr val="1E293B"/>
                </a:solidFill>
              </a:defRPr>
            </a:pPr>
            <a:r>
              <a:t>Wycliffe (1382):"In the bigynnyng God made of nouyt heuene and erthe"</a:t>
            </a:r>
          </a:p>
          <a:p>
            <a:pPr>
              <a:spcAft>
                <a:spcPts val="1800"/>
              </a:spcAft>
              <a:defRPr sz="2400">
                <a:solidFill>
                  <a:srgbClr val="1E293B"/>
                </a:solidFill>
              </a:defRPr>
            </a:pPr>
            <a:r>
              <a:t>King James (1611):"In the beginning God created the heaven and the earth"</a:t>
            </a:r>
          </a:p>
          <a:p>
            <a:pPr>
              <a:spcAft>
                <a:spcPts val="1800"/>
              </a:spcAft>
              <a:defRPr sz="2400">
                <a:solidFill>
                  <a:srgbClr val="1E293B"/>
                </a:solidFill>
              </a:defRPr>
            </a:pPr>
            <a:r>
              <a:t>NIV (1978):"In the beginning God created the heavens and the earth"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Romance Languages: Latin Foundation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Latin Corpus Components:</a:t>
            </a:r>
          </a:p>
          <a:p>
            <a:pPr>
              <a:spcAft>
                <a:spcPts val="1800"/>
              </a:spcAft>
              <a:defRPr sz="2400">
                <a:solidFill>
                  <a:srgbClr val="1E293B"/>
                </a:solidFill>
              </a:defRPr>
            </a:pPr>
            <a:r>
              <a:t>Why Latin?</a:t>
            </a:r>
          </a:p>
          <a:p>
            <a:pPr>
              <a:spcAft>
                <a:spcPts val="1800"/>
              </a:spcAft>
              <a:defRPr sz="2200">
                <a:solidFill>
                  <a:srgbClr val="1E293B"/>
                </a:solidFill>
              </a:defRPr>
            </a:pPr>
            <a:r>
              <a:t>Vulgate(Jerome's Latin Bible, 4th century CE)</a:t>
            </a:r>
          </a:p>
          <a:p>
            <a:pPr>
              <a:spcAft>
                <a:spcPts val="1800"/>
              </a:spcAft>
              <a:defRPr sz="2200">
                <a:solidFill>
                  <a:srgbClr val="1E293B"/>
                </a:solidFill>
              </a:defRPr>
            </a:pPr>
            <a:r>
              <a:t>Medieval Latin texts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Romance Languages: Latin Foundation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Original Latin works for comparison</a:t>
            </a:r>
          </a:p>
          <a:p>
            <a:pPr>
              <a:spcAft>
                <a:spcPts val="1800"/>
              </a:spcAft>
              <a:defRPr sz="2200">
                <a:solidFill>
                  <a:srgbClr val="1E293B"/>
                </a:solidFill>
              </a:defRPr>
            </a:pPr>
            <a:r>
              <a:t>Source language for Romance translations</a:t>
            </a:r>
          </a:p>
          <a:p>
            <a:pPr>
              <a:spcAft>
                <a:spcPts val="1800"/>
              </a:spcAft>
              <a:defRPr sz="2200">
                <a:solidFill>
                  <a:srgbClr val="1E293B"/>
                </a:solidFill>
              </a:defRPr>
            </a:pPr>
            <a:r>
              <a:t>Direct influence on ecclesiastical Greek</a:t>
            </a:r>
          </a:p>
          <a:p>
            <a:pPr>
              <a:spcAft>
                <a:spcPts val="1800"/>
              </a:spcAft>
              <a:defRPr sz="2200">
                <a:solidFill>
                  <a:srgbClr val="1E293B"/>
                </a:solidFill>
              </a:defRPr>
            </a:pPr>
            <a:r>
              <a:t>Control for translation directionality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Latin Vulgate Influence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Vulgate Latin:</a:t>
            </a:r>
          </a:p>
          <a:p>
            <a:pPr>
              <a:spcAft>
                <a:spcPts val="1800"/>
              </a:spcAft>
              <a:defRPr sz="2400">
                <a:solidFill>
                  <a:srgbClr val="1E293B"/>
                </a:solidFill>
              </a:defRPr>
            </a:pPr>
            <a:r>
              <a:t>Influenced translations in:</a:t>
            </a:r>
          </a:p>
          <a:p>
            <a:pPr>
              <a:spcAft>
                <a:spcPts val="1800"/>
              </a:spcAft>
              <a:defRPr sz="2200">
                <a:solidFill>
                  <a:srgbClr val="1E293B"/>
                </a:solidFill>
              </a:defRPr>
            </a:pPr>
            <a:r>
              <a:t>French: "Que la lumière soit"</a:t>
            </a:r>
          </a:p>
          <a:p>
            <a:pPr>
              <a:spcAft>
                <a:spcPts val="1800"/>
              </a:spcAft>
              <a:defRPr sz="2200">
                <a:solidFill>
                  <a:srgbClr val="1E293B"/>
                </a:solidFill>
              </a:defRPr>
            </a:pPr>
            <a:r>
              <a:t>Italian: "Sia la luce"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Latin Vulgate Influence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Spanish: "Hágase la luz"</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French in the Corpus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Stages Represented:</a:t>
            </a:r>
          </a:p>
          <a:p>
            <a:pPr>
              <a:spcAft>
                <a:spcPts val="1800"/>
              </a:spcAft>
              <a:defRPr sz="2400">
                <a:solidFill>
                  <a:srgbClr val="1E293B"/>
                </a:solidFill>
              </a:defRPr>
            </a:pPr>
            <a:r>
              <a:t>Research Questions:</a:t>
            </a:r>
          </a:p>
          <a:p>
            <a:pPr>
              <a:spcAft>
                <a:spcPts val="1800"/>
              </a:spcAft>
              <a:defRPr sz="2200">
                <a:solidFill>
                  <a:srgbClr val="1E293B"/>
                </a:solidFill>
              </a:defRPr>
            </a:pPr>
            <a:r>
              <a:t>Old FrenchBible translations</a:t>
            </a:r>
          </a:p>
          <a:p>
            <a:pPr>
              <a:spcAft>
                <a:spcPts val="1800"/>
              </a:spcAft>
              <a:defRPr sz="2200">
                <a:solidFill>
                  <a:srgbClr val="1E293B"/>
                </a:solidFill>
              </a:defRPr>
            </a:pPr>
            <a:r>
              <a:t>Middle Frenchversions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French in the Corpus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Modern Frenchtranslations</a:t>
            </a:r>
          </a:p>
          <a:p>
            <a:pPr>
              <a:spcAft>
                <a:spcPts val="1800"/>
              </a:spcAft>
              <a:defRPr sz="2200">
                <a:solidFill>
                  <a:srgbClr val="1E293B"/>
                </a:solidFill>
              </a:defRPr>
            </a:pPr>
            <a:r>
              <a:t>How did French develop its analytical structures?</a:t>
            </a:r>
          </a:p>
          <a:p>
            <a:pPr>
              <a:spcAft>
                <a:spcPts val="1800"/>
              </a:spcAft>
              <a:defRPr sz="2200">
                <a:solidFill>
                  <a:srgbClr val="1E293B"/>
                </a:solidFill>
              </a:defRPr>
            </a:pPr>
            <a:r>
              <a:t>What role did Latin play in French syntax?</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Stage 1: Text Digitization</a:t>
            </a:r>
          </a:p>
          <a:p>
            <a:pPr>
              <a:spcAft>
                <a:spcPts val="1800"/>
              </a:spcAft>
              <a:defRPr sz="2400">
                <a:solidFill>
                  <a:srgbClr val="1E293B"/>
                </a:solidFill>
              </a:defRPr>
            </a:pPr>
            <a:r>
              <a:t>Digitization is the foundation of the entire project: physical texts must be converted to machine-readable format. For printed texts (19th-21st century), we use OCR technology trained on historical fonts; OCR output is manually verified for accuracy exceeding 99.5%. For manuscripts and early printed books, expert transcribers create diplomatic editions preserving orthographic features. Each digitized text receives a quality score, and texts below threshold undergo re-digitization. The corpus includes metadata tracking digitization method and quality for each text.</a:t>
            </a:r>
          </a:p>
          <a:p>
            <a:pPr>
              <a:spcAft>
                <a:spcPts val="1800"/>
              </a:spcAft>
              <a:defRPr sz="2200">
                <a:solidFill>
                  <a:srgbClr val="1E293B"/>
                </a:solidFill>
              </a:defRPr>
            </a:pPr>
            <a:r>
              <a:t>OCR for printed sources (Tesseract with language-specific training)</a:t>
            </a:r>
          </a:p>
          <a:p>
            <a:pPr>
              <a:spcAft>
                <a:spcPts val="1800"/>
              </a:spcAft>
              <a:defRPr sz="2200">
                <a:solidFill>
                  <a:srgbClr val="1E293B"/>
                </a:solidFill>
              </a:defRPr>
            </a:pPr>
            <a:r>
              <a:t>Manual transcription for manuscripts (paleographic expertise)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Quality verification (double-checking, error correction)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happens during text digitization?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Digitization process:</a:t>
            </a:r>
          </a:p>
          <a:p>
            <a:pPr>
              <a:spcAft>
                <a:spcPts val="1800"/>
              </a:spcAft>
              <a:defRPr sz="2200">
                <a:solidFill>
                  <a:srgbClr val="1E293B"/>
                </a:solidFill>
              </a:defRPr>
            </a:pPr>
            <a:r>
              <a:t>How are printed texts digitized?</a:t>
            </a:r>
          </a:p>
          <a:p>
            <a:pPr>
              <a:spcAft>
                <a:spcPts val="1800"/>
              </a:spcAft>
              <a:defRPr sz="2200">
                <a:solidFill>
                  <a:srgbClr val="1E293B"/>
                </a:solidFill>
              </a:defRPr>
            </a:pPr>
            <a:r>
              <a:t>How are manuscripts transcribed?</a:t>
            </a:r>
          </a:p>
          <a:p>
            <a:pPr>
              <a:spcAft>
                <a:spcPts val="1800"/>
              </a:spcAft>
              <a:defRPr sz="2200">
                <a:solidFill>
                  <a:srgbClr val="1E293B"/>
                </a:solidFill>
              </a:defRPr>
            </a:pPr>
            <a:r>
              <a:t>What quality control measures are in place?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(2)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Stage 2: Linguistic Annotation</a:t>
            </a:r>
          </a:p>
          <a:p>
            <a:pPr>
              <a:spcAft>
                <a:spcPts val="1800"/>
              </a:spcAft>
              <a:defRPr sz="2400">
                <a:solidFill>
                  <a:srgbClr val="1E293B"/>
                </a:solidFill>
              </a:defRPr>
            </a:pPr>
            <a:r>
              <a:t>Linguistic annotation adds layers of linguistic information to raw text. Tokenization segments text into words, handling clitics and contractions appropriately for each language. Lemmatization links inflected forms to lexicon entries (e.g., ἔδωκεν → δίδωμι). Morphological tagging assigns grammatical features using taggers trained on historical language data. Syntactic parsing identifies grammatical relations between words, which is crucial for valency extraction. All annotation undergoes manual quality control, with inter-annotator agreement calculated at 95%+ for core features.</a:t>
            </a:r>
          </a:p>
          <a:p>
            <a:pPr>
              <a:spcAft>
                <a:spcPts val="1800"/>
              </a:spcAft>
              <a:defRPr sz="2200">
                <a:solidFill>
                  <a:srgbClr val="1E293B"/>
                </a:solidFill>
              </a:defRPr>
            </a:pPr>
            <a:r>
              <a:t>Tokenization(word segmentation using language-specific rules)</a:t>
            </a:r>
          </a:p>
          <a:p>
            <a:pPr>
              <a:spcAft>
                <a:spcPts val="1800"/>
              </a:spcAft>
              <a:defRPr sz="2200">
                <a:solidFill>
                  <a:srgbClr val="1E293B"/>
                </a:solidFill>
              </a:defRPr>
            </a:pPr>
            <a:r>
              <a:t>Lemmatization(dictionary form identification via lookup tables)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(2)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Morphological tagging(grammatical features: case, tense, number, etc.)</a:t>
            </a:r>
          </a:p>
          <a:p>
            <a:pPr>
              <a:spcAft>
                <a:spcPts val="1800"/>
              </a:spcAft>
              <a:defRPr sz="2200">
                <a:solidFill>
                  <a:srgbClr val="1E293B"/>
                </a:solidFill>
              </a:defRPr>
            </a:pPr>
            <a:r>
              <a:t>Syntactic parsing(sentence structure: dependency or constituent analysis)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happens during linguistic annotation?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Annotation layers:</a:t>
            </a:r>
          </a:p>
          <a:p>
            <a:pPr>
              <a:spcAft>
                <a:spcPts val="1800"/>
              </a:spcAft>
              <a:defRPr sz="2200">
                <a:solidFill>
                  <a:srgbClr val="1E293B"/>
                </a:solidFill>
              </a:defRPr>
            </a:pPr>
            <a:r>
              <a:t>How are words segmented?</a:t>
            </a:r>
          </a:p>
          <a:p>
            <a:pPr>
              <a:spcAft>
                <a:spcPts val="1800"/>
              </a:spcAft>
              <a:defRPr sz="2200">
                <a:solidFill>
                  <a:srgbClr val="1E293B"/>
                </a:solidFill>
              </a:defRPr>
            </a:pPr>
            <a:r>
              <a:t>How are lemmas identified?</a:t>
            </a:r>
          </a:p>
          <a:p>
            <a:pPr>
              <a:spcAft>
                <a:spcPts val="1800"/>
              </a:spcAft>
              <a:defRPr sz="2200">
                <a:solidFill>
                  <a:srgbClr val="1E293B"/>
                </a:solidFill>
              </a:defRPr>
            </a:pPr>
            <a:r>
              <a:t>How is morphology tagged?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(3)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Stage 3: Valency Extraction</a:t>
            </a:r>
          </a:p>
          <a:p>
            <a:pPr>
              <a:spcAft>
                <a:spcPts val="1800"/>
              </a:spcAft>
              <a:defRPr sz="2400">
                <a:solidFill>
                  <a:srgbClr val="1E293B"/>
                </a:solidFill>
              </a:defRPr>
            </a:pPr>
            <a:r>
              <a:t>Valency extraction is semi-automatic: algorithms identify predicates and their dependents from syntactic parses, then linguists verify and classify the patterns. Each predicate instance is checked for its arguments (subject, objects, complements, adjuncts), and these are abstracted into valency frames. For example, from 100 instances of δίδωμι in a Koine text, the system extracts frame "NOM+ACC+DAT" occurring 87 times and "NOM+ACC" occurring 13 times. This quantitative data flows into the lexicon, documenting both dominant and minority patterns.</a:t>
            </a:r>
          </a:p>
          <a:p>
            <a:pPr>
              <a:spcAft>
                <a:spcPts val="1800"/>
              </a:spcAft>
              <a:defRPr sz="2200">
                <a:solidFill>
                  <a:srgbClr val="1E293B"/>
                </a:solidFill>
              </a:defRPr>
            </a:pPr>
            <a:r>
              <a:t>Identify predicates (verbs, adjectives, nouns requiring arguments)</a:t>
            </a:r>
          </a:p>
          <a:p>
            <a:pPr>
              <a:spcAft>
                <a:spcPts val="1800"/>
              </a:spcAft>
              <a:defRPr sz="2200">
                <a:solidFill>
                  <a:srgbClr val="1E293B"/>
                </a:solidFill>
              </a:defRPr>
            </a:pPr>
            <a:r>
              <a:t>Extractargument structures(what depends on the predicate)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Computational Processing Pipeline (3)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Codevalency frames(abstract patterns, e.g., NOM+ACC+DAT)</a:t>
            </a:r>
          </a:p>
          <a:p>
            <a:pPr>
              <a:spcAft>
                <a:spcPts val="1800"/>
              </a:spcAft>
              <a:defRPr sz="2200">
                <a:solidFill>
                  <a:srgbClr val="1E293B"/>
                </a:solidFill>
              </a:defRPr>
            </a:pPr>
            <a:r>
              <a:t>Track changes across time periods (compare frames diachronically)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Valency Pattern Extraction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Predicate:δίδωμι (didōmi) "to give"</a:t>
            </a:r>
          </a:p>
          <a:p>
            <a:pPr>
              <a:spcAft>
                <a:spcPts val="1800"/>
              </a:spcAft>
              <a:defRPr sz="2400">
                <a:solidFill>
                  <a:srgbClr val="1E293B"/>
                </a:solidFill>
              </a:defRPr>
            </a:pPr>
            <a:r>
              <a:t>Classical Greek Valency:</a:t>
            </a:r>
          </a:p>
          <a:p>
            <a:pPr>
              <a:spcAft>
                <a:spcPts val="1800"/>
              </a:spcAft>
              <a:defRPr sz="2400">
                <a:solidFill>
                  <a:srgbClr val="1E293B"/>
                </a:solidFill>
              </a:defRPr>
            </a:pPr>
            <a:r>
              <a:t>Modern Greek Valency:</a:t>
            </a:r>
          </a:p>
          <a:p>
            <a:pPr>
              <a:spcAft>
                <a:spcPts val="1800"/>
              </a:spcAft>
              <a:defRPr sz="2200">
                <a:solidFill>
                  <a:srgbClr val="1E293B"/>
                </a:solidFill>
              </a:defRPr>
            </a:pPr>
            <a:r>
              <a:t>SUBJ (nominative) + OBJ1 (accusative) + OBJ2 (dative)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Valency Pattern Extraction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"X gives Y to Z"</a:t>
            </a:r>
          </a:p>
          <a:p>
            <a:pPr>
              <a:spcAft>
                <a:spcPts val="1800"/>
              </a:spcAft>
              <a:defRPr sz="2200">
                <a:solidFill>
                  <a:srgbClr val="1E293B"/>
                </a:solidFill>
              </a:defRPr>
            </a:pPr>
            <a:r>
              <a:t>SUBJ + OBJ1 + prepositional phrase (σε + accusative)</a:t>
            </a:r>
          </a:p>
          <a:p>
            <a:pPr>
              <a:spcAft>
                <a:spcPts val="1800"/>
              </a:spcAft>
              <a:defRPr sz="2200">
                <a:solidFill>
                  <a:srgbClr val="1E293B"/>
                </a:solidFill>
              </a:defRPr>
            </a:pPr>
            <a:r>
              <a:t>"X gives Y to Z"(different realization)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is the valency lexicon structured?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Lexicon design:</a:t>
            </a:r>
          </a:p>
          <a:p>
            <a:pPr>
              <a:spcAft>
                <a:spcPts val="1800"/>
              </a:spcAft>
              <a:defRPr sz="2200">
                <a:solidFill>
                  <a:srgbClr val="1E293B"/>
                </a:solidFill>
              </a:defRPr>
            </a:pPr>
            <a:r>
              <a:t>What information does each entry contain?</a:t>
            </a:r>
          </a:p>
          <a:p>
            <a:pPr>
              <a:spcAft>
                <a:spcPts val="1800"/>
              </a:spcAft>
              <a:defRPr sz="2200">
                <a:solidFill>
                  <a:srgbClr val="1E293B"/>
                </a:solidFill>
              </a:defRPr>
            </a:pPr>
            <a:r>
              <a:t>How are frames linked to examples?</a:t>
            </a:r>
          </a:p>
          <a:p>
            <a:pPr>
              <a:spcAft>
                <a:spcPts val="1800"/>
              </a:spcAft>
              <a:defRPr sz="2200">
                <a:solidFill>
                  <a:srgbClr val="1E293B"/>
                </a:solidFill>
              </a:defRPr>
            </a:pPr>
            <a:r>
              <a:t>What enables complex queries?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Valency Lexicon Structure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Each Entry Contains:</a:t>
            </a:r>
          </a:p>
          <a:p>
            <a:pPr>
              <a:spcAft>
                <a:spcPts val="1800"/>
              </a:spcAft>
              <a:defRPr sz="2400">
                <a:solidFill>
                  <a:srgbClr val="1E293B"/>
                </a:solidFill>
              </a:defRPr>
            </a:pPr>
            <a:r>
              <a:t>The valency lexicon is structured as a relational database where each predicate entry links to multiple frames, and each frame links to attested examples from the corpus. The database schema includes tables for predicates, frames, arguments, and attestations, allowing complex queries like "all verbs that gained a prepositional complement between Classical and Byzantine periods." This structured approach enables both linguistic research and computational applications.</a:t>
            </a:r>
          </a:p>
          <a:p>
            <a:pPr>
              <a:spcAft>
                <a:spcPts val="1800"/>
              </a:spcAft>
              <a:defRPr sz="2200">
                <a:solidFill>
                  <a:srgbClr val="1E293B"/>
                </a:solidFill>
              </a:defRPr>
            </a:pPr>
            <a:r>
              <a:t>Lemma (base form)</a:t>
            </a:r>
          </a:p>
          <a:p>
            <a:pPr>
              <a:spcAft>
                <a:spcPts val="1800"/>
              </a:spcAft>
              <a:defRPr sz="2200">
                <a:solidFill>
                  <a:srgbClr val="1E293B"/>
                </a:solidFill>
              </a:defRPr>
            </a:pPr>
            <a:r>
              <a:t>Time period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Valency Lexicon Structure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Source text</a:t>
            </a:r>
          </a:p>
          <a:p>
            <a:pPr>
              <a:spcAft>
                <a:spcPts val="1800"/>
              </a:spcAft>
              <a:defRPr sz="2200">
                <a:solidFill>
                  <a:srgbClr val="1E293B"/>
                </a:solidFill>
              </a:defRPr>
            </a:pPr>
            <a:r>
              <a:t>Valency frame(s)</a:t>
            </a:r>
          </a:p>
          <a:p>
            <a:pPr>
              <a:spcAft>
                <a:spcPts val="1800"/>
              </a:spcAft>
              <a:defRPr sz="2200">
                <a:solidFill>
                  <a:srgbClr val="1E293B"/>
                </a:solidFill>
              </a:defRPr>
            </a:pPr>
            <a:r>
              <a:t>Example sentences</a:t>
            </a:r>
          </a:p>
          <a:p>
            <a:pPr>
              <a:spcAft>
                <a:spcPts val="1800"/>
              </a:spcAft>
              <a:defRPr sz="2200">
                <a:solidFill>
                  <a:srgbClr val="1E293B"/>
                </a:solidFill>
              </a:defRPr>
            </a:pPr>
            <a:r>
              <a:t>Frequency data</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does the database schema look like?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Technical structure:</a:t>
            </a:r>
          </a:p>
          <a:p>
            <a:pPr>
              <a:spcAft>
                <a:spcPts val="1800"/>
              </a:spcAft>
              <a:defRPr sz="2200">
                <a:solidFill>
                  <a:srgbClr val="1E293B"/>
                </a:solidFill>
              </a:defRPr>
            </a:pPr>
            <a:r>
              <a:t>What tables exist?</a:t>
            </a:r>
          </a:p>
          <a:p>
            <a:pPr>
              <a:spcAft>
                <a:spcPts val="1800"/>
              </a:spcAft>
              <a:defRPr sz="2200">
                <a:solidFill>
                  <a:srgbClr val="1E293B"/>
                </a:solidFill>
              </a:defRPr>
            </a:pPr>
            <a:r>
              <a:t>How are they related?</a:t>
            </a:r>
          </a:p>
          <a:p>
            <a:pPr>
              <a:spcAft>
                <a:spcPts val="1800"/>
              </a:spcAft>
              <a:defRPr sz="2200">
                <a:solidFill>
                  <a:srgbClr val="1E293B"/>
                </a:solidFill>
              </a:defRPr>
            </a:pPr>
            <a:r>
              <a:t>What queries are possible?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Valency Lexicon: Database Schema</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This relational structure allows efficient querying across time periods, languages, and semantic classes. Researchers can extract all frames for a given predicate, all predicates with a specific frame type, or all changes between periods. The schema separates abstract frame descriptions from concrete corpus attestations, enabling statistical analysis of frame frequencies.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Can you show a complete lexicon entry example?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Entry structure:</a:t>
            </a:r>
          </a:p>
          <a:p>
            <a:pPr>
              <a:spcAft>
                <a:spcPts val="1800"/>
              </a:spcAft>
              <a:defRPr sz="2200">
                <a:solidFill>
                  <a:srgbClr val="1E293B"/>
                </a:solidFill>
              </a:defRPr>
            </a:pPr>
            <a:r>
              <a:t>What does a full JSON entry look like?</a:t>
            </a:r>
          </a:p>
          <a:p>
            <a:pPr>
              <a:spcAft>
                <a:spcPts val="1800"/>
              </a:spcAft>
              <a:defRPr sz="2200">
                <a:solidFill>
                  <a:srgbClr val="1E293B"/>
                </a:solidFill>
              </a:defRPr>
            </a:pPr>
            <a:r>
              <a:t>How is diachronic change represented?</a:t>
            </a:r>
          </a:p>
          <a:p>
            <a:pPr>
              <a:spcAft>
                <a:spcPts val="1800"/>
              </a:spcAft>
              <a:defRPr sz="2200">
                <a:solidFill>
                  <a:srgbClr val="1E293B"/>
                </a:solidFill>
              </a:defRPr>
            </a:pPr>
            <a:r>
              <a:t>What frequency data is included?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Valency Lexicon Entry Structure Example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This JSON structure shows how a single predicate's valency evolves across four historical periods. Notice how the basic ditransitive structure (three arguments) remains constant, but the morphosyntactic realization of the recipient changes from dative case to prepositional phrases. The frequency data reveals that the newer prepositional construction becomes more common over time, reflecting the broader shift from synthetic to analytic structures in Greek.</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Lexicon Entry: διδάσκω (didaskō) "teach"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Koine Greek (1st century CE):</a:t>
            </a:r>
          </a:p>
          <a:p>
            <a:pPr>
              <a:spcAft>
                <a:spcPts val="1800"/>
              </a:spcAft>
              <a:defRPr sz="2400">
                <a:solidFill>
                  <a:srgbClr val="1E293B"/>
                </a:solidFill>
              </a:defRPr>
            </a:pPr>
            <a:r>
              <a:t>Byzantine Greek (10th century):</a:t>
            </a:r>
          </a:p>
          <a:p>
            <a:pPr>
              <a:spcAft>
                <a:spcPts val="1800"/>
              </a:spcAft>
              <a:defRPr sz="2400">
                <a:solidFill>
                  <a:srgbClr val="1E293B"/>
                </a:solidFill>
              </a:defRPr>
            </a:pPr>
            <a:r>
              <a:t>The verb "teach" shows the typical pattern of Greek complementation change: infinitival complements (Frame 2 in Koine) are increasingly replaced by finite subordinate clauses in Byzantine Greek. The lexicon tracks these changes with corpus counts showing the declining frequency of infinitives from 78% in Koine to 23% in Byzantine texts. This quantitative data supports theoretical claims about the loss of infinitives in post-Classical Greek.</a:t>
            </a:r>
          </a:p>
          <a:p>
            <a:pPr>
              <a:spcAft>
                <a:spcPts val="1800"/>
              </a:spcAft>
              <a:defRPr sz="2200">
                <a:solidFill>
                  <a:srgbClr val="1E293B"/>
                </a:solidFill>
              </a:defRPr>
            </a:pPr>
            <a:r>
              <a:t>Frame 1: NP-ACC (what) + NP-ACC (whom) —double accusative construction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Lexicon Entry: διδάσκω (didaskō) "teach"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Frame 2: NP-ACC (whom) + infinitive (what) —accusative + infinitive</a:t>
            </a:r>
          </a:p>
          <a:p>
            <a:pPr>
              <a:spcAft>
                <a:spcPts val="1800"/>
              </a:spcAft>
              <a:defRPr sz="2200">
                <a:solidFill>
                  <a:srgbClr val="1E293B"/>
                </a:solidFill>
              </a:defRPr>
            </a:pPr>
            <a:r>
              <a:t>Frame 1: NP-ACC + prepositional phrase —one accusative + PP</a:t>
            </a:r>
          </a:p>
          <a:p>
            <a:pPr>
              <a:spcAft>
                <a:spcPts val="1800"/>
              </a:spcAft>
              <a:defRPr sz="2200">
                <a:solidFill>
                  <a:srgbClr val="1E293B"/>
                </a:solidFill>
              </a:defRPr>
            </a:pPr>
            <a:r>
              <a:t>Frame 2: NP-ACC + subordinate clause —accusative + finite clause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do valency patterns compare across languages?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Cross-linguistic perspective:</a:t>
            </a:r>
          </a:p>
          <a:p>
            <a:pPr>
              <a:spcAft>
                <a:spcPts val="1800"/>
              </a:spcAft>
              <a:defRPr sz="2200">
                <a:solidFill>
                  <a:srgbClr val="1E293B"/>
                </a:solidFill>
              </a:defRPr>
            </a:pPr>
            <a:r>
              <a:t>What patterns are universal?</a:t>
            </a:r>
          </a:p>
          <a:p>
            <a:pPr>
              <a:spcAft>
                <a:spcPts val="1800"/>
              </a:spcAft>
              <a:defRPr sz="2200">
                <a:solidFill>
                  <a:srgbClr val="1E293B"/>
                </a:solidFill>
              </a:defRPr>
            </a:pPr>
            <a:r>
              <a:t>What patterns are language-specific?</a:t>
            </a:r>
          </a:p>
          <a:p>
            <a:pPr>
              <a:spcAft>
                <a:spcPts val="1800"/>
              </a:spcAft>
              <a:defRPr sz="2200">
                <a:solidFill>
                  <a:srgbClr val="1E293B"/>
                </a:solidFill>
              </a:defRPr>
            </a:pPr>
            <a:r>
              <a:t>How do diachronic paths differ?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Valency Lexicon: Comparison Across Languages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This comparative view reveals that Greek, Latin, and English all share similar valency patterns for "teach" but differ in their diachronic trajectories. Greek loses the double accusative early and shifts to finite clauses; English retains the double object but changes infinitive marking; Latin maintains structures longer due to its status as a liturgical language. The lexicon structure enables such cross-linguistic and diachronic comparisons systematically.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Cross-Linguistic Comparison: "To Know"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Greek:γινώσκω (ginōskō)</a:t>
            </a:r>
          </a:p>
          <a:p>
            <a:pPr>
              <a:spcAft>
                <a:spcPts val="1800"/>
              </a:spcAft>
              <a:defRPr sz="2400">
                <a:solidFill>
                  <a:srgbClr val="1E293B"/>
                </a:solidFill>
              </a:defRPr>
            </a:pPr>
            <a:r>
              <a:t>Latin:scio</a:t>
            </a:r>
          </a:p>
          <a:p>
            <a:pPr>
              <a:spcAft>
                <a:spcPts val="1800"/>
              </a:spcAft>
              <a:defRPr sz="2400">
                <a:solidFill>
                  <a:srgbClr val="1E293B"/>
                </a:solidFill>
              </a:defRPr>
            </a:pPr>
            <a:r>
              <a:t>English:know</a:t>
            </a:r>
          </a:p>
          <a:p>
            <a:pPr>
              <a:spcAft>
                <a:spcPts val="1800"/>
              </a:spcAft>
              <a:defRPr sz="2400">
                <a:solidFill>
                  <a:srgbClr val="1E293B"/>
                </a:solidFill>
              </a:defRPr>
            </a:pPr>
            <a:r>
              <a:t>Similar patterns, different morphosyntactic realizations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Cross-Linguistic Comparison: "To Know"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Cognition verbs like "to know" exhibit remarkable cross-linguistic stability in their valency: they take either a direct object (thing known) or a clausal complement (propositional knowledge). The lexicon documents how this semantic distinction maps onto syntax in each language and period. For instance, in all three languages, the complementizer introducing clauses (ὅτι, quod, that) derives historically from demonstrative pronouns, showing parallel grammaticalization paths tracked in our corpus data.</a:t>
            </a:r>
          </a:p>
          <a:p>
            <a:pPr>
              <a:spcAft>
                <a:spcPts val="1800"/>
              </a:spcAft>
              <a:defRPr sz="2200">
                <a:solidFill>
                  <a:srgbClr val="1E293B"/>
                </a:solidFill>
              </a:defRPr>
            </a:pPr>
            <a:r>
              <a:t>Koine: + ACC / + ὅτι-clause</a:t>
            </a:r>
          </a:p>
          <a:p>
            <a:pPr>
              <a:spcAft>
                <a:spcPts val="1800"/>
              </a:spcAft>
              <a:defRPr sz="2200">
                <a:solidFill>
                  <a:srgbClr val="1E293B"/>
                </a:solidFill>
              </a:defRPr>
            </a:pPr>
            <a:r>
              <a:t>ACC / + quod-clause</a:t>
            </a:r>
          </a:p>
          <a:p>
            <a:pPr>
              <a:spcAft>
                <a:spcPts val="1800"/>
              </a:spcAft>
              <a:defRPr sz="2200">
                <a:solidFill>
                  <a:srgbClr val="1E293B"/>
                </a:solidFill>
              </a:defRPr>
            </a:pPr>
            <a:r>
              <a:t>ACC / + quod-clause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Cross-Linguistic Comparison: "To Know"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ACC / + quod-clause</a:t>
            </a:r>
          </a:p>
          <a:p>
            <a:pPr>
              <a:spcAft>
                <a:spcPts val="1800"/>
              </a:spcAft>
              <a:defRPr sz="2200">
                <a:solidFill>
                  <a:srgbClr val="1E293B"/>
                </a:solidFill>
              </a:defRPr>
            </a:pPr>
            <a:r>
              <a:t>NP / + that-clause</a:t>
            </a:r>
          </a:p>
          <a:p>
            <a:pPr>
              <a:spcAft>
                <a:spcPts val="1800"/>
              </a:spcAft>
              <a:defRPr sz="2200">
                <a:solidFill>
                  <a:srgbClr val="1E293B"/>
                </a:solidFill>
              </a:defRPr>
            </a:pPr>
            <a:r>
              <a:t>NP / + that-clause</a:t>
            </a:r>
          </a:p>
          <a:p>
            <a:pPr>
              <a:spcAft>
                <a:spcPts val="1800"/>
              </a:spcAft>
              <a:defRPr sz="2200">
                <a:solidFill>
                  <a:srgbClr val="1E293B"/>
                </a:solidFill>
              </a:defRPr>
            </a:pPr>
            <a:r>
              <a:t>NP / + that-clause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Translation Effects on Valency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Question:Do translations preserve or alter valency patterns?</a:t>
            </a:r>
          </a:p>
          <a:p>
            <a:pPr>
              <a:spcAft>
                <a:spcPts val="1800"/>
              </a:spcAft>
              <a:defRPr sz="2400">
                <a:solidFill>
                  <a:srgbClr val="1E293B"/>
                </a:solidFill>
              </a:defRPr>
            </a:pPr>
            <a:r>
              <a:t>Findings:</a:t>
            </a:r>
          </a:p>
          <a:p>
            <a:pPr>
              <a:spcAft>
                <a:spcPts val="1800"/>
              </a:spcAft>
              <a:defRPr sz="2200">
                <a:solidFill>
                  <a:srgbClr val="1E293B"/>
                </a:solidFill>
              </a:defRPr>
            </a:pPr>
            <a:r>
              <a:t>Source languageinterferencecommon</a:t>
            </a:r>
          </a:p>
          <a:p>
            <a:pPr>
              <a:spcAft>
                <a:spcPts val="1800"/>
              </a:spcAft>
              <a:defRPr sz="2200">
                <a:solidFill>
                  <a:srgbClr val="1E293B"/>
                </a:solidFill>
              </a:defRPr>
            </a:pPr>
            <a:r>
              <a:t>Creates non-native valency frames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Translation Effects on Valency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Over time, patterns maynaturalizeor becorrected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Translation Interference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Hebrew Source:</a:t>
            </a:r>
          </a:p>
          <a:p>
            <a:pPr>
              <a:spcAft>
                <a:spcPts val="1800"/>
              </a:spcAft>
              <a:defRPr sz="2400">
                <a:solidFill>
                  <a:srgbClr val="1E293B"/>
                </a:solidFill>
              </a:defRPr>
            </a:pPr>
            <a:r>
              <a:t>Greek Translation:</a:t>
            </a:r>
          </a:p>
          <a:p>
            <a:pPr>
              <a:spcAft>
                <a:spcPts val="1800"/>
              </a:spcAft>
              <a:defRPr sz="2400">
                <a:solidFill>
                  <a:srgbClr val="1E293B"/>
                </a:solidFill>
              </a:defRPr>
            </a:pPr>
            <a:r>
              <a:t>Native Greek:</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Register and Genre Effects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Different text types show different patterns:</a:t>
            </a:r>
          </a:p>
          <a:p>
            <a:pPr>
              <a:spcAft>
                <a:spcPts val="1800"/>
              </a:spcAft>
              <a:defRPr sz="2400">
                <a:solidFill>
                  <a:srgbClr val="1E293B"/>
                </a:solidFill>
              </a:defRPr>
            </a:pPr>
            <a:r>
              <a:t>Narrative texts:</a:t>
            </a:r>
          </a:p>
          <a:p>
            <a:pPr>
              <a:spcAft>
                <a:spcPts val="1800"/>
              </a:spcAft>
              <a:defRPr sz="2400">
                <a:solidFill>
                  <a:srgbClr val="1E293B"/>
                </a:solidFill>
              </a:defRPr>
            </a:pPr>
            <a:r>
              <a:t>Legal texts:</a:t>
            </a:r>
          </a:p>
          <a:p>
            <a:pPr>
              <a:spcAft>
                <a:spcPts val="1800"/>
              </a:spcAft>
              <a:defRPr sz="2400">
                <a:solidFill>
                  <a:srgbClr val="1E293B"/>
                </a:solidFill>
              </a:defRPr>
            </a:pPr>
            <a:r>
              <a:t>Poetic texts: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Register and Genre Effects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Rich verb valency</a:t>
            </a:r>
          </a:p>
          <a:p>
            <a:pPr>
              <a:spcAft>
                <a:spcPts val="1800"/>
              </a:spcAft>
              <a:defRPr sz="2200">
                <a:solidFill>
                  <a:srgbClr val="1E293B"/>
                </a:solidFill>
              </a:defRPr>
            </a:pPr>
            <a:r>
              <a:t>Temporal constructions</a:t>
            </a:r>
          </a:p>
          <a:p>
            <a:pPr>
              <a:spcAft>
                <a:spcPts val="1800"/>
              </a:spcAft>
              <a:defRPr sz="2200">
                <a:solidFill>
                  <a:srgbClr val="1E293B"/>
                </a:solidFill>
              </a:defRPr>
            </a:pPr>
            <a:r>
              <a:t>Complex nominal valency</a:t>
            </a:r>
          </a:p>
          <a:p>
            <a:pPr>
              <a:spcAft>
                <a:spcPts val="1800"/>
              </a:spcAft>
              <a:defRPr sz="2200">
                <a:solidFill>
                  <a:srgbClr val="1E293B"/>
                </a:solidFill>
              </a:defRPr>
            </a:pPr>
            <a:r>
              <a:t>Conditional structures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Register and Genre Effects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Non-standard valency</a:t>
            </a:r>
          </a:p>
          <a:p>
            <a:pPr>
              <a:spcAft>
                <a:spcPts val="1800"/>
              </a:spcAft>
              <a:defRPr sz="2200">
                <a:solidFill>
                  <a:srgbClr val="1E293B"/>
                </a:solidFill>
              </a:defRPr>
            </a:pPr>
            <a:r>
              <a:t>Artistic license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Genre-Specific Valency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Herodotus (Historical Narrative):</a:t>
            </a:r>
          </a:p>
          <a:p>
            <a:pPr>
              <a:spcAft>
                <a:spcPts val="1800"/>
              </a:spcAft>
              <a:defRPr sz="2400">
                <a:solidFill>
                  <a:srgbClr val="1E293B"/>
                </a:solidFill>
              </a:defRPr>
            </a:pPr>
            <a:r>
              <a:t>New Testament Epistles:</a:t>
            </a:r>
          </a:p>
          <a:p>
            <a:pPr>
              <a:spcAft>
                <a:spcPts val="1800"/>
              </a:spcAft>
              <a:defRPr sz="2200">
                <a:solidFill>
                  <a:srgbClr val="1E293B"/>
                </a:solidFill>
              </a:defRPr>
            </a:pPr>
            <a:r>
              <a:t>Complex sentence structures</a:t>
            </a:r>
          </a:p>
          <a:p>
            <a:pPr>
              <a:spcAft>
                <a:spcPts val="1800"/>
              </a:spcAft>
              <a:defRPr sz="2200">
                <a:solidFill>
                  <a:srgbClr val="1E293B"/>
                </a:solidFill>
              </a:defRPr>
            </a:pPr>
            <a:r>
              <a:t>Elaborate participial constructions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Genre-Specific Valency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Rich use of complementation</a:t>
            </a:r>
          </a:p>
          <a:p>
            <a:pPr>
              <a:spcAft>
                <a:spcPts val="1800"/>
              </a:spcAft>
              <a:defRPr sz="2200">
                <a:solidFill>
                  <a:srgbClr val="1E293B"/>
                </a:solidFill>
              </a:defRPr>
            </a:pPr>
            <a:r>
              <a:t>Simpler syntax</a:t>
            </a:r>
          </a:p>
          <a:p>
            <a:pPr>
              <a:spcAft>
                <a:spcPts val="1800"/>
              </a:spcAft>
              <a:defRPr sz="2200">
                <a:solidFill>
                  <a:srgbClr val="1E293B"/>
                </a:solidFill>
              </a:defRPr>
            </a:pPr>
            <a:r>
              <a:t>Direct argumentation</a:t>
            </a:r>
          </a:p>
          <a:p>
            <a:pPr>
              <a:spcAft>
                <a:spcPts val="1800"/>
              </a:spcAft>
              <a:defRPr sz="2200">
                <a:solidFill>
                  <a:srgbClr val="1E293B"/>
                </a:solidFill>
              </a:defRPr>
            </a:pPr>
            <a:r>
              <a:t>Limited subordination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are the corpus statistics and scale?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Size and scope:</a:t>
            </a:r>
          </a:p>
          <a:p>
            <a:pPr>
              <a:spcAft>
                <a:spcPts val="1800"/>
              </a:spcAft>
              <a:defRPr sz="2200">
                <a:solidFill>
                  <a:srgbClr val="1E293B"/>
                </a:solidFill>
              </a:defRPr>
            </a:pPr>
            <a:r>
              <a:t>How many total tokens?</a:t>
            </a:r>
          </a:p>
          <a:p>
            <a:pPr>
              <a:spcAft>
                <a:spcPts val="1800"/>
              </a:spcAft>
              <a:defRPr sz="2200">
                <a:solidFill>
                  <a:srgbClr val="1E293B"/>
                </a:solidFill>
              </a:defRPr>
            </a:pPr>
            <a:r>
              <a:t>How many predicates analyzed?</a:t>
            </a:r>
          </a:p>
          <a:p>
            <a:pPr>
              <a:spcAft>
                <a:spcPts val="1800"/>
              </a:spcAft>
              <a:defRPr sz="2200">
                <a:solidFill>
                  <a:srgbClr val="1E293B"/>
                </a:solidFill>
              </a:defRPr>
            </a:pPr>
            <a:r>
              <a:t>How many valency frames documented?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Corpus Size and Statistics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Total Word Count:~10 million tokensLanguages:4 (Greek, English, Latin, French)Time Span:3000+ yearsNumber of Predicates Analyzed:~5,000 lemmasValency Frames Documented:~15,000+</a:t>
            </a:r>
          </a:p>
          <a:p>
            <a:pPr>
              <a:spcAft>
                <a:spcPts val="1800"/>
              </a:spcAft>
              <a:defRPr sz="2400">
                <a:solidFill>
                  <a:srgbClr val="1E293B"/>
                </a:solidFill>
              </a:defRPr>
            </a:pPr>
            <a:r>
              <a:t>These statistics represent the completed first phase of the project. The 10 million tokens are distributed across languages with Greek contributing ~4.5 million (largest due to spanning 3000 years), English ~2.5 million, Latin ~2 million, and French ~1 million. Each predicate averages 3 different valency frames across all periods, reflecting genuine linguistic variation and historical change. The lexicon contains approximately 50,000 individual corpus examples illustrating these frames in authentic context.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are tokens distributed across languages?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Distribution questions:</a:t>
            </a:r>
          </a:p>
          <a:p>
            <a:pPr>
              <a:spcAft>
                <a:spcPts val="1800"/>
              </a:spcAft>
              <a:defRPr sz="2200">
                <a:solidFill>
                  <a:srgbClr val="1E293B"/>
                </a:solidFill>
              </a:defRPr>
            </a:pPr>
            <a:r>
              <a:t>Which language has the most tokens?</a:t>
            </a:r>
          </a:p>
          <a:p>
            <a:pPr>
              <a:spcAft>
                <a:spcPts val="1800"/>
              </a:spcAft>
              <a:defRPr sz="2200">
                <a:solidFill>
                  <a:srgbClr val="1E293B"/>
                </a:solidFill>
              </a:defRPr>
            </a:pPr>
            <a:r>
              <a:t>How are periods represented?</a:t>
            </a:r>
          </a:p>
          <a:p>
            <a:pPr>
              <a:spcAft>
                <a:spcPts val="1800"/>
              </a:spcAft>
              <a:defRPr sz="2200">
                <a:solidFill>
                  <a:srgbClr val="1E293B"/>
                </a:solidFill>
              </a:defRPr>
            </a:pPr>
            <a:r>
              <a:t>Why these specific allocations?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Corpus Statistics by Language and Period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This breakdown shows how corpus resources are allocated. Greek has the most texts and tokens because it spans the longest period and includes multiple diachronic stages. The distribution ensures adequate representation of each major period for robust statistical analysis. Each period contains at least 350,000 tokens, sufficient for reliable valency extraction given Zipfian frequency distributions.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technical infrastructure supports the corpus?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Infrastructure components:</a:t>
            </a:r>
          </a:p>
          <a:p>
            <a:pPr>
              <a:spcAft>
                <a:spcPts val="1800"/>
              </a:spcAft>
              <a:defRPr sz="2200">
                <a:solidFill>
                  <a:srgbClr val="1E293B"/>
                </a:solidFill>
              </a:defRPr>
            </a:pPr>
            <a:r>
              <a:t>What programming languages are used?</a:t>
            </a:r>
          </a:p>
          <a:p>
            <a:pPr>
              <a:spcAft>
                <a:spcPts val="1800"/>
              </a:spcAft>
              <a:defRPr sz="2200">
                <a:solidFill>
                  <a:srgbClr val="1E293B"/>
                </a:solidFill>
              </a:defRPr>
            </a:pPr>
            <a:r>
              <a:t>What encoding standards?</a:t>
            </a:r>
          </a:p>
          <a:p>
            <a:pPr>
              <a:spcAft>
                <a:spcPts val="1800"/>
              </a:spcAft>
              <a:defRPr sz="2200">
                <a:solidFill>
                  <a:srgbClr val="1E293B"/>
                </a:solidFill>
              </a:defRPr>
            </a:pPr>
            <a:r>
              <a:t>How is data accessed?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Technical Infrastructure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Tools and Technologies:</a:t>
            </a:r>
          </a:p>
          <a:p>
            <a:pPr>
              <a:spcAft>
                <a:spcPts val="1800"/>
              </a:spcAft>
              <a:defRPr sz="2400">
                <a:solidFill>
                  <a:srgbClr val="1E293B"/>
                </a:solidFill>
              </a:defRPr>
            </a:pPr>
            <a:r>
              <a:t>The infrastructure is designed for scalability and interoperability. Python scripts handle text cleaning, tokenization, and annotation, outputting standardized XML/TEI files. These files are parsed and loaded into a PostgreSQL database optimized for linguistic queries. The web interface provides both a user-friendly search portal and a RESTful API for programmatic access, enabling researchers to integrate corpus data into their own workflows. All code is version-controlled and documented for reproducibility.</a:t>
            </a:r>
          </a:p>
          <a:p>
            <a:pPr>
              <a:spcAft>
                <a:spcPts val="1800"/>
              </a:spcAft>
              <a:defRPr sz="2200">
                <a:solidFill>
                  <a:srgbClr val="1E293B"/>
                </a:solidFill>
              </a:defRPr>
            </a:pPr>
            <a:r>
              <a:t>Pythonfor text processing (NLTK, spaCy, custom parsers)</a:t>
            </a:r>
          </a:p>
          <a:p>
            <a:pPr>
              <a:spcAft>
                <a:spcPts val="1800"/>
              </a:spcAft>
              <a:defRPr sz="2200">
                <a:solidFill>
                  <a:srgbClr val="1E293B"/>
                </a:solidFill>
              </a:defRPr>
            </a:pPr>
            <a:r>
              <a:t>XML/TEIfor text encoding (P5 standard)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Technical Infrastructure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SQL databasesfor storage (PostgreSQL with full-text search)</a:t>
            </a:r>
          </a:p>
          <a:p>
            <a:pPr>
              <a:spcAft>
                <a:spcPts val="1800"/>
              </a:spcAft>
              <a:defRPr sz="2200">
                <a:solidFill>
                  <a:srgbClr val="1E293B"/>
                </a:solidFill>
              </a:defRPr>
            </a:pPr>
            <a:r>
              <a:t>Natural Language Processinglibraries (language-specific tools)</a:t>
            </a:r>
          </a:p>
          <a:p>
            <a:pPr>
              <a:spcAft>
                <a:spcPts val="1800"/>
              </a:spcAft>
              <a:defRPr sz="2200">
                <a:solidFill>
                  <a:srgbClr val="1E293B"/>
                </a:solidFill>
              </a:defRPr>
            </a:pPr>
            <a:r>
              <a:t>Web interfacefor access (Django framework, RESTful API)</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does the TEI XML encoding look like?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Encoding details:</a:t>
            </a:r>
          </a:p>
          <a:p>
            <a:pPr>
              <a:spcAft>
                <a:spcPts val="1800"/>
              </a:spcAft>
              <a:defRPr sz="2200">
                <a:solidFill>
                  <a:srgbClr val="1E293B"/>
                </a:solidFill>
              </a:defRPr>
            </a:pPr>
            <a:r>
              <a:t>How are sentences structured?</a:t>
            </a:r>
          </a:p>
          <a:p>
            <a:pPr>
              <a:spcAft>
                <a:spcPts val="1800"/>
              </a:spcAft>
              <a:defRPr sz="2200">
                <a:solidFill>
                  <a:srgbClr val="1E293B"/>
                </a:solidFill>
              </a:defRPr>
            </a:pPr>
            <a:r>
              <a:t>What annotations are on each word?</a:t>
            </a:r>
          </a:p>
          <a:p>
            <a:pPr>
              <a:spcAft>
                <a:spcPts val="1800"/>
              </a:spcAft>
              <a:defRPr sz="2200">
                <a:solidFill>
                  <a:srgbClr val="1E293B"/>
                </a:solidFill>
              </a:defRPr>
            </a:pPr>
            <a:r>
              <a:t>Why use TEI standard?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Data Format Example: TEI XML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"In the beginning was the Word" - John 1:1</a:t>
            </a:r>
          </a:p>
          <a:p>
            <a:pPr>
              <a:spcAft>
                <a:spcPts val="1800"/>
              </a:spcAft>
              <a:defRPr sz="2400">
                <a:solidFill>
                  <a:srgbClr val="1E293B"/>
                </a:solidFill>
              </a:defRPr>
            </a:pPr>
            <a:r>
              <a:t>Benefits:</a:t>
            </a:r>
          </a:p>
          <a:p>
            <a:pPr>
              <a:spcAft>
                <a:spcPts val="1800"/>
              </a:spcAft>
              <a:defRPr sz="2400">
                <a:solidFill>
                  <a:srgbClr val="1E293B"/>
                </a:solidFill>
              </a:defRPr>
            </a:pPr>
            <a:r>
              <a:t>Each word token is encoded with its lemma (dictionary form), part-of-speech tag, and relevant morphological features. Sentences are wrapped in&lt;s&gt;elements with unique IDs traceable to specific corpus texts. This granular annotation enables precise extraction of valency patterns: the system can identify all instances of a lemma, filter by morphological criteria, and extract the syntactic context. The TEI standard ensures our corpus can be used with existing tools like TXM or CQPweb.</a:t>
            </a:r>
          </a:p>
          <a:p>
            <a:pPr>
              <a:spcAft>
                <a:spcPts val="1800"/>
              </a:spcAft>
              <a:defRPr sz="2200">
                <a:solidFill>
                  <a:srgbClr val="1E293B"/>
                </a:solidFill>
              </a:defRPr>
            </a:pPr>
            <a:r>
              <a:t>Standardized format (TEI P5 guidelines)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Data Format Example: TEI XML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Machine-readable (XML parsers)</a:t>
            </a:r>
          </a:p>
          <a:p>
            <a:pPr>
              <a:spcAft>
                <a:spcPts val="1800"/>
              </a:spcAft>
              <a:defRPr sz="2200">
                <a:solidFill>
                  <a:srgbClr val="1E293B"/>
                </a:solidFill>
              </a:defRPr>
            </a:pPr>
            <a:r>
              <a:t>Human-readable (with proper tools)</a:t>
            </a:r>
          </a:p>
          <a:p>
            <a:pPr>
              <a:spcAft>
                <a:spcPts val="1800"/>
              </a:spcAft>
              <a:defRPr sz="2200">
                <a:solidFill>
                  <a:srgbClr val="1E293B"/>
                </a:solidFill>
              </a:defRPr>
            </a:pPr>
            <a:r>
              <a:t>Interoperable (compatible with other TEI corpora)</a:t>
            </a:r>
          </a:p>
          <a:p>
            <a:pPr>
              <a:spcAft>
                <a:spcPts val="1800"/>
              </a:spcAft>
              <a:defRPr sz="2200">
                <a:solidFill>
                  <a:srgbClr val="1E293B"/>
                </a:solidFill>
              </a:defRPr>
            </a:pPr>
            <a:r>
              <a:t>Preserves linguistic annotations at word level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Diachronic Syntax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Using the CVL-CDSAML corpus to study:</a:t>
            </a:r>
          </a:p>
          <a:p>
            <a:pPr>
              <a:spcAft>
                <a:spcPts val="1800"/>
              </a:spcAft>
              <a:defRPr sz="2400">
                <a:solidFill>
                  <a:srgbClr val="1E293B"/>
                </a:solidFill>
              </a:defRPr>
            </a:pPr>
            <a:r>
              <a:t>The corpus enables systematic tracking of major syntactic changes across centuries. For instance, researchers can query all valency frames containing dative case in Greek and plot their decline from 95% frequency in Classical texts to less than 5% in Modern Greek, with prepositional phrases rising correspondingly. The valency lexicon provides the quantitative foundation for claims about grammaticalization, analytic drift, and other diachronic processes. Each research question can be addressed with thousands of annotated examples from authentic historical texts.</a:t>
            </a:r>
          </a:p>
          <a:p>
            <a:pPr>
              <a:spcAft>
                <a:spcPts val="1800"/>
              </a:spcAft>
              <a:defRPr sz="2200">
                <a:solidFill>
                  <a:srgbClr val="1E293B"/>
                </a:solidFill>
              </a:defRPr>
            </a:pPr>
            <a:r>
              <a:t>Evolution ofcase systems(e.g., Greek dative loss)</a:t>
            </a:r>
          </a:p>
          <a:p>
            <a:pPr>
              <a:spcAft>
                <a:spcPts val="1800"/>
              </a:spcAft>
              <a:defRPr sz="2200">
                <a:solidFill>
                  <a:srgbClr val="1E293B"/>
                </a:solidFill>
              </a:defRPr>
            </a:pPr>
            <a:r>
              <a:t>Development ofword orderpatterns (e.g., SOV → SVO shifts)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Diachronic Syntax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Rise ofprepositional phrases(replacing case marking)</a:t>
            </a:r>
          </a:p>
          <a:p>
            <a:pPr>
              <a:spcAft>
                <a:spcPts val="1800"/>
              </a:spcAft>
              <a:defRPr sz="2200">
                <a:solidFill>
                  <a:srgbClr val="1E293B"/>
                </a:solidFill>
              </a:defRPr>
            </a:pPr>
            <a:r>
              <a:t>Loss ofnon-finite constructions(infinitives → finite clauses)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How can we study language contact with this corpus?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Contact phenomena:</a:t>
            </a:r>
          </a:p>
          <a:p>
            <a:pPr>
              <a:spcAft>
                <a:spcPts val="1800"/>
              </a:spcAft>
              <a:defRPr sz="2200">
                <a:solidFill>
                  <a:srgbClr val="1E293B"/>
                </a:solidFill>
              </a:defRPr>
            </a:pPr>
            <a:r>
              <a:t>What types of borrowing occur?</a:t>
            </a:r>
          </a:p>
          <a:p>
            <a:pPr>
              <a:spcAft>
                <a:spcPts val="1800"/>
              </a:spcAft>
              <a:defRPr sz="2200">
                <a:solidFill>
                  <a:srgbClr val="1E293B"/>
                </a:solidFill>
              </a:defRPr>
            </a:pPr>
            <a:r>
              <a:t>How is calquing identified?</a:t>
            </a:r>
          </a:p>
          <a:p>
            <a:pPr>
              <a:spcAft>
                <a:spcPts val="1800"/>
              </a:spcAft>
              <a:defRPr sz="2200">
                <a:solidFill>
                  <a:srgbClr val="1E293B"/>
                </a:solidFill>
              </a:defRPr>
            </a:pPr>
            <a:r>
              <a:t>What convergence patterns emerge?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Language Contact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Analyzing:</a:t>
            </a:r>
          </a:p>
          <a:p>
            <a:pPr>
              <a:spcAft>
                <a:spcPts val="1800"/>
              </a:spcAft>
              <a:defRPr sz="2200">
                <a:solidFill>
                  <a:srgbClr val="1E293B"/>
                </a:solidFill>
              </a:defRPr>
            </a:pPr>
            <a:r>
              <a:t>Borrowingof valency patterns</a:t>
            </a:r>
          </a:p>
          <a:p>
            <a:pPr>
              <a:spcAft>
                <a:spcPts val="1800"/>
              </a:spcAft>
              <a:defRPr sz="2200">
                <a:solidFill>
                  <a:srgbClr val="1E293B"/>
                </a:solidFill>
              </a:defRPr>
            </a:pPr>
            <a:r>
              <a:t>Calquingin translations</a:t>
            </a:r>
          </a:p>
          <a:p>
            <a:pPr>
              <a:spcAft>
                <a:spcPts val="1800"/>
              </a:spcAft>
              <a:defRPr sz="2200">
                <a:solidFill>
                  <a:srgbClr val="1E293B"/>
                </a:solidFill>
              </a:defRPr>
            </a:pPr>
            <a:r>
              <a:t>Interferencephenomena</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Language Contact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Convergenceof structures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sociolinguistic questions can we answer?</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Historical sociolinguistics:</a:t>
            </a:r>
          </a:p>
          <a:p>
            <a:pPr>
              <a:spcAft>
                <a:spcPts val="1800"/>
              </a:spcAft>
              <a:defRPr sz="2200">
                <a:solidFill>
                  <a:srgbClr val="1E293B"/>
                </a:solidFill>
              </a:defRPr>
            </a:pPr>
            <a:r>
              <a:t>How does register vary across time?</a:t>
            </a:r>
          </a:p>
          <a:p>
            <a:pPr>
              <a:spcAft>
                <a:spcPts val="1800"/>
              </a:spcAft>
              <a:defRPr sz="2200">
                <a:solidFill>
                  <a:srgbClr val="1E293B"/>
                </a:solidFill>
              </a:defRPr>
            </a:pPr>
            <a:r>
              <a:t>What standardization processes occur?</a:t>
            </a:r>
          </a:p>
          <a:p>
            <a:pPr>
              <a:spcAft>
                <a:spcPts val="1800"/>
              </a:spcAft>
              <a:defRPr sz="2200">
                <a:solidFill>
                  <a:srgbClr val="1E293B"/>
                </a:solidFill>
              </a:defRPr>
            </a:pPr>
            <a:r>
              <a:t>How do translation norms change?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Historical Sociolinguistics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Investigating:</a:t>
            </a:r>
          </a:p>
          <a:p>
            <a:pPr>
              <a:spcAft>
                <a:spcPts val="1800"/>
              </a:spcAft>
              <a:defRPr sz="2200">
                <a:solidFill>
                  <a:srgbClr val="1E293B"/>
                </a:solidFill>
              </a:defRPr>
            </a:pPr>
            <a:r>
              <a:t>Register variationacross time</a:t>
            </a:r>
          </a:p>
          <a:p>
            <a:pPr>
              <a:spcAft>
                <a:spcPts val="1800"/>
              </a:spcAft>
              <a:defRPr sz="2200">
                <a:solidFill>
                  <a:srgbClr val="1E293B"/>
                </a:solidFill>
              </a:defRPr>
            </a:pPr>
            <a:r>
              <a:t>Standardizationprocesses</a:t>
            </a:r>
          </a:p>
          <a:p>
            <a:pPr>
              <a:spcAft>
                <a:spcPts val="1800"/>
              </a:spcAft>
              <a:defRPr sz="2200">
                <a:solidFill>
                  <a:srgbClr val="1E293B"/>
                </a:solidFill>
              </a:defRPr>
            </a:pPr>
            <a:r>
              <a:t>Literacyand text production</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Research Applications: Historical Sociolinguistics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Translation normsand practices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Collaborative Research Potential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 corpus enables:</a:t>
            </a:r>
          </a:p>
          <a:p>
            <a:pPr>
              <a:spcAft>
                <a:spcPts val="1800"/>
              </a:spcAft>
              <a:defRPr sz="2200">
                <a:solidFill>
                  <a:srgbClr val="1E293B"/>
                </a:solidFill>
              </a:defRPr>
            </a:pPr>
            <a:r>
              <a:t>International collaboration</a:t>
            </a:r>
          </a:p>
          <a:p>
            <a:pPr>
              <a:spcAft>
                <a:spcPts val="1800"/>
              </a:spcAft>
              <a:defRPr sz="2200">
                <a:solidFill>
                  <a:srgbClr val="1E293B"/>
                </a:solidFill>
              </a:defRPr>
            </a:pPr>
            <a:r>
              <a:t>Interdisciplinary research(linguistics, classics, theology)</a:t>
            </a:r>
          </a:p>
          <a:p>
            <a:pPr>
              <a:spcAft>
                <a:spcPts val="1800"/>
              </a:spcAft>
              <a:defRPr sz="2200">
                <a:solidFill>
                  <a:srgbClr val="1E293B"/>
                </a:solidFill>
              </a:defRPr>
            </a:pPr>
            <a:r>
              <a:t>Computational humanitiesprojects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Collaborative Research Potential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Educational applications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Open Access and Sustainability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Project Commitment:</a:t>
            </a:r>
          </a:p>
          <a:p>
            <a:pPr>
              <a:spcAft>
                <a:spcPts val="1800"/>
              </a:spcAft>
              <a:defRPr sz="2200">
                <a:solidFill>
                  <a:srgbClr val="1E293B"/>
                </a:solidFill>
              </a:defRPr>
            </a:pPr>
            <a:r>
              <a:t>Open accessto corpus data</a:t>
            </a:r>
          </a:p>
          <a:p>
            <a:pPr>
              <a:spcAft>
                <a:spcPts val="1800"/>
              </a:spcAft>
              <a:defRPr sz="2200">
                <a:solidFill>
                  <a:srgbClr val="1E293B"/>
                </a:solidFill>
              </a:defRPr>
            </a:pPr>
            <a:r>
              <a:t>Documentationand tutorials</a:t>
            </a:r>
          </a:p>
          <a:p>
            <a:pPr>
              <a:spcAft>
                <a:spcPts val="1800"/>
              </a:spcAft>
              <a:defRPr sz="2200">
                <a:solidFill>
                  <a:srgbClr val="1E293B"/>
                </a:solidFill>
              </a:defRPr>
            </a:pPr>
            <a:r>
              <a:t>Long-term preservation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Open Access and Sustainability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Community contributions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expansions are planned for Phase 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Future additions:</a:t>
            </a:r>
          </a:p>
          <a:p>
            <a:pPr>
              <a:spcAft>
                <a:spcPts val="1800"/>
              </a:spcAft>
              <a:defRPr sz="2200">
                <a:solidFill>
                  <a:srgbClr val="1E293B"/>
                </a:solidFill>
              </a:defRPr>
            </a:pPr>
            <a:r>
              <a:t>What new languages?</a:t>
            </a:r>
          </a:p>
          <a:p>
            <a:pPr>
              <a:spcAft>
                <a:spcPts val="1800"/>
              </a:spcAft>
              <a:defRPr sz="2200">
                <a:solidFill>
                  <a:srgbClr val="1E293B"/>
                </a:solidFill>
              </a:defRPr>
            </a:pPr>
            <a:r>
              <a:t>How many more texts?</a:t>
            </a:r>
          </a:p>
          <a:p>
            <a:pPr>
              <a:spcAft>
                <a:spcPts val="1800"/>
              </a:spcAft>
              <a:defRPr sz="2200">
                <a:solidFill>
                  <a:srgbClr val="1E293B"/>
                </a:solidFill>
              </a:defRPr>
            </a:pPr>
            <a:r>
              <a:t>What new capabilities?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Future Developments: Phase 2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Planned Expansions:</a:t>
            </a:r>
          </a:p>
          <a:p>
            <a:pPr>
              <a:spcAft>
                <a:spcPts val="1800"/>
              </a:spcAft>
              <a:defRPr sz="2400">
                <a:solidFill>
                  <a:srgbClr val="1E293B"/>
                </a:solidFill>
              </a:defRPr>
            </a:pPr>
            <a:r>
              <a:t>Phase 2 will add approximately 150 more texts, bringing the total to nearly 500 texts and 15+ million tokens. Church Slavonic is particularly valuable for comparative purposes, as it represents another Indo-European branch with rich case morphology. Gothic provides the earliest Germanic witness, enabling deeper historical comparison. Arabic translations introduce a Semitic language, allowing investigation of how typologically different languages render similar content. These additions will make the corpus a truly multilingual resource for comparative diachronic valency research.</a:t>
            </a:r>
          </a:p>
          <a:p>
            <a:pPr>
              <a:spcAft>
                <a:spcPts val="1800"/>
              </a:spcAft>
              <a:defRPr sz="2200">
                <a:solidFill>
                  <a:srgbClr val="1E293B"/>
                </a:solidFill>
              </a:defRPr>
            </a:pPr>
            <a:r>
              <a:t>AdditionalSlavic languages(Church Slavonic Bible, 9th century)</a:t>
            </a:r>
          </a:p>
          <a:p>
            <a:pPr>
              <a:spcAft>
                <a:spcPts val="1800"/>
              </a:spcAft>
              <a:defRPr sz="2200">
                <a:solidFill>
                  <a:srgbClr val="1E293B"/>
                </a:solidFill>
              </a:defRPr>
            </a:pPr>
            <a:r>
              <a:t>MoreGermanic languages(Gothic Bible 4th c., German Bibles 16th-21st c.)</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Future Developments: Phase 2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Arabictranslations (medieval and modern Bibles)</a:t>
            </a:r>
          </a:p>
          <a:p>
            <a:pPr>
              <a:spcAft>
                <a:spcPts val="1800"/>
              </a:spcAft>
              <a:defRPr sz="2200">
                <a:solidFill>
                  <a:srgbClr val="1E293B"/>
                </a:solidFill>
              </a:defRPr>
            </a:pPr>
            <a:r>
              <a:t>ExtendedModern Greekcorpus (20th-21st century literary texts)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computational enhancements are planned?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Advanced features:</a:t>
            </a:r>
          </a:p>
          <a:p>
            <a:pPr>
              <a:spcAft>
                <a:spcPts val="1800"/>
              </a:spcAft>
              <a:defRPr sz="2200">
                <a:solidFill>
                  <a:srgbClr val="1E293B"/>
                </a:solidFill>
              </a:defRPr>
            </a:pPr>
            <a:r>
              <a:t>What machine learning applications?</a:t>
            </a:r>
          </a:p>
          <a:p>
            <a:pPr>
              <a:spcAft>
                <a:spcPts val="1800"/>
              </a:spcAft>
              <a:defRPr sz="2200">
                <a:solidFill>
                  <a:srgbClr val="1E293B"/>
                </a:solidFill>
              </a:defRPr>
            </a:pPr>
            <a:r>
              <a:t>What visualization tools?</a:t>
            </a:r>
          </a:p>
          <a:p>
            <a:pPr>
              <a:spcAft>
                <a:spcPts val="1800"/>
              </a:spcAft>
              <a:defRPr sz="2200">
                <a:solidFill>
                  <a:srgbClr val="1E293B"/>
                </a:solidFill>
              </a:defRPr>
            </a:pPr>
            <a:r>
              <a:t>What new analysis modules?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Future Developments: Advanced Features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Computational Enhancements:</a:t>
            </a:r>
          </a:p>
          <a:p>
            <a:pPr>
              <a:spcAft>
                <a:spcPts val="1800"/>
              </a:spcAft>
              <a:defRPr sz="2200">
                <a:solidFill>
                  <a:srgbClr val="1E293B"/>
                </a:solidFill>
              </a:defRPr>
            </a:pPr>
            <a:r>
              <a:t>Machine learningfor pattern detection</a:t>
            </a:r>
          </a:p>
          <a:p>
            <a:pPr>
              <a:spcAft>
                <a:spcPts val="1800"/>
              </a:spcAft>
              <a:defRPr sz="2200">
                <a:solidFill>
                  <a:srgbClr val="1E293B"/>
                </a:solidFill>
              </a:defRPr>
            </a:pPr>
            <a:r>
              <a:t>Visualization toolsfor diachronic change</a:t>
            </a:r>
          </a:p>
          <a:p>
            <a:pPr>
              <a:spcAft>
                <a:spcPts val="1800"/>
              </a:spcAft>
              <a:defRPr sz="2200">
                <a:solidFill>
                  <a:srgbClr val="1E293B"/>
                </a:solidFill>
              </a:defRPr>
            </a:pPr>
            <a:r>
              <a:t>Automatic alignmentof parallel texts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Future Developments: Advanced Features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Statistical analysismodules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makes this project methodologically innovative?</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Innovations:</a:t>
            </a:r>
          </a:p>
          <a:p>
            <a:pPr>
              <a:spcAft>
                <a:spcPts val="1800"/>
              </a:spcAft>
              <a:defRPr sz="2200">
                <a:solidFill>
                  <a:srgbClr val="1E293B"/>
                </a:solidFill>
              </a:defRPr>
            </a:pPr>
            <a:r>
              <a:t>How does it combine disciplines?</a:t>
            </a:r>
          </a:p>
          <a:p>
            <a:pPr>
              <a:spcAft>
                <a:spcPts val="1800"/>
              </a:spcAft>
              <a:defRPr sz="2200">
                <a:solidFill>
                  <a:srgbClr val="1E293B"/>
                </a:solidFill>
              </a:defRPr>
            </a:pPr>
            <a:r>
              <a:t>What new approaches does it introduce?</a:t>
            </a:r>
          </a:p>
          <a:p>
            <a:pPr>
              <a:spcAft>
                <a:spcPts val="1800"/>
              </a:spcAft>
              <a:defRPr sz="2200">
                <a:solidFill>
                  <a:srgbClr val="1E293B"/>
                </a:solidFill>
              </a:defRPr>
            </a:pPr>
            <a:r>
              <a:t>How is it different from previous work?</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Methodological Innovations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CVL-CDSAML introduces:</a:t>
            </a:r>
          </a:p>
          <a:p>
            <a:pPr>
              <a:spcAft>
                <a:spcPts val="1800"/>
              </a:spcAft>
              <a:defRPr sz="2200">
                <a:solidFill>
                  <a:srgbClr val="1E293B"/>
                </a:solidFill>
              </a:defRPr>
            </a:pPr>
            <a:r>
              <a:t>Integration ofphilologyandcomputation</a:t>
            </a:r>
          </a:p>
          <a:p>
            <a:pPr>
              <a:spcAft>
                <a:spcPts val="1800"/>
              </a:spcAft>
              <a:defRPr sz="2200">
                <a:solidFill>
                  <a:srgbClr val="1E293B"/>
                </a:solidFill>
              </a:defRPr>
            </a:pPr>
            <a:r>
              <a:t>Translation-basedapproach to language contact</a:t>
            </a:r>
          </a:p>
          <a:p>
            <a:pPr>
              <a:spcAft>
                <a:spcPts val="1800"/>
              </a:spcAft>
              <a:defRPr sz="2200">
                <a:solidFill>
                  <a:srgbClr val="1E293B"/>
                </a:solidFill>
              </a:defRPr>
            </a:pPr>
            <a:r>
              <a:t>Multi-millennialperspective on change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Methodological Innovations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Parallel corpusdesign for diachronic research</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is the theoretical impact of this work?</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Theoretical contributions:</a:t>
            </a:r>
          </a:p>
          <a:p>
            <a:pPr>
              <a:spcAft>
                <a:spcPts val="1800"/>
              </a:spcAft>
              <a:defRPr sz="2200">
                <a:solidFill>
                  <a:srgbClr val="1E293B"/>
                </a:solidFill>
              </a:defRPr>
            </a:pPr>
            <a:r>
              <a:t>Which theories does it inform?</a:t>
            </a:r>
          </a:p>
          <a:p>
            <a:pPr>
              <a:spcAft>
                <a:spcPts val="1800"/>
              </a:spcAft>
              <a:defRPr sz="2200">
                <a:solidFill>
                  <a:srgbClr val="1E293B"/>
                </a:solidFill>
              </a:defRPr>
            </a:pPr>
            <a:r>
              <a:t>What models does it improve?</a:t>
            </a:r>
          </a:p>
          <a:p>
            <a:pPr>
              <a:spcAft>
                <a:spcPts val="1800"/>
              </a:spcAft>
              <a:defRPr sz="2200">
                <a:solidFill>
                  <a:srgbClr val="1E293B"/>
                </a:solidFill>
              </a:defRPr>
            </a:pPr>
            <a:r>
              <a:t>What new perspectives does it offer?</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Impact on Linguistic Theory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Contributions to:</a:t>
            </a:r>
          </a:p>
          <a:p>
            <a:pPr>
              <a:spcAft>
                <a:spcPts val="1800"/>
              </a:spcAft>
              <a:defRPr sz="2200">
                <a:solidFill>
                  <a:srgbClr val="1E293B"/>
                </a:solidFill>
              </a:defRPr>
            </a:pPr>
            <a:r>
              <a:t>Valency theory(diachronic dimension)</a:t>
            </a:r>
          </a:p>
          <a:p>
            <a:pPr>
              <a:spcAft>
                <a:spcPts val="1800"/>
              </a:spcAft>
              <a:defRPr sz="2200">
                <a:solidFill>
                  <a:srgbClr val="1E293B"/>
                </a:solidFill>
              </a:defRPr>
            </a:pPr>
            <a:r>
              <a:t>Language changemodels</a:t>
            </a:r>
          </a:p>
          <a:p>
            <a:pPr>
              <a:spcAft>
                <a:spcPts val="1800"/>
              </a:spcAft>
              <a:defRPr sz="2200">
                <a:solidFill>
                  <a:srgbClr val="1E293B"/>
                </a:solidFill>
              </a:defRPr>
            </a:pPr>
            <a:r>
              <a:t>Contact linguisticsmethodology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Impact on Linguistic Theory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Corpus linguisticsdesign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Educational Applications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Uses for Teaching:</a:t>
            </a:r>
          </a:p>
          <a:p>
            <a:pPr>
              <a:spcAft>
                <a:spcPts val="1800"/>
              </a:spcAft>
              <a:defRPr sz="2200">
                <a:solidFill>
                  <a:srgbClr val="1E293B"/>
                </a:solidFill>
              </a:defRPr>
            </a:pPr>
            <a:r>
              <a:t>Historical linguisticscourses</a:t>
            </a:r>
          </a:p>
          <a:p>
            <a:pPr>
              <a:spcAft>
                <a:spcPts val="1800"/>
              </a:spcAft>
              <a:defRPr sz="2200">
                <a:solidFill>
                  <a:srgbClr val="1E293B"/>
                </a:solidFill>
              </a:defRPr>
            </a:pPr>
            <a:r>
              <a:t>Translation studiesprograms</a:t>
            </a:r>
          </a:p>
          <a:p>
            <a:pPr>
              <a:spcAft>
                <a:spcPts val="1800"/>
              </a:spcAft>
              <a:defRPr sz="2200">
                <a:solidFill>
                  <a:srgbClr val="1E293B"/>
                </a:solidFill>
              </a:defRPr>
            </a:pPr>
            <a:r>
              <a:t>Classical languagesinstruction</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Educational Applications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Digital humanitiestraining</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Example Student Research Project</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Topic:"The Evolution of Greek Causative Constructions"</a:t>
            </a:r>
          </a:p>
          <a:p>
            <a:pPr>
              <a:spcAft>
                <a:spcPts val="1800"/>
              </a:spcAft>
              <a:defRPr sz="2400">
                <a:solidFill>
                  <a:srgbClr val="1E293B"/>
                </a:solidFill>
              </a:defRPr>
            </a:pPr>
            <a:r>
              <a:t>Method: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Interdisciplinary Connections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Bridges Between:</a:t>
            </a:r>
          </a:p>
          <a:p>
            <a:pPr>
              <a:spcAft>
                <a:spcPts val="1800"/>
              </a:spcAft>
              <a:defRPr sz="2200">
                <a:solidFill>
                  <a:srgbClr val="1E293B"/>
                </a:solidFill>
              </a:defRPr>
            </a:pPr>
            <a:r>
              <a:t>LinguisticsClassical Studies</a:t>
            </a:r>
          </a:p>
          <a:p>
            <a:pPr>
              <a:spcAft>
                <a:spcPts val="1800"/>
              </a:spcAft>
              <a:defRPr sz="2200">
                <a:solidFill>
                  <a:srgbClr val="1E293B"/>
                </a:solidFill>
              </a:defRPr>
            </a:pPr>
            <a:r>
              <a:t>TheologyPhilology</a:t>
            </a:r>
          </a:p>
          <a:p>
            <a:pPr>
              <a:spcAft>
                <a:spcPts val="1800"/>
              </a:spcAft>
              <a:defRPr sz="2200">
                <a:solidFill>
                  <a:srgbClr val="1E293B"/>
                </a:solidFill>
              </a:defRPr>
            </a:pPr>
            <a:r>
              <a:t>Computer ScienceHumanities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Interdisciplinary Connections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Translation StudiesHistorical Linguistics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Biblical Studies Applications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Supporting:</a:t>
            </a:r>
          </a:p>
          <a:p>
            <a:pPr>
              <a:spcAft>
                <a:spcPts val="1800"/>
              </a:spcAft>
              <a:defRPr sz="2200">
                <a:solidFill>
                  <a:srgbClr val="1E293B"/>
                </a:solidFill>
              </a:defRPr>
            </a:pPr>
            <a:r>
              <a:t>Textual criticism(variant readings)</a:t>
            </a:r>
          </a:p>
          <a:p>
            <a:pPr>
              <a:spcAft>
                <a:spcPts val="1800"/>
              </a:spcAft>
              <a:defRPr sz="2200">
                <a:solidFill>
                  <a:srgbClr val="1E293B"/>
                </a:solidFill>
              </a:defRPr>
            </a:pPr>
            <a:r>
              <a:t>Translation theory(biblical translation)</a:t>
            </a:r>
          </a:p>
          <a:p>
            <a:pPr>
              <a:spcAft>
                <a:spcPts val="1800"/>
              </a:spcAft>
              <a:defRPr sz="2200">
                <a:solidFill>
                  <a:srgbClr val="1E293B"/>
                </a:solidFill>
              </a:defRPr>
            </a:pPr>
            <a:r>
              <a:t>Historical context(language of the time)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Biblical Studies Applications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Exegesis(semantic analysis)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Case Study: Textual Variants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John 1:1 in different manuscripts:</a:t>
            </a:r>
          </a:p>
          <a:p>
            <a:pPr>
              <a:spcAft>
                <a:spcPts val="1800"/>
              </a:spcAft>
              <a:defRPr sz="2400">
                <a:solidFill>
                  <a:srgbClr val="1E293B"/>
                </a:solidFill>
              </a:defRPr>
            </a:pPr>
            <a:r>
              <a:t>Corpus enables:Systematic comparison of variants</a:t>
            </a:r>
          </a:p>
          <a:p>
            <a:pPr>
              <a:spcAft>
                <a:spcPts val="1800"/>
              </a:spcAft>
              <a:defRPr sz="2200">
                <a:solidFill>
                  <a:srgbClr val="1E293B"/>
                </a:solidFill>
              </a:defRPr>
            </a:pPr>
            <a:r>
              <a:t>Variations in word order</a:t>
            </a:r>
          </a:p>
          <a:p>
            <a:pPr>
              <a:spcAft>
                <a:spcPts val="1800"/>
              </a:spcAft>
              <a:defRPr sz="2200">
                <a:solidFill>
                  <a:srgbClr val="1E293B"/>
                </a:solidFill>
              </a:defRPr>
            </a:pPr>
            <a:r>
              <a:t>Different particle usage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Case Study: Textual Variants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Valency implications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Data Quality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Challenge:Inconsistent source materials</a:t>
            </a:r>
          </a:p>
          <a:p>
            <a:pPr>
              <a:spcAft>
                <a:spcPts val="1800"/>
              </a:spcAft>
              <a:defRPr sz="2400">
                <a:solidFill>
                  <a:srgbClr val="1E293B"/>
                </a:solidFill>
              </a:defRPr>
            </a:pPr>
            <a:r>
              <a:t>Solution:</a:t>
            </a:r>
          </a:p>
          <a:p>
            <a:pPr>
              <a:spcAft>
                <a:spcPts val="1800"/>
              </a:spcAft>
              <a:defRPr sz="2400">
                <a:solidFill>
                  <a:srgbClr val="1E293B"/>
                </a:solidFill>
              </a:defRPr>
            </a:pPr>
            <a:r>
              <a:t>Historical texts present numerous quality challenges: variant readings in manuscripts, editorial choices in critical editions, OCR errors in digitization. We address these through systematic quality control: every text undergoes automated consistency checks (encoding validation, character set verification), followed by expert philological review. Difficult cases are discussed by the research team and decisions documented in metadata. The corpus documentation includes an "editorial principles" section explaining our policies on spelling normalization, manuscript variants, and textual emendations, ensuring transparency and reproducibility.</a:t>
            </a:r>
          </a:p>
          <a:p>
            <a:pPr>
              <a:spcAft>
                <a:spcPts val="1800"/>
              </a:spcAft>
              <a:defRPr sz="2200">
                <a:solidFill>
                  <a:srgbClr val="1E293B"/>
                </a:solidFill>
              </a:defRPr>
            </a:pPr>
            <a:r>
              <a:t>Rigorousquality control(multi-stage verification)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Data Quality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Multipleverification stages(automated + manual checks)</a:t>
            </a:r>
          </a:p>
          <a:p>
            <a:pPr>
              <a:spcAft>
                <a:spcPts val="1800"/>
              </a:spcAft>
              <a:defRPr sz="2200">
                <a:solidFill>
                  <a:srgbClr val="1E293B"/>
                </a:solidFill>
              </a:defRPr>
            </a:pPr>
            <a:r>
              <a:t>Expertphilological review(trained classicists and linguists)</a:t>
            </a:r>
          </a:p>
          <a:p>
            <a:pPr>
              <a:spcAft>
                <a:spcPts val="1800"/>
              </a:spcAft>
              <a:defRPr sz="2200">
                <a:solidFill>
                  <a:srgbClr val="1E293B"/>
                </a:solidFill>
              </a:defRPr>
            </a:pPr>
            <a:r>
              <a:t>Documentededitorial decisions (transparent methodology)</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technical challenges exist and how are they solved?</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Technical issues:</a:t>
            </a:r>
          </a:p>
          <a:p>
            <a:pPr>
              <a:spcAft>
                <a:spcPts val="1800"/>
              </a:spcAft>
              <a:defRPr sz="2200">
                <a:solidFill>
                  <a:srgbClr val="1E293B"/>
                </a:solidFill>
              </a:defRPr>
            </a:pPr>
            <a:r>
              <a:t>How to process ancient languages?</a:t>
            </a:r>
          </a:p>
          <a:p>
            <a:pPr>
              <a:spcAft>
                <a:spcPts val="1800"/>
              </a:spcAft>
              <a:defRPr sz="2200">
                <a:solidFill>
                  <a:srgbClr val="1E293B"/>
                </a:solidFill>
              </a:defRPr>
            </a:pPr>
            <a:r>
              <a:t>How to ensure annotation quality?</a:t>
            </a:r>
          </a:p>
          <a:p>
            <a:pPr>
              <a:spcAft>
                <a:spcPts val="1800"/>
              </a:spcAft>
              <a:defRPr sz="2200">
                <a:solidFill>
                  <a:srgbClr val="1E293B"/>
                </a:solidFill>
              </a:defRPr>
            </a:pPr>
            <a:r>
              <a:t>How to iterate and improve?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Technical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Challenge:Processing ancient languages computationally</a:t>
            </a:r>
          </a:p>
          <a:p>
            <a:pPr>
              <a:spcAft>
                <a:spcPts val="1800"/>
              </a:spcAft>
              <a:defRPr sz="2400">
                <a:solidFill>
                  <a:srgbClr val="1E293B"/>
                </a:solidFill>
              </a:defRPr>
            </a:pPr>
            <a:r>
              <a:t>Solution:</a:t>
            </a:r>
          </a:p>
          <a:p>
            <a:pPr>
              <a:spcAft>
                <a:spcPts val="1800"/>
              </a:spcAft>
              <a:defRPr sz="2200">
                <a:solidFill>
                  <a:srgbClr val="1E293B"/>
                </a:solidFill>
              </a:defRPr>
            </a:pPr>
            <a:r>
              <a:t>CustomNLP toolsfor historical languages</a:t>
            </a:r>
          </a:p>
          <a:p>
            <a:pPr>
              <a:spcAft>
                <a:spcPts val="1800"/>
              </a:spcAft>
              <a:defRPr sz="2200">
                <a:solidFill>
                  <a:srgbClr val="1E293B"/>
                </a:solidFill>
              </a:defRPr>
            </a:pPr>
            <a:r>
              <a:t>Manual correctionof automated annotations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Technical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Community feedbackmechanisms</a:t>
            </a:r>
          </a:p>
          <a:p>
            <a:pPr>
              <a:spcAft>
                <a:spcPts val="1800"/>
              </a:spcAft>
              <a:defRPr sz="2200">
                <a:solidFill>
                  <a:srgbClr val="1E293B"/>
                </a:solidFill>
              </a:defRPr>
            </a:pPr>
            <a:r>
              <a:t>Iterative improvement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Scope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Challenge:Managing 338 texts across 3 millennia</a:t>
            </a:r>
          </a:p>
          <a:p>
            <a:pPr>
              <a:spcAft>
                <a:spcPts val="1800"/>
              </a:spcAft>
              <a:defRPr sz="2400">
                <a:solidFill>
                  <a:srgbClr val="1E293B"/>
                </a:solidFill>
              </a:defRPr>
            </a:pPr>
            <a:r>
              <a:t>Solution:</a:t>
            </a:r>
          </a:p>
          <a:p>
            <a:pPr>
              <a:spcAft>
                <a:spcPts val="1800"/>
              </a:spcAft>
              <a:defRPr sz="2200">
                <a:solidFill>
                  <a:srgbClr val="1E293B"/>
                </a:solidFill>
              </a:defRPr>
            </a:pPr>
            <a:r>
              <a:t>Phased processingapproach</a:t>
            </a:r>
          </a:p>
          <a:p>
            <a:pPr>
              <a:spcAft>
                <a:spcPts val="1800"/>
              </a:spcAft>
              <a:defRPr sz="2200">
                <a:solidFill>
                  <a:srgbClr val="1E293B"/>
                </a:solidFill>
              </a:defRPr>
            </a:pPr>
            <a:r>
              <a:t>Priority textsfirst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Challenges and Solutions: Scope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Modular architecture</a:t>
            </a:r>
          </a:p>
          <a:p>
            <a:pPr>
              <a:spcAft>
                <a:spcPts val="1800"/>
              </a:spcAft>
              <a:defRPr sz="2200">
                <a:solidFill>
                  <a:srgbClr val="1E293B"/>
                </a:solidFill>
              </a:defRPr>
            </a:pPr>
            <a:r>
              <a:t>Incremental publication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Quality Assurance Processes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Multi-Level Verification: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Community Engagement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Building the User Community:</a:t>
            </a:r>
          </a:p>
          <a:p>
            <a:pPr>
              <a:spcAft>
                <a:spcPts val="1800"/>
              </a:spcAft>
              <a:defRPr sz="2200">
                <a:solidFill>
                  <a:srgbClr val="1E293B"/>
                </a:solidFill>
              </a:defRPr>
            </a:pPr>
            <a:r>
              <a:t>Workshopsand training sessions</a:t>
            </a:r>
          </a:p>
          <a:p>
            <a:pPr>
              <a:spcAft>
                <a:spcPts val="1800"/>
              </a:spcAft>
              <a:defRPr sz="2200">
                <a:solidFill>
                  <a:srgbClr val="1E293B"/>
                </a:solidFill>
              </a:defRPr>
            </a:pPr>
            <a:r>
              <a:t>User forumsand support</a:t>
            </a:r>
          </a:p>
          <a:p>
            <a:pPr>
              <a:spcAft>
                <a:spcPts val="1800"/>
              </a:spcAft>
              <a:defRPr sz="2200">
                <a:solidFill>
                  <a:srgbClr val="1E293B"/>
                </a:solidFill>
              </a:defRPr>
            </a:pPr>
            <a:r>
              <a:t>Documentationand tutorials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Community Engagement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Publicationof findings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Dissemination Strategy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Making the Research Accessible:</a:t>
            </a:r>
          </a:p>
          <a:p>
            <a:pPr>
              <a:spcAft>
                <a:spcPts val="1800"/>
              </a:spcAft>
              <a:defRPr sz="2200">
                <a:solidFill>
                  <a:srgbClr val="1E293B"/>
                </a:solidFill>
              </a:defRPr>
            </a:pPr>
            <a:r>
              <a:t>Academic publications(journals, books)</a:t>
            </a:r>
          </a:p>
          <a:p>
            <a:pPr>
              <a:spcAft>
                <a:spcPts val="1800"/>
              </a:spcAft>
              <a:defRPr sz="2200">
                <a:solidFill>
                  <a:srgbClr val="1E293B"/>
                </a:solidFill>
              </a:defRPr>
            </a:pPr>
            <a:r>
              <a:t>Conference presentations</a:t>
            </a:r>
          </a:p>
          <a:p>
            <a:pPr>
              <a:spcAft>
                <a:spcPts val="1800"/>
              </a:spcAft>
              <a:defRPr sz="2200">
                <a:solidFill>
                  <a:srgbClr val="1E293B"/>
                </a:solidFill>
              </a:defRPr>
            </a:pPr>
            <a:r>
              <a:t>Online platform(web interface)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Dissemination Strategy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Educational materials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Publications from the Project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Expected Outputs:</a:t>
            </a:r>
          </a:p>
          <a:p>
            <a:pPr>
              <a:spcAft>
                <a:spcPts val="1800"/>
              </a:spcAft>
              <a:defRPr sz="2200">
                <a:solidFill>
                  <a:srgbClr val="1E293B"/>
                </a:solidFill>
              </a:defRPr>
            </a:pPr>
            <a:r>
              <a:t>Volume 1:Corpus design and methodology</a:t>
            </a:r>
          </a:p>
          <a:p>
            <a:pPr>
              <a:spcAft>
                <a:spcPts val="1800"/>
              </a:spcAft>
              <a:defRPr sz="2200">
                <a:solidFill>
                  <a:srgbClr val="1E293B"/>
                </a:solidFill>
              </a:defRPr>
            </a:pPr>
            <a:r>
              <a:t>Volume 2:Greek valency patterns (this paper!)</a:t>
            </a:r>
          </a:p>
          <a:p>
            <a:pPr>
              <a:spcAft>
                <a:spcPts val="1800"/>
              </a:spcAft>
              <a:defRPr sz="2200">
                <a:solidFill>
                  <a:srgbClr val="1E293B"/>
                </a:solidFill>
              </a:defRPr>
            </a:pPr>
            <a:r>
              <a:t>Volume 3:Cross-linguistic comparisons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Publications from the Project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Valency lexicon(online database)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Timeline and Milestones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2024-2025 (Current Phase):</a:t>
            </a:r>
          </a:p>
          <a:p>
            <a:pPr>
              <a:spcAft>
                <a:spcPts val="1800"/>
              </a:spcAft>
              <a:defRPr sz="2400">
                <a:solidFill>
                  <a:srgbClr val="1E293B"/>
                </a:solidFill>
              </a:defRPr>
            </a:pPr>
            <a:r>
              <a:t>Future Phases:</a:t>
            </a:r>
          </a:p>
          <a:p>
            <a:pPr>
              <a:spcAft>
                <a:spcPts val="1800"/>
              </a:spcAft>
              <a:defRPr sz="2200">
                <a:solidFill>
                  <a:srgbClr val="1E293B"/>
                </a:solidFill>
              </a:defRPr>
            </a:pPr>
            <a:r>
              <a:t>Complete core text processing</a:t>
            </a:r>
          </a:p>
          <a:p>
            <a:pPr>
              <a:spcAft>
                <a:spcPts val="1800"/>
              </a:spcAft>
              <a:defRPr sz="2200">
                <a:solidFill>
                  <a:srgbClr val="1E293B"/>
                </a:solidFill>
              </a:defRPr>
            </a:pPr>
            <a:r>
              <a:t>Initial valency lexicon release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Timeline and Milestones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Publication of research findings</a:t>
            </a:r>
          </a:p>
          <a:p>
            <a:pPr>
              <a:spcAft>
                <a:spcPts val="1800"/>
              </a:spcAft>
              <a:defRPr sz="2200">
                <a:solidFill>
                  <a:srgbClr val="1E293B"/>
                </a:solidFill>
              </a:defRPr>
            </a:pPr>
            <a:r>
              <a:t>Platform beta launch</a:t>
            </a:r>
          </a:p>
          <a:p>
            <a:pPr>
              <a:spcAft>
                <a:spcPts val="1800"/>
              </a:spcAft>
              <a:defRPr sz="2200">
                <a:solidFill>
                  <a:srgbClr val="1E293B"/>
                </a:solidFill>
              </a:defRPr>
            </a:pPr>
            <a:r>
              <a:t>Corpus expansion</a:t>
            </a:r>
          </a:p>
          <a:p>
            <a:pPr>
              <a:spcAft>
                <a:spcPts val="1800"/>
              </a:spcAft>
              <a:defRPr sz="2200">
                <a:solidFill>
                  <a:srgbClr val="1E293B"/>
                </a:solidFill>
              </a:defRPr>
            </a:pPr>
            <a:r>
              <a:t>Enhanced computational tools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Timeline and Milestones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Broader community engagement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Team and Expertise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Multidisciplinary Team:</a:t>
            </a:r>
          </a:p>
          <a:p>
            <a:pPr>
              <a:spcAft>
                <a:spcPts val="1800"/>
              </a:spcAft>
              <a:defRPr sz="2200">
                <a:solidFill>
                  <a:srgbClr val="1E293B"/>
                </a:solidFill>
              </a:defRPr>
            </a:pPr>
            <a:r>
              <a:t>Historical linguists</a:t>
            </a:r>
          </a:p>
          <a:p>
            <a:pPr>
              <a:spcAft>
                <a:spcPts val="1800"/>
              </a:spcAft>
              <a:defRPr sz="2200">
                <a:solidFill>
                  <a:srgbClr val="1E293B"/>
                </a:solidFill>
              </a:defRPr>
            </a:pPr>
            <a:r>
              <a:t>Classical philologists</a:t>
            </a:r>
          </a:p>
          <a:p>
            <a:pPr>
              <a:spcAft>
                <a:spcPts val="1800"/>
              </a:spcAft>
              <a:defRPr sz="2200">
                <a:solidFill>
                  <a:srgbClr val="1E293B"/>
                </a:solidFill>
              </a:defRPr>
            </a:pPr>
            <a:r>
              <a:t>Computational linguists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Project Team and Expertise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Software developers</a:t>
            </a:r>
          </a:p>
          <a:p>
            <a:pPr>
              <a:spcAft>
                <a:spcPts val="1800"/>
              </a:spcAft>
              <a:defRPr sz="2200">
                <a:solidFill>
                  <a:srgbClr val="1E293B"/>
                </a:solidFill>
              </a:defRPr>
            </a:pPr>
            <a:r>
              <a:t>Research assistants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Funding and Support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Hellenic Foundation for Research &amp; Innovation (H.F.R.I.):</a:t>
            </a:r>
          </a:p>
          <a:p>
            <a:pPr>
              <a:spcAft>
                <a:spcPts val="1800"/>
              </a:spcAft>
              <a:defRPr sz="2200">
                <a:solidFill>
                  <a:srgbClr val="1E293B"/>
                </a:solidFill>
              </a:defRPr>
            </a:pPr>
            <a:r>
              <a:t>ELIDEK Excellencegrant program</a:t>
            </a:r>
          </a:p>
          <a:p>
            <a:pPr>
              <a:spcAft>
                <a:spcPts val="1800"/>
              </a:spcAft>
              <a:defRPr sz="2200">
                <a:solidFill>
                  <a:srgbClr val="1E293B"/>
                </a:solidFill>
              </a:defRPr>
            </a:pPr>
            <a:r>
              <a:t>2024-2025funding period</a:t>
            </a:r>
          </a:p>
          <a:p>
            <a:pPr>
              <a:spcAft>
                <a:spcPts val="1800"/>
              </a:spcAft>
              <a:defRPr sz="2200">
                <a:solidFill>
                  <a:srgbClr val="1E293B"/>
                </a:solidFill>
              </a:defRPr>
            </a:pPr>
            <a:r>
              <a:t>Competitivenational grant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Funding and Support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Recognition of projectsignificance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Broader Impact: Digital Humanities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Contribution to Field:</a:t>
            </a:r>
          </a:p>
          <a:p>
            <a:pPr>
              <a:spcAft>
                <a:spcPts val="1800"/>
              </a:spcAft>
              <a:defRPr sz="2200">
                <a:solidFill>
                  <a:srgbClr val="1E293B"/>
                </a:solidFill>
              </a:defRPr>
            </a:pPr>
            <a:r>
              <a:t>Model forlarge-scalehistorical corpus projects</a:t>
            </a:r>
          </a:p>
          <a:p>
            <a:pPr>
              <a:spcAft>
                <a:spcPts val="1800"/>
              </a:spcAft>
              <a:defRPr sz="2200">
                <a:solidFill>
                  <a:srgbClr val="1E293B"/>
                </a:solidFill>
              </a:defRPr>
            </a:pPr>
            <a:r>
              <a:t>Integration oftraditionalanddigitalmethods</a:t>
            </a:r>
          </a:p>
          <a:p>
            <a:pPr>
              <a:spcAft>
                <a:spcPts val="1800"/>
              </a:spcAft>
              <a:defRPr sz="2200">
                <a:solidFill>
                  <a:srgbClr val="1E293B"/>
                </a:solidFill>
              </a:defRPr>
            </a:pPr>
            <a:r>
              <a:t>Sustainableinfrastructure design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Broader Impact: Digital Humanities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Replicablemethodology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Question: What are the main takeaways from this presentation?</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Summary points:</a:t>
            </a:r>
          </a:p>
          <a:p>
            <a:pPr>
              <a:spcAft>
                <a:spcPts val="1800"/>
              </a:spcAft>
              <a:defRPr sz="2200">
                <a:solidFill>
                  <a:srgbClr val="1E293B"/>
                </a:solidFill>
              </a:defRPr>
            </a:pPr>
            <a:r>
              <a:t>What is the scope?</a:t>
            </a:r>
          </a:p>
          <a:p>
            <a:pPr>
              <a:spcAft>
                <a:spcPts val="1800"/>
              </a:spcAft>
              <a:defRPr sz="2200">
                <a:solidFill>
                  <a:srgbClr val="1E293B"/>
                </a:solidFill>
              </a:defRPr>
            </a:pPr>
            <a:r>
              <a:t>What is the methodology?</a:t>
            </a:r>
          </a:p>
          <a:p>
            <a:pPr>
              <a:spcAft>
                <a:spcPts val="1800"/>
              </a:spcAft>
              <a:defRPr sz="2200">
                <a:solidFill>
                  <a:srgbClr val="1E293B"/>
                </a:solidFill>
              </a:defRPr>
            </a:pPr>
            <a:r>
              <a:t>What is the significance?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Key Takeaways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338 textsacross3000+ yearsMultiple languagesand translation traditionsPhilology + Computation= powerful methodologyValencyas lens for understanding language changeOpen accessresource for global research community</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Theoretical Significance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Why This Matters:</a:t>
            </a:r>
          </a:p>
          <a:p>
            <a:pPr>
              <a:spcAft>
                <a:spcPts val="1800"/>
              </a:spcAft>
              <a:defRPr sz="2200">
                <a:solidFill>
                  <a:srgbClr val="1E293B"/>
                </a:solidFill>
              </a:defRPr>
            </a:pPr>
            <a:r>
              <a:t>Understandingmechanismsof language change</a:t>
            </a:r>
          </a:p>
          <a:p>
            <a:pPr>
              <a:spcAft>
                <a:spcPts val="1800"/>
              </a:spcAft>
              <a:defRPr sz="2200">
                <a:solidFill>
                  <a:srgbClr val="1E293B"/>
                </a:solidFill>
              </a:defRPr>
            </a:pPr>
            <a:r>
              <a:t>Documentinglong-termsyntactic evolution</a:t>
            </a:r>
          </a:p>
          <a:p>
            <a:pPr>
              <a:spcAft>
                <a:spcPts val="1800"/>
              </a:spcAft>
              <a:defRPr sz="2200">
                <a:solidFill>
                  <a:srgbClr val="1E293B"/>
                </a:solidFill>
              </a:defRPr>
            </a:pPr>
            <a:r>
              <a:t>Revealingcontact effectsin written language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Theoretical Significance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Buildingempirical foundationfor diachronic theory</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Practical Applications Beyond Academia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Real-World Uses:</a:t>
            </a:r>
          </a:p>
          <a:p>
            <a:pPr>
              <a:spcAft>
                <a:spcPts val="1800"/>
              </a:spcAft>
              <a:defRPr sz="2200">
                <a:solidFill>
                  <a:srgbClr val="1E293B"/>
                </a:solidFill>
              </a:defRPr>
            </a:pPr>
            <a:r>
              <a:t>Translation technology(machine translation of historical texts)</a:t>
            </a:r>
          </a:p>
          <a:p>
            <a:pPr>
              <a:spcAft>
                <a:spcPts val="1800"/>
              </a:spcAft>
              <a:defRPr sz="2200">
                <a:solidFill>
                  <a:srgbClr val="1E293B"/>
                </a:solidFill>
              </a:defRPr>
            </a:pPr>
            <a:r>
              <a:t>Language learningresources</a:t>
            </a:r>
          </a:p>
          <a:p>
            <a:pPr>
              <a:spcAft>
                <a:spcPts val="1800"/>
              </a:spcAft>
              <a:defRPr sz="2200">
                <a:solidFill>
                  <a:srgbClr val="1E293B"/>
                </a:solidFill>
              </a:defRPr>
            </a:pPr>
            <a:r>
              <a:t>Cultural heritagepreservation</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Practical Applications Beyond Academia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Digital archiveinfrastructure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Vision for the Future (1/2)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Long-Term Goals:</a:t>
            </a:r>
          </a:p>
          <a:p>
            <a:pPr>
              <a:spcAft>
                <a:spcPts val="1800"/>
              </a:spcAft>
              <a:defRPr sz="2200">
                <a:solidFill>
                  <a:srgbClr val="1E293B"/>
                </a:solidFill>
              </a:defRPr>
            </a:pPr>
            <a:r>
              <a:t>Become thereference corpusfor diachronic Greek</a:t>
            </a:r>
          </a:p>
          <a:p>
            <a:pPr>
              <a:spcAft>
                <a:spcPts val="1800"/>
              </a:spcAft>
              <a:defRPr sz="2200">
                <a:solidFill>
                  <a:srgbClr val="1E293B"/>
                </a:solidFill>
              </a:defRPr>
            </a:pPr>
            <a:r>
              <a:t>Expand to includemore languages</a:t>
            </a:r>
          </a:p>
          <a:p>
            <a:pPr>
              <a:spcAft>
                <a:spcPts val="1800"/>
              </a:spcAft>
              <a:defRPr sz="2200">
                <a:solidFill>
                  <a:srgbClr val="1E293B"/>
                </a:solidFill>
              </a:defRPr>
            </a:pPr>
            <a:r>
              <a:t>Developadvanced computational tools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Vision for the Future (2/2)</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Fosterinternational collaboration</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How to Get Involved (1/3)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For Researchers:</a:t>
            </a:r>
          </a:p>
          <a:p>
            <a:pPr>
              <a:spcAft>
                <a:spcPts val="1800"/>
              </a:spcAft>
              <a:defRPr sz="2400">
                <a:solidFill>
                  <a:srgbClr val="1E293B"/>
                </a:solidFill>
              </a:defRPr>
            </a:pPr>
            <a:r>
              <a:t>For Students:</a:t>
            </a:r>
          </a:p>
          <a:p>
            <a:pPr>
              <a:spcAft>
                <a:spcPts val="1800"/>
              </a:spcAft>
              <a:defRPr sz="2200">
                <a:solidFill>
                  <a:srgbClr val="1E293B"/>
                </a:solidFill>
              </a:defRPr>
            </a:pPr>
            <a:r>
              <a:t>Access the corpus (upon release)</a:t>
            </a:r>
          </a:p>
          <a:p>
            <a:pPr>
              <a:spcAft>
                <a:spcPts val="1800"/>
              </a:spcAft>
              <a:defRPr sz="2200">
                <a:solidFill>
                  <a:srgbClr val="1E293B"/>
                </a:solidFill>
              </a:defRPr>
            </a:pPr>
            <a:r>
              <a:t>Contribute annotations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How to Get Involved (2/3)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Propose collaborative projects</a:t>
            </a:r>
          </a:p>
          <a:p>
            <a:pPr>
              <a:spcAft>
                <a:spcPts val="1800"/>
              </a:spcAft>
              <a:defRPr sz="2200">
                <a:solidFill>
                  <a:srgbClr val="1E293B"/>
                </a:solidFill>
              </a:defRPr>
            </a:pPr>
            <a:r>
              <a:t>Cite and build upon the work</a:t>
            </a:r>
          </a:p>
          <a:p>
            <a:pPr>
              <a:spcAft>
                <a:spcPts val="1800"/>
              </a:spcAft>
              <a:defRPr sz="2200">
                <a:solidFill>
                  <a:srgbClr val="1E293B"/>
                </a:solidFill>
              </a:defRPr>
            </a:pPr>
            <a:r>
              <a:t>Use for thesis research</a:t>
            </a:r>
          </a:p>
          <a:p>
            <a:pPr>
              <a:spcAft>
                <a:spcPts val="1800"/>
              </a:spcAft>
              <a:defRPr sz="2200">
                <a:solidFill>
                  <a:srgbClr val="1E293B"/>
                </a:solidFill>
              </a:defRPr>
            </a:pPr>
            <a:r>
              <a:t>Participate in training workshops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How to Get Involved (3/3)</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200">
                <a:solidFill>
                  <a:srgbClr val="1E293B"/>
                </a:solidFill>
              </a:defRPr>
            </a:pPr>
            <a:r>
              <a:t>Explore teaching materials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Contact and Resources</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Project Website:[Coming soon]Principal Investigator:Nikolaos LavidasInstitution:University of AthensFunding:H.F.R.I. - ELIDEK Excellence Grant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1097280"/>
          </a:xfrm>
          <a:prstGeom prst="rect">
            <a:avLst/>
          </a:prstGeom>
          <a:noFill/>
        </p:spPr>
        <p:txBody>
          <a:bodyPr wrap="square">
            <a:spAutoFit/>
          </a:bodyPr>
          <a:lstStyle/>
          <a:p>
            <a:pPr algn="l">
              <a:defRPr sz="3600" b="1">
                <a:solidFill>
                  <a:srgbClr val="2A5298"/>
                </a:solidFill>
              </a:defRPr>
            </a:pPr>
            <a:r>
              <a:t>Thank You!</a:t>
            </a:r>
          </a:p>
        </p:txBody>
      </p:sp>
      <p:sp>
        <p:nvSpPr>
          <p:cNvPr id="3" name="TextBox 2"/>
          <p:cNvSpPr txBox="1"/>
          <p:nvPr/>
        </p:nvSpPr>
        <p:spPr>
          <a:xfrm>
            <a:off x="640080" y="1645920"/>
            <a:ext cx="7863840" cy="4937760"/>
          </a:xfrm>
          <a:prstGeom prst="rect">
            <a:avLst/>
          </a:prstGeom>
          <a:noFill/>
        </p:spPr>
        <p:txBody>
          <a:bodyPr wrap="square">
            <a:spAutoFit/>
          </a:bodyPr>
          <a:lstStyle/>
          <a:p>
            <a:pPr>
              <a:spcAft>
                <a:spcPts val="1800"/>
              </a:spcAft>
              <a:defRPr sz="2400">
                <a:solidFill>
                  <a:srgbClr val="1E293B"/>
                </a:solidFill>
              </a:defRPr>
            </a:pPr>
            <a:r>
              <a:t>Questions &amp; Discussion</a:t>
            </a:r>
          </a:p>
          <a:p>
            <a:pPr>
              <a:spcAft>
                <a:spcPts val="1800"/>
              </a:spcAft>
              <a:defRPr sz="2400">
                <a:solidFill>
                  <a:srgbClr val="1E293B"/>
                </a:solidFill>
              </a:defRPr>
            </a:pPr>
            <a:r>
              <a:t>The Textual Foundation and Computational Architecture of the CVL-CDSAML Corpus</a:t>
            </a:r>
          </a:p>
          <a:p>
            <a:pPr>
              <a:spcAft>
                <a:spcPts val="1800"/>
              </a:spcAft>
              <a:defRPr sz="2400">
                <a:solidFill>
                  <a:srgbClr val="1E293B"/>
                </a:solidFill>
              </a:defRPr>
            </a:pPr>
            <a:r>
              <a:t>Building bridges between past and present, philology and computation</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67544" y="2636912"/>
            <a:ext cx="8247842" cy="1386738"/>
          </a:xfrm>
          <a:prstGeom prst="rect">
            <a:avLst/>
          </a:prstGeom>
          <a:noFill/>
        </p:spPr>
        <p:txBody>
          <a:bodyPr>
            <a:spAutoFit/>
          </a:bodyP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79512" y="1988840"/>
            <a:ext cx="3779912" cy="3240360"/>
          </a:xfrm>
          <a:prstGeom prst="rect">
            <a:avLst/>
          </a:prstGeom>
          <a:noFill/>
        </p:spPr>
        <p:txBody>
          <a:bodyPr>
            <a:spAutoFit/>
          </a:bodyPr>
          <a:lstStyle/>
          <a:p>
            <a:pPr algn="ctr"/>
          </a:p>
          <a:p>
            <a:pPr algn="ctr"/>
            <a:r>
              <a:rPr/>
              <a:t>Creation of:</a:t>
            </a:r>
          </a:p>
          <a:p>
            <a:pPr algn="ctr"/>
          </a:p>
          <a:p>
            <a:pPr/>
            <a:r>
              <a:rPr/>
              <a:t>A parallel diachronic corpus of influential texts</a:t>
            </a:r>
          </a:p>
          <a:p>
            <a:pPr/>
          </a:p>
          <a:p>
            <a:pPr/>
            <a:r>
              <a:rPr/>
              <a:t>B) A diachronic Valency Lexicon</a:t>
            </a:r>
          </a:p>
          <a:p>
            <a:pPr algn="ctr"/>
          </a:p>
        </p:txBody>
      </p:sp>
      <p:sp>
        <p:nvSpPr>
          <p:cNvPr id="3" name="TextBox 2"/>
          <p:cNvSpPr txBox="1"/>
          <p:nvPr/>
        </p:nvSpPr>
        <p:spPr>
          <a:xfrm>
            <a:off x="4067944" y="3356992"/>
            <a:ext cx="1440160" cy="576064"/>
          </a:xfrm>
          <a:prstGeom prst="rect">
            <a:avLst/>
          </a:prstGeom>
          <a:noFill/>
        </p:spPr>
        <p:txBody>
          <a:bodyPr>
            <a:spAutoFit/>
          </a:bodyPr>
          <a:lstStyle/>
          <a:p>
            <a:pPr algn="ctr"/>
          </a:p>
        </p:txBody>
      </p:sp>
      <p:sp>
        <p:nvSpPr>
          <p:cNvPr id="4" name="TextBox 3"/>
          <p:cNvSpPr txBox="1"/>
          <p:nvPr/>
        </p:nvSpPr>
        <p:spPr>
          <a:xfrm>
            <a:off x="5580112" y="1844824"/>
            <a:ext cx="3456384" cy="3456384"/>
          </a:xfrm>
          <a:prstGeom prst="rect">
            <a:avLst/>
          </a:prstGeom>
          <a:noFill/>
        </p:spPr>
        <p:txBody>
          <a:bodyPr>
            <a:spAutoFit/>
          </a:bodyPr>
          <a:lstStyle/>
          <a:p>
            <a:pPr algn="ctr"/>
            <a:r>
              <a:rPr/>
              <a:t>Analysis of: </a:t>
            </a:r>
          </a:p>
          <a:p>
            <a:pPr algn="ctr"/>
          </a:p>
          <a:p>
            <a:pPr/>
            <a:r>
              <a:rPr/>
              <a:t>Valency</a:t>
            </a:r>
          </a:p>
          <a:p>
            <a:pPr/>
          </a:p>
          <a:p>
            <a:pPr/>
            <a:r>
              <a:rPr/>
              <a:t>B) Language diachrony</a:t>
            </a:r>
          </a:p>
          <a:p>
            <a:pPr/>
          </a:p>
          <a:p>
            <a:pPr/>
            <a:r>
              <a:rPr/>
              <a:t>C) Written Language Contact</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3528" y="764704"/>
            <a:ext cx="2876108" cy="461665"/>
          </a:xfrm>
          <a:prstGeom prst="rect">
            <a:avLst/>
          </a:prstGeom>
          <a:noFill/>
        </p:spPr>
        <p:txBody>
          <a:bodyPr wrap="none">
            <a:spAutoFit/>
          </a:bodyPr>
          <a:lstStyle/>
          <a:p>
            <a:pPr/>
            <a:r>
              <a:rPr sz="3600" b="1"/>
              <a:t>Previous Research</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79512" y="1268760"/>
            <a:ext cx="8964488" cy="3139321"/>
          </a:xfrm>
          <a:prstGeom prst="rect">
            <a:avLst/>
          </a:prstGeom>
          <a:noFill/>
        </p:spPr>
        <p:txBody>
          <a:bodyPr wrap="square">
            <a:spAutoFit/>
          </a:bodyPr>
          <a:lstStyle/>
          <a:p>
            <a:pPr/>
          </a:p>
          <a:p>
            <a:pPr/>
            <a:r>
              <a:rPr/>
              <a:t> Interdisciplinary approach: Diachronic - Historical Linguistics, Translation Studies, Computational analysis.</a:t>
            </a:r>
          </a:p>
          <a:p>
            <a:pPr/>
          </a:p>
          <a:p>
            <a:pPr/>
          </a:p>
          <a:p>
            <a:pPr/>
          </a:p>
          <a:p>
            <a:pPr/>
            <a:r>
              <a:rPr/>
              <a:t> Focus on transitivity, semantic structure and morphosyntactic change.</a:t>
            </a:r>
          </a:p>
          <a:p>
            <a:pPr/>
          </a:p>
          <a:p>
            <a:pPr/>
          </a:p>
          <a:p>
            <a:pPr/>
          </a:p>
          <a:p>
            <a:pPr/>
            <a:r>
              <a:rPr/>
              <a:t> </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75856" y="692696"/>
            <a:ext cx="2592288" cy="1224136"/>
          </a:xfrm>
          <a:prstGeom prst="rect">
            <a:avLst/>
          </a:prstGeom>
          <a:noFill/>
        </p:spPr>
        <p:txBody>
          <a:bodyPr>
            <a:spAutoFit/>
          </a:bodyPr>
          <a:lstStyle/>
          <a:p>
            <a:pPr algn="ctr"/>
            <a:r>
              <a:rPr b="1"/>
              <a:t>Material</a:t>
            </a:r>
          </a:p>
        </p:txBody>
      </p:sp>
      <p:sp>
        <p:nvSpPr>
          <p:cNvPr id="3" name="TextBox 2"/>
          <p:cNvSpPr txBox="1"/>
          <p:nvPr/>
        </p:nvSpPr>
        <p:spPr>
          <a:xfrm>
            <a:off x="6047656" y="2348880"/>
            <a:ext cx="3096344" cy="1512168"/>
          </a:xfrm>
          <a:prstGeom prst="rect">
            <a:avLst/>
          </a:prstGeom>
          <a:noFill/>
        </p:spPr>
        <p:txBody>
          <a:bodyPr>
            <a:spAutoFit/>
          </a:bodyPr>
          <a:lstStyle/>
          <a:p>
            <a:pPr algn="ctr"/>
            <a:r>
              <a:rPr/>
              <a:t>The PROIEL software and annotation tools</a:t>
            </a:r>
          </a:p>
        </p:txBody>
      </p:sp>
      <p:sp>
        <p:nvSpPr>
          <p:cNvPr id="4" name="TextBox 3"/>
          <p:cNvSpPr txBox="1"/>
          <p:nvPr/>
        </p:nvSpPr>
        <p:spPr>
          <a:xfrm>
            <a:off x="107504" y="2348880"/>
            <a:ext cx="3096344" cy="1512168"/>
          </a:xfrm>
          <a:prstGeom prst="rect">
            <a:avLst/>
          </a:prstGeom>
          <a:noFill/>
        </p:spPr>
        <p:txBody>
          <a:bodyPr>
            <a:spAutoFit/>
          </a:bodyPr>
          <a:lstStyle/>
          <a:p>
            <a:pPr algn="ctr"/>
            <a:r>
              <a:rPr/>
              <a:t>Influential texts</a:t>
            </a:r>
          </a:p>
          <a:p>
            <a:pPr algn="ctr"/>
            <a:r>
              <a:rPr/>
              <a:t>(source texts and retranslations)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611560" y="2708920"/>
            <a:ext cx="7992888" cy="3312368"/>
          </a:xfrm>
          <a:prstGeom prst="rect">
            <a:avLst/>
          </a:prstGeom>
          <a:noFill/>
        </p:spPr>
        <p:txBody>
          <a:bodyPr>
            <a:spAutoFit/>
          </a:bodyPr>
          <a:lstStyle/>
          <a:p>
            <a:pPr algn="ctr"/>
          </a:p>
        </p:txBody>
      </p:sp>
      <p:sp>
        <p:nvSpPr>
          <p:cNvPr id="3" name="TextBox 2"/>
          <p:cNvSpPr txBox="1"/>
          <p:nvPr/>
        </p:nvSpPr>
        <p:spPr>
          <a:xfrm>
            <a:off x="3203848" y="836712"/>
            <a:ext cx="2440092" cy="369332"/>
          </a:xfrm>
          <a:prstGeom prst="rect">
            <a:avLst/>
          </a:prstGeom>
          <a:noFill/>
        </p:spPr>
        <p:txBody>
          <a:bodyPr wrap="none">
            <a:spAutoFit/>
          </a:bodyPr>
          <a:lstStyle/>
          <a:p>
            <a:pPr/>
            <a:r>
              <a:rPr b="1"/>
              <a:t>The AthDGC Corpus</a:t>
            </a:r>
          </a:p>
        </p:txBody>
      </p:sp>
      <p:sp>
        <p:nvSpPr>
          <p:cNvPr id="4" name="TextBox 3"/>
          <p:cNvSpPr txBox="1"/>
          <p:nvPr/>
        </p:nvSpPr>
        <p:spPr>
          <a:xfrm>
            <a:off x="155575" y="-144463"/>
            <a:ext cx="304800" cy="304801"/>
          </a:xfrm>
          <a:prstGeom prst="rect">
            <a:avLst/>
          </a:prstGeom>
          <a:noFill/>
        </p:spPr>
        <p:txBody>
          <a:bodyPr wrap="square">
            <a:spAutoFit/>
          </a:bodyPr>
          <a:lstStyle/>
          <a:p>
            <a:pPr/>
          </a:p>
        </p:txBody>
      </p:sp>
      <p:sp>
        <p:nvSpPr>
          <p:cNvPr id="5" name="TextBox 4"/>
          <p:cNvSpPr txBox="1"/>
          <p:nvPr/>
        </p:nvSpPr>
        <p:spPr>
          <a:xfrm>
            <a:off x="3563888" y="2132856"/>
            <a:ext cx="1872208" cy="4176464"/>
          </a:xfrm>
          <a:prstGeom prst="rect">
            <a:avLst/>
          </a:prstGeom>
          <a:noFill/>
        </p:spPr>
        <p:txBody>
          <a:bodyPr>
            <a:spAutoFit/>
          </a:bodyP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835696" y="980728"/>
            <a:ext cx="5544616" cy="5040560"/>
          </a:xfrm>
          <a:prstGeom prst="rect">
            <a:avLst/>
          </a:prstGeom>
          <a:noFill/>
        </p:spPr>
        <p:txBody>
          <a:bodyPr>
            <a:spAutoFit/>
          </a:bodyP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99792" y="548680"/>
            <a:ext cx="3960440" cy="720080"/>
          </a:xfrm>
          <a:prstGeom prst="rect">
            <a:avLst/>
          </a:prstGeom>
          <a:noFill/>
        </p:spPr>
        <p:txBody>
          <a:bodyPr>
            <a:spAutoFit/>
          </a:bodyPr>
          <a:lstStyle/>
          <a:p>
            <a:pPr algn="ctr"/>
            <a:r>
              <a:rPr sz="4200" b="1"/>
              <a:t>Original texts</a:t>
            </a:r>
          </a:p>
        </p:txBody>
      </p:sp>
      <p:sp>
        <p:nvSpPr>
          <p:cNvPr id="3" name="TextBox 2"/>
          <p:cNvSpPr txBox="1"/>
          <p:nvPr/>
        </p:nvSpPr>
        <p:spPr>
          <a:xfrm>
            <a:off x="0" y="2060848"/>
            <a:ext cx="3131840" cy="4104456"/>
          </a:xfrm>
          <a:prstGeom prst="rect">
            <a:avLst/>
          </a:prstGeom>
          <a:noFill/>
        </p:spPr>
        <p:txBody>
          <a:bodyPr>
            <a:spAutoFit/>
          </a:bodyPr>
          <a:lstStyle/>
          <a:p>
            <a:pPr/>
            <a:r>
              <a:rPr b="1"/>
              <a:t>Greek texts </a:t>
            </a:r>
          </a:p>
          <a:p>
            <a:pPr/>
          </a:p>
          <a:p>
            <a:pPr/>
            <a:r>
              <a:rPr b="1"/>
              <a:t>Ancient Greek: e.g. Homeric poems</a:t>
            </a:r>
          </a:p>
          <a:p>
            <a:pPr/>
          </a:p>
          <a:p>
            <a:pPr/>
            <a:r>
              <a:rPr b="1"/>
              <a:t>Hellenistic Greek: e.g. New Testament</a:t>
            </a:r>
          </a:p>
          <a:p>
            <a:pPr/>
          </a:p>
          <a:p>
            <a:pPr/>
            <a:r>
              <a:rPr b="1"/>
              <a:t>Medieval Greek: e.g. Psellos’ Chronographia</a:t>
            </a:r>
          </a:p>
          <a:p>
            <a:pPr/>
          </a:p>
          <a:p>
            <a:pPr/>
            <a:r>
              <a:rPr b="1"/>
              <a:t>Early Modern Greek: e.g. Digenis Akritas</a:t>
            </a:r>
          </a:p>
        </p:txBody>
      </p:sp>
      <p:sp>
        <p:nvSpPr>
          <p:cNvPr id="4" name="TextBox 3"/>
          <p:cNvSpPr txBox="1"/>
          <p:nvPr/>
        </p:nvSpPr>
        <p:spPr>
          <a:xfrm>
            <a:off x="3419872" y="2060848"/>
            <a:ext cx="3096344" cy="4104456"/>
          </a:xfrm>
          <a:prstGeom prst="rect">
            <a:avLst/>
          </a:prstGeom>
          <a:noFill/>
        </p:spPr>
        <p:txBody>
          <a:bodyPr>
            <a:spAutoFit/>
          </a:bodyPr>
          <a:lstStyle/>
          <a:p>
            <a:pPr/>
            <a:r>
              <a:rPr b="1"/>
              <a:t>English texts </a:t>
            </a:r>
          </a:p>
          <a:p>
            <a:pPr/>
          </a:p>
          <a:p>
            <a:pPr/>
            <a:r>
              <a:rPr b="1"/>
              <a:t>Old English: e.g. Ælfric's Lives of Saints</a:t>
            </a:r>
          </a:p>
          <a:p>
            <a:pPr/>
          </a:p>
          <a:p>
            <a:pPr/>
            <a:r>
              <a:rPr b="1"/>
              <a:t>Middle English: e.g. Orrmin: The Ormulum</a:t>
            </a:r>
          </a:p>
          <a:p>
            <a:pPr/>
          </a:p>
          <a:p>
            <a:pPr/>
            <a:r>
              <a:rPr b="1"/>
              <a:t>Modern English: e.g. Jane Austen’s Pride and Prejudice</a:t>
            </a:r>
          </a:p>
        </p:txBody>
      </p:sp>
      <p:sp>
        <p:nvSpPr>
          <p:cNvPr id="5" name="TextBox 4"/>
          <p:cNvSpPr txBox="1"/>
          <p:nvPr/>
        </p:nvSpPr>
        <p:spPr>
          <a:xfrm>
            <a:off x="6660232" y="2060848"/>
            <a:ext cx="2483768" cy="2448272"/>
          </a:xfrm>
          <a:prstGeom prst="rect">
            <a:avLst/>
          </a:prstGeom>
          <a:noFill/>
        </p:spPr>
        <p:txBody>
          <a:bodyPr>
            <a:spAutoFit/>
          </a:bodyPr>
          <a:lstStyle/>
          <a:p>
            <a:pPr/>
            <a:r>
              <a:rPr b="1"/>
              <a:t>Old French:</a:t>
            </a:r>
          </a:p>
          <a:p>
            <a:pPr/>
            <a:r>
              <a:rPr/>
              <a:t>e.g. La Vie de Saint Eustache</a:t>
            </a:r>
          </a:p>
          <a:p>
            <a:pP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99792" y="548680"/>
            <a:ext cx="3960440" cy="720080"/>
          </a:xfrm>
          <a:prstGeom prst="rect">
            <a:avLst/>
          </a:prstGeom>
          <a:noFill/>
        </p:spPr>
        <p:txBody>
          <a:bodyPr>
            <a:spAutoFit/>
          </a:bodyPr>
          <a:lstStyle/>
          <a:p>
            <a:pPr algn="ctr"/>
            <a:r>
              <a:rPr sz="4200" b="1"/>
              <a:t>Retranslations</a:t>
            </a:r>
          </a:p>
        </p:txBody>
      </p:sp>
      <p:sp>
        <p:nvSpPr>
          <p:cNvPr id="3" name="TextBox 2"/>
          <p:cNvSpPr txBox="1"/>
          <p:nvPr/>
        </p:nvSpPr>
        <p:spPr>
          <a:xfrm>
            <a:off x="0" y="2060848"/>
            <a:ext cx="4355976" cy="3816424"/>
          </a:xfrm>
          <a:prstGeom prst="rect">
            <a:avLst/>
          </a:prstGeom>
          <a:noFill/>
        </p:spPr>
        <p:txBody>
          <a:bodyPr>
            <a:spAutoFit/>
          </a:bodyPr>
          <a:lstStyle/>
          <a:p>
            <a:pPr algn="ctr"/>
            <a:r>
              <a:rPr sz="3000" b="1"/>
              <a:t>Intralingual translations</a:t>
            </a:r>
          </a:p>
          <a:p>
            <a:pPr algn="ctr"/>
          </a:p>
          <a:p>
            <a:pPr algn="ctr"/>
            <a:r>
              <a:rPr/>
              <a:t>e.g. the Greek retranslation of the New Testament by Alexandros Palles </a:t>
            </a:r>
          </a:p>
          <a:p>
            <a:pPr algn="ctr"/>
            <a:r>
              <a:rPr/>
              <a:t>(20th century) </a:t>
            </a:r>
          </a:p>
        </p:txBody>
      </p:sp>
      <p:sp>
        <p:nvSpPr>
          <p:cNvPr id="4" name="TextBox 3"/>
          <p:cNvSpPr txBox="1"/>
          <p:nvPr/>
        </p:nvSpPr>
        <p:spPr>
          <a:xfrm>
            <a:off x="4860032" y="2132856"/>
            <a:ext cx="4283968" cy="3744416"/>
          </a:xfrm>
          <a:prstGeom prst="rect">
            <a:avLst/>
          </a:prstGeom>
          <a:noFill/>
        </p:spPr>
        <p:txBody>
          <a:bodyPr>
            <a:spAutoFit/>
          </a:bodyPr>
          <a:lstStyle/>
          <a:p>
            <a:pPr algn="ctr"/>
            <a:r>
              <a:rPr sz="3000" b="1"/>
              <a:t>Interlingual translations</a:t>
            </a:r>
          </a:p>
          <a:p>
            <a:pPr algn="ctr"/>
          </a:p>
          <a:p>
            <a:pPr algn="ctr"/>
            <a:r>
              <a:rPr/>
              <a:t>e.g. the English retranslation of the New Testament by William Tyndale  </a:t>
            </a:r>
          </a:p>
          <a:p>
            <a:pPr algn="ctr"/>
            <a:r>
              <a:rPr/>
              <a:t>(16th century)</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07504" y="692696"/>
            <a:ext cx="2484976" cy="369332"/>
          </a:xfrm>
          <a:prstGeom prst="rect">
            <a:avLst/>
          </a:prstGeom>
          <a:noFill/>
        </p:spPr>
        <p:txBody>
          <a:bodyPr wrap="none">
            <a:spAutoFit/>
          </a:bodyPr>
          <a:lstStyle/>
          <a:p>
            <a:pPr/>
            <a:r>
              <a:rPr b="1"/>
              <a:t>The PROIEL platform</a:t>
            </a:r>
          </a:p>
        </p:txBody>
      </p:sp>
      <p:sp>
        <p:nvSpPr>
          <p:cNvPr id="3" name="TextBox 2"/>
          <p:cNvSpPr txBox="1"/>
          <p:nvPr/>
        </p:nvSpPr>
        <p:spPr>
          <a:xfrm>
            <a:off x="0" y="2132856"/>
            <a:ext cx="6336704" cy="864096"/>
          </a:xfrm>
          <a:prstGeom prst="rect">
            <a:avLst/>
          </a:prstGeom>
          <a:noFill/>
        </p:spPr>
        <p:txBody>
          <a:bodyPr>
            <a:spAutoFit/>
          </a:bodyPr>
          <a:lstStyle/>
          <a:p>
            <a:pPr algn="ctr"/>
            <a:r>
              <a:rPr b="1"/>
              <a:t>Open-source software tools and annotation schemes</a:t>
            </a:r>
          </a:p>
        </p:txBody>
      </p:sp>
      <p:sp>
        <p:nvSpPr>
          <p:cNvPr id="4" name="TextBox 3"/>
          <p:cNvSpPr txBox="1"/>
          <p:nvPr/>
        </p:nvSpPr>
        <p:spPr>
          <a:xfrm>
            <a:off x="827584" y="3068960"/>
            <a:ext cx="7200800" cy="1152128"/>
          </a:xfrm>
          <a:prstGeom prst="rect">
            <a:avLst/>
          </a:prstGeom>
          <a:noFill/>
        </p:spPr>
        <p:txBody>
          <a:bodyPr>
            <a:spAutoFit/>
          </a:bodyPr>
          <a:lstStyle/>
          <a:p>
            <a:pPr algn="ctr"/>
            <a:r>
              <a:rPr/>
              <a:t> Annotation guidelines regarding:</a:t>
            </a:r>
          </a:p>
          <a:p>
            <a:pPr algn="ctr"/>
            <a:r>
              <a:rPr/>
              <a:t>tokenization and sentence division (fully automated)</a:t>
            </a:r>
          </a:p>
          <a:p>
            <a:pPr algn="ctr"/>
            <a:r>
              <a:rPr/>
              <a:t>morphological annotation (partly automated)</a:t>
            </a:r>
          </a:p>
          <a:p>
            <a:pPr algn="ctr"/>
            <a:r>
              <a:rPr/>
              <a:t>c) syntactic annotation (manually completed)</a:t>
            </a:r>
          </a:p>
        </p:txBody>
      </p:sp>
      <p:sp>
        <p:nvSpPr>
          <p:cNvPr id="5" name="TextBox 4"/>
          <p:cNvSpPr txBox="1"/>
          <p:nvPr/>
        </p:nvSpPr>
        <p:spPr>
          <a:xfrm>
            <a:off x="1403648" y="4293096"/>
            <a:ext cx="7740352" cy="2016224"/>
          </a:xfrm>
          <a:prstGeom prst="rect">
            <a:avLst/>
          </a:prstGeom>
          <a:noFill/>
        </p:spPr>
        <p:txBody>
          <a:bodyPr>
            <a:spAutoFit/>
          </a:bodyPr>
          <a:lstStyle/>
          <a:p>
            <a:pPr algn="ctr"/>
            <a:r>
              <a:rPr b="1"/>
              <a:t>Dependency grammar scheme </a:t>
            </a:r>
          </a:p>
          <a:p>
            <a:pPr algn="ctr"/>
          </a:p>
          <a:p>
            <a:pPr algn="ctr"/>
            <a:r>
              <a:rPr b="1"/>
              <a:t>Morphological and Syntactic tagset. </a:t>
            </a:r>
          </a:p>
          <a:p>
            <a:pPr algn="just"/>
          </a:p>
          <a:p>
            <a:pPr algn="just"/>
          </a:p>
          <a:p>
            <a:pPr algn="ctr"/>
            <a:r>
              <a:rPr/>
              <a:t>Effective in the analysis of free-word order languages</a:t>
            </a:r>
          </a:p>
        </p:txBody>
      </p:sp>
      <p:sp>
        <p:nvSpPr>
          <p:cNvPr id="6" name="TextBox 5"/>
          <p:cNvSpPr txBox="1"/>
          <p:nvPr/>
        </p:nvSpPr>
        <p:spPr>
          <a:xfrm>
            <a:off x="4932040" y="5301208"/>
            <a:ext cx="360040" cy="504056"/>
          </a:xfrm>
          <a:prstGeom prst="rect">
            <a:avLst/>
          </a:prstGeom>
          <a:noFill/>
        </p:spPr>
        <p:txBody>
          <a:bodyPr>
            <a:spAutoFit/>
          </a:bodyP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0"/>
            <a:ext cx="9144000" cy="457200"/>
          </a:xfrm>
          <a:prstGeom prst="rect">
            <a:avLst/>
          </a:prstGeom>
          <a:noFill/>
        </p:spPr>
        <p:txBody>
          <a:bodyPr wrap="none">
            <a:spAutoFit/>
          </a:bodyPr>
          <a:lstStyle/>
          <a:p>
            <a:pPr algn="l"/>
            <a:r>
              <a:rPr sz="1500" b="0">
                <a:solidFill>
                  <a:srgbClr val="000000"/>
                </a:solidFill>
                <a:latin typeface="Times New Roman"/>
              </a:rPr>
              <a:t>Table 1. The 22 syntactic tagset of PROEIL (Haug 2010).</a:t>
            </a:r>
          </a:p>
          <a:p>
            <a:pPr algn="l"/>
            <a:br/>
          </a:p>
        </p:txBody>
      </p:sp>
      <p:sp>
        <p:nvSpPr>
          <p:cNvPr id="3" name="TextBox 2"/>
          <p:cNvSpPr txBox="1"/>
          <p:nvPr/>
        </p:nvSpPr>
        <p:spPr>
          <a:xfrm>
            <a:off x="1907704" y="5877272"/>
            <a:ext cx="6984776" cy="338554"/>
          </a:xfrm>
          <a:prstGeom prst="rect">
            <a:avLst/>
          </a:prstGeom>
          <a:noFill/>
        </p:spPr>
        <p:txBody>
          <a:bodyPr wrap="square">
            <a:spAutoFit/>
          </a:bodyPr>
          <a:lstStyle/>
          <a:p>
            <a:pPr/>
            <a:r>
              <a:rPr sz="2400" b="1"/>
              <a:t>Table 1. The 22 syntactic tagset of PROEIL (Haug 2010).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475656" y="836712"/>
            <a:ext cx="7200800" cy="1077218"/>
          </a:xfrm>
          <a:prstGeom prst="rect">
            <a:avLst/>
          </a:prstGeom>
          <a:noFill/>
        </p:spPr>
        <p:txBody>
          <a:bodyPr wrap="square">
            <a:spAutoFit/>
          </a:bodyPr>
          <a:lstStyle/>
          <a:p>
            <a:pPr/>
            <a:r>
              <a:rPr sz="4200" b="1"/>
              <a:t>The Corpus Construction Principles</a:t>
            </a:r>
          </a:p>
          <a:p>
            <a:pPr/>
            <a:br/>
          </a:p>
        </p:txBody>
      </p:sp>
      <p:sp>
        <p:nvSpPr>
          <p:cNvPr id="3" name="TextBox 2"/>
          <p:cNvSpPr txBox="1"/>
          <p:nvPr/>
        </p:nvSpPr>
        <p:spPr>
          <a:xfrm>
            <a:off x="611560" y="2420888"/>
            <a:ext cx="2016224" cy="1512168"/>
          </a:xfrm>
          <a:prstGeom prst="rect">
            <a:avLst/>
          </a:prstGeom>
          <a:noFill/>
        </p:spPr>
        <p:txBody>
          <a:bodyPr>
            <a:spAutoFit/>
          </a:bodyPr>
          <a:lstStyle/>
          <a:p>
            <a:pPr algn="ctr"/>
            <a:r>
              <a:rPr b="1"/>
              <a:t>Diachronic and Theoretical (argument structure) Research</a:t>
            </a:r>
          </a:p>
        </p:txBody>
      </p:sp>
      <p:sp>
        <p:nvSpPr>
          <p:cNvPr id="4" name="TextBox 3"/>
          <p:cNvSpPr txBox="1"/>
          <p:nvPr/>
        </p:nvSpPr>
        <p:spPr>
          <a:xfrm>
            <a:off x="3491880" y="2636912"/>
            <a:ext cx="2016224" cy="1512168"/>
          </a:xfrm>
          <a:prstGeom prst="rect">
            <a:avLst/>
          </a:prstGeom>
          <a:noFill/>
        </p:spPr>
        <p:txBody>
          <a:bodyPr>
            <a:spAutoFit/>
          </a:bodyPr>
          <a:lstStyle/>
          <a:p>
            <a:pPr algn="ctr"/>
            <a:r>
              <a:rPr b="1"/>
              <a:t>Digitization</a:t>
            </a:r>
          </a:p>
        </p:txBody>
      </p:sp>
      <p:sp>
        <p:nvSpPr>
          <p:cNvPr id="5" name="TextBox 4"/>
          <p:cNvSpPr txBox="1"/>
          <p:nvPr/>
        </p:nvSpPr>
        <p:spPr>
          <a:xfrm>
            <a:off x="6948264" y="2492896"/>
            <a:ext cx="2016224" cy="1512168"/>
          </a:xfrm>
          <a:prstGeom prst="rect">
            <a:avLst/>
          </a:prstGeom>
          <a:noFill/>
        </p:spPr>
        <p:txBody>
          <a:bodyPr>
            <a:spAutoFit/>
          </a:bodyPr>
          <a:lstStyle/>
          <a:p>
            <a:pPr algn="ctr"/>
            <a:r>
              <a:rPr b="1"/>
              <a:t>Annotation</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03848" y="836712"/>
            <a:ext cx="5544616" cy="5301208"/>
          </a:xfrm>
          <a:prstGeom prst="rect">
            <a:avLst/>
          </a:prstGeom>
          <a:noFill/>
        </p:spPr>
        <p:txBody>
          <a:bodyPr>
            <a:spAutoFit/>
          </a:bodyPr>
          <a:lstStyle/>
          <a:p>
            <a:pPr algn="ctr"/>
          </a:p>
        </p:txBody>
      </p:sp>
      <p:sp>
        <p:nvSpPr>
          <p:cNvPr id="3" name="TextBox 2"/>
          <p:cNvSpPr txBox="1"/>
          <p:nvPr/>
        </p:nvSpPr>
        <p:spPr>
          <a:xfrm>
            <a:off x="179512" y="3068960"/>
            <a:ext cx="2880320" cy="792088"/>
          </a:xfrm>
          <a:prstGeom prst="rect">
            <a:avLst/>
          </a:prstGeom>
          <a:noFill/>
        </p:spPr>
        <p:txBody>
          <a:bodyPr>
            <a:spAutoFit/>
          </a:bodyPr>
          <a:lstStyle/>
          <a:p>
            <a:pPr algn="ctr"/>
            <a:r>
              <a:rPr b="1"/>
              <a:t>4 types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27784" y="1484784"/>
            <a:ext cx="3816424" cy="4392488"/>
          </a:xfrm>
          <a:prstGeom prst="rect">
            <a:avLst/>
          </a:prstGeom>
          <a:noFill/>
        </p:spPr>
        <p:txBody>
          <a:bodyPr>
            <a:spAutoFit/>
          </a:bodyPr>
          <a:lstStyle/>
          <a:p>
            <a:pPr algn="ctr"/>
            <a:r>
              <a:rPr/>
              <a:t>Texts from other open-source treebanks -PROIEL, Perseus database </a:t>
            </a:r>
          </a:p>
          <a:p>
            <a:pPr algn="ctr"/>
            <a:r>
              <a:rPr sz="2100"/>
              <a:t>(in .xml format)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915816" y="1412776"/>
            <a:ext cx="4032448" cy="4320480"/>
          </a:xfrm>
          <a:prstGeom prst="rect">
            <a:avLst/>
          </a:prstGeom>
          <a:noFill/>
        </p:spPr>
        <p:txBody>
          <a:bodyPr>
            <a:spAutoFit/>
          </a:bodyPr>
          <a:lstStyle/>
          <a:p>
            <a:pPr/>
            <a:r>
              <a:rPr/>
              <a:t>B) Texts from online text collections, such as Project Gutenberg or Bible Gateway.</a:t>
            </a:r>
          </a:p>
          <a:p>
            <a:pPr/>
            <a:r>
              <a:rPr/>
              <a:t> </a:t>
            </a:r>
          </a:p>
          <a:p>
            <a:pPr/>
            <a:r>
              <a:rPr sz="2400"/>
              <a:t>(in .txt or .html format)</a:t>
            </a:r>
          </a:p>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987824" y="1340768"/>
            <a:ext cx="4248472" cy="4608512"/>
          </a:xfrm>
          <a:prstGeom prst="rect">
            <a:avLst/>
          </a:prstGeom>
          <a:noFill/>
        </p:spPr>
        <p:txBody>
          <a:bodyPr>
            <a:spAutoFit/>
          </a:bodyPr>
          <a:lstStyle/>
          <a:p>
            <a:pPr/>
            <a:r>
              <a:rPr/>
              <a:t>C) Scanned books or manuscripts from digital libraries and archives (e.g.the Internet Archive)</a:t>
            </a:r>
          </a:p>
          <a:p>
            <a:pPr/>
            <a:r>
              <a:rPr/>
              <a:t> </a:t>
            </a:r>
          </a:p>
          <a:p>
            <a:pPr/>
            <a:r>
              <a:rPr sz="2400"/>
              <a:t>(in .pdf format containing images of the pages)</a:t>
            </a:r>
          </a:p>
          <a:p>
            <a:pPr/>
          </a:p>
          <a:p>
            <a:pPr/>
            <a:r>
              <a:rPr/>
              <a:t>D) Printed books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51520" y="1844824"/>
            <a:ext cx="8712968" cy="1368152"/>
          </a:xfrm>
          <a:prstGeom prst="rect">
            <a:avLst/>
          </a:prstGeom>
          <a:noFill/>
        </p:spPr>
        <p:txBody>
          <a:bodyPr>
            <a:spAutoFit/>
          </a:bodyPr>
          <a:lstStyle/>
          <a:p>
            <a:pPr/>
            <a:r>
              <a:rPr b="1"/>
              <a:t>Sentences:</a:t>
            </a:r>
          </a:p>
          <a:p>
            <a:pPr/>
          </a:p>
          <a:p>
            <a:pPr/>
            <a:r>
              <a:rPr/>
              <a:t>Automatic segmentation</a:t>
            </a:r>
          </a:p>
          <a:p>
            <a:pPr/>
          </a:p>
          <a:p>
            <a:pPr/>
            <a:r>
              <a:rPr/>
              <a:t>Delimiters established by the research team -&gt; punctuation marks  </a:t>
            </a:r>
          </a:p>
        </p:txBody>
      </p:sp>
      <p:sp>
        <p:nvSpPr>
          <p:cNvPr id="3" name="TextBox 2"/>
          <p:cNvSpPr txBox="1"/>
          <p:nvPr/>
        </p:nvSpPr>
        <p:spPr>
          <a:xfrm>
            <a:off x="251520" y="3861048"/>
            <a:ext cx="4248472" cy="1224136"/>
          </a:xfrm>
          <a:prstGeom prst="rect">
            <a:avLst/>
          </a:prstGeom>
          <a:noFill/>
        </p:spPr>
        <p:txBody>
          <a:bodyPr>
            <a:spAutoFit/>
          </a:bodyPr>
          <a:lstStyle/>
          <a:p>
            <a:pPr/>
            <a:r>
              <a:rPr b="1"/>
              <a:t>Challenges:</a:t>
            </a:r>
          </a:p>
          <a:p>
            <a:pPr/>
            <a:r>
              <a:rPr/>
              <a:t>for example: </a:t>
            </a:r>
          </a:p>
          <a:p>
            <a:pPr/>
            <a:r>
              <a:rPr/>
              <a:t>-Modern English: Μr. / Mrs.</a:t>
            </a:r>
          </a:p>
          <a:p>
            <a:pPr/>
            <a:r>
              <a:rPr/>
              <a:t>-Modern Greek: ό,τι (anything)</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403648" y="1700808"/>
            <a:ext cx="6768752" cy="4392488"/>
          </a:xfrm>
          <a:prstGeom prst="rect">
            <a:avLst/>
          </a:prstGeom>
          <a:noFill/>
        </p:spPr>
        <p:txBody>
          <a:bodyPr>
            <a:spAutoFit/>
          </a:bodyPr>
          <a:lstStyle/>
          <a:p>
            <a:pPr algn="ctr"/>
          </a:p>
          <a:p>
            <a:pPr algn="ctr"/>
            <a:r>
              <a:rPr b="1"/>
              <a:t>Creation of IDs for the texts</a:t>
            </a:r>
          </a:p>
          <a:p>
            <a:pPr algn="ctr"/>
          </a:p>
          <a:p>
            <a:pPr algn="ctr"/>
            <a:r>
              <a:rPr b="1"/>
              <a:t>ID information:</a:t>
            </a:r>
          </a:p>
          <a:p>
            <a:pPr algn="ctr"/>
          </a:p>
          <a:p>
            <a:pPr algn="ctr"/>
            <a:r>
              <a:rPr/>
              <a:t>ATHDGC</a:t>
            </a:r>
          </a:p>
          <a:p>
            <a:pPr algn="ctr"/>
          </a:p>
          <a:p>
            <a:pPr algn="ctr"/>
            <a:r>
              <a:rPr/>
              <a:t>Author</a:t>
            </a:r>
          </a:p>
          <a:p>
            <a:pPr algn="ctr"/>
          </a:p>
          <a:p>
            <a:pPr algn="ctr"/>
            <a:r>
              <a:rPr/>
              <a:t>Source Language</a:t>
            </a:r>
          </a:p>
          <a:p>
            <a:pPr algn="ctr"/>
          </a:p>
          <a:p>
            <a:pPr algn="ctr"/>
            <a:r>
              <a:rPr/>
              <a:t>Translator </a:t>
            </a:r>
          </a:p>
          <a:p>
            <a:pPr algn="ctr"/>
          </a:p>
          <a:p>
            <a:pPr algn="ctr"/>
            <a:r>
              <a:rPr/>
              <a:t>Target Language</a:t>
            </a:r>
          </a:p>
          <a:p>
            <a:pPr algn="ctr"/>
          </a:p>
          <a:p>
            <a:pPr algn="ctr"/>
            <a:r>
              <a:rPr/>
              <a:t>Version</a:t>
            </a:r>
          </a:p>
          <a:p>
            <a:pPr algn="ctr"/>
          </a:p>
        </p:txBody>
      </p:sp>
      <p:sp>
        <p:nvSpPr>
          <p:cNvPr id="3" name="TextBox 2"/>
          <p:cNvSpPr txBox="1"/>
          <p:nvPr/>
        </p:nvSpPr>
        <p:spPr>
          <a:xfrm>
            <a:off x="5724128" y="4653136"/>
            <a:ext cx="648072" cy="648072"/>
          </a:xfrm>
          <a:prstGeom prst="rect">
            <a:avLst/>
          </a:prstGeom>
          <a:noFill/>
        </p:spPr>
        <p:txBody>
          <a:bodyPr>
            <a:spAutoFit/>
          </a:bodyPr>
          <a:lstStyle/>
          <a:p>
            <a:pPr algn="ctr"/>
          </a:p>
        </p:txBody>
      </p:sp>
      <p:sp>
        <p:nvSpPr>
          <p:cNvPr id="4" name="TextBox 3"/>
          <p:cNvSpPr txBox="1"/>
          <p:nvPr/>
        </p:nvSpPr>
        <p:spPr>
          <a:xfrm>
            <a:off x="6444208" y="4653136"/>
            <a:ext cx="1728192" cy="864096"/>
          </a:xfrm>
          <a:prstGeom prst="rect">
            <a:avLst/>
          </a:prstGeom>
          <a:noFill/>
        </p:spPr>
        <p:txBody>
          <a:bodyPr>
            <a:spAutoFit/>
          </a:bodyPr>
          <a:lstStyle/>
          <a:p>
            <a:pPr algn="ctr"/>
            <a:r>
              <a:rPr/>
              <a:t>Only for translations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483768" y="3212976"/>
            <a:ext cx="4824536" cy="3024336"/>
          </a:xfrm>
          <a:prstGeom prst="rect">
            <a:avLst/>
          </a:prstGeom>
          <a:noFill/>
        </p:spPr>
        <p:txBody>
          <a:bodyPr>
            <a:spAutoFit/>
          </a:bodyPr>
          <a:lstStyle/>
          <a:p>
            <a:pPr algn="ctr"/>
            <a:r>
              <a:rPr/>
              <a:t>Automatic syntactic annotation</a:t>
            </a:r>
          </a:p>
          <a:p>
            <a:pPr algn="ctr"/>
          </a:p>
          <a:p>
            <a:pPr algn="ctr"/>
          </a:p>
          <a:p>
            <a:pPr algn="ctr"/>
          </a:p>
          <a:p>
            <a:pPr algn="ctr"/>
            <a:r>
              <a:rPr/>
              <a:t>Extraction of syntactic information </a:t>
            </a:r>
          </a:p>
          <a:p>
            <a:pPr algn="ctr"/>
          </a:p>
          <a:p>
            <a:pPr algn="ctr"/>
          </a:p>
          <a:p>
            <a:pPr algn="ctr"/>
          </a:p>
          <a:p>
            <a:pPr algn="ctr"/>
            <a:r>
              <a:rPr/>
              <a:t>Creation of the diachronic Valency Lexicon</a:t>
            </a:r>
          </a:p>
        </p:txBody>
      </p:sp>
      <p:sp>
        <p:nvSpPr>
          <p:cNvPr id="3" name="TextBox 2"/>
          <p:cNvSpPr txBox="1"/>
          <p:nvPr/>
        </p:nvSpPr>
        <p:spPr>
          <a:xfrm>
            <a:off x="4644008" y="3789040"/>
            <a:ext cx="288032" cy="504056"/>
          </a:xfrm>
          <a:prstGeom prst="rect">
            <a:avLst/>
          </a:prstGeom>
          <a:noFill/>
        </p:spPr>
        <p:txBody>
          <a:bodyPr>
            <a:spAutoFit/>
          </a:bodyPr>
          <a:lstStyle/>
          <a:p>
            <a:pPr algn="ctr"/>
          </a:p>
        </p:txBody>
      </p:sp>
      <p:sp>
        <p:nvSpPr>
          <p:cNvPr id="4" name="TextBox 3"/>
          <p:cNvSpPr txBox="1"/>
          <p:nvPr/>
        </p:nvSpPr>
        <p:spPr>
          <a:xfrm>
            <a:off x="3779912" y="2636912"/>
            <a:ext cx="1882247" cy="523220"/>
          </a:xfrm>
          <a:prstGeom prst="rect">
            <a:avLst/>
          </a:prstGeom>
          <a:noFill/>
        </p:spPr>
        <p:txBody>
          <a:bodyPr wrap="none">
            <a:spAutoFit/>
          </a:bodyPr>
          <a:lstStyle/>
          <a:p>
            <a:pPr algn="ctr"/>
            <a:r>
              <a:rPr sz="4200" b="1"/>
              <a:t>Main goal</a:t>
            </a:r>
          </a:p>
        </p:txBody>
      </p:sp>
      <p:sp>
        <p:nvSpPr>
          <p:cNvPr id="5" name="TextBox 4"/>
          <p:cNvSpPr txBox="1"/>
          <p:nvPr/>
        </p:nvSpPr>
        <p:spPr>
          <a:xfrm>
            <a:off x="4644008" y="4797152"/>
            <a:ext cx="288032" cy="504056"/>
          </a:xfrm>
          <a:prstGeom prst="rect">
            <a:avLst/>
          </a:prstGeom>
          <a:noFill/>
        </p:spPr>
        <p:txBody>
          <a:bodyPr>
            <a:spAutoFit/>
          </a:bodyPr>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2540949"/>
            <a:ext cx="6502878" cy="1479155"/>
          </a:xfrm>
          <a:prstGeom prst="rect">
            <a:avLst/>
          </a:prstGeom>
          <a:noFill/>
        </p:spPr>
        <p:txBody>
          <a:bodyPr>
            <a:spAutoFit/>
          </a:bodyPr>
          <a:lstStyle/>
          <a:p>
            <a:pPr/>
            <a:r>
              <a:rPr/>
              <a:t>Middle alternation</a:t>
            </a:r>
          </a:p>
          <a:p>
            <a:pPr/>
            <a:r>
              <a:rPr/>
              <a:t>	Jane broke the crystal. // The crystal broke.</a:t>
            </a:r>
          </a:p>
          <a:p>
            <a:pPr/>
            <a:r>
              <a:rPr>
                <a:solidFill>
                  <a:srgbClr val="0070C0"/>
                </a:solidFill>
              </a:rPr>
              <a:t>	Margaret cut the board. // ??The board cut.</a:t>
            </a:r>
          </a:p>
        </p:txBody>
      </p:sp>
      <p:sp>
        <p:nvSpPr>
          <p:cNvPr id="3" name="TextBox 2"/>
          <p:cNvSpPr txBox="1"/>
          <p:nvPr/>
        </p:nvSpPr>
        <p:spPr>
          <a:xfrm>
            <a:off x="1187624" y="3794123"/>
            <a:ext cx="6502878" cy="1479155"/>
          </a:xfrm>
          <a:prstGeom prst="rect">
            <a:avLst/>
          </a:prstGeom>
          <a:noFill/>
        </p:spPr>
        <p:txBody>
          <a:bodyPr>
            <a:spAutoFit/>
          </a:bodyPr>
          <a:lstStyle/>
          <a:p>
            <a:pPr/>
            <a:r>
              <a:rPr/>
              <a:t>Causative/Inchoative alternation</a:t>
            </a:r>
          </a:p>
          <a:p>
            <a:pPr/>
            <a:r>
              <a:rPr/>
              <a:t>	They stood the statue on the pedestal. </a:t>
            </a:r>
          </a:p>
          <a:p>
            <a:pPr/>
            <a:r>
              <a:rPr>
                <a:solidFill>
                  <a:srgbClr val="0070C0"/>
                </a:solidFill>
              </a:rPr>
              <a:t>	The statue stood on the pedestal.</a:t>
            </a:r>
          </a:p>
        </p:txBody>
      </p:sp>
      <p:sp>
        <p:nvSpPr>
          <p:cNvPr id="4" name="TextBox 3"/>
          <p:cNvSpPr txBox="1"/>
          <p:nvPr/>
        </p:nvSpPr>
        <p:spPr>
          <a:xfrm>
            <a:off x="2627784" y="5068257"/>
            <a:ext cx="6502878" cy="1479155"/>
          </a:xfrm>
          <a:prstGeom prst="rect">
            <a:avLst/>
          </a:prstGeom>
          <a:noFill/>
        </p:spPr>
        <p:txBody>
          <a:bodyPr>
            <a:spAutoFit/>
          </a:bodyPr>
          <a:lstStyle/>
          <a:p>
            <a:pPr/>
            <a:r>
              <a:rPr/>
              <a:t>Dative alternation</a:t>
            </a:r>
          </a:p>
          <a:p>
            <a:pPr/>
            <a:r>
              <a:rPr/>
              <a:t>	They gave him cake.</a:t>
            </a:r>
          </a:p>
          <a:p>
            <a:pPr/>
            <a:r>
              <a:rPr>
                <a:solidFill>
                  <a:srgbClr val="0070C0"/>
                </a:solidFill>
              </a:rPr>
              <a:t>	They gave cake to him.</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1615274"/>
            <a:ext cx="6502878" cy="1813726"/>
          </a:xfrm>
          <a:prstGeom prst="rect">
            <a:avLst/>
          </a:prstGeom>
          <a:noFill/>
        </p:spPr>
        <p:txBody>
          <a:bodyPr>
            <a:spAutoFit/>
          </a:bodyPr>
          <a:lstStyle/>
          <a:p>
            <a:pPr/>
            <a:r>
              <a:rPr sz="3000"/>
              <a:t>Unspecified Object Alternation</a:t>
            </a:r>
          </a:p>
          <a:p>
            <a:pPr/>
            <a:r>
              <a:rPr/>
              <a:t>	Mike ate all the cake.</a:t>
            </a:r>
          </a:p>
          <a:p>
            <a:pPr/>
            <a:r>
              <a:rPr>
                <a:solidFill>
                  <a:srgbClr val="0070C0"/>
                </a:solidFill>
              </a:rPr>
              <a:t>	Mike ate.</a:t>
            </a:r>
          </a:p>
          <a:p>
            <a:pPr/>
            <a:r>
              <a:rPr>
                <a:solidFill>
                  <a:srgbClr val="0070C0"/>
                </a:solidFill>
              </a:rPr>
              <a:t>	Mike put the flowers in the vase.</a:t>
            </a:r>
          </a:p>
          <a:p>
            <a:pPr/>
            <a:r>
              <a:rPr>
                <a:solidFill>
                  <a:srgbClr val="0070C0"/>
                </a:solidFill>
              </a:rPr>
              <a:t>	??Mike put. </a:t>
            </a:r>
          </a:p>
        </p:txBody>
      </p:sp>
      <p:sp>
        <p:nvSpPr>
          <p:cNvPr id="3" name="TextBox 2"/>
          <p:cNvSpPr txBox="1"/>
          <p:nvPr/>
        </p:nvSpPr>
        <p:spPr>
          <a:xfrm>
            <a:off x="1320561" y="3216959"/>
            <a:ext cx="6502878" cy="1813726"/>
          </a:xfrm>
          <a:prstGeom prst="rect">
            <a:avLst/>
          </a:prstGeom>
          <a:noFill/>
        </p:spPr>
        <p:txBody>
          <a:bodyPr>
            <a:spAutoFit/>
          </a:bodyPr>
          <a:lstStyle/>
          <a:p>
            <a:pPr/>
            <a:r>
              <a:rPr sz="3000"/>
              <a:t>Understood Reflexive Object Alternation</a:t>
            </a:r>
          </a:p>
          <a:p>
            <a:pPr/>
            <a:r>
              <a:rPr/>
              <a:t>	Jill dressed herself in a hurry.</a:t>
            </a:r>
          </a:p>
          <a:p>
            <a:pPr/>
            <a:r>
              <a:rPr>
                <a:solidFill>
                  <a:srgbClr val="0070C0"/>
                </a:solidFill>
              </a:rPr>
              <a:t>	Jill dressed in a hurry.</a:t>
            </a:r>
          </a:p>
          <a:p>
            <a:pPr/>
            <a:r>
              <a:rPr>
                <a:solidFill>
                  <a:srgbClr val="0070C0"/>
                </a:solidFill>
              </a:rPr>
              <a:t>	Jill cut herself.</a:t>
            </a:r>
          </a:p>
          <a:p>
            <a:pPr/>
            <a:r>
              <a:rPr>
                <a:solidFill>
                  <a:srgbClr val="0070C0"/>
                </a:solidFill>
              </a:rPr>
              <a:t>	??Jill cut.</a:t>
            </a:r>
          </a:p>
        </p:txBody>
      </p:sp>
      <p:sp>
        <p:nvSpPr>
          <p:cNvPr id="4" name="TextBox 3"/>
          <p:cNvSpPr txBox="1"/>
          <p:nvPr/>
        </p:nvSpPr>
        <p:spPr>
          <a:xfrm>
            <a:off x="2627784" y="4796959"/>
            <a:ext cx="6502878" cy="1813726"/>
          </a:xfrm>
          <a:prstGeom prst="rect">
            <a:avLst/>
          </a:prstGeom>
          <a:noFill/>
        </p:spPr>
        <p:txBody>
          <a:bodyPr>
            <a:spAutoFit/>
          </a:bodyPr>
          <a:lstStyle/>
          <a:p>
            <a:pPr/>
            <a:r>
              <a:rPr sz="3000"/>
              <a:t>6.    Understood Reciprocal Object Alternation</a:t>
            </a:r>
          </a:p>
          <a:p>
            <a:pPr/>
            <a:r>
              <a:rPr/>
              <a:t>	Anne met Cathy.</a:t>
            </a:r>
          </a:p>
          <a:p>
            <a:pPr/>
            <a:r>
              <a:rPr>
                <a:solidFill>
                  <a:srgbClr val="0070C0"/>
                </a:solidFill>
              </a:rPr>
              <a:t>	Anne and Cathy met.</a:t>
            </a:r>
          </a:p>
          <a:p>
            <a:pPr/>
            <a:r>
              <a:rPr>
                <a:solidFill>
                  <a:srgbClr val="0070C0"/>
                </a:solidFill>
              </a:rPr>
              <a:t>	Joe and Carter gossiped.</a:t>
            </a:r>
          </a:p>
          <a:p>
            <a:pPr/>
            <a:r>
              <a:rPr>
                <a:solidFill>
                  <a:srgbClr val="0070C0"/>
                </a:solidFill>
              </a:rPr>
              <a:t>	??Joe gossiped Carter.</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43180" y="1571732"/>
            <a:ext cx="7214138" cy="1887334"/>
          </a:xfrm>
          <a:prstGeom prst="rect">
            <a:avLst/>
          </a:prstGeom>
          <a:noFill/>
        </p:spPr>
        <p:txBody>
          <a:bodyPr>
            <a:spAutoFit/>
          </a:bodyPr>
          <a:lstStyle/>
          <a:p>
            <a:pPr/>
            <a:r>
              <a:rPr sz="3000"/>
              <a:t>Locative preposition drop</a:t>
            </a:r>
          </a:p>
          <a:p>
            <a:pPr/>
            <a:r>
              <a:rPr sz="3000"/>
              <a:t>	Martha climbed up a mountain.</a:t>
            </a:r>
          </a:p>
          <a:p>
            <a:pPr/>
            <a:r>
              <a:rPr>
                <a:solidFill>
                  <a:srgbClr val="0070C0"/>
                </a:solidFill>
              </a:rPr>
              <a:t>	Martha climbed a mountain.</a:t>
            </a:r>
          </a:p>
          <a:p>
            <a:pPr/>
            <a:r>
              <a:rPr>
                <a:solidFill>
                  <a:srgbClr val="0070C0"/>
                </a:solidFill>
              </a:rPr>
              <a:t>	Sharon came into the room.</a:t>
            </a:r>
          </a:p>
          <a:p>
            <a:pPr/>
            <a:r>
              <a:rPr>
                <a:solidFill>
                  <a:srgbClr val="0070C0"/>
                </a:solidFill>
              </a:rPr>
              <a:t>	??Sharon came the room.</a:t>
            </a:r>
          </a:p>
        </p:txBody>
      </p:sp>
      <p:sp>
        <p:nvSpPr>
          <p:cNvPr id="3" name="TextBox 2"/>
          <p:cNvSpPr txBox="1"/>
          <p:nvPr/>
        </p:nvSpPr>
        <p:spPr>
          <a:xfrm>
            <a:off x="1835696" y="3252469"/>
            <a:ext cx="7128792" cy="1760895"/>
          </a:xfrm>
          <a:prstGeom prst="rect">
            <a:avLst/>
          </a:prstGeom>
          <a:noFill/>
        </p:spPr>
        <p:txBody>
          <a:bodyPr>
            <a:spAutoFit/>
          </a:bodyPr>
          <a:lstStyle/>
          <a:p>
            <a:pPr/>
            <a:r>
              <a:rPr sz="2400"/>
              <a:t>8.    Benefactive Alternation</a:t>
            </a:r>
          </a:p>
          <a:p>
            <a:pPr/>
            <a:r>
              <a:rPr/>
              <a:t>	Martha carved a toy for the baby.</a:t>
            </a:r>
          </a:p>
          <a:p>
            <a:pPr/>
            <a:r>
              <a:rPr>
                <a:solidFill>
                  <a:srgbClr val="0070C0"/>
                </a:solidFill>
              </a:rPr>
              <a:t>	Martha carved the baby a toy.</a:t>
            </a:r>
          </a:p>
          <a:p>
            <a:pPr/>
            <a:r>
              <a:rPr>
                <a:solidFill>
                  <a:srgbClr val="0070C0"/>
                </a:solidFill>
              </a:rPr>
              <a:t>	The architect selected a house for the couple.</a:t>
            </a:r>
          </a:p>
          <a:p>
            <a:pPr/>
            <a:r>
              <a:rPr>
                <a:solidFill>
                  <a:srgbClr val="0070C0"/>
                </a:solidFill>
              </a:rPr>
              <a:t>	?? The architect selected	the couple a house.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861597" y="2780928"/>
            <a:ext cx="7488832" cy="1512168"/>
          </a:xfrm>
          <a:prstGeom prst="rect">
            <a:avLst/>
          </a:prstGeom>
          <a:noFill/>
        </p:spPr>
        <p:txBody>
          <a:bodyPr>
            <a:spAutoFit/>
          </a:bodyPr>
          <a:lstStyle/>
          <a:p>
            <a:pPr/>
            <a:r>
              <a:rPr/>
              <a:t>Challenges: automatic dictionary does not recognize different tokens of the same words </a:t>
            </a:r>
          </a:p>
          <a:p>
            <a:pPr/>
            <a:r>
              <a:rPr/>
              <a:t>	 harder tokenization</a:t>
            </a:r>
          </a:p>
          <a:p>
            <a:pPr/>
            <a:r>
              <a:rPr/>
              <a:t>	 harder for the automatic morphological parser</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19339" y="2116622"/>
            <a:ext cx="3600400" cy="4248472"/>
          </a:xfrm>
          <a:prstGeom prst="rect">
            <a:avLst/>
          </a:prstGeom>
          <a:noFill/>
        </p:spPr>
        <p:txBody>
          <a:bodyPr>
            <a:spAutoFit/>
          </a:bodyPr>
          <a:lstStyle/>
          <a:p>
            <a:pPr/>
            <a:r>
              <a:rPr sz="3600"/>
              <a:t>Possible solutions:</a:t>
            </a:r>
          </a:p>
          <a:p>
            <a:pPr lvl="1"/>
            <a:r>
              <a:rPr sz="3000"/>
              <a:t>do not extract subjects at all (e.g. HoDeL, see Zanchi 2021; Syntacticus for PROIEL)</a:t>
            </a:r>
          </a:p>
          <a:p>
            <a:pPr lvl="1"/>
            <a:r>
              <a:rPr sz="3000"/>
              <a:t>fully-manual annotation (e.g. PaVeDa, see Luraghi et al. 2024)</a:t>
            </a:r>
          </a:p>
          <a:p>
            <a:pPr algn="ctr"/>
          </a:p>
        </p:txBody>
      </p:sp>
      <p:sp>
        <p:nvSpPr>
          <p:cNvPr id="3" name="TextBox 2"/>
          <p:cNvSpPr txBox="1"/>
          <p:nvPr/>
        </p:nvSpPr>
        <p:spPr>
          <a:xfrm>
            <a:off x="4827373" y="2116622"/>
            <a:ext cx="3600400" cy="4248472"/>
          </a:xfrm>
          <a:prstGeom prst="rect">
            <a:avLst/>
          </a:prstGeom>
          <a:noFill/>
        </p:spPr>
        <p:txBody>
          <a:bodyPr>
            <a:spAutoFit/>
          </a:bodyPr>
          <a:lstStyle/>
          <a:p>
            <a:pPr/>
            <a:r>
              <a:rPr sz="3600"/>
              <a:t>Our decision:</a:t>
            </a:r>
          </a:p>
          <a:p>
            <a:pPr lvl="1"/>
            <a:r>
              <a:rPr sz="3000"/>
              <a:t>Extract all overt subjects </a:t>
            </a:r>
          </a:p>
          <a:p>
            <a:pPr lvl="1"/>
            <a:r>
              <a:rPr sz="3000"/>
              <a:t>If overt subject not present  mark the subject as expressed by the verb suffix (V[subj])</a:t>
            </a:r>
          </a:p>
          <a:p>
            <a:pPr lvl="1"/>
            <a:r>
              <a:rPr sz="3000"/>
              <a:t>Manually delete the subject from avalent verbs</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995798" y="3140968"/>
            <a:ext cx="7152403" cy="1592293"/>
          </a:xfrm>
          <a:prstGeom prst="rect">
            <a:avLst/>
          </a:prstGeom>
          <a:noFill/>
        </p:spPr>
        <p:txBody>
          <a:bodyPr>
            <a:spAutoFit/>
          </a:bodyPr>
          <a:lstStyle/>
          <a:p>
            <a:pPr lvl="1"/>
            <a:r>
              <a:rPr sz="3000"/>
              <a:t>aorist = [+past], [+perfective], </a:t>
            </a:r>
          </a:p>
          <a:p>
            <a:pPr lvl="1"/>
            <a:r>
              <a:rPr sz="3000"/>
              <a:t>imperfect = [+past], [-perfective] </a:t>
            </a:r>
          </a:p>
          <a:p>
            <a:pPr lvl="1"/>
          </a:p>
          <a:p>
            <a:pPr lvl="1" algn="r"/>
            <a:r>
              <a:rPr sz="2100"/>
              <a:t>(Holton, Mackridge, and Philippaki-Warburton 2014: 121-122)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995071" y="2107646"/>
            <a:ext cx="3318433" cy="3553602"/>
          </a:xfrm>
          <a:prstGeom prst="rect">
            <a:avLst/>
          </a:prstGeom>
          <a:noFill/>
        </p:spPr>
        <p:txBody>
          <a:bodyPr>
            <a:spAutoFit/>
          </a:bodyPr>
          <a:lstStyle/>
          <a:p>
            <a:pPr algn="ctr"/>
            <a:r>
              <a:rPr sz="3000" b="1"/>
              <a:t>CoNLL-U vs PROEIL:</a:t>
            </a:r>
          </a:p>
          <a:p>
            <a:pPr/>
            <a:r>
              <a:rPr sz="3000"/>
              <a:t>PROIEL has more fine-grained distinctions compared to UD-ConLL structural differences</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419600" y="3276600"/>
            <a:ext cx="304800" cy="304800"/>
          </a:xfrm>
          <a:prstGeom prst="rect">
            <a:avLst/>
          </a:prstGeom>
          <a:noFill/>
        </p:spPr>
        <p:txBody>
          <a:bodyPr wrap="square">
            <a:spAutoFit/>
          </a:bodyPr>
          <a:lstStyle/>
          <a:p>
            <a:pP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923928" y="2492896"/>
            <a:ext cx="5220072" cy="3456384"/>
          </a:xfrm>
          <a:prstGeom prst="rect">
            <a:avLst/>
          </a:prstGeom>
          <a:noFill/>
        </p:spPr>
        <p:txBody>
          <a:bodyPr>
            <a:spAutoFit/>
          </a:bodyPr>
          <a:lstStyle/>
          <a:p>
            <a:pPr algn="ctr"/>
            <a:r>
              <a:rPr sz="3000" b="1"/>
              <a:t>Benefit:</a:t>
            </a:r>
          </a:p>
          <a:p>
            <a:pPr algn="ctr"/>
            <a:r>
              <a:rPr sz="3000"/>
              <a:t>Ready-made dictionaries </a:t>
            </a:r>
          </a:p>
          <a:p>
            <a:pPr algn="ctr"/>
          </a:p>
          <a:p>
            <a:pPr algn="ctr"/>
          </a:p>
          <a:p>
            <a:pPr algn="ctr"/>
          </a:p>
          <a:p>
            <a:pPr algn="ctr"/>
          </a:p>
          <a:p>
            <a:pPr algn="ctr"/>
            <a:r>
              <a:rPr sz="3000" b="1"/>
              <a:t>lemmatization of the texts </a:t>
            </a:r>
          </a:p>
          <a:p>
            <a:pPr algn="ctr"/>
          </a:p>
          <a:p>
            <a:pPr algn="ctr"/>
            <a:r>
              <a:rPr sz="3000" b="1"/>
              <a:t>creation of an annotation basis for the corpus.</a:t>
            </a:r>
          </a:p>
        </p:txBody>
      </p:sp>
      <p:sp>
        <p:nvSpPr>
          <p:cNvPr id="3" name="TextBox 2"/>
          <p:cNvSpPr txBox="1"/>
          <p:nvPr/>
        </p:nvSpPr>
        <p:spPr>
          <a:xfrm>
            <a:off x="6300192" y="3429000"/>
            <a:ext cx="288032" cy="1008112"/>
          </a:xfrm>
          <a:prstGeom prst="rect">
            <a:avLst/>
          </a:prstGeom>
          <a:noFill/>
        </p:spPr>
        <p:txBody>
          <a:bodyPr>
            <a:spAutoFit/>
          </a:bodyPr>
          <a:lstStyle/>
          <a:p>
            <a:pPr algn="ctr"/>
          </a:p>
        </p:txBody>
      </p:sp>
      <p:sp>
        <p:nvSpPr>
          <p:cNvPr id="4" name="TextBox 3"/>
          <p:cNvSpPr txBox="1"/>
          <p:nvPr/>
        </p:nvSpPr>
        <p:spPr>
          <a:xfrm>
            <a:off x="467544" y="1268760"/>
            <a:ext cx="3456384" cy="3816424"/>
          </a:xfrm>
          <a:prstGeom prst="rect">
            <a:avLst/>
          </a:prstGeom>
          <a:noFill/>
        </p:spPr>
        <p:txBody>
          <a:bodyPr>
            <a:spAutoFit/>
          </a:bodyPr>
          <a:lstStyle/>
          <a:p>
            <a:pPr algn="ctr"/>
            <a:r>
              <a:rPr/>
              <a:t>Texts from other open-source treebanks -PROIEL, Perseus database </a:t>
            </a:r>
          </a:p>
          <a:p>
            <a:pPr algn="ctr"/>
            <a:r>
              <a:rPr sz="2100"/>
              <a:t>(in .xml format)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572000" y="2996952"/>
            <a:ext cx="4104456" cy="1440160"/>
          </a:xfrm>
          <a:prstGeom prst="rect">
            <a:avLst/>
          </a:prstGeom>
          <a:noFill/>
        </p:spPr>
        <p:txBody>
          <a:bodyPr>
            <a:spAutoFit/>
          </a:bodyPr>
          <a:lstStyle/>
          <a:p>
            <a:pPr/>
            <a:r>
              <a:rPr b="1"/>
              <a:t>Limitation: </a:t>
            </a:r>
          </a:p>
          <a:p>
            <a:pPr/>
            <a:r>
              <a:rPr/>
              <a:t>unwanted characters -&gt; difficult to process.</a:t>
            </a:r>
          </a:p>
          <a:p>
            <a:pPr/>
          </a:p>
        </p:txBody>
      </p:sp>
      <p:sp>
        <p:nvSpPr>
          <p:cNvPr id="3" name="TextBox 2"/>
          <p:cNvSpPr txBox="1"/>
          <p:nvPr/>
        </p:nvSpPr>
        <p:spPr>
          <a:xfrm>
            <a:off x="4499992" y="4653136"/>
            <a:ext cx="4248472" cy="1368152"/>
          </a:xfrm>
          <a:prstGeom prst="rect">
            <a:avLst/>
          </a:prstGeom>
          <a:noFill/>
        </p:spPr>
        <p:txBody>
          <a:bodyPr>
            <a:spAutoFit/>
          </a:bodyPr>
          <a:lstStyle/>
          <a:p>
            <a:pPr/>
            <a:r>
              <a:rPr b="1"/>
              <a:t>Solution:</a:t>
            </a:r>
          </a:p>
          <a:p>
            <a:pPr/>
            <a:r>
              <a:rPr/>
              <a:t>Manual review, before importing them into the database.</a:t>
            </a:r>
          </a:p>
        </p:txBody>
      </p:sp>
      <p:sp>
        <p:nvSpPr>
          <p:cNvPr id="4" name="TextBox 3"/>
          <p:cNvSpPr txBox="1"/>
          <p:nvPr/>
        </p:nvSpPr>
        <p:spPr>
          <a:xfrm>
            <a:off x="539552" y="1484784"/>
            <a:ext cx="3456384" cy="3816424"/>
          </a:xfrm>
          <a:prstGeom prst="rect">
            <a:avLst/>
          </a:prstGeom>
          <a:noFill/>
        </p:spPr>
        <p:txBody>
          <a:bodyPr>
            <a:spAutoFit/>
          </a:bodyPr>
          <a:lstStyle/>
          <a:p>
            <a:pPr/>
            <a:r>
              <a:rPr/>
              <a:t>B) Texts from online text collections, such as Project Gutenberg or Bible Gateway.</a:t>
            </a:r>
          </a:p>
          <a:p>
            <a:pPr/>
            <a:r>
              <a:rPr/>
              <a:t> </a:t>
            </a:r>
          </a:p>
          <a:p>
            <a:pPr/>
            <a:r>
              <a:rPr sz="2400"/>
              <a:t>(in .txt or .html format)</a:t>
            </a:r>
          </a:p>
          <a:p>
            <a:pPr algn="ct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1484784"/>
            <a:ext cx="3995936" cy="4320480"/>
          </a:xfrm>
          <a:prstGeom prst="rect">
            <a:avLst/>
          </a:prstGeom>
          <a:noFill/>
        </p:spPr>
        <p:txBody>
          <a:bodyPr>
            <a:spAutoFit/>
          </a:bodyPr>
          <a:lstStyle/>
          <a:p>
            <a:pPr/>
            <a:r>
              <a:rPr/>
              <a:t>C) Scanned books or manuscripts from digital libraries and archives (e.g.the Internet Archive)</a:t>
            </a:r>
          </a:p>
          <a:p>
            <a:pPr/>
            <a:r>
              <a:rPr/>
              <a:t> </a:t>
            </a:r>
          </a:p>
          <a:p>
            <a:pPr/>
            <a:r>
              <a:rPr sz="2400"/>
              <a:t>(in .pdf format containing images of the pages)</a:t>
            </a:r>
          </a:p>
          <a:p>
            <a:pPr/>
          </a:p>
          <a:p>
            <a:pPr/>
            <a:r>
              <a:rPr/>
              <a:t>D) Printed books</a:t>
            </a:r>
          </a:p>
        </p:txBody>
      </p:sp>
      <p:sp>
        <p:nvSpPr>
          <p:cNvPr id="3" name="TextBox 2"/>
          <p:cNvSpPr txBox="1"/>
          <p:nvPr/>
        </p:nvSpPr>
        <p:spPr>
          <a:xfrm>
            <a:off x="3923928" y="2852936"/>
            <a:ext cx="5112568" cy="3096344"/>
          </a:xfrm>
          <a:prstGeom prst="rect">
            <a:avLst/>
          </a:prstGeom>
          <a:noFill/>
        </p:spPr>
        <p:txBody>
          <a:bodyPr>
            <a:spAutoFit/>
          </a:bodyPr>
          <a:lstStyle/>
          <a:p>
            <a:pPr/>
            <a:r>
              <a:rPr b="1"/>
              <a:t>Digitization-&gt;Optional Character Recognition (OCR) </a:t>
            </a:r>
          </a:p>
          <a:p>
            <a:pPr/>
          </a:p>
          <a:p>
            <a:pPr/>
            <a:r>
              <a:rPr/>
              <a:t>ABBYY FineReader  (Latin, English, </a:t>
            </a:r>
          </a:p>
          <a:p>
            <a:pPr/>
            <a:r>
              <a:rPr/>
              <a:t>Old French)</a:t>
            </a:r>
          </a:p>
          <a:p>
            <a:pPr/>
          </a:p>
          <a:p>
            <a:pPr/>
            <a:r>
              <a:rPr/>
              <a:t>2) Google Lens (Greek)</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spAutoFit/>
          </a:bodyPr>
          <a:lstStyle/>
          <a:p>
            <a:pPr algn="ctr">
              <a:defRPr sz="4800" b="1">
                <a:solidFill>
                  <a:srgbClr val="2A5298"/>
                </a:solidFill>
              </a:defRPr>
            </a:pPr>
            <a:r>
              <a:t>References</a:t>
            </a:r>
          </a:p>
        </p:txBody>
      </p:sp>
      <p:sp>
        <p:nvSpPr>
          <p:cNvPr id="3" name="TextBox 2"/>
          <p:cNvSpPr txBox="1"/>
          <p:nvPr/>
        </p:nvSpPr>
        <p:spPr>
          <a:xfrm>
            <a:off x="457200" y="1371600"/>
            <a:ext cx="4114800" cy="5029200"/>
          </a:xfrm>
          <a:prstGeom prst="rect">
            <a:avLst/>
          </a:prstGeom>
          <a:noFill/>
        </p:spPr>
        <p:txBody>
          <a:bodyPr wrap="square">
            <a:spAutoFit/>
          </a:bodyPr>
          <a:lstStyle/>
          <a:p>
            <a:pPr>
              <a:spcAft>
                <a:spcPts val="1000"/>
              </a:spcAft>
              <a:defRPr sz="1400">
                <a:solidFill>
                  <a:srgbClr val="1E293B"/>
                </a:solidFill>
                <a:latin typeface="Arial"/>
              </a:defRPr>
            </a:pPr>
            <a:r>
              <a:t>Sitaridou, I. (2014). The Romeyka Infinitive: Continuity, Contact and Change in the Hellenic Varieties of Pontus. Diachronica, 31(1), 23-73.</a:t>
            </a:r>
          </a:p>
          <a:p>
            <a:pPr>
              <a:spcAft>
                <a:spcPts val="1000"/>
              </a:spcAft>
              <a:defRPr sz="1400">
                <a:solidFill>
                  <a:srgbClr val="1E293B"/>
                </a:solidFill>
                <a:latin typeface="Arial"/>
              </a:defRPr>
            </a:pPr>
          </a:p>
          <a:p>
            <a:pPr>
              <a:spcAft>
                <a:spcPts val="1000"/>
              </a:spcAft>
              <a:defRPr sz="1400">
                <a:solidFill>
                  <a:srgbClr val="1E293B"/>
                </a:solidFill>
                <a:latin typeface="Arial"/>
              </a:defRPr>
            </a:pPr>
            <a:r>
              <a:t>Sitaridou, I. (2012). A comparative study of word order in Old Romance. Folia Linguistica, 46(2), 553-604.</a:t>
            </a:r>
          </a:p>
          <a:p>
            <a:pPr>
              <a:spcAft>
                <a:spcPts val="1000"/>
              </a:spcAft>
              <a:defRPr sz="1400">
                <a:solidFill>
                  <a:srgbClr val="1E293B"/>
                </a:solidFill>
                <a:latin typeface="Arial"/>
              </a:defRPr>
            </a:pPr>
          </a:p>
          <a:p>
            <a:pPr>
              <a:spcAft>
                <a:spcPts val="1000"/>
              </a:spcAft>
              <a:defRPr sz="1400">
                <a:solidFill>
                  <a:srgbClr val="1E293B"/>
                </a:solidFill>
                <a:latin typeface="Arial"/>
              </a:defRPr>
            </a:pPr>
            <a:r>
              <a:t>Nikiforidou, K. (1991). The meanings of the genitive: A case study in semantic structure and semantic change. Cognitive Linguistics, 2(2), 149-206.</a:t>
            </a:r>
          </a:p>
          <a:p>
            <a:pPr>
              <a:spcAft>
                <a:spcPts val="1000"/>
              </a:spcAft>
              <a:defRPr sz="1400">
                <a:solidFill>
                  <a:srgbClr val="1E293B"/>
                </a:solidFill>
                <a:latin typeface="Arial"/>
              </a:defRPr>
            </a:pPr>
          </a:p>
          <a:p>
            <a:pPr>
              <a:spcAft>
                <a:spcPts val="1000"/>
              </a:spcAft>
              <a:defRPr sz="1400">
                <a:solidFill>
                  <a:srgbClr val="1E293B"/>
                </a:solidFill>
                <a:latin typeface="Arial"/>
              </a:defRPr>
            </a:pPr>
            <a:r>
              <a:t>Nikiforidou, K., Marmaridou, S., &amp; Mikros, G. K. (2014). What's in a dialogic construction? A constructional approach to polysemy and the grammar of challenge. Cognitive Linguistics, 25(4), 655-699.</a:t>
            </a:r>
          </a:p>
        </p:txBody>
      </p:sp>
      <p:sp>
        <p:nvSpPr>
          <p:cNvPr id="4" name="TextBox 3"/>
          <p:cNvSpPr txBox="1"/>
          <p:nvPr/>
        </p:nvSpPr>
        <p:spPr>
          <a:xfrm>
            <a:off x="4800600" y="1371600"/>
            <a:ext cx="4114800" cy="5029200"/>
          </a:xfrm>
          <a:prstGeom prst="rect">
            <a:avLst/>
          </a:prstGeom>
          <a:noFill/>
        </p:spPr>
        <p:txBody>
          <a:bodyPr wrap="square">
            <a:spAutoFit/>
          </a:bodyPr>
          <a:lstStyle/>
          <a:p>
            <a:pPr>
              <a:spcAft>
                <a:spcPts val="1000"/>
              </a:spcAft>
              <a:defRPr sz="1400">
                <a:solidFill>
                  <a:srgbClr val="1E293B"/>
                </a:solidFill>
                <a:latin typeface="Arial"/>
              </a:defRPr>
            </a:pPr>
            <a:r>
              <a:t>Lavidas, N., &amp; Haug, D. T. T. (2020). Postclassical Greek and Treebanks for a Diachronic Analysis. In D. Rafiyenko &amp; I. A. Seržant (Eds.), Postclassical Greek: Contemporary Approaches to Philology and Linguistics (pp. 163-202). De Gruyter Mouton.</a:t>
            </a:r>
          </a:p>
          <a:p>
            <a:pPr>
              <a:spcAft>
                <a:spcPts val="1000"/>
              </a:spcAft>
              <a:defRPr sz="1400">
                <a:solidFill>
                  <a:srgbClr val="1E293B"/>
                </a:solidFill>
                <a:latin typeface="Arial"/>
              </a:defRPr>
            </a:pPr>
          </a:p>
          <a:p>
            <a:pPr>
              <a:spcAft>
                <a:spcPts val="1000"/>
              </a:spcAft>
              <a:defRPr sz="1400">
                <a:solidFill>
                  <a:srgbClr val="1E293B"/>
                </a:solidFill>
                <a:latin typeface="Arial"/>
              </a:defRPr>
            </a:pPr>
            <a:r>
              <a:t>Mikros, G. K. (2005). Basic quantitative characteristics of the Modern Greek language using the Hellenic National Corpus. Journal of Quantitative Linguistics, 12(2-3), 167-184.</a:t>
            </a:r>
          </a:p>
          <a:p>
            <a:pPr>
              <a:spcAft>
                <a:spcPts val="1000"/>
              </a:spcAft>
              <a:defRPr sz="1400">
                <a:solidFill>
                  <a:srgbClr val="1E293B"/>
                </a:solidFill>
                <a:latin typeface="Arial"/>
              </a:defRPr>
            </a:pPr>
          </a:p>
          <a:p>
            <a:pPr>
              <a:spcAft>
                <a:spcPts val="1000"/>
              </a:spcAft>
              <a:defRPr sz="1400">
                <a:solidFill>
                  <a:srgbClr val="1E293B"/>
                </a:solidFill>
                <a:latin typeface="Arial"/>
              </a:defRPr>
            </a:pPr>
            <a:r>
              <a:t>Trips, C., &amp; Stein, A. (2019). Contact-induced changes in the argument structure of Middle English verbs on the model of Old French. Journal of Language Contact, 12(1), 232-267.</a:t>
            </a:r>
          </a:p>
          <a:p>
            <a:pPr>
              <a:spcAft>
                <a:spcPts val="1000"/>
              </a:spcAft>
              <a:defRPr sz="1400">
                <a:solidFill>
                  <a:srgbClr val="1E293B"/>
                </a:solidFill>
                <a:latin typeface="Arial"/>
              </a:defRPr>
            </a:pPr>
          </a:p>
          <a:p>
            <a:pPr>
              <a:spcAft>
                <a:spcPts val="1000"/>
              </a:spcAft>
              <a:defRPr sz="1400">
                <a:solidFill>
                  <a:srgbClr val="1E293B"/>
                </a:solidFill>
                <a:latin typeface="Arial"/>
              </a:defRPr>
            </a:pPr>
            <a:r>
              <a:t>Percillier, M., Schauwecker, Y., Stein, A., &amp; Trips, C. (2024). Carrying Verbs Across the Channel: Modelling Change in Bilingual Medieval England. Palgrave Macmillan.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