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theme1.xml" ContentType="application/vnd.openxmlformats-officedocument.presentationml.them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Sz cx="9144000" cy="6858000"/>
  <p:notesSz cx="10058400" cy="7772400"/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</p:sldIdLst>
  <p:clrMapOvr>
    <a:masterClrMapping/>
  </p:clrMapOvr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  <Relationship Id="rId19" Type="http://schemas.openxmlformats.org/officeDocument/2006/relationships/slide" Target="slides/slide18.xml"/>
  <Relationship Id="rId20" Type="http://schemas.openxmlformats.org/officeDocument/2006/relationships/slide" Target="slides/slide19.xml"/>
  <Relationship Id="rId21" Type="http://schemas.openxmlformats.org/officeDocument/2006/relationships/slide" Target="slides/slide20.xml"/>
  <Relationship Id="rId22" Type="http://schemas.openxmlformats.org/officeDocument/2006/relationships/slide" Target="slides/slide21.xml"/>
  <Relationship Id="rId23" Type="http://schemas.openxmlformats.org/officeDocument/2006/relationships/slide" Target="slides/slide22.xml"/>
  <Relationship Id="rId24" Type="http://schemas.openxmlformats.org/officeDocument/2006/relationships/slide" Target="slides/slide23.xml"/>
  <Relationship Id="rId25" Type="http://schemas.openxmlformats.org/officeDocument/2006/relationships/slide" Target="slides/slide24.xml"/>
  <Relationship Id="rId26" Type="http://schemas.openxmlformats.org/officeDocument/2006/relationships/slide" Target="slides/slide25.xml"/>
  <Relationship Id="rId27" Type="http://schemas.openxmlformats.org/officeDocument/2006/relationships/slide" Target="slides/slide26.xml"/>
  <Relationship Id="rId28" Type="http://schemas.openxmlformats.org/officeDocument/2006/relationships/slide" Target="slides/slide27.xml"/>
  <Relationship Id="rId29" Type="http://schemas.openxmlformats.org/officeDocument/2006/relationships/slide" Target="slides/slide28.xml"/>
  <Relationship Id="rId30" Type="http://schemas.openxmlformats.org/officeDocument/2006/relationships/slide" Target="slides/slide29.xml"/>
  <Relationship Id="rId31" Type="http://schemas.openxmlformats.org/officeDocument/2006/relationships/slide" Target="slides/slide30.xml"/>
  <Relationship Id="rId32" Type="http://schemas.openxmlformats.org/officeDocument/2006/relationships/slide" Target="slides/slide31.xml"/>
  <Relationship Id="rId33" Type="http://schemas.openxmlformats.org/officeDocument/2006/relationships/slide" Target="slides/slide32.xml"/>
  <Relationship Id="rId34" Type="http://schemas.openxmlformats.org/officeDocument/2006/relationships/slide" Target="slides/slide33.xml"/>
  <Relationship Id="rId35" Type="http://schemas.openxmlformats.org/officeDocument/2006/relationships/slide" Target="slides/slide34.xml"/>
  <Relationship Id="rId36" Type="http://schemas.openxmlformats.org/officeDocument/2006/relationships/slide" Target="slides/slide35.xml"/>
  <Relationship Id="rId37" Type="http://schemas.openxmlformats.org/officeDocument/2006/relationships/slide" Target="slides/slide36.xml"/>
  <Relationship Id="rId38" Type="http://schemas.openxmlformats.org/officeDocument/2006/relationships/slide" Target="slides/slide37.xml"/>
  <Relationship Id="rId39" Type="http://schemas.openxmlformats.org/officeDocument/2006/relationships/slide" Target="slides/slide38.xml"/>
  <Relationship Id="rId40" Type="http://schemas.openxmlformats.org/officeDocument/2006/relationships/slide" Target="slides/slide39.xml"/>
  <Relationship Id="rId41" Type="http://schemas.openxmlformats.org/officeDocument/2006/relationships/slide" Target="slides/slide40.xml"/>
  <Relationship Id="rId42" Type="http://schemas.openxmlformats.org/officeDocument/2006/relationships/slide" Target="slides/slide41.xml"/>
  <Relationship Id="rId43" Type="http://schemas.openxmlformats.org/officeDocument/2006/relationships/slide" Target="slides/slide42.xml"/>
  <Relationship Id="rId44" Type="http://schemas.openxmlformats.org/officeDocument/2006/relationships/slide" Target="slides/slide43.xml"/>
  <Relationship Id="rId45" Type="http://schemas.openxmlformats.org/officeDocument/2006/relationships/slide" Target="slides/slide44.xml"/>
  <Relationship Id="rId46" Type="http://schemas.openxmlformats.org/officeDocument/2006/relationships/slide" Target="slides/slide45.xml"/>
  <Relationship Id="rId47" Type="http://schemas.openxmlformats.org/officeDocument/2006/relationships/slide" Target="slides/slide46.xml"/>
  <Relationship Id="rId48" Type="http://schemas.openxmlformats.org/officeDocument/2006/relationships/slide" Target="slides/slide47.xml"/>
  <Relationship Id="rId49" Type="http://schemas.openxmlformats.org/officeDocument/2006/relationships/slide" Target="slides/slide48.xml"/>
  <Relationship Id="rId50" Type="http://schemas.openxmlformats.org/officeDocument/2006/relationships/slide" Target="slides/slide49.xml"/>
  <Relationship Id="rId51" Type="http://schemas.openxmlformats.org/officeDocument/2006/relationships/slide" Target="slides/slide50.xml"/>
  <Relationship Id="rId52" Type="http://schemas.openxmlformats.org/officeDocument/2006/relationships/slide" Target="slides/slide51.xml"/>
  <Relationship Id="rId53" Type="http://schemas.openxmlformats.org/officeDocument/2006/relationships/slide" Target="slides/slide52.xml"/>
  <Relationship Id="rId54" Type="http://schemas.openxmlformats.org/officeDocument/2006/relationships/slide" Target="slides/slide53.xml"/>
  <Relationship Id="rId55" Type="http://schemas.openxmlformats.org/officeDocument/2006/relationships/slide" Target="slides/slide54.xml"/>
  <Relationship Id="rId56" Type="http://schemas.openxmlformats.org/officeDocument/2006/relationships/slide" Target="slides/slide55.xml"/>
  <Relationship Id="rId57" Type="http://schemas.openxmlformats.org/officeDocument/2006/relationships/slide" Target="slides/slide56.xml"/>
  <Relationship Id="rId58" Type="http://schemas.openxmlformats.org/officeDocument/2006/relationships/slide" Target="slides/slide57.xml"/>
  <Relationship Id="rId59" Type="http://schemas.openxmlformats.org/officeDocument/2006/relationships/slide" Target="slides/slide58.xml"/>
  <Relationship Id="rId60" Type="http://schemas.openxmlformats.org/officeDocument/2006/relationships/slide" Target="slides/slide59.xml"/>
  <Relationship Id="rId61" Type="http://schemas.openxmlformats.org/officeDocument/2006/relationships/slide" Target="slides/slide60.xml"/>
  <Relationship Id="rId62" Type="http://schemas.openxmlformats.org/officeDocument/2006/relationships/slide" Target="slides/slide61.xml"/>
  <Relationship Id="rId63" Type="http://schemas.openxmlformats.org/officeDocument/2006/relationships/slide" Target="slides/slide62.xml"/>
  <Relationship Id="rId64" Type="http://schemas.openxmlformats.org/officeDocument/2006/relationships/slide" Target="slides/slide63.xml"/>
  <Relationship Id="rId65" Type="http://schemas.openxmlformats.org/officeDocument/2006/relationships/slide" Target="slides/slide64.xml"/>
  <Relationship Id="rId66" Type="http://schemas.openxmlformats.org/officeDocument/2006/relationships/slide" Target="slides/slide65.xml"/>
  <Relationship Id="rId67" Type="http://schemas.openxmlformats.org/officeDocument/2006/relationships/slide" Target="slides/slide66.xml"/>
  <Relationship Id="rId68" Type="http://schemas.openxmlformats.org/officeDocument/2006/relationships/slide" Target="slides/slide67.xml"/>
  <Relationship Id="rId69" Type="http://schemas.openxmlformats.org/officeDocument/2006/relationships/slide" Target="slides/slide68.xml"/>
  <Relationship Id="rId70" Type="http://schemas.openxmlformats.org/officeDocument/2006/relationships/slide" Target="slides/slide69.xml"/>
  <Relationship Id="rId71" Type="http://schemas.openxmlformats.org/officeDocument/2006/relationships/slide" Target="slides/slide70.xml"/>
  <Relationship Id="rId72" Type="http://schemas.openxmlformats.org/officeDocument/2006/relationships/slide" Target="slides/slide71.xml"/>
  <Relationship Id="rId73" Type="http://schemas.openxmlformats.org/officeDocument/2006/relationships/slide" Target="slides/slide72.xml"/>
  <Relationship Id="rId74" Type="http://schemas.openxmlformats.org/officeDocument/2006/relationships/slide" Target="slides/slide73.xml"/>
  <Relationship Id="rId75" Type="http://schemas.openxmlformats.org/officeDocument/2006/relationships/slide" Target="slides/slide74.xml"/>
  <Relationship Id="rId76" Type="http://schemas.openxmlformats.org/officeDocument/2006/relationships/slide" Target="slides/slide75.xml"/>
  <Relationship Id="rId77" Type="http://schemas.openxmlformats.org/officeDocument/2006/relationships/slide" Target="slides/slide76.xml"/>
  <Relationship Id="rId78" Type="http://schemas.openxmlformats.org/officeDocument/2006/relationships/slide" Target="slides/slide77.xml"/>
  <Relationship Id="rId79" Type="http://schemas.openxmlformats.org/officeDocument/2006/relationships/slide" Target="slides/slide78.xml"/>
  <Relationship Id="rId80" Type="http://schemas.openxmlformats.org/officeDocument/2006/relationships/slide" Target="slides/slide79.xml"/>
  <Relationship Id="rId81" Type="http://schemas.openxmlformats.org/officeDocument/2006/relationships/slide" Target="slides/slide80.xml"/>
  <Relationship Id="rId82" Type="http://schemas.openxmlformats.org/officeDocument/2006/relationships/slide" Target="slides/slide81.xml"/>
  <Relationship Id="rId83" Type="http://schemas.openxmlformats.org/officeDocument/2006/relationships/slide" Target="slides/slide82.xml"/>
  <Relationship Id="rId84" Type="http://schemas.openxmlformats.org/officeDocument/2006/relationships/slide" Target="slides/slide83.xml"/>
  <Relationship Id="rId85" Type="http://schemas.openxmlformats.org/officeDocument/2006/relationships/slide" Target="slides/slide84.xml"/>
  <Relationship Id="rId86" Type="http://schemas.openxmlformats.org/officeDocument/2006/relationships/slide" Target="slides/slide85.xml"/>
  <Relationship Id="rId87" Type="http://schemas.openxmlformats.org/officeDocument/2006/relationships/slide" Target="slides/slide86.xml"/>
  <Relationship Id="rId88" Type="http://schemas.openxmlformats.org/officeDocument/2006/relationships/slide" Target="slides/slide87.xml"/>
  <Relationship Id="rId89" Type="http://schemas.openxmlformats.org/officeDocument/2006/relationships/slide" Target="slides/slide88.xml"/>
  <Relationship Id="rId90" Type="http://schemas.openxmlformats.org/officeDocument/2006/relationships/slide" Target="slides/slide89.xml"/>
  <Relationship Id="rId91" Type="http://schemas.openxmlformats.org/officeDocument/2006/relationships/slide" Target="slides/slide90.xml"/>
  <Relationship Id="rId92" Type="http://schemas.openxmlformats.org/officeDocument/2006/relationships/slide" Target="slides/slide91.xml"/>
  <Relationship Id="rId93" Type="http://schemas.openxmlformats.org/officeDocument/2006/relationships/slide" Target="slides/slide92.xml"/>
  <Relationship Id="rId94" Type="http://schemas.openxmlformats.org/officeDocument/2006/relationships/slide" Target="slides/slide93.xml"/>
  <Relationship Id="rId95" Type="http://schemas.openxmlformats.org/officeDocument/2006/relationships/slide" Target="slides/slide94.xml"/>
  <Relationship Id="rId96" Type="http://schemas.openxmlformats.org/officeDocument/2006/relationships/slide" Target="slides/slide95.xml"/>
  <Relationship Id="rId97" Type="http://schemas.openxmlformats.org/officeDocument/2006/relationships/slide" Target="slides/slide96.xml"/>
  <Relationship Id="rId98" Type="http://schemas.openxmlformats.org/officeDocument/2006/relationships/slide" Target="slides/slide97.xml"/>
  <Relationship Id="rId99" Type="http://schemas.openxmlformats.org/officeDocument/2006/relationships/slide" Target="slides/slide98.xml"/>
  <Relationship Id="rId100" Type="http://schemas.openxmlformats.org/officeDocument/2006/relationships/slide" Target="slides/slide99.xml"/>
  <Relationship Id="rId101" Type="http://schemas.openxmlformats.org/officeDocument/2006/relationships/slide" Target="slides/slide100.xml"/>
  <Relationship Id="rId102" Type="http://schemas.openxmlformats.org/officeDocument/2006/relationships/slide" Target="slides/slide101.xml"/>
  <Relationship Id="rId103" Type="http://schemas.openxmlformats.org/officeDocument/2006/relationships/slide" Target="slides/slide102.xml"/>
  <Relationship Id="rId104" Type="http://schemas.openxmlformats.org/officeDocument/2006/relationships/slide" Target="slides/slide103.xml"/>
  <Relationship Id="rId105" Type="http://schemas.openxmlformats.org/officeDocument/2006/relationships/slide" Target="slides/slide104.xml"/>
  <Relationship Id="rId106" Type="http://schemas.openxmlformats.org/officeDocument/2006/relationships/slide" Target="slides/slide105.xml"/>
  <Relationship Id="rId107" Type="http://schemas.openxmlformats.org/officeDocument/2006/relationships/slide" Target="slides/slide106.xml"/>
  <Relationship Id="rId108" Type="http://schemas.openxmlformats.org/officeDocument/2006/relationships/slide" Target="slides/slide107.xml"/>
  <Relationship Id="rId109" Type="http://schemas.openxmlformats.org/officeDocument/2006/relationships/slide" Target="slides/slide108.xml"/>
  <Relationship Id="rId110" Type="http://schemas.openxmlformats.org/officeDocument/2006/relationships/slide" Target="slides/slide109.xml"/>
  <Relationship Id="rId111" Type="http://schemas.openxmlformats.org/officeDocument/2006/relationships/slide" Target="slides/slide110.xml"/>
  <Relationship Id="rId112" Type="http://schemas.openxmlformats.org/officeDocument/2006/relationships/slide" Target="slides/slide111.xml"/>
  <Relationship Id="rId113" Type="http://schemas.openxmlformats.org/officeDocument/2006/relationships/slide" Target="slides/slide112.xml"/>
  <Relationship Id="rId114" Type="http://schemas.openxmlformats.org/officeDocument/2006/relationships/slide" Target="slides/slide113.xml"/>
  <Relationship Id="rId115" Type="http://schemas.openxmlformats.org/officeDocument/2006/relationships/slide" Target="slides/slide114.xml"/>
  <Relationship Id="rId116" Type="http://schemas.openxmlformats.org/officeDocument/2006/relationships/slide" Target="slides/slide115.xml"/>
  <Relationship Id="rId117" Type="http://schemas.openxmlformats.org/officeDocument/2006/relationships/slide" Target="slides/slide116.xml"/>
  <Relationship Id="rId118" Type="http://schemas.openxmlformats.org/officeDocument/2006/relationships/slide" Target="slides/slide117.xml"/>
  <Relationship Id="rId119" Type="http://schemas.openxmlformats.org/officeDocument/2006/relationships/slide" Target="slides/slide118.xml"/>
  <Relationship Id="rId120" Type="http://schemas.openxmlformats.org/officeDocument/2006/relationships/slide" Target="slides/slide119.xml"/>
  <Relationship Id="rId121" Type="http://schemas.openxmlformats.org/officeDocument/2006/relationships/slide" Target="slides/slide120.xml"/>
  <Relationship Id="rId122" Type="http://schemas.openxmlformats.org/officeDocument/2006/relationships/slide" Target="slides/slide121.xml"/>
  <Relationship Id="rId123" Type="http://schemas.openxmlformats.org/officeDocument/2006/relationships/slide" Target="slides/slide122.xml"/>
  <Relationship Id="rId124" Type="http://schemas.openxmlformats.org/officeDocument/2006/relationships/slide" Target="slides/slide123.xml"/>
  <Relationship Id="rId125" Type="http://schemas.openxmlformats.org/officeDocument/2006/relationships/slide" Target="slides/slide124.xml"/>
  <Relationship Id="rId126" Type="http://schemas.openxmlformats.org/officeDocument/2006/relationships/slide" Target="slides/slide125.xml"/>
  <Relationship Id="rId127" Type="http://schemas.openxmlformats.org/officeDocument/2006/relationships/slide" Target="slides/slide126.xml"/>
  <Relationship Id="rId128" Type="http://schemas.openxmlformats.org/officeDocument/2006/relationships/slide" Target="slides/slide127.xml"/>
  <Relationship Id="rId129" Type="http://schemas.openxmlformats.org/officeDocument/2006/relationships/slide" Target="slides/slide128.xml"/>
  <Relationship Id="rId130" Type="http://schemas.openxmlformats.org/officeDocument/2006/relationships/slide" Target="slides/slide129.xml"/>
  <Relationship Id="rId131" Type="http://schemas.openxmlformats.org/officeDocument/2006/relationships/slide" Target="slides/slide130.xml"/>
  <Relationship Id="rId132" Type="http://schemas.openxmlformats.org/officeDocument/2006/relationships/slide" Target="slides/slide131.xml"/>
  <Relationship Id="rId133" Type="http://schemas.openxmlformats.org/officeDocument/2006/relationships/slide" Target="slides/slide132.xml"/>
  <Relationship Id="rId134" Type="http://schemas.openxmlformats.org/officeDocument/2006/relationships/slide" Target="slides/slide133.xml"/>
  <Relationship Id="rId135" Type="http://schemas.openxmlformats.org/officeDocument/2006/relationships/slide" Target="slides/slide134.xml"/>
  <Relationship Id="rId136" Type="http://schemas.openxmlformats.org/officeDocument/2006/relationships/slide" Target="slides/slide135.xml"/>
  <Relationship Id="rId137" Type="http://schemas.openxmlformats.org/officeDocument/2006/relationships/slide" Target="slides/slide136.xml"/>
  <Relationship Id="rId138" Type="http://schemas.openxmlformats.org/officeDocument/2006/relationships/slide" Target="slides/slide137.xml"/>
  <Relationship Id="rId139" Type="http://schemas.openxmlformats.org/officeDocument/2006/relationships/slide" Target="slides/slide138.xml"/>
  <Relationship Id="rId140" Type="http://schemas.openxmlformats.org/officeDocument/2006/relationships/slide" Target="slides/slide139.xml"/>
  <Relationship Id="rId141" Type="http://schemas.openxmlformats.org/officeDocument/2006/relationships/slide" Target="slides/slide140.xml"/>
  <Relationship Id="rId142" Type="http://schemas.openxmlformats.org/officeDocument/2006/relationships/slide" Target="slides/slide141.xml"/>
  <Relationship Id="rId143" Type="http://schemas.openxmlformats.org/officeDocument/2006/relationships/slide" Target="slides/slide142.xml"/>
  <Relationship Id="rId144" Type="http://schemas.openxmlformats.org/officeDocument/2006/relationships/slide" Target="slides/slide143.xml"/>
  <Relationship Id="rId145" Type="http://schemas.openxmlformats.org/officeDocument/2006/relationships/slide" Target="slides/slide144.xml"/>
  <Relationship Id="rId146" Type="http://schemas.openxmlformats.org/officeDocument/2006/relationships/slide" Target="slides/slide145.xml"/>
  <Relationship Id="rId147" Type="http://schemas.openxmlformats.org/officeDocument/2006/relationships/slide" Target="slides/slide146.xml"/>
  <Relationship Id="rId148" Type="http://schemas.openxmlformats.org/officeDocument/2006/relationships/slide" Target="slides/slide147.xml"/>
  <Relationship Id="rId149" Type="http://schemas.openxmlformats.org/officeDocument/2006/relationships/slide" Target="slides/slide148.xml"/>
  <Relationship Id="rId150" Type="http://schemas.openxmlformats.org/officeDocument/2006/relationships/slide" Target="slides/slide149.xml"/>
  <Relationship Id="rId151" Type="http://schemas.openxmlformats.org/officeDocument/2006/relationships/slide" Target="slides/slide150.xml"/>
  <Relationship Id="rId152" Type="http://schemas.openxmlformats.org/officeDocument/2006/relationships/slide" Target="slides/slide151.xml"/>
  <Relationship Id="rId153" Type="http://schemas.openxmlformats.org/officeDocument/2006/relationships/slide" Target="slides/slide152.xml"/>
  <Relationship Id="rId154" Type="http://schemas.openxmlformats.org/officeDocument/2006/relationships/slide" Target="slides/slide153.xml"/>
  <Relationship Id="rId155" Type="http://schemas.openxmlformats.org/officeDocument/2006/relationships/slide" Target="slides/slide154.xml"/>
  <Relationship Id="rId156" Type="http://schemas.openxmlformats.org/officeDocument/2006/relationships/slide" Target="slides/slide155.xml"/>
  <Relationship Id="rId157" Type="http://schemas.openxmlformats.org/officeDocument/2006/relationships/slide" Target="slides/slide156.xml"/>
  <Relationship Id="rId158" Type="http://schemas.openxmlformats.org/officeDocument/2006/relationships/slide" Target="slides/slide157.xml"/>
  <Relationship Id="rId159" Type="http://schemas.openxmlformats.org/officeDocument/2006/relationships/slide" Target="slides/slide158.xml"/>
  <Relationship Id="rId160" Type="http://schemas.openxmlformats.org/officeDocument/2006/relationships/slide" Target="slides/slide159.xml"/>
  <Relationship Id="rId161" Type="http://schemas.openxmlformats.org/officeDocument/2006/relationships/slide" Target="slides/slide160.xml"/>
  <Relationship Id="rId162" Type="http://schemas.openxmlformats.org/officeDocument/2006/relationships/slide" Target="slides/slide161.xml"/>
  <Relationship Id="rId163" Type="http://schemas.openxmlformats.org/officeDocument/2006/relationships/slide" Target="slides/slide162.xml"/>
  <Relationship Id="rId164" Type="http://schemas.openxmlformats.org/officeDocument/2006/relationships/slide" Target="slides/slide163.xml"/>
  <Relationship Id="rId165" Type="http://schemas.openxmlformats.org/officeDocument/2006/relationships/slide" Target="slides/slide164.xml"/>
  <Relationship Id="rId166" Type="http://schemas.openxmlformats.org/officeDocument/2006/relationships/slide" Target="slides/slide16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type="blank">
  <p:cSld>
    <p:bg>
      <p:bgPr>
        <a:effectLst xmlns:a="http://schemas.openxmlformats.org/drawingml/2006/main"/>
      </p:bgPr>
    </p:bg>
    <p:spTree>
      <p:nvGrpSpPr>
        <p:cNvPr id="1" name="1"/>
        <p:cNvGrpSpPr/>
        <p:nvPr/>
      </p:nvGrpSpPr>
      <p:grpSpPr>
        <a:xfrm xmlns:a="http://schemas.openxmlformats.org/drawingml/2006/main">
          <a:off x="0" y="0"/>
          <a:ext cx="9144000" cy="6858000"/>
          <a:chOff x="0" y="0"/>
          <a:chExt cx="9144000" cy="685800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1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accent1="accent1" accent2="accent2" accent3="accent3" accent4="accent4" accent5="accent5" accent6="accent6" dk1="dk1" dk2="dk2" folHyperlink="folHyperlink" hyperlink="hyperlink" lt1="lt1" lt2="lt2"/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The Textual Foundation and Computational Architecture of the CVL-CDSAML Corpus</a:t>
            </a:r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does Part 2 of this research focus on?</a:t>
            </a:r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Part 2: Textual Foundation &amp; Computational Architecture</a:t>
            </a:r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Why do we need a comprehensive foundation for diachronic research?</a:t>
            </a:r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Introduction: The Need for a Comprehensive Foundation</a:t>
            </a:r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exactly is the CVL-CDSAML Corpus?</a:t>
            </a:r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What is the CVL-CDSAML Corpus?</a:t>
            </a:r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research questions can this corpus address?</a:t>
            </a:r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Research Context &amp; Methodology</a:t>
            </a:r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Who funds this research and what is the timeline?</a:t>
            </a:r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The CVL-CDSAML Project Overview</a:t>
            </a:r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are the main deliverables of this project?</a:t>
            </a:r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Project Goals &amp; Deliverables</a:t>
            </a:r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How large is the corpus and how is it organized?</a:t>
            </a:r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Project Scope &amp; Scale</a:t>
            </a:r>
          </a:p>
        </p:txBody>
      </p:sp>
    </p:spTree>
  </p:cSld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Can you show us the actual directory structure?</a:t>
            </a:r>
          </a:p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Corpus Structure Example: Hierarchical Organization</a:t>
            </a:r>
          </a:p>
        </p:txBody>
      </p:sp>
    </p:spTree>
  </p:cSld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makes a text "influential" enough to include?</a:t>
            </a:r>
          </a:p>
        </p:txBody>
      </p:sp>
    </p:spTree>
  </p:cSld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Defining Influential Texts: Criteria</a:t>
            </a:r>
          </a:p>
        </p:txBody>
      </p:sp>
    </p:spTree>
  </p:cSld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How does the corpus capture language contact effects?</a:t>
            </a:r>
          </a:p>
        </p:txBody>
      </p:sp>
    </p:spTree>
  </p:cSld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Written Language Contact: A Key Focus</a:t>
            </a:r>
          </a:p>
        </p:txBody>
      </p:sp>
    </p:spTree>
  </p:cSld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metadata does each text file contain?</a:t>
            </a:r>
          </a:p>
        </p:txBody>
      </p:sp>
    </p:spTree>
  </p:cSld>
</p:sld>
</file>

<file path=ppt/slides/slide2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Corpus Metadata Structure Example</a:t>
            </a:r>
          </a:p>
        </p:txBody>
      </p:sp>
    </p:spTree>
  </p:cSld>
</p:sld>
</file>

<file path=ppt/slides/slide2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are retranslations and why do they matter?</a:t>
            </a:r>
          </a:p>
        </p:txBody>
      </p:sp>
    </p:spTree>
  </p:cSld>
</p:sld>
</file>

<file path=ppt/slides/slide2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Understanding Retranslations</a:t>
            </a:r>
          </a:p>
        </p:txBody>
      </p:sp>
    </p:spTree>
  </p:cSld>
</p:sld>
</file>

<file path=ppt/slides/slide2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Passive Retranslation Explained</a:t>
            </a:r>
          </a:p>
        </p:txBody>
      </p:sp>
    </p:spTree>
  </p:cSld>
</p:sld>
</file>

<file path=ppt/slides/slide2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Active Retranslation Explained</a:t>
            </a:r>
          </a:p>
        </p:txBody>
      </p:sp>
    </p:spTree>
  </p:cSld>
</p:sld>
</file>

<file path=ppt/slides/slide2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Language Families in the Corpus</a:t>
            </a:r>
          </a:p>
        </p:txBody>
      </p:sp>
    </p:spTree>
  </p:cSld>
</p:sld>
</file>

<file path=ppt/slides/slide2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The Three Language Families</a:t>
            </a:r>
          </a:p>
        </p:txBody>
      </p:sp>
    </p:spTree>
  </p:cSld>
</p:sld>
</file>

<file path=ppt/slides/slide3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Why These Languages?</a:t>
            </a:r>
          </a:p>
        </p:txBody>
      </p:sp>
    </p:spTree>
  </p:cSld>
</p:sld>
</file>

<file path=ppt/slides/slide3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The Role of Original Texts</a:t>
            </a:r>
          </a:p>
        </p:txBody>
      </p:sp>
    </p:spTree>
  </p:cSld>
</p:sld>
</file>

<file path=ppt/slides/slide3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The Core Hellenic Tradition</a:t>
            </a:r>
          </a:p>
        </p:txBody>
      </p:sp>
    </p:spTree>
  </p:cSld>
</p:sld>
</file>

<file path=ppt/slides/slide3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Focus on Post-Classical Development</a:t>
            </a:r>
          </a:p>
        </p:txBody>
      </p:sp>
    </p:spTree>
  </p:cSld>
</p:sld>
</file>

<file path=ppt/slides/slide3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Grammatical Shift: Synthetic to Analytic</a:t>
            </a:r>
          </a:p>
        </p:txBody>
      </p:sp>
    </p:spTree>
  </p:cSld>
</p:sld>
</file>

<file path=ppt/slides/slide3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Dual Methodology Approach</a:t>
            </a:r>
          </a:p>
        </p:txBody>
      </p:sp>
    </p:spTree>
  </p:cSld>
</p:sld>
</file>

<file path=ppt/slides/slide3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Classical Greek Baseline</a:t>
            </a:r>
          </a:p>
        </p:txBody>
      </p:sp>
    </p:spTree>
  </p:cSld>
</p:sld>
</file>

<file path=ppt/slides/slide3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The Koine Greek Core</a:t>
            </a:r>
          </a:p>
        </p:txBody>
      </p:sp>
    </p:spTree>
  </p:cSld>
</p:sld>
</file>

<file path=ppt/slides/slide3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Significance of Koine Greek</a:t>
            </a:r>
          </a:p>
        </p:txBody>
      </p:sp>
    </p:spTree>
  </p:cSld>
</p:sld>
</file>

<file path=ppt/slides/slide3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Summary: A Comprehensive Resource</a:t>
            </a:r>
          </a:p>
        </p:txBody>
      </p:sp>
    </p:spTree>
  </p:cSld>
</p:sld>
</file>

<file path=ppt/slides/slide4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Detailed Example: The Septuagint as a Translation Corpus</a:t>
            </a:r>
          </a:p>
        </p:txBody>
      </p:sp>
    </p:spTree>
  </p:cSld>
</p:sld>
</file>

<file path=ppt/slides/slide4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Example: Septuagint Translation Patterns</a:t>
            </a:r>
          </a:p>
        </p:txBody>
      </p:sp>
    </p:spTree>
  </p:cSld>
</p:sld>
</file>

<file path=ppt/slides/slide4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New Testament: A Koine Greek Case Study</a:t>
            </a:r>
          </a:p>
        </p:txBody>
      </p:sp>
    </p:spTree>
  </p:cSld>
</p:sld>
</file>

<file path=ppt/slides/slide4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Example: Gospel Language Variation</a:t>
            </a:r>
          </a:p>
        </p:txBody>
      </p:sp>
    </p:spTree>
  </p:cSld>
</p:sld>
</file>

<file path=ppt/slides/slide4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Byzantine Greek: The Medieval Transition</a:t>
            </a:r>
          </a:p>
        </p:txBody>
      </p:sp>
    </p:spTree>
  </p:cSld>
</p:sld>
</file>

<file path=ppt/slides/slide4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Example: Dative Case Replacement</a:t>
            </a:r>
          </a:p>
        </p:txBody>
      </p:sp>
    </p:spTree>
  </p:cSld>
</p:sld>
</file>

<file path=ppt/slides/slide4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Modern Greek in the Corpus</a:t>
            </a:r>
          </a:p>
        </p:txBody>
      </p:sp>
    </p:spTree>
  </p:cSld>
</p:sld>
</file>

<file path=ppt/slides/slide4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Example: Multiple Greek Translations Compared</a:t>
            </a:r>
          </a:p>
        </p:txBody>
      </p:sp>
    </p:spTree>
  </p:cSld>
</p:sld>
</file>

<file path=ppt/slides/slide4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Germanic Language Family: English Corpus</a:t>
            </a:r>
          </a:p>
        </p:txBody>
      </p:sp>
    </p:spTree>
  </p:cSld>
</p:sld>
</file>

<file path=ppt/slides/slide4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Example: English Bible Translation Evolution</a:t>
            </a:r>
          </a:p>
        </p:txBody>
      </p:sp>
    </p:spTree>
  </p:cSld>
</p:sld>
</file>

<file path=ppt/slides/slide5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Romance Languages: Latin Foundation</a:t>
            </a:r>
          </a:p>
        </p:txBody>
      </p:sp>
    </p:spTree>
  </p:cSld>
</p:sld>
</file>

<file path=ppt/slides/slide5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Example: Latin Vulgate Influence</a:t>
            </a:r>
          </a:p>
        </p:txBody>
      </p:sp>
    </p:spTree>
  </p:cSld>
</p:sld>
</file>

<file path=ppt/slides/slide5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French in the Corpus</a:t>
            </a:r>
          </a:p>
        </p:txBody>
      </p:sp>
    </p:spTree>
  </p:cSld>
</p:sld>
</file>

<file path=ppt/slides/slide5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Computational Processing Pipeline</a:t>
            </a:r>
          </a:p>
        </p:txBody>
      </p:sp>
    </p:spTree>
  </p:cSld>
</p:sld>
</file>

<file path=ppt/slides/slide5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happens during text digitization?</a:t>
            </a:r>
          </a:p>
        </p:txBody>
      </p:sp>
    </p:spTree>
  </p:cSld>
</p:sld>
</file>

<file path=ppt/slides/slide5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Computational Processing Pipeline (2)</a:t>
            </a:r>
          </a:p>
        </p:txBody>
      </p:sp>
    </p:spTree>
  </p:cSld>
</p:sld>
</file>

<file path=ppt/slides/slide5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happens during linguistic annotation?</a:t>
            </a:r>
          </a:p>
        </p:txBody>
      </p:sp>
    </p:spTree>
  </p:cSld>
</p:sld>
</file>

<file path=ppt/slides/slide5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Computational Processing Pipeline (3)</a:t>
            </a:r>
          </a:p>
        </p:txBody>
      </p:sp>
    </p:spTree>
  </p:cSld>
</p:sld>
</file>

<file path=ppt/slides/slide5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Example: Valency Pattern Extraction</a:t>
            </a:r>
          </a:p>
        </p:txBody>
      </p:sp>
    </p:spTree>
  </p:cSld>
</p:sld>
</file>

<file path=ppt/slides/slide5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How is the valency lexicon structured?</a:t>
            </a:r>
          </a:p>
        </p:txBody>
      </p:sp>
    </p:spTree>
  </p:cSld>
</p:sld>
</file>

<file path=ppt/slides/slide6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Valency Lexicon Structure</a:t>
            </a:r>
          </a:p>
        </p:txBody>
      </p:sp>
    </p:spTree>
  </p:cSld>
</p:sld>
</file>

<file path=ppt/slides/slide6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does the database schema look like?</a:t>
            </a:r>
          </a:p>
        </p:txBody>
      </p:sp>
    </p:spTree>
  </p:cSld>
</p:sld>
</file>

<file path=ppt/slides/slide6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Valency Lexicon: Database Schema</a:t>
            </a:r>
          </a:p>
        </p:txBody>
      </p:sp>
    </p:spTree>
  </p:cSld>
</p:sld>
</file>

<file path=ppt/slides/slide6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Can you show a complete lexicon entry example?</a:t>
            </a:r>
          </a:p>
        </p:txBody>
      </p:sp>
    </p:spTree>
  </p:cSld>
</p:sld>
</file>

<file path=ppt/slides/slide6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Valency Lexicon Entry Structure Example</a:t>
            </a:r>
          </a:p>
        </p:txBody>
      </p:sp>
    </p:spTree>
  </p:cSld>
</p:sld>
</file>

<file path=ppt/slides/slide6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Example Lexicon Entry: διδάσκω (didaskō) "teach"</a:t>
            </a:r>
          </a:p>
        </p:txBody>
      </p:sp>
    </p:spTree>
  </p:cSld>
</p:sld>
</file>

<file path=ppt/slides/slide6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How do valency patterns compare across languages?</a:t>
            </a:r>
          </a:p>
        </p:txBody>
      </p:sp>
    </p:spTree>
  </p:cSld>
</p:sld>
</file>

<file path=ppt/slides/slide6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Valency Lexicon: Comparison Across Languages</a:t>
            </a:r>
          </a:p>
        </p:txBody>
      </p:sp>
    </p:spTree>
  </p:cSld>
</p:sld>
</file>

<file path=ppt/slides/slide6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Cross-Linguistic Comparison: "To Know"</a:t>
            </a:r>
          </a:p>
        </p:txBody>
      </p:sp>
    </p:spTree>
  </p:cSld>
</p:sld>
</file>

<file path=ppt/slides/slide6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Translation Effects on Valency</a:t>
            </a:r>
          </a:p>
        </p:txBody>
      </p:sp>
    </p:spTree>
  </p:cSld>
</p:sld>
</file>

<file path=ppt/slides/slide7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Example: Translation Interference</a:t>
            </a:r>
          </a:p>
        </p:txBody>
      </p:sp>
    </p:spTree>
  </p:cSld>
</p:sld>
</file>

<file path=ppt/slides/slide7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Register and Genre Effects</a:t>
            </a:r>
          </a:p>
        </p:txBody>
      </p:sp>
    </p:spTree>
  </p:cSld>
</p:sld>
</file>

<file path=ppt/slides/slide7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Example: Genre-Specific Valency</a:t>
            </a:r>
          </a:p>
        </p:txBody>
      </p:sp>
    </p:spTree>
  </p:cSld>
</p:sld>
</file>

<file path=ppt/slides/slide7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are the corpus statistics and scale?</a:t>
            </a:r>
          </a:p>
        </p:txBody>
      </p:sp>
    </p:spTree>
  </p:cSld>
</p:sld>
</file>

<file path=ppt/slides/slide7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Corpus Size and Statistics</a:t>
            </a:r>
          </a:p>
        </p:txBody>
      </p:sp>
    </p:spTree>
  </p:cSld>
</p:sld>
</file>

<file path=ppt/slides/slide7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How are tokens distributed across languages?</a:t>
            </a:r>
          </a:p>
        </p:txBody>
      </p:sp>
    </p:spTree>
  </p:cSld>
</p:sld>
</file>

<file path=ppt/slides/slide7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Corpus Statistics by Language and Period</a:t>
            </a:r>
          </a:p>
        </p:txBody>
      </p:sp>
    </p:spTree>
  </p:cSld>
</p:sld>
</file>

<file path=ppt/slides/slide7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technical infrastructure supports the corpus?</a:t>
            </a:r>
          </a:p>
        </p:txBody>
      </p:sp>
    </p:spTree>
  </p:cSld>
</p:sld>
</file>

<file path=ppt/slides/slide7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Technical Infrastructure</a:t>
            </a:r>
          </a:p>
        </p:txBody>
      </p:sp>
    </p:spTree>
  </p:cSld>
</p:sld>
</file>

<file path=ppt/slides/slide7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does the TEI XML encoding look like?</a:t>
            </a:r>
          </a:p>
        </p:txBody>
      </p:sp>
    </p:spTree>
  </p:cSld>
</p:sld>
</file>

<file path=ppt/slides/slide8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Data Format Example: TEI XML</a:t>
            </a:r>
          </a:p>
        </p:txBody>
      </p:sp>
    </p:spTree>
  </p:cSld>
</p:sld>
</file>

<file path=ppt/slides/slide8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Research Applications: Diachronic Syntax</a:t>
            </a:r>
          </a:p>
        </p:txBody>
      </p:sp>
    </p:spTree>
  </p:cSld>
</p:sld>
</file>

<file path=ppt/slides/slide8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How can we study language contact with this corpus?</a:t>
            </a:r>
          </a:p>
        </p:txBody>
      </p:sp>
    </p:spTree>
  </p:cSld>
</p:sld>
</file>

<file path=ppt/slides/slide8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Research Applications: Language Contact</a:t>
            </a:r>
          </a:p>
        </p:txBody>
      </p:sp>
    </p:spTree>
  </p:cSld>
</p:sld>
</file>

<file path=ppt/slides/slide8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sociolinguistic questions can we answer?</a:t>
            </a:r>
          </a:p>
        </p:txBody>
      </p:sp>
    </p:spTree>
  </p:cSld>
</p:sld>
</file>

<file path=ppt/slides/slide8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Research Applications: Historical Sociolinguistics</a:t>
            </a:r>
          </a:p>
        </p:txBody>
      </p:sp>
    </p:spTree>
  </p:cSld>
</p:sld>
</file>

<file path=ppt/slides/slide8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Collaborative Research Potential</a:t>
            </a:r>
          </a:p>
        </p:txBody>
      </p:sp>
    </p:spTree>
  </p:cSld>
</p:sld>
</file>

<file path=ppt/slides/slide8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Open Access and Sustainability</a:t>
            </a:r>
          </a:p>
        </p:txBody>
      </p:sp>
    </p:spTree>
  </p:cSld>
</p:sld>
</file>

<file path=ppt/slides/slide8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expansions are planned for Phase 2?</a:t>
            </a:r>
          </a:p>
        </p:txBody>
      </p:sp>
    </p:spTree>
  </p:cSld>
</p:sld>
</file>

<file path=ppt/slides/slide8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Future Developments: Phase 2</a:t>
            </a:r>
          </a:p>
        </p:txBody>
      </p:sp>
    </p:spTree>
  </p:cSld>
</p:sld>
</file>

<file path=ppt/slides/slide9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computational enhancements are planned?</a:t>
            </a:r>
          </a:p>
        </p:txBody>
      </p:sp>
    </p:spTree>
  </p:cSld>
</p:sld>
</file>

<file path=ppt/slides/slide9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Future Developments: Advanced Features</a:t>
            </a:r>
          </a:p>
        </p:txBody>
      </p:sp>
    </p:spTree>
  </p:cSld>
</p:sld>
</file>

<file path=ppt/slides/slide9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makes this project methodologically innovative?</a:t>
            </a:r>
          </a:p>
        </p:txBody>
      </p:sp>
    </p:spTree>
  </p:cSld>
</p:sld>
</file>

<file path=ppt/slides/slide9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Methodological Innovations</a:t>
            </a:r>
          </a:p>
        </p:txBody>
      </p:sp>
    </p:spTree>
  </p:cSld>
</p:sld>
</file>

<file path=ppt/slides/slide9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is the theoretical impact of this work?</a:t>
            </a:r>
          </a:p>
        </p:txBody>
      </p:sp>
    </p:spTree>
  </p:cSld>
</p:sld>
</file>

<file path=ppt/slides/slide9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Impact on Linguistic Theory</a:t>
            </a:r>
          </a:p>
        </p:txBody>
      </p:sp>
    </p:spTree>
  </p:cSld>
</p:sld>
</file>

<file path=ppt/slides/slide9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Educational Applications</a:t>
            </a:r>
          </a:p>
        </p:txBody>
      </p:sp>
    </p:spTree>
  </p:cSld>
</p:sld>
</file>

<file path=ppt/slides/slide9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Example Student Research Project</a:t>
            </a:r>
          </a:p>
        </p:txBody>
      </p:sp>
    </p:spTree>
  </p:cSld>
</p:sld>
</file>

<file path=ppt/slides/slide9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Interdisciplinary Connections</a:t>
            </a:r>
          </a:p>
        </p:txBody>
      </p:sp>
    </p:spTree>
  </p:cSld>
</p:sld>
</file>

<file path=ppt/slides/slide9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Biblical Studies Applications</a:t>
            </a:r>
          </a:p>
        </p:txBody>
      </p:sp>
    </p:spTree>
  </p:cSld>
</p:sld>
</file>

<file path=ppt/slides/slide10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Case Study: Textual Variants</a:t>
            </a:r>
          </a:p>
        </p:txBody>
      </p:sp>
    </p:spTree>
  </p:cSld>
</p:sld>
</file>

<file path=ppt/slides/slide10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Challenges and Solutions: Data Quality</a:t>
            </a:r>
          </a:p>
        </p:txBody>
      </p:sp>
    </p:spTree>
  </p:cSld>
</p:sld>
</file>

<file path=ppt/slides/slide10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technical challenges exist and how are they solved?</a:t>
            </a:r>
          </a:p>
        </p:txBody>
      </p:sp>
    </p:spTree>
  </p:cSld>
</p:sld>
</file>

<file path=ppt/slides/slide10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Challenges and Solutions: Technical</a:t>
            </a:r>
          </a:p>
        </p:txBody>
      </p:sp>
    </p:spTree>
  </p:cSld>
</p:sld>
</file>

<file path=ppt/slides/slide10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Challenges and Solutions: Scope</a:t>
            </a:r>
          </a:p>
        </p:txBody>
      </p:sp>
    </p:spTree>
  </p:cSld>
</p:sld>
</file>

<file path=ppt/slides/slide10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Quality Assurance Processes</a:t>
            </a:r>
          </a:p>
        </p:txBody>
      </p:sp>
    </p:spTree>
  </p:cSld>
</p:sld>
</file>

<file path=ppt/slides/slide10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Community Engagement</a:t>
            </a:r>
          </a:p>
        </p:txBody>
      </p:sp>
    </p:spTree>
  </p:cSld>
</p:sld>
</file>

<file path=ppt/slides/slide10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Dissemination Strategy</a:t>
            </a:r>
          </a:p>
        </p:txBody>
      </p:sp>
    </p:spTree>
  </p:cSld>
</p:sld>
</file>

<file path=ppt/slides/slide10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Publications from the Project</a:t>
            </a:r>
          </a:p>
        </p:txBody>
      </p:sp>
    </p:spTree>
  </p:cSld>
</p:sld>
</file>

<file path=ppt/slides/slide10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Timeline and Milestones</a:t>
            </a:r>
          </a:p>
        </p:txBody>
      </p:sp>
    </p:spTree>
  </p:cSld>
</p:sld>
</file>

<file path=ppt/slides/slide1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Project Team and Expertise</a:t>
            </a:r>
          </a:p>
        </p:txBody>
      </p:sp>
    </p:spTree>
  </p:cSld>
</p:sld>
</file>

<file path=ppt/slides/slide1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Funding and Support</a:t>
            </a:r>
          </a:p>
        </p:txBody>
      </p:sp>
    </p:spTree>
  </p:cSld>
</p:sld>
</file>

<file path=ppt/slides/slide1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Broader Impact: Digital Humanities</a:t>
            </a:r>
          </a:p>
        </p:txBody>
      </p:sp>
    </p:spTree>
  </p:cSld>
</p:sld>
</file>

<file path=ppt/slides/slide1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Question: What are the main takeaways from this presentation?</a:t>
            </a:r>
          </a:p>
        </p:txBody>
      </p:sp>
    </p:spTree>
  </p:cSld>
</p:sld>
</file>

<file path=ppt/slides/slide1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Key Takeaways</a:t>
            </a:r>
          </a:p>
        </p:txBody>
      </p:sp>
    </p:spTree>
  </p:cSld>
</p:sld>
</file>

<file path=ppt/slides/slide1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Theoretical Significance</a:t>
            </a:r>
          </a:p>
        </p:txBody>
      </p:sp>
    </p:spTree>
  </p:cSld>
</p:sld>
</file>

<file path=ppt/slides/slide1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Practical Applications Beyond Academia</a:t>
            </a:r>
          </a:p>
        </p:txBody>
      </p:sp>
    </p:spTree>
  </p:cSld>
</p:sld>
</file>

<file path=ppt/slides/slide1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Vision for the Future</a:t>
            </a:r>
          </a:p>
        </p:txBody>
      </p:sp>
    </p:spTree>
  </p:cSld>
</p:sld>
</file>

<file path=ppt/slides/slide1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How to Get Involved</a:t>
            </a:r>
          </a:p>
        </p:txBody>
      </p:sp>
    </p:spTree>
  </p:cSld>
</p:sld>
</file>

<file path=ppt/slides/slide11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Contact and Resources</a:t>
            </a:r>
          </a:p>
        </p:txBody>
      </p:sp>
    </p:spTree>
  </p:cSld>
</p:sld>
</file>

<file path=ppt/slides/slide12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Thank You!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r>
              <a:rPr lang="en-US" sz="2400"/>
              <a:t>This presentation explores Part 2 of our research paper, focusing on how the CVL-CDSAML corpus is structured and how it serves as the foundation for extracting diachronic valency patterns. We will exa</a:t>
            </a:r>
          </a:p>
          <a:p>
            <a:r>
              <a:rPr lang="en-US" sz="2400"/>
              <a:t>The CVL-CDSAML project represents a novel integration of traditional philological expertise with modern computational linguistics. This corpus contains 338 carefully curated historical texts that enab</a:t>
            </a:r>
          </a:p>
          <a:p>
            <a:r>
              <a:rPr lang="en-US" sz="2400"/>
              <a:t>Diachronic linguistic analysis requires careful consideration of multiple elements:</a:t>
            </a:r>
          </a:p>
          <a:p>
            <a:r>
              <a:rPr lang="en-US" sz="2400"/>
              <a:t>Studying language change over millennia demands rigorous methodology in selecting and preparing texts. The CVL-CDSAML corpus addresses this need by establishing clear criteria for text inclusion and i</a:t>
            </a:r>
          </a:p>
        </p:txBody>
      </p:sp>
    </p:spTree>
  </p:cSld>
</p:sld>
</file>

<file path=ppt/slides/slide12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121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r>
              <a:rPr lang="en-US" sz="2400"/>
              <a:t>The CVL-CDSAML (Corpus for Valency Lexicon - Corpus of Diachronic and Synchronic Analyses of Multiple Languages) serves as the textual database for extracting valency information across languages and </a:t>
            </a:r>
          </a:p>
          <a:p>
            <a:r>
              <a:rPr lang="en-US" sz="2400"/>
              <a:t>The corpus allows researchers to analyze:</a:t>
            </a:r>
          </a:p>
          <a:p>
            <a:r>
              <a:rPr lang="en-US" sz="2400"/>
              <a:t>This project is funded through the competitive ELIDEK Excellence program, which supports high-quality research in Greece. The 2024-2025 funding period focuses on completing the core corpus constructio</a:t>
            </a:r>
          </a:p>
          <a:p>
            <a:r>
              <a:rPr lang="en-US" sz="2400"/>
              <a:t>The parallel corpus allows direct comparison of translations, revealing how source language structures influence target language valency. The valency lexicon will contain entries for approximately 5,0</a:t>
            </a:r>
          </a:p>
          <a:p>
            <a:r>
              <a:rPr lang="en-US" sz="2400"/>
              <a:t>This hierarchical structure allows researchers to query specific periods (e.g., "all Koine texts") or track individual texts across translations (e.g., "Genesis in all Greek periods"). The file naming</a:t>
            </a:r>
          </a:p>
        </p:txBody>
      </p:sp>
    </p:spTree>
  </p:cSld>
</p:sld>
</file>

<file path=ppt/slides/slide12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122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r>
              <a:rPr lang="en-US" sz="2400"/>
              <a:t>These criteria ensure that included texts have both influenced language use historically and are available in sufficient translations for comparative analysis. For example, the Book of Psalms meets bo</a:t>
            </a:r>
          </a:p>
          <a:p>
            <a:r>
              <a:rPr lang="en-US" sz="2400"/>
              <a:t>Written language contact occurs when translators transfer structures from source to target languages, creating non-native patterns. The corpus structure captures these effects by aligning parallel tex</a:t>
            </a:r>
          </a:p>
          <a:p>
            <a:r>
              <a:rPr lang="en-US" sz="2400"/>
              <a:t>Each text file includes comprehensive metadata enabling filtering by translation type, date, register, and source language. This metadata structure is crucial for distinguishing genuine language chang</a:t>
            </a:r>
          </a:p>
          <a:p>
            <a:r>
              <a:rPr lang="en-US" sz="2400"/>
              <a:t>The CVL-CDSAML corpus examines:</a:t>
            </a:r>
          </a:p>
          <a:p>
            <a:r>
              <a:rPr lang="en-US" sz="2400"/>
              <a:t>The CVL-CDSAML corpus provides:</a:t>
            </a:r>
          </a:p>
        </p:txBody>
      </p:sp>
    </p:spTree>
  </p:cSld>
</p:sld>
</file>

<file path=ppt/slides/slide12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123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r>
              <a:rPr lang="en-US" sz="2400"/>
              <a:t>Digitization is the foundation of the entire project: physical texts must be converted to machine-readable format. For printed texts (19th-21st century), we use OCR technology trained on historical fo</a:t>
            </a:r>
          </a:p>
          <a:p>
            <a:r>
              <a:rPr lang="en-US" sz="2400"/>
              <a:t>Linguistic annotation adds layers of linguistic information to raw text. Tokenization segments text into words, handling clitics and contractions appropriately for each language. Lemmatization links i</a:t>
            </a:r>
          </a:p>
          <a:p>
            <a:r>
              <a:rPr lang="en-US" sz="2400"/>
              <a:t>Valency extraction is semi-automatic: algorithms identify predicates and their dependents from syntactic parses, then linguists verify and classify the patterns. Each predicate instance is checked for</a:t>
            </a:r>
          </a:p>
          <a:p>
            <a:r>
              <a:rPr lang="en-US" sz="2400"/>
              <a:t>The valency lexicon is structured as a relational database where each predicate entry links to multiple frames, and each frame links to attested examples from the corpus. The database schema includes </a:t>
            </a:r>
          </a:p>
          <a:p>
            <a:r>
              <a:rPr lang="en-US" sz="2400"/>
              <a:t>This relational structure allows efficient querying across time periods, languages, and semantic classes. Researchers can extract all frames for a given predicate, all predicates with a specific frame</a:t>
            </a:r>
          </a:p>
        </p:txBody>
      </p:sp>
    </p:spTree>
  </p:cSld>
</p:sld>
</file>

<file path=ppt/slides/slide12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124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r>
              <a:rPr lang="en-US" sz="2400"/>
              <a:t>This JSON structure shows how a single predicate's valency evolves across four historical periods. Notice how the basic ditransitive structure (three arguments) remains constant, but the morphosyntact</a:t>
            </a:r>
          </a:p>
          <a:p>
            <a:r>
              <a:rPr lang="en-US" sz="2400"/>
              <a:t>The verb "teach" shows the typical pattern of Greek complementation change: infinitival complements (Frame 2 in Koine) are increasingly replaced by finite subordinate clauses in Byzantine Greek. The l</a:t>
            </a:r>
          </a:p>
          <a:p>
            <a:r>
              <a:rPr lang="en-US" sz="2400"/>
              <a:t>This comparative view reveals that Greek, Latin, and English all share similar valency patterns for "teach" but differ in their diachronic trajectories. Greek loses the double accusative early and shi</a:t>
            </a:r>
          </a:p>
          <a:p>
            <a:r>
              <a:rPr lang="en-US" sz="2400"/>
              <a:t>Cognition verbs like "to know" exhibit remarkable cross-linguistic stability in their valency: they take either a direct object (thing known) or a clausal complement (propositional knowledge). The lex</a:t>
            </a:r>
          </a:p>
          <a:p>
            <a:r>
              <a:rPr lang="en-US" sz="2400"/>
              <a:t>These statistics represent the completed first phase of the project. The 10 million tokens are distributed across languages with Greek contributing ~4.5 million (largest due to spanning 3000 years), E</a:t>
            </a:r>
          </a:p>
        </p:txBody>
      </p:sp>
    </p:spTree>
  </p:cSld>
</p:sld>
</file>

<file path=ppt/slides/slide12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125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r>
              <a:rPr lang="en-US" sz="2400"/>
              <a:t>This breakdown shows how corpus resources are allocated. Greek has the most texts and tokens because it spans the longest period and includes multiple diachronic stages. The distribution ensures adequ</a:t>
            </a:r>
          </a:p>
          <a:p>
            <a:r>
              <a:rPr lang="en-US" sz="2400"/>
              <a:t>The infrastructure is designed for scalability and interoperability. Python scripts handle text cleaning, tokenization, and annotation, outputting standardized XML/TEI files. These files are parsed an</a:t>
            </a:r>
          </a:p>
          <a:p>
            <a:r>
              <a:rPr lang="en-US" sz="2400"/>
              <a:t>The corpus enables systematic tracking of major syntactic changes across centuries. For instance, researchers can query all valency frames containing dative case in Greek and plot their decline from 9</a:t>
            </a:r>
          </a:p>
          <a:p>
            <a:r>
              <a:rPr lang="en-US" sz="2400"/>
              <a:t>Phase 2 will add approximately 150 more texts, bringing the total to nearly 500 texts and 15+ million tokens. Church Slavonic is particularly valuable for comparative purposes, as it represents anothe</a:t>
            </a:r>
          </a:p>
          <a:p>
            <a:r>
              <a:rPr lang="en-US" sz="2400"/>
              <a:t>Historical texts present numerous quality challenges: variant readings in manuscripts, editorial choices in critical editions, OCR errors in digitization. We address these through systematic quality c</a:t>
            </a:r>
          </a:p>
        </p:txBody>
      </p:sp>
    </p:spTree>
  </p:cSld>
</p:sld>
</file>

<file path=ppt/slides/slide12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126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What is the main architectural framework?</a:t>
            </a:r>
          </a:p>
          <a:p>
            <a:pPr lvl="0"/>
            <a:r>
              <a:rPr lang="en-US" sz="2400"/>
              <a:t>• How does it support linguistic research?</a:t>
            </a:r>
          </a:p>
          <a:p>
            <a:pPr lvl="0"/>
            <a:r>
              <a:rPr lang="en-US" sz="2400"/>
              <a:t>• What makes this approach unique?</a:t>
            </a:r>
          </a:p>
          <a:p>
            <a:pPr lvl="0"/>
            <a:r>
              <a:rPr lang="en-US" sz="2400"/>
              <a:t>• What challenges do historical linguists face?</a:t>
            </a:r>
          </a:p>
          <a:p>
            <a:pPr lvl="0"/>
            <a:r>
              <a:rPr lang="en-US" sz="2400"/>
              <a:t>• How does text quality affect research outcomes?</a:t>
            </a:r>
          </a:p>
        </p:txBody>
      </p:sp>
    </p:spTree>
  </p:cSld>
</p:sld>
</file>

<file path=ppt/slides/slide12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127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What factors must be controlled?</a:t>
            </a:r>
          </a:p>
          <a:p>
            <a:pPr lvl="0"/>
            <a:r>
              <a:rPr lang="en-US" sz="2400"/>
              <a:t>• What does CVL-CDSAML stand for?</a:t>
            </a:r>
          </a:p>
          <a:p>
            <a:pPr lvl="0"/>
            <a:r>
              <a:rPr lang="en-US" sz="2400"/>
              <a:t>• How many texts does it contain?</a:t>
            </a:r>
          </a:p>
          <a:p>
            <a:pPr lvl="0"/>
            <a:r>
              <a:rPr lang="en-US" sz="2400"/>
              <a:t>• What time period does it cover?</a:t>
            </a:r>
          </a:p>
          <a:p>
            <a:pPr lvl="0"/>
            <a:r>
              <a:rPr lang="en-US" sz="2400"/>
              <a:t>• Internal vs. external language development</a:t>
            </a:r>
          </a:p>
        </p:txBody>
      </p:sp>
    </p:spTree>
  </p:cSld>
</p:sld>
</file>

<file path=ppt/slides/slide12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128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Genre and register effects</a:t>
            </a:r>
          </a:p>
          <a:p>
            <a:pPr lvl="0"/>
            <a:r>
              <a:rPr lang="en-US" sz="2400"/>
              <a:t>• Historical transmission problems</a:t>
            </a:r>
          </a:p>
          <a:p>
            <a:pPr lvl="0"/>
            <a:r>
              <a:rPr lang="en-US" sz="2400"/>
              <a:t>• Which foundation supports the project?</a:t>
            </a:r>
          </a:p>
          <a:p>
            <a:pPr lvl="0"/>
            <a:r>
              <a:rPr lang="en-US" sz="2400"/>
              <a:t>• What is the funding period?</a:t>
            </a:r>
          </a:p>
          <a:p>
            <a:pPr lvl="0"/>
            <a:r>
              <a:rPr lang="en-US" sz="2400"/>
              <a:t>• What makes this project competitive?</a:t>
            </a:r>
          </a:p>
        </p:txBody>
      </p:sp>
    </p:spTree>
  </p:cSld>
</p:sld>
</file>

<file path=ppt/slides/slide12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129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What kind of corpus will be produced?</a:t>
            </a:r>
          </a:p>
          <a:p>
            <a:pPr lvl="0"/>
            <a:r>
              <a:rPr lang="en-US" sz="2400"/>
              <a:t>• What kind of lexicon will be created?</a:t>
            </a:r>
          </a:p>
          <a:p>
            <a:pPr lvl="0"/>
            <a:r>
              <a:rPr lang="en-US" sz="2400"/>
              <a:t>• How do these tools work together?</a:t>
            </a:r>
          </a:p>
          <a:p>
            <a:pPr lvl="0"/>
            <a:r>
              <a:rPr lang="en-US" sz="2400"/>
              <a:t>• Bible texts across multiple languages and time periods</a:t>
            </a:r>
          </a:p>
          <a:p>
            <a:pPr lvl="0"/>
            <a:r>
              <a:rPr lang="en-US" sz="2400"/>
              <a:t>• Other significant historical texts</a:t>
            </a:r>
          </a:p>
        </p:txBody>
      </p:sp>
    </p:spTree>
  </p:cSld>
</p:sld>
</file>

<file path=ppt/slides/slide13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130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Extracted systematically from the corpus</a:t>
            </a:r>
          </a:p>
          <a:p>
            <a:pPr lvl="0"/>
            <a:r>
              <a:rPr lang="en-US" sz="2400"/>
              <a:t>• Tracks valency patterns across time</a:t>
            </a:r>
          </a:p>
          <a:p>
            <a:pPr lvl="0"/>
            <a:r>
              <a:rPr lang="en-US" sz="2400"/>
              <a:t>• How many texts total?</a:t>
            </a:r>
          </a:p>
          <a:p>
            <a:pPr lvl="0"/>
            <a:r>
              <a:rPr lang="en-US" sz="2400"/>
              <a:t>• How many years of history?</a:t>
            </a:r>
          </a:p>
          <a:p>
            <a:pPr lvl="0"/>
            <a:r>
              <a:rPr lang="en-US" sz="2400"/>
              <a:t>• How is it structured hierarchically?</a:t>
            </a:r>
          </a:p>
        </p:txBody>
      </p:sp>
    </p:spTree>
  </p:cSld>
</p:sld>
</file>

<file path=ppt/slides/slide13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131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How are files organized?</a:t>
            </a:r>
          </a:p>
          <a:p>
            <a:pPr lvl="0"/>
            <a:r>
              <a:rPr lang="en-US" sz="2400"/>
              <a:t>• What naming conventions are used?</a:t>
            </a:r>
          </a:p>
          <a:p>
            <a:pPr lvl="0"/>
            <a:r>
              <a:rPr lang="en-US" sz="2400"/>
              <a:t>• How does this enable efficient querying?</a:t>
            </a:r>
          </a:p>
          <a:p>
            <a:pPr lvl="0"/>
            <a:r>
              <a:rPr lang="en-US" sz="2400"/>
              <a:t>• What defines cultural significance?</a:t>
            </a:r>
          </a:p>
          <a:p>
            <a:pPr lvl="0"/>
            <a:r>
              <a:rPr lang="en-US" sz="2400"/>
              <a:t>• Why is translation availability important?</a:t>
            </a:r>
          </a:p>
        </p:txBody>
      </p:sp>
    </p:spTree>
  </p:cSld>
</p:sld>
</file>

<file path=ppt/slides/slide13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132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How do these criteria work together?</a:t>
            </a:r>
          </a:p>
          <a:p>
            <a:pPr lvl="0"/>
            <a:r>
              <a:rPr lang="en-US" sz="2400"/>
              <a:t>• What is written language contact?</a:t>
            </a:r>
          </a:p>
          <a:p>
            <a:pPr lvl="0"/>
            <a:r>
              <a:rPr lang="en-US" sz="2400"/>
              <a:t>• How do translations create contact?</a:t>
            </a:r>
          </a:p>
          <a:p>
            <a:pPr lvl="0"/>
            <a:r>
              <a:rPr lang="en-US" sz="2400"/>
              <a:t>• What types of contact can we study?</a:t>
            </a:r>
          </a:p>
          <a:p>
            <a:pPr lvl="0"/>
            <a:r>
              <a:rPr lang="en-US" sz="2400"/>
              <a:t>• What information is tracked?</a:t>
            </a:r>
          </a:p>
        </p:txBody>
      </p:sp>
    </p:spTree>
  </p:cSld>
</p:sld>
</file>

<file path=ppt/slides/slide13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133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How is translation direction encoded?</a:t>
            </a:r>
          </a:p>
          <a:p>
            <a:pPr lvl="0"/>
            <a:r>
              <a:rPr lang="en-US" sz="2400"/>
              <a:t>• Why is this metadata crucial?</a:t>
            </a:r>
          </a:p>
          <a:p>
            <a:pPr lvl="0"/>
            <a:r>
              <a:rPr lang="en-US" sz="2400"/>
              <a:t>• How are they defined?</a:t>
            </a:r>
          </a:p>
          <a:p>
            <a:pPr lvl="0"/>
            <a:r>
              <a:rPr lang="en-US" sz="2400"/>
              <a:t>• What types exist?</a:t>
            </a:r>
          </a:p>
          <a:p>
            <a:pPr lvl="0"/>
            <a:r>
              <a:rPr lang="en-US" sz="2400"/>
              <a:t>• How are they encoded in the corpus?</a:t>
            </a:r>
          </a:p>
        </p:txBody>
      </p:sp>
    </p:spTree>
  </p:cSld>
</p:sld>
</file>

<file path=ppt/slides/slide13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134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The Septuagint (c. 150 BCE) became no longer intelligible to modern speakers</a:t>
            </a:r>
          </a:p>
          <a:p>
            <a:pPr lvl="0"/>
            <a:r>
              <a:rPr lang="en-US" sz="2400"/>
              <a:t>• This necessitated new translation work for contemporary audiences</a:t>
            </a:r>
          </a:p>
          <a:p>
            <a:pPr lvl="0"/>
            <a:r>
              <a:rPr lang="en-US" sz="2400"/>
              <a:t>• Protestant versions</a:t>
            </a:r>
          </a:p>
          <a:p>
            <a:pPr lvl="0"/>
            <a:r>
              <a:rPr lang="en-US" sz="2400"/>
              <a:t>• Catholic versions</a:t>
            </a:r>
          </a:p>
          <a:p>
            <a:pPr lvl="0"/>
            <a:r>
              <a:rPr lang="en-US" sz="2400"/>
              <a:t>• Each reflecting different theological and doctrinal preferences</a:t>
            </a:r>
          </a:p>
        </p:txBody>
      </p:sp>
    </p:spTree>
  </p:cSld>
</p:sld>
</file>

<file path=ppt/slides/slide13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135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Greek (across all historical periods)</a:t>
            </a:r>
          </a:p>
          <a:p>
            <a:pPr lvl="0"/>
            <a:r>
              <a:rPr lang="en-US" sz="2400"/>
              <a:t>• English (various historical stages)</a:t>
            </a:r>
          </a:p>
          <a:p>
            <a:pPr lvl="0"/>
            <a:r>
              <a:rPr lang="en-US" sz="2400"/>
              <a:t>• Latin</a:t>
            </a:r>
          </a:p>
          <a:p>
            <a:pPr lvl="0"/>
            <a:r>
              <a:rPr lang="en-US" sz="2400"/>
              <a:t>• French</a:t>
            </a:r>
          </a:p>
          <a:p>
            <a:pPr lvl="0"/>
            <a:r>
              <a:rPr lang="en-US" sz="2400"/>
              <a:t>• Source language influences</a:t>
            </a:r>
          </a:p>
        </p:txBody>
      </p:sp>
    </p:spTree>
  </p:cSld>
</p:sld>
</file>

<file path=ppt/slides/slide13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136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Unique characteristics of translations</a:t>
            </a:r>
          </a:p>
          <a:p>
            <a:pPr lvl="0"/>
            <a:r>
              <a:rPr lang="en-US" sz="2400"/>
              <a:t>• "Translationese" phenomena</a:t>
            </a:r>
          </a:p>
          <a:p>
            <a:pPr lvl="0"/>
            <a:r>
              <a:rPr lang="en-US" sz="2400"/>
              <a:t>• Expert text selection</a:t>
            </a:r>
          </a:p>
          <a:p>
            <a:pPr lvl="0"/>
            <a:r>
              <a:rPr lang="en-US" sz="2400"/>
              <a:t>• Critical edition standards</a:t>
            </a:r>
          </a:p>
          <a:p>
            <a:pPr lvl="0"/>
            <a:r>
              <a:rPr lang="en-US" sz="2400"/>
              <a:t>• Historical authenticity</a:t>
            </a:r>
          </a:p>
        </p:txBody>
      </p:sp>
    </p:spTree>
  </p:cSld>
</p:sld>
</file>

<file path=ppt/slides/slide13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137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Systematic analysis</a:t>
            </a:r>
          </a:p>
          <a:p>
            <a:pPr lvl="0"/>
            <a:r>
              <a:rPr lang="en-US" sz="2400"/>
              <a:t>• Large-scale pattern detection</a:t>
            </a:r>
          </a:p>
          <a:p>
            <a:pPr lvl="0"/>
            <a:r>
              <a:rPr lang="en-US" sz="2400"/>
              <a:t>• Reproducible results</a:t>
            </a:r>
          </a:p>
          <a:p>
            <a:pPr lvl="0"/>
            <a:r>
              <a:rPr lang="en-US" sz="2400"/>
              <a:t>• Transition period between Classical and Medieval Greek</a:t>
            </a:r>
          </a:p>
          <a:p>
            <a:pPr lvl="0"/>
            <a:r>
              <a:rPr lang="en-US" sz="2400"/>
              <a:t>• Translated in Alexandria, Egypt (3rd-2nd century BCE)</a:t>
            </a:r>
          </a:p>
        </p:txBody>
      </p:sp>
    </p:spTree>
  </p:cSld>
</p:sld>
</file>

<file path=ppt/slides/slide13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138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Hebrew Bible → Koine Greek</a:t>
            </a:r>
          </a:p>
          <a:p>
            <a:pPr lvl="0"/>
            <a:r>
              <a:rPr lang="en-US" sz="2400"/>
              <a:t>• Major cultural and linguistic bridge</a:t>
            </a:r>
          </a:p>
          <a:p>
            <a:pPr lvl="0"/>
            <a:r>
              <a:rPr lang="en-US" sz="2400"/>
              <a:t>• Translation strategies and techniques</a:t>
            </a:r>
          </a:p>
          <a:p>
            <a:pPr lvl="0"/>
            <a:r>
              <a:rPr lang="en-US" sz="2400"/>
              <a:t>• Lexical and syntactic innovations</a:t>
            </a:r>
          </a:p>
          <a:p>
            <a:pPr lvl="0"/>
            <a:r>
              <a:rPr lang="en-US" sz="2400"/>
              <a:t>• Word-for-word translation approach</a:t>
            </a:r>
          </a:p>
        </p:txBody>
      </p:sp>
    </p:spTree>
  </p:cSld>
</p:sld>
</file>

<file path=ppt/slides/slide13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139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Preservation of Hebrew syntax patterns</a:t>
            </a:r>
          </a:p>
          <a:p>
            <a:pPr lvl="0"/>
            <a:r>
              <a:rPr lang="en-US" sz="2400"/>
              <a:t>• Creation of new Greek semantic extensions</a:t>
            </a:r>
          </a:p>
          <a:p>
            <a:pPr lvl="0"/>
            <a:r>
              <a:rPr lang="en-US" sz="2400"/>
              <a:t>• Vernacular Koine grammar</a:t>
            </a:r>
          </a:p>
          <a:p>
            <a:pPr lvl="0"/>
            <a:r>
              <a:rPr lang="en-US" sz="2400"/>
              <a:t>• Semitic influences from bilingual authors</a:t>
            </a:r>
          </a:p>
          <a:p>
            <a:pPr lvl="0"/>
            <a:r>
              <a:rPr lang="en-US" sz="2400"/>
              <a:t>• Range from "sophisticated" to "simple" Greek</a:t>
            </a:r>
          </a:p>
        </p:txBody>
      </p:sp>
    </p:spTree>
  </p:cSld>
</p:sld>
</file>

<file path=ppt/slides/slide14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140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Classical influences</a:t>
            </a:r>
          </a:p>
          <a:p>
            <a:pPr lvl="0"/>
            <a:r>
              <a:rPr lang="en-US" sz="2400"/>
              <a:t>• Sophisticated vocabulary</a:t>
            </a:r>
          </a:p>
          <a:p>
            <a:pPr lvl="0"/>
            <a:r>
              <a:rPr lang="en-US" sz="2400"/>
              <a:t>• Simpler syntax</a:t>
            </a:r>
          </a:p>
          <a:p>
            <a:pPr lvl="0"/>
            <a:r>
              <a:rPr lang="en-US" sz="2400"/>
              <a:t>• Oral narrative features</a:t>
            </a:r>
          </a:p>
          <a:p>
            <a:pPr lvl="0"/>
            <a:r>
              <a:rPr lang="en-US" sz="2400"/>
              <a:t>• Modern translations of ancient texts</a:t>
            </a:r>
          </a:p>
        </p:txBody>
      </p:sp>
    </p:spTree>
  </p:cSld>
</p:sld>
</file>

<file path=ppt/slides/slide14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141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Completion of the synthetic→analytic shift</a:t>
            </a:r>
          </a:p>
          <a:p>
            <a:pPr lvl="0"/>
            <a:r>
              <a:rPr lang="en-US" sz="2400"/>
              <a:t>• Standardization processes</a:t>
            </a:r>
          </a:p>
          <a:p>
            <a:pPr lvl="0"/>
            <a:r>
              <a:rPr lang="en-US" sz="2400"/>
              <a:t>• Contemporary translation practices</a:t>
            </a:r>
          </a:p>
          <a:p>
            <a:pPr lvl="0"/>
            <a:r>
              <a:rPr lang="en-US" sz="2400"/>
              <a:t>• Medieval Latin texts</a:t>
            </a:r>
          </a:p>
          <a:p>
            <a:pPr lvl="0"/>
            <a:r>
              <a:rPr lang="en-US" sz="2400"/>
              <a:t>• Original Latin works for comparison</a:t>
            </a:r>
          </a:p>
        </p:txBody>
      </p:sp>
    </p:spTree>
  </p:cSld>
</p:sld>
</file>

<file path=ppt/slides/slide14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142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Source language for Romance translations</a:t>
            </a:r>
          </a:p>
          <a:p>
            <a:pPr lvl="0"/>
            <a:r>
              <a:rPr lang="en-US" sz="2400"/>
              <a:t>• Direct influence on ecclesiastical Greek</a:t>
            </a:r>
          </a:p>
          <a:p>
            <a:pPr lvl="0"/>
            <a:r>
              <a:rPr lang="en-US" sz="2400"/>
              <a:t>• Control for translation directionality</a:t>
            </a:r>
          </a:p>
          <a:p>
            <a:pPr lvl="0"/>
            <a:r>
              <a:rPr lang="en-US" sz="2400"/>
              <a:t>• French: "Que la lumière soit"</a:t>
            </a:r>
          </a:p>
          <a:p>
            <a:pPr lvl="0"/>
            <a:r>
              <a:rPr lang="en-US" sz="2400"/>
              <a:t>• Italian: "Sia la luce"</a:t>
            </a:r>
          </a:p>
        </p:txBody>
      </p:sp>
    </p:spTree>
  </p:cSld>
</p:sld>
</file>

<file path=ppt/slides/slide14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143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Spanish: "Hágase la luz"</a:t>
            </a:r>
          </a:p>
          <a:p>
            <a:pPr lvl="0"/>
            <a:r>
              <a:rPr lang="en-US" sz="2400"/>
              <a:t>• How did French develop its analytical structures?</a:t>
            </a:r>
          </a:p>
          <a:p>
            <a:pPr lvl="0"/>
            <a:r>
              <a:rPr lang="en-US" sz="2400"/>
              <a:t>• What role did Latin play in French syntax?</a:t>
            </a:r>
          </a:p>
          <a:p>
            <a:pPr lvl="0"/>
            <a:r>
              <a:rPr lang="en-US" sz="2400"/>
              <a:t>• OCR for printed sources (Tesseract with language-specific training)</a:t>
            </a:r>
          </a:p>
          <a:p>
            <a:pPr lvl="0"/>
            <a:r>
              <a:rPr lang="en-US" sz="2400"/>
              <a:t>• Manual transcription for manuscripts (paleographic expertise)</a:t>
            </a:r>
          </a:p>
        </p:txBody>
      </p:sp>
    </p:spTree>
  </p:cSld>
</p:sld>
</file>

<file path=ppt/slides/slide14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144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Quality verification (double-checking, error correction)</a:t>
            </a:r>
          </a:p>
          <a:p>
            <a:pPr lvl="0"/>
            <a:r>
              <a:rPr lang="en-US" sz="2400"/>
              <a:t>• How are printed texts digitized?</a:t>
            </a:r>
          </a:p>
          <a:p>
            <a:pPr lvl="0"/>
            <a:r>
              <a:rPr lang="en-US" sz="2400"/>
              <a:t>• How are manuscripts transcribed?</a:t>
            </a:r>
          </a:p>
          <a:p>
            <a:pPr lvl="0"/>
            <a:r>
              <a:rPr lang="en-US" sz="2400"/>
              <a:t>• What quality control measures are in place?</a:t>
            </a:r>
          </a:p>
          <a:p>
            <a:pPr lvl="0"/>
            <a:r>
              <a:rPr lang="en-US" sz="2400"/>
              <a:t>• How are words segmented?</a:t>
            </a:r>
          </a:p>
        </p:txBody>
      </p:sp>
    </p:spTree>
  </p:cSld>
</p:sld>
</file>

<file path=ppt/slides/slide14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145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How are lemmas identified?</a:t>
            </a:r>
          </a:p>
          <a:p>
            <a:pPr lvl="0"/>
            <a:r>
              <a:rPr lang="en-US" sz="2400"/>
              <a:t>• How is morphology tagged?</a:t>
            </a:r>
          </a:p>
          <a:p>
            <a:pPr lvl="0"/>
            <a:r>
              <a:rPr lang="en-US" sz="2400"/>
              <a:t>• Identify predicates (verbs, adjectives, nouns requiring arguments)</a:t>
            </a:r>
          </a:p>
          <a:p>
            <a:pPr lvl="0"/>
            <a:r>
              <a:rPr lang="en-US" sz="2400"/>
              <a:t>• Track changes across time periods (compare frames diachronically)</a:t>
            </a:r>
          </a:p>
          <a:p>
            <a:pPr lvl="0"/>
            <a:r>
              <a:rPr lang="en-US" sz="2400"/>
              <a:t>• SUBJ (nominative) + OBJ1 (accusative) + OBJ2 (dative)</a:t>
            </a:r>
          </a:p>
        </p:txBody>
      </p:sp>
    </p:spTree>
  </p:cSld>
</p:sld>
</file>

<file path=ppt/slides/slide14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146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SUBJ + OBJ1 + prepositional phrase (σε + accusative)</a:t>
            </a:r>
          </a:p>
          <a:p>
            <a:pPr lvl="0"/>
            <a:r>
              <a:rPr lang="en-US" sz="2400"/>
              <a:t>• What information does each entry contain?</a:t>
            </a:r>
          </a:p>
          <a:p>
            <a:pPr lvl="0"/>
            <a:r>
              <a:rPr lang="en-US" sz="2400"/>
              <a:t>• How are frames linked to examples?</a:t>
            </a:r>
          </a:p>
          <a:p>
            <a:pPr lvl="0"/>
            <a:r>
              <a:rPr lang="en-US" sz="2400"/>
              <a:t>• What enables complex queries?</a:t>
            </a:r>
          </a:p>
          <a:p>
            <a:pPr lvl="0"/>
            <a:r>
              <a:rPr lang="en-US" sz="2400"/>
              <a:t>• Lemma (base form)</a:t>
            </a:r>
          </a:p>
        </p:txBody>
      </p:sp>
    </p:spTree>
  </p:cSld>
</p:sld>
</file>

<file path=ppt/slides/slide14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147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Time period</a:t>
            </a:r>
          </a:p>
          <a:p>
            <a:pPr lvl="0"/>
            <a:r>
              <a:rPr lang="en-US" sz="2400"/>
              <a:t>• Source text</a:t>
            </a:r>
          </a:p>
          <a:p>
            <a:pPr lvl="0"/>
            <a:r>
              <a:rPr lang="en-US" sz="2400"/>
              <a:t>• Valency frame(s)</a:t>
            </a:r>
          </a:p>
          <a:p>
            <a:pPr lvl="0"/>
            <a:r>
              <a:rPr lang="en-US" sz="2400"/>
              <a:t>• Example sentences</a:t>
            </a:r>
          </a:p>
          <a:p>
            <a:pPr lvl="0"/>
            <a:r>
              <a:rPr lang="en-US" sz="2400"/>
              <a:t>• Frequency data</a:t>
            </a:r>
          </a:p>
        </p:txBody>
      </p:sp>
    </p:spTree>
  </p:cSld>
</p:sld>
</file>

<file path=ppt/slides/slide14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148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What tables exist?</a:t>
            </a:r>
          </a:p>
          <a:p>
            <a:pPr lvl="0"/>
            <a:r>
              <a:rPr lang="en-US" sz="2400"/>
              <a:t>• How are they related?</a:t>
            </a:r>
          </a:p>
          <a:p>
            <a:pPr lvl="0"/>
            <a:r>
              <a:rPr lang="en-US" sz="2400"/>
              <a:t>• What queries are possible?</a:t>
            </a:r>
          </a:p>
          <a:p>
            <a:pPr lvl="0"/>
            <a:r>
              <a:rPr lang="en-US" sz="2400"/>
              <a:t>• What does a full JSON entry look like?</a:t>
            </a:r>
          </a:p>
          <a:p>
            <a:pPr lvl="0"/>
            <a:r>
              <a:rPr lang="en-US" sz="2400"/>
              <a:t>• How is diachronic change represented?</a:t>
            </a:r>
          </a:p>
        </p:txBody>
      </p:sp>
    </p:spTree>
  </p:cSld>
</p:sld>
</file>

<file path=ppt/slides/slide14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149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What frequency data is included?</a:t>
            </a:r>
          </a:p>
          <a:p>
            <a:pPr lvl="0"/>
            <a:r>
              <a:rPr lang="en-US" sz="2400"/>
              <a:t>• What patterns are universal?</a:t>
            </a:r>
          </a:p>
          <a:p>
            <a:pPr lvl="0"/>
            <a:r>
              <a:rPr lang="en-US" sz="2400"/>
              <a:t>• What patterns are language-specific?</a:t>
            </a:r>
          </a:p>
          <a:p>
            <a:pPr lvl="0"/>
            <a:r>
              <a:rPr lang="en-US" sz="2400"/>
              <a:t>• How do diachronic paths differ?</a:t>
            </a:r>
          </a:p>
          <a:p>
            <a:pPr lvl="0"/>
            <a:r>
              <a:rPr lang="en-US" sz="2400"/>
              <a:t>• Koine: + ACC / + ὅτι-clause</a:t>
            </a:r>
          </a:p>
        </p:txBody>
      </p:sp>
    </p:spTree>
  </p:cSld>
</p:sld>
</file>

<file path=ppt/slides/slide15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150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ACC / + quod-clause</a:t>
            </a:r>
          </a:p>
          <a:p>
            <a:pPr lvl="0"/>
            <a:r>
              <a:rPr lang="en-US" sz="2400"/>
              <a:t>• NP / + that-clause</a:t>
            </a:r>
          </a:p>
          <a:p>
            <a:pPr lvl="0"/>
            <a:r>
              <a:rPr lang="en-US" sz="2400"/>
              <a:t>• Creates non-native valency frames</a:t>
            </a:r>
          </a:p>
          <a:p>
            <a:pPr lvl="0"/>
            <a:r>
              <a:rPr lang="en-US" sz="2400"/>
              <a:t>• Rich verb valency</a:t>
            </a:r>
          </a:p>
          <a:p>
            <a:pPr lvl="0"/>
            <a:r>
              <a:rPr lang="en-US" sz="2400"/>
              <a:t>• Temporal constructions</a:t>
            </a:r>
          </a:p>
        </p:txBody>
      </p:sp>
    </p:spTree>
  </p:cSld>
</p:sld>
</file>

<file path=ppt/slides/slide15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151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Complex nominal valency</a:t>
            </a:r>
          </a:p>
          <a:p>
            <a:pPr lvl="0"/>
            <a:r>
              <a:rPr lang="en-US" sz="2400"/>
              <a:t>• Conditional structures</a:t>
            </a:r>
          </a:p>
          <a:p>
            <a:pPr lvl="0"/>
            <a:r>
              <a:rPr lang="en-US" sz="2400"/>
              <a:t>• Non-standard valency</a:t>
            </a:r>
          </a:p>
          <a:p>
            <a:pPr lvl="0"/>
            <a:r>
              <a:rPr lang="en-US" sz="2400"/>
              <a:t>• Artistic license</a:t>
            </a:r>
          </a:p>
          <a:p>
            <a:pPr lvl="0"/>
            <a:r>
              <a:rPr lang="en-US" sz="2400"/>
              <a:t>• Complex sentence structures</a:t>
            </a:r>
          </a:p>
        </p:txBody>
      </p:sp>
    </p:spTree>
  </p:cSld>
</p:sld>
</file>

<file path=ppt/slides/slide15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152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Elaborate participial constructions</a:t>
            </a:r>
          </a:p>
          <a:p>
            <a:pPr lvl="0"/>
            <a:r>
              <a:rPr lang="en-US" sz="2400"/>
              <a:t>• Rich use of complementation</a:t>
            </a:r>
          </a:p>
          <a:p>
            <a:pPr lvl="0"/>
            <a:r>
              <a:rPr lang="en-US" sz="2400"/>
              <a:t>• Simpler syntax</a:t>
            </a:r>
          </a:p>
          <a:p>
            <a:pPr lvl="0"/>
            <a:r>
              <a:rPr lang="en-US" sz="2400"/>
              <a:t>• Direct argumentation</a:t>
            </a:r>
          </a:p>
          <a:p>
            <a:pPr lvl="0"/>
            <a:r>
              <a:rPr lang="en-US" sz="2400"/>
              <a:t>• Limited subordination</a:t>
            </a:r>
          </a:p>
        </p:txBody>
      </p:sp>
    </p:spTree>
  </p:cSld>
</p:sld>
</file>

<file path=ppt/slides/slide15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153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How many total tokens?</a:t>
            </a:r>
          </a:p>
          <a:p>
            <a:pPr lvl="0"/>
            <a:r>
              <a:rPr lang="en-US" sz="2400"/>
              <a:t>• How many predicates analyzed?</a:t>
            </a:r>
          </a:p>
          <a:p>
            <a:pPr lvl="0"/>
            <a:r>
              <a:rPr lang="en-US" sz="2400"/>
              <a:t>• How many valency frames documented?</a:t>
            </a:r>
          </a:p>
          <a:p>
            <a:pPr lvl="0"/>
            <a:r>
              <a:rPr lang="en-US" sz="2400"/>
              <a:t>• Which language has the most tokens?</a:t>
            </a:r>
          </a:p>
          <a:p>
            <a:pPr lvl="0"/>
            <a:r>
              <a:rPr lang="en-US" sz="2400"/>
              <a:t>• How are periods represented?</a:t>
            </a:r>
          </a:p>
        </p:txBody>
      </p:sp>
    </p:spTree>
  </p:cSld>
</p:sld>
</file>

<file path=ppt/slides/slide15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154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Why these specific allocations?</a:t>
            </a:r>
          </a:p>
          <a:p>
            <a:pPr lvl="0"/>
            <a:r>
              <a:rPr lang="en-US" sz="2400"/>
              <a:t>• What programming languages are used?</a:t>
            </a:r>
          </a:p>
          <a:p>
            <a:pPr lvl="0"/>
            <a:r>
              <a:rPr lang="en-US" sz="2400"/>
              <a:t>• What encoding standards?</a:t>
            </a:r>
          </a:p>
          <a:p>
            <a:pPr lvl="0"/>
            <a:r>
              <a:rPr lang="en-US" sz="2400"/>
              <a:t>• How is data accessed?</a:t>
            </a:r>
          </a:p>
          <a:p>
            <a:pPr lvl="0"/>
            <a:r>
              <a:rPr lang="en-US" sz="2400"/>
              <a:t>• How are sentences structured?</a:t>
            </a:r>
          </a:p>
        </p:txBody>
      </p:sp>
    </p:spTree>
  </p:cSld>
</p:sld>
</file>

<file path=ppt/slides/slide15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155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What annotations are on each word?</a:t>
            </a:r>
          </a:p>
          <a:p>
            <a:pPr lvl="0"/>
            <a:r>
              <a:rPr lang="en-US" sz="2400"/>
              <a:t>• Why use TEI standard?</a:t>
            </a:r>
          </a:p>
          <a:p>
            <a:pPr lvl="0"/>
            <a:r>
              <a:rPr lang="en-US" sz="2400"/>
              <a:t>• Standardized format (TEI P5 guidelines)</a:t>
            </a:r>
          </a:p>
          <a:p>
            <a:pPr lvl="0"/>
            <a:r>
              <a:rPr lang="en-US" sz="2400"/>
              <a:t>• Machine-readable (XML parsers)</a:t>
            </a:r>
          </a:p>
          <a:p>
            <a:pPr lvl="0"/>
            <a:r>
              <a:rPr lang="en-US" sz="2400"/>
              <a:t>• Human-readable (with proper tools)</a:t>
            </a:r>
          </a:p>
        </p:txBody>
      </p:sp>
    </p:spTree>
  </p:cSld>
</p:sld>
</file>

<file path=ppt/slides/slide15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156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Interoperable (compatible with other TEI corpora)</a:t>
            </a:r>
          </a:p>
          <a:p>
            <a:pPr lvl="0"/>
            <a:r>
              <a:rPr lang="en-US" sz="2400"/>
              <a:t>• Preserves linguistic annotations at word level</a:t>
            </a:r>
          </a:p>
          <a:p>
            <a:pPr lvl="0"/>
            <a:r>
              <a:rPr lang="en-US" sz="2400"/>
              <a:t>• What types of borrowing occur?</a:t>
            </a:r>
          </a:p>
          <a:p>
            <a:pPr lvl="0"/>
            <a:r>
              <a:rPr lang="en-US" sz="2400"/>
              <a:t>• How is calquing identified?</a:t>
            </a:r>
          </a:p>
          <a:p>
            <a:pPr lvl="0"/>
            <a:r>
              <a:rPr lang="en-US" sz="2400"/>
              <a:t>• What convergence patterns emerge?</a:t>
            </a:r>
          </a:p>
        </p:txBody>
      </p:sp>
    </p:spTree>
  </p:cSld>
</p:sld>
</file>

<file path=ppt/slides/slide15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157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How does register vary across time?</a:t>
            </a:r>
          </a:p>
          <a:p>
            <a:pPr lvl="0"/>
            <a:r>
              <a:rPr lang="en-US" sz="2400"/>
              <a:t>• What standardization processes occur?</a:t>
            </a:r>
          </a:p>
          <a:p>
            <a:pPr lvl="0"/>
            <a:r>
              <a:rPr lang="en-US" sz="2400"/>
              <a:t>• How do translation norms change?</a:t>
            </a:r>
          </a:p>
          <a:p>
            <a:pPr lvl="0"/>
            <a:r>
              <a:rPr lang="en-US" sz="2400"/>
              <a:t>• What new languages?</a:t>
            </a:r>
          </a:p>
          <a:p>
            <a:pPr lvl="0"/>
            <a:r>
              <a:rPr lang="en-US" sz="2400"/>
              <a:t>• How many more texts?</a:t>
            </a:r>
          </a:p>
        </p:txBody>
      </p:sp>
    </p:spTree>
  </p:cSld>
</p:sld>
</file>

<file path=ppt/slides/slide15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158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What new capabilities?</a:t>
            </a:r>
          </a:p>
          <a:p>
            <a:pPr lvl="0"/>
            <a:r>
              <a:rPr lang="en-US" sz="2400"/>
              <a:t>• What machine learning applications?</a:t>
            </a:r>
          </a:p>
          <a:p>
            <a:pPr lvl="0"/>
            <a:r>
              <a:rPr lang="en-US" sz="2400"/>
              <a:t>• What visualization tools?</a:t>
            </a:r>
          </a:p>
          <a:p>
            <a:pPr lvl="0"/>
            <a:r>
              <a:rPr lang="en-US" sz="2400"/>
              <a:t>• What new analysis modules?</a:t>
            </a:r>
          </a:p>
          <a:p>
            <a:pPr lvl="0"/>
            <a:r>
              <a:rPr lang="en-US" sz="2400"/>
              <a:t>• How does it combine disciplines?</a:t>
            </a:r>
          </a:p>
        </p:txBody>
      </p:sp>
    </p:spTree>
  </p:cSld>
</p:sld>
</file>

<file path=ppt/slides/slide15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159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What new approaches does it introduce?</a:t>
            </a:r>
          </a:p>
          <a:p>
            <a:pPr lvl="0"/>
            <a:r>
              <a:rPr lang="en-US" sz="2400"/>
              <a:t>• How is it different from previous work?</a:t>
            </a:r>
          </a:p>
          <a:p>
            <a:pPr lvl="0"/>
            <a:r>
              <a:rPr lang="en-US" sz="2400"/>
              <a:t>• Which theories does it inform?</a:t>
            </a:r>
          </a:p>
          <a:p>
            <a:pPr lvl="0"/>
            <a:r>
              <a:rPr lang="en-US" sz="2400"/>
              <a:t>• What models does it improve?</a:t>
            </a:r>
          </a:p>
          <a:p>
            <a:pPr lvl="0"/>
            <a:r>
              <a:rPr lang="en-US" sz="2400"/>
              <a:t>• What new perspectives does it offer?</a:t>
            </a:r>
          </a:p>
        </p:txBody>
      </p:sp>
    </p:spTree>
  </p:cSld>
</p:sld>
</file>

<file path=ppt/slides/slide16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160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Extract causative verbs from CVL-CDSAML</a:t>
            </a:r>
          </a:p>
          <a:p>
            <a:pPr lvl="0"/>
            <a:r>
              <a:rPr lang="en-US" sz="2400"/>
              <a:t>• Analyze valency patterns across periods</a:t>
            </a:r>
          </a:p>
          <a:p>
            <a:pPr lvl="0"/>
            <a:r>
              <a:rPr lang="en-US" sz="2400"/>
              <a:t>• Compare with Latin and English</a:t>
            </a:r>
          </a:p>
          <a:p>
            <a:pPr lvl="0"/>
            <a:r>
              <a:rPr lang="en-US" sz="2400"/>
              <a:t>• Identify contact effects</a:t>
            </a:r>
          </a:p>
          <a:p>
            <a:pPr lvl="0"/>
            <a:r>
              <a:rPr lang="en-US" sz="2400"/>
              <a:t>• Variations in word order</a:t>
            </a:r>
          </a:p>
        </p:txBody>
      </p:sp>
    </p:spTree>
  </p:cSld>
</p:sld>
</file>

<file path=ppt/slides/slide16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161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Different particle usage</a:t>
            </a:r>
          </a:p>
          <a:p>
            <a:pPr lvl="0"/>
            <a:r>
              <a:rPr lang="en-US" sz="2400"/>
              <a:t>• Valency implications</a:t>
            </a:r>
          </a:p>
          <a:p>
            <a:pPr lvl="0"/>
            <a:r>
              <a:rPr lang="en-US" sz="2400"/>
              <a:t>• How to process ancient languages?</a:t>
            </a:r>
          </a:p>
          <a:p>
            <a:pPr lvl="0"/>
            <a:r>
              <a:rPr lang="en-US" sz="2400"/>
              <a:t>• How to ensure annotation quality?</a:t>
            </a:r>
          </a:p>
          <a:p>
            <a:pPr lvl="0"/>
            <a:r>
              <a:rPr lang="en-US" sz="2400"/>
              <a:t>• How to iterate and improve?</a:t>
            </a:r>
          </a:p>
        </p:txBody>
      </p:sp>
    </p:spTree>
  </p:cSld>
</p:sld>
</file>

<file path=ppt/slides/slide16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162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Complete core text processing</a:t>
            </a:r>
          </a:p>
          <a:p>
            <a:pPr lvl="0"/>
            <a:r>
              <a:rPr lang="en-US" sz="2400"/>
              <a:t>• Initial valency lexicon release</a:t>
            </a:r>
          </a:p>
          <a:p>
            <a:pPr lvl="0"/>
            <a:r>
              <a:rPr lang="en-US" sz="2400"/>
              <a:t>• Publication of research findings</a:t>
            </a:r>
          </a:p>
          <a:p>
            <a:pPr lvl="0"/>
            <a:r>
              <a:rPr lang="en-US" sz="2400"/>
              <a:t>• Platform beta launch</a:t>
            </a:r>
          </a:p>
          <a:p>
            <a:pPr lvl="0"/>
            <a:r>
              <a:rPr lang="en-US" sz="2400"/>
              <a:t>• Corpus expansion</a:t>
            </a:r>
          </a:p>
        </p:txBody>
      </p:sp>
    </p:spTree>
  </p:cSld>
</p:sld>
</file>

<file path=ppt/slides/slide16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163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Enhanced computational tools</a:t>
            </a:r>
          </a:p>
          <a:p>
            <a:pPr lvl="0"/>
            <a:r>
              <a:rPr lang="en-US" sz="2400"/>
              <a:t>• Broader community engagement</a:t>
            </a:r>
          </a:p>
          <a:p>
            <a:pPr lvl="0"/>
            <a:r>
              <a:rPr lang="en-US" sz="2400"/>
              <a:t>• What is the scope?</a:t>
            </a:r>
          </a:p>
          <a:p>
            <a:pPr lvl="0"/>
            <a:r>
              <a:rPr lang="en-US" sz="2400"/>
              <a:t>• What is the methodology?</a:t>
            </a:r>
          </a:p>
          <a:p>
            <a:pPr lvl="0"/>
            <a:r>
              <a:rPr lang="en-US" sz="2400"/>
              <a:t>• What is the significance?</a:t>
            </a:r>
          </a:p>
        </p:txBody>
      </p:sp>
    </p:spTree>
  </p:cSld>
</p:sld>
</file>

<file path=ppt/slides/slide16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164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Access the corpus (upon release)</a:t>
            </a:r>
          </a:p>
          <a:p>
            <a:pPr lvl="0"/>
            <a:r>
              <a:rPr lang="en-US" sz="2400"/>
              <a:t>• Contribute annotations</a:t>
            </a:r>
          </a:p>
          <a:p>
            <a:pPr lvl="0"/>
            <a:r>
              <a:rPr lang="en-US" sz="2400"/>
              <a:t>• Propose collaborative projects</a:t>
            </a:r>
          </a:p>
          <a:p>
            <a:pPr lvl="0"/>
            <a:r>
              <a:rPr lang="en-US" sz="2400"/>
              <a:t>• Cite and build upon the work</a:t>
            </a:r>
          </a:p>
          <a:p>
            <a:pPr lvl="0"/>
            <a:r>
              <a:rPr lang="en-US" sz="2400"/>
              <a:t>• Use for thesis research</a:t>
            </a:r>
          </a:p>
        </p:txBody>
      </p:sp>
    </p:spTree>
  </p:cSld>
</p:sld>
</file>

<file path=ppt/slides/slide16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0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400" bold="1"/>
              <a:t>Slide 165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417638"/>
            <a:ext cx="8229600" cy="5000000"/>
          </a:xfrm>
        </p:spPr>
        <p:txBody>
          <a:bodyPr/>
          <a:lstStyle/>
          <a:p>
            <a:pPr lvl="0"/>
            <a:r>
              <a:rPr lang="en-US" sz="2400"/>
              <a:t>• Participate in training workshops</a:t>
            </a:r>
          </a:p>
          <a:p>
            <a:pPr lvl="0"/>
            <a:r>
              <a:rPr lang="en-US" sz="2400"/>
              <a:t>• Explore teaching materials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BEBEB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yperlink>
        <a:srgbClr val="0563C1"/>
      </a:hyperlink>
      <a:folHyperlink>
        <a:srgbClr val="954F72"/>
      </a:folHyperlink>
    </a:clrScheme>
  </a:themeElements>
</a:theme>
</file>

<file path=docProps/core.xml><?xml version="1.0" encoding="utf-8"?>
<cp:coreProperties xmlns:cp="http://schemas.openxmlformats.org/officeDocument/2006/metadata/core-properties" xmlns:dc="http://purl.org/dc/elements/1.1/" xmlns:dcterms="http://purl.org/dc/terms/" xmlns:dcmitype="http://purl.org/dc/dcmitype/" xmlns:xsi="http://www.w3.org/2001/XMLSchema-instance">
  <dc:title>CVL-CDSAML Corpus Presentation</dc:title>
  <dc:description>Computational Linguistics Research on Diachronic Valency</dc:description>
  <cp:lastModifiedBy>Computational Linguistics</cp:lastModifiedBy>
  <cp:revision>1</cp:revision>
</cp:coreProperties>
</file>