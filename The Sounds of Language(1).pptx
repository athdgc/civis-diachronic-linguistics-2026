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Spline Sans"/>
      <p:regular r:id="rId20"/>
      <p:bold r:id="rId21"/>
    </p:embeddedFont>
    <p:embeddedFont>
      <p:font typeface="Outfit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378883-E6EE-416F-BACA-D247E0EBCE12}">
  <a:tblStyle styleId="{30378883-E6EE-416F-BACA-D247E0EBCE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lineSans-regular.fntdata"/><Relationship Id="rId11" Type="http://schemas.openxmlformats.org/officeDocument/2006/relationships/slide" Target="slides/slide5.xml"/><Relationship Id="rId22" Type="http://schemas.openxmlformats.org/officeDocument/2006/relationships/font" Target="fonts/Outfit-regular.fntdata"/><Relationship Id="rId10" Type="http://schemas.openxmlformats.org/officeDocument/2006/relationships/slide" Target="slides/slide4.xml"/><Relationship Id="rId21" Type="http://schemas.openxmlformats.org/officeDocument/2006/relationships/font" Target="fonts/Spline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utfi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28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10" Type="http://schemas.openxmlformats.org/officeDocument/2006/relationships/image" Target="../media/image30.png"/><Relationship Id="rId9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46.png"/><Relationship Id="rId6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43.png"/><Relationship Id="rId6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5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48.png"/><Relationship Id="rId7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996529"/>
            <a:ext cx="550068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Sounds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of Language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01529"/>
            <a:ext cx="476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An exploration of Phonetics, Articulation, and the hidden mechanics of human speech.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4587" y="4364235"/>
            <a:ext cx="1126331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1419" y="4364235"/>
            <a:ext cx="121533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7249" y="4364235"/>
            <a:ext cx="1300013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250"/>
            <a:ext cx="1104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24500" y="1209675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450383" y="2733675"/>
            <a:ext cx="12910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INTRO QUIZ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285648" y="3133725"/>
            <a:ext cx="562070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English has 26 letters...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 but how many </a:t>
            </a:r>
            <a:r>
              <a:rPr b="1" i="1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sounds</a:t>
            </a: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 does it have?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452342" y="5202435"/>
            <a:ext cx="328731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(This mismatch is why we need Phonetics!)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19787" y="1495425"/>
            <a:ext cx="3524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99158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67037"/>
            <a:ext cx="5238750" cy="910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8067"/>
            <a:ext cx="5238750" cy="910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69098"/>
            <a:ext cx="5238750" cy="91053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0716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Phonetics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is the general study of speech sound characteristics. It has three main branches: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1608683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9625" y="3167062"/>
            <a:ext cx="106918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Articulatory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09625" y="3433762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How sounds are made (mouth, tongue, lungs).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4268092"/>
            <a:ext cx="80456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Spline Sans"/>
                <a:ea typeface="Spline Sans"/>
                <a:cs typeface="Spline Sans"/>
                <a:sym typeface="Spline Sans"/>
              </a:rPr>
              <a:t>Acoustic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4534792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The physical properties of sound waves.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5369123"/>
            <a:ext cx="78313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4899"/>
                </a:solidFill>
                <a:latin typeface="Spline Sans"/>
                <a:ea typeface="Spline Sans"/>
                <a:cs typeface="Spline Sans"/>
                <a:sym typeface="Spline Sans"/>
              </a:rPr>
              <a:t>Auditory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5635823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How we perceive sounds via the ear.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Analytical Framework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Phonetics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0762" y="3924300"/>
            <a:ext cx="3330326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6250"/>
            <a:ext cx="1104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4500" y="971550"/>
            <a:ext cx="1143000" cy="72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825454" y="2076598"/>
            <a:ext cx="25409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Spline Sans"/>
                <a:ea typeface="Spline Sans"/>
                <a:cs typeface="Spline Sans"/>
                <a:sym typeface="Spline Sans"/>
              </a:rPr>
              <a:t>PHYSICAL CHALLENGE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145756" y="2476648"/>
            <a:ext cx="3900487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"Throat Touch" Test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3685133" y="3272879"/>
            <a:ext cx="4821584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Place your fingers gently on your Adam's apple.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906267" y="5391150"/>
            <a:ext cx="23794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Can you feel the difference?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10477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808291" y="4276725"/>
            <a:ext cx="66704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Spline Sans"/>
                <a:ea typeface="Spline Sans"/>
                <a:cs typeface="Spline Sans"/>
                <a:sym typeface="Spline Sans"/>
              </a:rPr>
              <a:t>(Snake)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863953" y="4581525"/>
            <a:ext cx="46583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Spline Sans"/>
                <a:ea typeface="Spline Sans"/>
                <a:cs typeface="Spline Sans"/>
                <a:sym typeface="Spline Sans"/>
              </a:rPr>
              <a:t>(Bee)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9158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049785"/>
            <a:ext cx="52387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716660"/>
            <a:ext cx="52387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608683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381750" y="1767929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It's all in the Larynx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81750" y="215443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The vibration you felt comes from the </a:t>
            </a: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vocal folds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(vocal cords).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72250" y="3240285"/>
            <a:ext cx="16847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Voiceless (Open)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572250" y="353556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F1D1D"/>
                </a:solidFill>
                <a:latin typeface="Spline Sans"/>
                <a:ea typeface="Spline Sans"/>
                <a:cs typeface="Spline Sans"/>
                <a:sym typeface="Spline Sans"/>
              </a:rPr>
              <a:t>Folds are spread apart. Air passes clearly.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7F1D1D"/>
                </a:solidFill>
                <a:latin typeface="Spline Sans"/>
                <a:ea typeface="Spline Sans"/>
                <a:cs typeface="Spline Sans"/>
                <a:sym typeface="Spline Sans"/>
              </a:rPr>
              <a:t>Examples: [s], [f], [t], [k]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72250" y="4907160"/>
            <a:ext cx="17737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Voiced (Vibrating)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72250" y="520243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4532D"/>
                </a:solidFill>
                <a:latin typeface="Spline Sans"/>
                <a:ea typeface="Spline Sans"/>
                <a:cs typeface="Spline Sans"/>
                <a:sym typeface="Spline Sans"/>
              </a:rPr>
              <a:t>Folds are drawn together. Air pushes through.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4532D"/>
                </a:solidFill>
                <a:latin typeface="Spline Sans"/>
                <a:ea typeface="Spline Sans"/>
                <a:cs typeface="Spline Sans"/>
                <a:sym typeface="Spline Sans"/>
              </a:rPr>
              <a:t>Examples: [z], [v], [d], [g]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Voiced vs. Voiceless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Mechanics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0140"/>
            <a:ext cx="5334000" cy="5021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60140"/>
            <a:ext cx="5334000" cy="5021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1560165"/>
            <a:ext cx="4933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608165"/>
            <a:ext cx="4933950" cy="1573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1560165"/>
            <a:ext cx="4933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4608165"/>
            <a:ext cx="4933950" cy="1573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9">
            <a:alphaModFix/>
          </a:blip>
          <a:srcRect b="13562" l="0" r="0" t="0"/>
          <a:stretch/>
        </p:blipFill>
        <p:spPr>
          <a:xfrm>
            <a:off x="771525" y="1560175"/>
            <a:ext cx="4933950" cy="2470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10">
            <a:alphaModFix/>
          </a:blip>
          <a:srcRect b="0" l="0" r="0" t="21346"/>
          <a:stretch/>
        </p:blipFill>
        <p:spPr>
          <a:xfrm>
            <a:off x="6486525" y="2170148"/>
            <a:ext cx="4933950" cy="224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Why we need the IPA...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250"/>
            <a:ext cx="1104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4500" y="1420266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4998243" y="2944266"/>
            <a:ext cx="21955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ARTICULATION MAP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300775" y="3344316"/>
            <a:ext cx="3590448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Where is your tongue?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917602" y="4121497"/>
            <a:ext cx="4356794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Say these three words and freeze your tongue.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38812" y="1706016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4469457" y="4837658"/>
            <a:ext cx="80471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POP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469457" y="5266283"/>
            <a:ext cx="8047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(Lips?)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655171" y="4837658"/>
            <a:ext cx="75500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TOT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655171" y="5266283"/>
            <a:ext cx="7550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(Teeth?)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91176" y="4837658"/>
            <a:ext cx="93136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KICK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791176" y="5266283"/>
            <a:ext cx="9313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(Back?)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99158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255165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We classify consonants based on </a:t>
            </a: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where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the air constriction happens in the vocal tract.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608683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335175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Lips: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Bilabials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379943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Teeth: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Dentals &amp; Labiodentals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42471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Ridge: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Alveolars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469478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Roof: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Palatals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514245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Back: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Velars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0890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5658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0425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5193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99608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Place of Articulation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Map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4219"/>
            <a:ext cx="3492400" cy="2352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04219"/>
            <a:ext cx="3492549" cy="2352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804219"/>
            <a:ext cx="3492400" cy="23525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866775" y="3099494"/>
            <a:ext cx="304694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Bilabials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66775" y="3503265"/>
            <a:ext cx="2901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Using both lips.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66775" y="394707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[p]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P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[b]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B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[m]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M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[w]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W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et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44925" y="3099494"/>
            <a:ext cx="3047099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Labiodentals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644925" y="3503265"/>
            <a:ext cx="29019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Upper teeth + Lower lip.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644925" y="3947070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[f]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F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[v]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V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423225" y="3099494"/>
            <a:ext cx="304694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Dentals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423225" y="3503265"/>
            <a:ext cx="2901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Tongue tip behind/between teeth.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423225" y="3947070"/>
            <a:ext cx="2901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[θ]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Th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in (Theta)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[ð]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Th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us (Eth)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Front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Lips &amp; Teeth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9215"/>
            <a:ext cx="5238750" cy="4802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79215"/>
            <a:ext cx="5238750" cy="480253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866775" y="1874490"/>
            <a:ext cx="488061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Alveolars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66775" y="231636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Tongue tip touches the Alveolar Ridge (bumpy part behind top teeth).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677025" y="1874490"/>
            <a:ext cx="488061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Palatals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677025" y="231636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Tongue and the hard Palate (roof of mouth).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66775" y="31164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[t]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Top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3238500" y="31164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[d]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Dog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66775" y="344031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[s]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Sit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238500" y="344031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[z]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Zoo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66775" y="37641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[n]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Nut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3238500" y="37641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[l]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Lap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677025" y="28116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[ʃ]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Sh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ip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9048750" y="28116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[ʒ]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Casual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677025" y="313551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[ʧ]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Ch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ip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9048750" y="313551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[ʤ]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Gem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677025" y="34593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[j]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Y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et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Middle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Ridge &amp; Roof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3492400" cy="3112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24112"/>
            <a:ext cx="3492549" cy="3112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424112"/>
            <a:ext cx="3492400" cy="311259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866775" y="2719387"/>
            <a:ext cx="304694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Velars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66775" y="3161258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Back of tongue touches Velum (Soft Palate).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4644925" y="2719387"/>
            <a:ext cx="3047099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Glottals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644925" y="3161258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Space between vocal folds.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66775" y="3961358"/>
            <a:ext cx="290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[k]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C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at,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K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ick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866775" y="4266158"/>
            <a:ext cx="290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[g]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G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un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66775" y="4570958"/>
            <a:ext cx="290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[ŋ]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Ba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ng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(Angma)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66775" y="4894808"/>
            <a:ext cx="2901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Spline Sans"/>
                <a:ea typeface="Spline Sans"/>
                <a:cs typeface="Spline Sans"/>
                <a:sym typeface="Spline Sans"/>
              </a:rPr>
              <a:t>*Note: No [g] sound in "ringing"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4644925" y="3656558"/>
            <a:ext cx="29019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[h]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H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4644925" y="3980408"/>
            <a:ext cx="29019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Air passes through without active tongue use.</a:t>
            </a:r>
            <a:endParaRPr/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59838" y="334610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8432750" y="3974752"/>
            <a:ext cx="28828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These are the furthest back sounds in English.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Back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Velars &amp; Glottals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4" name="Google Shape;274;p24"/>
          <p:cNvGraphicFramePr/>
          <p:nvPr/>
        </p:nvGraphicFramePr>
        <p:xfrm>
          <a:off x="571500" y="20134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{30378883-E6EE-416F-BACA-D247E0EBCE12}</a:tableStyleId>
              </a:tblPr>
              <a:tblGrid>
                <a:gridCol w="2306400"/>
                <a:gridCol w="1728500"/>
                <a:gridCol w="2776975"/>
                <a:gridCol w="4237125"/>
              </a:tblGrid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Place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Voiceless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Voiced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Example Articulators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Bilabials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[p]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[b], [m], [w]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Both lips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Labiodentals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[f]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[v]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Upper teeth + Lower lip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Dentals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[θ] (thin)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[ð] (then)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tip + Upper teeth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Alveolars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[t], [s]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[d], [z], [n], [l], [r]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tip + Alveolar ridge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Palatals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[ʃ], [ʧ]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[ʒ], [ʤ], [j]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+ Palate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Velars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[k]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[g], [ŋ]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Back tongue + Velum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Glottals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[h]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Vocal folds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24"/>
          <p:cNvSpPr/>
          <p:nvPr/>
        </p:nvSpPr>
        <p:spPr>
          <a:xfrm>
            <a:off x="571500" y="29707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2877889" y="29707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4606379" y="29707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7383363" y="29707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571500" y="34660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2877889" y="34660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4606379" y="34660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7383363" y="34660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571500" y="39613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2877889" y="39613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4606379" y="39613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7383363" y="39613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71500" y="44566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2877889" y="44566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4606379" y="44566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383363" y="44566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571500" y="49519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2877889" y="49519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606379" y="49519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7383363" y="49519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571500" y="54472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2877889" y="54472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4606379" y="54472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7383363" y="54472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Consonant Summary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Big Picture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/>
          <p:nvPr/>
        </p:nvSpPr>
        <p:spPr>
          <a:xfrm>
            <a:off x="571500" y="39756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7" name="Google Shape;30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498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1666875" y="33432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https://en.meming.world/images/en/thumb/0/07/Drakeposting.jpg/300px-Drakeposting.jpg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1666875" y="35889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en.meming.world</a:t>
            </a:r>
            <a:endParaRPr/>
          </a:p>
        </p:txBody>
      </p:sp>
      <p:pic>
        <p:nvPicPr>
          <p:cNvPr descr="image.png" id="310" name="Google Shape;31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345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1666875" y="412804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https://ih1.redbubble.net/image.3268556993.1909/bg,f8f8f8-flat,750x,075,f-pad,750x1000,f8f8f8.u1.jpg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666875" y="43737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www.redbubble.com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Image Sources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