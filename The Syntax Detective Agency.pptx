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Afacad Flux"/>
      <p:regular r:id="rId23"/>
      <p:bold r:id="rId24"/>
    </p:embeddedFont>
    <p:embeddedFont>
      <p:font typeface="Comfortaa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facadFlux-bold.fntdata"/><Relationship Id="rId23" Type="http://schemas.openxmlformats.org/officeDocument/2006/relationships/font" Target="fonts/AfacadFlux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mfortaa-bold.fntdata"/><Relationship Id="rId25" Type="http://schemas.openxmlformats.org/officeDocument/2006/relationships/font" Target="fonts/Comforta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3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5" Type="http://schemas.openxmlformats.org/officeDocument/2006/relationships/image" Target="../media/image37.png"/><Relationship Id="rId6" Type="http://schemas.openxmlformats.org/officeDocument/2006/relationships/image" Target="../media/image23.png"/><Relationship Id="rId7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15552" y="1719262"/>
            <a:ext cx="7160895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The Syntax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 Detective Agency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686050" y="3719512"/>
            <a:ext cx="681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BE185D"/>
                </a:solidFill>
                <a:latin typeface="Afacad Flux"/>
                <a:ea typeface="Afacad Flux"/>
                <a:cs typeface="Afacad Flux"/>
                <a:sym typeface="Afacad Flux"/>
              </a:rPr>
              <a:t>Operation: Structural Integrity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0" y="4500562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0800" y="1762125"/>
            <a:ext cx="70104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055620" y="2371725"/>
            <a:ext cx="6080760" cy="1352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Phase 1: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 Blueprint Analysis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200400" y="3914775"/>
            <a:ext cx="579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Agent, grab your pencil. It's time to draw some trees.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981075"/>
            <a:ext cx="5429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476250" y="2128837"/>
            <a:ext cx="57007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Your Orders: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476250" y="2833687"/>
            <a:ext cx="5429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We've intercepted two encrypted phrases. Your mission is to draw the appropriate tree diagrams for them.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981075"/>
            <a:ext cx="5429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476250" y="3938587"/>
            <a:ext cx="5429250" cy="628650"/>
          </a:xfrm>
          <a:prstGeom prst="roundRect">
            <a:avLst>
              <a:gd fmla="val 15151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619125" y="4081462"/>
            <a:ext cx="5143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Target A: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"into the house"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476250" y="3938587"/>
            <a:ext cx="47625" cy="6286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476250" y="4757737"/>
            <a:ext cx="5429250" cy="628650"/>
          </a:xfrm>
          <a:prstGeom prst="roundRect">
            <a:avLst>
              <a:gd fmla="val 15151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619125" y="4900612"/>
            <a:ext cx="5143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Target B: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"sent the flowers to Carla"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476250" y="4757737"/>
            <a:ext cx="47625" cy="6286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Mission Brief #1: Structure Decoding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981075"/>
            <a:ext cx="5429250" cy="5400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981075"/>
            <a:ext cx="5429250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660558" y="1590675"/>
            <a:ext cx="50606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Target A: PP Structure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470808" y="1590675"/>
            <a:ext cx="50606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Target B: VP Structure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Mission Report: Targets A &amp; B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181225"/>
            <a:ext cx="5476875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181225"/>
            <a:ext cx="5476875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659368" y="3314700"/>
            <a:ext cx="511063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Target C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781050" y="3876675"/>
            <a:ext cx="48672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"a film about pollution"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781050" y="4448175"/>
            <a:ext cx="48672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Warning: Noun Phrase containing a Prepositional Phrase.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421993" y="3314700"/>
            <a:ext cx="511063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Target D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543675" y="3876675"/>
            <a:ext cx="48672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"went to the cinema yesterday"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543675" y="4448175"/>
            <a:ext cx="48672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Warning: Verb Phrase modified by an Adverb.</a:t>
            </a:r>
            <a:endParaRPr/>
          </a:p>
        </p:txBody>
      </p:sp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6087" y="25050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77287" y="25050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Mission Brief #2: Advanced Intel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981075"/>
            <a:ext cx="5429250" cy="5400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981075"/>
            <a:ext cx="5429250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660558" y="1590675"/>
            <a:ext cx="50606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Target C: NP Structure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6470808" y="1590675"/>
            <a:ext cx="50606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Target D: VP Structure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Mission Report: Targets C &amp; 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7437" y="1762125"/>
            <a:ext cx="74771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2810589" y="2371725"/>
            <a:ext cx="6570821" cy="1352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Phase 2: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 The Ambiguity Files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2967037" y="3914775"/>
            <a:ext cx="62579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Things aren't always what they seem. Decode the double meanings.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224087"/>
            <a:ext cx="5476875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24087"/>
            <a:ext cx="5476875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659368" y="3357562"/>
            <a:ext cx="511063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"an American history teacher"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781050" y="3919537"/>
            <a:ext cx="48672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Is the teacher a patriot from the USA? Or do they teach the history of America?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6421993" y="3357562"/>
            <a:ext cx="511063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"Egyptian cotton shirts"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6543675" y="3919537"/>
            <a:ext cx="48672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Are the shirts made of Egyptian cotton? Or are the shirts from Egypt made of cotton?</a:t>
            </a:r>
            <a:endParaRPr/>
          </a:p>
        </p:txBody>
      </p:sp>
      <p:pic>
        <p:nvPicPr>
          <p:cNvPr descr="image.png" id="167" name="Google Shape;16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8937" y="25479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91562" y="25479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File #1: The Identity Crisis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981075"/>
            <a:ext cx="5429250" cy="5400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981075"/>
            <a:ext cx="5429250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>
            <a:off x="660558" y="1590675"/>
            <a:ext cx="50606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The Teacher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6470808" y="1590675"/>
            <a:ext cx="50606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The Shirts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1085850" y="2257425"/>
            <a:ext cx="7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1162050" y="2257425"/>
            <a:ext cx="4438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Meaning 1: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A teacher of American history. (The subject is American History).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1085850" y="2943225"/>
            <a:ext cx="7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1162050" y="2943225"/>
            <a:ext cx="4438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Meaning 2: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A teacher who is American and teaches history. (The teacher is American).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896100" y="2257425"/>
            <a:ext cx="7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6972300" y="2257425"/>
            <a:ext cx="4438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Meaning 1: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Shirts made specifically from "Egyptian cotton".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6896100" y="2943225"/>
            <a:ext cx="7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972300" y="2943225"/>
            <a:ext cx="4438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Meaning 2: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Cotton shirts that originate from Egypt.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Decoded: File #1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981075"/>
            <a:ext cx="5429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476250" y="2328862"/>
            <a:ext cx="57007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The Statement: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476250" y="3090862"/>
            <a:ext cx="5429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C1D95"/>
                </a:solidFill>
                <a:latin typeface="Afacad Flux"/>
                <a:ea typeface="Afacad Flux"/>
                <a:cs typeface="Afacad Flux"/>
                <a:sym typeface="Afacad Flux"/>
              </a:rPr>
              <a:t>"The parents of the bride and the groom were waiting."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476250" y="4424362"/>
            <a:ext cx="5429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Who exactly was waiting in the lobby? Can you spot the two different groups?</a:t>
            </a:r>
            <a:endParaRPr/>
          </a:p>
        </p:txBody>
      </p:sp>
      <p:pic>
        <p:nvPicPr>
          <p:cNvPr descr="image.png" id="197" name="Google Shape;19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981075"/>
            <a:ext cx="5429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File #2: The Wedding Mixer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/>
          <p:nvPr/>
        </p:nvSpPr>
        <p:spPr>
          <a:xfrm>
            <a:off x="2190750" y="1431875"/>
            <a:ext cx="7810500" cy="4499074"/>
          </a:xfrm>
          <a:prstGeom prst="roundRect">
            <a:avLst>
              <a:gd fmla="val 4234" name="adj"/>
            </a:avLst>
          </a:prstGeom>
          <a:solidFill>
            <a:srgbClr val="F0FDF4"/>
          </a:solidFill>
          <a:ln cap="flat" cmpd="sng" w="1905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2571750" y="1812875"/>
            <a:ext cx="7048500" cy="3737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Option A: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7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 [Parents of the bride] + [Parents of the groom]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700" u="none" cap="none" strike="noStrike">
                <a:solidFill>
                  <a:srgbClr val="333333"/>
                </a:solidFill>
                <a:latin typeface="Comfortaa"/>
                <a:ea typeface="Comfortaa"/>
                <a:cs typeface="Comfortaa"/>
                <a:sym typeface="Comfortaa"/>
              </a:rPr>
              <a:t>(Two sets of parents are waiting)</a:t>
            </a:r>
            <a:r>
              <a:rPr b="0" i="0" lang="en-US" sz="27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7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Option B: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7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 [Parents of the bride] + [The Groom]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700" u="none" cap="none" strike="noStrike">
                <a:solidFill>
                  <a:srgbClr val="333333"/>
                </a:solidFill>
                <a:latin typeface="Comfortaa"/>
                <a:ea typeface="Comfortaa"/>
                <a:cs typeface="Comfortaa"/>
                <a:sym typeface="Comfortaa"/>
              </a:rPr>
              <a:t>(The bride's parents and the groom himself are waiting)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Decoded: File #2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/>
          <p:nvPr/>
        </p:nvSpPr>
        <p:spPr>
          <a:xfrm>
            <a:off x="571500" y="571500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File #3: The Incident</a:t>
            </a:r>
            <a:endParaRPr/>
          </a:p>
        </p:txBody>
      </p:sp>
      <p:pic>
        <p:nvPicPr>
          <p:cNvPr descr="image.png" id="213" name="Google Shape;21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 txBox="1"/>
          <p:nvPr/>
        </p:nvSpPr>
        <p:spPr>
          <a:xfrm>
            <a:off x="571500" y="2243137"/>
            <a:ext cx="34385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185D"/>
                </a:solidFill>
                <a:latin typeface="Afacad Flux"/>
                <a:ea typeface="Afacad Flux"/>
                <a:cs typeface="Afacad Flux"/>
                <a:sym typeface="Afacad Flux"/>
              </a:rPr>
              <a:t>"The dog bit the man in the car."</a:t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571500" y="3138487"/>
            <a:ext cx="346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We need to establish the crime scene.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876300" y="3862387"/>
            <a:ext cx="7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952500" y="3862387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Was the man sitting inside a car when he was bitten?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876300" y="4548187"/>
            <a:ext cx="7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952500" y="4548187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Or did the dog bite the specific man who is known to be in the car?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981075"/>
            <a:ext cx="5429250" cy="5400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981075"/>
            <a:ext cx="5429250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 txBox="1"/>
          <p:nvPr/>
        </p:nvSpPr>
        <p:spPr>
          <a:xfrm>
            <a:off x="660558" y="1590675"/>
            <a:ext cx="50606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Theory 1: Location</a:t>
            </a:r>
            <a:endParaRPr/>
          </a:p>
        </p:txBody>
      </p:sp>
      <p:sp>
        <p:nvSpPr>
          <p:cNvPr id="228" name="Google Shape;228;p25"/>
          <p:cNvSpPr txBox="1"/>
          <p:nvPr/>
        </p:nvSpPr>
        <p:spPr>
          <a:xfrm>
            <a:off x="781050" y="2219325"/>
            <a:ext cx="4819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Action happened in the car.</a:t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6470808" y="1590675"/>
            <a:ext cx="50606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Theory 2: Identity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6591300" y="2219325"/>
            <a:ext cx="4819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"man-in-the-car" was bitten.</a:t>
            </a: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Evidence Board: File #3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6"/>
          <p:cNvSpPr txBox="1"/>
          <p:nvPr/>
        </p:nvSpPr>
        <p:spPr>
          <a:xfrm>
            <a:off x="571500" y="571500"/>
            <a:ext cx="52006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File #4: The Magic Trick</a:t>
            </a:r>
            <a:endParaRPr/>
          </a:p>
        </p:txBody>
      </p:sp>
      <p:pic>
        <p:nvPicPr>
          <p:cNvPr descr="image.png" id="238" name="Google Shape;23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 txBox="1"/>
          <p:nvPr/>
        </p:nvSpPr>
        <p:spPr>
          <a:xfrm>
            <a:off x="571500" y="2314575"/>
            <a:ext cx="4953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185D"/>
                </a:solidFill>
                <a:latin typeface="Afacad Flux"/>
                <a:ea typeface="Afacad Flux"/>
                <a:cs typeface="Afacad Flux"/>
                <a:sym typeface="Afacad Flux"/>
              </a:rPr>
              <a:t>"The magician touched the child with the wand."</a:t>
            </a:r>
            <a:endParaRPr/>
          </a:p>
        </p:txBody>
      </p:sp>
      <p:sp>
        <p:nvSpPr>
          <p:cNvPr id="240" name="Google Shape;240;p26"/>
          <p:cNvSpPr txBox="1"/>
          <p:nvPr/>
        </p:nvSpPr>
        <p:spPr>
          <a:xfrm>
            <a:off x="571500" y="3609975"/>
            <a:ext cx="373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 classic case of instrumental ambiguity.</a:t>
            </a:r>
            <a:endParaRPr/>
          </a:p>
        </p:txBody>
      </p:sp>
      <p:sp>
        <p:nvSpPr>
          <p:cNvPr id="241" name="Google Shape;241;p26"/>
          <p:cNvSpPr txBox="1"/>
          <p:nvPr/>
        </p:nvSpPr>
        <p:spPr>
          <a:xfrm>
            <a:off x="876300" y="4333875"/>
            <a:ext cx="7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42" name="Google Shape;242;p26"/>
          <p:cNvSpPr txBox="1"/>
          <p:nvPr/>
        </p:nvSpPr>
        <p:spPr>
          <a:xfrm>
            <a:off x="952500" y="4333875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Did the magician use the wand as a tool to touch the child?</a:t>
            </a:r>
            <a:endParaRPr/>
          </a:p>
        </p:txBody>
      </p:sp>
      <p:sp>
        <p:nvSpPr>
          <p:cNvPr id="243" name="Google Shape;243;p26"/>
          <p:cNvSpPr txBox="1"/>
          <p:nvPr/>
        </p:nvSpPr>
        <p:spPr>
          <a:xfrm>
            <a:off x="876300" y="5019675"/>
            <a:ext cx="7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44" name="Google Shape;244;p26"/>
          <p:cNvSpPr txBox="1"/>
          <p:nvPr/>
        </p:nvSpPr>
        <p:spPr>
          <a:xfrm>
            <a:off x="952500" y="5019675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Or did the magician touch a child who was holding a wand?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981075"/>
            <a:ext cx="5429250" cy="5400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981075"/>
            <a:ext cx="5429250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 txBox="1"/>
          <p:nvPr/>
        </p:nvSpPr>
        <p:spPr>
          <a:xfrm>
            <a:off x="660558" y="1590675"/>
            <a:ext cx="50606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Theory 1: Instrument</a:t>
            </a:r>
            <a:endParaRPr/>
          </a:p>
        </p:txBody>
      </p:sp>
      <p:sp>
        <p:nvSpPr>
          <p:cNvPr id="253" name="Google Shape;253;p27"/>
          <p:cNvSpPr txBox="1"/>
          <p:nvPr/>
        </p:nvSpPr>
        <p:spPr>
          <a:xfrm>
            <a:off x="781050" y="2219325"/>
            <a:ext cx="4819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Using wand to touch.</a:t>
            </a:r>
            <a:endParaRPr/>
          </a:p>
        </p:txBody>
      </p:sp>
      <p:sp>
        <p:nvSpPr>
          <p:cNvPr id="254" name="Google Shape;254;p27"/>
          <p:cNvSpPr txBox="1"/>
          <p:nvPr/>
        </p:nvSpPr>
        <p:spPr>
          <a:xfrm>
            <a:off x="6470808" y="1590675"/>
            <a:ext cx="50606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E185D"/>
                </a:solidFill>
                <a:latin typeface="Comfortaa"/>
                <a:ea typeface="Comfortaa"/>
                <a:cs typeface="Comfortaa"/>
                <a:sym typeface="Comfortaa"/>
              </a:rPr>
              <a:t>Theory 2: Possession</a:t>
            </a:r>
            <a:endParaRPr/>
          </a:p>
        </p:txBody>
      </p:sp>
      <p:sp>
        <p:nvSpPr>
          <p:cNvPr id="255" name="Google Shape;255;p27"/>
          <p:cNvSpPr txBox="1"/>
          <p:nvPr/>
        </p:nvSpPr>
        <p:spPr>
          <a:xfrm>
            <a:off x="6591300" y="2219325"/>
            <a:ext cx="4819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Child holding wand.</a:t>
            </a:r>
            <a:endParaRPr/>
          </a:p>
        </p:txBody>
      </p:sp>
      <p:sp>
        <p:nvSpPr>
          <p:cNvPr id="256" name="Google Shape;256;p27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Evidence Board: File #4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8"/>
          <p:cNvSpPr txBox="1"/>
          <p:nvPr/>
        </p:nvSpPr>
        <p:spPr>
          <a:xfrm>
            <a:off x="3570684" y="1928812"/>
            <a:ext cx="5050631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Case Closed?</a:t>
            </a:r>
            <a:endParaRPr/>
          </a:p>
        </p:txBody>
      </p:sp>
      <p:sp>
        <p:nvSpPr>
          <p:cNvPr id="263" name="Google Shape;263;p28"/>
          <p:cNvSpPr txBox="1"/>
          <p:nvPr/>
        </p:nvSpPr>
        <p:spPr>
          <a:xfrm>
            <a:off x="3690937" y="2995612"/>
            <a:ext cx="4810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Any questions, detectives?</a:t>
            </a:r>
            <a:endParaRPr/>
          </a:p>
        </p:txBody>
      </p:sp>
      <p:pic>
        <p:nvPicPr>
          <p:cNvPr descr="image.png" id="264" name="Google Shape;26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7837" y="3871912"/>
            <a:ext cx="107632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9"/>
          <p:cNvSpPr/>
          <p:nvPr/>
        </p:nvSpPr>
        <p:spPr>
          <a:xfrm>
            <a:off x="476250" y="290512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9"/>
          <p:cNvSpPr/>
          <p:nvPr/>
        </p:nvSpPr>
        <p:spPr>
          <a:xfrm>
            <a:off x="476250" y="3676650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9"/>
          <p:cNvSpPr/>
          <p:nvPr/>
        </p:nvSpPr>
        <p:spPr>
          <a:xfrm>
            <a:off x="476250" y="444817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3" name="Google Shape;27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2860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9"/>
          <p:cNvSpPr txBox="1"/>
          <p:nvPr/>
        </p:nvSpPr>
        <p:spPr>
          <a:xfrm>
            <a:off x="1571625" y="2293143"/>
            <a:ext cx="101441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https://img.freepik.com/premium-vector/detective-looking-clues-with-magnifying-glass-white-background_1125697-55493.jpg</a:t>
            </a:r>
            <a:endParaRPr/>
          </a:p>
        </p:txBody>
      </p:sp>
      <p:sp>
        <p:nvSpPr>
          <p:cNvPr id="275" name="Google Shape;275;p29"/>
          <p:cNvSpPr txBox="1"/>
          <p:nvPr/>
        </p:nvSpPr>
        <p:spPr>
          <a:xfrm>
            <a:off x="1571625" y="2526506"/>
            <a:ext cx="1014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www.freepik.com</a:t>
            </a:r>
            <a:endParaRPr/>
          </a:p>
        </p:txBody>
      </p:sp>
      <p:pic>
        <p:nvPicPr>
          <p:cNvPr descr="image.png" id="276" name="Google Shape;27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0575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9"/>
          <p:cNvSpPr txBox="1"/>
          <p:nvPr/>
        </p:nvSpPr>
        <p:spPr>
          <a:xfrm>
            <a:off x="1571625" y="3064668"/>
            <a:ext cx="101441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https://s3.amazonaws.com/lowres.cartoonstock.com/marriage-relationships-wedding-wedding_day-choice-settling_down-waiting_too_long-mban1372_low.jpg</a:t>
            </a:r>
            <a:endParaRPr/>
          </a:p>
        </p:txBody>
      </p:sp>
      <p:sp>
        <p:nvSpPr>
          <p:cNvPr id="278" name="Google Shape;278;p29"/>
          <p:cNvSpPr txBox="1"/>
          <p:nvPr/>
        </p:nvSpPr>
        <p:spPr>
          <a:xfrm>
            <a:off x="1571625" y="3298031"/>
            <a:ext cx="1014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www.cartoonstock.com</a:t>
            </a:r>
            <a:endParaRPr/>
          </a:p>
        </p:txBody>
      </p:sp>
      <p:pic>
        <p:nvPicPr>
          <p:cNvPr descr="image.png" id="279" name="Google Shape;27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829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9"/>
          <p:cNvSpPr txBox="1"/>
          <p:nvPr/>
        </p:nvSpPr>
        <p:spPr>
          <a:xfrm>
            <a:off x="1571625" y="3836193"/>
            <a:ext cx="101441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https://media.istockphoto.com/id/1126092832/vector/the-dog-bites-a-man.jpg?s=612x612&amp;w=0&amp;k=20&amp;c=2GaT4Jbsml64jh_VcYGMkCz4JCvEI_ACqvhIBKcPQ98=</a:t>
            </a:r>
            <a:endParaRPr/>
          </a:p>
        </p:txBody>
      </p:sp>
      <p:sp>
        <p:nvSpPr>
          <p:cNvPr id="281" name="Google Shape;281;p29"/>
          <p:cNvSpPr txBox="1"/>
          <p:nvPr/>
        </p:nvSpPr>
        <p:spPr>
          <a:xfrm>
            <a:off x="1571625" y="4069556"/>
            <a:ext cx="1014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www.istockphoto.com</a:t>
            </a:r>
            <a:endParaRPr/>
          </a:p>
        </p:txBody>
      </p:sp>
      <p:pic>
        <p:nvPicPr>
          <p:cNvPr descr="image.png" id="282" name="Google Shape;28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4600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9"/>
          <p:cNvSpPr txBox="1"/>
          <p:nvPr/>
        </p:nvSpPr>
        <p:spPr>
          <a:xfrm>
            <a:off x="1571625" y="4607718"/>
            <a:ext cx="101441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https://en.pimg.jp/043/428/420/1/43428420.jpg</a:t>
            </a:r>
            <a:endParaRPr/>
          </a:p>
        </p:txBody>
      </p:sp>
      <p:sp>
        <p:nvSpPr>
          <p:cNvPr id="284" name="Google Shape;284;p29"/>
          <p:cNvSpPr txBox="1"/>
          <p:nvPr/>
        </p:nvSpPr>
        <p:spPr>
          <a:xfrm>
            <a:off x="1571625" y="4841081"/>
            <a:ext cx="1014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tw.pixtastock.com</a:t>
            </a:r>
            <a:endParaRPr/>
          </a:p>
        </p:txBody>
      </p:sp>
      <p:sp>
        <p:nvSpPr>
          <p:cNvPr id="285" name="Google Shape;285;p29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C1D95"/>
                </a:solidFill>
                <a:latin typeface="Comfortaa"/>
                <a:ea typeface="Comfortaa"/>
                <a:cs typeface="Comfortaa"/>
                <a:sym typeface="Comfortaa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