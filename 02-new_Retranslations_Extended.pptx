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5490"/>
                </a:solidFill>
              </a:defRPr>
            </a:pPr>
            <a:r>
              <a:t>Retranslations Across Millennia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B6B6B"/>
                </a:solidFill>
              </a:defRPr>
            </a:pPr>
            <a:r>
              <a:t>AthDGC Core Research</a:t>
            </a:r>
          </a:p>
          <a:p>
            <a:r>
              <a:t>Intralingual &amp; Interlingual Translations</a:t>
            </a:r>
          </a:p>
          <a:p>
            <a:r>
              <a:t>Language Contact Through Translation</a:t>
            </a:r>
          </a:p>
          <a:p/>
          <a:p>
            <a:r>
              <a:t>Nikolaos Lavidas, Theodoros Michalareas, Vassilios Symeonidis,</a:t>
            </a:r>
          </a:p>
          <a:p>
            <a:r>
              <a:t>Sofia Chionidi, Anastasia Tsiropina, Eleni Plakoutsi</a:t>
            </a:r>
          </a:p>
          <a:p/>
          <a:p>
            <a:r>
              <a:t>Delphi Workshop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Session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Part I: Theoretical Framework &amp; Methodology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Part II: AthDGC Corpus &amp; Research Process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Part III: Detailed Findings from CIDL25 Study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Part IV: Challenges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Retranslations Across Millennia • Delphi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91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III:</a:t>
            </a:r>
          </a:p>
          <a:p>
            <a:r>
              <a:t>Detailed Research Findings</a:t>
            </a:r>
          </a:p>
          <a:p>
            <a:r>
              <a:t>(CIDL25 Study)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47842" cy="1386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09337" cy="14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258818" cy="305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Acknowledgments: H.F.R.I. Project Number: 15284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2590800" cy="107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Nikolaos Lavidas</a:t>
            </a:r>
          </a:p>
          <a:p>
            <a:pPr/>
            <a:r>
              <a:rPr sz="1400"/>
              <a:t>National and Kapodistrian </a:t>
            </a:r>
          </a:p>
          <a:p>
            <a:pPr/>
            <a:r>
              <a:rPr sz="1400"/>
              <a:t>University of Athens </a:t>
            </a:r>
          </a:p>
          <a:p>
            <a:pPr/>
            <a:r>
              <a:rPr sz="1400"/>
              <a:t>nlavidas@enl.uoa.gr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2590800" cy="1315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Eleni Plakoutsi</a:t>
            </a:r>
          </a:p>
          <a:p>
            <a:pPr/>
            <a:r>
              <a:rPr sz="1400"/>
              <a:t>National and Kapodistrian </a:t>
            </a:r>
          </a:p>
          <a:p>
            <a:pPr/>
            <a:r>
              <a:rPr sz="1400"/>
              <a:t>University of Athens </a:t>
            </a:r>
          </a:p>
          <a:p>
            <a:pPr/>
            <a:r>
              <a:rPr sz="1400"/>
              <a:t>eleni2plak@gmail.com</a:t>
            </a:r>
          </a:p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2402915" cy="126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Anastasia Tsiropina</a:t>
            </a:r>
          </a:p>
          <a:p>
            <a:pPr/>
            <a:r>
              <a:rPr sz="1400"/>
              <a:t>National and Kapodistrian </a:t>
            </a:r>
          </a:p>
          <a:p>
            <a:pPr/>
            <a:r>
              <a:rPr sz="1400"/>
              <a:t>University of Athens </a:t>
            </a:r>
          </a:p>
          <a:p>
            <a:pPr/>
            <a:r>
              <a:rPr sz="1400"/>
              <a:t>natasatsirop@gmail.com</a:t>
            </a:r>
          </a:p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274320" y="274320"/>
            <a:ext cx="7920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The evolution of valency over time: Digital pathways uncovering the grammatical structure of Indo-European languages.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4320"/>
            <a:ext cx="73388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/>
              <a:t>Athens Digital Glossa Chronos (AthDGC)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4320"/>
            <a:ext cx="676875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/>
              <a:t>The 25th International Conference of the Department of Linguistics (CIDL25)</a:t>
            </a:r>
          </a:p>
          <a:p>
            <a:pPr/>
            <a:r>
              <a:rPr sz="1600" b="1"/>
              <a:t> Linguistic Intersections: from Natural Language to Artificial Intelligence. </a:t>
            </a:r>
          </a:p>
          <a:p>
            <a:pPr/>
          </a:p>
          <a:p>
            <a:pPr/>
            <a:r>
              <a:rPr sz="1600" b="1"/>
              <a:t>21-22 November 2025</a:t>
            </a:r>
          </a:p>
          <a:p>
            <a:pPr/>
            <a:r>
              <a:rPr sz="1800" b="1"/>
              <a:t>Bucharest, Romania </a:t>
            </a:r>
          </a:p>
          <a:p>
            <a:pPr/>
          </a:p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1/67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88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Research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83264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Professor Nikolaos Lavidas (Principal Investigator)</a:t>
            </a:r>
          </a:p>
          <a:p>
            <a:pPr/>
          </a:p>
          <a:p>
            <a:pPr/>
            <a:r>
              <a:rPr sz="1800" b="1"/>
              <a:t>Professor Emeritus Vasiliki Nikiforidou</a:t>
            </a:r>
          </a:p>
          <a:p>
            <a:pPr/>
          </a:p>
          <a:p>
            <a:pPr/>
            <a:r>
              <a:rPr sz="1800" b="1"/>
              <a:t>Theodoros Michalareas</a:t>
            </a:r>
          </a:p>
          <a:p>
            <a:pPr/>
          </a:p>
          <a:p>
            <a:pPr/>
            <a:r>
              <a:rPr sz="1800" b="1"/>
              <a:t>Vasiliki Geka</a:t>
            </a:r>
          </a:p>
          <a:p>
            <a:pPr/>
          </a:p>
          <a:p>
            <a:pPr/>
            <a:r>
              <a:rPr sz="1800" b="1"/>
              <a:t>Vasilis Symeonidis</a:t>
            </a:r>
          </a:p>
          <a:p>
            <a:pPr/>
          </a:p>
          <a:p>
            <a:pPr/>
            <a:r>
              <a:rPr sz="1800" b="1"/>
              <a:t>Sophia Chionidi</a:t>
            </a:r>
          </a:p>
          <a:p>
            <a:pPr/>
          </a:p>
          <a:p>
            <a:pPr/>
            <a:r>
              <a:rPr sz="1800" b="1"/>
              <a:t>Eleni Plakoutsi</a:t>
            </a:r>
          </a:p>
          <a:p>
            <a:pPr/>
          </a:p>
          <a:p>
            <a:pPr/>
            <a:r>
              <a:rPr sz="1800" b="1"/>
              <a:t>Anastasia Tsiropina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8360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Aim of AthDGC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274320"/>
            <a:ext cx="3779912" cy="32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Creation of: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A parallel diachronic corpus of influential texts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B) A diachronic Valency Lexicon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440160" cy="576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456384" cy="345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Analysis of: 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Valency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B) Language diachrony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C) Written Language 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3/67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772400" cy="1829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Theoretical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4/67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876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Previous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Corpus of original texts and their retranslations as an effective tool for the study of language diachrony, language change and contact. </a:t>
            </a:r>
          </a:p>
          <a:p>
            <a:pPr/>
          </a:p>
          <a:p>
            <a:pPr/>
          </a:p>
          <a:p>
            <a:pPr/>
            <a:r>
              <a:rPr sz="1800" b="1"/>
              <a:t>Digital corpus of texts:</a:t>
            </a:r>
          </a:p>
          <a:p>
            <a:pPr/>
            <a:r>
              <a:rPr sz="1800"/>
              <a:t>e.g. Pragmatic Resources in Old Indo-European Languages-PROIEL </a:t>
            </a:r>
          </a:p>
          <a:p>
            <a:pPr/>
            <a:r>
              <a:rPr sz="1800"/>
              <a:t>(University of Oslo) </a:t>
            </a:r>
          </a:p>
          <a:p>
            <a:pPr/>
            <a:r>
              <a:rPr sz="1400"/>
              <a:t>(Haug and Jøhndal 2008; Eckoff et al 2018)</a:t>
            </a:r>
          </a:p>
          <a:p>
            <a:pPr/>
          </a:p>
          <a:p>
            <a:pPr/>
            <a:r>
              <a:rPr sz="1800" b="1"/>
              <a:t>Synchronic Valency Lexica:</a:t>
            </a:r>
          </a:p>
          <a:p>
            <a:pPr/>
            <a:r>
              <a:rPr sz="1800"/>
              <a:t>e.g. ValPaL</a:t>
            </a:r>
          </a:p>
          <a:p>
            <a:pPr/>
            <a:r>
              <a:rPr sz="1400"/>
              <a:t>(Malchukov and Comrie 2015)</a:t>
            </a:r>
          </a:p>
          <a:p>
            <a:pPr/>
          </a:p>
          <a:p>
            <a:pPr/>
            <a:r>
              <a:rPr sz="1800" b="1"/>
              <a:t>Historical or Crosslinguistic Valency Lexica: </a:t>
            </a:r>
          </a:p>
          <a:p>
            <a:pPr/>
            <a:r>
              <a:rPr sz="1400"/>
              <a:t>e.g.HoDeL (Zanchi 2021)</a:t>
            </a:r>
          </a:p>
          <a:p>
            <a:pPr/>
            <a:r>
              <a:rPr sz="1400"/>
              <a:t>PaVeDa (Luraghi et al. 2024)</a:t>
            </a:r>
          </a:p>
          <a:p>
            <a:pPr/>
          </a:p>
          <a:p>
            <a:pPr/>
            <a:r>
              <a:rPr sz="180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652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/>
              <a:t>(Lavidas 2021; Luraghi &amp; Sausa 2016; Sitaridou et al 2005)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3275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274320"/>
            <a:ext cx="8686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4191D2"/>
                </a:solidFill>
              </a:rPr>
              <a:t> Interdisciplinary approach: Diachronic - Historical Linguistics, Translation Studies, Computational analysis.</a:t>
            </a:r>
          </a:p>
          <a:p>
            <a:pPr/>
          </a:p>
          <a:p>
            <a:pPr/>
          </a:p>
          <a:p>
            <a:pPr/>
          </a:p>
          <a:p>
            <a:pPr/>
            <a:r>
              <a:rPr sz="1800" b="1">
                <a:solidFill>
                  <a:srgbClr val="4191D2"/>
                </a:solidFill>
              </a:rPr>
              <a:t> Focus on transitivity, semantic structure and morphosyntactic change.</a:t>
            </a:r>
          </a:p>
          <a:p>
            <a:pPr/>
          </a:p>
          <a:p>
            <a:pPr/>
          </a:p>
          <a:p>
            <a:pPr/>
          </a:p>
          <a:p>
            <a:pPr/>
            <a:r>
              <a:rPr sz="180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214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/>
              <a:t>(Lavidas &amp; Haug 2019)</a:t>
            </a:r>
          </a:p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110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/>
              <a:t>(Lavidas, 2009; Nikiforidou,1991)</a:t>
            </a:r>
          </a:p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6/67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592288" cy="122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096344" cy="1512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The PROIEL software and annotation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274320"/>
            <a:ext cx="3096344" cy="1512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Influential texts</a:t>
            </a:r>
          </a:p>
          <a:p>
            <a:pPr/>
            <a:r>
              <a:rPr sz="1800">
                <a:solidFill>
                  <a:srgbClr val="1A1A1A"/>
                </a:solidFill>
              </a:rPr>
              <a:t>(source texts and retranslations)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7/67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772400" cy="1829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The AthDGC </a:t>
            </a:r>
            <a:br/>
            <a:r>
              <a:t>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8/67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992888" cy="3312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4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The AthDGC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274320"/>
            <a:ext cx="8686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Influential texts-&gt; Texts that have a great impact in the history of humanity</a:t>
            </a:r>
          </a:p>
          <a:p>
            <a:pPr/>
            <a:r>
              <a:rPr sz="1800"/>
              <a:t>e.g. The Bible, the Homeric Poems etc   - criterion: retranslated and </a:t>
            </a:r>
          </a:p>
          <a:p>
            <a:pPr/>
            <a:r>
              <a:rPr sz="1800"/>
              <a:t>republished in many periods</a:t>
            </a:r>
          </a:p>
          <a:p>
            <a:pPr/>
          </a:p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6314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Indo-European Languages under investigation: Phase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1872208" cy="417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274320" y="274320"/>
            <a:ext cx="1148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Hellenic </a:t>
            </a:r>
          </a:p>
          <a:p>
            <a:pPr/>
            <a:r>
              <a:rPr sz="1800" b="1"/>
              <a:t>(Greek)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4320"/>
            <a:ext cx="2172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Germanic </a:t>
            </a:r>
          </a:p>
          <a:p>
            <a:pPr/>
            <a:r>
              <a:rPr sz="1800" b="1"/>
              <a:t>(English &amp; Gothic)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4320"/>
            <a:ext cx="2408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Romance</a:t>
            </a:r>
          </a:p>
          <a:p>
            <a:pPr/>
            <a:r>
              <a:rPr sz="1800" b="1"/>
              <a:t>(Latin &amp; Old French)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9/67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55446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667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Retranslations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0764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Original (source)</a:t>
            </a:r>
          </a:p>
          <a:p>
            <a:pPr/>
            <a:r>
              <a:rPr sz="2400" b="1">
                <a:solidFill>
                  <a:srgbClr val="4191D2"/>
                </a:solidFill>
              </a:rPr>
              <a:t> 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2920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Influential texts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23762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&amp; Texts representative of different periods: for diachronic, contrastive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10/67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3960440" cy="72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Original texts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3131840" cy="4104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Greek texts 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Ancient Greek: e.g. Homeric poems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Hellenistic Greek: e.g. New Testament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Medieval Greek: e.g. Psellos’ Chronographia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Early Modern Greek: e.g. Digenis Akritas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096344" cy="4104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English texts 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Old English: e.g. Ælfric's Lives of Saints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Middle English: e.g. Orrmin: The Ormulum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Modern English: e.g. Jane Austen’s Pride and Prejudice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2483768" cy="244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Old French:</a:t>
            </a:r>
          </a:p>
          <a:p>
            <a:pPr/>
            <a:r>
              <a:rPr sz="1800">
                <a:solidFill>
                  <a:srgbClr val="1A1A1A"/>
                </a:solidFill>
              </a:rPr>
              <a:t>e.g. La Vie de Saint Eustache</a:t>
            </a:r>
          </a:p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11/67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3960440" cy="72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Retranslations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4355976" cy="381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4191D2"/>
                </a:solidFill>
              </a:rPr>
              <a:t>Intralingual translations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e.g. the Greek retranslation of the New Testament by Alexandros Palles </a:t>
            </a:r>
          </a:p>
          <a:p>
            <a:pPr/>
            <a:r>
              <a:rPr sz="1800">
                <a:solidFill>
                  <a:srgbClr val="1A1A1A"/>
                </a:solidFill>
              </a:rPr>
              <a:t>(20th century)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4283968" cy="374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4191D2"/>
                </a:solidFill>
              </a:rPr>
              <a:t>Interlingual translations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e.g. the English retranslation of the New Testament by William Tyndale  </a:t>
            </a:r>
          </a:p>
          <a:p>
            <a:pPr/>
            <a:r>
              <a:rPr sz="1800">
                <a:solidFill>
                  <a:srgbClr val="1A1A1A"/>
                </a:solidFill>
              </a:rPr>
              <a:t>(16th century)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12/67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772400" cy="1829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Pragmatic Resources in Old Indo-European Languages</a:t>
            </a:r>
            <a:br/>
            <a:r>
              <a:t>- PROIEL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13/67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504" y="274320"/>
            <a:ext cx="24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The PROIEL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5" y="274320"/>
            <a:ext cx="86868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The PROIEL interface has been used by scholars to study language diachrony and written language contact. </a:t>
            </a:r>
          </a:p>
          <a:p>
            <a:pPr/>
            <a:r>
              <a:rPr sz="1400"/>
              <a:t>(cf. Lavidas &amp; Haug, 2019; Klein 2011; Giannolo 2011)</a:t>
            </a:r>
          </a:p>
          <a:p>
            <a:pPr/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6336704" cy="86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Open-source software tools and annotation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7200800" cy="1152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 Annotation guidelines regarding:</a:t>
            </a:r>
          </a:p>
          <a:p>
            <a:pPr/>
            <a:r>
              <a:rPr sz="1800">
                <a:solidFill>
                  <a:srgbClr val="1A1A1A"/>
                </a:solidFill>
              </a:rPr>
              <a:t>tokenization and sentence division (fully automated)</a:t>
            </a:r>
          </a:p>
          <a:p>
            <a:pPr/>
            <a:r>
              <a:rPr sz="1800">
                <a:solidFill>
                  <a:srgbClr val="1A1A1A"/>
                </a:solidFill>
              </a:rPr>
              <a:t>morphological annotation (partly automated)</a:t>
            </a:r>
          </a:p>
          <a:p>
            <a:pPr/>
            <a:r>
              <a:rPr sz="1800">
                <a:solidFill>
                  <a:srgbClr val="1A1A1A"/>
                </a:solidFill>
              </a:rPr>
              <a:t>c) syntactic annotation (manually completed)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7740352" cy="2016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Dependency grammar scheme 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Morphological and Syntactic tagset. </a:t>
            </a:r>
          </a:p>
          <a:p>
            <a:pPr/>
          </a:p>
          <a:p>
            <a:pPr/>
          </a:p>
          <a:p>
            <a:pPr/>
            <a:r>
              <a:rPr sz="1800" b="1">
                <a:solidFill>
                  <a:srgbClr val="4191D2"/>
                </a:solidFill>
              </a:rPr>
              <a:t>Effective in the analysis of free-word order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15504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/>
              <a:t>(Eckoff et al 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"/>
            <a:ext cx="360040" cy="50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14/67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1A1A1A"/>
                </a:solidFill>
              </a:rPr>
              <a:t>Table 1. The 22 syntactic tagset of PROEIL (Haug 2010).</a:t>
            </a:r>
          </a:p>
          <a:p>
            <a:pPr/>
            <a:br/>
            <a:r>
              <a:rPr sz="18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69847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/>
              <a:t>Table 1. The 22 syntactic tagset of PROEIL (Haug 2010).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15/67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32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The ATHDGC corpus Construction Principles</a:t>
            </a:r>
          </a:p>
          <a:p>
            <a:pPr/>
            <a:br/>
            <a:r>
              <a:rPr sz="1800"/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16/67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20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/>
              <a:t>The Corpus Construction Principles</a:t>
            </a:r>
          </a:p>
          <a:p>
            <a:pPr/>
            <a:br/>
            <a:r>
              <a:rPr sz="1800"/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016224" cy="1512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Diachronic and Theoretical (argument structure)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2016224" cy="1512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2016224" cy="1512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Annotation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17/67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Text selection</a:t>
            </a:r>
          </a:p>
          <a:p>
            <a:pPr/>
          </a:p>
          <a:p>
            <a:pPr/>
            <a:r>
              <a:rPr sz="1800"/>
              <a:t>Influential texts and sources as close as possible to the digital versions.</a:t>
            </a:r>
          </a:p>
          <a:p>
            <a:pPr/>
          </a:p>
          <a:p>
            <a:pPr/>
            <a:r>
              <a:rPr sz="1800"/>
              <a:t>Copyright free texts</a:t>
            </a:r>
          </a:p>
          <a:p>
            <a:pPr/>
          </a:p>
          <a:p>
            <a:pPr/>
            <a:r>
              <a:rPr sz="1800"/>
              <a:t>Metadata (Author, date, URL etc)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18/67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5446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2268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A) Texts from other open-access treebanks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2268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B) Texts from online text collections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21242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C) Scanned books or manuscripts from digital libraries and archives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223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D) Printed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512" y="274320"/>
            <a:ext cx="2880320" cy="792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4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19/67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8164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Texts from other open-source treebanks -PROIEL, Perseus database </a:t>
            </a:r>
          </a:p>
          <a:p>
            <a:pPr/>
            <a:r>
              <a:rPr sz="1400">
                <a:solidFill>
                  <a:srgbClr val="1A1A1A"/>
                </a:solidFill>
              </a:rPr>
              <a:t>(in .xml format)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20/67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4032448" cy="43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B) Texts from online text collections, such as Project Gutenberg or Bible Gateway.</a:t>
            </a:r>
          </a:p>
          <a:p>
            <a:pPr/>
            <a:r>
              <a:rPr sz="1800">
                <a:solidFill>
                  <a:srgbClr val="1A1A1A"/>
                </a:solidFill>
              </a:rPr>
              <a:t> </a:t>
            </a:r>
          </a:p>
          <a:p>
            <a:pPr/>
            <a:r>
              <a:rPr sz="1600">
                <a:solidFill>
                  <a:srgbClr val="1A1A1A"/>
                </a:solidFill>
              </a:rPr>
              <a:t>(in .txt or .html format)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21/67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42484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C) Scanned books or manuscripts from digital libraries and archives (e.g.the Internet Archive)</a:t>
            </a:r>
          </a:p>
          <a:p>
            <a:pPr/>
            <a:r>
              <a:rPr sz="1800">
                <a:solidFill>
                  <a:srgbClr val="1A1A1A"/>
                </a:solidFill>
              </a:rPr>
              <a:t> </a:t>
            </a:r>
          </a:p>
          <a:p>
            <a:pPr/>
            <a:r>
              <a:rPr sz="1600">
                <a:solidFill>
                  <a:srgbClr val="1A1A1A"/>
                </a:solidFill>
              </a:rPr>
              <a:t>(in .pdf format containing images of the pages)</a:t>
            </a:r>
          </a:p>
          <a:p>
            <a:pPr/>
          </a:p>
          <a:p>
            <a:pPr/>
            <a:r>
              <a:rPr sz="1800" b="1">
                <a:solidFill>
                  <a:srgbClr val="4191D2"/>
                </a:solidFill>
              </a:rPr>
              <a:t>D) Printed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6359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Tokenization and Sentence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274320"/>
            <a:ext cx="8686800" cy="136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Sentences: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Automatic segmentation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Delimiters established by the research team -&gt; punctuation marks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274320"/>
            <a:ext cx="4248472" cy="122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Challenges:</a:t>
            </a:r>
          </a:p>
          <a:p>
            <a:pPr/>
            <a:r>
              <a:rPr sz="1800">
                <a:solidFill>
                  <a:srgbClr val="1A1A1A"/>
                </a:solidFill>
              </a:rPr>
              <a:t>for example: </a:t>
            </a:r>
          </a:p>
          <a:p>
            <a:pPr/>
            <a:r>
              <a:rPr sz="1800">
                <a:solidFill>
                  <a:srgbClr val="1A1A1A"/>
                </a:solidFill>
              </a:rPr>
              <a:t>-Modern English: Μr. / Mrs.</a:t>
            </a:r>
          </a:p>
          <a:p>
            <a:pPr/>
            <a:r>
              <a:rPr sz="1800">
                <a:solidFill>
                  <a:srgbClr val="1A1A1A"/>
                </a:solidFill>
              </a:rPr>
              <a:t>-Modern Greek: ό,τι (anything)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23/67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71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Identification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768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Creation of IDs for the texts</a:t>
            </a:r>
          </a:p>
          <a:p>
            <a:pPr/>
          </a:p>
          <a:p>
            <a:pPr/>
            <a:r>
              <a:rPr sz="1800" b="1">
                <a:solidFill>
                  <a:srgbClr val="4191D2"/>
                </a:solidFill>
              </a:rPr>
              <a:t>ID information: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ATHDGC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Author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Source Language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Translator 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Target Language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Version</a:t>
            </a:r>
          </a:p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648072" cy="64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1728192" cy="86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Only for translations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24/67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686800" cy="151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Morphological Annotation (partially automated)</a:t>
            </a:r>
          </a:p>
          <a:p>
            <a:pPr/>
            <a:r>
              <a:rPr sz="1800"/>
              <a:t>Syntactic Annotation (manually completed)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4824536" cy="302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Automatic syntactic annotation</a:t>
            </a:r>
          </a:p>
          <a:p>
            <a:pPr/>
          </a:p>
          <a:p>
            <a:pPr/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Extraction of syntactic information </a:t>
            </a:r>
          </a:p>
          <a:p>
            <a:pPr/>
          </a:p>
          <a:p>
            <a:pPr/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Creation of the diachronic Valency Lexicon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288032" cy="50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1882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4191D2"/>
                </a:solidFill>
              </a:rPr>
              <a:t>Main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288032" cy="50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25/67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772400" cy="1829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The Valency Lexicon</a:t>
            </a:r>
            <a:br/>
          </a:p>
        </p:txBody>
      </p:sp>
      <p:sp>
        <p:nvSpPr>
          <p:cNvPr id="3" name="TextBox 2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26/67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291144" cy="82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/>
              <a:t>What is valency?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549746" cy="3699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Valency describes the presence/absence, type and number of arguments licensed by a verb</a:t>
            </a:r>
          </a:p>
          <a:p>
            <a:pPr/>
            <a:r>
              <a:rPr sz="2400">
                <a:solidFill>
                  <a:srgbClr val="1A1A1A"/>
                </a:solidFill>
              </a:rPr>
              <a:t>	(1) Mary sleeps.</a:t>
            </a:r>
          </a:p>
          <a:p>
            <a:pPr/>
            <a:r>
              <a:rPr sz="2400">
                <a:solidFill>
                  <a:srgbClr val="1A1A1A"/>
                </a:solidFill>
              </a:rPr>
              <a:t>	(2) Mary likes John.</a:t>
            </a:r>
          </a:p>
          <a:p>
            <a:pPr/>
            <a:r>
              <a:rPr sz="2400">
                <a:solidFill>
                  <a:srgbClr val="1A1A1A"/>
                </a:solidFill>
              </a:rPr>
              <a:t>	(3) Mary gave a letter to John.</a:t>
            </a:r>
          </a:p>
          <a:p>
            <a:pPr/>
          </a:p>
          <a:p>
            <a:pPr/>
            <a:r>
              <a:rPr sz="2400"/>
              <a:t> Underlying idea: </a:t>
            </a:r>
          </a:p>
          <a:p>
            <a:pPr lvl="1"/>
            <a:r>
              <a:rPr sz="2000"/>
              <a:t>Number of participants in semantics = number of arguments in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507168" cy="68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/>
              <a:t>Tesnière (1959)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920880" cy="1162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Verb = central structural element of the sentence, all other elements depend on it [dependency grammar]</a:t>
            </a:r>
          </a:p>
          <a:p>
            <a:pPr/>
            <a:r>
              <a:rPr sz="2400"/>
              <a:t>Verb classes according to the number of arguments: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28/67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6719059" cy="104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/>
              <a:t>Basic argument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7991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Basic argument frame = the most frequent/default argument set of a verb</a:t>
            </a:r>
          </a:p>
          <a:p>
            <a:pPr/>
            <a:r>
              <a:rPr sz="2400">
                <a:solidFill>
                  <a:srgbClr val="1A1A1A"/>
                </a:solidFill>
              </a:rPr>
              <a:t>e.g. He saw her.   1-nom.V.2-acc </a:t>
            </a:r>
          </a:p>
          <a:p>
            <a:pPr/>
          </a:p>
          <a:p>
            <a:pPr/>
            <a:r>
              <a:rPr sz="2400"/>
              <a:t>But: not only one argument frame</a:t>
            </a:r>
          </a:p>
          <a:p>
            <a:pPr/>
            <a:r>
              <a:rPr sz="2400">
                <a:solidFill>
                  <a:srgbClr val="1A1A1A"/>
                </a:solidFill>
              </a:rPr>
              <a:t> I see. (= I understand.)</a:t>
            </a:r>
          </a:p>
          <a:p>
            <a:pPr lvl="1"/>
            <a:r>
              <a:rPr sz="2000"/>
              <a:t>number of arguments</a:t>
            </a:r>
          </a:p>
          <a:p>
            <a:pPr lvl="1"/>
            <a:r>
              <a:rPr sz="2000"/>
              <a:t>case/type of the arguments</a:t>
            </a:r>
          </a:p>
          <a:p>
            <a:pPr lvl="1"/>
            <a:r>
              <a:rPr sz="2000"/>
              <a:t>word order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29/67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6719059" cy="104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/>
              <a:t>Valency Alternations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208912" cy="104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Valency alternations = a verb changes the number and/or type of arguments it licenses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6502878" cy="147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Middle alternation</a:t>
            </a:r>
          </a:p>
          <a:p>
            <a:pPr/>
            <a:r>
              <a:rPr sz="1800">
                <a:solidFill>
                  <a:srgbClr val="1A1A1A"/>
                </a:solidFill>
              </a:rPr>
              <a:t>	Jane broke the crystal. // The crystal broke.</a:t>
            </a:r>
          </a:p>
          <a:p>
            <a:pPr/>
            <a:r>
              <a:rPr sz="1800">
                <a:solidFill>
                  <a:srgbClr val="1A1A1A"/>
                </a:solidFill>
              </a:rPr>
              <a:t>	Margaret cut the board. // ??The board cut.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6502878" cy="147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Causative/Inchoative alternation</a:t>
            </a:r>
          </a:p>
          <a:p>
            <a:pPr/>
            <a:r>
              <a:rPr sz="1800">
                <a:solidFill>
                  <a:srgbClr val="1A1A1A"/>
                </a:solidFill>
              </a:rPr>
              <a:t>	They stood the statue on the pedestal. </a:t>
            </a:r>
          </a:p>
          <a:p>
            <a:pPr/>
            <a:r>
              <a:rPr sz="1800">
                <a:solidFill>
                  <a:srgbClr val="1A1A1A"/>
                </a:solidFill>
              </a:rPr>
              <a:t>	The statue stood on the pedestal.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6502878" cy="147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Dative alternation</a:t>
            </a:r>
          </a:p>
          <a:p>
            <a:pPr/>
            <a:r>
              <a:rPr sz="1800">
                <a:solidFill>
                  <a:srgbClr val="1A1A1A"/>
                </a:solidFill>
              </a:rPr>
              <a:t>	They gave him cake.</a:t>
            </a:r>
          </a:p>
          <a:p>
            <a:pPr/>
            <a:r>
              <a:rPr sz="1800">
                <a:solidFill>
                  <a:srgbClr val="1A1A1A"/>
                </a:solidFill>
              </a:rPr>
              <a:t>	They gave cake to him.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30/67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6499056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/>
              <a:t>Valency Alternations (2)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6502878" cy="181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Unspecified Object Alternation</a:t>
            </a:r>
          </a:p>
          <a:p>
            <a:pPr/>
            <a:r>
              <a:rPr sz="1800">
                <a:solidFill>
                  <a:srgbClr val="1A1A1A"/>
                </a:solidFill>
              </a:rPr>
              <a:t>	Mike ate all the cake.</a:t>
            </a:r>
          </a:p>
          <a:p>
            <a:pPr/>
            <a:r>
              <a:rPr sz="1800">
                <a:solidFill>
                  <a:srgbClr val="1A1A1A"/>
                </a:solidFill>
              </a:rPr>
              <a:t>	Mike ate.</a:t>
            </a:r>
          </a:p>
          <a:p>
            <a:pPr/>
            <a:r>
              <a:rPr sz="1800">
                <a:solidFill>
                  <a:srgbClr val="1A1A1A"/>
                </a:solidFill>
              </a:rPr>
              <a:t>	Mike put the flowers in the vase.</a:t>
            </a:r>
          </a:p>
          <a:p>
            <a:pPr/>
            <a:r>
              <a:rPr sz="1800">
                <a:solidFill>
                  <a:srgbClr val="1A1A1A"/>
                </a:solidFill>
              </a:rPr>
              <a:t>	??Mike put.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02878" cy="181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Understood Reflexive Object Alternation</a:t>
            </a:r>
          </a:p>
          <a:p>
            <a:pPr/>
            <a:r>
              <a:rPr sz="1800">
                <a:solidFill>
                  <a:srgbClr val="1A1A1A"/>
                </a:solidFill>
              </a:rPr>
              <a:t>	Jill dressed herself in a hurry.</a:t>
            </a:r>
          </a:p>
          <a:p>
            <a:pPr/>
            <a:r>
              <a:rPr sz="1800">
                <a:solidFill>
                  <a:srgbClr val="1A1A1A"/>
                </a:solidFill>
              </a:rPr>
              <a:t>	Jill dressed in a hurry.</a:t>
            </a:r>
          </a:p>
          <a:p>
            <a:pPr/>
            <a:r>
              <a:rPr sz="1800">
                <a:solidFill>
                  <a:srgbClr val="1A1A1A"/>
                </a:solidFill>
              </a:rPr>
              <a:t>	Jill cut herself.</a:t>
            </a:r>
          </a:p>
          <a:p>
            <a:pPr/>
            <a:r>
              <a:rPr sz="1800">
                <a:solidFill>
                  <a:srgbClr val="1A1A1A"/>
                </a:solidFill>
              </a:rPr>
              <a:t>	??Jill cut.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6502878" cy="181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1A"/>
                </a:solidFill>
              </a:rPr>
              <a:t>6.    Understood Reciprocal Object Alternation</a:t>
            </a:r>
          </a:p>
          <a:p>
            <a:pPr/>
            <a:r>
              <a:rPr sz="1800">
                <a:solidFill>
                  <a:srgbClr val="1A1A1A"/>
                </a:solidFill>
              </a:rPr>
              <a:t>	Anne met Cathy.</a:t>
            </a:r>
          </a:p>
          <a:p>
            <a:pPr/>
            <a:r>
              <a:rPr sz="1800">
                <a:solidFill>
                  <a:srgbClr val="1A1A1A"/>
                </a:solidFill>
              </a:rPr>
              <a:t>	Anne and Cathy met.</a:t>
            </a:r>
          </a:p>
          <a:p>
            <a:pPr/>
            <a:r>
              <a:rPr sz="1800">
                <a:solidFill>
                  <a:srgbClr val="1A1A1A"/>
                </a:solidFill>
              </a:rPr>
              <a:t>	Joe and Carter gossiped.</a:t>
            </a:r>
          </a:p>
          <a:p>
            <a:pPr/>
            <a:r>
              <a:rPr sz="1800">
                <a:solidFill>
                  <a:srgbClr val="1A1A1A"/>
                </a:solidFill>
              </a:rPr>
              <a:t>	??Joe gossiped Carter.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31/67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363152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/>
              <a:t>Valency Alternations (3)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4189802" cy="3036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	</a:t>
            </a:r>
          </a:p>
          <a:p>
            <a:pPr/>
          </a:p>
          <a:p>
            <a:pPr/>
          </a:p>
          <a:p>
            <a:pPr/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80920" cy="1315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	etc.…</a:t>
            </a:r>
          </a:p>
          <a:p>
            <a:pPr/>
            <a:r>
              <a:rPr sz="2000"/>
              <a:t> Valency alternations vary from one language to another</a:t>
            </a:r>
          </a:p>
          <a:p>
            <a:pPr/>
            <a:r>
              <a:rPr sz="2000"/>
              <a:t> Levin (1993): identifies up to 50 alternations for English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243180" y="274320"/>
            <a:ext cx="7214138" cy="1887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Locative preposition drop</a:t>
            </a:r>
          </a:p>
          <a:p>
            <a:pPr/>
            <a:r>
              <a:rPr sz="1800">
                <a:solidFill>
                  <a:srgbClr val="1A1A1A"/>
                </a:solidFill>
              </a:rPr>
              <a:t>	Martha climbed up a mountain.</a:t>
            </a:r>
          </a:p>
          <a:p>
            <a:pPr/>
            <a:r>
              <a:rPr sz="1800">
                <a:solidFill>
                  <a:srgbClr val="1A1A1A"/>
                </a:solidFill>
              </a:rPr>
              <a:t>	Martha climbed a mountain.</a:t>
            </a:r>
          </a:p>
          <a:p>
            <a:pPr/>
            <a:r>
              <a:rPr sz="1800">
                <a:solidFill>
                  <a:srgbClr val="1A1A1A"/>
                </a:solidFill>
              </a:rPr>
              <a:t>	Sharon came into the room.</a:t>
            </a:r>
          </a:p>
          <a:p>
            <a:pPr/>
            <a:r>
              <a:rPr sz="1800">
                <a:solidFill>
                  <a:srgbClr val="1A1A1A"/>
                </a:solidFill>
              </a:rPr>
              <a:t>	??Sharon came the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7128792" cy="176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8.    Benefactive Alternation</a:t>
            </a:r>
          </a:p>
          <a:p>
            <a:pPr/>
            <a:r>
              <a:rPr sz="1800">
                <a:solidFill>
                  <a:srgbClr val="1A1A1A"/>
                </a:solidFill>
              </a:rPr>
              <a:t>	Martha carved a toy for the baby.</a:t>
            </a:r>
          </a:p>
          <a:p>
            <a:pPr/>
            <a:r>
              <a:rPr sz="1800">
                <a:solidFill>
                  <a:srgbClr val="1A1A1A"/>
                </a:solidFill>
              </a:rPr>
              <a:t>	Martha carved the baby a toy.</a:t>
            </a:r>
          </a:p>
          <a:p>
            <a:pPr/>
            <a:r>
              <a:rPr sz="1800">
                <a:solidFill>
                  <a:srgbClr val="1A1A1A"/>
                </a:solidFill>
              </a:rPr>
              <a:t>	The architect selected a house for the couple.</a:t>
            </a:r>
          </a:p>
          <a:p>
            <a:pPr/>
            <a:r>
              <a:rPr sz="1800">
                <a:solidFill>
                  <a:srgbClr val="1A1A1A"/>
                </a:solidFill>
              </a:rPr>
              <a:t>	?? The architect selected	the couple a house.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32/67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363152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AthDGC Valency Lexicon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274320"/>
            <a:ext cx="56166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One lexicon per language </a:t>
            </a:r>
          </a:p>
          <a:p>
            <a:pPr/>
            <a:r>
              <a:rPr sz="2400"/>
              <a:t>	(1 for Greek, 1 for English)</a:t>
            </a:r>
          </a:p>
          <a:p>
            <a:pPr/>
          </a:p>
          <a:p>
            <a:pPr/>
            <a:r>
              <a:rPr sz="2400"/>
              <a:t>Valency lexicon = </a:t>
            </a:r>
          </a:p>
          <a:p>
            <a:pPr/>
            <a:r>
              <a:rPr sz="2400"/>
              <a:t>	list of verbs + valency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486424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Annotation through the PROIEL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34/67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486424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Annotation through the PROIEL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35/67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486424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Annotation through the PROIEL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36/67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496" y="274320"/>
            <a:ext cx="8686800" cy="113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AthDGC Valency Lexicon </a:t>
            </a:r>
          </a:p>
          <a:p>
            <a:pPr/>
            <a:r>
              <a:rPr sz="2400" b="0"/>
              <a:t>a .cvs file –Cooperation with Harvard CHS (Arkas Team)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37/67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496" y="274320"/>
            <a:ext cx="8686800" cy="113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AthDGC Valency Lexicon </a:t>
            </a:r>
          </a:p>
          <a:p>
            <a:pPr/>
            <a:r>
              <a:rPr sz="2400" b="0"/>
              <a:t>a .cvs file –Cooperation with Harvard CHS (Arkas Team)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38/67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363152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AthDGC Valency Lexicon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‘write’</a:t>
            </a:r>
          </a:p>
          <a:p>
            <a:pPr/>
            <a:r>
              <a:rPr sz="1800">
                <a:solidFill>
                  <a:srgbClr val="1A1A1A"/>
                </a:solidFill>
              </a:rPr>
              <a:t>Modern English, Frequency in the corpus: 1015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0682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								etc…</a:t>
            </a:r>
          </a:p>
          <a:p>
            <a:pPr/>
            <a:r>
              <a:rPr sz="1600">
                <a:solidFill>
                  <a:srgbClr val="1A1A1A"/>
                </a:solidFill>
              </a:rPr>
              <a:t>You write uncommonly fast.</a:t>
            </a:r>
          </a:p>
          <a:p>
            <a:pPr/>
            <a:r>
              <a:rPr sz="1600">
                <a:solidFill>
                  <a:srgbClr val="1A1A1A"/>
                </a:solidFill>
              </a:rPr>
              <a:t>because he does not write with ease.</a:t>
            </a:r>
          </a:p>
          <a:p>
            <a:pPr/>
            <a:r>
              <a:rPr sz="1600">
                <a:solidFill>
                  <a:srgbClr val="1A1A1A"/>
                </a:solidFill>
              </a:rPr>
              <a:t>…a person who can write a long letter with ease…</a:t>
            </a:r>
          </a:p>
          <a:p>
            <a:pPr/>
            <a:r>
              <a:rPr sz="1600">
                <a:solidFill>
                  <a:srgbClr val="1A1A1A"/>
                </a:solidFill>
              </a:rPr>
              <a:t>and when I next write to her …</a:t>
            </a:r>
          </a:p>
          <a:p>
            <a:pPr/>
            <a:r>
              <a:rPr sz="1600">
                <a:solidFill>
                  <a:srgbClr val="1A1A1A"/>
                </a:solidFill>
              </a:rPr>
              <a:t>it had been written five days ago.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39/67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363152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AthDGC Valency Lexicon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‘writen’</a:t>
            </a:r>
          </a:p>
          <a:p>
            <a:pPr/>
            <a:r>
              <a:rPr sz="1800">
                <a:solidFill>
                  <a:srgbClr val="1A1A1A"/>
                </a:solidFill>
              </a:rPr>
              <a:t>Middle English, Frequency in the corpus: 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0682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A1A"/>
                </a:solidFill>
              </a:rPr>
              <a:t>Reum Beel Theem and Samsai the scryuen writen sich oon epistle fro Jerusalem to the kyng Artaxerses;</a:t>
            </a:r>
          </a:p>
          <a:p>
            <a:pPr/>
            <a:r>
              <a:rPr sz="1600"/>
              <a:t>    (“Reum Beelteem and Samsai the scribe wrote a letter from Jerusalem to king</a:t>
            </a:r>
          </a:p>
          <a:p>
            <a:pPr/>
            <a:r>
              <a:rPr sz="1600"/>
              <a:t>    Artaxerxes in this manner”)</a:t>
            </a:r>
          </a:p>
          <a:p>
            <a:pPr/>
            <a:r>
              <a:rPr sz="1600">
                <a:solidFill>
                  <a:srgbClr val="1A1A1A"/>
                </a:solidFill>
              </a:rPr>
              <a:t>Forsothe of his vnclennesse and his vnreligioustee it is writen in the book of the tymes of kyngis.</a:t>
            </a:r>
          </a:p>
          <a:p>
            <a:pPr/>
            <a:r>
              <a:rPr sz="1600"/>
              <a:t>    (Indeed, of his uncleanness and his unreligiousness it is written in the book </a:t>
            </a:r>
          </a:p>
          <a:p>
            <a:pPr/>
            <a:r>
              <a:rPr sz="1600"/>
              <a:t>    of the history of kings.</a:t>
            </a:r>
          </a:p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40/67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363152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AthDGC Valency Lexicon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‘writan’</a:t>
            </a:r>
          </a:p>
          <a:p>
            <a:pPr/>
            <a:r>
              <a:rPr sz="1800"/>
              <a:t>Old English, Frequency in the corpus: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274320"/>
            <a:ext cx="80682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A1A"/>
                </a:solidFill>
              </a:rPr>
              <a:t>Moyses lyfde þæt man write hiwgedales boc &amp; hi forlete.</a:t>
            </a:r>
          </a:p>
          <a:p>
            <a:pPr/>
            <a:r>
              <a:rPr sz="1600"/>
              <a:t>    (Moses allowed the man to write a bill of divorce and abandon her.)</a:t>
            </a:r>
          </a:p>
          <a:p>
            <a:pPr/>
            <a:r>
              <a:rPr sz="1600">
                <a:solidFill>
                  <a:srgbClr val="1A1A1A"/>
                </a:solidFill>
              </a:rPr>
              <a:t>for eower heortan heardnesse he eow wrat þis bebod.</a:t>
            </a:r>
          </a:p>
          <a:p>
            <a:pPr/>
            <a:r>
              <a:rPr sz="1600"/>
              <a:t>    (for your heart’s hardness he wrote you this command)</a:t>
            </a:r>
          </a:p>
          <a:p>
            <a:pPr/>
            <a:r>
              <a:rPr sz="1600">
                <a:solidFill>
                  <a:srgbClr val="1A1A1A"/>
                </a:solidFill>
              </a:rPr>
              <a:t>Lareow, Moyses us wrat, gif hwæs broðor dead bið …</a:t>
            </a:r>
          </a:p>
          <a:p>
            <a:pPr/>
            <a:r>
              <a:rPr sz="1600"/>
              <a:t>    (Teacher, Moses, wrote us if someone’s brother is dead…)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41/67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772400" cy="1872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Challenges encountered</a:t>
            </a:r>
            <a:br/>
          </a:p>
        </p:txBody>
      </p:sp>
      <p:sp>
        <p:nvSpPr>
          <p:cNvPr id="3" name="TextBox 2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42/67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601491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Text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601491" cy="520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Texts for the corpus (copyright-free):</a:t>
            </a:r>
          </a:p>
          <a:p>
            <a:pPr lvl="1"/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601491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Orthographic variation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601491" cy="4192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For example: Old and Middle English:</a:t>
            </a:r>
          </a:p>
          <a:p>
            <a:pPr lvl="1"/>
            <a:r>
              <a:rPr sz="1600"/>
              <a:t>u instead of v, i instead of j</a:t>
            </a:r>
          </a:p>
          <a:p>
            <a:pPr lvl="1"/>
            <a:r>
              <a:rPr sz="1600"/>
              <a:t>same word, different orthographies: gyue, yyue, yiue, giue = give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rPr sz="2000"/>
              <a:t>Our decision: keep original orthography</a:t>
            </a:r>
          </a:p>
          <a:p>
            <a:pPr/>
            <a:r>
              <a:rPr sz="2000"/>
              <a:t>    BUT create custom dictionaries for each text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7488832" cy="1512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Challenges: automatic dictionary does not recognize different tokens of the same words </a:t>
            </a:r>
          </a:p>
          <a:p>
            <a:pPr/>
            <a:r>
              <a:rPr sz="1800">
                <a:solidFill>
                  <a:srgbClr val="1A1A1A"/>
                </a:solidFill>
              </a:rPr>
              <a:t>	 harder tokenization</a:t>
            </a:r>
          </a:p>
          <a:p>
            <a:pPr/>
            <a:r>
              <a:rPr sz="1800">
                <a:solidFill>
                  <a:srgbClr val="1A1A1A"/>
                </a:solidFill>
              </a:rPr>
              <a:t>	 harder for the automatic morphological parser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44/67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317432" cy="1728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Automatic valency extraction: Subjects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601491" cy="345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Subjects = problematic</a:t>
            </a:r>
          </a:p>
          <a:p>
            <a:pPr lvl="1"/>
            <a:r>
              <a:rPr sz="2000"/>
              <a:t>null subjects in pro-drop languages (e.g. Greek)</a:t>
            </a:r>
          </a:p>
          <a:p>
            <a:pPr lvl="1"/>
            <a:r>
              <a:rPr sz="2000"/>
              <a:t>null subject verbs vs avalent verbs (impersonal verbs, weather verbs)  hard to distinguish automatically</a:t>
            </a:r>
          </a:p>
          <a:p>
            <a:pPr lvl="1"/>
            <a:r>
              <a:rPr sz="2000"/>
              <a:t>null objects too?  harder to locate</a:t>
            </a:r>
          </a:p>
          <a:p>
            <a:pPr lvl="1"/>
          </a:p>
          <a:p>
            <a:pPr lvl="1"/>
          </a:p>
          <a:p>
            <a:pPr lvl="1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45/67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45149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Automatic valency extraction: Subjects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00400" cy="4248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Possible solutions:</a:t>
            </a:r>
          </a:p>
          <a:p>
            <a:pPr lvl="1"/>
            <a:r>
              <a:rPr sz="2000"/>
              <a:t>do not extract subjects at all (e.g. HoDeL, see Zanchi 2021; Syntacticus for PROIEL)</a:t>
            </a:r>
          </a:p>
          <a:p>
            <a:pPr lvl="1"/>
            <a:r>
              <a:rPr sz="2000"/>
              <a:t>fully-manual annotation (e.g. PaVeDa, see Luraghi et al. 2024)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00400" cy="4248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Our decision:</a:t>
            </a:r>
          </a:p>
          <a:p>
            <a:pPr lvl="1"/>
            <a:r>
              <a:rPr sz="2000"/>
              <a:t>Extract all overt subjects </a:t>
            </a:r>
          </a:p>
          <a:p>
            <a:pPr lvl="1"/>
            <a:r>
              <a:rPr sz="2000"/>
              <a:t>If overt subject not present  mark the subject as expressed by the verb suffix (V[subj])</a:t>
            </a:r>
          </a:p>
          <a:p>
            <a:pPr lvl="1"/>
            <a:r>
              <a:rPr sz="2000"/>
              <a:t>Manually delete the subject from avalent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46/67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601491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Morphological annotation – Modern Greek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601491" cy="136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PROIEL: uses traditional metalanguage for the morphological description of Ancient Greek</a:t>
            </a:r>
          </a:p>
          <a:p>
            <a:pPr/>
          </a:p>
          <a:p>
            <a:pPr/>
          </a:p>
          <a:p>
            <a:pPr/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601491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Annotation scheme - Morphology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601491" cy="411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conflates tense (past – present – future) with aspect (perfective – imperfective), e.g.</a:t>
            </a:r>
          </a:p>
          <a:p>
            <a:pPr/>
          </a:p>
          <a:p>
            <a:pPr lvl="1"/>
          </a:p>
          <a:p>
            <a:pPr lvl="1"/>
          </a:p>
          <a:p>
            <a:pPr lvl="1"/>
          </a:p>
          <a:p>
            <a:pPr lvl="1"/>
          </a:p>
          <a:p>
            <a:pPr lvl="1"/>
          </a:p>
          <a:p>
            <a:pPr/>
            <a:r>
              <a:rPr sz="2400"/>
              <a:t>difference between AG and MG verbal systems</a:t>
            </a:r>
          </a:p>
          <a:p>
            <a:pPr lvl="1"/>
            <a:r>
              <a:rPr sz="2000"/>
              <a:t>a lot of periphrastic verbal forms  impossible to fit into the traditional 6 categories</a:t>
            </a:r>
          </a:p>
          <a:p>
            <a:pPr/>
          </a:p>
          <a:p>
            <a:pPr/>
          </a:p>
          <a:p>
            <a:pPr/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7152403" cy="159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2000">
                <a:solidFill>
                  <a:srgbClr val="1A1A1A"/>
                </a:solidFill>
              </a:rPr>
              <a:t>aorist = [+past], [+perfective], </a:t>
            </a:r>
          </a:p>
          <a:p>
            <a:pPr lvl="1"/>
            <a:r>
              <a:rPr sz="2000">
                <a:solidFill>
                  <a:srgbClr val="1A1A1A"/>
                </a:solidFill>
              </a:rPr>
              <a:t>imperfect = [+past], [-perfective] </a:t>
            </a:r>
          </a:p>
          <a:p>
            <a:pPr lvl="1"/>
          </a:p>
          <a:p>
            <a:pPr lvl="1"/>
            <a:r>
              <a:rPr sz="1400">
                <a:solidFill>
                  <a:srgbClr val="1A1A1A"/>
                </a:solidFill>
              </a:rPr>
              <a:t>(Holton, Mackridge, and Philippaki-Warburton 2014: 121-122)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48/67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601491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 new annotation scheme for MG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49/67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601491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 new annotation scheme for MG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50/67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601491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 new PROIEL annotation scheme for MG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601491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See Tsangalidis (2013) and Spyropoulos and Stamatogiannis (2013), among many others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7601491" cy="1999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/>
              <a:t>New tags: </a:t>
            </a:r>
          </a:p>
          <a:p>
            <a:pPr lvl="1"/>
            <a:r>
              <a:rPr sz="2000"/>
              <a:t>particle: for na/as, tha</a:t>
            </a:r>
          </a:p>
          <a:p>
            <a:pPr lvl="1"/>
            <a:r>
              <a:rPr sz="2000"/>
              <a:t>non-finite: for periphrases of perfect tenses (echo grapsi, icha grapsi)</a:t>
            </a:r>
          </a:p>
          <a:p>
            <a:pPr lvl="1"/>
            <a:r>
              <a:rPr sz="2000"/>
              <a:t>No subjunctive</a:t>
            </a:r>
          </a:p>
          <a:p>
            <a:pPr lvl="1"/>
            <a:r>
              <a:rPr sz="2000"/>
              <a:t>Imperative: unspecified tense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51/67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08912" cy="1355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Automatic syntactic parsing: Late Medieval Greek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601491" cy="185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1 reference text (Sphrantzes) in Late Medieval Greek  </a:t>
            </a:r>
          </a:p>
          <a:p>
            <a:pPr/>
            <a:r>
              <a:rPr sz="2000"/>
              <a:t>selected 4 parsers trained in modern or ancient Greek for evaluation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08912" cy="1355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Automatic syntactic parsing: Late Medieval Greek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07720" cy="316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Problem 1: Parsers use UD/CoNLL-U Treebank Framework</a:t>
            </a:r>
          </a:p>
          <a:p>
            <a:pPr/>
          </a:p>
          <a:p>
            <a:pPr/>
            <a:r>
              <a:rPr sz="2000" b="1">
                <a:solidFill>
                  <a:srgbClr val="4191D2"/>
                </a:solidFill>
              </a:rPr>
              <a:t>A.1) Evaluate 4 parsers on reference text – CoNLL-U data </a:t>
            </a:r>
          </a:p>
          <a:p>
            <a:pPr/>
            <a:r>
              <a:rPr sz="2000"/>
              <a:t>convert reference annotated treebank chron-1.xml to CoNLL-U using PROIEL method </a:t>
            </a:r>
          </a:p>
          <a:p>
            <a:pPr/>
            <a:r>
              <a:rPr sz="2000"/>
              <a:t>run 4 parsers → get CoNLL-U results → compare to reference results </a:t>
            </a:r>
          </a:p>
          <a:p>
            <a:pPr/>
            <a:r>
              <a:rPr sz="2000"/>
              <a:t> Are they accurate for CoNLL-U?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08912" cy="1355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Automatic syntactic parsing: Late Medieval Greek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07720" cy="316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4191D2"/>
                </a:solidFill>
              </a:rPr>
              <a:t>A.2) Evaluate 4 parsers on reference text - PROIEL data </a:t>
            </a:r>
          </a:p>
          <a:p>
            <a:pPr/>
            <a:r>
              <a:rPr sz="2000">
                <a:solidFill>
                  <a:srgbClr val="4191D2"/>
                </a:solidFill>
              </a:rPr>
              <a:t>run 4 parsers → get CoNLL-U results → convert to PROIEL using custom mapping → compare results to original PROEIL data </a:t>
            </a:r>
          </a:p>
          <a:p>
            <a:pPr/>
            <a:r>
              <a:rPr sz="2000"/>
              <a:t>Are they accurate for PROEIL?</a:t>
            </a:r>
          </a:p>
          <a:p>
            <a:pPr/>
          </a:p>
          <a:p>
            <a:pPr/>
            <a:r>
              <a:rPr sz="2000"/>
              <a:t>Most data available in CoNLL-U  conversion to PROEIL can speed up corpus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54/67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087212" cy="576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very low F1 scores &lt;0.42  models have poor performance in Late Medieval Greek texts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208912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Automatic syntactic parsing: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274320"/>
            <a:ext cx="3190668" cy="320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a simplified score = average (number of relations discovered successfully for each sentence compared to that of the original treebank)</a:t>
            </a:r>
          </a:p>
          <a:p>
            <a:pPr/>
          </a:p>
          <a:p>
            <a:pPr/>
            <a:r>
              <a:rPr sz="2000"/>
              <a:t>F1 score (overall and across different UD syntactic classes)</a:t>
            </a:r>
          </a:p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55/67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08912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Automatic syntactic parsing: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190668" cy="320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Best results: semi-automatic annotation = as time-consuming as manual annotation</a:t>
            </a:r>
          </a:p>
          <a:p>
            <a:pPr lvl="1"/>
          </a:p>
          <a:p>
            <a:pPr lvl="1"/>
            <a:r>
              <a:rPr sz="1800"/>
              <a:t>BUT better results in shorter sentences  break up large sentences?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318433" cy="355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1A"/>
                </a:solidFill>
              </a:rPr>
              <a:t>CoNLL-U vs PROEIL:</a:t>
            </a:r>
          </a:p>
          <a:p>
            <a:pPr/>
            <a:r>
              <a:rPr sz="2000">
                <a:solidFill>
                  <a:srgbClr val="1A1A1A"/>
                </a:solidFill>
              </a:rPr>
              <a:t>PROIEL has more fine-grained distinctions compared to UD-ConLL structural differences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56/67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064896" cy="34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Expand on the least represented languages of the corpus (Old and Middle French, Old English)</a:t>
            </a:r>
          </a:p>
          <a:p>
            <a:pPr/>
            <a:r>
              <a:rPr sz="2000"/>
              <a:t>Add new languages (Gothic)</a:t>
            </a:r>
          </a:p>
          <a:p>
            <a:pPr/>
            <a:r>
              <a:rPr sz="2000"/>
              <a:t>Automate syntactic annotation:</a:t>
            </a:r>
          </a:p>
          <a:p>
            <a:pPr lvl="1"/>
            <a:r>
              <a:rPr sz="1800"/>
              <a:t>a more accurate conversion pipeline from UD-ConLL to PROIEL</a:t>
            </a:r>
          </a:p>
          <a:p>
            <a:pPr lvl="1"/>
            <a:r>
              <a:rPr sz="1800"/>
              <a:t>training existing syntactic parsers </a:t>
            </a:r>
          </a:p>
          <a:p>
            <a:pPr/>
          </a:p>
          <a:p>
            <a:pPr/>
          </a:p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583155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/>
              <a:t>On-going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7834064" cy="92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3529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Liu, G., &amp; Du, Y. (2019). A corpus-based study of valency sentence patterns of English verbs. Theory and Practice in Language Studies, 9(6), 655–665.</a:t>
            </a:r>
          </a:p>
          <a:p>
            <a:pPr/>
          </a:p>
          <a:p>
            <a:pPr/>
            <a:r>
              <a:rPr sz="1800"/>
              <a:t>Eckhoff, H. M., Bech, K., Bouma, G., Eide, K., Haug, D., Haugen, O. E., &amp; Jøhndal, M. (2018). The PROIEL treebank family: A standard for early attestations of Indo-European languages. Language Resources and Evaluation, 52(1), 29–65.</a:t>
            </a:r>
          </a:p>
          <a:p>
            <a:pPr/>
          </a:p>
          <a:p>
            <a:pPr/>
            <a:r>
              <a:rPr sz="1800"/>
              <a:t>Gianollo, C. (2011). Native syntax and translation effects: Adnominal arguments in the Greek and Latin New Testament. In E. Welo (Ed.), Indo‑European Syntax and Pragmatics: Contrastive Approaches (Vol. 3(3), pp. 75–101). Oslo, Norway: Department of Linguistics and Scandinavian Studies, University of Oslo.</a:t>
            </a:r>
          </a:p>
          <a:p>
            <a:pPr/>
          </a:p>
          <a:p>
            <a:pPr/>
            <a:r>
              <a:rPr sz="1800"/>
              <a:t>Haug, D. T. (2008, July 16). Detecting word order freezing in old Indo-European languages [Conference presentation]. New Reflections on Grammaticalization 4, Leuven, Belgium.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58/67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42493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Haug, D. T. T. (2010). PROIEL guidelines for annotation. Department of Philosophy, Classics, History of Arts and Ideas, University of Oslo. Retrieved from https://dev.syntacticus.org/proiel-annotators-handbook-v1.pdf</a:t>
            </a:r>
          </a:p>
          <a:p>
            <a:pPr/>
          </a:p>
          <a:p>
            <a:pPr/>
            <a:r>
              <a:rPr sz="2000"/>
              <a:t>Haug, D. T. T., &amp; Jøhndal, M. L. (2008). Creating a parallel treebank of the old Indo-European Bible translations. In Proceedings of the 6th International Conference on Language Resources and Evaluation (LREC’08). European Language Resources Association (ELRA).</a:t>
            </a:r>
          </a:p>
          <a:p>
            <a:pPr/>
          </a:p>
          <a:p>
            <a:pPr/>
            <a:r>
              <a:rPr sz="2000"/>
              <a:t>Inglese, G., Molina, M., &amp; Eckhoff, H. M. (2018). Incorporating Hittite into PROIEL: A pilot project. In Proceedings of the Second Workshop on Corpus-Based Research in the Humanities (CRH-2) (Vol. 1, pp. 1–10).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59/67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1797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Malchukov, A., &amp; Comrie, B. (Eds.). (2015). Valency classes in the world’s languages. Berlin, Germany; New York, NY: Mouton de Gruyter.</a:t>
            </a:r>
          </a:p>
          <a:p>
            <a:pPr/>
          </a:p>
          <a:p>
            <a:pPr/>
            <a:r>
              <a:rPr sz="2000"/>
              <a:t>Klein, J. (2011). Negation and polarity in the Greek, Gothic, Classical Armenian, and Old Church Slavic Gospels: A preliminary study. In E. Welo (Ed.), Indo-European syntax and pragmatics: Contrastive approaches (Vol. 3(3), pp. 131–154). Oslo, Norway: Department of Linguistics and Scandinavian Studies, University of Oslo.</a:t>
            </a:r>
          </a:p>
          <a:p>
            <a:pPr/>
          </a:p>
          <a:p>
            <a:pPr/>
            <a:r>
              <a:rPr sz="2000"/>
              <a:t>Lavidas, N. (2009). Transitivity Alternations in Diachrony. Changes in Argument Structure and Voice Morphology. Newcastle upon Tyne: Cambridge Scholars Publishing.</a:t>
            </a:r>
          </a:p>
          <a:p>
            <a:pPr/>
          </a:p>
          <a:p>
            <a:pPr/>
            <a:r>
              <a:rPr sz="2000"/>
              <a:t>Lavidas, N. (2021). The diachrony of written language contact: A contrastive approach. Leiden:Brill.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60/67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3529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Lavidas, N., &amp; Haug, D. T. (2019). Postclassical Greek and treebanks for a diachronic analysis. In D. Rafiyenko &amp; I. A. Seržant (Eds.), Postclassical Greek: Contemporary approaches to philology and linguistics (pp. 163–202). Berlin, Germany: De Gruyter Mouton</a:t>
            </a:r>
          </a:p>
          <a:p>
            <a:pPr/>
          </a:p>
          <a:p>
            <a:pPr/>
            <a:r>
              <a:rPr sz="2000"/>
              <a:t>Luraghi, S., et al. (2024). Introducing PaVeDa – Pavia Verbs Database: Valency patterns and pattern comparison in Ancient Indo-European languages. In Proceedings of the LT4HALA 2024 Workshop</a:t>
            </a:r>
          </a:p>
          <a:p>
            <a:pPr/>
          </a:p>
          <a:p>
            <a:pPr/>
            <a:r>
              <a:rPr sz="2000"/>
              <a:t>Luraghi, S., &amp; Sausa, E. (2016). New approaches to New Testament Greek linguistics. Studi Italiani di Linguistica Teorica e Applicata, 45(1), 123–143.</a:t>
            </a:r>
          </a:p>
          <a:p>
            <a:pPr/>
          </a:p>
          <a:p>
            <a:pPr/>
            <a:r>
              <a:rPr sz="2000"/>
              <a:t>Levin, B. (1993). English verb classes and alternations: A preliminary investigation. Chicago, IL: University of Chicago Press.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61/67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5173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Nikiforidou, K. (1991). The meanings of the genitive: A case study in semantic structure and semantic change. Cognitive Linguistics, 2(2), 149-206.</a:t>
            </a:r>
          </a:p>
          <a:p>
            <a:pPr/>
          </a:p>
          <a:p>
            <a:pPr/>
            <a:r>
              <a:rPr sz="1800"/>
              <a:t>Sitaridou, I., Pusch, C. D., Kabatek, J., &amp; Raible, W. (2005). A corpus-based study of null subjects in Old French and Occitan. In Corpora and historical linguistics: Investigating language change through corpora and databases (pp. 360–374).</a:t>
            </a:r>
          </a:p>
          <a:p>
            <a:pPr/>
          </a:p>
          <a:p>
            <a:pPr/>
            <a:r>
              <a:rPr sz="1800"/>
              <a:t>Spyropoulos, V., &amp; Stamatogiannis, N. (2013). Sýntomī perigrafī́ tīs rīmatikī́s morfosýntaxīs tīs Ellīnikī́s [‘A short description of the verbal morphosyntax of the Greek language’]. In Revythiadou, A., &amp; Spyropoulos, V. (Eds.), Antiparavolikī́ melétī grammatikṓn domṓn Alvanikī́s kai Ellīnikī́s [‘Comparative study of the grammatical structures of Albanian and Greek’]. Thessaloniki: Special Account for Research Funds (ELKE), Auth. http://www.diapolis.auth.gr/diapolis_files/drasi5/Drasi5_website/Drasi5_Ypodrasi_5_2/Ebook_Alb_Gr.pdf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62/67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107721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Tesnière, L. (1959). Eléments de Syntaxe Structurale. Paris: Klincksieck</a:t>
            </a:r>
          </a:p>
          <a:p>
            <a:pPr/>
          </a:p>
          <a:p>
            <a:pPr/>
            <a:r>
              <a:rPr sz="2000"/>
              <a:t>Tsangalidis, A. (2013). To rīmatikó sýstīma tīs Néas Ellīnikī́s: Zītī́mata orologías kai perigrafī́s tīs néas ellīnikī́s [‘The verbal system of Modern Greek: Issues of terminology and description of Modern Greek’]. Diadromés stī didaskalía tīs néas ellīnikī́s se allóglōssous stīn Elláda [‘Trajectories for the teaching of Modern Greek to non-Greeek speakers in Greeece’]. Thessaloniki: Centre for the Greek Language. http://elearning.greek language.gr/pluginfile.php/1134/mod_resource/content/5/rimaorologia.pdf</a:t>
            </a:r>
          </a:p>
          <a:p>
            <a:pPr/>
          </a:p>
          <a:p>
            <a:pPr/>
            <a:r>
              <a:rPr sz="2000"/>
              <a:t>Zanchi, C. (2021). The Homeric Dependency Lexicon: What it is and how to use it. Journal of Greek Linguistics, 21(2), 263–297. </a:t>
            </a:r>
            <a:b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63/67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628800" y="274320"/>
            <a:ext cx="3528392" cy="97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251520" y="274320"/>
            <a:ext cx="8686800" cy="1512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Contact us at:</a:t>
            </a:r>
          </a:p>
          <a:p>
            <a:pPr/>
            <a:r>
              <a:rPr sz="1800"/>
              <a:t>Professor Nikolaos Lavidas: nlavidas@enl.uoa.gr</a:t>
            </a:r>
          </a:p>
          <a:p>
            <a:pPr/>
            <a:r>
              <a:rPr sz="1800"/>
              <a:t>Eleni Plakoutsi: eleni2plak@gmail.com </a:t>
            </a:r>
          </a:p>
          <a:p>
            <a:pPr/>
            <a:r>
              <a:rPr sz="1800"/>
              <a:t>Anastasia Tsiropina: natasatsirop@gmail.com </a:t>
            </a:r>
          </a:p>
          <a:p>
            <a:pPr/>
          </a:p>
          <a:p>
            <a:pPr/>
          </a:p>
          <a:p>
            <a:pPr/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7337871" cy="153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1A1A1A"/>
                </a:solidFill>
              </a:rPr>
              <a:t>Thank you!</a:t>
            </a:r>
            <a:br/>
            <a:br/>
            <a:r>
              <a:t>Discussion &amp; Questions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4903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Project: H.F.R.I. Project Number 15284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6768752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/>
              <a:t>The 25th International Conference of the Department of Linguistics (CIDL25)</a:t>
            </a:r>
          </a:p>
          <a:p>
            <a:pPr/>
            <a:r>
              <a:rPr sz="1600" b="1"/>
              <a:t> Linguistic Intersections: from Natural Language to Artificial Intelligence. </a:t>
            </a:r>
          </a:p>
          <a:p>
            <a:pPr/>
            <a:r>
              <a:rPr sz="1600" b="1"/>
              <a:t>21-22 November 2025</a:t>
            </a:r>
          </a:p>
          <a:p>
            <a:pPr/>
            <a:r>
              <a:rPr sz="1800" b="1"/>
              <a:t>Bucharest, Romania </a:t>
            </a:r>
          </a:p>
          <a:p>
            <a:pPr/>
          </a:p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64/67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220072" cy="345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1A"/>
                </a:solidFill>
              </a:rPr>
              <a:t>Benefit:</a:t>
            </a:r>
          </a:p>
          <a:p>
            <a:pPr/>
            <a:r>
              <a:rPr sz="2000">
                <a:solidFill>
                  <a:srgbClr val="1A1A1A"/>
                </a:solidFill>
              </a:rPr>
              <a:t>Ready-made dictionaries 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rPr sz="2000" b="1">
                <a:solidFill>
                  <a:srgbClr val="4191D2"/>
                </a:solidFill>
              </a:rPr>
              <a:t>lemmatization of the texts </a:t>
            </a:r>
          </a:p>
          <a:p>
            <a:pPr/>
          </a:p>
          <a:p>
            <a:pPr/>
            <a:r>
              <a:rPr sz="2000">
                <a:solidFill>
                  <a:srgbClr val="1A1A1A"/>
                </a:solidFill>
              </a:rPr>
              <a:t>creation of an annotation basis for the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288032" cy="100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456384" cy="381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Texts from other open-source treebanks -PROIEL, Perseus database </a:t>
            </a:r>
          </a:p>
          <a:p>
            <a:pPr/>
            <a:r>
              <a:rPr sz="1400">
                <a:solidFill>
                  <a:srgbClr val="1A1A1A"/>
                </a:solidFill>
              </a:rPr>
              <a:t>(in .xml format)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65/67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4104456" cy="144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Limitation: </a:t>
            </a:r>
          </a:p>
          <a:p>
            <a:pPr/>
            <a:r>
              <a:rPr sz="1800">
                <a:solidFill>
                  <a:srgbClr val="1A1A1A"/>
                </a:solidFill>
              </a:rPr>
              <a:t>unwanted characters -&gt; difficult to process.</a:t>
            </a:r>
          </a:p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4248472" cy="136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4191D2"/>
                </a:solidFill>
              </a:rPr>
              <a:t>Solution:</a:t>
            </a:r>
          </a:p>
          <a:p>
            <a:pPr/>
            <a:r>
              <a:rPr sz="1800">
                <a:solidFill>
                  <a:srgbClr val="1A1A1A"/>
                </a:solidFill>
              </a:rPr>
              <a:t>Manual review, before importing them into the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456384" cy="381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B) Texts from online text collections, such as Project Gutenberg or Bible Gateway.</a:t>
            </a:r>
          </a:p>
          <a:p>
            <a:pPr/>
            <a:r>
              <a:rPr sz="1800">
                <a:solidFill>
                  <a:srgbClr val="1A1A1A"/>
                </a:solidFill>
              </a:rPr>
              <a:t> </a:t>
            </a:r>
          </a:p>
          <a:p>
            <a:pPr/>
            <a:r>
              <a:rPr sz="1600">
                <a:solidFill>
                  <a:srgbClr val="1A1A1A"/>
                </a:solidFill>
              </a:rPr>
              <a:t>(in .txt or .html format)</a:t>
            </a:r>
          </a:p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66/67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3995936" cy="43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C) Scanned books or manuscripts from digital libraries and archives (e.g.the Internet Archive)</a:t>
            </a:r>
          </a:p>
          <a:p>
            <a:pPr/>
            <a:r>
              <a:rPr sz="1800">
                <a:solidFill>
                  <a:srgbClr val="1A1A1A"/>
                </a:solidFill>
              </a:rPr>
              <a:t> </a:t>
            </a:r>
          </a:p>
          <a:p>
            <a:pPr/>
            <a:r>
              <a:rPr sz="1600">
                <a:solidFill>
                  <a:srgbClr val="1A1A1A"/>
                </a:solidFill>
              </a:rPr>
              <a:t>(in .pdf format containing images of the pages)</a:t>
            </a:r>
          </a:p>
          <a:p>
            <a:pPr/>
          </a:p>
          <a:p>
            <a:pPr/>
            <a:r>
              <a:rPr sz="1800" b="1">
                <a:solidFill>
                  <a:srgbClr val="4191D2"/>
                </a:solidFill>
              </a:rPr>
              <a:t>D) Printed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112568" cy="309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A1A1A"/>
                </a:solidFill>
              </a:rPr>
              <a:t>Digitization-&gt;Optional Character Recognition (OCR) 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ABBYY FineReader  (Latin, English, </a:t>
            </a:r>
          </a:p>
          <a:p>
            <a:pPr/>
            <a:r>
              <a:rPr sz="1800">
                <a:solidFill>
                  <a:srgbClr val="1A1A1A"/>
                </a:solidFill>
              </a:rPr>
              <a:t>Old French)</a:t>
            </a:r>
          </a:p>
          <a:p>
            <a:pPr/>
          </a:p>
          <a:p>
            <a:pPr/>
            <a:r>
              <a:rPr sz="1800">
                <a:solidFill>
                  <a:srgbClr val="1A1A1A"/>
                </a:solidFill>
              </a:rPr>
              <a:t>2) Google Lens (Greek)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365760" cy="36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From CIDL25 Study • Slide 67/67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