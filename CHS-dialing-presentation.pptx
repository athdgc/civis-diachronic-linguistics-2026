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J28zQnWVIGdwCElIT9IEoAj70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098f36590_0_5: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7098f36590_0_5: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098f36590_0_65: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7098f36590_0_65: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focus on the automatic extraction of valency info based on the digital corpus  of preprocessed and annotated texts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098f36590_0_75: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7098f36590_0_75: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50800" rtl="0" algn="l">
              <a:lnSpc>
                <a:spcPct val="100000"/>
              </a:lnSpc>
              <a:spcBef>
                <a:spcPts val="0"/>
              </a:spcBef>
              <a:spcAft>
                <a:spcPts val="0"/>
              </a:spcAft>
              <a:buClr>
                <a:schemeClr val="dk1"/>
              </a:buClr>
              <a:buSzPts val="1100"/>
              <a:buFont typeface="Arial"/>
              <a:buNone/>
            </a:pPr>
            <a:r>
              <a:rPr i="1" lang="en-US">
                <a:solidFill>
                  <a:schemeClr val="dk1"/>
                </a:solidFill>
              </a:rPr>
              <a:t>This project will provide the field with both empirical findings and theoretical insights. The annotated corpus will serve as a resource for future research, while the analytical methods developed can be applied to other languages and linguistic phenomena.</a:t>
            </a:r>
            <a:endParaRPr i="1">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098f36590_0_82: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7098f36590_0_82: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b="1" i="1" lang="en-US" sz="900" u="sng">
                <a:solidFill>
                  <a:schemeClr val="dk1"/>
                </a:solidFill>
              </a:rPr>
              <a:t>substantial data collection,</a:t>
            </a:r>
            <a:endParaRPr b="1" i="1" sz="900" u="sng">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US" sz="900">
                <a:solidFill>
                  <a:srgbClr val="FE8637"/>
                </a:solidFill>
              </a:rPr>
              <a:t>¢</a:t>
            </a:r>
            <a:r>
              <a:rPr lang="en-US" sz="900">
                <a:solidFill>
                  <a:schemeClr val="dk1"/>
                </a:solidFill>
              </a:rPr>
              <a:t>-innovative diachronic study (both related to linguistic genealogy and language contact)</a:t>
            </a:r>
            <a:endParaRPr sz="900">
              <a:solidFill>
                <a:srgbClr val="FE8637"/>
              </a:solidFill>
            </a:endParaRPr>
          </a:p>
          <a:p>
            <a:pPr indent="0" lvl="0" marL="0" rtl="0" algn="l">
              <a:lnSpc>
                <a:spcPct val="115000"/>
              </a:lnSpc>
              <a:spcBef>
                <a:spcPts val="600"/>
              </a:spcBef>
              <a:spcAft>
                <a:spcPts val="0"/>
              </a:spcAft>
              <a:buClr>
                <a:schemeClr val="dk1"/>
              </a:buClr>
              <a:buSzPts val="1100"/>
              <a:buFont typeface="Arial"/>
              <a:buNone/>
            </a:pPr>
            <a:r>
              <a:rPr lang="en-US" sz="900">
                <a:solidFill>
                  <a:schemeClr val="dk1"/>
                </a:solidFill>
              </a:rPr>
              <a:t>-the first diachronic contrastive Valency Lexicon that includes early Greek, Romance and Germanic dialects following the modern methodological tools and using electronic annotated texts</a:t>
            </a:r>
            <a:endParaRPr sz="9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b="1" i="1" lang="en-US" sz="900">
                <a:solidFill>
                  <a:schemeClr val="dk1"/>
                </a:solidFill>
              </a:rPr>
              <a:t>-Digitalization</a:t>
            </a:r>
            <a:r>
              <a:rPr lang="en-US" sz="900">
                <a:solidFill>
                  <a:schemeClr val="dk1"/>
                </a:solidFill>
              </a:rPr>
              <a:t> of linguistic information allows data </a:t>
            </a:r>
            <a:r>
              <a:rPr b="1" lang="en-US" sz="900">
                <a:solidFill>
                  <a:schemeClr val="dk1"/>
                </a:solidFill>
              </a:rPr>
              <a:t>to be shared within the scientific community by enhancing international networking.</a:t>
            </a:r>
            <a:endParaRPr b="1" sz="9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b="1" lang="en-US" sz="900">
                <a:solidFill>
                  <a:schemeClr val="dk1"/>
                </a:solidFill>
              </a:rPr>
              <a:t>-</a:t>
            </a:r>
            <a:r>
              <a:rPr lang="en-US" sz="900">
                <a:solidFill>
                  <a:schemeClr val="dk1"/>
                </a:solidFill>
              </a:rPr>
              <a:t>the creation of </a:t>
            </a:r>
            <a:r>
              <a:rPr b="1" lang="en-US" sz="900">
                <a:solidFill>
                  <a:schemeClr val="dk1"/>
                </a:solidFill>
              </a:rPr>
              <a:t>a searchable electronic contrastive - typological database</a:t>
            </a:r>
            <a:r>
              <a:rPr lang="en-US" sz="900">
                <a:solidFill>
                  <a:schemeClr val="dk1"/>
                </a:solidFill>
              </a:rPr>
              <a:t> of these constructions.</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098f36590_0_91: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7098f36590_0_91: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6454"/>
              </a:lnSpc>
              <a:spcBef>
                <a:spcPts val="0"/>
              </a:spcBef>
              <a:spcAft>
                <a:spcPts val="0"/>
              </a:spcAft>
              <a:buClr>
                <a:schemeClr val="dk1"/>
              </a:buClr>
              <a:buSzPts val="1100"/>
              <a:buFont typeface="Arial"/>
              <a:buNone/>
            </a:pPr>
            <a:r>
              <a:rPr i="1" lang="en-US">
                <a:solidFill>
                  <a:schemeClr val="dk1"/>
                </a:solidFill>
              </a:rPr>
              <a:t>The findings contribute to broader theoretical debates in historical linguistics. The retranslation corpus offers unique evidence for testing theories about grammaticalization and language change across multiple time periods and languages.</a:t>
            </a:r>
            <a:endParaRPr i="1">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098f36590_0_99: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7098f36590_0_99: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76200" rtl="0" algn="l">
              <a:lnSpc>
                <a:spcPct val="115000"/>
              </a:lnSpc>
              <a:spcBef>
                <a:spcPts val="0"/>
              </a:spcBef>
              <a:spcAft>
                <a:spcPts val="0"/>
              </a:spcAft>
              <a:buClr>
                <a:schemeClr val="dk1"/>
              </a:buClr>
              <a:buSzPts val="1100"/>
              <a:buFont typeface="Arial"/>
              <a:buNone/>
            </a:pPr>
            <a:r>
              <a:rPr i="1" lang="en-US">
                <a:solidFill>
                  <a:schemeClr val="dk1"/>
                </a:solidFill>
              </a:rPr>
              <a:t>The infrastructure developed for this project can be extended to additional languages and linguistic phenomena. Future work may include integration with existing typological</a:t>
            </a:r>
            <a:endParaRPr i="1">
              <a:solidFill>
                <a:schemeClr val="dk1"/>
              </a:solidFill>
            </a:endParaRPr>
          </a:p>
          <a:p>
            <a:pPr indent="0" lvl="0" marL="50800" rtl="0" algn="l">
              <a:lnSpc>
                <a:spcPct val="115000"/>
              </a:lnSpc>
              <a:spcBef>
                <a:spcPts val="600"/>
              </a:spcBef>
              <a:spcAft>
                <a:spcPts val="0"/>
              </a:spcAft>
              <a:buClr>
                <a:schemeClr val="dk1"/>
              </a:buClr>
              <a:buSzPts val="1100"/>
              <a:buFont typeface="Arial"/>
              <a:buNone/>
            </a:pPr>
            <a:r>
              <a:rPr i="1" lang="en-US">
                <a:solidFill>
                  <a:schemeClr val="dk1"/>
                </a:solidFill>
              </a:rPr>
              <a:t>databases, development of teaching materials for historical linguistics, and creation of visualization tools for exploring language change patterns.</a:t>
            </a:r>
            <a:endParaRPr i="1">
              <a:solidFill>
                <a:schemeClr val="dk1"/>
              </a:solidFill>
            </a:endParaRPr>
          </a:p>
          <a:p>
            <a:pPr indent="0" lvl="0" marL="0" rtl="0" algn="l">
              <a:lnSpc>
                <a:spcPct val="115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098f36590_0_106: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7098f36590_0_106: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098f36590_0_111: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7098f36590_0_111: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098f36590_0_160: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37098f36590_0_160: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7098f36590_0_61"/>
          <p:cNvSpPr txBox="1"/>
          <p:nvPr>
            <p:ph type="title"/>
          </p:nvPr>
        </p:nvSpPr>
        <p:spPr>
          <a:xfrm>
            <a:off x="415600" y="593367"/>
            <a:ext cx="11360700" cy="763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g37098f36590_0_61"/>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4" name="Google Shape;14;g37098f36590_0_61"/>
          <p:cNvSpPr txBox="1"/>
          <p:nvPr>
            <p:ph idx="12" type="sldNum"/>
          </p:nvPr>
        </p:nvSpPr>
        <p:spPr>
          <a:xfrm>
            <a:off x="11296610" y="6217622"/>
            <a:ext cx="731700" cy="5250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15" name="Shape 15"/>
        <p:cNvGrpSpPr/>
        <p:nvPr/>
      </p:nvGrpSpPr>
      <p:grpSpPr>
        <a:xfrm>
          <a:off x="0" y="0"/>
          <a:ext cx="0" cy="0"/>
          <a:chOff x="0" y="0"/>
          <a:chExt cx="0" cy="0"/>
        </a:xfrm>
      </p:grpSpPr>
      <p:sp>
        <p:nvSpPr>
          <p:cNvPr id="16" name="Google Shape;1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type="secHead">
  <p:cSld name="SECTION_HEADER">
    <p:spTree>
      <p:nvGrpSpPr>
        <p:cNvPr id="26" name="Shape 26"/>
        <p:cNvGrpSpPr/>
        <p:nvPr/>
      </p:nvGrpSpPr>
      <p:grpSpPr>
        <a:xfrm>
          <a:off x="0" y="0"/>
          <a:ext cx="0" cy="0"/>
          <a:chOff x="0" y="0"/>
          <a:chExt cx="0" cy="0"/>
        </a:xfrm>
      </p:grpSpPr>
      <p:sp>
        <p:nvSpPr>
          <p:cNvPr id="27" name="Google Shape;27;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9" name="Google Shape;2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32" name="Shape 32"/>
        <p:cNvGrpSpPr/>
        <p:nvPr/>
      </p:nvGrpSpPr>
      <p:grpSpPr>
        <a:xfrm>
          <a:off x="0" y="0"/>
          <a:ext cx="0" cy="0"/>
          <a:chOff x="0" y="0"/>
          <a:chExt cx="0" cy="0"/>
        </a:xfrm>
      </p:grpSpPr>
      <p:sp>
        <p:nvSpPr>
          <p:cNvPr id="33" name="Google Shape;3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39" name="Shape 39"/>
        <p:cNvGrpSpPr/>
        <p:nvPr/>
      </p:nvGrpSpPr>
      <p:grpSpPr>
        <a:xfrm>
          <a:off x="0" y="0"/>
          <a:ext cx="0" cy="0"/>
          <a:chOff x="0" y="0"/>
          <a:chExt cx="0" cy="0"/>
        </a:xfrm>
      </p:grpSpPr>
      <p:sp>
        <p:nvSpPr>
          <p:cNvPr id="40" name="Google Shape;40;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ό" type="blank">
  <p:cSld name="BLANK">
    <p:spTree>
      <p:nvGrpSpPr>
        <p:cNvPr id="48" name="Shape 48"/>
        <p:cNvGrpSpPr/>
        <p:nvPr/>
      </p:nvGrpSpPr>
      <p:grpSpPr>
        <a:xfrm>
          <a:off x="0" y="0"/>
          <a:ext cx="0" cy="0"/>
          <a:chOff x="0" y="0"/>
          <a:chExt cx="0" cy="0"/>
        </a:xfrm>
      </p:grpSpPr>
      <p:sp>
        <p:nvSpPr>
          <p:cNvPr id="49" name="Google Shape;4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52" name="Shape 52"/>
        <p:cNvGrpSpPr/>
        <p:nvPr/>
      </p:nvGrpSpPr>
      <p:grpSpPr>
        <a:xfrm>
          <a:off x="0" y="0"/>
          <a:ext cx="0" cy="0"/>
          <a:chOff x="0" y="0"/>
          <a:chExt cx="0" cy="0"/>
        </a:xfrm>
      </p:grpSpPr>
      <p:sp>
        <p:nvSpPr>
          <p:cNvPr id="53" name="Google Shape;53;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type="picTx">
  <p:cSld name="PICTURE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2"/>
          <p:cNvSpPr/>
          <p:nvPr>
            <p:ph idx="2" type="pic"/>
          </p:nvPr>
        </p:nvSpPr>
        <p:spPr>
          <a:xfrm>
            <a:off x="5183188" y="987425"/>
            <a:ext cx="6172200" cy="4873625"/>
          </a:xfrm>
          <a:prstGeom prst="rect">
            <a:avLst/>
          </a:prstGeom>
          <a:noFill/>
          <a:ln>
            <a:noFill/>
          </a:ln>
        </p:spPr>
      </p:sp>
      <p:sp>
        <p:nvSpPr>
          <p:cNvPr id="62" name="Google Shape;62;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66" name="Shape 66"/>
        <p:cNvGrpSpPr/>
        <p:nvPr/>
      </p:nvGrpSpPr>
      <p:grpSpPr>
        <a:xfrm>
          <a:off x="0" y="0"/>
          <a:ext cx="0" cy="0"/>
          <a:chOff x="0" y="0"/>
          <a:chExt cx="0" cy="0"/>
        </a:xfrm>
      </p:grpSpPr>
      <p:sp>
        <p:nvSpPr>
          <p:cNvPr id="67" name="Google Shape;6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type="vertTitleAndTx">
  <p:cSld name="VERTICAL_TITLE_AND_VERTICAL_TEXT">
    <p:spTree>
      <p:nvGrpSpPr>
        <p:cNvPr id="72" name="Shape 72"/>
        <p:cNvGrpSpPr/>
        <p:nvPr/>
      </p:nvGrpSpPr>
      <p:grpSpPr>
        <a:xfrm>
          <a:off x="0" y="0"/>
          <a:ext cx="0" cy="0"/>
          <a:chOff x="0" y="0"/>
          <a:chExt cx="0" cy="0"/>
        </a:xfrm>
      </p:grpSpPr>
      <p:sp>
        <p:nvSpPr>
          <p:cNvPr id="73" name="Google Shape;73;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5"/>
          <p:cNvSpPr/>
          <p:nvPr/>
        </p:nvSpPr>
        <p:spPr>
          <a:xfrm>
            <a:off x="1347025" y="190050"/>
            <a:ext cx="9614400" cy="6667800"/>
          </a:xfrm>
          <a:prstGeom prst="rect">
            <a:avLst/>
          </a:prstGeom>
          <a:blipFill rotWithShape="1">
            <a:blip r:embed="rId3">
              <a:alphaModFix/>
            </a:blip>
            <a:stretch>
              <a:fillRect b="0" l="0" r="0" t="0"/>
            </a:stretch>
          </a:blip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 name="Google Shape;83;p25"/>
          <p:cNvSpPr/>
          <p:nvPr/>
        </p:nvSpPr>
        <p:spPr>
          <a:xfrm>
            <a:off x="1658471" y="0"/>
            <a:ext cx="8875059" cy="190052"/>
          </a:xfrm>
          <a:prstGeom prst="rect">
            <a:avLst/>
          </a:prstGeom>
          <a:blipFill rotWithShape="1">
            <a:blip r:embed="rId3">
              <a:alphaModFix/>
            </a:blip>
            <a:stretch>
              <a:fillRect b="0" l="0" r="0" t="0"/>
            </a:stretch>
          </a:blip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235" u="none" cap="none" strike="noStrike">
              <a:solidFill>
                <a:srgbClr val="000000"/>
              </a:solidFill>
              <a:latin typeface="Arial"/>
              <a:ea typeface="Arial"/>
              <a:cs typeface="Arial"/>
              <a:sym typeface="Arial"/>
            </a:endParaRPr>
          </a:p>
        </p:txBody>
      </p:sp>
      <p:sp>
        <p:nvSpPr>
          <p:cNvPr id="84" name="Google Shape;84;p25"/>
          <p:cNvSpPr txBox="1"/>
          <p:nvPr/>
        </p:nvSpPr>
        <p:spPr>
          <a:xfrm>
            <a:off x="7775175" y="339200"/>
            <a:ext cx="2472300" cy="142800"/>
          </a:xfrm>
          <a:prstGeom prst="rect">
            <a:avLst/>
          </a:prstGeom>
          <a:noFill/>
          <a:ln>
            <a:noFill/>
          </a:ln>
        </p:spPr>
        <p:txBody>
          <a:bodyPr anchorCtr="0" anchor="t" bIns="0" lIns="0" spcFirstLastPara="1" rIns="0" wrap="square" tIns="0">
            <a:spAutoFit/>
          </a:bodyPr>
          <a:lstStyle/>
          <a:p>
            <a:pPr indent="0" lvl="0" marL="0" marR="0" rtl="0" algn="l">
              <a:lnSpc>
                <a:spcPct val="111003"/>
              </a:lnSpc>
              <a:spcBef>
                <a:spcPts val="0"/>
              </a:spcBef>
              <a:spcAft>
                <a:spcPts val="0"/>
              </a:spcAft>
              <a:buNone/>
            </a:pPr>
            <a:r>
              <a:rPr b="0" i="0" lang="en-US" sz="927" u="none" cap="none" strike="noStrike">
                <a:solidFill>
                  <a:srgbClr val="000000"/>
                </a:solidFill>
                <a:latin typeface="Arial"/>
                <a:ea typeface="Arial"/>
                <a:cs typeface="Arial"/>
                <a:sym typeface="Arial"/>
              </a:rPr>
              <a:t>DiaLingAthens | UoA | CHS-Harv</a:t>
            </a:r>
            <a:r>
              <a:rPr lang="en-US" sz="927"/>
              <a:t>a</a:t>
            </a:r>
            <a:r>
              <a:rPr b="0" i="0" lang="en-US" sz="927" u="none" cap="none" strike="noStrike">
                <a:solidFill>
                  <a:srgbClr val="000000"/>
                </a:solidFill>
                <a:latin typeface="Arial"/>
                <a:ea typeface="Arial"/>
                <a:cs typeface="Arial"/>
                <a:sym typeface="Arial"/>
              </a:rPr>
              <a:t>rd University</a:t>
            </a:r>
            <a:endParaRPr/>
          </a:p>
        </p:txBody>
      </p:sp>
      <p:sp>
        <p:nvSpPr>
          <p:cNvPr id="85" name="Google Shape;85;p25"/>
          <p:cNvSpPr txBox="1"/>
          <p:nvPr/>
        </p:nvSpPr>
        <p:spPr>
          <a:xfrm>
            <a:off x="2933388" y="1130962"/>
            <a:ext cx="6325200" cy="1035000"/>
          </a:xfrm>
          <a:prstGeom prst="rect">
            <a:avLst/>
          </a:prstGeom>
          <a:noFill/>
          <a:ln>
            <a:noFill/>
          </a:ln>
        </p:spPr>
        <p:txBody>
          <a:bodyPr anchorCtr="0" anchor="t" bIns="0" lIns="0" spcFirstLastPara="1" rIns="0" wrap="square" tIns="0">
            <a:spAutoFit/>
          </a:bodyPr>
          <a:lstStyle/>
          <a:p>
            <a:pPr indent="0" lvl="0" marL="0" marR="0" rtl="0" algn="l">
              <a:lnSpc>
                <a:spcPct val="111677"/>
              </a:lnSpc>
              <a:spcBef>
                <a:spcPts val="0"/>
              </a:spcBef>
              <a:spcAft>
                <a:spcPts val="0"/>
              </a:spcAft>
              <a:buNone/>
            </a:pPr>
            <a:r>
              <a:rPr b="0" i="0" lang="en-US" sz="3177" u="none" cap="none" strike="noStrike">
                <a:solidFill>
                  <a:srgbClr val="000000"/>
                </a:solidFill>
                <a:latin typeface="Arial"/>
                <a:ea typeface="Arial"/>
                <a:cs typeface="Arial"/>
                <a:sym typeface="Arial"/>
              </a:rPr>
              <a:t>DiaLingAthens &amp; CHS Collaboration</a:t>
            </a:r>
            <a:endParaRPr/>
          </a:p>
        </p:txBody>
      </p:sp>
      <p:sp>
        <p:nvSpPr>
          <p:cNvPr id="86" name="Google Shape;86;p25"/>
          <p:cNvSpPr txBox="1"/>
          <p:nvPr/>
        </p:nvSpPr>
        <p:spPr>
          <a:xfrm>
            <a:off x="4186541" y="2579163"/>
            <a:ext cx="3954610" cy="205184"/>
          </a:xfrm>
          <a:prstGeom prst="rect">
            <a:avLst/>
          </a:prstGeom>
          <a:noFill/>
          <a:ln>
            <a:noFill/>
          </a:ln>
        </p:spPr>
        <p:txBody>
          <a:bodyPr anchorCtr="0" anchor="t" bIns="0" lIns="0" spcFirstLastPara="1" rIns="0" wrap="square" tIns="0">
            <a:spAutoFit/>
          </a:bodyPr>
          <a:lstStyle/>
          <a:p>
            <a:pPr indent="0" lvl="0" marL="0" marR="0" rtl="0" algn="l">
              <a:lnSpc>
                <a:spcPct val="111263"/>
              </a:lnSpc>
              <a:spcBef>
                <a:spcPts val="0"/>
              </a:spcBef>
              <a:spcAft>
                <a:spcPts val="0"/>
              </a:spcAft>
              <a:buNone/>
            </a:pPr>
            <a:r>
              <a:rPr b="0" i="0" lang="en-US" sz="1456" u="none" cap="none" strike="noStrike">
                <a:solidFill>
                  <a:srgbClr val="000000"/>
                </a:solidFill>
                <a:latin typeface="Arial"/>
                <a:ea typeface="Arial"/>
                <a:cs typeface="Arial"/>
                <a:sym typeface="Arial"/>
              </a:rPr>
              <a:t>Diachronic Retranslations &amp; Valency Research</a:t>
            </a:r>
            <a:endParaRPr/>
          </a:p>
        </p:txBody>
      </p:sp>
      <p:sp>
        <p:nvSpPr>
          <p:cNvPr id="87" name="Google Shape;87;p25"/>
          <p:cNvSpPr txBox="1"/>
          <p:nvPr/>
        </p:nvSpPr>
        <p:spPr>
          <a:xfrm>
            <a:off x="3171247" y="3585848"/>
            <a:ext cx="5994073" cy="346249"/>
          </a:xfrm>
          <a:prstGeom prst="rect">
            <a:avLst/>
          </a:prstGeom>
          <a:noFill/>
          <a:ln>
            <a:noFill/>
          </a:ln>
        </p:spPr>
        <p:txBody>
          <a:bodyPr anchorCtr="0" anchor="t" bIns="0" lIns="0" spcFirstLastPara="1" rIns="0" wrap="square" tIns="0">
            <a:spAutoFit/>
          </a:bodyPr>
          <a:lstStyle/>
          <a:p>
            <a:pPr indent="0" lvl="0" marL="0" marR="0" rtl="0" algn="l">
              <a:lnSpc>
                <a:spcPct val="111167"/>
              </a:lnSpc>
              <a:spcBef>
                <a:spcPts val="0"/>
              </a:spcBef>
              <a:spcAft>
                <a:spcPts val="0"/>
              </a:spcAft>
              <a:buNone/>
            </a:pPr>
            <a:r>
              <a:rPr b="1" i="0" lang="en-US" sz="1191" u="none" cap="none" strike="noStrike">
                <a:solidFill>
                  <a:srgbClr val="000000"/>
                </a:solidFill>
                <a:latin typeface="Arial"/>
                <a:ea typeface="Arial"/>
                <a:cs typeface="Arial"/>
                <a:sym typeface="Arial"/>
              </a:rPr>
              <a:t>HFRI Project: </a:t>
            </a:r>
            <a:r>
              <a:rPr b="0" i="0" lang="en-US" sz="1191" u="none" cap="none" strike="noStrike">
                <a:solidFill>
                  <a:srgbClr val="000000"/>
                </a:solidFill>
                <a:latin typeface="Arial"/>
                <a:ea typeface="Arial"/>
                <a:cs typeface="Arial"/>
                <a:sym typeface="Arial"/>
              </a:rPr>
              <a:t>A Corpus-based Valency Lexicon for a Contrastive and Diachronic Study</a:t>
            </a:r>
            <a:endParaRPr/>
          </a:p>
          <a:p>
            <a:pPr indent="0" lvl="0" marL="0" marR="0" rtl="0" algn="l">
              <a:lnSpc>
                <a:spcPct val="111167"/>
              </a:lnSpc>
              <a:spcBef>
                <a:spcPts val="51"/>
              </a:spcBef>
              <a:spcAft>
                <a:spcPts val="0"/>
              </a:spcAft>
              <a:buNone/>
            </a:pPr>
            <a:r>
              <a:rPr b="0" i="0" lang="en-US" sz="1191" u="none" cap="none" strike="noStrike">
                <a:solidFill>
                  <a:srgbClr val="000000"/>
                </a:solidFill>
                <a:latin typeface="Arial"/>
                <a:ea typeface="Arial"/>
                <a:cs typeface="Arial"/>
                <a:sym typeface="Arial"/>
              </a:rPr>
              <a:t>of Ancient &amp; Medieval Languages</a:t>
            </a:r>
            <a:endParaRPr/>
          </a:p>
        </p:txBody>
      </p:sp>
      <p:sp>
        <p:nvSpPr>
          <p:cNvPr id="88" name="Google Shape;88;p25"/>
          <p:cNvSpPr txBox="1"/>
          <p:nvPr/>
        </p:nvSpPr>
        <p:spPr>
          <a:xfrm>
            <a:off x="4203999" y="4562336"/>
            <a:ext cx="3918127" cy="192360"/>
          </a:xfrm>
          <a:prstGeom prst="rect">
            <a:avLst/>
          </a:prstGeom>
          <a:noFill/>
          <a:ln>
            <a:noFill/>
          </a:ln>
        </p:spPr>
        <p:txBody>
          <a:bodyPr anchorCtr="0" anchor="t" bIns="0" lIns="0" spcFirstLastPara="1" rIns="0" wrap="square" tIns="0">
            <a:spAutoFit/>
          </a:bodyPr>
          <a:lstStyle/>
          <a:p>
            <a:pPr indent="0" lvl="0" marL="0" marR="0" rtl="0" algn="l">
              <a:lnSpc>
                <a:spcPct val="111631"/>
              </a:lnSpc>
              <a:spcBef>
                <a:spcPts val="0"/>
              </a:spcBef>
              <a:spcAft>
                <a:spcPts val="0"/>
              </a:spcAft>
              <a:buNone/>
            </a:pPr>
            <a:r>
              <a:rPr b="0" i="0" lang="en-US" sz="1324" u="none" cap="none" strike="noStrike">
                <a:solidFill>
                  <a:srgbClr val="000000"/>
                </a:solidFill>
                <a:latin typeface="Arial"/>
                <a:ea typeface="Arial"/>
                <a:cs typeface="Arial"/>
                <a:sym typeface="Arial"/>
              </a:rPr>
              <a:t>Computational Approaches to Historical Linguistics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838200" y="394622"/>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US"/>
              <a:t>Research Context</a:t>
            </a:r>
            <a:endParaRPr/>
          </a:p>
        </p:txBody>
      </p:sp>
      <p:sp>
        <p:nvSpPr>
          <p:cNvPr id="94" name="Google Shape;94;p1"/>
          <p:cNvSpPr txBox="1"/>
          <p:nvPr>
            <p:ph idx="1" type="body"/>
          </p:nvPr>
        </p:nvSpPr>
        <p:spPr>
          <a:xfrm>
            <a:off x="2064774" y="2959804"/>
            <a:ext cx="8278762" cy="2254045"/>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lnSpc>
                <a:spcPct val="90000"/>
              </a:lnSpc>
              <a:spcBef>
                <a:spcPts val="0"/>
              </a:spcBef>
              <a:spcAft>
                <a:spcPts val="0"/>
              </a:spcAft>
              <a:buClr>
                <a:schemeClr val="dk1"/>
              </a:buClr>
              <a:buSzPct val="100000"/>
              <a:buNone/>
            </a:pPr>
            <a:r>
              <a:rPr i="1" lang="en-US"/>
              <a:t>This collaboration leverages computational methods to study language change through retranslations. Building on corpus linguistics approaches by McEnery &amp; Hardie (2011), the Helsinki Corpus (Rissanen 1991), and diachronic semantic studies by Traugott &amp; Dasher (2002), we examine how the same texts translated across different periods can track systematic changes in grammatical structures, particularly in verb-argument relationships.</a:t>
            </a:r>
            <a:endParaRPr/>
          </a:p>
          <a:p>
            <a:pPr indent="0" lvl="0" marL="0" rtl="0" algn="just">
              <a:lnSpc>
                <a:spcPct val="90000"/>
              </a:lnSpc>
              <a:spcBef>
                <a:spcPts val="1000"/>
              </a:spcBef>
              <a:spcAft>
                <a:spcPts val="0"/>
              </a:spcAft>
              <a:buClr>
                <a:schemeClr val="dk1"/>
              </a:buClr>
              <a:buSzPct val="100000"/>
              <a:buNone/>
            </a:pPr>
            <a:r>
              <a:t/>
            </a:r>
            <a:endParaRPr/>
          </a:p>
        </p:txBody>
      </p:sp>
      <p:sp>
        <p:nvSpPr>
          <p:cNvPr id="95" name="Google Shape;95;p1"/>
          <p:cNvSpPr/>
          <p:nvPr/>
        </p:nvSpPr>
        <p:spPr>
          <a:xfrm>
            <a:off x="2851355" y="1620973"/>
            <a:ext cx="6489290" cy="727587"/>
          </a:xfrm>
          <a:prstGeom prst="rect">
            <a:avLst/>
          </a:prstGeom>
          <a:solidFill>
            <a:srgbClr val="F2F2F2"/>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The intersection of corpus linguistics and diachronic analysis</a:t>
            </a:r>
            <a:endParaRPr b="0" i="0" sz="1800" u="none" cap="none" strike="noStrike">
              <a:solidFill>
                <a:schemeClr val="dk1"/>
              </a:solidFill>
              <a:latin typeface="Arial"/>
              <a:ea typeface="Arial"/>
              <a:cs typeface="Arial"/>
              <a:sym typeface="Arial"/>
            </a:endParaRPr>
          </a:p>
        </p:txBody>
      </p:sp>
      <p:sp>
        <p:nvSpPr>
          <p:cNvPr id="96" name="Google Shape;96;p1"/>
          <p:cNvSpPr txBox="1"/>
          <p:nvPr/>
        </p:nvSpPr>
        <p:spPr>
          <a:xfrm>
            <a:off x="4834375" y="5825101"/>
            <a:ext cx="2521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4892DC"/>
                </a:solidFill>
                <a:latin typeface="Arial"/>
                <a:ea typeface="Arial"/>
                <a:cs typeface="Arial"/>
                <a:sym typeface="Arial"/>
              </a:rPr>
              <a:t>A DiaLingAthens Initiative</a:t>
            </a:r>
            <a:endParaRPr b="0" i="0" sz="1400" u="none" cap="none" strike="noStrike">
              <a:solidFill>
                <a:srgbClr val="4892DC"/>
              </a:solidFill>
              <a:latin typeface="Arial"/>
              <a:ea typeface="Arial"/>
              <a:cs typeface="Arial"/>
              <a:sym typeface="Arial"/>
            </a:endParaRPr>
          </a:p>
        </p:txBody>
      </p:sp>
      <p:pic>
        <p:nvPicPr>
          <p:cNvPr id="97" name="Google Shape;97;p1"/>
          <p:cNvPicPr preferRelativeResize="0"/>
          <p:nvPr/>
        </p:nvPicPr>
        <p:blipFill rotWithShape="1">
          <a:blip r:embed="rId3">
            <a:alphaModFix/>
          </a:blip>
          <a:srcRect b="0" l="0" r="0" t="0"/>
          <a:stretch/>
        </p:blipFill>
        <p:spPr>
          <a:xfrm>
            <a:off x="8870375" y="5282675"/>
            <a:ext cx="2356386" cy="1392611"/>
          </a:xfrm>
          <a:prstGeom prst="rect">
            <a:avLst/>
          </a:prstGeom>
          <a:noFill/>
          <a:ln>
            <a:noFill/>
          </a:ln>
        </p:spPr>
      </p:pic>
      <p:pic>
        <p:nvPicPr>
          <p:cNvPr descr="HFRI - Hellenic Foundation for Research &amp; Innovation" id="98" name="Google Shape;98;p1"/>
          <p:cNvPicPr preferRelativeResize="0"/>
          <p:nvPr/>
        </p:nvPicPr>
        <p:blipFill rotWithShape="1">
          <a:blip r:embed="rId4">
            <a:alphaModFix/>
          </a:blip>
          <a:srcRect b="0" l="0" r="0" t="0"/>
          <a:stretch/>
        </p:blipFill>
        <p:spPr>
          <a:xfrm>
            <a:off x="-10" y="22775"/>
            <a:ext cx="2138411" cy="986950"/>
          </a:xfrm>
          <a:prstGeom prst="rect">
            <a:avLst/>
          </a:prstGeom>
          <a:noFill/>
          <a:ln>
            <a:noFill/>
          </a:ln>
        </p:spPr>
      </p:pic>
      <p:pic>
        <p:nvPicPr>
          <p:cNvPr descr="NATIONAL AND KAPODISTRIAN UNIVERSITY OF ATHENS - HellasQCI" id="99" name="Google Shape;99;p1"/>
          <p:cNvPicPr preferRelativeResize="0"/>
          <p:nvPr/>
        </p:nvPicPr>
        <p:blipFill rotWithShape="1">
          <a:blip r:embed="rId5">
            <a:alphaModFix/>
          </a:blip>
          <a:srcRect b="0" l="0" r="0" t="0"/>
          <a:stretch/>
        </p:blipFill>
        <p:spPr>
          <a:xfrm>
            <a:off x="2138406" y="26238"/>
            <a:ext cx="1619672" cy="9800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Play"/>
              <a:buNone/>
            </a:pPr>
            <a:r>
              <a:rPr lang="en-US">
                <a:solidFill>
                  <a:srgbClr val="002060"/>
                </a:solidFill>
              </a:rPr>
              <a:t>Theoretical Foundation</a:t>
            </a:r>
            <a:endParaRPr>
              <a:solidFill>
                <a:srgbClr val="002060"/>
              </a:solidFill>
            </a:endParaRPr>
          </a:p>
        </p:txBody>
      </p:sp>
      <p:sp>
        <p:nvSpPr>
          <p:cNvPr id="105" name="Google Shape;105;p2"/>
          <p:cNvSpPr/>
          <p:nvPr/>
        </p:nvSpPr>
        <p:spPr>
          <a:xfrm>
            <a:off x="2015614" y="1545456"/>
            <a:ext cx="1995948" cy="251705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Transitivity Alternations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How verbs change their argument structure over time</a:t>
            </a:r>
            <a:endParaRPr b="0" i="0" sz="1800" u="none" cap="none" strike="noStrike">
              <a:solidFill>
                <a:schemeClr val="lt1"/>
              </a:solidFill>
              <a:latin typeface="Arial"/>
              <a:ea typeface="Arial"/>
              <a:cs typeface="Arial"/>
              <a:sym typeface="Arial"/>
            </a:endParaRPr>
          </a:p>
        </p:txBody>
      </p:sp>
      <p:sp>
        <p:nvSpPr>
          <p:cNvPr id="106" name="Google Shape;106;p2"/>
          <p:cNvSpPr/>
          <p:nvPr/>
        </p:nvSpPr>
        <p:spPr>
          <a:xfrm>
            <a:off x="5314345" y="1550376"/>
            <a:ext cx="1995948" cy="251705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Voice Morphology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Evolution of active, passive, and middle voice systems</a:t>
            </a:r>
            <a:endParaRPr b="0" i="0" sz="2000" u="none" cap="none" strike="noStrike">
              <a:solidFill>
                <a:schemeClr val="lt1"/>
              </a:solidFill>
              <a:latin typeface="Arial"/>
              <a:ea typeface="Arial"/>
              <a:cs typeface="Arial"/>
              <a:sym typeface="Arial"/>
            </a:endParaRPr>
          </a:p>
        </p:txBody>
      </p:sp>
      <p:sp>
        <p:nvSpPr>
          <p:cNvPr id="107" name="Google Shape;107;p2"/>
          <p:cNvSpPr/>
          <p:nvPr/>
        </p:nvSpPr>
        <p:spPr>
          <a:xfrm>
            <a:off x="8386933" y="1555296"/>
            <a:ext cx="1995948" cy="251705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Case Systems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Diachronic changes in case marking and argument realization</a:t>
            </a:r>
            <a:endParaRPr b="0" i="0" sz="2000" u="none" cap="none" strike="noStrike">
              <a:solidFill>
                <a:schemeClr val="lt1"/>
              </a:solidFill>
              <a:latin typeface="Arial"/>
              <a:ea typeface="Arial"/>
              <a:cs typeface="Arial"/>
              <a:sym typeface="Arial"/>
            </a:endParaRPr>
          </a:p>
        </p:txBody>
      </p:sp>
      <p:sp>
        <p:nvSpPr>
          <p:cNvPr id="108" name="Google Shape;108;p2"/>
          <p:cNvSpPr txBox="1"/>
          <p:nvPr/>
        </p:nvSpPr>
        <p:spPr>
          <a:xfrm>
            <a:off x="1661326" y="4711524"/>
            <a:ext cx="8721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Building on work such as "Transitivity Alternations in Diachrony" (Lavidas 2009) and</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Haspelmath's (1993) research on inchoative/causative alternations, this project</a:t>
            </a:r>
            <a:r>
              <a:rPr b="0" i="0" lang="en-US" sz="1800" u="none" cap="none" strike="noStrike">
                <a:solidFill>
                  <a:schemeClr val="dk1"/>
                </a:solidFill>
                <a:latin typeface="Arial"/>
                <a:ea typeface="Arial"/>
                <a:cs typeface="Arial"/>
                <a:sym typeface="Arial"/>
              </a:rPr>
              <a:t> </a:t>
            </a:r>
            <a:r>
              <a:rPr b="0" i="1" lang="en-US" sz="1800" u="none" cap="none" strike="noStrike">
                <a:solidFill>
                  <a:schemeClr val="dk1"/>
                </a:solidFill>
                <a:latin typeface="Arial"/>
                <a:ea typeface="Arial"/>
                <a:cs typeface="Arial"/>
                <a:sym typeface="Arial"/>
              </a:rPr>
              <a:t>examines how grammatical categories reorganize over time. The focus is on systematic</a:t>
            </a:r>
            <a:r>
              <a:rPr b="0" i="0" lang="en-US" sz="1800" u="none" cap="none" strike="noStrike">
                <a:solidFill>
                  <a:schemeClr val="dk1"/>
                </a:solidFill>
                <a:latin typeface="Arial"/>
                <a:ea typeface="Arial"/>
                <a:cs typeface="Arial"/>
                <a:sym typeface="Arial"/>
              </a:rPr>
              <a:t> </a:t>
            </a:r>
            <a:r>
              <a:rPr b="0" i="1" lang="en-US" sz="1800" u="none" cap="none" strike="noStrike">
                <a:solidFill>
                  <a:schemeClr val="dk1"/>
                </a:solidFill>
                <a:latin typeface="Arial"/>
                <a:ea typeface="Arial"/>
                <a:cs typeface="Arial"/>
                <a:sym typeface="Arial"/>
              </a:rPr>
              <a:t>patterns of change rather than isolated phenomena.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875925" y="365125"/>
            <a:ext cx="10109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01549"/>
              </a:buClr>
              <a:buSzPts val="4400"/>
              <a:buFont typeface="Play"/>
              <a:buNone/>
            </a:pPr>
            <a:r>
              <a:rPr lang="en-US" sz="4000">
                <a:solidFill>
                  <a:srgbClr val="501549"/>
                </a:solidFill>
              </a:rPr>
              <a:t>Translations and Language Contact</a:t>
            </a:r>
            <a:endParaRPr sz="4000">
              <a:solidFill>
                <a:srgbClr val="501549"/>
              </a:solidFill>
            </a:endParaRPr>
          </a:p>
        </p:txBody>
      </p:sp>
      <p:sp>
        <p:nvSpPr>
          <p:cNvPr id="114" name="Google Shape;114;p3"/>
          <p:cNvSpPr/>
          <p:nvPr/>
        </p:nvSpPr>
        <p:spPr>
          <a:xfrm>
            <a:off x="1091381" y="1690688"/>
            <a:ext cx="10262419" cy="4503635"/>
          </a:xfrm>
          <a:prstGeom prst="rect">
            <a:avLst/>
          </a:prstGeom>
          <a:noFill/>
          <a:ln cap="flat" cmpd="sng" w="76200">
            <a:solidFill>
              <a:srgbClr val="D86C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5" name="Google Shape;115;p3"/>
          <p:cNvPicPr preferRelativeResize="0"/>
          <p:nvPr/>
        </p:nvPicPr>
        <p:blipFill rotWithShape="1">
          <a:blip r:embed="rId3">
            <a:alphaModFix/>
          </a:blip>
          <a:srcRect b="0" l="0" r="0" t="0"/>
          <a:stretch/>
        </p:blipFill>
        <p:spPr>
          <a:xfrm>
            <a:off x="9026025" y="-6000"/>
            <a:ext cx="3165976" cy="2086300"/>
          </a:xfrm>
          <a:prstGeom prst="rect">
            <a:avLst/>
          </a:prstGeom>
          <a:noFill/>
          <a:ln>
            <a:noFill/>
          </a:ln>
        </p:spPr>
      </p:pic>
      <p:sp>
        <p:nvSpPr>
          <p:cNvPr id="116" name="Google Shape;116;p3"/>
          <p:cNvSpPr txBox="1"/>
          <p:nvPr/>
        </p:nvSpPr>
        <p:spPr>
          <a:xfrm>
            <a:off x="1861984" y="3609000"/>
            <a:ext cx="8721212" cy="14773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501549"/>
              </a:buClr>
              <a:buSzPts val="1800"/>
              <a:buFont typeface="Noto Sans Symbols"/>
              <a:buChar char="▪"/>
            </a:pPr>
            <a:r>
              <a:rPr b="0" i="0" lang="en-US" sz="1800" u="none" cap="none" strike="noStrike">
                <a:solidFill>
                  <a:srgbClr val="501549"/>
                </a:solidFill>
                <a:latin typeface="Arial"/>
                <a:ea typeface="Arial"/>
                <a:cs typeface="Arial"/>
                <a:sym typeface="Arial"/>
              </a:rPr>
              <a:t>can account for semi-natural linguistic change</a:t>
            </a:r>
            <a:endParaRPr b="0" i="0" sz="1800" u="none" cap="none" strike="noStrike">
              <a:solidFill>
                <a:srgbClr val="501549"/>
              </a:solidFill>
              <a:latin typeface="Arial"/>
              <a:ea typeface="Arial"/>
              <a:cs typeface="Arial"/>
              <a:sym typeface="Arial"/>
            </a:endParaRPr>
          </a:p>
          <a:p>
            <a:pPr indent="-285750" lvl="0" marL="285750" marR="0" rtl="0" algn="l">
              <a:lnSpc>
                <a:spcPct val="100000"/>
              </a:lnSpc>
              <a:spcBef>
                <a:spcPts val="0"/>
              </a:spcBef>
              <a:spcAft>
                <a:spcPts val="0"/>
              </a:spcAft>
              <a:buClr>
                <a:srgbClr val="501549"/>
              </a:buClr>
              <a:buSzPts val="1800"/>
              <a:buFont typeface="Noto Sans Symbols"/>
              <a:buChar char="▪"/>
            </a:pPr>
            <a:br>
              <a:rPr b="0" i="0" lang="en-US" sz="1800" u="none" cap="none" strike="noStrike">
                <a:solidFill>
                  <a:srgbClr val="501549"/>
                </a:solidFill>
                <a:latin typeface="Arial"/>
                <a:ea typeface="Arial"/>
                <a:cs typeface="Arial"/>
                <a:sym typeface="Arial"/>
              </a:rPr>
            </a:br>
            <a:r>
              <a:rPr b="0" i="0" lang="en-US" sz="1800" u="none" cap="none" strike="noStrike">
                <a:solidFill>
                  <a:srgbClr val="501549"/>
                </a:solidFill>
                <a:latin typeface="Arial"/>
                <a:ea typeface="Arial"/>
                <a:cs typeface="Arial"/>
                <a:sym typeface="Arial"/>
              </a:rPr>
              <a:t>although not always direct evidence, this setting </a:t>
            </a:r>
            <a:r>
              <a:rPr b="1" i="0" lang="en-US" sz="1800" u="none" cap="none" strike="noStrike">
                <a:solidFill>
                  <a:srgbClr val="501549"/>
                </a:solidFill>
                <a:latin typeface="Arial"/>
                <a:ea typeface="Arial"/>
                <a:cs typeface="Arial"/>
                <a:sym typeface="Arial"/>
              </a:rPr>
              <a:t>reflects</a:t>
            </a:r>
            <a:r>
              <a:rPr b="0" i="0" lang="en-US" sz="1800" u="none" cap="none" strike="noStrike">
                <a:solidFill>
                  <a:srgbClr val="501549"/>
                </a:solidFill>
                <a:latin typeface="Arial"/>
                <a:ea typeface="Arial"/>
                <a:cs typeface="Arial"/>
                <a:sym typeface="Arial"/>
              </a:rPr>
              <a:t> the processes or parameters which have led to specific </a:t>
            </a:r>
            <a:r>
              <a:rPr b="1" i="0" lang="en-US" sz="1800" u="none" cap="none" strike="noStrike">
                <a:solidFill>
                  <a:srgbClr val="501549"/>
                </a:solidFill>
                <a:latin typeface="Arial"/>
                <a:ea typeface="Arial"/>
                <a:cs typeface="Arial"/>
                <a:sym typeface="Arial"/>
              </a:rPr>
              <a:t>diachronic developments </a:t>
            </a:r>
            <a:r>
              <a:rPr b="0" i="0" lang="en-US" sz="1800" u="none" cap="none" strike="noStrike">
                <a:solidFill>
                  <a:srgbClr val="501549"/>
                </a:solidFill>
                <a:latin typeface="Arial"/>
                <a:ea typeface="Arial"/>
                <a:cs typeface="Arial"/>
                <a:sym typeface="Arial"/>
              </a:rPr>
              <a:t>of grammar (Baumgarten </a:t>
            </a:r>
            <a:r>
              <a:rPr b="0" i="1" lang="en-US" sz="1800" u="none" cap="none" strike="noStrike">
                <a:solidFill>
                  <a:srgbClr val="501549"/>
                </a:solidFill>
                <a:latin typeface="Arial"/>
                <a:ea typeface="Arial"/>
                <a:cs typeface="Arial"/>
                <a:sym typeface="Arial"/>
              </a:rPr>
              <a:t>et al.</a:t>
            </a:r>
            <a:r>
              <a:rPr b="0" i="0" lang="en-US" sz="1800" u="none" cap="none" strike="noStrike">
                <a:solidFill>
                  <a:srgbClr val="501549"/>
                </a:solidFill>
                <a:latin typeface="Arial"/>
                <a:ea typeface="Arial"/>
                <a:cs typeface="Arial"/>
                <a:sym typeface="Arial"/>
              </a:rPr>
              <a:t>, 2008; Adams </a:t>
            </a:r>
            <a:r>
              <a:rPr b="0" i="1" lang="en-US" sz="1800" u="none" cap="none" strike="noStrike">
                <a:solidFill>
                  <a:srgbClr val="501549"/>
                </a:solidFill>
                <a:latin typeface="Arial"/>
                <a:ea typeface="Arial"/>
                <a:cs typeface="Arial"/>
                <a:sym typeface="Arial"/>
              </a:rPr>
              <a:t>et al</a:t>
            </a:r>
            <a:r>
              <a:rPr b="0" i="0" lang="en-US" sz="1800" u="none" cap="none" strike="noStrike">
                <a:solidFill>
                  <a:srgbClr val="501549"/>
                </a:solidFill>
                <a:latin typeface="Arial"/>
                <a:ea typeface="Arial"/>
                <a:cs typeface="Arial"/>
                <a:sym typeface="Arial"/>
              </a:rPr>
              <a:t>., 2002)</a:t>
            </a:r>
            <a:endParaRPr b="0" i="0" sz="1800" u="none" cap="none" strike="noStrike">
              <a:solidFill>
                <a:srgbClr val="501549"/>
              </a:solidFill>
              <a:latin typeface="Arial"/>
              <a:ea typeface="Arial"/>
              <a:cs typeface="Arial"/>
              <a:sym typeface="Arial"/>
            </a:endParaRPr>
          </a:p>
        </p:txBody>
      </p:sp>
      <p:sp>
        <p:nvSpPr>
          <p:cNvPr id="117" name="Google Shape;117;p3"/>
          <p:cNvSpPr/>
          <p:nvPr/>
        </p:nvSpPr>
        <p:spPr>
          <a:xfrm>
            <a:off x="1861984" y="2187216"/>
            <a:ext cx="3726425" cy="1022555"/>
          </a:xfrm>
          <a:prstGeom prst="roundRect">
            <a:avLst>
              <a:gd fmla="val 16667" name="adj"/>
            </a:avLst>
          </a:prstGeom>
          <a:solidFill>
            <a:srgbClr val="F2C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01549"/>
                </a:solidFill>
                <a:latin typeface="Arial"/>
                <a:ea typeface="Arial"/>
                <a:cs typeface="Arial"/>
                <a:sym typeface="Arial"/>
              </a:rPr>
              <a:t>Studying </a:t>
            </a:r>
            <a:r>
              <a:rPr b="1" i="0" lang="en-US" sz="1800" u="none" cap="none" strike="noStrike">
                <a:solidFill>
                  <a:srgbClr val="501549"/>
                </a:solidFill>
                <a:latin typeface="Arial"/>
                <a:ea typeface="Arial"/>
                <a:cs typeface="Arial"/>
                <a:sym typeface="Arial"/>
              </a:rPr>
              <a:t>language contact</a:t>
            </a:r>
            <a:r>
              <a:rPr b="0" i="0" lang="en-US" sz="1800" u="none" cap="none" strike="noStrike">
                <a:solidFill>
                  <a:srgbClr val="501549"/>
                </a:solidFill>
                <a:latin typeface="Arial"/>
                <a:ea typeface="Arial"/>
                <a:cs typeface="Arial"/>
                <a:sym typeface="Arial"/>
              </a:rPr>
              <a:t> and </a:t>
            </a:r>
            <a:r>
              <a:rPr b="1" i="0" lang="en-US" sz="1800" u="none" cap="none" strike="noStrike">
                <a:solidFill>
                  <a:srgbClr val="501549"/>
                </a:solidFill>
                <a:latin typeface="Arial"/>
                <a:ea typeface="Arial"/>
                <a:cs typeface="Arial"/>
                <a:sym typeface="Arial"/>
              </a:rPr>
              <a:t>change</a:t>
            </a:r>
            <a:r>
              <a:rPr b="0" i="0" lang="en-US" sz="1800" u="none" cap="none" strike="noStrike">
                <a:solidFill>
                  <a:srgbClr val="501549"/>
                </a:solidFill>
                <a:latin typeface="Arial"/>
                <a:ea typeface="Arial"/>
                <a:cs typeface="Arial"/>
                <a:sym typeface="Arial"/>
              </a:rPr>
              <a:t> through </a:t>
            </a:r>
            <a:br>
              <a:rPr b="0" i="0" lang="en-US" sz="1800" u="none" cap="none" strike="noStrike">
                <a:solidFill>
                  <a:srgbClr val="501549"/>
                </a:solidFill>
                <a:latin typeface="Arial"/>
                <a:ea typeface="Arial"/>
                <a:cs typeface="Arial"/>
                <a:sym typeface="Arial"/>
              </a:rPr>
            </a:br>
            <a:r>
              <a:rPr b="0" i="0" lang="en-US" sz="1800" u="none" cap="none" strike="noStrike">
                <a:solidFill>
                  <a:srgbClr val="501549"/>
                </a:solidFill>
                <a:latin typeface="Arial"/>
                <a:ea typeface="Arial"/>
                <a:cs typeface="Arial"/>
                <a:sym typeface="Arial"/>
              </a:rPr>
              <a:t>translations and re-translations</a:t>
            </a:r>
            <a:endParaRPr b="0" i="0" sz="1800" u="none" cap="none" strike="noStrike">
              <a:solidFill>
                <a:srgbClr val="501549"/>
              </a:solidFill>
              <a:latin typeface="Arial"/>
              <a:ea typeface="Arial"/>
              <a:cs typeface="Arial"/>
              <a:sym typeface="Arial"/>
            </a:endParaRPr>
          </a:p>
        </p:txBody>
      </p:sp>
      <p:sp>
        <p:nvSpPr>
          <p:cNvPr id="118" name="Google Shape;118;p3"/>
          <p:cNvSpPr/>
          <p:nvPr/>
        </p:nvSpPr>
        <p:spPr>
          <a:xfrm>
            <a:off x="5869858" y="2595716"/>
            <a:ext cx="560439" cy="314632"/>
          </a:xfrm>
          <a:prstGeom prst="rightArrow">
            <a:avLst>
              <a:gd fmla="val 50000" name="adj1"/>
              <a:gd fmla="val 50000" name="adj2"/>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p3"/>
          <p:cNvSpPr/>
          <p:nvPr/>
        </p:nvSpPr>
        <p:spPr>
          <a:xfrm>
            <a:off x="6559346" y="2181227"/>
            <a:ext cx="3726425" cy="1022555"/>
          </a:xfrm>
          <a:prstGeom prst="roundRect">
            <a:avLst>
              <a:gd fmla="val 16667" name="adj"/>
            </a:avLst>
          </a:prstGeom>
          <a:solidFill>
            <a:srgbClr val="F2CDE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501549"/>
                </a:solidFill>
                <a:latin typeface="Arial"/>
                <a:ea typeface="Arial"/>
                <a:cs typeface="Arial"/>
                <a:sym typeface="Arial"/>
              </a:rPr>
              <a:t>development of </a:t>
            </a:r>
            <a:r>
              <a:rPr b="0" i="0" lang="en-US" sz="1800" u="sng" cap="none" strike="noStrike">
                <a:solidFill>
                  <a:srgbClr val="501549"/>
                </a:solidFill>
                <a:latin typeface="Arial"/>
                <a:ea typeface="Arial"/>
                <a:cs typeface="Arial"/>
                <a:sym typeface="Arial"/>
              </a:rPr>
              <a:t>morphological</a:t>
            </a:r>
            <a:r>
              <a:rPr b="0" i="0" lang="en-US" sz="1800" u="none" cap="none" strike="noStrike">
                <a:solidFill>
                  <a:srgbClr val="501549"/>
                </a:solidFill>
                <a:latin typeface="Arial"/>
                <a:ea typeface="Arial"/>
                <a:cs typeface="Arial"/>
                <a:sym typeface="Arial"/>
              </a:rPr>
              <a:t> and </a:t>
            </a:r>
            <a:r>
              <a:rPr b="0" i="0" lang="en-US" sz="1800" u="sng" cap="none" strike="noStrike">
                <a:solidFill>
                  <a:srgbClr val="501549"/>
                </a:solidFill>
                <a:latin typeface="Arial"/>
                <a:ea typeface="Arial"/>
                <a:cs typeface="Arial"/>
                <a:sym typeface="Arial"/>
              </a:rPr>
              <a:t>syntactic </a:t>
            </a:r>
            <a:r>
              <a:rPr b="0" i="0" lang="en-US" sz="1800" u="none" cap="none" strike="noStrike">
                <a:solidFill>
                  <a:srgbClr val="501549"/>
                </a:solidFill>
                <a:latin typeface="Arial"/>
                <a:ea typeface="Arial"/>
                <a:cs typeface="Arial"/>
                <a:sym typeface="Arial"/>
              </a:rPr>
              <a:t>phenomena (Fischer, 2013; Lavidas, 2022)</a:t>
            </a:r>
            <a:endParaRPr b="0" i="0" sz="1800" u="none" cap="none" strike="noStrike">
              <a:solidFill>
                <a:srgbClr val="50154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Play"/>
              <a:buNone/>
            </a:pPr>
            <a:r>
              <a:rPr lang="en-US" sz="4200">
                <a:solidFill>
                  <a:srgbClr val="002060"/>
                </a:solidFill>
              </a:rPr>
              <a:t>Retranslations as Source of Linguistic Data</a:t>
            </a:r>
            <a:endParaRPr sz="4200">
              <a:solidFill>
                <a:srgbClr val="002060"/>
              </a:solidFill>
            </a:endParaRPr>
          </a:p>
        </p:txBody>
      </p:sp>
      <p:sp>
        <p:nvSpPr>
          <p:cNvPr id="125" name="Google Shape;125;p4"/>
          <p:cNvSpPr/>
          <p:nvPr/>
        </p:nvSpPr>
        <p:spPr>
          <a:xfrm>
            <a:off x="838200" y="2182761"/>
            <a:ext cx="2436000" cy="1986000"/>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6" name="Google Shape;126;p4"/>
          <p:cNvSpPr txBox="1"/>
          <p:nvPr/>
        </p:nvSpPr>
        <p:spPr>
          <a:xfrm>
            <a:off x="1051171" y="2776512"/>
            <a:ext cx="20661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Text Period 1</a:t>
            </a:r>
            <a:endParaRPr b="1" i="0" sz="3100" u="none" cap="none" strike="noStrike">
              <a:solidFill>
                <a:schemeClr val="dk1"/>
              </a:solidFill>
              <a:latin typeface="Arial"/>
              <a:ea typeface="Arial"/>
              <a:cs typeface="Arial"/>
              <a:sym typeface="Arial"/>
            </a:endParaRPr>
          </a:p>
        </p:txBody>
      </p:sp>
      <p:sp>
        <p:nvSpPr>
          <p:cNvPr id="127" name="Google Shape;127;p4"/>
          <p:cNvSpPr txBox="1"/>
          <p:nvPr/>
        </p:nvSpPr>
        <p:spPr>
          <a:xfrm>
            <a:off x="1207027" y="3275109"/>
            <a:ext cx="1754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Medieval ranslation</a:t>
            </a:r>
            <a:endParaRPr b="0" i="0" sz="1050" u="none" cap="none" strike="noStrike">
              <a:solidFill>
                <a:schemeClr val="dk1"/>
              </a:solidFill>
              <a:latin typeface="Arial"/>
              <a:ea typeface="Arial"/>
              <a:cs typeface="Arial"/>
              <a:sym typeface="Arial"/>
            </a:endParaRPr>
          </a:p>
        </p:txBody>
      </p:sp>
      <p:sp>
        <p:nvSpPr>
          <p:cNvPr id="128" name="Google Shape;128;p4"/>
          <p:cNvSpPr/>
          <p:nvPr/>
        </p:nvSpPr>
        <p:spPr>
          <a:xfrm>
            <a:off x="4805525" y="2177842"/>
            <a:ext cx="2435942" cy="1986116"/>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9" name="Google Shape;129;p4"/>
          <p:cNvSpPr/>
          <p:nvPr/>
        </p:nvSpPr>
        <p:spPr>
          <a:xfrm>
            <a:off x="8551627" y="2187681"/>
            <a:ext cx="2435942" cy="1986116"/>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0" name="Google Shape;130;p4"/>
          <p:cNvSpPr txBox="1"/>
          <p:nvPr/>
        </p:nvSpPr>
        <p:spPr>
          <a:xfrm>
            <a:off x="4990404" y="2776512"/>
            <a:ext cx="20661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Text Period 2</a:t>
            </a:r>
            <a:endParaRPr b="1" i="0" sz="3100" u="none" cap="none" strike="noStrike">
              <a:solidFill>
                <a:schemeClr val="dk1"/>
              </a:solidFill>
              <a:latin typeface="Arial"/>
              <a:ea typeface="Arial"/>
              <a:cs typeface="Arial"/>
              <a:sym typeface="Arial"/>
            </a:endParaRPr>
          </a:p>
        </p:txBody>
      </p:sp>
      <p:sp>
        <p:nvSpPr>
          <p:cNvPr id="131" name="Google Shape;131;p4"/>
          <p:cNvSpPr txBox="1"/>
          <p:nvPr/>
        </p:nvSpPr>
        <p:spPr>
          <a:xfrm>
            <a:off x="5003925" y="3275100"/>
            <a:ext cx="2124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Renaissance translation</a:t>
            </a:r>
            <a:endParaRPr b="0" i="0" sz="800" u="none" cap="none" strike="noStrike">
              <a:solidFill>
                <a:schemeClr val="dk1"/>
              </a:solidFill>
              <a:latin typeface="Arial"/>
              <a:ea typeface="Arial"/>
              <a:cs typeface="Arial"/>
              <a:sym typeface="Arial"/>
            </a:endParaRPr>
          </a:p>
        </p:txBody>
      </p:sp>
      <p:sp>
        <p:nvSpPr>
          <p:cNvPr id="132" name="Google Shape;132;p4"/>
          <p:cNvSpPr txBox="1"/>
          <p:nvPr/>
        </p:nvSpPr>
        <p:spPr>
          <a:xfrm>
            <a:off x="8702088" y="2761763"/>
            <a:ext cx="2066100" cy="446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Text Period 3</a:t>
            </a:r>
            <a:endParaRPr b="1" i="0" sz="3100" u="none" cap="none" strike="noStrike">
              <a:solidFill>
                <a:schemeClr val="dk1"/>
              </a:solidFill>
              <a:latin typeface="Arial"/>
              <a:ea typeface="Arial"/>
              <a:cs typeface="Arial"/>
              <a:sym typeface="Arial"/>
            </a:endParaRPr>
          </a:p>
        </p:txBody>
      </p:sp>
      <p:sp>
        <p:nvSpPr>
          <p:cNvPr id="133" name="Google Shape;133;p4"/>
          <p:cNvSpPr txBox="1"/>
          <p:nvPr/>
        </p:nvSpPr>
        <p:spPr>
          <a:xfrm>
            <a:off x="8857950" y="3275112"/>
            <a:ext cx="1754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Modern translation</a:t>
            </a:r>
            <a:endParaRPr b="0" i="0" sz="500" u="none" cap="none" strike="noStrike">
              <a:solidFill>
                <a:schemeClr val="dk1"/>
              </a:solidFill>
              <a:latin typeface="Arial"/>
              <a:ea typeface="Arial"/>
              <a:cs typeface="Arial"/>
              <a:sym typeface="Arial"/>
            </a:endParaRPr>
          </a:p>
        </p:txBody>
      </p:sp>
      <p:cxnSp>
        <p:nvCxnSpPr>
          <p:cNvPr id="134" name="Google Shape;134;p4"/>
          <p:cNvCxnSpPr/>
          <p:nvPr/>
        </p:nvCxnSpPr>
        <p:spPr>
          <a:xfrm>
            <a:off x="3588774" y="3146323"/>
            <a:ext cx="865239" cy="0"/>
          </a:xfrm>
          <a:prstGeom prst="straightConnector1">
            <a:avLst/>
          </a:prstGeom>
          <a:noFill/>
          <a:ln cap="flat" cmpd="sng" w="57150">
            <a:solidFill>
              <a:srgbClr val="1F5C99"/>
            </a:solidFill>
            <a:prstDash val="solid"/>
            <a:miter lim="800000"/>
            <a:headEnd len="sm" w="sm" type="none"/>
            <a:tailEnd len="med" w="med" type="triangle"/>
          </a:ln>
        </p:spPr>
      </p:cxnSp>
      <p:cxnSp>
        <p:nvCxnSpPr>
          <p:cNvPr id="135" name="Google Shape;135;p4"/>
          <p:cNvCxnSpPr/>
          <p:nvPr/>
        </p:nvCxnSpPr>
        <p:spPr>
          <a:xfrm>
            <a:off x="7487264" y="3141407"/>
            <a:ext cx="865239" cy="0"/>
          </a:xfrm>
          <a:prstGeom prst="straightConnector1">
            <a:avLst/>
          </a:prstGeom>
          <a:noFill/>
          <a:ln cap="flat" cmpd="sng" w="57150">
            <a:solidFill>
              <a:srgbClr val="1F5C99"/>
            </a:solidFill>
            <a:prstDash val="solid"/>
            <a:miter lim="800000"/>
            <a:headEnd len="sm" w="sm" type="none"/>
            <a:tailEnd len="med" w="med" type="triangle"/>
          </a:ln>
        </p:spPr>
      </p:cxnSp>
      <p:sp>
        <p:nvSpPr>
          <p:cNvPr id="136" name="Google Shape;136;p4"/>
          <p:cNvSpPr/>
          <p:nvPr/>
        </p:nvSpPr>
        <p:spPr>
          <a:xfrm>
            <a:off x="1848464" y="4670790"/>
            <a:ext cx="8111613" cy="1700509"/>
          </a:xfrm>
          <a:prstGeom prst="roundRect">
            <a:avLst>
              <a:gd fmla="val 16667" name="adj"/>
            </a:avLst>
          </a:prstGeom>
          <a:solidFill>
            <a:srgbClr val="002060"/>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Retranslations provide controlled data for observing language change. When the same source text is translated at different historical periods, variations in the target language reveal diachronic shifts in grammar, lexicon, and style. This methodology allows us to distinguish between translator preferences and systematic language change.</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p:nvPr/>
        </p:nvSpPr>
        <p:spPr>
          <a:xfrm>
            <a:off x="838200" y="589935"/>
            <a:ext cx="10409903" cy="934065"/>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Arial"/>
                <a:ea typeface="Arial"/>
                <a:cs typeface="Arial"/>
                <a:sym typeface="Arial"/>
              </a:rPr>
              <a:t>Valency Patterns in Diachrony</a:t>
            </a:r>
            <a:endParaRPr b="1" i="0" sz="3600" u="none" cap="none" strike="noStrike">
              <a:solidFill>
                <a:schemeClr val="lt1"/>
              </a:solidFill>
              <a:latin typeface="Arial"/>
              <a:ea typeface="Arial"/>
              <a:cs typeface="Arial"/>
              <a:sym typeface="Arial"/>
            </a:endParaRPr>
          </a:p>
        </p:txBody>
      </p:sp>
      <p:sp>
        <p:nvSpPr>
          <p:cNvPr id="142" name="Google Shape;142;p5"/>
          <p:cNvSpPr txBox="1"/>
          <p:nvPr/>
        </p:nvSpPr>
        <p:spPr>
          <a:xfrm>
            <a:off x="1730477" y="2202426"/>
            <a:ext cx="2694039" cy="13542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Labile Verbs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Verbs that alternate between transitive/ intransitive use</a:t>
            </a:r>
            <a:endParaRPr b="0" i="0" sz="1800" u="none" cap="none" strike="noStrike">
              <a:solidFill>
                <a:schemeClr val="dk1"/>
              </a:solidFill>
              <a:latin typeface="Arial"/>
              <a:ea typeface="Arial"/>
              <a:cs typeface="Arial"/>
              <a:sym typeface="Arial"/>
            </a:endParaRPr>
          </a:p>
        </p:txBody>
      </p:sp>
      <p:sp>
        <p:nvSpPr>
          <p:cNvPr id="143" name="Google Shape;143;p5"/>
          <p:cNvSpPr txBox="1"/>
          <p:nvPr/>
        </p:nvSpPr>
        <p:spPr>
          <a:xfrm>
            <a:off x="4694910" y="2207344"/>
            <a:ext cx="2694039" cy="15081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Causative-Anticausative</a:t>
            </a:r>
            <a:endParaRPr b="1" i="0" sz="2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Shifts in causation marking</a:t>
            </a:r>
            <a:endParaRPr b="0" i="0" sz="2800" u="none" cap="none" strike="noStrike">
              <a:solidFill>
                <a:schemeClr val="dk1"/>
              </a:solidFill>
              <a:latin typeface="Arial"/>
              <a:ea typeface="Arial"/>
              <a:cs typeface="Arial"/>
              <a:sym typeface="Arial"/>
            </a:endParaRPr>
          </a:p>
        </p:txBody>
      </p:sp>
      <p:sp>
        <p:nvSpPr>
          <p:cNvPr id="144" name="Google Shape;144;p5"/>
          <p:cNvSpPr txBox="1"/>
          <p:nvPr/>
        </p:nvSpPr>
        <p:spPr>
          <a:xfrm>
            <a:off x="7767484" y="2125481"/>
            <a:ext cx="2694039" cy="13542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Deponent Verb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Changes in voice morphology without semantic change</a:t>
            </a:r>
            <a:endParaRPr b="0" i="0" sz="2800" u="none" cap="none" strike="noStrike">
              <a:solidFill>
                <a:schemeClr val="dk1"/>
              </a:solidFill>
              <a:latin typeface="Arial"/>
              <a:ea typeface="Arial"/>
              <a:cs typeface="Arial"/>
              <a:sym typeface="Arial"/>
            </a:endParaRPr>
          </a:p>
        </p:txBody>
      </p:sp>
      <p:sp>
        <p:nvSpPr>
          <p:cNvPr id="145" name="Google Shape;145;p5"/>
          <p:cNvSpPr/>
          <p:nvPr/>
        </p:nvSpPr>
        <p:spPr>
          <a:xfrm>
            <a:off x="2158187" y="4021394"/>
            <a:ext cx="7767484" cy="2246671"/>
          </a:xfrm>
          <a:prstGeom prst="roundRect">
            <a:avLst>
              <a:gd fmla="val 16667" name="adj"/>
            </a:avLst>
          </a:prstGeom>
          <a:solidFill>
            <a:srgbClr val="F2F2F2"/>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Following research on labile verbs in Greek and English and typological studies on voice systems, we examine how verbs develop or lose the ability to appear in multiple syntactic constructions. This reveals broader patterns of how languages encode agency and causation over time.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Play"/>
              <a:buNone/>
            </a:pPr>
            <a:r>
              <a:rPr lang="en-US">
                <a:solidFill>
                  <a:srgbClr val="002060"/>
                </a:solidFill>
              </a:rPr>
              <a:t>Methodological Innovation</a:t>
            </a:r>
            <a:endParaRPr>
              <a:solidFill>
                <a:srgbClr val="002060"/>
              </a:solidFill>
            </a:endParaRPr>
          </a:p>
        </p:txBody>
      </p:sp>
      <p:sp>
        <p:nvSpPr>
          <p:cNvPr id="151" name="Google Shape;151;p6"/>
          <p:cNvSpPr txBox="1"/>
          <p:nvPr/>
        </p:nvSpPr>
        <p:spPr>
          <a:xfrm>
            <a:off x="1946786" y="2128405"/>
            <a:ext cx="331347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A5490"/>
              </a:buClr>
              <a:buSzPts val="3200"/>
              <a:buFont typeface="Arial"/>
              <a:buNone/>
            </a:pPr>
            <a:r>
              <a:rPr b="0" i="0" lang="en-US" sz="3200" u="none" cap="none" strike="noStrike">
                <a:solidFill>
                  <a:srgbClr val="1A5490"/>
                </a:solidFill>
                <a:latin typeface="Arial"/>
                <a:ea typeface="Arial"/>
                <a:cs typeface="Arial"/>
                <a:sym typeface="Arial"/>
              </a:rPr>
              <a:t>Corpus Design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Parallel text alignment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Morphosyntactic annotation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Semantic role labeling</a:t>
            </a:r>
            <a:endParaRPr b="0" i="0" sz="1400" u="none" cap="none" strike="noStrike">
              <a:solidFill>
                <a:srgbClr val="000000"/>
              </a:solidFill>
              <a:latin typeface="Arial"/>
              <a:ea typeface="Arial"/>
              <a:cs typeface="Arial"/>
              <a:sym typeface="Arial"/>
            </a:endParaRPr>
          </a:p>
        </p:txBody>
      </p:sp>
      <p:sp>
        <p:nvSpPr>
          <p:cNvPr id="152" name="Google Shape;152;p6"/>
          <p:cNvSpPr txBox="1"/>
          <p:nvPr/>
        </p:nvSpPr>
        <p:spPr>
          <a:xfrm>
            <a:off x="6096000" y="2123307"/>
            <a:ext cx="3313471" cy="22185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A5490"/>
              </a:buClr>
              <a:buSzPts val="3200"/>
              <a:buFont typeface="Arial"/>
              <a:buNone/>
            </a:pPr>
            <a:r>
              <a:rPr b="0" i="0" lang="en-US" sz="3200" u="none" cap="none" strike="noStrike">
                <a:solidFill>
                  <a:srgbClr val="1A5490"/>
                </a:solidFill>
                <a:latin typeface="Arial"/>
                <a:ea typeface="Arial"/>
                <a:cs typeface="Arial"/>
                <a:sym typeface="Arial"/>
              </a:rPr>
              <a:t>Analysis Tools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 Valency pattern extraction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5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Diachronic comparison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012"/>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Statistical validation</a:t>
            </a:r>
            <a:endParaRPr b="0" i="0" sz="1800" u="none" cap="none" strike="noStrike">
              <a:solidFill>
                <a:schemeClr val="dk1"/>
              </a:solidFill>
              <a:latin typeface="Arial"/>
              <a:ea typeface="Arial"/>
              <a:cs typeface="Arial"/>
              <a:sym typeface="Arial"/>
            </a:endParaRPr>
          </a:p>
        </p:txBody>
      </p:sp>
      <p:sp>
        <p:nvSpPr>
          <p:cNvPr id="153" name="Google Shape;153;p6"/>
          <p:cNvSpPr txBox="1"/>
          <p:nvPr/>
        </p:nvSpPr>
        <p:spPr>
          <a:xfrm>
            <a:off x="1219199" y="4906297"/>
            <a:ext cx="887853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The project develops new computational tools for analyzing valency changes across time periods. Unlike traditional approaches that rely on isolated examples, this corpus-based methodology allows for quantitative analysis of grammatical change patterns.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Play"/>
              <a:buNone/>
            </a:pPr>
            <a:r>
              <a:rPr lang="en-US">
                <a:solidFill>
                  <a:srgbClr val="002060"/>
                </a:solidFill>
              </a:rPr>
              <a:t>Case Studies: Greek Voice System</a:t>
            </a:r>
            <a:endParaRPr>
              <a:solidFill>
                <a:srgbClr val="002060"/>
              </a:solidFill>
            </a:endParaRPr>
          </a:p>
        </p:txBody>
      </p:sp>
      <p:sp>
        <p:nvSpPr>
          <p:cNvPr id="159" name="Google Shape;159;p7"/>
          <p:cNvSpPr/>
          <p:nvPr/>
        </p:nvSpPr>
        <p:spPr>
          <a:xfrm>
            <a:off x="3156155" y="1946787"/>
            <a:ext cx="5683045" cy="1482213"/>
          </a:xfrm>
          <a:prstGeom prst="roundRect">
            <a:avLst>
              <a:gd fmla="val 16667" name="adj"/>
            </a:avLst>
          </a:prstGeom>
          <a:solidFill>
            <a:srgbClr val="F2F2F2"/>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Example: </a:t>
            </a:r>
            <a:r>
              <a:rPr b="0" i="0" lang="en-US" sz="1800" u="none" cap="none" strike="noStrike">
                <a:solidFill>
                  <a:schemeClr val="dk1"/>
                </a:solidFill>
                <a:latin typeface="Arial"/>
                <a:ea typeface="Arial"/>
                <a:cs typeface="Arial"/>
                <a:sym typeface="Arial"/>
              </a:rPr>
              <a:t>Evolution of middle voice markers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Ancient Greek: Complex three-way voice system</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Modern Greek: Simplified active-passive distinction</a:t>
            </a:r>
            <a:endParaRPr b="0" i="0" sz="1800" u="none" cap="none" strike="noStrike">
              <a:solidFill>
                <a:schemeClr val="dk1"/>
              </a:solidFill>
              <a:latin typeface="Arial"/>
              <a:ea typeface="Arial"/>
              <a:cs typeface="Arial"/>
              <a:sym typeface="Arial"/>
            </a:endParaRPr>
          </a:p>
        </p:txBody>
      </p:sp>
      <p:sp>
        <p:nvSpPr>
          <p:cNvPr id="160" name="Google Shape;160;p7"/>
          <p:cNvSpPr/>
          <p:nvPr/>
        </p:nvSpPr>
        <p:spPr>
          <a:xfrm>
            <a:off x="1179871" y="3942735"/>
            <a:ext cx="9950245" cy="2349910"/>
          </a:xfrm>
          <a:prstGeom prst="rect">
            <a:avLst/>
          </a:prstGeom>
          <a:solidFill>
            <a:srgbClr val="D9E5F8"/>
          </a:solidFill>
          <a:ln cap="flat" cmpd="sng" w="19050">
            <a:solidFill>
              <a:srgbClr val="D9E5F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Arial"/>
                <a:ea typeface="Arial"/>
                <a:cs typeface="Arial"/>
                <a:sym typeface="Arial"/>
              </a:rPr>
              <a:t>The Greek voice system underwent fundamental reorganization. The middle voice, once a productive category, gradually merged with passive constructions. This change occurred through specific stages in the post-classical period, showing how voice systems can restructure over centuries.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p:nvPr/>
        </p:nvSpPr>
        <p:spPr>
          <a:xfrm>
            <a:off x="2200589" y="3617407"/>
            <a:ext cx="8058778" cy="703384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p8"/>
          <p:cNvSpPr txBox="1"/>
          <p:nvPr/>
        </p:nvSpPr>
        <p:spPr>
          <a:xfrm>
            <a:off x="2934119" y="4734342"/>
            <a:ext cx="6591718" cy="21236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Cross-linguistic Patterns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By comparing valency changes across multiple languages, we identify both universal tendencies and language-specific developments. This comparative approach provides particularly rich data for tracking these changes through texts from various periods of the diachrony of Greek and other historical corpora.</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7" name="Google Shape;167;p8"/>
          <p:cNvSpPr/>
          <p:nvPr/>
        </p:nvSpPr>
        <p:spPr>
          <a:xfrm>
            <a:off x="353925" y="1879441"/>
            <a:ext cx="2859980"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073763"/>
                </a:solidFill>
                <a:latin typeface="Arial"/>
                <a:ea typeface="Arial"/>
                <a:cs typeface="Arial"/>
                <a:sym typeface="Arial"/>
              </a:rPr>
              <a:t>Indo-European Languages </a:t>
            </a:r>
            <a:endParaRPr b="0" i="0" sz="14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Shared patterns of voice evolution</a:t>
            </a:r>
            <a:endParaRPr b="0" i="0" sz="1800" u="none" cap="none" strike="noStrike">
              <a:solidFill>
                <a:srgbClr val="073763"/>
              </a:solidFill>
              <a:latin typeface="Arial"/>
              <a:ea typeface="Arial"/>
              <a:cs typeface="Arial"/>
              <a:sym typeface="Arial"/>
            </a:endParaRPr>
          </a:p>
        </p:txBody>
      </p:sp>
      <p:sp>
        <p:nvSpPr>
          <p:cNvPr id="168" name="Google Shape;168;p8"/>
          <p:cNvSpPr/>
          <p:nvPr/>
        </p:nvSpPr>
        <p:spPr>
          <a:xfrm>
            <a:off x="8978097" y="1879441"/>
            <a:ext cx="2859980"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 </a:t>
            </a:r>
            <a:r>
              <a:rPr b="1" i="0" lang="en-US" sz="2400" u="none" cap="none" strike="noStrike">
                <a:solidFill>
                  <a:srgbClr val="073763"/>
                </a:solidFill>
                <a:latin typeface="Arial"/>
                <a:ea typeface="Arial"/>
                <a:cs typeface="Arial"/>
                <a:sym typeface="Arial"/>
              </a:rPr>
              <a:t>Typological Tendencies </a:t>
            </a:r>
            <a:r>
              <a:rPr b="0" i="0" lang="en-US" sz="1800" u="none" cap="none" strike="noStrike">
                <a:solidFill>
                  <a:srgbClr val="073763"/>
                </a:solidFill>
                <a:latin typeface="Arial"/>
                <a:ea typeface="Arial"/>
                <a:cs typeface="Arial"/>
                <a:sym typeface="Arial"/>
              </a:rPr>
              <a:t>Universal vs. language-specific changes</a:t>
            </a:r>
            <a:endParaRPr b="0" i="0" sz="1800" u="none" cap="none" strike="noStrike">
              <a:solidFill>
                <a:srgbClr val="073763"/>
              </a:solidFill>
              <a:latin typeface="Arial"/>
              <a:ea typeface="Arial"/>
              <a:cs typeface="Arial"/>
              <a:sym typeface="Arial"/>
            </a:endParaRPr>
          </a:p>
        </p:txBody>
      </p:sp>
      <p:sp>
        <p:nvSpPr>
          <p:cNvPr id="169" name="Google Shape;169;p8"/>
          <p:cNvSpPr/>
          <p:nvPr/>
        </p:nvSpPr>
        <p:spPr>
          <a:xfrm>
            <a:off x="4666011" y="518289"/>
            <a:ext cx="2859980"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73763"/>
                </a:solidFill>
                <a:latin typeface="Arial"/>
                <a:ea typeface="Arial"/>
                <a:cs typeface="Arial"/>
                <a:sym typeface="Arial"/>
              </a:rPr>
              <a:t>Contact Effects </a:t>
            </a:r>
            <a:r>
              <a:rPr b="0" i="0" lang="en-US" sz="1800" u="none" cap="none" strike="noStrike">
                <a:solidFill>
                  <a:srgbClr val="073763"/>
                </a:solidFill>
                <a:latin typeface="Arial"/>
                <a:ea typeface="Arial"/>
                <a:cs typeface="Arial"/>
                <a:sym typeface="Arial"/>
              </a:rPr>
              <a:t>Influence of language contact on valency</a:t>
            </a:r>
            <a:endParaRPr b="0" i="0" sz="1800" u="none" cap="none" strike="noStrike">
              <a:solidFill>
                <a:srgbClr val="07376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p:nvPr/>
        </p:nvSpPr>
        <p:spPr>
          <a:xfrm>
            <a:off x="3424094" y="181901"/>
            <a:ext cx="5220929" cy="1479752"/>
          </a:xfrm>
          <a:prstGeom prst="roundRect">
            <a:avLst>
              <a:gd fmla="val 16667" name="adj"/>
            </a:avLst>
          </a:prstGeom>
          <a:solidFill>
            <a:schemeClr val="accent1"/>
          </a:solidFill>
          <a:ln cap="flat" cmpd="sng" w="19050">
            <a:solidFill>
              <a:srgbClr val="1F5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Arial"/>
                <a:ea typeface="Arial"/>
                <a:cs typeface="Arial"/>
                <a:sym typeface="Arial"/>
              </a:rPr>
              <a:t>Digital Methods in Historical Linguistics</a:t>
            </a:r>
            <a:endParaRPr b="0" i="0" sz="3200" u="none" cap="none" strike="noStrike">
              <a:solidFill>
                <a:schemeClr val="lt1"/>
              </a:solidFill>
              <a:latin typeface="Arial"/>
              <a:ea typeface="Arial"/>
              <a:cs typeface="Arial"/>
              <a:sym typeface="Arial"/>
            </a:endParaRPr>
          </a:p>
        </p:txBody>
      </p:sp>
      <p:sp>
        <p:nvSpPr>
          <p:cNvPr id="175" name="Google Shape;175;p9"/>
          <p:cNvSpPr/>
          <p:nvPr/>
        </p:nvSpPr>
        <p:spPr>
          <a:xfrm>
            <a:off x="382252" y="1809144"/>
            <a:ext cx="3215148"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Corpus Annotation</a:t>
            </a:r>
            <a:endParaRPr b="1" i="0" sz="20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Multi-layer linguistic markup for diachronic analysis</a:t>
            </a:r>
            <a:endParaRPr b="0" i="0" sz="1800" u="none" cap="none" strike="noStrike">
              <a:solidFill>
                <a:srgbClr val="07376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73763"/>
              </a:solidFill>
              <a:latin typeface="Arial"/>
              <a:ea typeface="Arial"/>
              <a:cs typeface="Arial"/>
              <a:sym typeface="Arial"/>
            </a:endParaRPr>
          </a:p>
        </p:txBody>
      </p:sp>
      <p:sp>
        <p:nvSpPr>
          <p:cNvPr id="176" name="Google Shape;176;p9"/>
          <p:cNvSpPr/>
          <p:nvPr/>
        </p:nvSpPr>
        <p:spPr>
          <a:xfrm>
            <a:off x="8455742" y="1804225"/>
            <a:ext cx="3215148"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Statistical Modeling</a:t>
            </a:r>
            <a:endParaRPr b="0" i="0" sz="14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Tracking frequency changes over time</a:t>
            </a:r>
            <a:endParaRPr b="0" i="0" sz="1800" u="none" cap="none" strike="noStrike">
              <a:solidFill>
                <a:srgbClr val="073763"/>
              </a:solidFill>
              <a:latin typeface="Arial"/>
              <a:ea typeface="Arial"/>
              <a:cs typeface="Arial"/>
              <a:sym typeface="Arial"/>
            </a:endParaRPr>
          </a:p>
        </p:txBody>
      </p:sp>
      <p:sp>
        <p:nvSpPr>
          <p:cNvPr id="177" name="Google Shape;177;p9"/>
          <p:cNvSpPr/>
          <p:nvPr/>
        </p:nvSpPr>
        <p:spPr>
          <a:xfrm>
            <a:off x="4488426" y="1804225"/>
            <a:ext cx="3215148"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Parallel Text Alignment</a:t>
            </a:r>
            <a:endParaRPr b="0" i="0" sz="1400" u="none" cap="none" strike="noStrike">
              <a:solidFill>
                <a:srgbClr val="07376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Automated matching of translation equivalents</a:t>
            </a:r>
            <a:endParaRPr b="0" i="0" sz="1800" u="none" cap="none" strike="noStrike">
              <a:solidFill>
                <a:srgbClr val="073763"/>
              </a:solidFill>
              <a:latin typeface="Arial"/>
              <a:ea typeface="Arial"/>
              <a:cs typeface="Arial"/>
              <a:sym typeface="Arial"/>
            </a:endParaRPr>
          </a:p>
        </p:txBody>
      </p:sp>
      <p:sp>
        <p:nvSpPr>
          <p:cNvPr id="178" name="Google Shape;178;p9"/>
          <p:cNvSpPr/>
          <p:nvPr/>
        </p:nvSpPr>
        <p:spPr>
          <a:xfrm>
            <a:off x="1848464" y="4768645"/>
            <a:ext cx="8111613" cy="1602654"/>
          </a:xfrm>
          <a:prstGeom prst="roundRect">
            <a:avLst>
              <a:gd fmla="val 16667" name="adj"/>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73763"/>
                </a:solidFill>
                <a:latin typeface="Arial"/>
                <a:ea typeface="Arial"/>
                <a:cs typeface="Arial"/>
                <a:sym typeface="Arial"/>
              </a:rPr>
              <a:t>The integration of digital humanities methods transforms how we study language change. This project employs sophisticated computational tools that allow us to move beyond anecdotal evidence to systematic, large-scale patterns of grammatical change.</a:t>
            </a:r>
            <a:endParaRPr b="0" i="0" sz="18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7376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Play"/>
              <a:buNone/>
            </a:pPr>
            <a:r>
              <a:rPr lang="en-US">
                <a:solidFill>
                  <a:srgbClr val="002060"/>
                </a:solidFill>
              </a:rPr>
              <a:t>Text Preprocessing Pipeline</a:t>
            </a:r>
            <a:endParaRPr>
              <a:solidFill>
                <a:srgbClr val="002060"/>
              </a:solidFill>
            </a:endParaRPr>
          </a:p>
        </p:txBody>
      </p:sp>
      <p:sp>
        <p:nvSpPr>
          <p:cNvPr id="184" name="Google Shape;184;p10"/>
          <p:cNvSpPr/>
          <p:nvPr/>
        </p:nvSpPr>
        <p:spPr>
          <a:xfrm>
            <a:off x="838200" y="2182761"/>
            <a:ext cx="2435942" cy="1986116"/>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5" name="Google Shape;185;p10"/>
          <p:cNvSpPr txBox="1"/>
          <p:nvPr/>
        </p:nvSpPr>
        <p:spPr>
          <a:xfrm>
            <a:off x="1111045" y="2505670"/>
            <a:ext cx="2066183"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OCR/</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Digitization</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86" name="Google Shape;186;p10"/>
          <p:cNvSpPr txBox="1"/>
          <p:nvPr/>
        </p:nvSpPr>
        <p:spPr>
          <a:xfrm>
            <a:off x="1466009" y="3429000"/>
            <a:ext cx="118032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Historical texts</a:t>
            </a:r>
            <a:endParaRPr b="0" i="0" sz="1200" u="none" cap="none" strike="noStrike">
              <a:solidFill>
                <a:schemeClr val="dk1"/>
              </a:solidFill>
              <a:latin typeface="Arial"/>
              <a:ea typeface="Arial"/>
              <a:cs typeface="Arial"/>
              <a:sym typeface="Arial"/>
            </a:endParaRPr>
          </a:p>
        </p:txBody>
      </p:sp>
      <p:sp>
        <p:nvSpPr>
          <p:cNvPr id="187" name="Google Shape;187;p10"/>
          <p:cNvSpPr/>
          <p:nvPr/>
        </p:nvSpPr>
        <p:spPr>
          <a:xfrm>
            <a:off x="4805525" y="2177842"/>
            <a:ext cx="2435942" cy="1986116"/>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8" name="Google Shape;188;p10"/>
          <p:cNvSpPr/>
          <p:nvPr/>
        </p:nvSpPr>
        <p:spPr>
          <a:xfrm>
            <a:off x="8551627" y="2187681"/>
            <a:ext cx="2435942" cy="1986116"/>
          </a:xfrm>
          <a:prstGeom prst="roundRect">
            <a:avLst>
              <a:gd fmla="val 16667" name="adj"/>
            </a:avLst>
          </a:prstGeom>
          <a:noFill/>
          <a:ln cap="flat" cmpd="sng" w="571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9" name="Google Shape;189;p10"/>
          <p:cNvSpPr txBox="1"/>
          <p:nvPr/>
        </p:nvSpPr>
        <p:spPr>
          <a:xfrm>
            <a:off x="4990404" y="2776512"/>
            <a:ext cx="2066183"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Annotation</a:t>
            </a:r>
            <a:endParaRPr b="0" i="0" sz="2400" u="none" cap="none" strike="noStrike">
              <a:solidFill>
                <a:schemeClr val="dk1"/>
              </a:solidFill>
              <a:latin typeface="Arial"/>
              <a:ea typeface="Arial"/>
              <a:cs typeface="Arial"/>
              <a:sym typeface="Arial"/>
            </a:endParaRPr>
          </a:p>
        </p:txBody>
      </p:sp>
      <p:sp>
        <p:nvSpPr>
          <p:cNvPr id="190" name="Google Shape;190;p10"/>
          <p:cNvSpPr txBox="1"/>
          <p:nvPr/>
        </p:nvSpPr>
        <p:spPr>
          <a:xfrm>
            <a:off x="5315349" y="3374926"/>
            <a:ext cx="136627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Linguistic markup</a:t>
            </a:r>
            <a:endParaRPr b="0" i="0" sz="1000" u="none" cap="none" strike="noStrike">
              <a:solidFill>
                <a:schemeClr val="dk1"/>
              </a:solidFill>
              <a:latin typeface="Arial"/>
              <a:ea typeface="Arial"/>
              <a:cs typeface="Arial"/>
              <a:sym typeface="Arial"/>
            </a:endParaRPr>
          </a:p>
        </p:txBody>
      </p:sp>
      <p:sp>
        <p:nvSpPr>
          <p:cNvPr id="191" name="Google Shape;191;p10"/>
          <p:cNvSpPr txBox="1"/>
          <p:nvPr/>
        </p:nvSpPr>
        <p:spPr>
          <a:xfrm>
            <a:off x="8702088" y="2761763"/>
            <a:ext cx="2066183"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Alignment</a:t>
            </a:r>
            <a:endParaRPr b="0" i="0" sz="2400" u="none" cap="none" strike="noStrike">
              <a:solidFill>
                <a:schemeClr val="dk1"/>
              </a:solidFill>
              <a:latin typeface="Arial"/>
              <a:ea typeface="Arial"/>
              <a:cs typeface="Arial"/>
              <a:sym typeface="Arial"/>
            </a:endParaRPr>
          </a:p>
        </p:txBody>
      </p:sp>
      <p:sp>
        <p:nvSpPr>
          <p:cNvPr id="192" name="Google Shape;192;p10"/>
          <p:cNvSpPr txBox="1"/>
          <p:nvPr/>
        </p:nvSpPr>
        <p:spPr>
          <a:xfrm>
            <a:off x="9219140" y="3374925"/>
            <a:ext cx="103207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Parallel texts</a:t>
            </a:r>
            <a:endParaRPr b="0" i="0" sz="700" u="none" cap="none" strike="noStrike">
              <a:solidFill>
                <a:schemeClr val="dk1"/>
              </a:solidFill>
              <a:latin typeface="Arial"/>
              <a:ea typeface="Arial"/>
              <a:cs typeface="Arial"/>
              <a:sym typeface="Arial"/>
            </a:endParaRPr>
          </a:p>
        </p:txBody>
      </p:sp>
      <p:cxnSp>
        <p:nvCxnSpPr>
          <p:cNvPr id="193" name="Google Shape;193;p10"/>
          <p:cNvCxnSpPr/>
          <p:nvPr/>
        </p:nvCxnSpPr>
        <p:spPr>
          <a:xfrm>
            <a:off x="3588774" y="3146323"/>
            <a:ext cx="865239" cy="0"/>
          </a:xfrm>
          <a:prstGeom prst="straightConnector1">
            <a:avLst/>
          </a:prstGeom>
          <a:noFill/>
          <a:ln cap="flat" cmpd="sng" w="57150">
            <a:solidFill>
              <a:srgbClr val="1F5C99"/>
            </a:solidFill>
            <a:prstDash val="solid"/>
            <a:miter lim="800000"/>
            <a:headEnd len="sm" w="sm" type="none"/>
            <a:tailEnd len="med" w="med" type="triangle"/>
          </a:ln>
        </p:spPr>
      </p:cxnSp>
      <p:cxnSp>
        <p:nvCxnSpPr>
          <p:cNvPr id="194" name="Google Shape;194;p10"/>
          <p:cNvCxnSpPr/>
          <p:nvPr/>
        </p:nvCxnSpPr>
        <p:spPr>
          <a:xfrm>
            <a:off x="7487264" y="3141407"/>
            <a:ext cx="865239" cy="0"/>
          </a:xfrm>
          <a:prstGeom prst="straightConnector1">
            <a:avLst/>
          </a:prstGeom>
          <a:noFill/>
          <a:ln cap="flat" cmpd="sng" w="57150">
            <a:solidFill>
              <a:srgbClr val="1F5C99"/>
            </a:solidFill>
            <a:prstDash val="solid"/>
            <a:miter lim="800000"/>
            <a:headEnd len="sm" w="sm" type="none"/>
            <a:tailEnd len="med" w="med" type="triangle"/>
          </a:ln>
        </p:spPr>
      </p:cxnSp>
      <p:sp>
        <p:nvSpPr>
          <p:cNvPr id="195" name="Google Shape;195;p10"/>
          <p:cNvSpPr/>
          <p:nvPr/>
        </p:nvSpPr>
        <p:spPr>
          <a:xfrm>
            <a:off x="1848464" y="4768645"/>
            <a:ext cx="8111613" cy="1602654"/>
          </a:xfrm>
          <a:prstGeom prst="roundRect">
            <a:avLst>
              <a:gd fmla="val 16667" name="adj"/>
            </a:avLst>
          </a:prstGeom>
          <a:solidFill>
            <a:srgbClr val="002060"/>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The integration of digital humanities methods transforms how we study language change. This project employs sophisticated computational tools that allow us to move beyond anecdotal evidence to systematic, large-scale patterns of grammatical change.</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p:nvPr/>
        </p:nvSpPr>
        <p:spPr>
          <a:xfrm>
            <a:off x="213249" y="4036758"/>
            <a:ext cx="2859980"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Translation Effects </a:t>
            </a:r>
            <a:endParaRPr b="0" i="0" sz="20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How source languages influence target language structures</a:t>
            </a:r>
            <a:endParaRPr b="0" i="0" sz="2000" u="none" cap="none" strike="noStrike">
              <a:solidFill>
                <a:srgbClr val="07376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73763"/>
              </a:solidFill>
              <a:latin typeface="Arial"/>
              <a:ea typeface="Arial"/>
              <a:cs typeface="Arial"/>
              <a:sym typeface="Arial"/>
            </a:endParaRPr>
          </a:p>
        </p:txBody>
      </p:sp>
      <p:sp>
        <p:nvSpPr>
          <p:cNvPr id="201" name="Google Shape;201;p11"/>
          <p:cNvSpPr/>
          <p:nvPr/>
        </p:nvSpPr>
        <p:spPr>
          <a:xfrm>
            <a:off x="3616137" y="131802"/>
            <a:ext cx="2782530" cy="254963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Substrate Influence </a:t>
            </a:r>
            <a:endParaRPr b="1" i="0" sz="20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73763"/>
                </a:solidFill>
                <a:latin typeface="Arial"/>
                <a:ea typeface="Arial"/>
                <a:cs typeface="Arial"/>
                <a:sym typeface="Arial"/>
              </a:rPr>
              <a:t>Earlier language layers affecting valency systems</a:t>
            </a:r>
            <a:endParaRPr b="0" i="0" sz="1800" u="none" cap="none" strike="noStrike">
              <a:solidFill>
                <a:srgbClr val="07376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73763"/>
              </a:solidFill>
              <a:latin typeface="Arial"/>
              <a:ea typeface="Arial"/>
              <a:cs typeface="Arial"/>
              <a:sym typeface="Arial"/>
            </a:endParaRPr>
          </a:p>
        </p:txBody>
      </p:sp>
      <p:sp>
        <p:nvSpPr>
          <p:cNvPr id="202" name="Google Shape;202;p11"/>
          <p:cNvSpPr/>
          <p:nvPr/>
        </p:nvSpPr>
        <p:spPr>
          <a:xfrm>
            <a:off x="3039419" y="2767771"/>
            <a:ext cx="2859980" cy="2722304"/>
          </a:xfrm>
          <a:prstGeom prst="ellipse">
            <a:avLst/>
          </a:prstGeom>
          <a:solidFill>
            <a:srgbClr val="A3C5ED"/>
          </a:solidFill>
          <a:ln cap="flat" cmpd="sng" w="19050">
            <a:solidFill>
              <a:srgbClr val="A3C5E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73763"/>
                </a:solidFill>
                <a:latin typeface="Arial"/>
                <a:ea typeface="Arial"/>
                <a:cs typeface="Arial"/>
                <a:sym typeface="Arial"/>
              </a:rPr>
              <a:t>Areal Features </a:t>
            </a:r>
            <a:r>
              <a:rPr b="0" i="0" lang="en-US" sz="1800" u="none" cap="none" strike="noStrike">
                <a:solidFill>
                  <a:srgbClr val="073763"/>
                </a:solidFill>
                <a:latin typeface="Arial"/>
                <a:ea typeface="Arial"/>
                <a:cs typeface="Arial"/>
                <a:sym typeface="Arial"/>
              </a:rPr>
              <a:t>Valency patterns spreading across language boundaries</a:t>
            </a:r>
            <a:endParaRPr b="0" i="0" sz="2000" u="none" cap="none" strike="noStrike">
              <a:solidFill>
                <a:srgbClr val="073763"/>
              </a:solidFill>
              <a:latin typeface="Arial"/>
              <a:ea typeface="Arial"/>
              <a:cs typeface="Arial"/>
              <a:sym typeface="Arial"/>
            </a:endParaRPr>
          </a:p>
        </p:txBody>
      </p:sp>
      <p:sp>
        <p:nvSpPr>
          <p:cNvPr id="203" name="Google Shape;203;p11"/>
          <p:cNvSpPr/>
          <p:nvPr/>
        </p:nvSpPr>
        <p:spPr>
          <a:xfrm>
            <a:off x="247058" y="864012"/>
            <a:ext cx="3215148" cy="2722304"/>
          </a:xfrm>
          <a:prstGeom prst="ellipse">
            <a:avLst/>
          </a:prstGeom>
          <a:solidFill>
            <a:srgbClr val="002060"/>
          </a:solid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Contact-Induced Changes in Valency</a:t>
            </a:r>
            <a:endParaRPr b="1" i="0" sz="2800" u="none" cap="none" strike="noStrike">
              <a:solidFill>
                <a:schemeClr val="lt1"/>
              </a:solidFill>
              <a:latin typeface="Arial"/>
              <a:ea typeface="Arial"/>
              <a:cs typeface="Arial"/>
              <a:sym typeface="Arial"/>
            </a:endParaRPr>
          </a:p>
        </p:txBody>
      </p:sp>
      <p:sp>
        <p:nvSpPr>
          <p:cNvPr id="204" name="Google Shape;204;p11"/>
          <p:cNvSpPr/>
          <p:nvPr/>
        </p:nvSpPr>
        <p:spPr>
          <a:xfrm>
            <a:off x="6941574" y="550606"/>
            <a:ext cx="4277032" cy="5584723"/>
          </a:xfrm>
          <a:prstGeom prst="roundRect">
            <a:avLst>
              <a:gd fmla="val 16667" name="adj"/>
            </a:avLst>
          </a:prstGeom>
          <a:solidFill>
            <a:srgbClr val="00206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Language contact plays a crucial role in valency changes. Research by Heine &amp; Kuteva</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(2003, 2005) on contact-induced grammaticalization and Thomason (2001) on</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language contact shows how valency patterns can spread through multilingual</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communities. In retranslations, we can observe how translators navigate between</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source language structures and target language norms.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Valency Query System</a:t>
            </a:r>
            <a:endParaRPr/>
          </a:p>
        </p:txBody>
      </p:sp>
      <p:sp>
        <p:nvSpPr>
          <p:cNvPr id="210" name="Google Shape;210;p12"/>
          <p:cNvSpPr/>
          <p:nvPr/>
        </p:nvSpPr>
        <p:spPr>
          <a:xfrm>
            <a:off x="772428" y="2090055"/>
            <a:ext cx="5608275" cy="1012723"/>
          </a:xfrm>
          <a:prstGeom prst="roundRect">
            <a:avLst>
              <a:gd fmla="val 16667" name="adj"/>
            </a:avLst>
          </a:prstGeom>
          <a:solidFill>
            <a:srgbClr val="00206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Pattern Search</a:t>
            </a:r>
            <a:endParaRPr b="1"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Find specific argument structure configurations</a:t>
            </a:r>
            <a:endParaRPr b="0" i="0" sz="1800" u="none" cap="none" strike="noStrike">
              <a:solidFill>
                <a:schemeClr val="lt1"/>
              </a:solidFill>
              <a:latin typeface="Arial"/>
              <a:ea typeface="Arial"/>
              <a:cs typeface="Arial"/>
              <a:sym typeface="Arial"/>
            </a:endParaRPr>
          </a:p>
        </p:txBody>
      </p:sp>
      <p:sp>
        <p:nvSpPr>
          <p:cNvPr id="211" name="Google Shape;211;p12"/>
          <p:cNvSpPr/>
          <p:nvPr/>
        </p:nvSpPr>
        <p:spPr>
          <a:xfrm>
            <a:off x="767514" y="3225683"/>
            <a:ext cx="5608275" cy="1012723"/>
          </a:xfrm>
          <a:prstGeom prst="roundRect">
            <a:avLst>
              <a:gd fmla="val 16667" name="adj"/>
            </a:avLst>
          </a:prstGeom>
          <a:solidFill>
            <a:srgbClr val="00206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Diachronic Tracking</a:t>
            </a:r>
            <a:endParaRPr b="1"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Follow changes across time periods</a:t>
            </a:r>
            <a:endParaRPr b="0" i="0" sz="2000" u="none" cap="none" strike="noStrike">
              <a:solidFill>
                <a:schemeClr val="lt1"/>
              </a:solidFill>
              <a:latin typeface="Arial"/>
              <a:ea typeface="Arial"/>
              <a:cs typeface="Arial"/>
              <a:sym typeface="Arial"/>
            </a:endParaRPr>
          </a:p>
        </p:txBody>
      </p:sp>
      <p:sp>
        <p:nvSpPr>
          <p:cNvPr id="212" name="Google Shape;212;p12"/>
          <p:cNvSpPr/>
          <p:nvPr/>
        </p:nvSpPr>
        <p:spPr>
          <a:xfrm>
            <a:off x="767513" y="4361311"/>
            <a:ext cx="5608275" cy="1012723"/>
          </a:xfrm>
          <a:prstGeom prst="roundRect">
            <a:avLst>
              <a:gd fmla="val 16667" name="adj"/>
            </a:avLst>
          </a:prstGeom>
          <a:solidFill>
            <a:srgbClr val="002060"/>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Statistical Analysis</a:t>
            </a:r>
            <a:endParaRPr b="1"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Quantify frequency and distribution changes</a:t>
            </a:r>
            <a:endParaRPr b="0" i="0" sz="1800" u="none" cap="none" strike="noStrike">
              <a:solidFill>
                <a:schemeClr val="lt1"/>
              </a:solidFill>
              <a:latin typeface="Arial"/>
              <a:ea typeface="Arial"/>
              <a:cs typeface="Arial"/>
              <a:sym typeface="Arial"/>
            </a:endParaRPr>
          </a:p>
        </p:txBody>
      </p:sp>
      <p:sp>
        <p:nvSpPr>
          <p:cNvPr id="213" name="Google Shape;213;p12"/>
          <p:cNvSpPr/>
          <p:nvPr/>
        </p:nvSpPr>
        <p:spPr>
          <a:xfrm>
            <a:off x="7204668" y="1879043"/>
            <a:ext cx="4501662" cy="383847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Arial"/>
                <a:ea typeface="Arial"/>
                <a:cs typeface="Arial"/>
                <a:sym typeface="Arial"/>
              </a:rPr>
              <a:t>The query system allows researchers to search for complex valency patterns across the corpus. Building on annotation frameworks like PropBank (Palmer et al. 2005) and FrameNet (Fillmore et al. 1998), users can specify syntactic constructions, semantic roles, and morphological features, then track how these patterns change frequency and distribution over time. This enables both hypothesis testing and exploratory data analysis.</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7098f36590_0_5"/>
          <p:cNvSpPr/>
          <p:nvPr/>
        </p:nvSpPr>
        <p:spPr>
          <a:xfrm>
            <a:off x="138175" y="1588902"/>
            <a:ext cx="5085000" cy="4590000"/>
          </a:xfrm>
          <a:prstGeom prst="roundRect">
            <a:avLst>
              <a:gd fmla="val 16667" name="adj"/>
            </a:avLst>
          </a:prstGeom>
          <a:solidFill>
            <a:srgbClr val="FFE599"/>
          </a:solidFill>
          <a:ln cap="flat" cmpd="sng" w="76200">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9" name="Google Shape;219;g37098f36590_0_5"/>
          <p:cNvSpPr txBox="1"/>
          <p:nvPr/>
        </p:nvSpPr>
        <p:spPr>
          <a:xfrm>
            <a:off x="887701" y="1905751"/>
            <a:ext cx="3985200" cy="323100"/>
          </a:xfrm>
          <a:prstGeom prst="rect">
            <a:avLst/>
          </a:prstGeom>
          <a:noFill/>
          <a:ln>
            <a:noFill/>
          </a:ln>
        </p:spPr>
        <p:txBody>
          <a:bodyPr anchorCtr="0" anchor="t" bIns="0" lIns="0" spcFirstLastPara="1" rIns="0" wrap="square" tIns="0">
            <a:spAutoFit/>
          </a:bodyPr>
          <a:lstStyle/>
          <a:p>
            <a:pPr indent="0" lvl="0" marL="0" marR="0" rtl="0" algn="ctr">
              <a:lnSpc>
                <a:spcPct val="111714"/>
              </a:lnSpc>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DiaLingAthens / UoA</a:t>
            </a:r>
            <a:endParaRPr b="1" i="0" sz="1400" u="none" cap="none" strike="noStrike">
              <a:solidFill>
                <a:srgbClr val="000000"/>
              </a:solidFill>
              <a:latin typeface="Arial"/>
              <a:ea typeface="Arial"/>
              <a:cs typeface="Arial"/>
              <a:sym typeface="Arial"/>
            </a:endParaRPr>
          </a:p>
        </p:txBody>
      </p:sp>
      <p:sp>
        <p:nvSpPr>
          <p:cNvPr id="220" name="Google Shape;220;g37098f36590_0_5"/>
          <p:cNvSpPr txBox="1"/>
          <p:nvPr/>
        </p:nvSpPr>
        <p:spPr>
          <a:xfrm>
            <a:off x="93300" y="2571903"/>
            <a:ext cx="5166600" cy="3057900"/>
          </a:xfrm>
          <a:prstGeom prst="rect">
            <a:avLst/>
          </a:prstGeom>
          <a:noFill/>
          <a:ln>
            <a:noFill/>
          </a:ln>
        </p:spPr>
        <p:txBody>
          <a:bodyPr anchorCtr="0" anchor="t" bIns="0" lIns="0" spcFirstLastPara="1" rIns="0" wrap="square" tIns="0">
            <a:spAutoFit/>
          </a:bodyPr>
          <a:lstStyle/>
          <a:p>
            <a:pPr indent="0" lvl="0" marL="0" marR="0" rtl="0" algn="ctr">
              <a:lnSpc>
                <a:spcPct val="111666"/>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HFRI Project on Diachronic Corpora and Valency Linguistic expertise</a:t>
            </a:r>
            <a:endParaRPr b="0" i="0" sz="2000" u="none" cap="none" strike="noStrike">
              <a:solidFill>
                <a:srgbClr val="000000"/>
              </a:solidFill>
              <a:latin typeface="Arial"/>
              <a:ea typeface="Arial"/>
              <a:cs typeface="Arial"/>
              <a:sym typeface="Arial"/>
            </a:endParaRPr>
          </a:p>
          <a:p>
            <a:pPr indent="0" lvl="0" marL="0" marR="0" rtl="0" algn="ctr">
              <a:lnSpc>
                <a:spcPct val="111666"/>
              </a:lnSpc>
              <a:spcBef>
                <a:spcPts val="0"/>
              </a:spcBef>
              <a:spcAft>
                <a:spcPts val="0"/>
              </a:spcAft>
              <a:buClr>
                <a:srgbClr val="000000"/>
              </a:buClr>
              <a:buSzPts val="2000"/>
              <a:buFont typeface="Arial"/>
              <a:buNone/>
            </a:pPr>
            <a:r>
              <a:t/>
            </a:r>
            <a:endParaRPr sz="2000"/>
          </a:p>
          <a:p>
            <a:pPr indent="0" lvl="0" marL="0" marR="0" rtl="0" algn="ctr">
              <a:lnSpc>
                <a:spcPct val="111666"/>
              </a:lnSpc>
              <a:spcBef>
                <a:spcPts val="0"/>
              </a:spcBef>
              <a:spcAft>
                <a:spcPts val="0"/>
              </a:spcAft>
              <a:buClr>
                <a:srgbClr val="000000"/>
              </a:buClr>
              <a:buSzPts val="2000"/>
              <a:buFont typeface="Arial"/>
              <a:buNone/>
            </a:pPr>
            <a:r>
              <a:rPr lang="en-US" sz="2000"/>
              <a:t>Criteria for the collection of texts: e.g., open-access texts, diachronic parameter, representative texts, influential texts - the factor of re-translations; pre-processing, tokenization; Annotation of diachronic texts; </a:t>
            </a:r>
            <a:r>
              <a:rPr lang="en-US" sz="2000"/>
              <a:t>Historical</a:t>
            </a:r>
            <a:r>
              <a:rPr lang="en-US" sz="2000"/>
              <a:t> Syntax and analysis of valency</a:t>
            </a:r>
            <a:endParaRPr sz="2000"/>
          </a:p>
        </p:txBody>
      </p:sp>
      <p:sp>
        <p:nvSpPr>
          <p:cNvPr id="221" name="Google Shape;221;g37098f36590_0_5"/>
          <p:cNvSpPr/>
          <p:nvPr/>
        </p:nvSpPr>
        <p:spPr>
          <a:xfrm>
            <a:off x="7107000" y="1588850"/>
            <a:ext cx="5085000" cy="4469400"/>
          </a:xfrm>
          <a:prstGeom prst="roundRect">
            <a:avLst>
              <a:gd fmla="val 16667" name="adj"/>
            </a:avLst>
          </a:prstGeom>
          <a:solidFill>
            <a:srgbClr val="FFE599"/>
          </a:solidFill>
          <a:ln cap="flat" cmpd="sng" w="76200">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2" name="Google Shape;222;g37098f36590_0_5"/>
          <p:cNvSpPr txBox="1"/>
          <p:nvPr/>
        </p:nvSpPr>
        <p:spPr>
          <a:xfrm>
            <a:off x="7298095" y="1742360"/>
            <a:ext cx="4535700" cy="1007700"/>
          </a:xfrm>
          <a:prstGeom prst="rect">
            <a:avLst/>
          </a:prstGeom>
          <a:noFill/>
          <a:ln>
            <a:noFill/>
          </a:ln>
        </p:spPr>
        <p:txBody>
          <a:bodyPr anchorCtr="0" anchor="t" bIns="0" lIns="0" spcFirstLastPara="1" rIns="0" wrap="square" tIns="0">
            <a:spAutoFit/>
          </a:bodyPr>
          <a:lstStyle/>
          <a:p>
            <a:pPr indent="0" lvl="0" marL="0" marR="0" rtl="0" algn="ctr">
              <a:lnSpc>
                <a:spcPct val="111714"/>
              </a:lnSpc>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CHS</a:t>
            </a:r>
            <a:endParaRPr b="1" i="0" sz="2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US" sz="2100" u="none" cap="none" strike="noStrike">
                <a:solidFill>
                  <a:schemeClr val="dk1"/>
                </a:solidFill>
                <a:latin typeface="Calibri"/>
                <a:ea typeface="Calibri"/>
                <a:cs typeface="Calibri"/>
                <a:sym typeface="Calibri"/>
              </a:rPr>
              <a:t>Harvard University</a:t>
            </a:r>
            <a:endParaRPr b="1" i="0" sz="2100" u="none" cap="none" strike="noStrike">
              <a:solidFill>
                <a:schemeClr val="dk1"/>
              </a:solidFill>
              <a:latin typeface="Calibri"/>
              <a:ea typeface="Calibri"/>
              <a:cs typeface="Calibri"/>
              <a:sym typeface="Calibri"/>
            </a:endParaRPr>
          </a:p>
          <a:p>
            <a:pPr indent="0" lvl="0" marL="0" marR="0" rtl="0" algn="ctr">
              <a:lnSpc>
                <a:spcPct val="111714"/>
              </a:lnSpc>
              <a:spcBef>
                <a:spcPts val="0"/>
              </a:spcBef>
              <a:spcAft>
                <a:spcPts val="0"/>
              </a:spcAft>
              <a:buClr>
                <a:srgbClr val="000000"/>
              </a:buClr>
              <a:buSzPts val="2100"/>
              <a:buFont typeface="Arial"/>
              <a:buNone/>
            </a:pPr>
            <a:r>
              <a:t/>
            </a:r>
            <a:endParaRPr b="1" i="0" sz="2100" u="none" cap="none" strike="noStrike">
              <a:solidFill>
                <a:srgbClr val="000000"/>
              </a:solidFill>
              <a:latin typeface="Arial"/>
              <a:ea typeface="Arial"/>
              <a:cs typeface="Arial"/>
              <a:sym typeface="Arial"/>
            </a:endParaRPr>
          </a:p>
        </p:txBody>
      </p:sp>
      <p:sp>
        <p:nvSpPr>
          <p:cNvPr id="223" name="Google Shape;223;g37098f36590_0_5"/>
          <p:cNvSpPr txBox="1"/>
          <p:nvPr/>
        </p:nvSpPr>
        <p:spPr>
          <a:xfrm>
            <a:off x="7534845" y="3000753"/>
            <a:ext cx="4535700" cy="3178200"/>
          </a:xfrm>
          <a:prstGeom prst="rect">
            <a:avLst/>
          </a:prstGeom>
          <a:noFill/>
          <a:ln>
            <a:noFill/>
          </a:ln>
        </p:spPr>
        <p:txBody>
          <a:bodyPr anchorCtr="0" anchor="t" bIns="0" lIns="0" spcFirstLastPara="1" rIns="0" wrap="square" tIns="0">
            <a:spAutoFit/>
          </a:bodyPr>
          <a:lstStyle/>
          <a:p>
            <a:pPr indent="0" lvl="0" marL="0" marR="0" rtl="0" algn="ctr">
              <a:lnSpc>
                <a:spcPct val="111666"/>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Digital humanities infrastructure</a:t>
            </a:r>
            <a:endParaRPr b="0" i="0" sz="2000" u="none" cap="none" strike="noStrike">
              <a:solidFill>
                <a:srgbClr val="000000"/>
              </a:solidFill>
              <a:latin typeface="Arial"/>
              <a:ea typeface="Arial"/>
              <a:cs typeface="Arial"/>
              <a:sym typeface="Arial"/>
            </a:endParaRPr>
          </a:p>
          <a:p>
            <a:pPr indent="0" lvl="0" marL="0" marR="0" rtl="0" algn="ctr">
              <a:lnSpc>
                <a:spcPct val="111666"/>
              </a:lnSpc>
              <a:spcBef>
                <a:spcPts val="629"/>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Text digitization </a:t>
            </a:r>
            <a:endParaRPr b="0" i="0" sz="2000" u="none" cap="none" strike="noStrike">
              <a:solidFill>
                <a:srgbClr val="000000"/>
              </a:solidFill>
              <a:latin typeface="Arial"/>
              <a:ea typeface="Arial"/>
              <a:cs typeface="Arial"/>
              <a:sym typeface="Arial"/>
            </a:endParaRPr>
          </a:p>
          <a:p>
            <a:pPr indent="0" lvl="0" marL="0" marR="0" rtl="0" algn="ctr">
              <a:lnSpc>
                <a:spcPct val="111666"/>
              </a:lnSpc>
              <a:spcBef>
                <a:spcPts val="629"/>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International collaboration</a:t>
            </a:r>
            <a:endParaRPr b="0" i="0" sz="2000" u="none" cap="none" strike="noStrike">
              <a:solidFill>
                <a:schemeClr val="dk1"/>
              </a:solidFill>
              <a:latin typeface="Arial"/>
              <a:ea typeface="Arial"/>
              <a:cs typeface="Arial"/>
              <a:sym typeface="Arial"/>
            </a:endParaRPr>
          </a:p>
          <a:p>
            <a:pPr indent="0" lvl="0" marL="0" rtl="0" algn="ctr">
              <a:lnSpc>
                <a:spcPct val="115000"/>
              </a:lnSpc>
              <a:spcBef>
                <a:spcPts val="1200"/>
              </a:spcBef>
              <a:spcAft>
                <a:spcPts val="0"/>
              </a:spcAft>
              <a:buClr>
                <a:schemeClr val="dk1"/>
              </a:buClr>
              <a:buSzPts val="1100"/>
              <a:buFont typeface="Arial"/>
              <a:buNone/>
            </a:pPr>
            <a:r>
              <a:rPr lang="en-US" sz="2000">
                <a:solidFill>
                  <a:schemeClr val="dk1"/>
                </a:solidFill>
              </a:rPr>
              <a:t>Interdisciplinary IT &amp; Humanities Team</a:t>
            </a:r>
            <a:endParaRPr sz="20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n-US" sz="2000">
                <a:solidFill>
                  <a:schemeClr val="dk1"/>
                </a:solidFill>
              </a:rPr>
              <a:t>ARCAS Ecosystem Platform</a:t>
            </a:r>
            <a:endParaRPr sz="20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n-US" sz="2000">
                <a:solidFill>
                  <a:schemeClr val="dk1"/>
                </a:solidFill>
              </a:rPr>
              <a:t>Text mining, visualization, and more</a:t>
            </a:r>
            <a:endParaRPr sz="2000">
              <a:solidFill>
                <a:schemeClr val="dk1"/>
              </a:solidFill>
            </a:endParaRPr>
          </a:p>
          <a:p>
            <a:pPr indent="0" lvl="0" marL="0" marR="0" rtl="0" algn="ctr">
              <a:lnSpc>
                <a:spcPct val="111666"/>
              </a:lnSpc>
              <a:spcBef>
                <a:spcPts val="1200"/>
              </a:spcBef>
              <a:spcAft>
                <a:spcPts val="0"/>
              </a:spcAft>
              <a:buClr>
                <a:srgbClr val="000000"/>
              </a:buClr>
              <a:buSzPts val="2000"/>
              <a:buFont typeface="Arial"/>
              <a:buNone/>
            </a:pPr>
            <a:r>
              <a:t/>
            </a:r>
            <a:endParaRPr sz="2000">
              <a:solidFill>
                <a:schemeClr val="dk1"/>
              </a:solidFill>
            </a:endParaRPr>
          </a:p>
        </p:txBody>
      </p:sp>
      <p:sp>
        <p:nvSpPr>
          <p:cNvPr id="224" name="Google Shape;224;g37098f36590_0_5"/>
          <p:cNvSpPr/>
          <p:nvPr/>
        </p:nvSpPr>
        <p:spPr>
          <a:xfrm>
            <a:off x="5334301" y="3267450"/>
            <a:ext cx="1698300" cy="323100"/>
          </a:xfrm>
          <a:prstGeom prst="leftRightArrow">
            <a:avLst>
              <a:gd fmla="val 50000" name="adj1"/>
              <a:gd fmla="val 50000" name="adj2"/>
            </a:avLst>
          </a:prstGeom>
          <a:solidFill>
            <a:srgbClr val="B6D7A8"/>
          </a:solidFill>
          <a:ln cap="flat" cmpd="sng" w="28575">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5" name="Google Shape;225;g37098f36590_0_5"/>
          <p:cNvSpPr txBox="1"/>
          <p:nvPr/>
        </p:nvSpPr>
        <p:spPr>
          <a:xfrm>
            <a:off x="174876" y="181081"/>
            <a:ext cx="10412400" cy="769500"/>
          </a:xfrm>
          <a:prstGeom prst="rect">
            <a:avLst/>
          </a:prstGeom>
          <a:noFill/>
          <a:ln>
            <a:noFill/>
          </a:ln>
        </p:spPr>
        <p:txBody>
          <a:bodyPr anchorCtr="0" anchor="t" bIns="0" lIns="0" spcFirstLastPara="1" rIns="0" wrap="square" tIns="0">
            <a:spAutoFit/>
          </a:bodyPr>
          <a:lstStyle/>
          <a:p>
            <a:pPr indent="0" lvl="0" marL="0" marR="0" rtl="0" algn="l">
              <a:lnSpc>
                <a:spcPct val="111703"/>
              </a:lnSpc>
              <a:spcBef>
                <a:spcPts val="0"/>
              </a:spcBef>
              <a:spcAft>
                <a:spcPts val="0"/>
              </a:spcAft>
              <a:buClr>
                <a:srgbClr val="000000"/>
              </a:buClr>
              <a:buSzPts val="5000"/>
              <a:buFont typeface="Arial"/>
              <a:buNone/>
            </a:pPr>
            <a:r>
              <a:rPr b="1" i="0" lang="en-US" sz="5000" u="none" cap="none" strike="noStrike">
                <a:solidFill>
                  <a:srgbClr val="134F5C"/>
                </a:solidFill>
                <a:latin typeface="Times New Roman"/>
                <a:ea typeface="Times New Roman"/>
                <a:cs typeface="Times New Roman"/>
                <a:sym typeface="Times New Roman"/>
              </a:rPr>
              <a:t>Collaborative Framework</a:t>
            </a:r>
            <a:endParaRPr b="1" i="0" sz="5000" u="none" cap="none" strike="noStrike">
              <a:solidFill>
                <a:srgbClr val="134F5C"/>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7098f36590_0_65"/>
          <p:cNvSpPr/>
          <p:nvPr/>
        </p:nvSpPr>
        <p:spPr>
          <a:xfrm>
            <a:off x="0" y="82588"/>
            <a:ext cx="6189000" cy="2676000"/>
          </a:xfrm>
          <a:prstGeom prst="ellipse">
            <a:avLst/>
          </a:prstGeom>
          <a:solidFill>
            <a:srgbClr val="FFE599"/>
          </a:solidFill>
          <a:ln cap="flat" cmpd="sng" w="762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CHS</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Harvard University</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lang="en-US" sz="2800">
                <a:latin typeface="Times New Roman"/>
                <a:ea typeface="Times New Roman"/>
                <a:cs typeface="Times New Roman"/>
                <a:sym typeface="Times New Roman"/>
              </a:rPr>
              <a:t>-</a:t>
            </a:r>
            <a:r>
              <a:rPr b="0" i="0" lang="en-US" sz="2800" u="none" cap="none" strike="noStrike">
                <a:solidFill>
                  <a:srgbClr val="000000"/>
                </a:solidFill>
                <a:latin typeface="Times New Roman"/>
                <a:ea typeface="Times New Roman"/>
                <a:cs typeface="Times New Roman"/>
                <a:sym typeface="Times New Roman"/>
              </a:rPr>
              <a:t>Digital humanities infrastructure</a:t>
            </a:r>
            <a:endParaRPr b="0"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lang="en-US" sz="2800">
                <a:latin typeface="Times New Roman"/>
                <a:ea typeface="Times New Roman"/>
                <a:cs typeface="Times New Roman"/>
                <a:sym typeface="Times New Roman"/>
              </a:rPr>
              <a:t>-ARCAS ecosystem softwares</a:t>
            </a:r>
            <a:endParaRPr sz="2800">
              <a:latin typeface="Times New Roman"/>
              <a:ea typeface="Times New Roman"/>
              <a:cs typeface="Times New Roman"/>
              <a:sym typeface="Times New Roman"/>
            </a:endParaRPr>
          </a:p>
        </p:txBody>
      </p:sp>
      <p:sp>
        <p:nvSpPr>
          <p:cNvPr id="231" name="Google Shape;231;g37098f36590_0_65"/>
          <p:cNvSpPr/>
          <p:nvPr/>
        </p:nvSpPr>
        <p:spPr>
          <a:xfrm>
            <a:off x="16636" y="3862103"/>
            <a:ext cx="5852400" cy="2756100"/>
          </a:xfrm>
          <a:prstGeom prst="ellipse">
            <a:avLst/>
          </a:prstGeom>
          <a:solidFill>
            <a:srgbClr val="FFD966"/>
          </a:solidFill>
          <a:ln cap="flat" cmpd="sng" w="76200">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large-scale </a:t>
            </a:r>
            <a:r>
              <a:rPr b="1" i="0" lang="en-US" sz="2800" u="none" cap="none" strike="noStrike">
                <a:solidFill>
                  <a:srgbClr val="000000"/>
                </a:solidFill>
                <a:latin typeface="Times New Roman"/>
                <a:ea typeface="Times New Roman"/>
                <a:cs typeface="Times New Roman"/>
                <a:sym typeface="Times New Roman"/>
              </a:rPr>
              <a:t>corpus</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development</a:t>
            </a:r>
            <a:r>
              <a:rPr b="0" i="0" lang="en-US" sz="2800" u="none" cap="none" strike="noStrike">
                <a:solidFill>
                  <a:srgbClr val="000000"/>
                </a:solidFill>
                <a:latin typeface="Times New Roman"/>
                <a:ea typeface="Times New Roman"/>
                <a:cs typeface="Times New Roman"/>
                <a:sym typeface="Times New Roman"/>
              </a:rPr>
              <a:t> </a:t>
            </a:r>
            <a:endParaRPr b="0" i="0" sz="2800" u="none" cap="none" strike="noStrike">
              <a:solidFill>
                <a:srgbClr val="000000"/>
              </a:solidFill>
              <a:latin typeface="Times New Roman"/>
              <a:ea typeface="Times New Roman"/>
              <a:cs typeface="Times New Roman"/>
              <a:sym typeface="Times New Roman"/>
            </a:endParaRPr>
          </a:p>
        </p:txBody>
      </p:sp>
      <p:sp>
        <p:nvSpPr>
          <p:cNvPr id="232" name="Google Shape;232;g37098f36590_0_65"/>
          <p:cNvSpPr/>
          <p:nvPr/>
        </p:nvSpPr>
        <p:spPr>
          <a:xfrm>
            <a:off x="5869000" y="82588"/>
            <a:ext cx="5852400" cy="2676000"/>
          </a:xfrm>
          <a:prstGeom prst="ellipse">
            <a:avLst/>
          </a:prstGeom>
          <a:solidFill>
            <a:srgbClr val="FFE599"/>
          </a:solidFill>
          <a:ln cap="flat" cmpd="sng" w="762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       </a:t>
            </a:r>
            <a:r>
              <a:rPr b="1" i="0" lang="en-US" sz="24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000000"/>
                </a:solidFill>
                <a:latin typeface="Times New Roman"/>
                <a:ea typeface="Times New Roman"/>
                <a:cs typeface="Times New Roman"/>
                <a:sym typeface="Times New Roman"/>
              </a:rPr>
              <a:t>DiaLingAthens</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lang="en-US" sz="2800">
                <a:latin typeface="Times New Roman"/>
                <a:ea typeface="Times New Roman"/>
                <a:cs typeface="Times New Roman"/>
                <a:sym typeface="Times New Roman"/>
              </a:rPr>
              <a:t>-</a:t>
            </a:r>
            <a:r>
              <a:rPr b="0" i="0" lang="en-US" sz="2800" u="none" cap="none" strike="noStrike">
                <a:solidFill>
                  <a:srgbClr val="000000"/>
                </a:solidFill>
                <a:latin typeface="Times New Roman"/>
                <a:ea typeface="Times New Roman"/>
                <a:cs typeface="Times New Roman"/>
                <a:sym typeface="Times New Roman"/>
              </a:rPr>
              <a:t>Historical linguistics expertise</a:t>
            </a:r>
            <a:endParaRPr sz="28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lang="en-US" sz="2800">
                <a:latin typeface="Times New Roman"/>
                <a:ea typeface="Times New Roman"/>
                <a:cs typeface="Times New Roman"/>
                <a:sym typeface="Times New Roman"/>
              </a:rPr>
              <a:t>-Diachronic corpus-annotation of historical texts</a:t>
            </a:r>
            <a:endParaRPr sz="2800">
              <a:latin typeface="Times New Roman"/>
              <a:ea typeface="Times New Roman"/>
              <a:cs typeface="Times New Roman"/>
              <a:sym typeface="Times New Roman"/>
            </a:endParaRPr>
          </a:p>
        </p:txBody>
      </p:sp>
      <p:sp>
        <p:nvSpPr>
          <p:cNvPr id="233" name="Google Shape;233;g37098f36590_0_65"/>
          <p:cNvSpPr txBox="1"/>
          <p:nvPr/>
        </p:nvSpPr>
        <p:spPr>
          <a:xfrm>
            <a:off x="8808485" y="4797706"/>
            <a:ext cx="3636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1185"/>
              </a:lnSpc>
              <a:spcBef>
                <a:spcPts val="658"/>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4" name="Google Shape;234;g37098f36590_0_65"/>
          <p:cNvSpPr/>
          <p:nvPr/>
        </p:nvSpPr>
        <p:spPr>
          <a:xfrm>
            <a:off x="6160091" y="3825309"/>
            <a:ext cx="5714400" cy="2676000"/>
          </a:xfrm>
          <a:prstGeom prst="ellipse">
            <a:avLst/>
          </a:prstGeom>
          <a:solidFill>
            <a:srgbClr val="FFD966"/>
          </a:solidFill>
          <a:ln cap="flat" cmpd="sng" w="76200">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access to </a:t>
            </a:r>
            <a:r>
              <a:rPr b="1" i="0" lang="en-US" sz="2800" u="none" cap="none" strike="noStrike">
                <a:solidFill>
                  <a:srgbClr val="000000"/>
                </a:solidFill>
                <a:latin typeface="Times New Roman"/>
                <a:ea typeface="Times New Roman"/>
                <a:cs typeface="Times New Roman"/>
                <a:sym typeface="Times New Roman"/>
              </a:rPr>
              <a:t>international scholarly networks </a:t>
            </a:r>
            <a:r>
              <a:rPr b="0" i="0" lang="en-US" sz="2800" u="none" cap="none" strike="noStrike">
                <a:solidFill>
                  <a:srgbClr val="000000"/>
                </a:solidFill>
                <a:latin typeface="Times New Roman"/>
                <a:ea typeface="Times New Roman"/>
                <a:cs typeface="Times New Roman"/>
                <a:sym typeface="Times New Roman"/>
              </a:rPr>
              <a:t>for </a:t>
            </a:r>
            <a:r>
              <a:rPr b="1" i="0" lang="en-US" sz="2800" u="none" cap="none" strike="noStrike">
                <a:solidFill>
                  <a:srgbClr val="000000"/>
                </a:solidFill>
                <a:latin typeface="Times New Roman"/>
                <a:ea typeface="Times New Roman"/>
                <a:cs typeface="Times New Roman"/>
                <a:sym typeface="Times New Roman"/>
              </a:rPr>
              <a:t>validation </a:t>
            </a:r>
            <a:r>
              <a:rPr b="0" i="0" lang="en-US" sz="2800" u="none" cap="none" strike="noStrike">
                <a:solidFill>
                  <a:srgbClr val="000000"/>
                </a:solidFill>
                <a:latin typeface="Times New Roman"/>
                <a:ea typeface="Times New Roman"/>
                <a:cs typeface="Times New Roman"/>
                <a:sym typeface="Times New Roman"/>
              </a:rPr>
              <a:t>and</a:t>
            </a:r>
            <a:endParaRPr b="0"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dissemination of findings.</a:t>
            </a:r>
            <a:endParaRPr b="1" i="0" sz="2800" u="none" cap="none" strike="noStrike">
              <a:solidFill>
                <a:srgbClr val="000000"/>
              </a:solidFill>
              <a:latin typeface="Times New Roman"/>
              <a:ea typeface="Times New Roman"/>
              <a:cs typeface="Times New Roman"/>
              <a:sym typeface="Times New Roman"/>
            </a:endParaRPr>
          </a:p>
        </p:txBody>
      </p:sp>
      <p:cxnSp>
        <p:nvCxnSpPr>
          <p:cNvPr id="235" name="Google Shape;235;g37098f36590_0_65"/>
          <p:cNvCxnSpPr/>
          <p:nvPr/>
        </p:nvCxnSpPr>
        <p:spPr>
          <a:xfrm flipH="1">
            <a:off x="3346127" y="2113456"/>
            <a:ext cx="2649600" cy="1711800"/>
          </a:xfrm>
          <a:prstGeom prst="straightConnector1">
            <a:avLst/>
          </a:prstGeom>
          <a:noFill/>
          <a:ln cap="flat" cmpd="sng" w="76200">
            <a:solidFill>
              <a:schemeClr val="dk2"/>
            </a:solidFill>
            <a:prstDash val="solid"/>
            <a:round/>
            <a:headEnd len="sm" w="sm" type="none"/>
            <a:tailEnd len="med" w="med" type="triangle"/>
          </a:ln>
        </p:spPr>
      </p:cxnSp>
      <p:cxnSp>
        <p:nvCxnSpPr>
          <p:cNvPr id="236" name="Google Shape;236;g37098f36590_0_65"/>
          <p:cNvCxnSpPr/>
          <p:nvPr/>
        </p:nvCxnSpPr>
        <p:spPr>
          <a:xfrm>
            <a:off x="5995727" y="2113456"/>
            <a:ext cx="3148500" cy="1563600"/>
          </a:xfrm>
          <a:prstGeom prst="straightConnector1">
            <a:avLst/>
          </a:prstGeom>
          <a:noFill/>
          <a:ln cap="flat" cmpd="sng" w="76200">
            <a:solidFill>
              <a:schemeClr val="dk2"/>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7098f36590_0_75"/>
          <p:cNvSpPr txBox="1"/>
          <p:nvPr>
            <p:ph type="title"/>
          </p:nvPr>
        </p:nvSpPr>
        <p:spPr>
          <a:xfrm>
            <a:off x="0" y="0"/>
            <a:ext cx="12501300" cy="875100"/>
          </a:xfrm>
          <a:prstGeom prst="rect">
            <a:avLst/>
          </a:prstGeom>
          <a:noFill/>
          <a:ln>
            <a:noFill/>
          </a:ln>
        </p:spPr>
        <p:txBody>
          <a:bodyPr anchorCtr="0" anchor="ctr" bIns="45700" lIns="91425" spcFirstLastPara="1" rIns="91425" wrap="square" tIns="45700">
            <a:noAutofit/>
          </a:bodyPr>
          <a:lstStyle/>
          <a:p>
            <a:pPr indent="0" lvl="0" marL="0" rtl="0" algn="l">
              <a:lnSpc>
                <a:spcPct val="111703"/>
              </a:lnSpc>
              <a:spcBef>
                <a:spcPts val="0"/>
              </a:spcBef>
              <a:spcAft>
                <a:spcPts val="0"/>
              </a:spcAft>
              <a:buClr>
                <a:schemeClr val="dk1"/>
              </a:buClr>
              <a:buSzPts val="1800"/>
              <a:buFont typeface="Arial"/>
              <a:buNone/>
            </a:pPr>
            <a:r>
              <a:t/>
            </a:r>
            <a:endParaRPr b="1" sz="3800">
              <a:solidFill>
                <a:srgbClr val="741B47"/>
              </a:solidFill>
              <a:latin typeface="Times New Roman"/>
              <a:ea typeface="Times New Roman"/>
              <a:cs typeface="Times New Roman"/>
              <a:sym typeface="Times New Roman"/>
            </a:endParaRPr>
          </a:p>
          <a:p>
            <a:pPr indent="0" lvl="0" marL="0" rtl="0" algn="l">
              <a:lnSpc>
                <a:spcPct val="111703"/>
              </a:lnSpc>
              <a:spcBef>
                <a:spcPts val="0"/>
              </a:spcBef>
              <a:spcAft>
                <a:spcPts val="0"/>
              </a:spcAft>
              <a:buClr>
                <a:schemeClr val="dk1"/>
              </a:buClr>
              <a:buSzPts val="1800"/>
              <a:buFont typeface="Arial"/>
              <a:buNone/>
            </a:pPr>
            <a:r>
              <a:rPr b="1" lang="en-US" sz="3800">
                <a:solidFill>
                  <a:srgbClr val="741B47"/>
                </a:solidFill>
                <a:latin typeface="Times New Roman"/>
                <a:ea typeface="Times New Roman"/>
                <a:cs typeface="Times New Roman"/>
                <a:sym typeface="Times New Roman"/>
              </a:rPr>
              <a:t>Expected Contributions to Historical Linguistics</a:t>
            </a:r>
            <a:endParaRPr b="1" sz="3800">
              <a:solidFill>
                <a:srgbClr val="741B47"/>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1800"/>
              <a:buNone/>
            </a:pPr>
            <a:r>
              <a:t/>
            </a:r>
            <a:endParaRPr/>
          </a:p>
        </p:txBody>
      </p:sp>
      <p:sp>
        <p:nvSpPr>
          <p:cNvPr id="242" name="Google Shape;242;g37098f36590_0_75"/>
          <p:cNvSpPr/>
          <p:nvPr/>
        </p:nvSpPr>
        <p:spPr>
          <a:xfrm>
            <a:off x="0" y="1374684"/>
            <a:ext cx="12192000" cy="1460700"/>
          </a:xfrm>
          <a:prstGeom prst="roundRect">
            <a:avLst>
              <a:gd fmla="val 16667" name="adj"/>
            </a:avLst>
          </a:prstGeom>
          <a:solidFill>
            <a:srgbClr val="F4CCCC"/>
          </a:solidFill>
          <a:ln cap="flat" cmpd="sng" w="381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1666"/>
              </a:lnSpc>
              <a:spcBef>
                <a:spcPts val="0"/>
              </a:spcBef>
              <a:spcAft>
                <a:spcPts val="0"/>
              </a:spcAft>
              <a:buClr>
                <a:srgbClr val="000000"/>
              </a:buClr>
              <a:buSzPts val="3500"/>
              <a:buFont typeface="Arial"/>
              <a:buNone/>
            </a:pPr>
            <a:r>
              <a:rPr b="1" i="0" lang="en-US" sz="3500" u="none" cap="none" strike="noStrike">
                <a:solidFill>
                  <a:srgbClr val="741B47"/>
                </a:solidFill>
                <a:latin typeface="Times New Roman"/>
                <a:ea typeface="Times New Roman"/>
                <a:cs typeface="Times New Roman"/>
                <a:sym typeface="Times New Roman"/>
              </a:rPr>
              <a:t>Empirical</a:t>
            </a:r>
            <a:r>
              <a:rPr b="0" i="0" lang="en-US" sz="3500" u="none" cap="none" strike="noStrike">
                <a:solidFill>
                  <a:srgbClr val="1A5490"/>
                </a:solidFill>
                <a:latin typeface="Times New Roman"/>
                <a:ea typeface="Times New Roman"/>
                <a:cs typeface="Times New Roman"/>
                <a:sym typeface="Times New Roman"/>
              </a:rPr>
              <a:t>: </a:t>
            </a:r>
            <a:r>
              <a:rPr b="0" i="0" lang="en-US" sz="3500" u="none" cap="none" strike="noStrike">
                <a:solidFill>
                  <a:schemeClr val="dk1"/>
                </a:solidFill>
                <a:latin typeface="Times New Roman"/>
                <a:ea typeface="Times New Roman"/>
                <a:cs typeface="Times New Roman"/>
                <a:sym typeface="Times New Roman"/>
              </a:rPr>
              <a:t>Large-scale data on valency change patterns.</a:t>
            </a:r>
            <a:endParaRPr b="0" i="0" sz="3500" u="none" cap="none" strike="noStrike">
              <a:solidFill>
                <a:schemeClr val="dk1"/>
              </a:solidFill>
              <a:latin typeface="Times New Roman"/>
              <a:ea typeface="Times New Roman"/>
              <a:cs typeface="Times New Roman"/>
              <a:sym typeface="Times New Roman"/>
            </a:endParaRPr>
          </a:p>
        </p:txBody>
      </p:sp>
      <p:sp>
        <p:nvSpPr>
          <p:cNvPr id="243" name="Google Shape;243;g37098f36590_0_75"/>
          <p:cNvSpPr/>
          <p:nvPr/>
        </p:nvSpPr>
        <p:spPr>
          <a:xfrm>
            <a:off x="0" y="3227471"/>
            <a:ext cx="12192000" cy="1361100"/>
          </a:xfrm>
          <a:prstGeom prst="roundRect">
            <a:avLst>
              <a:gd fmla="val 16667" name="adj"/>
            </a:avLst>
          </a:prstGeom>
          <a:solidFill>
            <a:srgbClr val="F4CCCC"/>
          </a:solidFill>
          <a:ln cap="flat" cmpd="sng" w="381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1666"/>
              </a:lnSpc>
              <a:spcBef>
                <a:spcPts val="2102"/>
              </a:spcBef>
              <a:spcAft>
                <a:spcPts val="0"/>
              </a:spcAft>
              <a:buClr>
                <a:srgbClr val="000000"/>
              </a:buClr>
              <a:buSzPts val="3500"/>
              <a:buFont typeface="Arial"/>
              <a:buNone/>
            </a:pPr>
            <a:r>
              <a:rPr b="1" i="0" lang="en-US" sz="3500" u="none" cap="none" strike="noStrike">
                <a:solidFill>
                  <a:srgbClr val="741B47"/>
                </a:solidFill>
                <a:latin typeface="Times New Roman"/>
                <a:ea typeface="Times New Roman"/>
                <a:cs typeface="Times New Roman"/>
                <a:sym typeface="Times New Roman"/>
              </a:rPr>
              <a:t>Theoretical</a:t>
            </a:r>
            <a:r>
              <a:rPr b="0" i="0" lang="en-US" sz="3500" u="none" cap="none" strike="noStrike">
                <a:solidFill>
                  <a:srgbClr val="1A5490"/>
                </a:solidFill>
                <a:latin typeface="Times New Roman"/>
                <a:ea typeface="Times New Roman"/>
                <a:cs typeface="Times New Roman"/>
                <a:sym typeface="Times New Roman"/>
              </a:rPr>
              <a:t>: </a:t>
            </a:r>
            <a:r>
              <a:rPr b="0" i="0" lang="en-US" sz="3500" u="none" cap="none" strike="noStrike">
                <a:solidFill>
                  <a:schemeClr val="dk1"/>
                </a:solidFill>
                <a:latin typeface="Times New Roman"/>
                <a:ea typeface="Times New Roman"/>
                <a:cs typeface="Times New Roman"/>
                <a:sym typeface="Times New Roman"/>
              </a:rPr>
              <a:t>New models of grammatical change.</a:t>
            </a:r>
            <a:endParaRPr b="0" i="0" sz="3500" u="none" cap="none" strike="noStrike">
              <a:solidFill>
                <a:schemeClr val="dk1"/>
              </a:solidFill>
              <a:latin typeface="Times New Roman"/>
              <a:ea typeface="Times New Roman"/>
              <a:cs typeface="Times New Roman"/>
              <a:sym typeface="Times New Roman"/>
            </a:endParaRPr>
          </a:p>
          <a:p>
            <a:pPr indent="0" lvl="0" marL="457200" marR="0" rtl="0" algn="l">
              <a:lnSpc>
                <a:spcPct val="111666"/>
              </a:lnSpc>
              <a:spcBef>
                <a:spcPts val="0"/>
              </a:spcBef>
              <a:spcAft>
                <a:spcPts val="0"/>
              </a:spcAft>
              <a:buClr>
                <a:srgbClr val="000000"/>
              </a:buClr>
              <a:buSzPts val="3500"/>
              <a:buFont typeface="Arial"/>
              <a:buNone/>
            </a:pPr>
            <a:r>
              <a:t/>
            </a:r>
            <a:endParaRPr b="0" i="0" sz="3500" u="none" cap="none" strike="noStrike">
              <a:solidFill>
                <a:schemeClr val="dk1"/>
              </a:solidFill>
              <a:latin typeface="Times New Roman"/>
              <a:ea typeface="Times New Roman"/>
              <a:cs typeface="Times New Roman"/>
              <a:sym typeface="Times New Roman"/>
            </a:endParaRPr>
          </a:p>
        </p:txBody>
      </p:sp>
      <p:sp>
        <p:nvSpPr>
          <p:cNvPr id="244" name="Google Shape;244;g37098f36590_0_75"/>
          <p:cNvSpPr/>
          <p:nvPr/>
        </p:nvSpPr>
        <p:spPr>
          <a:xfrm>
            <a:off x="0" y="5295728"/>
            <a:ext cx="12318900" cy="1245600"/>
          </a:xfrm>
          <a:prstGeom prst="roundRect">
            <a:avLst>
              <a:gd fmla="val 16667" name="adj"/>
            </a:avLst>
          </a:prstGeom>
          <a:solidFill>
            <a:srgbClr val="F4CCCC"/>
          </a:solidFill>
          <a:ln cap="flat" cmpd="sng" w="381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1666"/>
              </a:lnSpc>
              <a:spcBef>
                <a:spcPts val="0"/>
              </a:spcBef>
              <a:spcAft>
                <a:spcPts val="0"/>
              </a:spcAft>
              <a:buClr>
                <a:srgbClr val="000000"/>
              </a:buClr>
              <a:buSzPts val="3500"/>
              <a:buFont typeface="Arial"/>
              <a:buNone/>
            </a:pPr>
            <a:r>
              <a:rPr b="1" i="0" lang="en-US" sz="3500" u="none" cap="none" strike="noStrike">
                <a:solidFill>
                  <a:srgbClr val="741B47"/>
                </a:solidFill>
                <a:latin typeface="Times New Roman"/>
                <a:ea typeface="Times New Roman"/>
                <a:cs typeface="Times New Roman"/>
                <a:sym typeface="Times New Roman"/>
              </a:rPr>
              <a:t>Methodological</a:t>
            </a:r>
            <a:r>
              <a:rPr b="0" i="0" lang="en-US" sz="3500" u="none" cap="none" strike="noStrike">
                <a:solidFill>
                  <a:srgbClr val="1A5490"/>
                </a:solidFill>
                <a:latin typeface="Times New Roman"/>
                <a:ea typeface="Times New Roman"/>
                <a:cs typeface="Times New Roman"/>
                <a:sym typeface="Times New Roman"/>
              </a:rPr>
              <a:t>: </a:t>
            </a:r>
            <a:r>
              <a:rPr b="0" i="0" lang="en-US" sz="3500" u="none" cap="none" strike="noStrike">
                <a:solidFill>
                  <a:schemeClr val="dk1"/>
                </a:solidFill>
                <a:latin typeface="Times New Roman"/>
                <a:ea typeface="Times New Roman"/>
                <a:cs typeface="Times New Roman"/>
                <a:sym typeface="Times New Roman"/>
              </a:rPr>
              <a:t>Replicable framework for diachronic corpus studies.</a:t>
            </a:r>
            <a:endParaRPr b="0" i="0" sz="35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7098f36590_0_82"/>
          <p:cNvSpPr/>
          <p:nvPr/>
        </p:nvSpPr>
        <p:spPr>
          <a:xfrm>
            <a:off x="0" y="1051346"/>
            <a:ext cx="5306100" cy="2010900"/>
          </a:xfrm>
          <a:prstGeom prst="roundRect">
            <a:avLst>
              <a:gd fmla="val 16667" name="adj"/>
            </a:avLst>
          </a:prstGeom>
          <a:solidFill>
            <a:srgbClr val="CFE2F3"/>
          </a:solidFill>
          <a:ln cap="flat" cmpd="sng" w="762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en-US" sz="2400" u="none" cap="none" strike="noStrike">
                <a:solidFill>
                  <a:srgbClr val="000000"/>
                </a:solidFill>
                <a:latin typeface="Times New Roman"/>
                <a:ea typeface="Times New Roman"/>
                <a:cs typeface="Times New Roman"/>
                <a:sym typeface="Times New Roman"/>
              </a:rPr>
              <a:t>An innovative </a:t>
            </a:r>
            <a:r>
              <a:rPr b="1" i="0" lang="en-US" sz="2400" u="none" cap="none" strike="noStrike">
                <a:solidFill>
                  <a:srgbClr val="000000"/>
                </a:solidFill>
                <a:latin typeface="Times New Roman"/>
                <a:ea typeface="Times New Roman"/>
                <a:cs typeface="Times New Roman"/>
                <a:sym typeface="Times New Roman"/>
              </a:rPr>
              <a:t>diachronic </a:t>
            </a:r>
            <a:r>
              <a:rPr b="0" i="0" lang="en-US" sz="2400" u="none" cap="none" strike="noStrike">
                <a:solidFill>
                  <a:srgbClr val="000000"/>
                </a:solidFill>
                <a:latin typeface="Times New Roman"/>
                <a:ea typeface="Times New Roman"/>
                <a:cs typeface="Times New Roman"/>
                <a:sym typeface="Times New Roman"/>
              </a:rPr>
              <a:t>study related to:</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600"/>
              </a:spcBef>
              <a:spcAft>
                <a:spcPts val="0"/>
              </a:spcAft>
              <a:buClr>
                <a:schemeClr val="dk1"/>
              </a:buClr>
              <a:buSzPts val="1100"/>
              <a:buFont typeface="Arial"/>
              <a:buNone/>
            </a:pPr>
            <a:r>
              <a:rPr b="0" i="1" lang="en-US" sz="2400" u="none" cap="none" strike="noStrike">
                <a:solidFill>
                  <a:srgbClr val="000000"/>
                </a:solidFill>
                <a:latin typeface="Times New Roman"/>
                <a:ea typeface="Times New Roman"/>
                <a:cs typeface="Times New Roman"/>
                <a:sym typeface="Times New Roman"/>
              </a:rPr>
              <a:t>-</a:t>
            </a:r>
            <a:r>
              <a:rPr b="1" i="1" lang="en-US" sz="2400" u="none" cap="none" strike="noStrike">
                <a:solidFill>
                  <a:srgbClr val="000000"/>
                </a:solidFill>
                <a:latin typeface="Times New Roman"/>
                <a:ea typeface="Times New Roman"/>
                <a:cs typeface="Times New Roman"/>
                <a:sym typeface="Times New Roman"/>
              </a:rPr>
              <a:t>linguistic genealogy -language contact</a:t>
            </a:r>
            <a:endParaRPr b="0" i="1" sz="2400" u="none" cap="none" strike="noStrike">
              <a:solidFill>
                <a:srgbClr val="000000"/>
              </a:solidFill>
              <a:latin typeface="Times New Roman"/>
              <a:ea typeface="Times New Roman"/>
              <a:cs typeface="Times New Roman"/>
              <a:sym typeface="Times New Roman"/>
            </a:endParaRPr>
          </a:p>
        </p:txBody>
      </p:sp>
      <p:sp>
        <p:nvSpPr>
          <p:cNvPr id="250" name="Google Shape;250;g37098f36590_0_82"/>
          <p:cNvSpPr/>
          <p:nvPr/>
        </p:nvSpPr>
        <p:spPr>
          <a:xfrm>
            <a:off x="5484333" y="116559"/>
            <a:ext cx="5961600" cy="2959500"/>
          </a:xfrm>
          <a:prstGeom prst="roundRect">
            <a:avLst>
              <a:gd fmla="val 16667" name="adj"/>
            </a:avLst>
          </a:prstGeom>
          <a:solidFill>
            <a:srgbClr val="CFE2F3"/>
          </a:solidFill>
          <a:ln cap="flat" cmpd="sng" w="762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en-US" sz="2400" u="none" cap="none" strike="noStrike">
                <a:solidFill>
                  <a:srgbClr val="000000"/>
                </a:solidFill>
                <a:latin typeface="Times New Roman"/>
                <a:ea typeface="Times New Roman"/>
                <a:cs typeface="Times New Roman"/>
                <a:sym typeface="Times New Roman"/>
              </a:rPr>
              <a:t>The first diachronic contrastive </a:t>
            </a:r>
            <a:r>
              <a:rPr b="1" i="1" lang="en-US" sz="2400" u="none" cap="none" strike="noStrike">
                <a:solidFill>
                  <a:srgbClr val="000000"/>
                </a:solidFill>
                <a:latin typeface="Times New Roman"/>
                <a:ea typeface="Times New Roman"/>
                <a:cs typeface="Times New Roman"/>
                <a:sym typeface="Times New Roman"/>
              </a:rPr>
              <a:t>Valency Lexicon</a:t>
            </a:r>
            <a:r>
              <a:rPr b="0" i="0" lang="en-US" sz="2400" u="none" cap="none" strike="noStrike">
                <a:solidFill>
                  <a:srgbClr val="000000"/>
                </a:solidFill>
                <a:latin typeface="Times New Roman"/>
                <a:ea typeface="Times New Roman"/>
                <a:cs typeface="Times New Roman"/>
                <a:sym typeface="Times New Roman"/>
              </a:rPr>
              <a:t>:</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15000"/>
              </a:lnSpc>
              <a:spcBef>
                <a:spcPts val="60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includes various language subfamilies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modern methodological tools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electronic annotated texts.</a:t>
            </a:r>
            <a:endParaRPr b="0" i="0" sz="2400" u="none" cap="none" strike="noStrike">
              <a:solidFill>
                <a:srgbClr val="000000"/>
              </a:solidFill>
              <a:latin typeface="Times New Roman"/>
              <a:ea typeface="Times New Roman"/>
              <a:cs typeface="Times New Roman"/>
              <a:sym typeface="Times New Roman"/>
            </a:endParaRPr>
          </a:p>
        </p:txBody>
      </p:sp>
      <p:sp>
        <p:nvSpPr>
          <p:cNvPr id="251" name="Google Shape;251;g37098f36590_0_82"/>
          <p:cNvSpPr/>
          <p:nvPr/>
        </p:nvSpPr>
        <p:spPr>
          <a:xfrm>
            <a:off x="86576" y="3199641"/>
            <a:ext cx="4815900" cy="1616700"/>
          </a:xfrm>
          <a:prstGeom prst="roundRect">
            <a:avLst>
              <a:gd fmla="val 16667" name="adj"/>
            </a:avLst>
          </a:prstGeom>
          <a:solidFill>
            <a:srgbClr val="CFE2F3"/>
          </a:solidFill>
          <a:ln cap="flat" cmpd="sng" w="762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1" i="1" lang="en-US" sz="2400" u="none" cap="none" strike="noStrike">
                <a:solidFill>
                  <a:srgbClr val="000000"/>
                </a:solidFill>
                <a:latin typeface="Times New Roman"/>
                <a:ea typeface="Times New Roman"/>
                <a:cs typeface="Times New Roman"/>
                <a:sym typeface="Times New Roman"/>
              </a:rPr>
              <a:t>Digitalization</a:t>
            </a:r>
            <a:r>
              <a:rPr b="1" i="0" lang="en-US" sz="24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of linguistic information</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rgbClr val="000000"/>
              </a:solidFill>
              <a:latin typeface="Times New Roman"/>
              <a:ea typeface="Times New Roman"/>
              <a:cs typeface="Times New Roman"/>
              <a:sym typeface="Times New Roman"/>
            </a:endParaRPr>
          </a:p>
        </p:txBody>
      </p:sp>
      <p:sp>
        <p:nvSpPr>
          <p:cNvPr id="252" name="Google Shape;252;g37098f36590_0_82"/>
          <p:cNvSpPr/>
          <p:nvPr/>
        </p:nvSpPr>
        <p:spPr>
          <a:xfrm>
            <a:off x="2049091" y="4953794"/>
            <a:ext cx="9081900" cy="1728900"/>
          </a:xfrm>
          <a:prstGeom prst="roundRect">
            <a:avLst>
              <a:gd fmla="val 16667" name="adj"/>
            </a:avLst>
          </a:prstGeom>
          <a:solidFill>
            <a:srgbClr val="CFE2F3"/>
          </a:solidFill>
          <a:ln cap="flat" cmpd="sng" w="762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en-US" sz="2400" u="none" cap="none" strike="noStrike">
                <a:solidFill>
                  <a:srgbClr val="000000"/>
                </a:solidFill>
                <a:latin typeface="Times New Roman"/>
                <a:ea typeface="Times New Roman"/>
                <a:cs typeface="Times New Roman"/>
                <a:sym typeface="Times New Roman"/>
              </a:rPr>
              <a:t>Collection of data will be shared within the </a:t>
            </a:r>
            <a:r>
              <a:rPr b="1" i="0" lang="en-US" sz="2400" u="none" cap="none" strike="noStrike">
                <a:solidFill>
                  <a:srgbClr val="000000"/>
                </a:solidFill>
                <a:latin typeface="Times New Roman"/>
                <a:ea typeface="Times New Roman"/>
                <a:cs typeface="Times New Roman"/>
                <a:sym typeface="Times New Roman"/>
              </a:rPr>
              <a:t>scientific community</a:t>
            </a:r>
            <a:r>
              <a:rPr b="0" i="0" lang="en-US" sz="2400" u="none" cap="none" strike="noStrike">
                <a:solidFill>
                  <a:srgbClr val="000000"/>
                </a:solidFill>
                <a:latin typeface="Times New Roman"/>
                <a:ea typeface="Times New Roman"/>
                <a:cs typeface="Times New Roman"/>
                <a:sym typeface="Times New Roman"/>
              </a:rPr>
              <a:t> by enhancing </a:t>
            </a:r>
            <a:r>
              <a:rPr b="1" i="0" lang="en-US" sz="2400" u="none" cap="none" strike="noStrike">
                <a:solidFill>
                  <a:srgbClr val="000000"/>
                </a:solidFill>
                <a:latin typeface="Times New Roman"/>
                <a:ea typeface="Times New Roman"/>
                <a:cs typeface="Times New Roman"/>
                <a:sym typeface="Times New Roman"/>
              </a:rPr>
              <a:t>international networking</a:t>
            </a:r>
            <a:r>
              <a:rPr b="0" i="0" lang="en-US" sz="2400" u="none" cap="none" strike="noStrike">
                <a:solidFill>
                  <a:srgbClr val="000000"/>
                </a:solidFill>
                <a:latin typeface="Times New Roman"/>
                <a:ea typeface="Times New Roman"/>
                <a:cs typeface="Times New Roman"/>
                <a:sym typeface="Times New Roman"/>
              </a:rPr>
              <a:t>.</a:t>
            </a:r>
            <a:endParaRPr b="0" i="0" sz="2400" u="none" cap="none" strike="noStrike">
              <a:solidFill>
                <a:srgbClr val="000000"/>
              </a:solidFill>
              <a:latin typeface="Times New Roman"/>
              <a:ea typeface="Times New Roman"/>
              <a:cs typeface="Times New Roman"/>
              <a:sym typeface="Times New Roman"/>
            </a:endParaRPr>
          </a:p>
        </p:txBody>
      </p:sp>
      <p:sp>
        <p:nvSpPr>
          <p:cNvPr id="253" name="Google Shape;253;g37098f36590_0_82"/>
          <p:cNvSpPr/>
          <p:nvPr/>
        </p:nvSpPr>
        <p:spPr>
          <a:xfrm>
            <a:off x="5095000" y="3262853"/>
            <a:ext cx="6718500" cy="1504200"/>
          </a:xfrm>
          <a:prstGeom prst="roundRect">
            <a:avLst>
              <a:gd fmla="val 16667" name="adj"/>
            </a:avLst>
          </a:prstGeom>
          <a:solidFill>
            <a:srgbClr val="CFE2F3"/>
          </a:solidFill>
          <a:ln cap="flat" cmpd="sng" w="762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chemeClr val="dk1"/>
              </a:buClr>
              <a:buSzPts val="1100"/>
              <a:buFont typeface="Arial"/>
              <a:buNone/>
            </a:pPr>
            <a:r>
              <a:rPr b="0" i="0" lang="en-US" sz="2400" u="none" cap="none" strike="noStrike">
                <a:solidFill>
                  <a:srgbClr val="000000"/>
                </a:solidFill>
                <a:latin typeface="Times New Roman"/>
                <a:ea typeface="Times New Roman"/>
                <a:cs typeface="Times New Roman"/>
                <a:sym typeface="Times New Roman"/>
              </a:rPr>
              <a:t>Creation of a </a:t>
            </a:r>
            <a:r>
              <a:rPr b="1" i="0" lang="en-US" sz="2400" u="none" cap="none" strike="noStrike">
                <a:solidFill>
                  <a:srgbClr val="000000"/>
                </a:solidFill>
                <a:latin typeface="Times New Roman"/>
                <a:ea typeface="Times New Roman"/>
                <a:cs typeface="Times New Roman"/>
                <a:sym typeface="Times New Roman"/>
              </a:rPr>
              <a:t>searchable electronic contrastive - typological database</a:t>
            </a:r>
            <a:r>
              <a:rPr b="0" i="0" lang="en-US" sz="2400" u="none" cap="none" strike="noStrike">
                <a:solidFill>
                  <a:srgbClr val="000000"/>
                </a:solidFill>
                <a:latin typeface="Times New Roman"/>
                <a:ea typeface="Times New Roman"/>
                <a:cs typeface="Times New Roman"/>
                <a:sym typeface="Times New Roman"/>
              </a:rPr>
              <a:t> of linguistic constructions.</a:t>
            </a:r>
            <a:endParaRPr b="0" i="0" sz="2400" u="none" cap="none" strike="noStrike">
              <a:solidFill>
                <a:srgbClr val="000000"/>
              </a:solidFill>
              <a:latin typeface="Times New Roman"/>
              <a:ea typeface="Times New Roman"/>
              <a:cs typeface="Times New Roman"/>
              <a:sym typeface="Times New Roman"/>
            </a:endParaRPr>
          </a:p>
        </p:txBody>
      </p:sp>
      <p:sp>
        <p:nvSpPr>
          <p:cNvPr id="254" name="Google Shape;254;g37098f36590_0_82"/>
          <p:cNvSpPr txBox="1"/>
          <p:nvPr/>
        </p:nvSpPr>
        <p:spPr>
          <a:xfrm>
            <a:off x="0" y="-60816"/>
            <a:ext cx="11727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sng" cap="none" strike="noStrike">
                <a:solidFill>
                  <a:srgbClr val="073763"/>
                </a:solidFill>
                <a:latin typeface="Times New Roman"/>
                <a:ea typeface="Times New Roman"/>
                <a:cs typeface="Times New Roman"/>
                <a:sym typeface="Times New Roman"/>
              </a:rPr>
              <a:t>Innovation</a:t>
            </a:r>
            <a:endParaRPr b="1" i="0" sz="4000" u="sng" cap="none" strike="noStrike">
              <a:solidFill>
                <a:srgbClr val="073763"/>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7098f36590_0_91"/>
          <p:cNvSpPr txBox="1"/>
          <p:nvPr>
            <p:ph type="title"/>
          </p:nvPr>
        </p:nvSpPr>
        <p:spPr>
          <a:xfrm>
            <a:off x="-6" y="70550"/>
            <a:ext cx="11360700" cy="763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1703"/>
              </a:lnSpc>
              <a:spcBef>
                <a:spcPts val="0"/>
              </a:spcBef>
              <a:spcAft>
                <a:spcPts val="0"/>
              </a:spcAft>
              <a:buClr>
                <a:schemeClr val="dk1"/>
              </a:buClr>
              <a:buSzPct val="45454"/>
              <a:buFont typeface="Arial"/>
              <a:buNone/>
            </a:pPr>
            <a:r>
              <a:t/>
            </a:r>
            <a:endParaRPr b="1">
              <a:solidFill>
                <a:srgbClr val="134F5C"/>
              </a:solidFill>
              <a:latin typeface="Times New Roman"/>
              <a:ea typeface="Times New Roman"/>
              <a:cs typeface="Times New Roman"/>
              <a:sym typeface="Times New Roman"/>
            </a:endParaRPr>
          </a:p>
          <a:p>
            <a:pPr indent="0" lvl="0" marL="0" rtl="0" algn="l">
              <a:lnSpc>
                <a:spcPct val="111703"/>
              </a:lnSpc>
              <a:spcBef>
                <a:spcPts val="0"/>
              </a:spcBef>
              <a:spcAft>
                <a:spcPts val="0"/>
              </a:spcAft>
              <a:buClr>
                <a:schemeClr val="dk1"/>
              </a:buClr>
              <a:buSzPct val="45454"/>
              <a:buFont typeface="Arial"/>
              <a:buNone/>
            </a:pPr>
            <a:r>
              <a:rPr b="1" lang="en-US" sz="4400">
                <a:solidFill>
                  <a:srgbClr val="134F5C"/>
                </a:solidFill>
                <a:latin typeface="Times New Roman"/>
                <a:ea typeface="Times New Roman"/>
                <a:cs typeface="Times New Roman"/>
                <a:sym typeface="Times New Roman"/>
              </a:rPr>
              <a:t>Theoretical Implications</a:t>
            </a:r>
            <a:endParaRPr b="1" sz="4400">
              <a:solidFill>
                <a:srgbClr val="134F5C"/>
              </a:solidFill>
              <a:latin typeface="Times New Roman"/>
              <a:ea typeface="Times New Roman"/>
              <a:cs typeface="Times New Roman"/>
              <a:sym typeface="Times New Roman"/>
            </a:endParaRPr>
          </a:p>
          <a:p>
            <a:pPr indent="0" lvl="0" marL="0" rtl="0" algn="l">
              <a:lnSpc>
                <a:spcPct val="90000"/>
              </a:lnSpc>
              <a:spcBef>
                <a:spcPts val="0"/>
              </a:spcBef>
              <a:spcAft>
                <a:spcPts val="0"/>
              </a:spcAft>
              <a:buSzPct val="45454"/>
              <a:buNone/>
            </a:pPr>
            <a:r>
              <a:t/>
            </a:r>
            <a:endParaRPr/>
          </a:p>
        </p:txBody>
      </p:sp>
      <p:sp>
        <p:nvSpPr>
          <p:cNvPr id="260" name="Google Shape;260;g37098f36590_0_91"/>
          <p:cNvSpPr/>
          <p:nvPr/>
        </p:nvSpPr>
        <p:spPr>
          <a:xfrm>
            <a:off x="103879" y="834221"/>
            <a:ext cx="5661000" cy="2275800"/>
          </a:xfrm>
          <a:prstGeom prst="foldedCorner">
            <a:avLst>
              <a:gd fmla="val 16667" name="adj"/>
            </a:avLst>
          </a:prstGeom>
          <a:solidFill>
            <a:srgbClr val="D9EAD3"/>
          </a:solidFill>
          <a:ln cap="flat" cmpd="sng" w="381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1666"/>
              </a:lnSpc>
              <a:spcBef>
                <a:spcPts val="0"/>
              </a:spcBef>
              <a:spcAft>
                <a:spcPts val="0"/>
              </a:spcAft>
              <a:buClr>
                <a:srgbClr val="000000"/>
              </a:buClr>
              <a:buSzPts val="2800"/>
              <a:buFont typeface="Arial"/>
              <a:buNone/>
            </a:pPr>
            <a:r>
              <a:rPr b="1" i="0" lang="en-US" sz="2800" u="none" cap="none" strike="noStrike">
                <a:solidFill>
                  <a:srgbClr val="134F5C"/>
                </a:solidFill>
                <a:latin typeface="Times New Roman"/>
                <a:ea typeface="Times New Roman"/>
                <a:cs typeface="Times New Roman"/>
                <a:sym typeface="Times New Roman"/>
              </a:rPr>
              <a:t>Grammaticalization Paths:</a:t>
            </a:r>
            <a:r>
              <a:rPr b="0" i="0" lang="en-US" sz="2800" u="none" cap="none" strike="noStrike">
                <a:solidFill>
                  <a:srgbClr val="1A5490"/>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How valency markers develop from lexical sources.</a:t>
            </a:r>
            <a:endParaRPr b="0" i="0" sz="2800" u="none" cap="none" strike="noStrike">
              <a:solidFill>
                <a:schemeClr val="dk1"/>
              </a:solidFill>
              <a:latin typeface="Times New Roman"/>
              <a:ea typeface="Times New Roman"/>
              <a:cs typeface="Times New Roman"/>
              <a:sym typeface="Times New Roman"/>
            </a:endParaRPr>
          </a:p>
        </p:txBody>
      </p:sp>
      <p:sp>
        <p:nvSpPr>
          <p:cNvPr id="261" name="Google Shape;261;g37098f36590_0_91"/>
          <p:cNvSpPr/>
          <p:nvPr/>
        </p:nvSpPr>
        <p:spPr>
          <a:xfrm>
            <a:off x="6531394" y="834221"/>
            <a:ext cx="5492100" cy="2275800"/>
          </a:xfrm>
          <a:prstGeom prst="foldedCorner">
            <a:avLst>
              <a:gd fmla="val 16667" name="adj"/>
            </a:avLst>
          </a:prstGeom>
          <a:solidFill>
            <a:srgbClr val="D9EAD3"/>
          </a:solidFill>
          <a:ln cap="flat" cmpd="sng" w="381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1666"/>
              </a:lnSpc>
              <a:spcBef>
                <a:spcPts val="2102"/>
              </a:spcBef>
              <a:spcAft>
                <a:spcPts val="0"/>
              </a:spcAft>
              <a:buClr>
                <a:srgbClr val="000000"/>
              </a:buClr>
              <a:buSzPts val="2800"/>
              <a:buFont typeface="Arial"/>
              <a:buNone/>
            </a:pPr>
            <a:r>
              <a:rPr b="1" i="0" lang="en-US" sz="2800" u="none" cap="none" strike="noStrike">
                <a:solidFill>
                  <a:srgbClr val="134F5C"/>
                </a:solidFill>
                <a:latin typeface="Times New Roman"/>
                <a:ea typeface="Times New Roman"/>
                <a:cs typeface="Times New Roman"/>
                <a:sym typeface="Times New Roman"/>
              </a:rPr>
              <a:t>Degrammaticalization</a:t>
            </a:r>
            <a:r>
              <a:rPr b="0" i="0" lang="en-US" sz="2800" u="none" cap="none" strike="noStrike">
                <a:solidFill>
                  <a:srgbClr val="1A5490"/>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When complex structures become simpler.</a:t>
            </a:r>
            <a:endParaRPr b="0" i="0" sz="2800" u="none" cap="none" strike="noStrike">
              <a:solidFill>
                <a:schemeClr val="dk1"/>
              </a:solidFill>
              <a:latin typeface="Times New Roman"/>
              <a:ea typeface="Times New Roman"/>
              <a:cs typeface="Times New Roman"/>
              <a:sym typeface="Times New Roman"/>
            </a:endParaRPr>
          </a:p>
        </p:txBody>
      </p:sp>
      <p:sp>
        <p:nvSpPr>
          <p:cNvPr id="262" name="Google Shape;262;g37098f36590_0_91"/>
          <p:cNvSpPr/>
          <p:nvPr/>
        </p:nvSpPr>
        <p:spPr>
          <a:xfrm>
            <a:off x="442424" y="3815669"/>
            <a:ext cx="5322600" cy="2414100"/>
          </a:xfrm>
          <a:prstGeom prst="foldedCorner">
            <a:avLst>
              <a:gd fmla="val 16667" name="adj"/>
            </a:avLst>
          </a:prstGeom>
          <a:solidFill>
            <a:srgbClr val="D9EAD3"/>
          </a:solidFill>
          <a:ln cap="flat" cmpd="sng" w="381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1666"/>
              </a:lnSpc>
              <a:spcBef>
                <a:spcPts val="2101"/>
              </a:spcBef>
              <a:spcAft>
                <a:spcPts val="0"/>
              </a:spcAft>
              <a:buClr>
                <a:srgbClr val="000000"/>
              </a:buClr>
              <a:buSzPts val="2800"/>
              <a:buFont typeface="Arial"/>
              <a:buNone/>
            </a:pPr>
            <a:r>
              <a:rPr b="1" i="0" lang="en-US" sz="2800" u="none" cap="none" strike="noStrike">
                <a:solidFill>
                  <a:srgbClr val="134F5C"/>
                </a:solidFill>
                <a:latin typeface="Times New Roman"/>
                <a:ea typeface="Times New Roman"/>
                <a:cs typeface="Times New Roman"/>
                <a:sym typeface="Times New Roman"/>
              </a:rPr>
              <a:t>Cyclic Changes:</a:t>
            </a:r>
            <a:r>
              <a:rPr b="0" i="0" lang="en-US" sz="2800" u="none" cap="none" strike="noStrike">
                <a:solidFill>
                  <a:srgbClr val="1A5490"/>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Recurring patterns in voice system evolution.</a:t>
            </a:r>
            <a:endParaRPr b="0" i="0" sz="2800" u="none" cap="none" strike="noStrike">
              <a:solidFill>
                <a:srgbClr val="000000"/>
              </a:solidFill>
              <a:latin typeface="Times New Roman"/>
              <a:ea typeface="Times New Roman"/>
              <a:cs typeface="Times New Roman"/>
              <a:sym typeface="Times New Roman"/>
            </a:endParaRPr>
          </a:p>
        </p:txBody>
      </p:sp>
      <p:sp>
        <p:nvSpPr>
          <p:cNvPr id="263" name="Google Shape;263;g37098f36590_0_91"/>
          <p:cNvSpPr/>
          <p:nvPr/>
        </p:nvSpPr>
        <p:spPr>
          <a:xfrm>
            <a:off x="6488848" y="3815669"/>
            <a:ext cx="5661000" cy="2414100"/>
          </a:xfrm>
          <a:prstGeom prst="foldedCorner">
            <a:avLst>
              <a:gd fmla="val 16667" name="adj"/>
            </a:avLst>
          </a:prstGeom>
          <a:solidFill>
            <a:srgbClr val="D9EAD3"/>
          </a:solidFill>
          <a:ln cap="flat" cmpd="sng" w="381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1666"/>
              </a:lnSpc>
              <a:spcBef>
                <a:spcPts val="0"/>
              </a:spcBef>
              <a:spcAft>
                <a:spcPts val="0"/>
              </a:spcAft>
              <a:buClr>
                <a:srgbClr val="000000"/>
              </a:buClr>
              <a:buSzPts val="2800"/>
              <a:buFont typeface="Arial"/>
              <a:buNone/>
            </a:pPr>
            <a:r>
              <a:rPr b="1" i="0" lang="en-US" sz="2800" u="none" cap="none" strike="noStrike">
                <a:solidFill>
                  <a:srgbClr val="134F5C"/>
                </a:solidFill>
                <a:latin typeface="Times New Roman"/>
                <a:ea typeface="Times New Roman"/>
                <a:cs typeface="Times New Roman"/>
                <a:sym typeface="Times New Roman"/>
              </a:rPr>
              <a:t>Re-translations: </a:t>
            </a:r>
            <a:r>
              <a:rPr b="0" i="0" lang="en-US" sz="2800" u="none" cap="none" strike="noStrike">
                <a:solidFill>
                  <a:schemeClr val="dk1"/>
                </a:solidFill>
                <a:latin typeface="Times New Roman"/>
                <a:ea typeface="Times New Roman"/>
                <a:cs typeface="Times New Roman"/>
                <a:sym typeface="Times New Roman"/>
              </a:rPr>
              <a:t>Effective tool to study language change.</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7098f36590_0_99"/>
          <p:cNvSpPr txBox="1"/>
          <p:nvPr>
            <p:ph type="title"/>
          </p:nvPr>
        </p:nvSpPr>
        <p:spPr>
          <a:xfrm>
            <a:off x="119873" y="132073"/>
            <a:ext cx="11360700" cy="763800"/>
          </a:xfrm>
          <a:prstGeom prst="rect">
            <a:avLst/>
          </a:prstGeom>
          <a:noFill/>
          <a:ln>
            <a:noFill/>
          </a:ln>
        </p:spPr>
        <p:txBody>
          <a:bodyPr anchorCtr="0" anchor="ctr" bIns="45700" lIns="91425" spcFirstLastPara="1" rIns="91425" wrap="square" tIns="45700">
            <a:noAutofit/>
          </a:bodyPr>
          <a:lstStyle/>
          <a:p>
            <a:pPr indent="0" lvl="0" marL="0" rtl="0" algn="l">
              <a:lnSpc>
                <a:spcPct val="111703"/>
              </a:lnSpc>
              <a:spcBef>
                <a:spcPts val="0"/>
              </a:spcBef>
              <a:spcAft>
                <a:spcPts val="0"/>
              </a:spcAft>
              <a:buClr>
                <a:schemeClr val="dk1"/>
              </a:buClr>
              <a:buSzPts val="1800"/>
              <a:buFont typeface="Arial"/>
              <a:buNone/>
            </a:pPr>
            <a:r>
              <a:t/>
            </a:r>
            <a:endParaRPr b="1" sz="5000">
              <a:solidFill>
                <a:srgbClr val="0B5394"/>
              </a:solidFill>
              <a:latin typeface="Times New Roman"/>
              <a:ea typeface="Times New Roman"/>
              <a:cs typeface="Times New Roman"/>
              <a:sym typeface="Times New Roman"/>
            </a:endParaRPr>
          </a:p>
          <a:p>
            <a:pPr indent="0" lvl="0" marL="0" rtl="0" algn="l">
              <a:lnSpc>
                <a:spcPct val="111703"/>
              </a:lnSpc>
              <a:spcBef>
                <a:spcPts val="0"/>
              </a:spcBef>
              <a:spcAft>
                <a:spcPts val="0"/>
              </a:spcAft>
              <a:buClr>
                <a:schemeClr val="dk1"/>
              </a:buClr>
              <a:buSzPts val="1800"/>
              <a:buFont typeface="Arial"/>
              <a:buNone/>
            </a:pPr>
            <a:r>
              <a:rPr b="1" lang="en-US" sz="5000">
                <a:solidFill>
                  <a:srgbClr val="0B5394"/>
                </a:solidFill>
                <a:latin typeface="Times New Roman"/>
                <a:ea typeface="Times New Roman"/>
                <a:cs typeface="Times New Roman"/>
                <a:sym typeface="Times New Roman"/>
              </a:rPr>
              <a:t>Future Research Directions</a:t>
            </a:r>
            <a:endParaRPr b="1" sz="5000">
              <a:solidFill>
                <a:srgbClr val="0B5394"/>
              </a:solidFill>
              <a:latin typeface="Times New Roman"/>
              <a:ea typeface="Times New Roman"/>
              <a:cs typeface="Times New Roman"/>
              <a:sym typeface="Times New Roman"/>
            </a:endParaRPr>
          </a:p>
          <a:p>
            <a:pPr indent="0" lvl="0" marL="0" rtl="0" algn="l">
              <a:lnSpc>
                <a:spcPct val="90000"/>
              </a:lnSpc>
              <a:spcBef>
                <a:spcPts val="0"/>
              </a:spcBef>
              <a:spcAft>
                <a:spcPts val="0"/>
              </a:spcAft>
              <a:buSzPts val="1800"/>
              <a:buNone/>
            </a:pPr>
            <a:r>
              <a:t/>
            </a:r>
            <a:endParaRPr/>
          </a:p>
        </p:txBody>
      </p:sp>
      <p:sp>
        <p:nvSpPr>
          <p:cNvPr id="269" name="Google Shape;269;g37098f36590_0_99"/>
          <p:cNvSpPr/>
          <p:nvPr/>
        </p:nvSpPr>
        <p:spPr>
          <a:xfrm>
            <a:off x="119879" y="1117875"/>
            <a:ext cx="7575300" cy="1860600"/>
          </a:xfrm>
          <a:prstGeom prst="snipRoundRect">
            <a:avLst>
              <a:gd fmla="val 16667" name="adj1"/>
              <a:gd fmla="val 16667" name="adj2"/>
            </a:avLst>
          </a:prstGeom>
          <a:solidFill>
            <a:srgbClr val="FF9900"/>
          </a:solidFill>
          <a:ln cap="flat" cmpd="sng" w="762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1666"/>
              </a:lnSpc>
              <a:spcBef>
                <a:spcPts val="0"/>
              </a:spcBef>
              <a:spcAft>
                <a:spcPts val="0"/>
              </a:spcAft>
              <a:buClr>
                <a:schemeClr val="dk1"/>
              </a:buClr>
              <a:buSzPts val="1100"/>
              <a:buFont typeface="Arial"/>
              <a:buNone/>
            </a:pPr>
            <a:r>
              <a:rPr b="1" i="0" lang="en-US" sz="2800" u="none" cap="none" strike="noStrike">
                <a:solidFill>
                  <a:srgbClr val="1A5490"/>
                </a:solidFill>
                <a:latin typeface="Times New Roman"/>
                <a:ea typeface="Times New Roman"/>
                <a:cs typeface="Times New Roman"/>
                <a:sym typeface="Times New Roman"/>
              </a:rPr>
              <a:t>Expansion</a:t>
            </a:r>
            <a:r>
              <a:rPr b="1" i="0" lang="en-US" sz="2800" u="none" cap="none" strike="noStrike">
                <a:solidFill>
                  <a:srgbClr val="762BA8"/>
                </a:solidFill>
                <a:latin typeface="Times New Roman"/>
                <a:ea typeface="Times New Roman"/>
                <a:cs typeface="Times New Roman"/>
                <a:sym typeface="Times New Roman"/>
              </a:rPr>
              <a:t>:</a:t>
            </a:r>
            <a:r>
              <a:rPr b="0" i="0" lang="en-US" sz="2800" u="none" cap="none" strike="noStrike">
                <a:solidFill>
                  <a:srgbClr val="1A5490"/>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Include more languages and time periods.</a:t>
            </a:r>
            <a:endParaRPr b="0" i="0" sz="2800" u="none" cap="none" strike="noStrike">
              <a:solidFill>
                <a:schemeClr val="dk1"/>
              </a:solidFill>
              <a:latin typeface="Times New Roman"/>
              <a:ea typeface="Times New Roman"/>
              <a:cs typeface="Times New Roman"/>
              <a:sym typeface="Times New Roman"/>
            </a:endParaRPr>
          </a:p>
        </p:txBody>
      </p:sp>
      <p:sp>
        <p:nvSpPr>
          <p:cNvPr id="270" name="Google Shape;270;g37098f36590_0_99"/>
          <p:cNvSpPr/>
          <p:nvPr/>
        </p:nvSpPr>
        <p:spPr>
          <a:xfrm>
            <a:off x="2568333" y="2978493"/>
            <a:ext cx="7575300" cy="1860600"/>
          </a:xfrm>
          <a:prstGeom prst="snipRoundRect">
            <a:avLst>
              <a:gd fmla="val 16667" name="adj1"/>
              <a:gd fmla="val 16667" name="adj2"/>
            </a:avLst>
          </a:prstGeom>
          <a:solidFill>
            <a:srgbClr val="FF9900"/>
          </a:solidFill>
          <a:ln cap="flat" cmpd="sng" w="762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1666"/>
              </a:lnSpc>
              <a:spcBef>
                <a:spcPts val="2101"/>
              </a:spcBef>
              <a:spcAft>
                <a:spcPts val="0"/>
              </a:spcAft>
              <a:buClr>
                <a:schemeClr val="dk1"/>
              </a:buClr>
              <a:buSzPts val="1100"/>
              <a:buFont typeface="Arial"/>
              <a:buNone/>
            </a:pPr>
            <a:r>
              <a:rPr b="1" i="0" lang="en-US" sz="2800" u="none" cap="none" strike="noStrike">
                <a:solidFill>
                  <a:srgbClr val="1A5490"/>
                </a:solidFill>
                <a:latin typeface="Times New Roman"/>
                <a:ea typeface="Times New Roman"/>
                <a:cs typeface="Times New Roman"/>
                <a:sym typeface="Times New Roman"/>
              </a:rPr>
              <a:t>Integration</a:t>
            </a:r>
            <a:r>
              <a:rPr b="0" i="0" lang="en-US" sz="2800" u="none" cap="none" strike="noStrike">
                <a:solidFill>
                  <a:srgbClr val="762BA8"/>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Connect with typological databases.</a:t>
            </a:r>
            <a:endParaRPr b="0" i="0" sz="2800" u="none" cap="none" strike="noStrike">
              <a:solidFill>
                <a:schemeClr val="dk1"/>
              </a:solidFill>
              <a:latin typeface="Times New Roman"/>
              <a:ea typeface="Times New Roman"/>
              <a:cs typeface="Times New Roman"/>
              <a:sym typeface="Times New Roman"/>
            </a:endParaRPr>
          </a:p>
        </p:txBody>
      </p:sp>
      <p:sp>
        <p:nvSpPr>
          <p:cNvPr id="271" name="Google Shape;271;g37098f36590_0_99"/>
          <p:cNvSpPr/>
          <p:nvPr/>
        </p:nvSpPr>
        <p:spPr>
          <a:xfrm>
            <a:off x="5073455" y="4839110"/>
            <a:ext cx="7118400" cy="1860600"/>
          </a:xfrm>
          <a:prstGeom prst="snipRoundRect">
            <a:avLst>
              <a:gd fmla="val 16667" name="adj1"/>
              <a:gd fmla="val 16667" name="adj2"/>
            </a:avLst>
          </a:prstGeom>
          <a:solidFill>
            <a:srgbClr val="FF9900"/>
          </a:solidFill>
          <a:ln cap="flat" cmpd="sng" w="76200">
            <a:solidFill>
              <a:srgbClr val="762BA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1666"/>
              </a:lnSpc>
              <a:spcBef>
                <a:spcPts val="2102"/>
              </a:spcBef>
              <a:spcAft>
                <a:spcPts val="0"/>
              </a:spcAft>
              <a:buClr>
                <a:schemeClr val="dk1"/>
              </a:buClr>
              <a:buSzPts val="1100"/>
              <a:buFont typeface="Arial"/>
              <a:buNone/>
            </a:pPr>
            <a:r>
              <a:rPr b="1" i="0" lang="en-US" sz="2800" u="none" cap="none" strike="noStrike">
                <a:solidFill>
                  <a:srgbClr val="1A5490"/>
                </a:solidFill>
                <a:latin typeface="Times New Roman"/>
                <a:ea typeface="Times New Roman"/>
                <a:cs typeface="Times New Roman"/>
                <a:sym typeface="Times New Roman"/>
              </a:rPr>
              <a:t>Applications</a:t>
            </a:r>
            <a:r>
              <a:rPr b="1" i="0" lang="en-US" sz="2800" u="none" cap="none" strike="noStrike">
                <a:solidFill>
                  <a:srgbClr val="762BA8"/>
                </a:solidFill>
                <a:latin typeface="Arial"/>
                <a:ea typeface="Arial"/>
                <a:cs typeface="Arial"/>
                <a:sym typeface="Arial"/>
              </a:rPr>
              <a:t>:</a:t>
            </a:r>
            <a:r>
              <a:rPr b="0" i="0" lang="en-US" sz="2800" u="none" cap="none" strike="noStrike">
                <a:solidFill>
                  <a:srgbClr val="1A5490"/>
                </a:solidFill>
                <a:latin typeface="Arial"/>
                <a:ea typeface="Arial"/>
                <a:cs typeface="Arial"/>
                <a:sym typeface="Arial"/>
              </a:rPr>
              <a:t> </a:t>
            </a:r>
            <a:r>
              <a:rPr b="0" i="0" lang="en-US" sz="2800" u="none" cap="none" strike="noStrike">
                <a:solidFill>
                  <a:schemeClr val="dk1"/>
                </a:solidFill>
                <a:latin typeface="Times New Roman"/>
                <a:ea typeface="Times New Roman"/>
                <a:cs typeface="Times New Roman"/>
                <a:sym typeface="Times New Roman"/>
              </a:rPr>
              <a:t>Develop pedagogical resources.</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7098f36590_0_106"/>
          <p:cNvSpPr txBox="1"/>
          <p:nvPr/>
        </p:nvSpPr>
        <p:spPr>
          <a:xfrm>
            <a:off x="115091" y="1695904"/>
            <a:ext cx="11802900" cy="38790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dk1"/>
              </a:buClr>
              <a:buSzPts val="3000"/>
              <a:buFont typeface="Arial"/>
              <a:buChar char="●"/>
            </a:pPr>
            <a:r>
              <a:rPr b="0" i="0" lang="en-US" sz="3000" u="none" cap="none" strike="noStrike">
                <a:solidFill>
                  <a:schemeClr val="dk1"/>
                </a:solidFill>
                <a:latin typeface="Times New Roman"/>
                <a:ea typeface="Times New Roman"/>
                <a:cs typeface="Times New Roman"/>
                <a:sym typeface="Times New Roman"/>
              </a:rPr>
              <a:t>Reinforcement of the interest for </a:t>
            </a:r>
            <a:r>
              <a:rPr b="1" i="0" lang="en-US" sz="3000" u="none" cap="none" strike="noStrike">
                <a:solidFill>
                  <a:srgbClr val="762BA8"/>
                </a:solidFill>
                <a:latin typeface="Times New Roman"/>
                <a:ea typeface="Times New Roman"/>
                <a:cs typeface="Times New Roman"/>
                <a:sym typeface="Times New Roman"/>
              </a:rPr>
              <a:t>earlier periods of European languages</a:t>
            </a:r>
            <a:r>
              <a:rPr b="1" i="0" lang="en-US" sz="3000" u="none" cap="none" strike="noStrike">
                <a:solidFill>
                  <a:srgbClr val="274E13"/>
                </a:solidFill>
                <a:latin typeface="Times New Roman"/>
                <a:ea typeface="Times New Roman"/>
                <a:cs typeface="Times New Roman"/>
                <a:sym typeface="Times New Roman"/>
              </a:rPr>
              <a:t> </a:t>
            </a:r>
            <a:r>
              <a:rPr b="0" i="0" lang="en-US" sz="3000" u="none" cap="none" strike="noStrike">
                <a:solidFill>
                  <a:schemeClr val="dk1"/>
                </a:solidFill>
                <a:latin typeface="Times New Roman"/>
                <a:ea typeface="Times New Roman"/>
                <a:cs typeface="Times New Roman"/>
                <a:sym typeface="Times New Roman"/>
              </a:rPr>
              <a:t>in a </a:t>
            </a:r>
            <a:r>
              <a:rPr b="1" i="0" lang="en-US" sz="3000" u="none" cap="none" strike="noStrike">
                <a:solidFill>
                  <a:srgbClr val="762BA8"/>
                </a:solidFill>
                <a:latin typeface="Times New Roman"/>
                <a:ea typeface="Times New Roman"/>
                <a:cs typeface="Times New Roman"/>
                <a:sym typeface="Times New Roman"/>
              </a:rPr>
              <a:t>comparative approach.</a:t>
            </a:r>
            <a:endParaRPr b="1" i="0" sz="3000" u="none" cap="none" strike="noStrike">
              <a:solidFill>
                <a:srgbClr val="762BA8"/>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000"/>
              <a:buFont typeface="Arial"/>
              <a:buNone/>
            </a:pPr>
            <a:r>
              <a:t/>
            </a:r>
            <a:endParaRPr b="1" i="0" sz="3000" u="none" cap="none" strike="noStrike">
              <a:solidFill>
                <a:srgbClr val="762BA8"/>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Arial"/>
              <a:buChar char="●"/>
            </a:pPr>
            <a:r>
              <a:rPr b="0" i="0" lang="en-US" sz="3000" u="none" cap="none" strike="noStrike">
                <a:solidFill>
                  <a:schemeClr val="dk1"/>
                </a:solidFill>
                <a:latin typeface="Times New Roman"/>
                <a:ea typeface="Times New Roman"/>
                <a:cs typeface="Times New Roman"/>
                <a:sym typeface="Times New Roman"/>
              </a:rPr>
              <a:t>Creation of a new interest for the </a:t>
            </a:r>
            <a:r>
              <a:rPr b="1" i="0" lang="en-US" sz="3000" u="none" cap="none" strike="noStrike">
                <a:solidFill>
                  <a:srgbClr val="762BA8"/>
                </a:solidFill>
                <a:latin typeface="Times New Roman"/>
                <a:ea typeface="Times New Roman"/>
                <a:cs typeface="Times New Roman"/>
                <a:sym typeface="Times New Roman"/>
              </a:rPr>
              <a:t>history of languages through modern methodology.</a:t>
            </a:r>
            <a:endParaRPr b="1" i="0" sz="3000" u="none" cap="none" strike="noStrike">
              <a:solidFill>
                <a:srgbClr val="9900FF"/>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dk1"/>
              </a:buClr>
              <a:buSzPts val="3000"/>
              <a:buFont typeface="Arial"/>
              <a:buChar char="●"/>
            </a:pPr>
            <a:r>
              <a:rPr b="0" i="0" lang="en-US" sz="3000" u="none" cap="none" strike="noStrike">
                <a:solidFill>
                  <a:schemeClr val="dk1"/>
                </a:solidFill>
                <a:latin typeface="Times New Roman"/>
                <a:ea typeface="Times New Roman"/>
                <a:cs typeface="Times New Roman"/>
                <a:sym typeface="Times New Roman"/>
              </a:rPr>
              <a:t>The result data collection will be </a:t>
            </a:r>
            <a:r>
              <a:rPr b="1" i="0" lang="en-US" sz="3000" u="none" cap="none" strike="noStrike">
                <a:solidFill>
                  <a:srgbClr val="762BA8"/>
                </a:solidFill>
                <a:latin typeface="Times New Roman"/>
                <a:ea typeface="Times New Roman"/>
                <a:cs typeface="Times New Roman"/>
                <a:sym typeface="Times New Roman"/>
              </a:rPr>
              <a:t>available online </a:t>
            </a:r>
            <a:r>
              <a:rPr b="0" i="0" lang="en-US" sz="3000" u="none" cap="none" strike="noStrike">
                <a:solidFill>
                  <a:schemeClr val="dk1"/>
                </a:solidFill>
                <a:latin typeface="Times New Roman"/>
                <a:ea typeface="Times New Roman"/>
                <a:cs typeface="Times New Roman"/>
                <a:sym typeface="Times New Roman"/>
              </a:rPr>
              <a:t> and will be used for</a:t>
            </a:r>
            <a:r>
              <a:rPr b="1" i="0" lang="en-US" sz="3000" u="none" cap="none" strike="noStrike">
                <a:solidFill>
                  <a:srgbClr val="274E13"/>
                </a:solidFill>
                <a:latin typeface="Times New Roman"/>
                <a:ea typeface="Times New Roman"/>
                <a:cs typeface="Times New Roman"/>
                <a:sym typeface="Times New Roman"/>
              </a:rPr>
              <a:t> </a:t>
            </a:r>
            <a:r>
              <a:rPr b="1" i="0" lang="en-US" sz="3000" u="none" cap="none" strike="noStrike">
                <a:solidFill>
                  <a:srgbClr val="762BA8"/>
                </a:solidFill>
                <a:latin typeface="Times New Roman"/>
                <a:ea typeface="Times New Roman"/>
                <a:cs typeface="Times New Roman"/>
                <a:sym typeface="Times New Roman"/>
              </a:rPr>
              <a:t>educational purposes.</a:t>
            </a:r>
            <a:endParaRPr b="1" i="0" sz="3000" u="none" cap="none" strike="noStrike">
              <a:solidFill>
                <a:schemeClr val="dk1"/>
              </a:solidFill>
              <a:latin typeface="Times New Roman"/>
              <a:ea typeface="Times New Roman"/>
              <a:cs typeface="Times New Roman"/>
              <a:sym typeface="Times New Roman"/>
            </a:endParaRPr>
          </a:p>
        </p:txBody>
      </p:sp>
      <p:sp>
        <p:nvSpPr>
          <p:cNvPr id="277" name="Google Shape;277;g37098f36590_0_106"/>
          <p:cNvSpPr txBox="1"/>
          <p:nvPr/>
        </p:nvSpPr>
        <p:spPr>
          <a:xfrm>
            <a:off x="0" y="0"/>
            <a:ext cx="12065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1" sz="4500">
              <a:solidFill>
                <a:srgbClr val="762BA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500"/>
              <a:buFont typeface="Arial"/>
              <a:buNone/>
            </a:pPr>
            <a:r>
              <a:rPr b="1" i="0" lang="en-US" sz="4500" u="none" cap="none" strike="noStrike">
                <a:solidFill>
                  <a:srgbClr val="762BA8"/>
                </a:solidFill>
                <a:latin typeface="Times New Roman"/>
                <a:ea typeface="Times New Roman"/>
                <a:cs typeface="Times New Roman"/>
                <a:sym typeface="Times New Roman"/>
              </a:rPr>
              <a:t>Significance for the whole community </a:t>
            </a:r>
            <a:endParaRPr b="1" i="0" sz="4500" u="none" cap="none" strike="noStrike">
              <a:solidFill>
                <a:srgbClr val="762BA8"/>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7098f36590_0_111"/>
          <p:cNvSpPr txBox="1"/>
          <p:nvPr>
            <p:ph type="title"/>
          </p:nvPr>
        </p:nvSpPr>
        <p:spPr>
          <a:xfrm>
            <a:off x="838200" y="681975"/>
            <a:ext cx="10515600" cy="13257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b="1" lang="en-US" sz="4000">
                <a:latin typeface="Times New Roman"/>
                <a:ea typeface="Times New Roman"/>
                <a:cs typeface="Times New Roman"/>
                <a:sym typeface="Times New Roman"/>
              </a:rPr>
              <a:t>A Corpus-based Valency Lexicon </a:t>
            </a:r>
            <a:endParaRPr b="1" sz="40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lang="en-US" sz="4000">
                <a:latin typeface="Times New Roman"/>
                <a:ea typeface="Times New Roman"/>
                <a:cs typeface="Times New Roman"/>
                <a:sym typeface="Times New Roman"/>
              </a:rPr>
              <a:t>for a Contrastive and Diachronic Study of Ancient &amp; Medieval Languages  </a:t>
            </a:r>
            <a:endParaRPr b="1" sz="40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i="1" lang="en-US" sz="4000">
                <a:latin typeface="Times New Roman"/>
                <a:ea typeface="Times New Roman"/>
                <a:cs typeface="Times New Roman"/>
                <a:sym typeface="Times New Roman"/>
              </a:rPr>
              <a:t>CVL-CDSAML</a:t>
            </a:r>
            <a:endParaRPr sz="4000"/>
          </a:p>
        </p:txBody>
      </p:sp>
      <p:pic>
        <p:nvPicPr>
          <p:cNvPr id="283" name="Google Shape;283;g37098f36590_0_111"/>
          <p:cNvPicPr preferRelativeResize="0"/>
          <p:nvPr/>
        </p:nvPicPr>
        <p:blipFill>
          <a:blip r:embed="rId3">
            <a:alphaModFix/>
          </a:blip>
          <a:stretch>
            <a:fillRect/>
          </a:stretch>
        </p:blipFill>
        <p:spPr>
          <a:xfrm>
            <a:off x="2006150" y="2764375"/>
            <a:ext cx="8179700" cy="3941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gradFill>
          <a:gsLst>
            <a:gs pos="0">
              <a:srgbClr val="E4C4EA"/>
            </a:gs>
            <a:gs pos="100000">
              <a:srgbClr val="B46AC0"/>
            </a:gs>
          </a:gsLst>
          <a:lin ang="5400012" scaled="0"/>
        </a:gradFill>
      </p:bgPr>
    </p:bg>
    <p:spTree>
      <p:nvGrpSpPr>
        <p:cNvPr id="287" name="Shape 287"/>
        <p:cNvGrpSpPr/>
        <p:nvPr/>
      </p:nvGrpSpPr>
      <p:grpSpPr>
        <a:xfrm>
          <a:off x="0" y="0"/>
          <a:ext cx="0" cy="0"/>
          <a:chOff x="0" y="0"/>
          <a:chExt cx="0" cy="0"/>
        </a:xfrm>
      </p:grpSpPr>
      <p:sp>
        <p:nvSpPr>
          <p:cNvPr id="288" name="Google Shape;288;g37098f36590_0_160"/>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g37098f36590_0_160"/>
          <p:cNvSpPr txBox="1"/>
          <p:nvPr/>
        </p:nvSpPr>
        <p:spPr>
          <a:xfrm>
            <a:off x="5109595" y="2055119"/>
            <a:ext cx="2157600" cy="415500"/>
          </a:xfrm>
          <a:prstGeom prst="rect">
            <a:avLst/>
          </a:prstGeom>
          <a:noFill/>
          <a:ln>
            <a:noFill/>
          </a:ln>
        </p:spPr>
        <p:txBody>
          <a:bodyPr anchorCtr="0" anchor="t" bIns="0" lIns="0" spcFirstLastPara="1" rIns="0" wrap="square" tIns="0">
            <a:spAutoFit/>
          </a:bodyPr>
          <a:lstStyle/>
          <a:p>
            <a:pPr indent="0" lvl="0" marL="0" marR="0" rtl="0" algn="l">
              <a:lnSpc>
                <a:spcPct val="111703"/>
              </a:lnSpc>
              <a:spcBef>
                <a:spcPts val="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
        <p:nvSpPr>
          <p:cNvPr id="290" name="Google Shape;290;g37098f36590_0_160"/>
          <p:cNvSpPr txBox="1"/>
          <p:nvPr/>
        </p:nvSpPr>
        <p:spPr>
          <a:xfrm>
            <a:off x="4876813" y="2857246"/>
            <a:ext cx="2622300" cy="231000"/>
          </a:xfrm>
          <a:prstGeom prst="rect">
            <a:avLst/>
          </a:prstGeom>
          <a:noFill/>
          <a:ln>
            <a:noFill/>
          </a:ln>
        </p:spPr>
        <p:txBody>
          <a:bodyPr anchorCtr="0" anchor="t" bIns="0" lIns="0" spcFirstLastPara="1" rIns="0" wrap="square" tIns="0">
            <a:spAutoFit/>
          </a:bodyPr>
          <a:lstStyle/>
          <a:p>
            <a:pPr indent="0" lvl="0" marL="0" marR="0" rtl="0" algn="l">
              <a:lnSpc>
                <a:spcPct val="111666"/>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Questions &amp; Discussion</a:t>
            </a:r>
            <a:endParaRPr b="0" i="0" sz="1400" u="none" cap="none" strike="noStrike">
              <a:solidFill>
                <a:srgbClr val="000000"/>
              </a:solidFill>
              <a:latin typeface="Arial"/>
              <a:ea typeface="Arial"/>
              <a:cs typeface="Arial"/>
              <a:sym typeface="Arial"/>
            </a:endParaRPr>
          </a:p>
        </p:txBody>
      </p:sp>
      <p:sp>
        <p:nvSpPr>
          <p:cNvPr id="291" name="Google Shape;291;g37098f36590_0_160"/>
          <p:cNvSpPr txBox="1"/>
          <p:nvPr/>
        </p:nvSpPr>
        <p:spPr>
          <a:xfrm>
            <a:off x="4409480" y="3708217"/>
            <a:ext cx="3557100" cy="207900"/>
          </a:xfrm>
          <a:prstGeom prst="rect">
            <a:avLst/>
          </a:prstGeom>
          <a:noFill/>
          <a:ln>
            <a:noFill/>
          </a:ln>
        </p:spPr>
        <p:txBody>
          <a:bodyPr anchorCtr="0" anchor="t" bIns="0" lIns="0" spcFirstLastPara="1" rIns="0" wrap="square" tIns="0">
            <a:spAutoFit/>
          </a:bodyPr>
          <a:lstStyle/>
          <a:p>
            <a:pPr indent="0" lvl="0" marL="0" marR="0" rtl="0" algn="l">
              <a:lnSpc>
                <a:spcPct val="111185"/>
              </a:lnSpc>
              <a:spcBef>
                <a:spcPts val="0"/>
              </a:spcBef>
              <a:spcAft>
                <a:spcPts val="0"/>
              </a:spcAft>
              <a:buClr>
                <a:srgbClr val="000000"/>
              </a:buClr>
              <a:buSzPts val="1350"/>
              <a:buFont typeface="Arial"/>
              <a:buNone/>
            </a:pPr>
            <a:r>
              <a:rPr b="0" i="0" lang="en-US" sz="1350" u="none" cap="none" strike="noStrike">
                <a:solidFill>
                  <a:srgbClr val="1A5490"/>
                </a:solidFill>
                <a:latin typeface="Arial"/>
                <a:ea typeface="Arial"/>
                <a:cs typeface="Arial"/>
                <a:sym typeface="Arial"/>
              </a:rPr>
              <a:t>DiaLingAthens / University of Athens</a:t>
            </a:r>
            <a:endParaRPr b="0" i="0" sz="1400" u="none" cap="none" strike="noStrike">
              <a:solidFill>
                <a:srgbClr val="000000"/>
              </a:solidFill>
              <a:latin typeface="Arial"/>
              <a:ea typeface="Arial"/>
              <a:cs typeface="Arial"/>
              <a:sym typeface="Arial"/>
            </a:endParaRPr>
          </a:p>
        </p:txBody>
      </p:sp>
      <p:sp>
        <p:nvSpPr>
          <p:cNvPr id="292" name="Google Shape;292;g37098f36590_0_160"/>
          <p:cNvSpPr txBox="1"/>
          <p:nvPr/>
        </p:nvSpPr>
        <p:spPr>
          <a:xfrm>
            <a:off x="3838696" y="3950235"/>
            <a:ext cx="4699200" cy="207900"/>
          </a:xfrm>
          <a:prstGeom prst="rect">
            <a:avLst/>
          </a:prstGeom>
          <a:noFill/>
          <a:ln>
            <a:noFill/>
          </a:ln>
        </p:spPr>
        <p:txBody>
          <a:bodyPr anchorCtr="0" anchor="t" bIns="0" lIns="0" spcFirstLastPara="1" rIns="0" wrap="square" tIns="0">
            <a:spAutoFit/>
          </a:bodyPr>
          <a:lstStyle/>
          <a:p>
            <a:pPr indent="0" lvl="0" marL="0" marR="0" rtl="0" algn="l">
              <a:lnSpc>
                <a:spcPct val="111185"/>
              </a:lnSpc>
              <a:spcBef>
                <a:spcPts val="0"/>
              </a:spcBef>
              <a:spcAft>
                <a:spcPts val="0"/>
              </a:spcAft>
              <a:buClr>
                <a:srgbClr val="000000"/>
              </a:buClr>
              <a:buSzPts val="1350"/>
              <a:buFont typeface="Arial"/>
              <a:buNone/>
            </a:pPr>
            <a:r>
              <a:rPr b="0" i="0" lang="en-US" sz="1350" u="none" cap="none" strike="noStrike">
                <a:solidFill>
                  <a:srgbClr val="000000"/>
                </a:solidFill>
                <a:latin typeface="Arial"/>
                <a:ea typeface="Arial"/>
                <a:cs typeface="Arial"/>
                <a:sym typeface="Arial"/>
              </a:rPr>
              <a:t>HFRI Project on Diachronic Corpora and Valency</a:t>
            </a:r>
            <a:endParaRPr b="0" i="0" sz="1400" u="none" cap="none" strike="noStrike">
              <a:solidFill>
                <a:srgbClr val="000000"/>
              </a:solidFill>
              <a:latin typeface="Arial"/>
              <a:ea typeface="Arial"/>
              <a:cs typeface="Arial"/>
              <a:sym typeface="Arial"/>
            </a:endParaRPr>
          </a:p>
        </p:txBody>
      </p:sp>
      <p:sp>
        <p:nvSpPr>
          <p:cNvPr id="293" name="Google Shape;293;g37098f36590_0_160"/>
          <p:cNvSpPr txBox="1"/>
          <p:nvPr/>
        </p:nvSpPr>
        <p:spPr>
          <a:xfrm>
            <a:off x="4860247" y="4277044"/>
            <a:ext cx="2657100" cy="523200"/>
          </a:xfrm>
          <a:prstGeom prst="rect">
            <a:avLst/>
          </a:prstGeom>
          <a:noFill/>
          <a:ln>
            <a:noFill/>
          </a:ln>
        </p:spPr>
        <p:txBody>
          <a:bodyPr anchorCtr="0" anchor="t" bIns="0" lIns="0" spcFirstLastPara="1" rIns="0" wrap="square" tIns="0">
            <a:spAutoFit/>
          </a:bodyPr>
          <a:lstStyle/>
          <a:p>
            <a:pPr indent="0" lvl="0" marL="0" marR="0" rtl="0" algn="l">
              <a:lnSpc>
                <a:spcPct val="111185"/>
              </a:lnSpc>
              <a:spcBef>
                <a:spcPts val="0"/>
              </a:spcBef>
              <a:spcAft>
                <a:spcPts val="0"/>
              </a:spcAft>
              <a:buClr>
                <a:srgbClr val="000000"/>
              </a:buClr>
              <a:buSzPts val="1350"/>
              <a:buFont typeface="Arial"/>
              <a:buNone/>
            </a:pPr>
            <a:r>
              <a:rPr b="0" i="0" lang="en-US" sz="1350" u="none" cap="none" strike="noStrike">
                <a:solidFill>
                  <a:srgbClr val="1A5490"/>
                </a:solidFill>
                <a:latin typeface="Arial"/>
                <a:ea typeface="Arial"/>
                <a:cs typeface="Arial"/>
                <a:sym typeface="Arial"/>
              </a:rPr>
              <a:t>Center for Hellenic Studies</a:t>
            </a:r>
            <a:endParaRPr b="0" i="0" sz="1400" u="none" cap="none" strike="noStrike">
              <a:solidFill>
                <a:srgbClr val="000000"/>
              </a:solidFill>
              <a:latin typeface="Arial"/>
              <a:ea typeface="Arial"/>
              <a:cs typeface="Arial"/>
              <a:sym typeface="Arial"/>
            </a:endParaRPr>
          </a:p>
          <a:p>
            <a:pPr indent="0" lvl="0" marL="313959" marR="0" rtl="0" algn="l">
              <a:lnSpc>
                <a:spcPct val="111185"/>
              </a:lnSpc>
              <a:spcBef>
                <a:spcPts val="658"/>
              </a:spcBef>
              <a:spcAft>
                <a:spcPts val="0"/>
              </a:spcAft>
              <a:buClr>
                <a:srgbClr val="000000"/>
              </a:buClr>
              <a:buSzPts val="1350"/>
              <a:buFont typeface="Arial"/>
              <a:buNone/>
            </a:pPr>
            <a:r>
              <a:rPr b="0" i="0" lang="en-US" sz="1350" u="none" cap="none" strike="noStrike">
                <a:solidFill>
                  <a:srgbClr val="000000"/>
                </a:solidFill>
                <a:latin typeface="Arial"/>
                <a:ea typeface="Arial"/>
                <a:cs typeface="Arial"/>
                <a:sym typeface="Arial"/>
              </a:rPr>
              <a:t>Harvard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2025-07-18T17:01:36Z</dcterms:created>
  <dc:creator>Eleni P</dc:creator>
</cp:coreProperties>
</file>