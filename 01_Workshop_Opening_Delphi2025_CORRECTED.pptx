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7F5"/>
        </a:solidFill>
      </p:bgPr>
    </p:bg>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algn="ctr" indent="0" marL="0">
              <a:buNone/>
            </a:pPr>
            <a:r>
              <a:rPr lang="en-US" sz="5500" b="1" dirty="0">
                <a:solidFill>
                  <a:srgbClr val="1A5490"/>
                </a:solidFill>
              </a:rPr>
              <a:t>Corpora and Diachrony</a:t>
            </a:r>
            <a:endParaRPr lang="en-US" sz="4400" dirty="0"/>
          </a:p>
        </p:txBody>
      </p:sp>
      <p:sp>
        <p:nvSpPr>
          <p:cNvPr id="3" name="Text 1"/>
          <p:cNvSpPr/>
          <p:nvPr/>
        </p:nvSpPr>
        <p:spPr>
          <a:xfrm>
            <a:off x="457200" y="2286000"/>
            <a:ext cx="8229600" cy="457200"/>
          </a:xfrm>
          <a:prstGeom prst="rect">
            <a:avLst/>
          </a:prstGeom>
          <a:noFill/>
          <a:ln/>
        </p:spPr>
        <p:txBody>
          <a:bodyPr wrap="square" rtlCol="0" anchor="ctr"/>
          <a:lstStyle/>
          <a:p>
            <a:pPr algn="ctr" indent="0" marL="0">
              <a:buNone/>
            </a:pPr>
            <a:r>
              <a:rPr lang="en-US" sz="3000" dirty="0">
                <a:solidFill>
                  <a:srgbClr val="8B6914"/>
                </a:solidFill>
              </a:rPr>
              <a:t>Influential Texts, Text Types and Genres</a:t>
            </a:r>
            <a:endParaRPr lang="en-US" sz="2400" dirty="0"/>
          </a:p>
        </p:txBody>
      </p:sp>
      <p:sp>
        <p:nvSpPr>
          <p:cNvPr id="4" name="Text 2"/>
          <p:cNvSpPr/>
          <p:nvPr/>
        </p:nvSpPr>
        <p:spPr>
          <a:xfrm>
            <a:off x="457200" y="3474720"/>
            <a:ext cx="8229600" cy="457200"/>
          </a:xfrm>
          <a:prstGeom prst="rect">
            <a:avLst/>
          </a:prstGeom>
          <a:noFill/>
          <a:ln/>
        </p:spPr>
        <p:txBody>
          <a:bodyPr wrap="square" rtlCol="0" anchor="ctr"/>
          <a:lstStyle/>
          <a:p>
            <a:pPr algn="ctr" indent="0" marL="0">
              <a:buNone/>
            </a:pPr>
            <a:r>
              <a:rPr lang="en-US" sz="2200" b="1" dirty="0">
                <a:solidFill>
                  <a:srgbClr val="1A5490"/>
                </a:solidFill>
              </a:rPr>
              <a:t>Workshop Opening</a:t>
            </a:r>
            <a:endParaRPr lang="en-US" sz="1800" dirty="0"/>
          </a:p>
        </p:txBody>
      </p:sp>
      <p:sp>
        <p:nvSpPr>
          <p:cNvPr id="5" name="Text 3"/>
          <p:cNvSpPr/>
          <p:nvPr/>
        </p:nvSpPr>
        <p:spPr>
          <a:xfrm>
            <a:off x="457200" y="3931920"/>
            <a:ext cx="8229600" cy="457200"/>
          </a:xfrm>
          <a:prstGeom prst="rect">
            <a:avLst/>
          </a:prstGeom>
          <a:noFill/>
          <a:ln/>
        </p:spPr>
        <p:txBody>
          <a:bodyPr wrap="square" rtlCol="0" anchor="ctr"/>
          <a:lstStyle/>
          <a:p>
            <a:pPr algn="ctr" indent="0" marL="0">
              <a:buNone/>
            </a:pPr>
            <a:r>
              <a:rPr lang="en-US" sz="1800" dirty="0">
                <a:solidFill>
                  <a:srgbClr val="6B6B6B"/>
                </a:solidFill>
              </a:rPr>
              <a:t>Delphi, Greece • November 26-29, 2025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5490"/>
                </a:solidFill>
              </a:rPr>
              <a:t>Welcome to Ancient Delphi</a:t>
            </a:r>
            <a:endParaRPr lang="en-US" sz="3200" dirty="0"/>
          </a:p>
        </p:txBody>
      </p:sp>
      <p:sp>
        <p:nvSpPr>
          <p:cNvPr id="3" name="Text 1"/>
          <p:cNvSpPr/>
          <p:nvPr/>
        </p:nvSpPr>
        <p:spPr>
          <a:xfrm>
            <a:off x="457200" y="1097280"/>
            <a:ext cx="8229600" cy="457200"/>
          </a:xfrm>
          <a:prstGeom prst="rect">
            <a:avLst/>
          </a:prstGeom>
          <a:noFill/>
          <a:ln/>
        </p:spPr>
        <p:txBody>
          <a:bodyPr wrap="square" rtlCol="0" anchor="ctr"/>
          <a:lstStyle/>
          <a:p>
            <a:pPr indent="0" marL="0">
              <a:buNone/>
            </a:pPr>
            <a:r>
              <a:rPr lang="en-US" sz="2500" b="1" dirty="0">
                <a:solidFill>
                  <a:srgbClr val="8B6914"/>
                </a:solidFill>
              </a:rPr>
              <a:t>The Sacred Center of Wisdom</a:t>
            </a:r>
            <a:endParaRPr lang="en-US" sz="2000" dirty="0"/>
          </a:p>
        </p:txBody>
      </p:sp>
      <p:sp>
        <p:nvSpPr>
          <p:cNvPr id="4" name="Text 2"/>
          <p:cNvSpPr/>
          <p:nvPr/>
        </p:nvSpPr>
        <p:spPr>
          <a:xfrm>
            <a:off x="457200" y="1828800"/>
            <a:ext cx="8229600" cy="731520"/>
          </a:xfrm>
          <a:prstGeom prst="rect">
            <a:avLst/>
          </a:prstGeom>
          <a:noFill/>
          <a:ln/>
        </p:spPr>
        <p:txBody>
          <a:bodyPr wrap="square" rtlCol="0" anchor="ctr"/>
          <a:lstStyle/>
          <a:p>
            <a:pPr indent="0" marL="0">
              <a:buNone/>
            </a:pPr>
            <a:r>
              <a:rPr lang="en-US" sz="1800" dirty="0">
                <a:solidFill>
                  <a:srgbClr val="000000"/>
                </a:solidFill>
              </a:rPr>
              <a:t>We gather at the heart of the ancient world, where prophecy met philosophy, to explore how languages transform across millennia.</a:t>
            </a:r>
            <a:endParaRPr lang="en-US" sz="1400" dirty="0"/>
          </a:p>
        </p:txBody>
      </p:sp>
      <p:sp>
        <p:nvSpPr>
          <p:cNvPr id="5" name="Text 3"/>
          <p:cNvSpPr/>
          <p:nvPr/>
        </p:nvSpPr>
        <p:spPr>
          <a:xfrm>
            <a:off x="457200" y="2743200"/>
            <a:ext cx="8229600" cy="457200"/>
          </a:xfrm>
          <a:prstGeom prst="rect">
            <a:avLst/>
          </a:prstGeom>
          <a:noFill/>
          <a:ln/>
        </p:spPr>
        <p:txBody>
          <a:bodyPr wrap="square" rtlCol="0" anchor="ctr"/>
          <a:lstStyle/>
          <a:p>
            <a:pPr indent="0" marL="0">
              <a:buNone/>
            </a:pPr>
            <a:r>
              <a:rPr lang="en-US" sz="2000" b="1" dirty="0">
                <a:solidFill>
                  <a:srgbClr val="1A5490"/>
                </a:solidFill>
              </a:rPr>
              <a:t>Four Days of Intensive Exploration:</a:t>
            </a:r>
            <a:endParaRPr lang="en-US" sz="1600" dirty="0"/>
          </a:p>
        </p:txBody>
      </p:sp>
      <p:sp>
        <p:nvSpPr>
          <p:cNvPr id="6" name="Text 4"/>
          <p:cNvSpPr/>
          <p:nvPr/>
        </p:nvSpPr>
        <p:spPr>
          <a:xfrm>
            <a:off x="914400" y="3200400"/>
            <a:ext cx="7315200" cy="1371600"/>
          </a:xfrm>
          <a:prstGeom prst="rect">
            <a:avLst/>
          </a:prstGeom>
          <a:noFill/>
          <a:ln/>
        </p:spPr>
        <p:txBody>
          <a:bodyPr wrap="square" rtlCol="0" anchor="ctr"/>
          <a:lstStyle/>
          <a:p>
            <a:pPr indent="0" marL="0">
              <a:buNone/>
            </a:pPr>
            <a:r>
              <a:rPr lang="en-US" sz="1800" dirty="0">
                <a:solidFill>
                  <a:srgbClr val="000000"/>
                </a:solidFill>
              </a:rPr>
              <a:t>• Corpus-based valency lexica development</a:t>
            </a:r>
            <a:endParaRPr lang="en-US" sz="1300" dirty="0"/>
          </a:p>
          <a:p>
            <a:pPr indent="0" marL="0">
              <a:buNone/>
            </a:pPr>
            <a:r>
              <a:rPr lang="en-US" sz="1800" dirty="0">
                <a:solidFill>
                  <a:srgbClr val="000000"/>
                </a:solidFill>
              </a:rPr>
              <a:t>• Computational methods meet philological-linguistic expertise</a:t>
            </a:r>
            <a:endParaRPr lang="en-US" sz="1300" dirty="0"/>
          </a:p>
          <a:p>
            <a:pPr indent="0" marL="0">
              <a:buNone/>
            </a:pPr>
            <a:r>
              <a:rPr lang="en-US" sz="1800" dirty="0">
                <a:solidFill>
                  <a:srgbClr val="000000"/>
                </a:solidFill>
              </a:rPr>
              <a:t>• Language change patterns across 3,000 years</a:t>
            </a:r>
            <a:endParaRPr lang="en-US" sz="1300" dirty="0"/>
          </a:p>
          <a:p>
            <a:pPr indent="0" marL="0">
              <a:buNone/>
            </a:pPr>
            <a:r>
              <a:rPr lang="en-US" sz="1800" dirty="0">
                <a:solidFill>
                  <a:srgbClr val="000000"/>
                </a:solidFill>
              </a:rPr>
              <a:t>• Collaborative research initiatives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sz="2000"/>
              <a:t>Our Organizing Committee
Nikolaos Lavidas - Principal Investigator
Kiki Nikiforidou - Co-Investigator
Vassiliki Geka
Vassilios Symeonidis
Sofia Chionidi
Anastasia Tsiropina
Eleni Plakoutsi
Theodoros Michalareas
Together, we're building bridges between computational innovation and the philological-linguistic tradition</a:t>
            </a:r>
            <a:endParaRPr lang="en-US" sz="3200" dirty="0"/>
          </a:p>
        </p:txBody>
      </p:sp>
      <p:sp>
        <p:nvSpPr>
          <p:cNvPr id="3" name="Text 1"/>
          <p:cNvSpPr/>
          <p:nvPr/>
        </p:nvSpPr>
        <p:spPr>
          <a:xfrm>
            <a:off x="457200" y="1188720"/>
            <a:ext cx="3657600" cy="457200"/>
          </a:xfrm>
          <a:prstGeom prst="rect">
            <a:avLst/>
          </a:prstGeom>
          <a:noFill/>
          <a:ln/>
        </p:spPr>
        <p:txBody>
          <a:bodyPr wrap="square" rtlCol="0" anchor="ctr"/>
          <a:lstStyle/>
          <a:p/>
        </p:txBody>
      </p:sp>
      <p:sp>
        <p:nvSpPr>
          <p:cNvPr id="4" name="Text 2"/>
          <p:cNvSpPr/>
          <p:nvPr/>
        </p:nvSpPr>
        <p:spPr>
          <a:xfrm>
            <a:off x="457200" y="1645920"/>
            <a:ext cx="3657600" cy="731520"/>
          </a:xfrm>
          <a:prstGeom prst="rect">
            <a:avLst/>
          </a:prstGeom>
          <a:noFill/>
          <a:ln/>
        </p:spPr>
        <p:txBody>
          <a:bodyPr wrap="square" rtlCol="0" anchor="ctr"/>
          <a:lstStyle/>
          <a:p>
            <a:pPr indent="0" marL="0">
              <a:buNone/>
            </a:pPr>
            <a:r>
              <a:rPr lang="en-US" sz="1800" dirty="0">
                <a:solidFill>
                  <a:srgbClr val="000000"/>
                </a:solidFill>
              </a:rPr>
              <a:t>Nikolaos Lavidas - Principal Investigator</a:t>
            </a:r>
            <a:endParaRPr lang="en-US" sz="1300" dirty="0"/>
          </a:p>
          <a:p>
            <a:pPr indent="0" marL="0">
              <a:buNone/>
            </a:pPr>
            <a:r>
              <a:rPr lang="en-US" sz="1800" dirty="0">
                <a:solidFill>
                  <a:srgbClr val="000000"/>
                </a:solidFill>
              </a:rPr>
              <a:t>Kiki Nikiforidou - Co-Investigator</a:t>
            </a:r>
            <a:endParaRPr lang="en-US" sz="1300" dirty="0"/>
          </a:p>
        </p:txBody>
      </p:sp>
      <p:sp>
        <p:nvSpPr>
          <p:cNvPr id="5" name="Text 3"/>
          <p:cNvSpPr/>
          <p:nvPr/>
        </p:nvSpPr>
        <p:spPr>
          <a:xfrm>
            <a:off x="4572000" y="1188720"/>
            <a:ext cx="3657600" cy="457200"/>
          </a:xfrm>
          <a:prstGeom prst="rect">
            <a:avLst/>
          </a:prstGeom>
          <a:noFill/>
          <a:ln/>
        </p:spPr>
        <p:txBody>
          <a:bodyPr wrap="square" rtlCol="0" anchor="ctr"/>
          <a:lstStyle/>
          <a:p/>
        </p:txBody>
      </p:sp>
      <p:sp>
        <p:nvSpPr>
          <p:cNvPr id="6" name="Text 4"/>
          <p:cNvSpPr/>
          <p:nvPr/>
        </p:nvSpPr>
        <p:spPr>
          <a:xfrm>
            <a:off x="4572000" y="1645920"/>
            <a:ext cx="3657600" cy="731520"/>
          </a:xfrm>
          <a:prstGeom prst="rect">
            <a:avLst/>
          </a:prstGeom>
          <a:noFill/>
          <a:ln/>
        </p:spPr>
        <p:txBody>
          <a:bodyPr wrap="square" rtlCol="0" anchor="ctr"/>
          <a:lstStyle/>
          <a:p>
            <a:pPr indent="0" marL="0">
              <a:buNone/>
            </a:pPr>
            <a:r>
              <a:rPr lang="en-US" sz="1800" dirty="0">
                <a:solidFill>
                  <a:srgbClr val="000000"/>
                </a:solidFill>
              </a:rPr>
              <a:t>Vassiliki Geka</a:t>
            </a:r>
            <a:endParaRPr lang="en-US" sz="1300" dirty="0"/>
          </a:p>
          <a:p>
            <a:pPr indent="0" marL="0">
              <a:buNone/>
            </a:pPr>
            <a:r>
              <a:rPr lang="en-US" sz="1800" dirty="0">
                <a:solidFill>
                  <a:srgbClr val="000000"/>
                </a:solidFill>
              </a:rPr>
              <a:t>Vassilios Symeonidis</a:t>
            </a:r>
            <a:endParaRPr lang="en-US" sz="1300" dirty="0"/>
          </a:p>
        </p:txBody>
      </p:sp>
      <p:sp>
        <p:nvSpPr>
          <p:cNvPr id="7" name="Text 5"/>
          <p:cNvSpPr/>
          <p:nvPr/>
        </p:nvSpPr>
        <p:spPr>
          <a:xfrm>
            <a:off x="457200" y="2743200"/>
            <a:ext cx="8229600" cy="457200"/>
          </a:xfrm>
          <a:prstGeom prst="rect">
            <a:avLst/>
          </a:prstGeom>
          <a:noFill/>
          <a:ln/>
        </p:spPr>
        <p:txBody>
          <a:bodyPr wrap="square" rtlCol="0" anchor="ctr"/>
          <a:lstStyle/>
          <a:p>
            <a:pPr indent="0" marL="0">
              <a:buNone/>
            </a:pPr>
            <a:r>
              <a:rPr lang="en-US" sz="2200" b="1" dirty="0">
                <a:solidFill>
                  <a:srgbClr val="8B6914"/>
                </a:solidFill>
              </a:rPr>
              <a:t>Research Associates</a:t>
            </a:r>
            <a:endParaRPr lang="en-US" sz="1800" dirty="0"/>
          </a:p>
        </p:txBody>
      </p:sp>
      <p:sp>
        <p:nvSpPr>
          <p:cNvPr id="8" name="Text 6"/>
          <p:cNvSpPr/>
          <p:nvPr/>
        </p:nvSpPr>
        <p:spPr>
          <a:xfrm>
            <a:off x="457200" y="3200400"/>
            <a:ext cx="8229600" cy="457200"/>
          </a:xfrm>
          <a:prstGeom prst="rect">
            <a:avLst/>
          </a:prstGeom>
          <a:noFill/>
          <a:ln/>
        </p:spPr>
        <p:txBody>
          <a:bodyPr wrap="square" rtlCol="0" anchor="ctr"/>
          <a:lstStyle/>
          <a:p>
            <a:pPr algn="ctr" indent="0" marL="0">
              <a:buNone/>
            </a:pPr>
            <a:r>
              <a:rPr lang="en-US" sz="1800" dirty="0">
                <a:solidFill>
                  <a:srgbClr val="000000"/>
                </a:solidFill>
              </a:rPr>
              <a:t>Sofia Chionidi • Anastasia Tsiropina • Eleni Plakoutsi • Theodoros Michalareas</a:t>
            </a:r>
            <a:endParaRPr lang="en-US" sz="1300" dirty="0"/>
          </a:p>
        </p:txBody>
      </p:sp>
      <p:sp>
        <p:nvSpPr>
          <p:cNvPr id="9" name="Text 7"/>
          <p:cNvSpPr/>
          <p:nvPr/>
        </p:nvSpPr>
        <p:spPr>
          <a:xfrm>
            <a:off x="457200" y="4114800"/>
            <a:ext cx="8229600" cy="457200"/>
          </a:xfrm>
          <a:prstGeom prst="rect">
            <a:avLst/>
          </a:prstGeom>
          <a:noFill/>
          <a:ln/>
        </p:spPr>
        <p:txBody>
          <a:bodyPr wrap="square" rtlCol="0" anchor="ctr"/>
          <a:lstStyle/>
          <a:p>
            <a:pPr algn="ctr" indent="0" marL="0">
              <a:buNone/>
            </a:pPr>
            <a:r>
              <a:rPr lang="en-US" sz="1800" i="1" dirty="0">
                <a:solidFill>
                  <a:srgbClr val="6B6B6B"/>
                </a:solidFill>
              </a:rPr>
              <a:t>Together, we're building bridges between computational innovation and philological-linguistic tradition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5490"/>
                </a:solidFill>
              </a:rPr>
              <a:t>Our Vision: Bridging Millennia</a:t>
            </a:r>
            <a:endParaRPr lang="en-US" sz="3200" dirty="0"/>
          </a:p>
        </p:txBody>
      </p:sp>
      <p:sp>
        <p:nvSpPr>
          <p:cNvPr id="3" name="Text 1"/>
          <p:cNvSpPr/>
          <p:nvPr/>
        </p:nvSpPr>
        <p:spPr>
          <a:xfrm>
            <a:off x="457200" y="1097280"/>
            <a:ext cx="8229600" cy="731520"/>
          </a:xfrm>
          <a:prstGeom prst="rect">
            <a:avLst/>
          </a:prstGeom>
          <a:noFill/>
          <a:ln/>
        </p:spPr>
        <p:txBody>
          <a:bodyPr wrap="square" rtlCol="0" anchor="ctr"/>
          <a:lstStyle/>
          <a:p>
            <a:pPr algn="ctr" indent="0" marL="0">
              <a:buNone/>
            </a:pPr>
            <a:r>
              <a:rPr lang="en-US" sz="1800" dirty="0">
                <a:solidFill>
                  <a:srgbClr val="1A1A1A"/>
                </a:solidFill>
              </a:rPr>
              <a:t>Developing corpus-based valency lexica for ancient and medieval languages through innovative computational methods integrated with traditional expertise</a:t>
            </a:r>
            <a:endParaRPr lang="en-US" sz="1400" dirty="0"/>
          </a:p>
        </p:txBody>
      </p:sp>
      <p:sp>
        <p:nvSpPr>
          <p:cNvPr id="4" name="Text 2"/>
          <p:cNvSpPr/>
          <p:nvPr/>
        </p:nvSpPr>
        <p:spPr>
          <a:xfrm>
            <a:off x="457200" y="2103120"/>
            <a:ext cx="8229600" cy="457200"/>
          </a:xfrm>
          <a:prstGeom prst="rect">
            <a:avLst/>
          </a:prstGeom>
          <a:noFill/>
          <a:ln/>
        </p:spPr>
        <p:txBody>
          <a:bodyPr wrap="square" rtlCol="0" anchor="ctr"/>
          <a:lstStyle/>
          <a:p>
            <a:pPr algn="ctr" indent="0" marL="0">
              <a:buNone/>
            </a:pPr>
            <a:r>
              <a:rPr lang="en-US" sz="2200" b="1" dirty="0">
                <a:solidFill>
                  <a:srgbClr val="8B6914"/>
                </a:solidFill>
              </a:rPr>
              <a:t>Ancient → Medieval → Modern</a:t>
            </a:r>
            <a:endParaRPr lang="en-US" sz="1800" dirty="0"/>
          </a:p>
        </p:txBody>
      </p:sp>
      <p:sp>
        <p:nvSpPr>
          <p:cNvPr id="5" name="Text 3"/>
          <p:cNvSpPr/>
          <p:nvPr/>
        </p:nvSpPr>
        <p:spPr>
          <a:xfrm>
            <a:off x="457200" y="2743200"/>
            <a:ext cx="8229600" cy="365760"/>
          </a:xfrm>
          <a:prstGeom prst="rect">
            <a:avLst/>
          </a:prstGeom>
          <a:noFill/>
          <a:ln/>
        </p:spPr>
        <p:txBody>
          <a:bodyPr wrap="square" rtlCol="0" anchor="ctr"/>
          <a:lstStyle/>
          <a:p>
            <a:pPr indent="0" marL="0">
              <a:buNone/>
            </a:pPr>
            <a:r>
              <a:rPr lang="en-US" sz="2000" b="1" dirty="0">
                <a:solidFill>
                  <a:srgbClr val="2E7D32"/>
                </a:solidFill>
              </a:rPr>
              <a:t>Core Objectives:</a:t>
            </a:r>
            <a:endParaRPr lang="en-US" sz="1600" dirty="0"/>
          </a:p>
        </p:txBody>
      </p:sp>
      <p:sp>
        <p:nvSpPr>
          <p:cNvPr id="6" name="Text 4"/>
          <p:cNvSpPr/>
          <p:nvPr/>
        </p:nvSpPr>
        <p:spPr>
          <a:xfrm>
            <a:off x="914400" y="3200400"/>
            <a:ext cx="7315200" cy="914400"/>
          </a:xfrm>
          <a:prstGeom prst="rect">
            <a:avLst/>
          </a:prstGeom>
          <a:noFill/>
          <a:ln/>
        </p:spPr>
        <p:txBody>
          <a:bodyPr wrap="square" rtlCol="0" anchor="ctr"/>
          <a:lstStyle/>
          <a:p>
            <a:pPr indent="0" marL="0">
              <a:buNone/>
            </a:pPr>
            <a:r>
              <a:rPr lang="en-US" sz="1800" dirty="0">
                <a:solidFill>
                  <a:srgbClr val="000000"/>
                </a:solidFill>
              </a:rPr>
              <a:t>• Track argument structure transformations</a:t>
            </a:r>
            <a:endParaRPr lang="en-US" sz="1300" dirty="0"/>
          </a:p>
          <a:p>
            <a:pPr indent="0" marL="0">
              <a:buNone/>
            </a:pPr>
            <a:r>
              <a:rPr lang="en-US" sz="1800" dirty="0">
                <a:solidFill>
                  <a:srgbClr val="000000"/>
                </a:solidFill>
              </a:rPr>
              <a:t>• Map contact-induced changes</a:t>
            </a:r>
            <a:endParaRPr lang="en-US" sz="1300" dirty="0"/>
          </a:p>
          <a:p>
            <a:pPr indent="0" marL="0">
              <a:buNone/>
            </a:pPr>
            <a:r>
              <a:rPr lang="en-US" sz="1800" dirty="0">
                <a:solidFill>
                  <a:srgbClr val="000000"/>
                </a:solidFill>
              </a:rPr>
              <a:t>• Build open-access resources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5490"/>
                </a:solidFill>
              </a:rPr>
              <a:t>Four Days of Discovery: Workshop Structure</a:t>
            </a:r>
            <a:endParaRPr lang="en-US" sz="3200" dirty="0"/>
          </a:p>
        </p:txBody>
      </p:sp>
      <p:sp>
        <p:nvSpPr>
          <p:cNvPr id="3" name="Text 1"/>
          <p:cNvSpPr/>
          <p:nvPr/>
        </p:nvSpPr>
        <p:spPr>
          <a:xfrm>
            <a:off x="457200" y="1188720"/>
            <a:ext cx="3657600" cy="365760"/>
          </a:xfrm>
          <a:prstGeom prst="rect">
            <a:avLst/>
          </a:prstGeom>
          <a:noFill/>
          <a:ln/>
        </p:spPr>
        <p:txBody>
          <a:bodyPr wrap="square" rtlCol="0" anchor="ctr"/>
          <a:lstStyle/>
          <a:p>
            <a:pPr indent="0" marL="0">
              <a:buNone/>
            </a:pPr>
            <a:r>
              <a:rPr lang="en-US" sz="1800" b="1" dirty="0">
                <a:solidFill>
                  <a:srgbClr val="8B6914"/>
                </a:solidFill>
              </a:rPr>
              <a:t>Day 1 - Nov 26: Foundations</a:t>
            </a:r>
            <a:endParaRPr lang="en-US" sz="1400" dirty="0"/>
          </a:p>
        </p:txBody>
      </p:sp>
      <p:sp>
        <p:nvSpPr>
          <p:cNvPr id="4" name="Text 2"/>
          <p:cNvSpPr/>
          <p:nvPr/>
        </p:nvSpPr>
        <p:spPr>
          <a:xfrm>
            <a:off x="457200" y="1554480"/>
            <a:ext cx="3657600" cy="548640"/>
          </a:xfrm>
          <a:prstGeom prst="rect">
            <a:avLst/>
          </a:prstGeom>
          <a:noFill/>
          <a:ln/>
        </p:spPr>
        <p:txBody>
          <a:bodyPr wrap="square" rtlCol="0" anchor="ctr"/>
          <a:lstStyle/>
          <a:p>
            <a:pPr indent="0" marL="0">
              <a:buNone/>
            </a:pPr>
            <a:r>
              <a:rPr lang="en-US" sz="1800" dirty="0">
                <a:solidFill>
                  <a:srgbClr val="000000"/>
                </a:solidFill>
              </a:rPr>
              <a:t>Opening ceremony, Core methodology, PROIEL framework</a:t>
            </a:r>
            <a:endParaRPr lang="en-US" sz="1100" dirty="0"/>
          </a:p>
        </p:txBody>
      </p:sp>
      <p:sp>
        <p:nvSpPr>
          <p:cNvPr id="5" name="Text 3"/>
          <p:cNvSpPr/>
          <p:nvPr/>
        </p:nvSpPr>
        <p:spPr>
          <a:xfrm>
            <a:off x="4572000" y="1188720"/>
            <a:ext cx="3657600" cy="365760"/>
          </a:xfrm>
          <a:prstGeom prst="rect">
            <a:avLst/>
          </a:prstGeom>
          <a:noFill/>
          <a:ln/>
        </p:spPr>
        <p:txBody>
          <a:bodyPr wrap="square" rtlCol="0" anchor="ctr"/>
          <a:lstStyle/>
          <a:p>
            <a:pPr indent="0" marL="0">
              <a:buNone/>
            </a:pPr>
            <a:r>
              <a:rPr lang="en-US" sz="1800" b="1" dirty="0">
                <a:solidFill>
                  <a:srgbClr val="2E7D32"/>
                </a:solidFill>
              </a:rPr>
              <a:t>Day 2 - Nov 27: Deep Dives</a:t>
            </a:r>
            <a:endParaRPr lang="en-US" sz="1400" dirty="0"/>
          </a:p>
        </p:txBody>
      </p:sp>
      <p:sp>
        <p:nvSpPr>
          <p:cNvPr id="6" name="Text 4"/>
          <p:cNvSpPr/>
          <p:nvPr/>
        </p:nvSpPr>
        <p:spPr>
          <a:xfrm>
            <a:off x="4572000" y="1554480"/>
            <a:ext cx="3657600" cy="548640"/>
          </a:xfrm>
          <a:prstGeom prst="rect">
            <a:avLst/>
          </a:prstGeom>
          <a:noFill/>
          <a:ln/>
        </p:spPr>
        <p:txBody>
          <a:bodyPr wrap="square" rtlCol="0" anchor="ctr"/>
          <a:lstStyle/>
          <a:p>
            <a:pPr indent="0" marL="0">
              <a:buNone/>
            </a:pPr>
            <a:r>
              <a:rPr lang="en-US" sz="1800" dirty="0">
                <a:solidFill>
                  <a:srgbClr val="000000"/>
                </a:solidFill>
              </a:rPr>
              <a:t>Intralingual translations, Contact phenomena, Technical workshops</a:t>
            </a:r>
            <a:endParaRPr lang="en-US" sz="1100" dirty="0"/>
          </a:p>
        </p:txBody>
      </p:sp>
      <p:sp>
        <p:nvSpPr>
          <p:cNvPr id="7" name="Text 5"/>
          <p:cNvSpPr/>
          <p:nvPr/>
        </p:nvSpPr>
        <p:spPr>
          <a:xfrm>
            <a:off x="457200" y="2560320"/>
            <a:ext cx="3657600" cy="365760"/>
          </a:xfrm>
          <a:prstGeom prst="rect">
            <a:avLst/>
          </a:prstGeom>
          <a:noFill/>
          <a:ln/>
        </p:spPr>
        <p:txBody>
          <a:bodyPr wrap="square" rtlCol="0" anchor="ctr"/>
          <a:lstStyle/>
          <a:p>
            <a:pPr indent="0" marL="0">
              <a:buNone/>
            </a:pPr>
            <a:r>
              <a:rPr lang="en-US" sz="1800" b="1" dirty="0">
                <a:solidFill>
                  <a:srgbClr val="1A5490"/>
                </a:solidFill>
              </a:rPr>
              <a:t>Day 3 - Nov 28: Collaboration</a:t>
            </a:r>
            <a:endParaRPr lang="en-US" sz="1400" dirty="0"/>
          </a:p>
        </p:txBody>
      </p:sp>
      <p:sp>
        <p:nvSpPr>
          <p:cNvPr id="8" name="Text 6"/>
          <p:cNvSpPr/>
          <p:nvPr/>
        </p:nvSpPr>
        <p:spPr>
          <a:xfrm>
            <a:off x="457200" y="2926080"/>
            <a:ext cx="3657600" cy="548640"/>
          </a:xfrm>
          <a:prstGeom prst="rect">
            <a:avLst/>
          </a:prstGeom>
          <a:noFill/>
          <a:ln/>
        </p:spPr>
        <p:txBody>
          <a:bodyPr wrap="square" rtlCol="0" anchor="ctr"/>
          <a:lstStyle/>
          <a:p>
            <a:pPr indent="0" marL="0">
              <a:buNone/>
            </a:pPr>
            <a:r>
              <a:rPr lang="en-US" sz="1800" dirty="0">
                <a:solidFill>
                  <a:srgbClr val="000000"/>
                </a:solidFill>
              </a:rPr>
              <a:t>International perspectives, ARCAS Harvard, Cross-institutional dialogue</a:t>
            </a:r>
            <a:endParaRPr lang="en-US" sz="1100" dirty="0"/>
          </a:p>
        </p:txBody>
      </p:sp>
      <p:sp>
        <p:nvSpPr>
          <p:cNvPr id="9" name="Text 7"/>
          <p:cNvSpPr/>
          <p:nvPr/>
        </p:nvSpPr>
        <p:spPr>
          <a:xfrm>
            <a:off x="4572000" y="2560320"/>
            <a:ext cx="3657600" cy="365760"/>
          </a:xfrm>
          <a:prstGeom prst="rect">
            <a:avLst/>
          </a:prstGeom>
          <a:noFill/>
          <a:ln/>
        </p:spPr>
        <p:txBody>
          <a:bodyPr wrap="square" rtlCol="0" anchor="ctr"/>
          <a:lstStyle/>
          <a:p>
            <a:pPr indent="0" marL="0">
              <a:buNone/>
            </a:pPr>
            <a:r>
              <a:rPr lang="en-US" sz="1800" b="1" dirty="0">
                <a:solidFill>
                  <a:srgbClr val="8B6914"/>
                </a:solidFill>
              </a:rPr>
              <a:t>Day 4 - Nov 29: Future Pathways</a:t>
            </a:r>
            <a:endParaRPr lang="en-US" sz="1400" dirty="0"/>
          </a:p>
        </p:txBody>
      </p:sp>
      <p:sp>
        <p:nvSpPr>
          <p:cNvPr id="10" name="Text 8"/>
          <p:cNvSpPr/>
          <p:nvPr/>
        </p:nvSpPr>
        <p:spPr>
          <a:xfrm>
            <a:off x="4572000" y="2926080"/>
            <a:ext cx="3657600" cy="548640"/>
          </a:xfrm>
          <a:prstGeom prst="rect">
            <a:avLst/>
          </a:prstGeom>
          <a:noFill/>
          <a:ln/>
        </p:spPr>
        <p:txBody>
          <a:bodyPr wrap="square" rtlCol="0" anchor="ctr"/>
          <a:lstStyle/>
          <a:p>
            <a:pPr indent="0" marL="0">
              <a:buNone/>
            </a:pPr>
            <a:r>
              <a:rPr lang="en-US" sz="1800" dirty="0">
                <a:solidFill>
                  <a:srgbClr val="000000"/>
                </a:solidFill>
              </a:rPr>
              <a:t>Planning session, Network building, Next steps: Athens &amp; Naxos</a:t>
            </a:r>
            <a:endParaRPr lang="en-US" sz="1100" dirty="0"/>
          </a:p>
        </p:txBody>
      </p:sp>
      <p:sp>
        <p:nvSpPr>
          <p:cNvPr id="11" name="Text 9"/>
          <p:cNvSpPr/>
          <p:nvPr/>
        </p:nvSpPr>
        <p:spPr>
          <a:xfrm>
            <a:off x="457200" y="4114800"/>
            <a:ext cx="8229600" cy="457200"/>
          </a:xfrm>
          <a:prstGeom prst="rect">
            <a:avLst/>
          </a:prstGeom>
          <a:noFill/>
          <a:ln/>
        </p:spPr>
        <p:txBody>
          <a:bodyPr wrap="square" rtlCol="0" anchor="ctr"/>
          <a:lstStyle/>
          <a:p>
            <a:pPr algn="ctr" indent="0" marL="0">
              <a:buNone/>
            </a:pPr>
            <a:r>
              <a:rPr lang="en-US" sz="1800" b="1" dirty="0">
                <a:solidFill>
                  <a:srgbClr val="1A5490"/>
                </a:solidFill>
              </a:rPr>
              <a:t>20+ Distinguished Speakers • 12 Institutions • 8 Countries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5490"/>
                </a:solidFill>
              </a:rPr>
              <a:t>Distinguished International Speakers</a:t>
            </a:r>
            <a:endParaRPr lang="en-US" sz="32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2000" dirty="0">
                <a:solidFill>
                  <a:srgbClr val="8B6914"/>
                </a:solidFill>
              </a:rPr>
              <a:t>Leading Voices in Diachronic Linguistics</a:t>
            </a:r>
            <a:endParaRPr lang="en-US" sz="1600" dirty="0"/>
          </a:p>
        </p:txBody>
      </p:sp>
      <p:sp>
        <p:nvSpPr>
          <p:cNvPr id="4" name="Text 2"/>
          <p:cNvSpPr/>
          <p:nvPr/>
        </p:nvSpPr>
        <p:spPr>
          <a:xfrm>
            <a:off x="457200" y="1645920"/>
            <a:ext cx="3931920" cy="1828800"/>
          </a:xfrm>
          <a:prstGeom prst="rect">
            <a:avLst/>
          </a:prstGeom>
          <a:noFill/>
          <a:ln/>
        </p:spPr>
        <p:txBody>
          <a:bodyPr wrap="square" rtlCol="0" anchor="ctr"/>
          <a:lstStyle/>
          <a:p>
            <a:r>
              <a:t>• University of Oslo - PROIEL methodology expertise</a:t>
            </a:r>
          </a:p>
          <a:p>
            <a:r>
              <a:t>• University of Cambridge - Historical syntax</a:t>
            </a:r>
          </a:p>
          <a:p>
            <a:r>
              <a:t>• Charles University Prague - Corpus annotation systems</a:t>
            </a:r>
          </a:p>
          <a:p>
            <a:r>
              <a:t>• Universidad de Murcia - Ancient Greekguage evolution</a:t>
            </a:r>
          </a:p>
          <a:p>
            <a:r>
              <a:t>• Aristotle University of Thessaloniki</a:t>
            </a:r>
          </a:p>
          <a:p>
            <a:r>
              <a:t>• Qatar University</a:t>
            </a:r>
          </a:p>
        </p:txBody>
      </p:sp>
      <p:sp>
        <p:nvSpPr>
          <p:cNvPr id="5" name="Text 3"/>
          <p:cNvSpPr/>
          <p:nvPr/>
        </p:nvSpPr>
        <p:spPr>
          <a:xfrm>
            <a:off x="4572000" y="1645920"/>
            <a:ext cx="3931920" cy="1828800"/>
          </a:xfrm>
          <a:prstGeom prst="rect">
            <a:avLst/>
          </a:prstGeom>
          <a:noFill/>
          <a:ln/>
        </p:spPr>
        <p:txBody>
          <a:bodyPr wrap="square" rtlCol="0" anchor="ctr"/>
          <a:lstStyle/>
          <a:p>
            <a:pPr indent="0" marL="0">
              <a:buNone/>
            </a:pPr>
            <a:r>
              <a:rPr lang="en-US" sz="1800" dirty="0">
                <a:solidFill>
                  <a:srgbClr val="000000"/>
                </a:solidFill>
              </a:rPr>
              <a:t>• Harvard CHS - ARCAS digital philology</a:t>
            </a:r>
            <a:endParaRPr lang="en-US" sz="1100" dirty="0"/>
          </a:p>
          <a:p>
            <a:pPr indent="0" marL="0">
              <a:buNone/>
            </a:pPr>
            <a:r>
              <a:rPr lang="en-US" sz="1800" dirty="0">
                <a:solidFill>
                  <a:srgbClr val="000000"/>
                </a:solidFill>
              </a:rPr>
              <a:t>• University of Bologna - Classical languages</a:t>
            </a:r>
            <a:endParaRPr lang="en-US" sz="1100" dirty="0"/>
          </a:p>
          <a:p>
            <a:pPr indent="0" marL="0">
              <a:buNone/>
            </a:pPr>
            <a:r>
              <a:rPr lang="en-US" sz="1800" dirty="0">
                <a:solidFill>
                  <a:srgbClr val="000000"/>
                </a:solidFill>
              </a:rPr>
              <a:t>• University of Mannheim - Computational linguistics</a:t>
            </a:r>
            <a:endParaRPr lang="en-US" sz="1100" dirty="0"/>
          </a:p>
          <a:p>
            <a:pPr indent="0" marL="0">
              <a:buNone/>
            </a:pPr>
            <a:r>
              <a:rPr lang="en-US" sz="1800" dirty="0">
                <a:solidFill>
                  <a:srgbClr val="000000"/>
                </a:solidFill>
              </a:rPr>
              <a:t>• CSIC Madrid - Classical languages, computational methods</a:t>
            </a:r>
            <a:endParaRPr lang="en-US" sz="1100" dirty="0"/>
          </a:p>
        </p:txBody>
      </p:sp>
      <p:sp>
        <p:nvSpPr>
          <p:cNvPr id="6" name="Text 4"/>
          <p:cNvSpPr/>
          <p:nvPr/>
        </p:nvSpPr>
        <p:spPr>
          <a:xfrm>
            <a:off x="457200" y="3840480"/>
            <a:ext cx="8229600" cy="457200"/>
          </a:xfrm>
          <a:prstGeom prst="rect">
            <a:avLst/>
          </a:prstGeom>
          <a:noFill/>
          <a:ln/>
        </p:spPr>
        <p:txBody>
          <a:bodyPr wrap="square" rtlCol="0" anchor="ctr"/>
          <a:lstStyle/>
          <a:p>
            <a:pPr algn="ctr" indent="0" marL="0">
              <a:buNone/>
            </a:pPr>
            <a:r>
              <a:rPr lang="en-US" sz="1800" i="1" dirty="0">
                <a:solidFill>
                  <a:srgbClr val="6B6B6B"/>
                </a:solidFill>
              </a:rPr>
              <a:t>United by purpose: Understanding how languages evolve through contact and time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5490"/>
                </a:solidFill>
              </a:rPr>
              <a:t>The PROIEL Framework</a:t>
            </a:r>
            <a:endParaRPr lang="en-US" sz="32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2000" dirty="0">
                <a:solidFill>
                  <a:srgbClr val="8B6914"/>
                </a:solidFill>
              </a:rPr>
              <a:t>Pragmatic Resources in Old Indo-European Languages</a:t>
            </a:r>
            <a:endParaRPr lang="en-US" sz="1600" dirty="0"/>
          </a:p>
        </p:txBody>
      </p:sp>
      <p:sp>
        <p:nvSpPr>
          <p:cNvPr id="4" name="Text 2"/>
          <p:cNvSpPr/>
          <p:nvPr/>
        </p:nvSpPr>
        <p:spPr>
          <a:xfrm>
            <a:off x="457200" y="1554480"/>
            <a:ext cx="8229600" cy="548640"/>
          </a:xfrm>
          <a:prstGeom prst="rect">
            <a:avLst/>
          </a:prstGeom>
          <a:noFill/>
          <a:ln/>
        </p:spPr>
        <p:txBody>
          <a:bodyPr wrap="square" rtlCol="0" anchor="ctr"/>
          <a:lstStyle/>
          <a:p>
            <a:pPr algn="ctr" indent="0" marL="0">
              <a:buNone/>
            </a:pPr>
            <a:r>
              <a:rPr lang="en-US" sz="1800" dirty="0">
                <a:solidFill>
                  <a:srgbClr val="000000"/>
                </a:solidFill>
              </a:rPr>
              <a:t>A dependency-based annotation system enabling precise tracking of grammatical evolution across millennia</a:t>
            </a:r>
            <a:endParaRPr lang="en-US" sz="1200" dirty="0"/>
          </a:p>
        </p:txBody>
      </p:sp>
      <p:sp>
        <p:nvSpPr>
          <p:cNvPr id="5" name="Text 3"/>
          <p:cNvSpPr/>
          <p:nvPr/>
        </p:nvSpPr>
        <p:spPr>
          <a:xfrm>
            <a:off x="457200" y="2286000"/>
            <a:ext cx="8229600" cy="365760"/>
          </a:xfrm>
          <a:prstGeom prst="rect">
            <a:avLst/>
          </a:prstGeom>
          <a:noFill/>
          <a:ln/>
        </p:spPr>
        <p:txBody>
          <a:bodyPr wrap="square" rtlCol="0" anchor="ctr"/>
          <a:lstStyle/>
          <a:p>
            <a:pPr indent="0" marL="0">
              <a:buNone/>
            </a:pPr>
            <a:r>
              <a:rPr lang="en-US" sz="1800" b="1" dirty="0">
                <a:solidFill>
                  <a:srgbClr val="2E7D32"/>
                </a:solidFill>
              </a:rPr>
              <a:t>Three Dimensions of Analysis:</a:t>
            </a:r>
            <a:endParaRPr lang="en-US" sz="1400" dirty="0"/>
          </a:p>
        </p:txBody>
      </p:sp>
      <p:sp>
        <p:nvSpPr>
          <p:cNvPr id="6" name="Text 4"/>
          <p:cNvSpPr/>
          <p:nvPr/>
        </p:nvSpPr>
        <p:spPr>
          <a:xfrm>
            <a:off x="914400" y="2743200"/>
            <a:ext cx="7315200" cy="1097280"/>
          </a:xfrm>
          <a:prstGeom prst="rect">
            <a:avLst/>
          </a:prstGeom>
          <a:noFill/>
          <a:ln/>
        </p:spPr>
        <p:txBody>
          <a:bodyPr wrap="square" rtlCol="0" anchor="ctr"/>
          <a:lstStyle/>
          <a:p>
            <a:pPr indent="0" marL="0">
              <a:buNone/>
            </a:pPr>
            <a:r>
              <a:rPr lang="en-US" sz="1800" dirty="0">
                <a:solidFill>
                  <a:srgbClr val="000000"/>
                </a:solidFill>
              </a:rPr>
              <a:t>• Morphological complexity: Changes between time periods</a:t>
            </a:r>
            <a:endParaRPr lang="en-US" sz="1200" dirty="0"/>
          </a:p>
          <a:p>
            <a:pPr indent="0" marL="0">
              <a:buNone/>
            </a:pPr>
            <a:r>
              <a:rPr lang="en-US" sz="1800" dirty="0">
                <a:solidFill>
                  <a:srgbClr val="000000"/>
                </a:solidFill>
              </a:rPr>
              <a:t>• Argument structures: Case marking evolution</a:t>
            </a:r>
            <a:endParaRPr lang="en-US" sz="1200" dirty="0"/>
          </a:p>
          <a:p>
            <a:pPr indent="0" marL="0">
              <a:buNone/>
            </a:pPr>
            <a:r>
              <a:rPr lang="en-US" sz="1800" dirty="0">
                <a:solidFill>
                  <a:srgbClr val="000000"/>
                </a:solidFill>
              </a:rPr>
              <a:t>• Translation effects: Contact-induced patterns</a:t>
            </a:r>
            <a:endParaRPr lang="en-US" sz="1200" dirty="0"/>
          </a:p>
        </p:txBody>
      </p:sp>
      <p:sp>
        <p:nvSpPr>
          <p:cNvPr id="7" name="Text 5"/>
          <p:cNvSpPr/>
          <p:nvPr/>
        </p:nvSpPr>
        <p:spPr>
          <a:xfrm>
            <a:off x="457200" y="3931920"/>
            <a:ext cx="8229600" cy="457200"/>
          </a:xfrm>
          <a:prstGeom prst="rect">
            <a:avLst/>
          </a:prstGeom>
          <a:noFill/>
          <a:ln/>
        </p:spPr>
        <p:txBody>
          <a:bodyPr wrap="square" rtlCol="0" anchor="ctr"/>
          <a:lstStyle/>
          <a:p>
            <a:pPr algn="ctr" indent="0" marL="0">
              <a:buNone/>
            </a:pPr>
            <a:r>
              <a:rPr lang="en-US" sz="1800" b="1" dirty="0">
                <a:solidFill>
                  <a:srgbClr val="2E7D32"/>
                </a:solidFill>
              </a:rPr>
              <a:t>Key Innovation: Multi-temporal annotation for texts with chronological layering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sz="1800"/>
              <a:t>Central Research Questions
1. Contact Patterns
How do interlingual and intralingual contact produce different syntactic effects?
2. Translation Chains
What do retranslation patterns reveal about language evolution mechanisms?
3. Canonical Texts
Do influential texts maintain original forms or evolve through transmission?
4. Rate of Change
Does contact lead to rapid systematic changes or gradual modifications?
5. Corpus Methods
How can computational approaches best capture diachronic variation?
6. Multilingual Analysis
What patterns emerge from cross-linguistic comparisons?
These questions guide our exploration across three millennia of textual evidence</a:t>
            </a:r>
            <a:endParaRPr lang="en-US" sz="3200" dirty="0"/>
          </a:p>
        </p:txBody>
      </p:sp>
      <p:sp>
        <p:nvSpPr>
          <p:cNvPr id="3" name="Text 1"/>
          <p:cNvSpPr/>
          <p:nvPr/>
        </p:nvSpPr>
        <p:spPr>
          <a:xfrm>
            <a:off x="457200" y="1188720"/>
            <a:ext cx="3931920" cy="365760"/>
          </a:xfrm>
          <a:prstGeom prst="rect">
            <a:avLst/>
          </a:prstGeom>
          <a:noFill/>
          <a:ln/>
        </p:spPr>
        <p:txBody>
          <a:bodyPr wrap="square" rtlCol="0" anchor="ctr"/>
          <a:lstStyle/>
          <a:p>
            <a:pPr indent="0" marL="0">
              <a:buNone/>
            </a:pPr>
            <a:r>
              <a:rPr lang="en-US" sz="1800" b="1" dirty="0">
                <a:solidFill>
                  <a:srgbClr val="2E7D32"/>
                </a:solidFill>
              </a:rPr>
              <a:t>1. Contact Patterns</a:t>
            </a:r>
            <a:endParaRPr lang="en-US" sz="1400" dirty="0"/>
          </a:p>
        </p:txBody>
      </p:sp>
      <p:sp>
        <p:nvSpPr>
          <p:cNvPr id="4" name="Text 2"/>
          <p:cNvSpPr/>
          <p:nvPr/>
        </p:nvSpPr>
        <p:spPr>
          <a:xfrm>
            <a:off x="457200" y="1554480"/>
            <a:ext cx="3931920" cy="548640"/>
          </a:xfrm>
          <a:prstGeom prst="rect">
            <a:avLst/>
          </a:prstGeom>
          <a:noFill/>
          <a:ln/>
        </p:spPr>
        <p:txBody>
          <a:bodyPr wrap="square" rtlCol="0" anchor="ctr"/>
          <a:lstStyle/>
          <a:p>
            <a:pPr indent="0" marL="0">
              <a:buNone/>
            </a:pPr>
            <a:r>
              <a:rPr lang="en-US" sz="1800" dirty="0">
                <a:solidFill>
                  <a:srgbClr val="000000"/>
                </a:solidFill>
              </a:rPr>
              <a:t>How do interlingual and intralingual contact produce different syntactic effects?</a:t>
            </a:r>
            <a:endParaRPr lang="en-US" sz="1100" dirty="0"/>
          </a:p>
        </p:txBody>
      </p:sp>
      <p:sp>
        <p:nvSpPr>
          <p:cNvPr id="5" name="Text 3"/>
          <p:cNvSpPr/>
          <p:nvPr/>
        </p:nvSpPr>
        <p:spPr>
          <a:xfrm>
            <a:off x="4572000" y="1188720"/>
            <a:ext cx="3931920" cy="365760"/>
          </a:xfrm>
          <a:prstGeom prst="rect">
            <a:avLst/>
          </a:prstGeom>
          <a:noFill/>
          <a:ln/>
        </p:spPr>
        <p:txBody>
          <a:bodyPr wrap="square" rtlCol="0" anchor="ctr"/>
          <a:lstStyle/>
          <a:p>
            <a:pPr indent="0" marL="0">
              <a:buNone/>
            </a:pPr>
            <a:r>
              <a:rPr lang="en-US" sz="1800" b="1" dirty="0">
                <a:solidFill>
                  <a:srgbClr val="2E7D32"/>
                </a:solidFill>
              </a:rPr>
              <a:t>2. Translation Chains</a:t>
            </a:r>
            <a:endParaRPr lang="en-US" sz="1400" dirty="0"/>
          </a:p>
        </p:txBody>
      </p:sp>
      <p:sp>
        <p:nvSpPr>
          <p:cNvPr id="6" name="Text 4"/>
          <p:cNvSpPr/>
          <p:nvPr/>
        </p:nvSpPr>
        <p:spPr>
          <a:xfrm>
            <a:off x="4572000" y="1554480"/>
            <a:ext cx="3931920" cy="548640"/>
          </a:xfrm>
          <a:prstGeom prst="rect">
            <a:avLst/>
          </a:prstGeom>
          <a:noFill/>
          <a:ln/>
        </p:spPr>
        <p:txBody>
          <a:bodyPr wrap="square" rtlCol="0" anchor="ctr"/>
          <a:lstStyle/>
          <a:p>
            <a:pPr indent="0" marL="0">
              <a:buNone/>
            </a:pPr>
            <a:r>
              <a:rPr lang="en-US" sz="1800" dirty="0">
                <a:solidFill>
                  <a:srgbClr val="000000"/>
                </a:solidFill>
              </a:rPr>
              <a:t>What do retranslation patterns reveal about language evolution mechanisms?</a:t>
            </a:r>
            <a:endParaRPr lang="en-US" sz="1100" dirty="0"/>
          </a:p>
        </p:txBody>
      </p:sp>
      <p:sp>
        <p:nvSpPr>
          <p:cNvPr id="7" name="Text 5"/>
          <p:cNvSpPr/>
          <p:nvPr/>
        </p:nvSpPr>
        <p:spPr>
          <a:xfrm>
            <a:off x="457200" y="2468880"/>
            <a:ext cx="3931920" cy="365760"/>
          </a:xfrm>
          <a:prstGeom prst="rect">
            <a:avLst/>
          </a:prstGeom>
          <a:noFill/>
          <a:ln/>
        </p:spPr>
        <p:txBody>
          <a:bodyPr wrap="square" rtlCol="0" anchor="ctr"/>
          <a:lstStyle/>
          <a:p>
            <a:pPr indent="0" marL="0">
              <a:buNone/>
            </a:pPr>
            <a:r>
              <a:rPr lang="en-US" sz="1800" b="1" dirty="0">
                <a:solidFill>
                  <a:srgbClr val="2E7D32"/>
                </a:solidFill>
              </a:rPr>
              <a:t>3. Canonical Texts</a:t>
            </a:r>
            <a:endParaRPr lang="en-US" sz="1400" dirty="0"/>
          </a:p>
        </p:txBody>
      </p:sp>
      <p:sp>
        <p:nvSpPr>
          <p:cNvPr id="8" name="Text 6"/>
          <p:cNvSpPr/>
          <p:nvPr/>
        </p:nvSpPr>
        <p:spPr>
          <a:xfrm>
            <a:off x="457200" y="2834640"/>
            <a:ext cx="3931920" cy="548640"/>
          </a:xfrm>
          <a:prstGeom prst="rect">
            <a:avLst/>
          </a:prstGeom>
          <a:noFill/>
          <a:ln/>
        </p:spPr>
        <p:txBody>
          <a:bodyPr wrap="square" rtlCol="0" anchor="ctr"/>
          <a:lstStyle/>
          <a:p>
            <a:pPr indent="0" marL="0">
              <a:buNone/>
            </a:pPr>
            <a:r>
              <a:rPr lang="en-US" sz="1800" dirty="0">
                <a:solidFill>
                  <a:srgbClr val="000000"/>
                </a:solidFill>
              </a:rPr>
              <a:t>Do influential texts maintain original forms or evolve through transmission?</a:t>
            </a:r>
            <a:endParaRPr lang="en-US" sz="1100" dirty="0"/>
          </a:p>
        </p:txBody>
      </p:sp>
      <p:sp>
        <p:nvSpPr>
          <p:cNvPr id="9" name="Text 7"/>
          <p:cNvSpPr/>
          <p:nvPr/>
        </p:nvSpPr>
        <p:spPr>
          <a:xfrm>
            <a:off x="4572000" y="2468880"/>
            <a:ext cx="3931920" cy="365760"/>
          </a:xfrm>
          <a:prstGeom prst="rect">
            <a:avLst/>
          </a:prstGeom>
          <a:noFill/>
          <a:ln/>
        </p:spPr>
        <p:txBody>
          <a:bodyPr wrap="square" rtlCol="0" anchor="ctr"/>
          <a:lstStyle/>
          <a:p>
            <a:pPr indent="0" marL="0">
              <a:buNone/>
            </a:pPr>
            <a:r>
              <a:rPr lang="en-US" sz="1800" b="1" dirty="0">
                <a:solidFill>
                  <a:srgbClr val="2E7D32"/>
                </a:solidFill>
              </a:rPr>
              <a:t>4. Rate of Change</a:t>
            </a:r>
            <a:endParaRPr lang="en-US" sz="1400" dirty="0"/>
          </a:p>
        </p:txBody>
      </p:sp>
      <p:sp>
        <p:nvSpPr>
          <p:cNvPr id="10" name="Text 8"/>
          <p:cNvSpPr/>
          <p:nvPr/>
        </p:nvSpPr>
        <p:spPr>
          <a:xfrm>
            <a:off x="4572000" y="2834640"/>
            <a:ext cx="3931920" cy="548640"/>
          </a:xfrm>
          <a:prstGeom prst="rect">
            <a:avLst/>
          </a:prstGeom>
          <a:noFill/>
          <a:ln/>
        </p:spPr>
        <p:txBody>
          <a:bodyPr wrap="square" rtlCol="0" anchor="ctr"/>
          <a:lstStyle/>
          <a:p>
            <a:pPr indent="0" marL="0">
              <a:buNone/>
            </a:pPr>
            <a:r>
              <a:rPr lang="en-US" sz="1800" dirty="0">
                <a:solidFill>
                  <a:srgbClr val="000000"/>
                </a:solidFill>
              </a:rPr>
              <a:t>Does contact lead to rapid systematic changes or gradual modifications?</a:t>
            </a:r>
            <a:endParaRPr lang="en-US" sz="1100" dirty="0"/>
          </a:p>
        </p:txBody>
      </p:sp>
      <p:sp>
        <p:nvSpPr>
          <p:cNvPr id="11" name="Text 9"/>
          <p:cNvSpPr/>
          <p:nvPr/>
        </p:nvSpPr>
        <p:spPr>
          <a:xfrm>
            <a:off x="457200" y="3931920"/>
            <a:ext cx="8229600" cy="457200"/>
          </a:xfrm>
          <a:prstGeom prst="rect">
            <a:avLst/>
          </a:prstGeom>
          <a:noFill/>
          <a:ln/>
        </p:spPr>
        <p:txBody>
          <a:bodyPr wrap="square" rtlCol="0" anchor="ctr"/>
          <a:lstStyle/>
          <a:p>
            <a:pPr algn="ctr" indent="0" marL="0">
              <a:buNone/>
            </a:pPr>
            <a:r>
              <a:rPr lang="en-US" sz="1800" i="1" dirty="0">
                <a:solidFill>
                  <a:srgbClr val="6B6B6B"/>
                </a:solidFill>
              </a:rPr>
              <a:t>These questions guide our exploration across three millennia of textual evidence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r>
              <a:rPr sz="1800"/>
              <a:t>Today's Session: Retranslations Across Millennia</a:t>
            </a:r>
          </a:p>
        </p:txBody>
      </p:sp>
      <p:sp>
        <p:nvSpPr>
          <p:cNvPr id="3" name="Text 1"/>
          <p:cNvSpPr/>
          <p:nvPr/>
        </p:nvSpPr>
        <p:spPr>
          <a:xfrm>
            <a:off x="457200" y="1005840"/>
            <a:ext cx="8229600" cy="365760"/>
          </a:xfrm>
          <a:prstGeom prst="rect">
            <a:avLst/>
          </a:prstGeom>
          <a:noFill/>
          <a:ln/>
        </p:spPr>
        <p:txBody>
          <a:bodyPr wrap="square" rtlCol="0" anchor="ctr"/>
          <a:lstStyle/>
          <a:p>
            <a:r>
              <a:rPr sz="1800"/>
              <a:t>75-Minute Deep Dive • Following This Opening</a:t>
            </a:r>
          </a:p>
        </p:txBody>
      </p:sp>
      <p:sp>
        <p:nvSpPr>
          <p:cNvPr id="4" name="Text 2"/>
          <p:cNvSpPr/>
          <p:nvPr/>
        </p:nvSpPr>
        <p:spPr>
          <a:xfrm>
            <a:off x="457200" y="1371600"/>
            <a:ext cx="8229600" cy="274320"/>
          </a:xfrm>
          <a:prstGeom prst="rect">
            <a:avLst/>
          </a:prstGeom>
          <a:noFill/>
          <a:ln/>
        </p:spPr>
        <p:txBody>
          <a:bodyPr wrap="square" rtlCol="0" anchor="ctr"/>
          <a:lstStyle/>
          <a:p>
            <a:r>
              <a:rPr sz="1800"/>
              <a:t>Lavidas, Michalareas, Symeonidis, Chionidi, Tsiropina, Plakoutsi</a:t>
            </a:r>
          </a:p>
        </p:txBody>
      </p:sp>
      <p:sp>
        <p:nvSpPr>
          <p:cNvPr id="5" name="Text 3"/>
          <p:cNvSpPr/>
          <p:nvPr/>
        </p:nvSpPr>
        <p:spPr>
          <a:xfrm>
            <a:off x="457200" y="2011680"/>
            <a:ext cx="3931920" cy="365760"/>
          </a:xfrm>
          <a:prstGeom prst="rect">
            <a:avLst/>
          </a:prstGeom>
          <a:noFill/>
          <a:ln/>
        </p:spPr>
        <p:txBody>
          <a:bodyPr wrap="square" rtlCol="0" anchor="ctr"/>
          <a:lstStyle/>
          <a:p>
            <a:r>
              <a:rPr sz="1800"/>
              <a:t>Intralingual Contact</a:t>
            </a:r>
          </a:p>
        </p:txBody>
      </p:sp>
      <p:sp>
        <p:nvSpPr>
          <p:cNvPr id="6" name="Text 4"/>
          <p:cNvSpPr/>
          <p:nvPr/>
        </p:nvSpPr>
        <p:spPr>
          <a:xfrm>
            <a:off x="457200" y="2377440"/>
            <a:ext cx="3931920" cy="731520"/>
          </a:xfrm>
          <a:prstGeom prst="rect">
            <a:avLst/>
          </a:prstGeom>
          <a:noFill/>
          <a:ln/>
        </p:spPr>
        <p:txBody>
          <a:bodyPr wrap="square" rtlCol="0" anchor="ctr"/>
          <a:lstStyle/>
          <a:p>
            <a:r>
              <a:rPr sz="1800"/>
              <a:t>• Classical to Byzantine</a:t>
            </a:r>
          </a:p>
          <a:p>
            <a:r>
              <a:rPr sz="1800"/>
              <a:t>• Byzantine to Modern</a:t>
            </a:r>
          </a:p>
          <a:p>
            <a:r>
              <a:rPr sz="1800"/>
              <a:t>• Register variations</a:t>
            </a:r>
          </a:p>
        </p:txBody>
      </p:sp>
      <p:sp>
        <p:nvSpPr>
          <p:cNvPr id="7" name="Text 5"/>
          <p:cNvSpPr/>
          <p:nvPr/>
        </p:nvSpPr>
        <p:spPr>
          <a:xfrm>
            <a:off x="4572000" y="2011680"/>
            <a:ext cx="3931920" cy="365760"/>
          </a:xfrm>
          <a:prstGeom prst="rect">
            <a:avLst/>
          </a:prstGeom>
          <a:noFill/>
          <a:ln/>
        </p:spPr>
        <p:txBody>
          <a:bodyPr wrap="square" rtlCol="0" anchor="ctr"/>
          <a:lstStyle/>
          <a:p>
            <a:r>
              <a:rPr sz="1800"/>
              <a:t>Interlingual Contact</a:t>
            </a:r>
          </a:p>
        </p:txBody>
      </p:sp>
      <p:sp>
        <p:nvSpPr>
          <p:cNvPr id="8" name="Text 6"/>
          <p:cNvSpPr/>
          <p:nvPr/>
        </p:nvSpPr>
        <p:spPr>
          <a:xfrm>
            <a:off x="4572000" y="2377440"/>
            <a:ext cx="3931920" cy="731520"/>
          </a:xfrm>
          <a:prstGeom prst="rect">
            <a:avLst/>
          </a:prstGeom>
          <a:noFill/>
          <a:ln/>
        </p:spPr>
        <p:txBody>
          <a:bodyPr wrap="square" rtlCol="0" anchor="ctr"/>
          <a:lstStyle/>
          <a:p>
            <a:r>
              <a:rPr sz="1800"/>
              <a:t>• Greek ↔ Latin interfaces</a:t>
            </a:r>
          </a:p>
          <a:p>
            <a:r>
              <a:rPr sz="1800"/>
              <a:t>• Romance influences</a:t>
            </a:r>
          </a:p>
          <a:p>
            <a:r>
              <a:rPr sz="1800"/>
              <a:t>• Germanic parallels</a:t>
            </a:r>
          </a:p>
        </p:txBody>
      </p:sp>
      <p:sp>
        <p:nvSpPr>
          <p:cNvPr id="9" name="Text 7"/>
          <p:cNvSpPr/>
          <p:nvPr/>
        </p:nvSpPr>
        <p:spPr>
          <a:xfrm>
            <a:off x="457200" y="3657600"/>
            <a:ext cx="8229600" cy="548640"/>
          </a:xfrm>
          <a:prstGeom prst="rect">
            <a:avLst/>
          </a:prstGeom>
          <a:noFill/>
          <a:ln/>
        </p:spPr>
        <p:txBody>
          <a:bodyPr wrap="square" rtlCol="0" anchor="ctr"/>
          <a:lstStyle/>
          <a:p>
            <a:r>
              <a:rPr sz="1800"/>
              <a:t>Core Finding: Translations trigger grammatical change through multiglossia - a semi-natural evolution process distinct from direct borrowing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5490"/>
                </a:solidFill>
              </a:rPr>
              <a:t>The AthDGC Corpus Architecture</a:t>
            </a:r>
            <a:endParaRPr lang="en-US" sz="32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1800" b="1" dirty="0">
                <a:solidFill>
                  <a:srgbClr val="8B6914"/>
                </a:solidFill>
              </a:rPr>
              <a:t>3,000 Years • Multiple Languages • One Framework</a:t>
            </a:r>
            <a:endParaRPr lang="en-US" sz="1400" dirty="0"/>
          </a:p>
        </p:txBody>
      </p:sp>
      <p:sp>
        <p:nvSpPr>
          <p:cNvPr id="4" name="Text 2"/>
          <p:cNvSpPr/>
          <p:nvPr/>
        </p:nvSpPr>
        <p:spPr>
          <a:xfrm>
            <a:off x="457200" y="1645920"/>
            <a:ext cx="8229600" cy="365760"/>
          </a:xfrm>
          <a:prstGeom prst="rect">
            <a:avLst/>
          </a:prstGeom>
          <a:noFill/>
          <a:ln/>
        </p:spPr>
        <p:txBody>
          <a:bodyPr wrap="square" rtlCol="0" anchor="ctr"/>
          <a:lstStyle/>
          <a:p>
            <a:pPr indent="0" marL="0">
              <a:buNone/>
            </a:pPr>
            <a:r>
              <a:rPr lang="en-US" sz="1800" b="1" dirty="0">
                <a:solidFill>
                  <a:srgbClr val="1A5490"/>
                </a:solidFill>
              </a:rPr>
              <a:t>Corpus Components:</a:t>
            </a:r>
            <a:endParaRPr lang="en-US" sz="1400" dirty="0"/>
          </a:p>
        </p:txBody>
      </p:sp>
      <p:sp>
        <p:nvSpPr>
          <p:cNvPr id="5" name="Text 3"/>
          <p:cNvSpPr/>
          <p:nvPr/>
        </p:nvSpPr>
        <p:spPr>
          <a:xfrm>
            <a:off x="914400" y="2103120"/>
            <a:ext cx="7315200" cy="1371600"/>
          </a:xfrm>
          <a:prstGeom prst="rect">
            <a:avLst/>
          </a:prstGeom>
          <a:noFill/>
          <a:ln/>
        </p:spPr>
        <p:txBody>
          <a:bodyPr wrap="square" rtlCol="0" anchor="ctr"/>
          <a:lstStyle/>
          <a:p>
            <a:pPr indent="0" marL="0">
              <a:buNone/>
            </a:pPr>
            <a:r>
              <a:rPr lang="en-US" sz="1800" dirty="0">
                <a:solidFill>
                  <a:srgbClr val="000000"/>
                </a:solidFill>
              </a:rPr>
              <a:t>• Original Texts: Homer, Plato, New Testament, Byzantine chronicles</a:t>
            </a:r>
            <a:endParaRPr lang="en-US" sz="1100" dirty="0"/>
          </a:p>
          <a:p>
            <a:pPr indent="0" marL="0">
              <a:buNone/>
            </a:pPr>
            <a:r>
              <a:rPr lang="en-US" sz="1800" dirty="0">
                <a:solidFill>
                  <a:srgbClr val="000000"/>
                </a:solidFill>
              </a:rPr>
              <a:t>• Historical Translations: Septuagint, Vulgate, medieval versions</a:t>
            </a:r>
            <a:endParaRPr lang="en-US" sz="1100" dirty="0"/>
          </a:p>
          <a:p>
            <a:pPr indent="0" marL="0">
              <a:buNone/>
            </a:pPr>
            <a:r>
              <a:rPr lang="en-US" sz="1800" dirty="0">
                <a:solidFill>
                  <a:srgbClr val="000000"/>
                </a:solidFill>
              </a:rPr>
              <a:t>• Modern Retranslations: Contemporary Greek, English, French</a:t>
            </a:r>
            <a:endParaRPr lang="en-US" sz="1100" dirty="0"/>
          </a:p>
          <a:p>
            <a:pPr indent="0" marL="0">
              <a:buNone/>
            </a:pPr>
            <a:r>
              <a:rPr lang="en-US" sz="1800" dirty="0">
                <a:solidFill>
                  <a:srgbClr val="000000"/>
                </a:solidFill>
              </a:rPr>
              <a:t>• Annotation Layers: PROIEL tags, valency frames, temporal markers</a:t>
            </a:r>
            <a:endParaRPr lang="en-US" sz="1100" dirty="0"/>
          </a:p>
        </p:txBody>
      </p:sp>
      <p:sp>
        <p:nvSpPr>
          <p:cNvPr id="6" name="Text 4"/>
          <p:cNvSpPr/>
          <p:nvPr/>
        </p:nvSpPr>
        <p:spPr>
          <a:xfrm>
            <a:off x="457200" y="3566160"/>
            <a:ext cx="8229600" cy="365760"/>
          </a:xfrm>
          <a:prstGeom prst="rect">
            <a:avLst/>
          </a:prstGeom>
          <a:noFill/>
          <a:ln/>
        </p:spPr>
        <p:txBody>
          <a:bodyPr wrap="square" rtlCol="0" anchor="ctr"/>
          <a:lstStyle/>
          <a:p>
            <a:pPr indent="0" marL="0">
              <a:buNone/>
            </a:pPr>
            <a:r>
              <a:rPr lang="en-US" sz="1800" b="1" dirty="0">
                <a:solidFill>
                  <a:srgbClr val="1A5490"/>
                </a:solidFill>
              </a:rPr>
              <a:t>Technical Infrastructure:</a:t>
            </a:r>
            <a:endParaRPr lang="en-US" sz="1400" dirty="0"/>
          </a:p>
        </p:txBody>
      </p:sp>
      <p:sp>
        <p:nvSpPr>
          <p:cNvPr id="7" name="Text 5"/>
          <p:cNvSpPr/>
          <p:nvPr/>
        </p:nvSpPr>
        <p:spPr>
          <a:xfrm>
            <a:off x="457200" y="3931920"/>
            <a:ext cx="8229600" cy="457200"/>
          </a:xfrm>
          <a:prstGeom prst="rect">
            <a:avLst/>
          </a:prstGeom>
          <a:noFill/>
          <a:ln/>
        </p:spPr>
        <p:txBody>
          <a:bodyPr wrap="square" rtlCol="0" anchor="ctr"/>
          <a:lstStyle/>
          <a:p>
            <a:pPr algn="ctr" indent="0" marL="0">
              <a:buNone/>
            </a:pPr>
            <a:r>
              <a:rPr lang="en-US" sz="1800" dirty="0">
                <a:solidFill>
                  <a:srgbClr val="000000"/>
                </a:solidFill>
              </a:rPr>
              <a:t>Stanza NLP integration • CHS Harvard, ARCAS: collaboration • Multi-temporal annotation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3700" b="1" dirty="0">
                <a:solidFill>
                  <a:srgbClr val="1A5490"/>
                </a:solidFill>
              </a:rPr>
              <a:t>Innovation: Where Tradition Meets Technology</a:t>
            </a:r>
            <a:endParaRPr lang="en-US" sz="3000" dirty="0"/>
          </a:p>
        </p:txBody>
      </p:sp>
      <p:sp>
        <p:nvSpPr>
          <p:cNvPr id="3" name="Text 1"/>
          <p:cNvSpPr/>
          <p:nvPr/>
        </p:nvSpPr>
        <p:spPr>
          <a:xfrm>
            <a:off x="457200" y="1188720"/>
            <a:ext cx="3931920" cy="365760"/>
          </a:xfrm>
          <a:prstGeom prst="rect">
            <a:avLst/>
          </a:prstGeom>
          <a:noFill/>
          <a:ln/>
        </p:spPr>
        <p:txBody>
          <a:bodyPr wrap="square" rtlCol="0" anchor="ctr"/>
          <a:lstStyle/>
          <a:p>
            <a:pPr indent="0" marL="0">
              <a:buNone/>
            </a:pPr>
            <a:r>
              <a:rPr lang="en-US" sz="2000" b="1" dirty="0">
                <a:solidFill>
                  <a:srgbClr val="1A5490"/>
                </a:solidFill>
              </a:rPr>
              <a:t>Traditional Philology</a:t>
            </a:r>
            <a:endParaRPr lang="en-US" sz="1600" dirty="0"/>
          </a:p>
        </p:txBody>
      </p:sp>
      <p:sp>
        <p:nvSpPr>
          <p:cNvPr id="4" name="Text 2"/>
          <p:cNvSpPr/>
          <p:nvPr/>
        </p:nvSpPr>
        <p:spPr>
          <a:xfrm>
            <a:off x="457200" y="1645920"/>
            <a:ext cx="3931920" cy="1097280"/>
          </a:xfrm>
          <a:prstGeom prst="rect">
            <a:avLst/>
          </a:prstGeom>
          <a:noFill/>
          <a:ln/>
        </p:spPr>
        <p:txBody>
          <a:bodyPr wrap="square" rtlCol="0" anchor="ctr"/>
          <a:lstStyle/>
          <a:p>
            <a:pPr indent="0" marL="0">
              <a:buNone/>
            </a:pPr>
            <a:r>
              <a:rPr lang="en-US" sz="1800" dirty="0">
                <a:solidFill>
                  <a:srgbClr val="000000"/>
                </a:solidFill>
              </a:rPr>
              <a:t>✓ Close reading</a:t>
            </a:r>
            <a:endParaRPr lang="en-US" sz="1200" dirty="0"/>
          </a:p>
          <a:p>
            <a:pPr indent="0" marL="0">
              <a:buNone/>
            </a:pPr>
            <a:r>
              <a:rPr lang="en-US" sz="1800" dirty="0">
                <a:solidFill>
                  <a:srgbClr val="000000"/>
                </a:solidFill>
              </a:rPr>
              <a:t>✓ Manuscript expertise</a:t>
            </a:r>
            <a:endParaRPr lang="en-US" sz="1200" dirty="0"/>
          </a:p>
          <a:p>
            <a:pPr indent="0" marL="0">
              <a:buNone/>
            </a:pPr>
            <a:r>
              <a:rPr lang="en-US" sz="1800" dirty="0">
                <a:solidFill>
                  <a:srgbClr val="000000"/>
                </a:solidFill>
              </a:rPr>
              <a:t>✓ Historical context</a:t>
            </a:r>
            <a:endParaRPr lang="en-US" sz="1200" dirty="0"/>
          </a:p>
          <a:p>
            <a:pPr indent="0" marL="0">
              <a:buNone/>
            </a:pPr>
            <a:r>
              <a:rPr lang="en-US" sz="1800" dirty="0">
                <a:solidFill>
                  <a:srgbClr val="000000"/>
                </a:solidFill>
              </a:rPr>
              <a:t>✓ Linguistic intuition</a:t>
            </a:r>
            <a:endParaRPr lang="en-US" sz="1200" dirty="0"/>
          </a:p>
        </p:txBody>
      </p:sp>
      <p:sp>
        <p:nvSpPr>
          <p:cNvPr id="5" name="Text 3"/>
          <p:cNvSpPr/>
          <p:nvPr/>
        </p:nvSpPr>
        <p:spPr>
          <a:xfrm>
            <a:off x="4572000" y="1188720"/>
            <a:ext cx="3931920" cy="365760"/>
          </a:xfrm>
          <a:prstGeom prst="rect">
            <a:avLst/>
          </a:prstGeom>
          <a:noFill/>
          <a:ln/>
        </p:spPr>
        <p:txBody>
          <a:bodyPr wrap="square" rtlCol="0" anchor="ctr"/>
          <a:lstStyle/>
          <a:p>
            <a:pPr indent="0" marL="0">
              <a:buNone/>
            </a:pPr>
            <a:r>
              <a:rPr lang="en-US" sz="2000" b="1" dirty="0">
                <a:solidFill>
                  <a:srgbClr val="2E7D32"/>
                </a:solidFill>
              </a:rPr>
              <a:t>Computational Methods</a:t>
            </a:r>
            <a:endParaRPr lang="en-US" sz="1600" dirty="0"/>
          </a:p>
        </p:txBody>
      </p:sp>
      <p:sp>
        <p:nvSpPr>
          <p:cNvPr id="6" name="Text 4"/>
          <p:cNvSpPr/>
          <p:nvPr/>
        </p:nvSpPr>
        <p:spPr>
          <a:xfrm>
            <a:off x="4572000" y="1645920"/>
            <a:ext cx="3931920" cy="1097280"/>
          </a:xfrm>
          <a:prstGeom prst="rect">
            <a:avLst/>
          </a:prstGeom>
          <a:noFill/>
          <a:ln/>
        </p:spPr>
        <p:txBody>
          <a:bodyPr wrap="square" rtlCol="0" anchor="ctr"/>
          <a:lstStyle/>
          <a:p>
            <a:pPr indent="0" marL="0">
              <a:buNone/>
            </a:pPr>
            <a:r>
              <a:rPr lang="en-US" sz="1800" dirty="0">
                <a:solidFill>
                  <a:srgbClr val="000000"/>
                </a:solidFill>
              </a:rPr>
              <a:t>✓ Statistical analysis</a:t>
            </a:r>
            <a:endParaRPr lang="en-US" sz="1200" dirty="0"/>
          </a:p>
          <a:p>
            <a:pPr indent="0" marL="0">
              <a:buNone/>
            </a:pPr>
            <a:r>
              <a:rPr lang="en-US" sz="1800" dirty="0">
                <a:solidFill>
                  <a:srgbClr val="000000"/>
                </a:solidFill>
              </a:rPr>
              <a:t>✓ Pattern detection</a:t>
            </a:r>
            <a:endParaRPr lang="en-US" sz="1200" dirty="0"/>
          </a:p>
          <a:p>
            <a:pPr indent="0" marL="0">
              <a:buNone/>
            </a:pPr>
            <a:r>
              <a:rPr lang="en-US" sz="1800" dirty="0">
                <a:solidFill>
                  <a:srgbClr val="000000"/>
                </a:solidFill>
              </a:rPr>
              <a:t>✓ Large-scale comparison</a:t>
            </a:r>
            <a:endParaRPr lang="en-US" sz="1200" dirty="0"/>
          </a:p>
          <a:p>
            <a:pPr indent="0" marL="0">
              <a:buNone/>
            </a:pPr>
            <a:r>
              <a:rPr lang="en-US" sz="1800" dirty="0">
                <a:solidFill>
                  <a:srgbClr val="000000"/>
                </a:solidFill>
              </a:rPr>
              <a:t>✓ Automated annotation</a:t>
            </a:r>
            <a:endParaRPr lang="en-US" sz="1200" dirty="0"/>
          </a:p>
        </p:txBody>
      </p:sp>
      <p:sp>
        <p:nvSpPr>
          <p:cNvPr id="7" name="Text 5"/>
          <p:cNvSpPr/>
          <p:nvPr/>
        </p:nvSpPr>
        <p:spPr>
          <a:xfrm>
            <a:off x="457200" y="3017520"/>
            <a:ext cx="8229600" cy="457200"/>
          </a:xfrm>
          <a:prstGeom prst="rect">
            <a:avLst/>
          </a:prstGeom>
          <a:noFill/>
          <a:ln/>
        </p:spPr>
        <p:txBody>
          <a:bodyPr wrap="square" rtlCol="0" anchor="ctr"/>
          <a:lstStyle/>
          <a:p>
            <a:pPr algn="ctr" indent="0" marL="0">
              <a:buNone/>
            </a:pPr>
            <a:r>
              <a:rPr lang="en-US" sz="2200" b="1" dirty="0">
                <a:solidFill>
                  <a:srgbClr val="8B6914"/>
                </a:solidFill>
              </a:rPr>
              <a:t>SYNTHESIS = BREAKTHROUGH</a:t>
            </a:r>
            <a:endParaRPr lang="en-US" sz="1800" dirty="0"/>
          </a:p>
        </p:txBody>
      </p:sp>
      <p:sp>
        <p:nvSpPr>
          <p:cNvPr id="8" name="Text 6"/>
          <p:cNvSpPr/>
          <p:nvPr/>
        </p:nvSpPr>
        <p:spPr>
          <a:xfrm>
            <a:off x="457200" y="3566160"/>
            <a:ext cx="8229600" cy="274320"/>
          </a:xfrm>
          <a:prstGeom prst="rect">
            <a:avLst/>
          </a:prstGeom>
          <a:noFill/>
          <a:ln/>
        </p:spPr>
        <p:txBody>
          <a:bodyPr wrap="square" rtlCol="0" anchor="ctr"/>
          <a:lstStyle/>
          <a:p>
            <a:pPr indent="0" marL="0">
              <a:buNone/>
            </a:pPr>
            <a:r>
              <a:rPr sz="1800"/>
              <a:t>Innovation: Where Tradition Meets Technology
Traditional Philology
✓ Close reading
✓ Manuscript expertise
✓ Historical context
✓ Linguistic intuition
Computational Methods
✓ Statistical analysis
✓ Pattern detection
✓ Large-scale comparison
✓ Automated annotation
Historical Linguistics
✓ Diachronic analysis
✓ Language change patterns
✓ Contact-induced variation
✓ Grammaticalization pathways
SYNTHESIS = BREAKTHROUGH
Integrated Approach: Combining philological-linguistic expertise with computational power and historical linguistic theory</a:t>
            </a:r>
            <a:endParaRPr lang="en-US" sz="1300" dirty="0"/>
          </a:p>
        </p:txBody>
      </p:sp>
      <p:sp>
        <p:nvSpPr>
          <p:cNvPr id="9" name="Text 7"/>
          <p:cNvSpPr/>
          <p:nvPr/>
        </p:nvSpPr>
        <p:spPr>
          <a:xfrm>
            <a:off x="914400" y="3931920"/>
            <a:ext cx="7315200" cy="548640"/>
          </a:xfrm>
          <a:prstGeom prst="rect">
            <a:avLst/>
          </a:prstGeom>
          <a:noFill/>
          <a:ln/>
        </p:spPr>
        <p:txBody>
          <a:bodyPr wrap="square" rtlCol="0" anchor="ctr"/>
          <a:lstStyle/>
          <a:p>
            <a:pPr indent="0" marL="0">
              <a:buNone/>
            </a:pPr>
            <a:r>
              <a:rPr lang="en-US" sz="1800" dirty="0">
                <a:solidFill>
                  <a:srgbClr val="000000"/>
                </a:solidFill>
              </a:rPr>
              <a:t>• Graph-based representations: Preserving manuscript variations</a:t>
            </a:r>
            <a:endParaRPr lang="en-US" sz="1100" dirty="0"/>
          </a:p>
          <a:p>
            <a:pPr indent="0" marL="0">
              <a:buNone/>
            </a:pPr>
            <a:r>
              <a:rPr lang="en-US" sz="1800" dirty="0">
                <a:solidFill>
                  <a:srgbClr val="000000"/>
                </a:solidFill>
              </a:rPr>
              <a:t>• Multi-temporal annotation: Tracking changes within texts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5490"/>
                </a:solidFill>
              </a:rPr>
              <a:t>Emerging Findings: What We're Discovering</a:t>
            </a:r>
            <a:endParaRPr lang="en-US" sz="3200" dirty="0"/>
          </a:p>
        </p:txBody>
      </p:sp>
      <p:sp>
        <p:nvSpPr>
          <p:cNvPr id="3" name="Text 1"/>
          <p:cNvSpPr/>
          <p:nvPr/>
        </p:nvSpPr>
        <p:spPr>
          <a:xfrm>
            <a:off x="457200" y="1188720"/>
            <a:ext cx="8229600" cy="365760"/>
          </a:xfrm>
          <a:prstGeom prst="rect">
            <a:avLst/>
          </a:prstGeom>
          <a:noFill/>
          <a:ln/>
        </p:spPr>
        <p:txBody>
          <a:bodyPr wrap="square" rtlCol="0" anchor="ctr"/>
          <a:lstStyle/>
          <a:p>
            <a:pPr indent="0" marL="0">
              <a:buNone/>
            </a:pPr>
            <a:r>
              <a:rPr lang="en-US" sz="1800" b="1" dirty="0">
                <a:solidFill>
                  <a:srgbClr val="8B6914"/>
                </a:solidFill>
              </a:rPr>
              <a:t>Finding 1: Translation Prestige Effect</a:t>
            </a:r>
            <a:endParaRPr lang="en-US" sz="1400" dirty="0"/>
          </a:p>
        </p:txBody>
      </p:sp>
      <p:sp>
        <p:nvSpPr>
          <p:cNvPr id="4" name="Text 2"/>
          <p:cNvSpPr/>
          <p:nvPr/>
        </p:nvSpPr>
        <p:spPr>
          <a:xfrm>
            <a:off x="457200" y="1554480"/>
            <a:ext cx="8229600" cy="365760"/>
          </a:xfrm>
          <a:prstGeom prst="rect">
            <a:avLst/>
          </a:prstGeom>
          <a:noFill/>
          <a:ln/>
        </p:spPr>
        <p:txBody>
          <a:bodyPr wrap="square" rtlCol="0" anchor="ctr"/>
          <a:lstStyle/>
          <a:p>
            <a:pPr indent="0" marL="0">
              <a:buNone/>
            </a:pPr>
            <a:r>
              <a:rPr lang="en-US" sz="1800" dirty="0">
                <a:solidFill>
                  <a:srgbClr val="000000"/>
                </a:solidFill>
              </a:rPr>
              <a:t>Prestigious source languages trigger more organized structural changes than register variation</a:t>
            </a:r>
            <a:endParaRPr lang="en-US" sz="1100" dirty="0"/>
          </a:p>
        </p:txBody>
      </p:sp>
      <p:sp>
        <p:nvSpPr>
          <p:cNvPr id="5" name="Text 3"/>
          <p:cNvSpPr/>
          <p:nvPr/>
        </p:nvSpPr>
        <p:spPr>
          <a:xfrm>
            <a:off x="457200" y="2011680"/>
            <a:ext cx="8229600" cy="365760"/>
          </a:xfrm>
          <a:prstGeom prst="rect">
            <a:avLst/>
          </a:prstGeom>
          <a:noFill/>
          <a:ln/>
        </p:spPr>
        <p:txBody>
          <a:bodyPr wrap="square" rtlCol="0" anchor="ctr"/>
          <a:lstStyle/>
          <a:p>
            <a:pPr indent="0" marL="0">
              <a:buNone/>
            </a:pPr>
            <a:r>
              <a:rPr lang="en-US" sz="1800" b="1" dirty="0">
                <a:solidFill>
                  <a:srgbClr val="2E7D32"/>
                </a:solidFill>
              </a:rPr>
              <a:t>Finding 2: Calquing Patterns</a:t>
            </a:r>
            <a:endParaRPr lang="en-US" sz="1400" dirty="0"/>
          </a:p>
        </p:txBody>
      </p:sp>
      <p:sp>
        <p:nvSpPr>
          <p:cNvPr id="6" name="Text 4"/>
          <p:cNvSpPr/>
          <p:nvPr/>
        </p:nvSpPr>
        <p:spPr>
          <a:xfrm>
            <a:off x="457200" y="2377440"/>
            <a:ext cx="8229600" cy="365760"/>
          </a:xfrm>
          <a:prstGeom prst="rect">
            <a:avLst/>
          </a:prstGeom>
          <a:noFill/>
          <a:ln/>
        </p:spPr>
        <p:txBody>
          <a:bodyPr wrap="square" rtlCol="0" anchor="ctr"/>
          <a:lstStyle/>
          <a:p>
            <a:pPr indent="0" marL="0">
              <a:buNone/>
            </a:pPr>
            <a:r>
              <a:rPr lang="en-US" sz="1800" dirty="0">
                <a:solidFill>
                  <a:srgbClr val="000000"/>
                </a:solidFill>
              </a:rPr>
              <a:t>Greek translators selectively adopt foreign structures based on semantic compatibility</a:t>
            </a:r>
            <a:endParaRPr lang="en-US" sz="1100" dirty="0"/>
          </a:p>
        </p:txBody>
      </p:sp>
      <p:sp>
        <p:nvSpPr>
          <p:cNvPr id="7" name="Text 5"/>
          <p:cNvSpPr/>
          <p:nvPr/>
        </p:nvSpPr>
        <p:spPr>
          <a:xfrm>
            <a:off x="457200" y="2834640"/>
            <a:ext cx="8229600" cy="365760"/>
          </a:xfrm>
          <a:prstGeom prst="rect">
            <a:avLst/>
          </a:prstGeom>
          <a:noFill/>
          <a:ln/>
        </p:spPr>
        <p:txBody>
          <a:bodyPr wrap="square" rtlCol="0" anchor="ctr"/>
          <a:lstStyle/>
          <a:p>
            <a:pPr indent="0" marL="0">
              <a:buNone/>
            </a:pPr>
            <a:r>
              <a:rPr lang="en-US" sz="1800" b="1" dirty="0">
                <a:solidFill>
                  <a:srgbClr val="1A5490"/>
                </a:solidFill>
              </a:rPr>
              <a:t>Finding 3: Retranslation Chains</a:t>
            </a:r>
            <a:endParaRPr lang="en-US" sz="1400" dirty="0"/>
          </a:p>
        </p:txBody>
      </p:sp>
      <p:sp>
        <p:nvSpPr>
          <p:cNvPr id="8" name="Text 6"/>
          <p:cNvSpPr/>
          <p:nvPr/>
        </p:nvSpPr>
        <p:spPr>
          <a:xfrm>
            <a:off x="457200" y="3200400"/>
            <a:ext cx="8229600" cy="365760"/>
          </a:xfrm>
          <a:prstGeom prst="rect">
            <a:avLst/>
          </a:prstGeom>
          <a:noFill/>
          <a:ln/>
        </p:spPr>
        <p:txBody>
          <a:bodyPr wrap="square" rtlCol="0" anchor="ctr"/>
          <a:lstStyle/>
          <a:p>
            <a:pPr indent="0" marL="0">
              <a:buNone/>
            </a:pPr>
            <a:r>
              <a:rPr lang="en-US" sz="1800" dirty="0">
                <a:solidFill>
                  <a:srgbClr val="000000"/>
                </a:solidFill>
              </a:rPr>
              <a:t>Active retranslations show purposeful updates reflecting contemporary linguistic norms</a:t>
            </a:r>
            <a:endParaRPr lang="en-US" sz="1100" dirty="0"/>
          </a:p>
        </p:txBody>
      </p:sp>
      <p:sp>
        <p:nvSpPr>
          <p:cNvPr id="9" name="Text 7"/>
          <p:cNvSpPr/>
          <p:nvPr/>
        </p:nvSpPr>
        <p:spPr>
          <a:xfrm>
            <a:off x="457200" y="3657600"/>
            <a:ext cx="8229600" cy="365760"/>
          </a:xfrm>
          <a:prstGeom prst="rect">
            <a:avLst/>
          </a:prstGeom>
          <a:noFill/>
          <a:ln/>
        </p:spPr>
        <p:txBody>
          <a:bodyPr wrap="square" rtlCol="0" anchor="ctr"/>
          <a:lstStyle/>
          <a:p>
            <a:pPr indent="0" marL="0">
              <a:buNone/>
            </a:pPr>
            <a:r>
              <a:rPr lang="en-US" sz="1800" b="1" dirty="0">
                <a:solidFill>
                  <a:srgbClr val="8B6914"/>
                </a:solidFill>
              </a:rPr>
              <a:t>Finding 4: Semi-Natural Change</a:t>
            </a:r>
            <a:endParaRPr lang="en-US" sz="1400" dirty="0"/>
          </a:p>
        </p:txBody>
      </p:sp>
      <p:sp>
        <p:nvSpPr>
          <p:cNvPr id="10" name="Text 8"/>
          <p:cNvSpPr/>
          <p:nvPr/>
        </p:nvSpPr>
        <p:spPr>
          <a:xfrm>
            <a:off x="457200" y="4023360"/>
            <a:ext cx="8229600" cy="365760"/>
          </a:xfrm>
          <a:prstGeom prst="rect">
            <a:avLst/>
          </a:prstGeom>
          <a:noFill/>
          <a:ln/>
        </p:spPr>
        <p:txBody>
          <a:bodyPr wrap="square" rtlCol="0" anchor="ctr"/>
          <a:lstStyle/>
          <a:p>
            <a:pPr indent="0" marL="0">
              <a:buNone/>
            </a:pPr>
            <a:r>
              <a:rPr lang="en-US" sz="1800" dirty="0">
                <a:solidFill>
                  <a:srgbClr val="000000"/>
                </a:solidFill>
              </a:rPr>
              <a:t>Translation-induced changes follow natural language evolution pathways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sz="1800"/>
              <a:t>International Partnership: ARCAS at Harvard CHS
Day 3 Special Session
[First names needed] Belmehdi • [First names needed] Papadopoulou • [First names needed] Razanajao
ARCAS Digital Platform
Advanced Research Collaboration and Analysis System
Key Areas of Collaboration:
• Digital text editions and critical apparatus
• Collaborative annotation frameworks
• Semantic networks and cross-referencing
• Machine learning for textual analysis
• Integration with existing resources
Synergy Focus:
• Perseus Digital Library integration
• Homeric and classical tradition
• Byzantine textual transmission
• Medieval manuscript studies
• Computational philology methods</a:t>
            </a:r>
            <a:endParaRPr lang="en-US" sz="30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2000" b="1" dirty="0">
                <a:solidFill>
                  <a:srgbClr val="8B6914"/>
                </a:solidFill>
              </a:rPr>
              <a:t>Day 3 Special Session</a:t>
            </a:r>
            <a:endParaRPr lang="en-US" sz="1600" dirty="0"/>
          </a:p>
        </p:txBody>
      </p:sp>
      <p:sp>
        <p:nvSpPr>
          <p:cNvPr id="4" name="Text 2"/>
          <p:cNvSpPr/>
          <p:nvPr/>
        </p:nvSpPr>
        <p:spPr>
          <a:xfrm>
            <a:off x="457200" y="1371600"/>
            <a:ext cx="8229600" cy="274320"/>
          </a:xfrm>
          <a:prstGeom prst="rect">
            <a:avLst/>
          </a:prstGeom>
          <a:noFill/>
          <a:ln/>
        </p:spPr>
        <p:txBody>
          <a:bodyPr wrap="square" rtlCol="0" anchor="ctr"/>
          <a:lstStyle/>
          <a:p>
            <a:pPr algn="ctr" indent="0" marL="0">
              <a:buNone/>
            </a:pPr>
            <a:r>
              <a:rPr lang="en-US" sz="1800" dirty="0">
                <a:solidFill>
                  <a:srgbClr val="000000"/>
                </a:solidFill>
              </a:rPr>
              <a:t>[First Name] Belmehdi • [First Name] Papadopoulou • [First Name] Razanajao</a:t>
            </a:r>
            <a:endParaRPr lang="en-US" sz="1300" dirty="0"/>
          </a:p>
        </p:txBody>
      </p:sp>
      <p:sp>
        <p:nvSpPr>
          <p:cNvPr id="5" name="Text 3"/>
          <p:cNvSpPr/>
          <p:nvPr/>
        </p:nvSpPr>
        <p:spPr>
          <a:xfrm>
            <a:off x="457200" y="1828800"/>
            <a:ext cx="8229600" cy="365760"/>
          </a:xfrm>
          <a:prstGeom prst="rect">
            <a:avLst/>
          </a:prstGeom>
          <a:noFill/>
          <a:ln/>
        </p:spPr>
        <p:txBody>
          <a:bodyPr wrap="square" rtlCol="0" anchor="ctr"/>
          <a:lstStyle/>
          <a:p>
            <a:pPr indent="0" marL="0">
              <a:buNone/>
            </a:pPr>
            <a:r>
              <a:rPr sz="1800"/>
              <a:t>International Partnership: ARCAS at Harvard CHS
Day 3 Special Session
[First names needed] Belmehdi • [First names needed] Papadopoulou • [First names needed] Razanajao
ARCAS Digital Platform
Advanced Research Collaboration and Analysis System
Key Areas of Collaboration:
• Digital text editions and critical apparatus
• Collaborative annotation frameworks
• Semantic networks and cross-referencing
• Machine learning for textual analysis
• Integration with existing resources
Synergy Focus:
• Perseus Digital Library integration
• Homeric and classical tradition
• Byzantine textual transmission
• Medieval manuscript studies
• Computational philology methods</a:t>
            </a:r>
            <a:endParaRPr lang="en-US" sz="1400" dirty="0"/>
          </a:p>
        </p:txBody>
      </p:sp>
      <p:sp>
        <p:nvSpPr>
          <p:cNvPr id="6" name="Text 4"/>
          <p:cNvSpPr/>
          <p:nvPr/>
        </p:nvSpPr>
        <p:spPr>
          <a:xfrm>
            <a:off x="457200" y="2194560"/>
            <a:ext cx="8229600" cy="274320"/>
          </a:xfrm>
          <a:prstGeom prst="rect">
            <a:avLst/>
          </a:prstGeom>
          <a:noFill/>
          <a:ln/>
        </p:spPr>
        <p:txBody>
          <a:bodyPr wrap="square" rtlCol="0" anchor="ctr"/>
          <a:lstStyle/>
          <a:p>
            <a:pPr algn="ctr" indent="0" marL="0">
              <a:buNone/>
            </a:pPr>
            <a:r>
              <a:rPr lang="en-US" sz="1800" i="1" dirty="0">
                <a:solidFill>
                  <a:srgbClr val="000000"/>
                </a:solidFill>
              </a:rPr>
              <a:t>Advanced Research Collaboration and Analysis System</a:t>
            </a:r>
            <a:endParaRPr lang="en-US" sz="1100" dirty="0"/>
          </a:p>
        </p:txBody>
      </p:sp>
      <p:sp>
        <p:nvSpPr>
          <p:cNvPr id="7" name="Text 5"/>
          <p:cNvSpPr/>
          <p:nvPr/>
        </p:nvSpPr>
        <p:spPr>
          <a:xfrm>
            <a:off x="914400" y="2560320"/>
            <a:ext cx="7315200" cy="914400"/>
          </a:xfrm>
          <a:prstGeom prst="rect">
            <a:avLst/>
          </a:prstGeom>
          <a:noFill/>
          <a:ln/>
        </p:spPr>
        <p:txBody>
          <a:bodyPr wrap="square" rtlCol="0" anchor="ctr"/>
          <a:lstStyle/>
          <a:p>
            <a:pPr indent="0" marL="0">
              <a:buNone/>
            </a:pPr>
            <a:r>
              <a:rPr lang="en-US" sz="1800" dirty="0">
                <a:solidFill>
                  <a:srgbClr val="000000"/>
                </a:solidFill>
              </a:rPr>
              <a:t>• Digital text editions</a:t>
            </a:r>
            <a:endParaRPr lang="en-US" sz="1100" dirty="0"/>
          </a:p>
          <a:p>
            <a:pPr indent="0" marL="0">
              <a:buNone/>
            </a:pPr>
            <a:r>
              <a:rPr lang="en-US" sz="1800" dirty="0">
                <a:solidFill>
                  <a:srgbClr val="000000"/>
                </a:solidFill>
              </a:rPr>
              <a:t>• Collaborative annotation</a:t>
            </a:r>
            <a:endParaRPr lang="en-US" sz="1100" dirty="0"/>
          </a:p>
          <a:p>
            <a:pPr indent="0" marL="0">
              <a:buNone/>
            </a:pPr>
            <a:r>
              <a:rPr lang="en-US" sz="1800" dirty="0">
                <a:solidFill>
                  <a:srgbClr val="000000"/>
                </a:solidFill>
              </a:rPr>
              <a:t>• Cross-reference networks</a:t>
            </a:r>
            <a:endParaRPr lang="en-US" sz="1100" dirty="0"/>
          </a:p>
          <a:p>
            <a:pPr indent="0" marL="0">
              <a:buNone/>
            </a:pPr>
            <a:r>
              <a:rPr lang="en-US" sz="1800" dirty="0">
                <a:solidFill>
                  <a:srgbClr val="000000"/>
                </a:solidFill>
              </a:rPr>
              <a:t>• Machine learning integration</a:t>
            </a:r>
            <a:endParaRPr lang="en-US" sz="1100" dirty="0"/>
          </a:p>
        </p:txBody>
      </p:sp>
      <p:sp>
        <p:nvSpPr>
          <p:cNvPr id="8" name="Text 6"/>
          <p:cNvSpPr/>
          <p:nvPr/>
        </p:nvSpPr>
        <p:spPr>
          <a:xfrm>
            <a:off x="457200" y="3931920"/>
            <a:ext cx="8229600" cy="457200"/>
          </a:xfrm>
          <a:prstGeom prst="rect">
            <a:avLst/>
          </a:prstGeom>
          <a:noFill/>
          <a:ln/>
        </p:spPr>
        <p:txBody>
          <a:bodyPr wrap="square" rtlCol="0" anchor="ctr"/>
          <a:lstStyle/>
          <a:p>
            <a:pPr algn="ctr" indent="0" marL="0">
              <a:buNone/>
            </a:pPr>
            <a:r>
              <a:rPr lang="en-US" sz="1800" dirty="0">
                <a:solidFill>
                  <a:srgbClr val="6B6B6B"/>
                </a:solidFill>
              </a:rPr>
              <a:t>Synergy Points: Perseus Digital Library • Homeric tradition • Byzantine texts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sz="2000"/>
              <a:t>Our Active Participation: Workshop Dynamics
This is OUR workshop - engage, question, collaborate
Collaborative Dialogue
• Open discussions
• Shared insights
• Collective problem-solving
Building Partnerships
• Cross-institutional collaboration
• Methodological exchange
• Future proposal preparation
Engage Together:
• How might our research intersect?
• What methodological challenges do we face?
• Which collaborative opportunities exist?</a:t>
            </a:r>
            <a:endParaRPr lang="en-US" sz="30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1800" i="1" dirty="0">
                <a:solidFill>
                  <a:srgbClr val="2E7D32"/>
                </a:solidFill>
              </a:rPr>
              <a:t>This is OUR workshop - engage, question, collaborate</a:t>
            </a:r>
            <a:endParaRPr lang="en-US" sz="1400" dirty="0"/>
          </a:p>
        </p:txBody>
      </p:sp>
      <p:sp>
        <p:nvSpPr>
          <p:cNvPr id="4" name="Text 2"/>
          <p:cNvSpPr/>
          <p:nvPr/>
        </p:nvSpPr>
        <p:spPr>
          <a:xfrm>
            <a:off x="457200" y="1554480"/>
            <a:ext cx="3931920" cy="365760"/>
          </a:xfrm>
          <a:prstGeom prst="rect">
            <a:avLst/>
          </a:prstGeom>
          <a:noFill/>
          <a:ln/>
        </p:spPr>
        <p:txBody>
          <a:bodyPr wrap="square" rtlCol="0" anchor="ctr"/>
          <a:lstStyle/>
          <a:p>
            <a:pPr indent="0" marL="0">
              <a:buNone/>
            </a:pPr>
            <a:r>
              <a:rPr sz="2000"/>
              <a:t>Our Active Participation: Workshop Dynamics
This is OUR workshop - engage, question, collaborate
Collaborative Dialogue
• Open discussions
• Shared insights
• Collective problem-solving
Building Partnerships
• Cross-institutional collaboration
• Methodological exchange
• Future proposal preparation
Engage Together:
• How might our research intersect?
• What methodological challenges do we face?
• Which collaborative opportunities exist?</a:t>
            </a:r>
            <a:endParaRPr lang="en-US" sz="1400" dirty="0"/>
          </a:p>
        </p:txBody>
      </p:sp>
      <p:sp>
        <p:nvSpPr>
          <p:cNvPr id="5" name="Text 3"/>
          <p:cNvSpPr/>
          <p:nvPr/>
        </p:nvSpPr>
        <p:spPr>
          <a:xfrm>
            <a:off x="457200" y="1920240"/>
            <a:ext cx="3931920" cy="731520"/>
          </a:xfrm>
          <a:prstGeom prst="rect">
            <a:avLst/>
          </a:prstGeom>
          <a:noFill/>
          <a:ln/>
        </p:spPr>
        <p:txBody>
          <a:bodyPr wrap="square" rtlCol="0" anchor="ctr"/>
          <a:lstStyle/>
          <a:p>
            <a:pPr indent="0" marL="0">
              <a:buNone/>
            </a:pPr>
            <a:r>
              <a:rPr lang="en-US" sz="1800" dirty="0">
                <a:solidFill>
                  <a:srgbClr val="000000"/>
                </a:solidFill>
              </a:rPr>
              <a:t>• 15-minute Q&amp;A periods</a:t>
            </a:r>
            <a:endParaRPr lang="en-US" sz="1100" dirty="0"/>
          </a:p>
          <a:p>
            <a:pPr indent="0" marL="0">
              <a:buNone/>
            </a:pPr>
            <a:r>
              <a:rPr lang="en-US" sz="1800" dirty="0">
                <a:solidFill>
                  <a:srgbClr val="000000"/>
                </a:solidFill>
              </a:rPr>
              <a:t>• Moderated panel discussions</a:t>
            </a:r>
            <a:endParaRPr lang="en-US" sz="1100" dirty="0"/>
          </a:p>
          <a:p>
            <a:pPr indent="0" marL="0">
              <a:buNone/>
            </a:pPr>
            <a:r>
              <a:rPr lang="en-US" sz="1800" dirty="0">
                <a:solidFill>
                  <a:srgbClr val="000000"/>
                </a:solidFill>
              </a:rPr>
              <a:t>• Open floor debates</a:t>
            </a:r>
            <a:endParaRPr lang="en-US" sz="1100" dirty="0"/>
          </a:p>
        </p:txBody>
      </p:sp>
      <p:sp>
        <p:nvSpPr>
          <p:cNvPr id="6" name="Text 4"/>
          <p:cNvSpPr/>
          <p:nvPr/>
        </p:nvSpPr>
        <p:spPr>
          <a:xfrm>
            <a:off x="4572000" y="1554480"/>
            <a:ext cx="3931920" cy="365760"/>
          </a:xfrm>
          <a:prstGeom prst="rect">
            <a:avLst/>
          </a:prstGeom>
          <a:noFill/>
          <a:ln/>
        </p:spPr>
        <p:txBody>
          <a:bodyPr wrap="square" rtlCol="0" anchor="ctr"/>
          <a:lstStyle/>
          <a:p>
            <a:pPr indent="0" marL="0">
              <a:buNone/>
            </a:pPr>
            <a:r>
              <a:rPr lang="en-US" sz="1800" b="1" dirty="0">
                <a:solidFill>
                  <a:srgbClr val="8B6914"/>
                </a:solidFill>
              </a:rPr>
              <a:t>Working Groups</a:t>
            </a:r>
            <a:endParaRPr lang="en-US" sz="1400" dirty="0"/>
          </a:p>
        </p:txBody>
      </p:sp>
      <p:sp>
        <p:nvSpPr>
          <p:cNvPr id="7" name="Text 5"/>
          <p:cNvSpPr/>
          <p:nvPr/>
        </p:nvSpPr>
        <p:spPr>
          <a:xfrm>
            <a:off x="4572000" y="1920240"/>
            <a:ext cx="3931920" cy="731520"/>
          </a:xfrm>
          <a:prstGeom prst="rect">
            <a:avLst/>
          </a:prstGeom>
          <a:noFill/>
          <a:ln/>
        </p:spPr>
        <p:txBody>
          <a:bodyPr wrap="square" rtlCol="0" anchor="ctr"/>
          <a:lstStyle/>
          <a:p>
            <a:pPr indent="0" marL="0">
              <a:buNone/>
            </a:pPr>
            <a:r>
              <a:rPr lang="en-US" sz="1800" dirty="0">
                <a:solidFill>
                  <a:srgbClr val="000000"/>
                </a:solidFill>
              </a:rPr>
              <a:t>• Technical challenges</a:t>
            </a:r>
            <a:endParaRPr lang="en-US" sz="1100" dirty="0"/>
          </a:p>
          <a:p>
            <a:pPr indent="0" marL="0">
              <a:buNone/>
            </a:pPr>
            <a:r>
              <a:rPr lang="en-US" sz="1800" dirty="0">
                <a:solidFill>
                  <a:srgbClr val="000000"/>
                </a:solidFill>
              </a:rPr>
              <a:t>• Methodological questions</a:t>
            </a:r>
            <a:endParaRPr lang="en-US" sz="1100" dirty="0"/>
          </a:p>
          <a:p>
            <a:pPr indent="0" marL="0">
              <a:buNone/>
            </a:pPr>
            <a:r>
              <a:rPr lang="en-US" sz="1800" dirty="0">
                <a:solidFill>
                  <a:srgbClr val="000000"/>
                </a:solidFill>
              </a:rPr>
              <a:t>• Future collaborations</a:t>
            </a:r>
            <a:endParaRPr lang="en-US" sz="1100" dirty="0"/>
          </a:p>
        </p:txBody>
      </p:sp>
      <p:sp>
        <p:nvSpPr>
          <p:cNvPr id="8" name="Text 6"/>
          <p:cNvSpPr/>
          <p:nvPr/>
        </p:nvSpPr>
        <p:spPr>
          <a:xfrm>
            <a:off x="457200" y="2926080"/>
            <a:ext cx="8229600" cy="365760"/>
          </a:xfrm>
          <a:prstGeom prst="rect">
            <a:avLst/>
          </a:prstGeom>
          <a:noFill/>
          <a:ln/>
        </p:spPr>
        <p:txBody>
          <a:bodyPr wrap="square" rtlCol="0" anchor="ctr"/>
          <a:lstStyle/>
          <a:p>
            <a:pPr indent="0" marL="0">
              <a:buNone/>
            </a:pPr>
            <a:r>
              <a:rPr lang="en-US" sz="1800" b="1" dirty="0">
                <a:solidFill>
                  <a:srgbClr val="1A5490"/>
                </a:solidFill>
              </a:rPr>
              <a:t>Prepare Our Questions:</a:t>
            </a:r>
            <a:endParaRPr lang="en-US" sz="1300" dirty="0"/>
          </a:p>
        </p:txBody>
      </p:sp>
      <p:sp>
        <p:nvSpPr>
          <p:cNvPr id="9" name="Text 7"/>
          <p:cNvSpPr/>
          <p:nvPr/>
        </p:nvSpPr>
        <p:spPr>
          <a:xfrm>
            <a:off x="914400" y="3291840"/>
            <a:ext cx="7315200" cy="731520"/>
          </a:xfrm>
          <a:prstGeom prst="rect">
            <a:avLst/>
          </a:prstGeom>
          <a:noFill/>
          <a:ln/>
        </p:spPr>
        <p:txBody>
          <a:bodyPr wrap="square" rtlCol="0" anchor="ctr"/>
          <a:lstStyle/>
          <a:p>
            <a:pPr indent="0" marL="0">
              <a:buNone/>
            </a:pPr>
            <a:r>
              <a:rPr lang="en-US" sz="1800" dirty="0">
                <a:solidFill>
                  <a:srgbClr val="000000"/>
                </a:solidFill>
              </a:rPr>
              <a:t>• How might our research intersect?</a:t>
            </a:r>
            <a:endParaRPr lang="en-US" sz="1100" dirty="0"/>
          </a:p>
          <a:p>
            <a:pPr indent="0" marL="0">
              <a:buNone/>
            </a:pPr>
            <a:r>
              <a:rPr lang="en-US" sz="1800" dirty="0">
                <a:solidFill>
                  <a:srgbClr val="000000"/>
                </a:solidFill>
              </a:rPr>
              <a:t>• What methodological challenges do you face?</a:t>
            </a:r>
            <a:endParaRPr lang="en-US" sz="1100" dirty="0"/>
          </a:p>
          <a:p>
            <a:pPr indent="0" marL="0">
              <a:buNone/>
            </a:pPr>
            <a:r>
              <a:rPr lang="en-US" sz="1800" dirty="0">
                <a:solidFill>
                  <a:srgbClr val="000000"/>
                </a:solidFill>
              </a:rPr>
              <a:t>• Which tools would benefit our work?</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sz="2000"/>
              <a:t>Future Resources: What AthDGC Will Offer
Open Access Commitment
All future tools, corpora, and research outputs will be freely available
Planned Infrastructure:
• Digital corpus repository
• Annotation tools and guidelines
• Collaborative research platform
• Open-access publications
• Training materials
Vision: Building an open ecosystem for diachronic corpus linguistics
github.com/athdgc</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2286000"/>
        </p:xfrm>
        <a:graphic>
          <a:graphicData uri="http://schemas.openxmlformats.org/drawingml/2006/table">
            <a:tbl>
              <a:tblPr/>
              <a:tblGrid>
                <a:gridCol w="2743200"/>
                <a:gridCol w="2743200"/>
                <a:gridCol w="2743200"/>
              </a:tblGrid>
              <a:tr h="571500">
                <a:tc>
                  <a:txBody>
                    <a:bodyPr/>
                    <a:lstStyle/>
                    <a:p>
                      <a:pPr indent="0" marL="0">
                        <a:buNone/>
                      </a:pPr>
                      <a:r>
                        <a:rPr lang="en-US" sz="1100" dirty="0">
                          <a:solidFill>
                            <a:srgbClr val="000000"/>
                          </a:solidFill>
                        </a:rPr>
                        <a:t>PROIEL Treebank</a:t>
                      </a:r>
                      <a:endParaRPr lang="en-US" sz="1100" dirty="0"/>
                    </a:p>
                  </a:txBody>
                  <a:tcPr marL="91440" marR="91440" marT="45720" marB="45720">
                    <a:lnL w="12700" cap="flat" cmpd="sng" algn="ctr">
                      <a:solidFill>
                        <a:srgbClr val="1A5490"/>
                      </a:solidFill>
                      <a:prstDash val="solid"/>
                      <a:round/>
                      <a:headEnd type="none" w="med" len="med"/>
                      <a:tailEnd type="none" w="med" len="med"/>
                    </a:lnL>
                    <a:lnR w="12700" cap="flat" cmpd="sng" algn="ctr">
                      <a:solidFill>
                        <a:srgbClr val="1A5490"/>
                      </a:solidFill>
                      <a:prstDash val="solid"/>
                      <a:round/>
                      <a:headEnd type="none" w="med" len="med"/>
                      <a:tailEnd type="none" w="med" len="med"/>
                    </a:lnR>
                    <a:lnT w="12700" cap="flat" cmpd="sng" algn="ctr">
                      <a:solidFill>
                        <a:srgbClr val="1A5490"/>
                      </a:solidFill>
                      <a:prstDash val="solid"/>
                      <a:round/>
                      <a:headEnd type="none" w="med" len="med"/>
                      <a:tailEnd type="none" w="med" len="med"/>
                    </a:lnT>
                    <a:lnB w="12700" cap="flat" cmpd="sng" algn="ctr">
                      <a:solidFill>
                        <a:srgbClr val="1A5490"/>
                      </a:solidFill>
                      <a:prstDash val="solid"/>
                      <a:round/>
                      <a:headEnd type="none" w="med" len="med"/>
                      <a:tailEnd type="none" w="med" len="med"/>
                    </a:lnB>
                    <a:solidFill>
                      <a:srgbClr val="F8F7F5"/>
                    </a:solidFill>
                  </a:tcPr>
                </a:tc>
                <a:tc>
                  <a:txBody>
                    <a:bodyPr/>
                    <a:lstStyle/>
                    <a:p>
                      <a:pPr indent="0" marL="0">
                        <a:buNone/>
                      </a:pPr>
                      <a:r>
                        <a:rPr lang="en-US" sz="1100" dirty="0">
                          <a:solidFill>
                            <a:srgbClr val="000000"/>
                          </a:solidFill>
                        </a:rPr>
                        <a:t>Stanza NLP</a:t>
                      </a:r>
                      <a:endParaRPr lang="en-US" sz="1100" dirty="0"/>
                    </a:p>
                  </a:txBody>
                  <a:tcPr marL="91440" marR="91440" marT="45720" marB="45720">
                    <a:lnL w="12700" cap="flat" cmpd="sng" algn="ctr">
                      <a:solidFill>
                        <a:srgbClr val="1A5490"/>
                      </a:solidFill>
                      <a:prstDash val="solid"/>
                      <a:round/>
                      <a:headEnd type="none" w="med" len="med"/>
                      <a:tailEnd type="none" w="med" len="med"/>
                    </a:lnL>
                    <a:lnR w="12700" cap="flat" cmpd="sng" algn="ctr">
                      <a:solidFill>
                        <a:srgbClr val="1A5490"/>
                      </a:solidFill>
                      <a:prstDash val="solid"/>
                      <a:round/>
                      <a:headEnd type="none" w="med" len="med"/>
                      <a:tailEnd type="none" w="med" len="med"/>
                    </a:lnR>
                    <a:lnT w="12700" cap="flat" cmpd="sng" algn="ctr">
                      <a:solidFill>
                        <a:srgbClr val="1A5490"/>
                      </a:solidFill>
                      <a:prstDash val="solid"/>
                      <a:round/>
                      <a:headEnd type="none" w="med" len="med"/>
                      <a:tailEnd type="none" w="med" len="med"/>
                    </a:lnT>
                    <a:lnB w="12700" cap="flat" cmpd="sng" algn="ctr">
                      <a:solidFill>
                        <a:srgbClr val="1A5490"/>
                      </a:solidFill>
                      <a:prstDash val="solid"/>
                      <a:round/>
                      <a:headEnd type="none" w="med" len="med"/>
                      <a:tailEnd type="none" w="med" len="med"/>
                    </a:lnB>
                    <a:solidFill>
                      <a:srgbClr val="F8F7F5"/>
                    </a:solidFill>
                  </a:tcPr>
                </a:tc>
                <a:tc>
                  <a:txBody>
                    <a:bodyPr/>
                    <a:lstStyle/>
                    <a:p>
                      <a:pPr indent="0" marL="0">
                        <a:buNone/>
                      </a:pPr>
                      <a:r>
                        <a:rPr lang="en-US" sz="1100" dirty="0">
                          <a:solidFill>
                            <a:srgbClr val="000000"/>
                          </a:solidFill>
                        </a:rPr>
                        <a:t>AthDGC Corpus</a:t>
                      </a:r>
                      <a:endParaRPr lang="en-US" sz="1100" dirty="0"/>
                    </a:p>
                  </a:txBody>
                  <a:tcPr marL="91440" marR="91440" marT="45720" marB="45720">
                    <a:lnL w="12700" cap="flat" cmpd="sng" algn="ctr">
                      <a:solidFill>
                        <a:srgbClr val="1A5490"/>
                      </a:solidFill>
                      <a:prstDash val="solid"/>
                      <a:round/>
                      <a:headEnd type="none" w="med" len="med"/>
                      <a:tailEnd type="none" w="med" len="med"/>
                    </a:lnL>
                    <a:lnR w="12700" cap="flat" cmpd="sng" algn="ctr">
                      <a:solidFill>
                        <a:srgbClr val="1A5490"/>
                      </a:solidFill>
                      <a:prstDash val="solid"/>
                      <a:round/>
                      <a:headEnd type="none" w="med" len="med"/>
                      <a:tailEnd type="none" w="med" len="med"/>
                    </a:lnR>
                    <a:lnT w="12700" cap="flat" cmpd="sng" algn="ctr">
                      <a:solidFill>
                        <a:srgbClr val="1A5490"/>
                      </a:solidFill>
                      <a:prstDash val="solid"/>
                      <a:round/>
                      <a:headEnd type="none" w="med" len="med"/>
                      <a:tailEnd type="none" w="med" len="med"/>
                    </a:lnT>
                    <a:lnB w="12700" cap="flat" cmpd="sng" algn="ctr">
                      <a:solidFill>
                        <a:srgbClr val="1A5490"/>
                      </a:solidFill>
                      <a:prstDash val="solid"/>
                      <a:round/>
                      <a:headEnd type="none" w="med" len="med"/>
                      <a:tailEnd type="none" w="med" len="med"/>
                    </a:lnB>
                    <a:solidFill>
                      <a:srgbClr val="F8F7F5"/>
                    </a:solidFill>
                  </a:tcPr>
                </a:tc>
              </a:tr>
              <a:tr h="571500">
                <a:tc>
                  <a:txBody>
                    <a:bodyPr/>
                    <a:lstStyle/>
                    <a:p>
                      <a:pPr indent="0" marL="0">
                        <a:buNone/>
                      </a:pPr>
                      <a:r>
                        <a:rPr lang="en-US" sz="1100" dirty="0">
                          <a:solidFill>
                            <a:srgbClr val="000000"/>
                          </a:solidFill>
                        </a:rPr>
                        <a:t>Dependency-annotated ancient texts</a:t>
                      </a:r>
                      <a:endParaRPr lang="en-US" sz="1100" dirty="0"/>
                    </a:p>
                  </a:txBody>
                  <a:tcPr marL="91440" marR="91440" marT="45720" marB="45720">
                    <a:lnL w="12700" cap="flat" cmpd="sng" algn="ctr">
                      <a:solidFill>
                        <a:srgbClr val="1A5490"/>
                      </a:solidFill>
                      <a:prstDash val="solid"/>
                      <a:round/>
                      <a:headEnd type="none" w="med" len="med"/>
                      <a:tailEnd type="none" w="med" len="med"/>
                    </a:lnL>
                    <a:lnR w="12700" cap="flat" cmpd="sng" algn="ctr">
                      <a:solidFill>
                        <a:srgbClr val="1A5490"/>
                      </a:solidFill>
                      <a:prstDash val="solid"/>
                      <a:round/>
                      <a:headEnd type="none" w="med" len="med"/>
                      <a:tailEnd type="none" w="med" len="med"/>
                    </a:lnR>
                    <a:lnT w="12700" cap="flat" cmpd="sng" algn="ctr">
                      <a:solidFill>
                        <a:srgbClr val="1A5490"/>
                      </a:solidFill>
                      <a:prstDash val="solid"/>
                      <a:round/>
                      <a:headEnd type="none" w="med" len="med"/>
                      <a:tailEnd type="none" w="med" len="med"/>
                    </a:lnT>
                    <a:lnB w="12700" cap="flat" cmpd="sng" algn="ctr">
                      <a:solidFill>
                        <a:srgbClr val="1A5490"/>
                      </a:solidFill>
                      <a:prstDash val="solid"/>
                      <a:round/>
                      <a:headEnd type="none" w="med" len="med"/>
                      <a:tailEnd type="none" w="med" len="med"/>
                    </a:lnB>
                    <a:solidFill>
                      <a:srgbClr val="F8F7F5"/>
                    </a:solidFill>
                  </a:tcPr>
                </a:tc>
                <a:tc>
                  <a:txBody>
                    <a:bodyPr/>
                    <a:lstStyle/>
                    <a:p>
                      <a:pPr indent="0" marL="0">
                        <a:buNone/>
                      </a:pPr>
                      <a:r>
                        <a:rPr lang="en-US" sz="1100" dirty="0">
                          <a:solidFill>
                            <a:srgbClr val="000000"/>
                          </a:solidFill>
                        </a:rPr>
                        <a:t>Modern Greek processing pipeline</a:t>
                      </a:r>
                      <a:endParaRPr lang="en-US" sz="1100" dirty="0"/>
                    </a:p>
                  </a:txBody>
                  <a:tcPr marL="91440" marR="91440" marT="45720" marB="45720">
                    <a:lnL w="12700" cap="flat" cmpd="sng" algn="ctr">
                      <a:solidFill>
                        <a:srgbClr val="1A5490"/>
                      </a:solidFill>
                      <a:prstDash val="solid"/>
                      <a:round/>
                      <a:headEnd type="none" w="med" len="med"/>
                      <a:tailEnd type="none" w="med" len="med"/>
                    </a:lnL>
                    <a:lnR w="12700" cap="flat" cmpd="sng" algn="ctr">
                      <a:solidFill>
                        <a:srgbClr val="1A5490"/>
                      </a:solidFill>
                      <a:prstDash val="solid"/>
                      <a:round/>
                      <a:headEnd type="none" w="med" len="med"/>
                      <a:tailEnd type="none" w="med" len="med"/>
                    </a:lnR>
                    <a:lnT w="12700" cap="flat" cmpd="sng" algn="ctr">
                      <a:solidFill>
                        <a:srgbClr val="1A5490"/>
                      </a:solidFill>
                      <a:prstDash val="solid"/>
                      <a:round/>
                      <a:headEnd type="none" w="med" len="med"/>
                      <a:tailEnd type="none" w="med" len="med"/>
                    </a:lnT>
                    <a:lnB w="12700" cap="flat" cmpd="sng" algn="ctr">
                      <a:solidFill>
                        <a:srgbClr val="1A5490"/>
                      </a:solidFill>
                      <a:prstDash val="solid"/>
                      <a:round/>
                      <a:headEnd type="none" w="med" len="med"/>
                      <a:tailEnd type="none" w="med" len="med"/>
                    </a:lnB>
                    <a:solidFill>
                      <a:srgbClr val="F8F7F5"/>
                    </a:solidFill>
                  </a:tcPr>
                </a:tc>
                <a:tc>
                  <a:txBody>
                    <a:bodyPr/>
                    <a:lstStyle/>
                    <a:p>
                      <a:pPr indent="0" marL="0">
                        <a:buNone/>
                      </a:pPr>
                      <a:r>
                        <a:rPr lang="en-US" sz="1100" dirty="0">
                          <a:solidFill>
                            <a:srgbClr val="000000"/>
                          </a:solidFill>
                        </a:rPr>
                        <a:t>3,000 years of aligned texts</a:t>
                      </a:r>
                      <a:endParaRPr lang="en-US" sz="1100" dirty="0"/>
                    </a:p>
                  </a:txBody>
                  <a:tcPr marL="91440" marR="91440" marT="45720" marB="45720">
                    <a:lnL w="12700" cap="flat" cmpd="sng" algn="ctr">
                      <a:solidFill>
                        <a:srgbClr val="1A5490"/>
                      </a:solidFill>
                      <a:prstDash val="solid"/>
                      <a:round/>
                      <a:headEnd type="none" w="med" len="med"/>
                      <a:tailEnd type="none" w="med" len="med"/>
                    </a:lnL>
                    <a:lnR w="12700" cap="flat" cmpd="sng" algn="ctr">
                      <a:solidFill>
                        <a:srgbClr val="1A5490"/>
                      </a:solidFill>
                      <a:prstDash val="solid"/>
                      <a:round/>
                      <a:headEnd type="none" w="med" len="med"/>
                      <a:tailEnd type="none" w="med" len="med"/>
                    </a:lnR>
                    <a:lnT w="12700" cap="flat" cmpd="sng" algn="ctr">
                      <a:solidFill>
                        <a:srgbClr val="1A5490"/>
                      </a:solidFill>
                      <a:prstDash val="solid"/>
                      <a:round/>
                      <a:headEnd type="none" w="med" len="med"/>
                      <a:tailEnd type="none" w="med" len="med"/>
                    </a:lnT>
                    <a:lnB w="12700" cap="flat" cmpd="sng" algn="ctr">
                      <a:solidFill>
                        <a:srgbClr val="1A5490"/>
                      </a:solidFill>
                      <a:prstDash val="solid"/>
                      <a:round/>
                      <a:headEnd type="none" w="med" len="med"/>
                      <a:tailEnd type="none" w="med" len="med"/>
                    </a:lnB>
                    <a:solidFill>
                      <a:srgbClr val="F8F7F5"/>
                    </a:solidFill>
                  </a:tcPr>
                </a:tc>
              </a:tr>
              <a:tr h="571500">
                <a:tc>
                  <a:txBody>
                    <a:bodyPr/>
                    <a:lstStyle/>
                    <a:p>
                      <a:pPr indent="0" marL="0">
                        <a:buNone/>
                      </a:pPr>
                      <a:r>
                        <a:rPr lang="en-US" sz="1100" dirty="0">
                          <a:solidFill>
                            <a:srgbClr val="000000"/>
                          </a:solidFill>
                        </a:rPr>
                        <a:t>Parser Models</a:t>
                      </a:r>
                      <a:endParaRPr lang="en-US" sz="1100" dirty="0"/>
                    </a:p>
                  </a:txBody>
                  <a:tcPr marL="91440" marR="91440" marT="45720" marB="45720">
                    <a:lnL w="12700" cap="flat" cmpd="sng" algn="ctr">
                      <a:solidFill>
                        <a:srgbClr val="1A5490"/>
                      </a:solidFill>
                      <a:prstDash val="solid"/>
                      <a:round/>
                      <a:headEnd type="none" w="med" len="med"/>
                      <a:tailEnd type="none" w="med" len="med"/>
                    </a:lnL>
                    <a:lnR w="12700" cap="flat" cmpd="sng" algn="ctr">
                      <a:solidFill>
                        <a:srgbClr val="1A5490"/>
                      </a:solidFill>
                      <a:prstDash val="solid"/>
                      <a:round/>
                      <a:headEnd type="none" w="med" len="med"/>
                      <a:tailEnd type="none" w="med" len="med"/>
                    </a:lnR>
                    <a:lnT w="12700" cap="flat" cmpd="sng" algn="ctr">
                      <a:solidFill>
                        <a:srgbClr val="1A5490"/>
                      </a:solidFill>
                      <a:prstDash val="solid"/>
                      <a:round/>
                      <a:headEnd type="none" w="med" len="med"/>
                      <a:tailEnd type="none" w="med" len="med"/>
                    </a:lnT>
                    <a:lnB w="12700" cap="flat" cmpd="sng" algn="ctr">
                      <a:solidFill>
                        <a:srgbClr val="1A5490"/>
                      </a:solidFill>
                      <a:prstDash val="solid"/>
                      <a:round/>
                      <a:headEnd type="none" w="med" len="med"/>
                      <a:tailEnd type="none" w="med" len="med"/>
                    </a:lnB>
                    <a:solidFill>
                      <a:srgbClr val="F8F7F5"/>
                    </a:solidFill>
                  </a:tcPr>
                </a:tc>
                <a:tc>
                  <a:txBody>
                    <a:bodyPr/>
                    <a:lstStyle/>
                    <a:p>
                      <a:pPr indent="0" marL="0">
                        <a:buNone/>
                      </a:pPr>
                      <a:r>
                        <a:rPr lang="en-US" sz="1100" dirty="0">
                          <a:solidFill>
                            <a:srgbClr val="000000"/>
                          </a:solidFill>
                        </a:rPr>
                        <a:t>Web Platform</a:t>
                      </a:r>
                      <a:endParaRPr lang="en-US" sz="1100" dirty="0"/>
                    </a:p>
                  </a:txBody>
                  <a:tcPr marL="91440" marR="91440" marT="45720" marB="45720">
                    <a:lnL w="12700" cap="flat" cmpd="sng" algn="ctr">
                      <a:solidFill>
                        <a:srgbClr val="1A5490"/>
                      </a:solidFill>
                      <a:prstDash val="solid"/>
                      <a:round/>
                      <a:headEnd type="none" w="med" len="med"/>
                      <a:tailEnd type="none" w="med" len="med"/>
                    </a:lnL>
                    <a:lnR w="12700" cap="flat" cmpd="sng" algn="ctr">
                      <a:solidFill>
                        <a:srgbClr val="1A5490"/>
                      </a:solidFill>
                      <a:prstDash val="solid"/>
                      <a:round/>
                      <a:headEnd type="none" w="med" len="med"/>
                      <a:tailEnd type="none" w="med" len="med"/>
                    </a:lnR>
                    <a:lnT w="12700" cap="flat" cmpd="sng" algn="ctr">
                      <a:solidFill>
                        <a:srgbClr val="1A5490"/>
                      </a:solidFill>
                      <a:prstDash val="solid"/>
                      <a:round/>
                      <a:headEnd type="none" w="med" len="med"/>
                      <a:tailEnd type="none" w="med" len="med"/>
                    </a:lnT>
                    <a:lnB w="12700" cap="flat" cmpd="sng" algn="ctr">
                      <a:solidFill>
                        <a:srgbClr val="1A5490"/>
                      </a:solidFill>
                      <a:prstDash val="solid"/>
                      <a:round/>
                      <a:headEnd type="none" w="med" len="med"/>
                      <a:tailEnd type="none" w="med" len="med"/>
                    </a:lnB>
                    <a:solidFill>
                      <a:srgbClr val="F8F7F5"/>
                    </a:solidFill>
                  </a:tcPr>
                </a:tc>
                <a:tc>
                  <a:txBody>
                    <a:bodyPr/>
                    <a:lstStyle/>
                    <a:p>
                      <a:pPr indent="0" marL="0">
                        <a:buNone/>
                      </a:pPr>
                      <a:r>
                        <a:rPr lang="en-US" sz="1100" dirty="0">
                          <a:solidFill>
                            <a:srgbClr val="000000"/>
                          </a:solidFill>
                        </a:rPr>
                        <a:t>Valency Lexicon</a:t>
                      </a:r>
                      <a:endParaRPr lang="en-US" sz="1100" dirty="0"/>
                    </a:p>
                  </a:txBody>
                  <a:tcPr marL="91440" marR="91440" marT="45720" marB="45720">
                    <a:lnL w="12700" cap="flat" cmpd="sng" algn="ctr">
                      <a:solidFill>
                        <a:srgbClr val="1A5490"/>
                      </a:solidFill>
                      <a:prstDash val="solid"/>
                      <a:round/>
                      <a:headEnd type="none" w="med" len="med"/>
                      <a:tailEnd type="none" w="med" len="med"/>
                    </a:lnL>
                    <a:lnR w="12700" cap="flat" cmpd="sng" algn="ctr">
                      <a:solidFill>
                        <a:srgbClr val="1A5490"/>
                      </a:solidFill>
                      <a:prstDash val="solid"/>
                      <a:round/>
                      <a:headEnd type="none" w="med" len="med"/>
                      <a:tailEnd type="none" w="med" len="med"/>
                    </a:lnR>
                    <a:lnT w="12700" cap="flat" cmpd="sng" algn="ctr">
                      <a:solidFill>
                        <a:srgbClr val="1A5490"/>
                      </a:solidFill>
                      <a:prstDash val="solid"/>
                      <a:round/>
                      <a:headEnd type="none" w="med" len="med"/>
                      <a:tailEnd type="none" w="med" len="med"/>
                    </a:lnT>
                    <a:lnB w="12700" cap="flat" cmpd="sng" algn="ctr">
                      <a:solidFill>
                        <a:srgbClr val="1A5490"/>
                      </a:solidFill>
                      <a:prstDash val="solid"/>
                      <a:round/>
                      <a:headEnd type="none" w="med" len="med"/>
                      <a:tailEnd type="none" w="med" len="med"/>
                    </a:lnB>
                    <a:solidFill>
                      <a:srgbClr val="F8F7F5"/>
                    </a:solidFill>
                  </a:tcPr>
                </a:tc>
              </a:tr>
              <a:tr h="571500">
                <a:tc>
                  <a:txBody>
                    <a:bodyPr/>
                    <a:lstStyle/>
                    <a:p>
                      <a:pPr indent="0" marL="0">
                        <a:buNone/>
                      </a:pPr>
                      <a:r>
                        <a:rPr lang="en-US" sz="1100" dirty="0">
                          <a:solidFill>
                            <a:srgbClr val="000000"/>
                          </a:solidFill>
                        </a:rPr>
                        <a:t>Trained on historical Greek</a:t>
                      </a:r>
                      <a:endParaRPr lang="en-US" sz="1100" dirty="0"/>
                    </a:p>
                  </a:txBody>
                  <a:tcPr marL="91440" marR="91440" marT="45720" marB="45720">
                    <a:lnL w="12700" cap="flat" cmpd="sng" algn="ctr">
                      <a:solidFill>
                        <a:srgbClr val="1A5490"/>
                      </a:solidFill>
                      <a:prstDash val="solid"/>
                      <a:round/>
                      <a:headEnd type="none" w="med" len="med"/>
                      <a:tailEnd type="none" w="med" len="med"/>
                    </a:lnL>
                    <a:lnR w="12700" cap="flat" cmpd="sng" algn="ctr">
                      <a:solidFill>
                        <a:srgbClr val="1A5490"/>
                      </a:solidFill>
                      <a:prstDash val="solid"/>
                      <a:round/>
                      <a:headEnd type="none" w="med" len="med"/>
                      <a:tailEnd type="none" w="med" len="med"/>
                    </a:lnR>
                    <a:lnT w="12700" cap="flat" cmpd="sng" algn="ctr">
                      <a:solidFill>
                        <a:srgbClr val="1A5490"/>
                      </a:solidFill>
                      <a:prstDash val="solid"/>
                      <a:round/>
                      <a:headEnd type="none" w="med" len="med"/>
                      <a:tailEnd type="none" w="med" len="med"/>
                    </a:lnT>
                    <a:lnB w="12700" cap="flat" cmpd="sng" algn="ctr">
                      <a:solidFill>
                        <a:srgbClr val="1A5490"/>
                      </a:solidFill>
                      <a:prstDash val="solid"/>
                      <a:round/>
                      <a:headEnd type="none" w="med" len="med"/>
                      <a:tailEnd type="none" w="med" len="med"/>
                    </a:lnB>
                    <a:solidFill>
                      <a:srgbClr val="F8F7F5"/>
                    </a:solidFill>
                  </a:tcPr>
                </a:tc>
                <a:tc>
                  <a:txBody>
                    <a:bodyPr/>
                    <a:lstStyle/>
                    <a:p>
                      <a:pPr indent="0" marL="0">
                        <a:buNone/>
                      </a:pPr>
                      <a:r>
                        <a:rPr lang="en-US" sz="1100" dirty="0">
                          <a:solidFill>
                            <a:srgbClr val="000000"/>
                          </a:solidFill>
                        </a:rPr>
                        <a:t>Search and visualization tools</a:t>
                      </a:r>
                      <a:endParaRPr lang="en-US" sz="1100" dirty="0"/>
                    </a:p>
                  </a:txBody>
                  <a:tcPr marL="91440" marR="91440" marT="45720" marB="45720">
                    <a:lnL w="12700" cap="flat" cmpd="sng" algn="ctr">
                      <a:solidFill>
                        <a:srgbClr val="1A5490"/>
                      </a:solidFill>
                      <a:prstDash val="solid"/>
                      <a:round/>
                      <a:headEnd type="none" w="med" len="med"/>
                      <a:tailEnd type="none" w="med" len="med"/>
                    </a:lnL>
                    <a:lnR w="12700" cap="flat" cmpd="sng" algn="ctr">
                      <a:solidFill>
                        <a:srgbClr val="1A5490"/>
                      </a:solidFill>
                      <a:prstDash val="solid"/>
                      <a:round/>
                      <a:headEnd type="none" w="med" len="med"/>
                      <a:tailEnd type="none" w="med" len="med"/>
                    </a:lnR>
                    <a:lnT w="12700" cap="flat" cmpd="sng" algn="ctr">
                      <a:solidFill>
                        <a:srgbClr val="1A5490"/>
                      </a:solidFill>
                      <a:prstDash val="solid"/>
                      <a:round/>
                      <a:headEnd type="none" w="med" len="med"/>
                      <a:tailEnd type="none" w="med" len="med"/>
                    </a:lnT>
                    <a:lnB w="12700" cap="flat" cmpd="sng" algn="ctr">
                      <a:solidFill>
                        <a:srgbClr val="1A5490"/>
                      </a:solidFill>
                      <a:prstDash val="solid"/>
                      <a:round/>
                      <a:headEnd type="none" w="med" len="med"/>
                      <a:tailEnd type="none" w="med" len="med"/>
                    </a:lnB>
                    <a:solidFill>
                      <a:srgbClr val="F8F7F5"/>
                    </a:solidFill>
                  </a:tcPr>
                </a:tc>
                <a:tc>
                  <a:txBody>
                    <a:bodyPr/>
                    <a:lstStyle/>
                    <a:p>
                      <a:pPr indent="0" marL="0">
                        <a:buNone/>
                      </a:pPr>
                      <a:r>
                        <a:rPr lang="en-US" sz="1100" dirty="0">
                          <a:solidFill>
                            <a:srgbClr val="000000"/>
                          </a:solidFill>
                        </a:rPr>
                        <a:t>Argument structure database</a:t>
                      </a:r>
                      <a:endParaRPr lang="en-US" sz="1100" dirty="0"/>
                    </a:p>
                  </a:txBody>
                  <a:tcPr marL="91440" marR="91440" marT="45720" marB="45720">
                    <a:lnL w="12700" cap="flat" cmpd="sng" algn="ctr">
                      <a:solidFill>
                        <a:srgbClr val="1A5490"/>
                      </a:solidFill>
                      <a:prstDash val="solid"/>
                      <a:round/>
                      <a:headEnd type="none" w="med" len="med"/>
                      <a:tailEnd type="none" w="med" len="med"/>
                    </a:lnL>
                    <a:lnR w="12700" cap="flat" cmpd="sng" algn="ctr">
                      <a:solidFill>
                        <a:srgbClr val="1A5490"/>
                      </a:solidFill>
                      <a:prstDash val="solid"/>
                      <a:round/>
                      <a:headEnd type="none" w="med" len="med"/>
                      <a:tailEnd type="none" w="med" len="med"/>
                    </a:lnR>
                    <a:lnT w="12700" cap="flat" cmpd="sng" algn="ctr">
                      <a:solidFill>
                        <a:srgbClr val="1A5490"/>
                      </a:solidFill>
                      <a:prstDash val="solid"/>
                      <a:round/>
                      <a:headEnd type="none" w="med" len="med"/>
                      <a:tailEnd type="none" w="med" len="med"/>
                    </a:lnT>
                    <a:lnB w="12700" cap="flat" cmpd="sng" algn="ctr">
                      <a:solidFill>
                        <a:srgbClr val="1A5490"/>
                      </a:solidFill>
                      <a:prstDash val="solid"/>
                      <a:round/>
                      <a:headEnd type="none" w="med" len="med"/>
                      <a:tailEnd type="none" w="med" len="med"/>
                    </a:lnB>
                    <a:solidFill>
                      <a:srgbClr val="F8F7F5"/>
                    </a:solidFill>
                  </a:tcPr>
                </a:tc>
              </a:tr>
            </a:tbl>
          </a:graphicData>
        </a:graphic>
      </p:graphicFrame>
      <p:sp>
        <p:nvSpPr>
          <p:cNvPr id="4" name="Text 1"/>
          <p:cNvSpPr/>
          <p:nvPr/>
        </p:nvSpPr>
        <p:spPr>
          <a:xfrm>
            <a:off x="457200" y="3840480"/>
            <a:ext cx="8229600" cy="274320"/>
          </a:xfrm>
          <a:prstGeom prst="rect">
            <a:avLst/>
          </a:prstGeom>
          <a:noFill/>
          <a:ln/>
        </p:spPr>
        <p:txBody>
          <a:bodyPr wrap="square" rtlCol="0" anchor="ctr"/>
          <a:lstStyle/>
          <a:p>
            <a:pPr algn="ctr" indent="0" marL="0">
              <a:buNone/>
            </a:pPr>
            <a:r>
              <a:rPr lang="en-US" sz="1800" b="1" dirty="0">
                <a:solidFill>
                  <a:srgbClr val="8B6914"/>
                </a:solidFill>
              </a:rPr>
              <a:t>Open Access Commitment</a:t>
            </a:r>
            <a:endParaRPr lang="en-US" sz="1400" dirty="0"/>
          </a:p>
        </p:txBody>
      </p:sp>
      <p:sp>
        <p:nvSpPr>
          <p:cNvPr id="5" name="Text 2"/>
          <p:cNvSpPr/>
          <p:nvPr/>
        </p:nvSpPr>
        <p:spPr>
          <a:xfrm>
            <a:off x="457200" y="4114800"/>
            <a:ext cx="8229600" cy="274320"/>
          </a:xfrm>
          <a:prstGeom prst="rect">
            <a:avLst/>
          </a:prstGeom>
          <a:noFill/>
          <a:ln/>
        </p:spPr>
        <p:txBody>
          <a:bodyPr wrap="square" rtlCol="0" anchor="ctr"/>
          <a:lstStyle/>
          <a:p>
            <a:pPr algn="ctr" indent="0" marL="0">
              <a:buNone/>
            </a:pPr>
            <a:r>
              <a:rPr lang="en-US" sz="1800" dirty="0">
                <a:solidFill>
                  <a:srgbClr val="000000"/>
                </a:solidFill>
              </a:rPr>
              <a:t>All tools, corpora, and research outputs freely available • github.com/athdgc</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5490"/>
                </a:solidFill>
              </a:rPr>
              <a:t>Looking Ahead: Day 4 Planning Session</a:t>
            </a:r>
            <a:endParaRPr lang="en-US" sz="32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2200" dirty="0">
                <a:solidFill>
                  <a:srgbClr val="8B6914"/>
                </a:solidFill>
              </a:rPr>
              <a:t>Building Our Future Together</a:t>
            </a:r>
            <a:endParaRPr lang="en-US" sz="1800" dirty="0"/>
          </a:p>
        </p:txBody>
      </p:sp>
      <p:sp>
        <p:nvSpPr>
          <p:cNvPr id="4" name="Text 2"/>
          <p:cNvSpPr/>
          <p:nvPr/>
        </p:nvSpPr>
        <p:spPr>
          <a:xfrm>
            <a:off x="457200" y="1554480"/>
            <a:ext cx="8229600" cy="365760"/>
          </a:xfrm>
          <a:prstGeom prst="rect">
            <a:avLst/>
          </a:prstGeom>
          <a:noFill/>
          <a:ln/>
        </p:spPr>
        <p:txBody>
          <a:bodyPr wrap="square" rtlCol="0" anchor="ctr"/>
          <a:lstStyle/>
          <a:p>
            <a:pPr indent="0" marL="0">
              <a:buNone/>
            </a:pPr>
            <a:r>
              <a:rPr lang="en-US" sz="1800" b="1" dirty="0">
                <a:solidFill>
                  <a:srgbClr val="1A5490"/>
                </a:solidFill>
              </a:rPr>
              <a:t>Key Topics for Discussion:</a:t>
            </a:r>
            <a:endParaRPr lang="en-US" sz="1400" dirty="0"/>
          </a:p>
        </p:txBody>
      </p:sp>
      <p:sp>
        <p:nvSpPr>
          <p:cNvPr id="5" name="Text 3"/>
          <p:cNvSpPr/>
          <p:nvPr/>
        </p:nvSpPr>
        <p:spPr>
          <a:xfrm>
            <a:off x="914400" y="1920240"/>
            <a:ext cx="7315200" cy="1371600"/>
          </a:xfrm>
          <a:prstGeom prst="rect">
            <a:avLst/>
          </a:prstGeom>
          <a:noFill/>
          <a:ln/>
        </p:spPr>
        <p:txBody>
          <a:bodyPr wrap="square" rtlCol="0" anchor="ctr"/>
          <a:lstStyle/>
          <a:p>
            <a:pPr indent="0" marL="0">
              <a:buNone/>
            </a:pPr>
            <a:r>
              <a:rPr lang="en-US" sz="1800" dirty="0">
                <a:solidFill>
                  <a:srgbClr val="000000"/>
                </a:solidFill>
              </a:rPr>
              <a:t>• Texts: Which canonical works to prioritize?</a:t>
            </a:r>
            <a:endParaRPr lang="en-US" sz="1100" dirty="0"/>
          </a:p>
          <a:p>
            <a:pPr indent="0" marL="0">
              <a:buNone/>
            </a:pPr>
            <a:r>
              <a:rPr lang="en-US" sz="1800" dirty="0">
                <a:solidFill>
                  <a:srgbClr val="000000"/>
                </a:solidFill>
              </a:rPr>
              <a:t>• Grammar: Annotation standards and protocols</a:t>
            </a:r>
            <a:endParaRPr lang="en-US" sz="1100" dirty="0"/>
          </a:p>
          <a:p>
            <a:pPr indent="0" marL="0">
              <a:buNone/>
            </a:pPr>
            <a:r>
              <a:rPr lang="en-US" sz="1800" dirty="0">
                <a:solidFill>
                  <a:srgbClr val="000000"/>
                </a:solidFill>
              </a:rPr>
              <a:t>• Change: Tracking mechanisms and metrics</a:t>
            </a:r>
            <a:endParaRPr lang="en-US" sz="1100" dirty="0"/>
          </a:p>
          <a:p>
            <a:pPr indent="0" marL="0">
              <a:buNone/>
            </a:pPr>
            <a:r>
              <a:rPr lang="en-US" sz="1800" dirty="0">
                <a:solidFill>
                  <a:srgbClr val="000000"/>
                </a:solidFill>
              </a:rPr>
              <a:t>• Corpora: Integration with existing resources</a:t>
            </a:r>
            <a:endParaRPr lang="en-US" sz="1100" dirty="0"/>
          </a:p>
          <a:p>
            <a:pPr indent="0" marL="0">
              <a:buNone/>
            </a:pPr>
            <a:r>
              <a:rPr lang="en-US" sz="1800" dirty="0">
                <a:solidFill>
                  <a:srgbClr val="000000"/>
                </a:solidFill>
              </a:rPr>
              <a:t>• Tools: Digital infrastructure development</a:t>
            </a:r>
            <a:endParaRPr lang="en-US" sz="1100" dirty="0"/>
          </a:p>
          <a:p>
            <a:pPr indent="0" marL="0">
              <a:buNone/>
            </a:pPr>
            <a:r>
              <a:rPr lang="en-US" sz="1800" dirty="0">
                <a:solidFill>
                  <a:srgbClr val="000000"/>
                </a:solidFill>
              </a:rPr>
              <a:t>• Diachrony: Temporal alignment strategies</a:t>
            </a:r>
            <a:endParaRPr lang="en-US" sz="1100" dirty="0"/>
          </a:p>
        </p:txBody>
      </p:sp>
      <p:sp>
        <p:nvSpPr>
          <p:cNvPr id="6" name="Text 4"/>
          <p:cNvSpPr/>
          <p:nvPr/>
        </p:nvSpPr>
        <p:spPr>
          <a:xfrm>
            <a:off x="457200" y="3474720"/>
            <a:ext cx="8229600" cy="274320"/>
          </a:xfrm>
          <a:prstGeom prst="rect">
            <a:avLst/>
          </a:prstGeom>
          <a:noFill/>
          <a:ln/>
        </p:spPr>
        <p:txBody>
          <a:bodyPr wrap="square" rtlCol="0" anchor="ctr"/>
          <a:lstStyle/>
          <a:p>
            <a:pPr indent="0" marL="0">
              <a:buNone/>
            </a:pPr>
            <a:r>
              <a:rPr lang="en-US" sz="1800" b="1" dirty="0">
                <a:solidFill>
                  <a:srgbClr val="2E7D32"/>
                </a:solidFill>
              </a:rPr>
              <a:t>Next Venues:</a:t>
            </a:r>
            <a:endParaRPr lang="en-US" sz="1400" dirty="0"/>
          </a:p>
        </p:txBody>
      </p:sp>
      <p:sp>
        <p:nvSpPr>
          <p:cNvPr id="7" name="Text 5"/>
          <p:cNvSpPr/>
          <p:nvPr/>
        </p:nvSpPr>
        <p:spPr>
          <a:xfrm>
            <a:off x="457200" y="3840480"/>
            <a:ext cx="8229600" cy="457200"/>
          </a:xfrm>
          <a:prstGeom prst="rect">
            <a:avLst/>
          </a:prstGeom>
          <a:noFill/>
          <a:ln/>
        </p:spPr>
        <p:txBody>
          <a:bodyPr wrap="square" rtlCol="0" anchor="ctr"/>
          <a:lstStyle/>
          <a:p>
            <a:pPr algn="ctr" indent="0" marL="0">
              <a:buNone/>
            </a:pPr>
            <a:r>
              <a:rPr lang="en-US" sz="1800" dirty="0">
                <a:solidFill>
                  <a:srgbClr val="000000"/>
                </a:solidFill>
              </a:rPr>
              <a:t>Athens 2026 - Spring conference at NKUA • Naxos 2026 - Summer school program</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5490"/>
                </a:solidFill>
              </a:rPr>
              <a:t>Acknowledgments: Making This Possible</a:t>
            </a:r>
            <a:endParaRPr lang="en-US" sz="3200" dirty="0"/>
          </a:p>
        </p:txBody>
      </p:sp>
      <p:sp>
        <p:nvSpPr>
          <p:cNvPr id="3" name="Text 1"/>
          <p:cNvSpPr/>
          <p:nvPr/>
        </p:nvSpPr>
        <p:spPr>
          <a:xfrm>
            <a:off x="457200" y="1188720"/>
            <a:ext cx="8229600" cy="457200"/>
          </a:xfrm>
          <a:prstGeom prst="rect">
            <a:avLst/>
          </a:prstGeom>
          <a:noFill/>
          <a:ln/>
        </p:spPr>
        <p:txBody>
          <a:bodyPr wrap="square" rtlCol="0" anchor="ctr"/>
          <a:lstStyle/>
          <a:p>
            <a:pPr algn="ctr" indent="0" marL="0">
              <a:buNone/>
            </a:pPr>
            <a:r>
              <a:rPr lang="en-US" sz="2200" b="1" dirty="0">
                <a:solidFill>
                  <a:srgbClr val="8B6914"/>
                </a:solidFill>
              </a:rPr>
              <a:t>Hellenic Foundation for Research and Innovation</a:t>
            </a:r>
            <a:endParaRPr lang="en-US" sz="1800" dirty="0"/>
          </a:p>
        </p:txBody>
      </p:sp>
      <p:sp>
        <p:nvSpPr>
          <p:cNvPr id="4" name="Text 2"/>
          <p:cNvSpPr/>
          <p:nvPr/>
        </p:nvSpPr>
        <p:spPr>
          <a:xfrm>
            <a:off x="457200" y="1645920"/>
            <a:ext cx="8229600" cy="365760"/>
          </a:xfrm>
          <a:prstGeom prst="rect">
            <a:avLst/>
          </a:prstGeom>
          <a:noFill/>
          <a:ln/>
        </p:spPr>
        <p:txBody>
          <a:bodyPr wrap="square" rtlCol="0" anchor="ctr"/>
          <a:lstStyle/>
          <a:p>
            <a:pPr algn="ctr" indent="0" marL="0">
              <a:buNone/>
            </a:pPr>
            <a:r>
              <a:rPr lang="en-US" sz="1800" dirty="0">
                <a:solidFill>
                  <a:srgbClr val="000000"/>
                </a:solidFill>
              </a:rPr>
              <a:t>2nd Call for H.F.R.I. Research Projects to Support Faculty Members &amp; Researchers</a:t>
            </a:r>
            <a:endParaRPr lang="en-US" sz="1200" dirty="0"/>
          </a:p>
        </p:txBody>
      </p:sp>
      <p:sp>
        <p:nvSpPr>
          <p:cNvPr id="5" name="Text 3"/>
          <p:cNvSpPr/>
          <p:nvPr/>
        </p:nvSpPr>
        <p:spPr>
          <a:xfrm>
            <a:off x="457200" y="2011680"/>
            <a:ext cx="8229600" cy="274320"/>
          </a:xfrm>
          <a:prstGeom prst="rect">
            <a:avLst/>
          </a:prstGeom>
          <a:noFill/>
          <a:ln/>
        </p:spPr>
        <p:txBody>
          <a:bodyPr wrap="square" rtlCol="0" anchor="ctr"/>
          <a:lstStyle/>
          <a:p>
            <a:pPr algn="ctr" indent="0" marL="0">
              <a:buNone/>
            </a:pPr>
            <a:r>
              <a:rPr lang="en-US" sz="1800" dirty="0">
                <a:solidFill>
                  <a:srgbClr val="6B6B6B"/>
                </a:solidFill>
              </a:rPr>
              <a:t>Project ID: HFRI-FM17-3968</a:t>
            </a:r>
            <a:endParaRPr lang="en-US" sz="1100" dirty="0"/>
          </a:p>
        </p:txBody>
      </p:sp>
      <p:sp>
        <p:nvSpPr>
          <p:cNvPr id="6" name="Text 4"/>
          <p:cNvSpPr/>
          <p:nvPr/>
        </p:nvSpPr>
        <p:spPr>
          <a:xfrm>
            <a:off x="457200" y="2560320"/>
            <a:ext cx="3931920" cy="365760"/>
          </a:xfrm>
          <a:prstGeom prst="rect">
            <a:avLst/>
          </a:prstGeom>
          <a:noFill/>
          <a:ln/>
        </p:spPr>
        <p:txBody>
          <a:bodyPr wrap="square" rtlCol="0" anchor="ctr"/>
          <a:lstStyle/>
          <a:p>
            <a:pPr indent="0" marL="0">
              <a:buNone/>
            </a:pPr>
            <a:r>
              <a:rPr lang="en-US" sz="1800" b="1" dirty="0">
                <a:solidFill>
                  <a:srgbClr val="1A5490"/>
                </a:solidFill>
              </a:rPr>
              <a:t>Full Support Provided</a:t>
            </a:r>
            <a:endParaRPr lang="en-US" sz="1400" dirty="0"/>
          </a:p>
        </p:txBody>
      </p:sp>
      <p:sp>
        <p:nvSpPr>
          <p:cNvPr id="7" name="Text 5"/>
          <p:cNvSpPr/>
          <p:nvPr/>
        </p:nvSpPr>
        <p:spPr>
          <a:xfrm>
            <a:off x="457200" y="2926080"/>
            <a:ext cx="3931920" cy="731520"/>
          </a:xfrm>
          <a:prstGeom prst="rect">
            <a:avLst/>
          </a:prstGeom>
          <a:noFill/>
          <a:ln/>
        </p:spPr>
        <p:txBody>
          <a:bodyPr wrap="square" rtlCol="0" anchor="ctr"/>
          <a:lstStyle/>
          <a:p>
            <a:pPr indent="0" marL="0">
              <a:buNone/>
            </a:pPr>
            <a:r>
              <a:rPr lang="en-US" sz="1800" dirty="0">
                <a:solidFill>
                  <a:srgbClr val="000000"/>
                </a:solidFill>
              </a:rPr>
              <a:t>• No registration fees</a:t>
            </a:r>
            <a:endParaRPr lang="en-US" sz="1100" dirty="0"/>
          </a:p>
          <a:p>
            <a:pPr indent="0" marL="0">
              <a:buNone/>
            </a:pPr>
            <a:r>
              <a:rPr lang="en-US" sz="1800" dirty="0">
                <a:solidFill>
                  <a:srgbClr val="000000"/>
                </a:solidFill>
              </a:rPr>
              <a:t>• Accommodation covered</a:t>
            </a:r>
            <a:endParaRPr lang="en-US" sz="1100" dirty="0"/>
          </a:p>
          <a:p>
            <a:pPr indent="0" marL="0">
              <a:buNone/>
            </a:pPr>
            <a:r>
              <a:rPr lang="en-US" sz="1800" dirty="0">
                <a:solidFill>
                  <a:srgbClr val="000000"/>
                </a:solidFill>
              </a:rPr>
              <a:t>• All meals included</a:t>
            </a:r>
            <a:endParaRPr lang="en-US" sz="1100" dirty="0"/>
          </a:p>
          <a:p>
            <a:pPr indent="0" marL="0">
              <a:buNone/>
            </a:pPr>
            <a:r>
              <a:rPr lang="en-US" sz="1800" dirty="0">
                <a:solidFill>
                  <a:srgbClr val="000000"/>
                </a:solidFill>
              </a:rPr>
              <a:t>• Cultural program</a:t>
            </a:r>
            <a:endParaRPr lang="en-US" sz="1100" dirty="0"/>
          </a:p>
        </p:txBody>
      </p:sp>
      <p:sp>
        <p:nvSpPr>
          <p:cNvPr id="8" name="Text 6"/>
          <p:cNvSpPr/>
          <p:nvPr/>
        </p:nvSpPr>
        <p:spPr>
          <a:xfrm>
            <a:off x="4572000" y="2560320"/>
            <a:ext cx="3931920" cy="365760"/>
          </a:xfrm>
          <a:prstGeom prst="rect">
            <a:avLst/>
          </a:prstGeom>
          <a:noFill/>
          <a:ln/>
        </p:spPr>
        <p:txBody>
          <a:bodyPr wrap="square" rtlCol="0" anchor="ctr"/>
          <a:lstStyle/>
          <a:p>
            <a:pPr indent="0" marL="0">
              <a:buNone/>
            </a:pPr>
            <a:r>
              <a:rPr lang="en-US" sz="1800" b="1" dirty="0">
                <a:solidFill>
                  <a:srgbClr val="2E7D32"/>
                </a:solidFill>
              </a:rPr>
              <a:t>Partner Support</a:t>
            </a:r>
            <a:endParaRPr lang="en-US" sz="1400" dirty="0"/>
          </a:p>
        </p:txBody>
      </p:sp>
      <p:sp>
        <p:nvSpPr>
          <p:cNvPr id="9" name="Text 7"/>
          <p:cNvSpPr/>
          <p:nvPr/>
        </p:nvSpPr>
        <p:spPr>
          <a:xfrm>
            <a:off x="4572000" y="2926080"/>
            <a:ext cx="3931920" cy="731520"/>
          </a:xfrm>
          <a:prstGeom prst="rect">
            <a:avLst/>
          </a:prstGeom>
          <a:noFill/>
          <a:ln/>
        </p:spPr>
        <p:txBody>
          <a:bodyPr wrap="square" rtlCol="0" anchor="ctr"/>
          <a:lstStyle/>
          <a:p>
            <a:pPr indent="0" marL="0">
              <a:buNone/>
            </a:pPr>
            <a:r>
              <a:rPr lang="en-US" sz="1800" dirty="0">
                <a:solidFill>
                  <a:srgbClr val="000000"/>
                </a:solidFill>
              </a:rPr>
              <a:t>• European Cultural Centre of Delphi</a:t>
            </a:r>
            <a:endParaRPr lang="en-US" sz="1100" dirty="0"/>
          </a:p>
          <a:p>
            <a:pPr indent="0" marL="0">
              <a:buNone/>
            </a:pPr>
            <a:r>
              <a:rPr lang="en-US" sz="1800" dirty="0">
                <a:solidFill>
                  <a:srgbClr val="000000"/>
                </a:solidFill>
              </a:rPr>
              <a:t>• Naxos School Project
• Naxos Diachronic Linguistics School</a:t>
            </a:r>
            <a:endParaRPr lang="en-US" sz="1100" dirty="0"/>
          </a:p>
          <a:p>
            <a:pPr indent="0" marL="0">
              <a:buNone/>
            </a:pPr>
            <a:r>
              <a:rPr lang="en-US" sz="1800" dirty="0">
                <a:solidFill>
                  <a:srgbClr val="000000"/>
                </a:solidFill>
              </a:rPr>
              <a:t>• Athens «Glossa Contact Laboratory»</a:t>
            </a:r>
            <a:endParaRPr lang="en-US" sz="1100" dirty="0"/>
          </a:p>
          <a:p>
            <a:pPr indent="0" marL="0">
              <a:buNone/>
            </a:pPr>
            <a:r>
              <a:rPr lang="en-US" sz="1800" dirty="0">
                <a:solidFill>
                  <a:srgbClr val="000000"/>
                </a:solidFill>
              </a:rPr>
              <a:t>• International collaborators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5490"/>
                </a:solidFill>
              </a:rPr>
              <a:t>Practical Matters: Our Workshop Experience</a:t>
            </a:r>
            <a:endParaRPr lang="en-US" sz="3200" dirty="0"/>
          </a:p>
        </p:txBody>
      </p:sp>
      <p:sp>
        <p:nvSpPr>
          <p:cNvPr id="3" name="Text 1"/>
          <p:cNvSpPr/>
          <p:nvPr/>
        </p:nvSpPr>
        <p:spPr>
          <a:xfrm>
            <a:off x="457200" y="1097280"/>
            <a:ext cx="2743200" cy="365760"/>
          </a:xfrm>
          <a:prstGeom prst="rect">
            <a:avLst/>
          </a:prstGeom>
          <a:noFill/>
          <a:ln/>
        </p:spPr>
        <p:txBody>
          <a:bodyPr wrap="square" rtlCol="0" anchor="ctr"/>
          <a:lstStyle/>
          <a:p>
            <a:pPr indent="0" marL="0">
              <a:buNone/>
            </a:pPr>
            <a:r>
              <a:rPr sz="1800"/>
              <a:t>Practical Matters: Our Workshop Experience
Daily Schedule
9:00 - Morning sessions
10:45 - Coffee break
13:00 - Lunch
14:30 - Afternoon sessions
16:00 - Coffee &amp; networking
17:30 - Day concludes
20:00 - Group dinners
Venue Features
• European Cultural Centre
• WiFi
• Archaeological site proximity
Materials Access
• Workshop portal (future): GitHub repository for participants
• Slides available during workshop
• Shared workspace
• Bibliography database
• Open-access materials planned for future
Special Events:
• Archaeological tour
• Arachova dinner
• Farewell dinner
Note: Workshop schedule details should be verified on the official program</a:t>
            </a:r>
            <a:endParaRPr lang="en-US" sz="1400" dirty="0"/>
          </a:p>
        </p:txBody>
      </p:sp>
      <p:sp>
        <p:nvSpPr>
          <p:cNvPr id="4" name="Text 2"/>
          <p:cNvSpPr/>
          <p:nvPr/>
        </p:nvSpPr>
        <p:spPr>
          <a:xfrm>
            <a:off x="457200" y="1463040"/>
            <a:ext cx="2743200" cy="1645920"/>
          </a:xfrm>
          <a:prstGeom prst="rect">
            <a:avLst/>
          </a:prstGeom>
          <a:noFill/>
          <a:ln/>
        </p:spPr>
        <p:txBody>
          <a:bodyPr wrap="square" rtlCol="0" anchor="ctr"/>
          <a:lstStyle/>
          <a:p>
            <a:pPr indent="0" marL="0">
              <a:buNone/>
            </a:pPr>
            <a:r>
              <a:rPr lang="en-US" sz="1800" dirty="0">
                <a:solidFill>
                  <a:srgbClr val="000000"/>
                </a:solidFill>
              </a:rPr>
              <a:t>9:00 - Morning sessions</a:t>
            </a:r>
            <a:endParaRPr lang="en-US" sz="1000" dirty="0"/>
          </a:p>
          <a:p>
            <a:pPr indent="0" marL="0">
              <a:buNone/>
            </a:pPr>
            <a:r>
              <a:rPr lang="en-US" sz="1800" dirty="0">
                <a:solidFill>
                  <a:srgbClr val="000000"/>
                </a:solidFill>
              </a:rPr>
              <a:t>10:45 - Coffee break</a:t>
            </a:r>
            <a:endParaRPr lang="en-US" sz="1000" dirty="0"/>
          </a:p>
          <a:p>
            <a:pPr indent="0" marL="0">
              <a:buNone/>
            </a:pPr>
            <a:r>
              <a:rPr lang="en-US" sz="1800" dirty="0">
                <a:solidFill>
                  <a:srgbClr val="000000"/>
                </a:solidFill>
              </a:rPr>
              <a:t>13:00 - Lunch</a:t>
            </a:r>
            <a:endParaRPr lang="en-US" sz="1000" dirty="0"/>
          </a:p>
          <a:p>
            <a:pPr indent="0" marL="0">
              <a:buNone/>
            </a:pPr>
            <a:r>
              <a:rPr lang="en-US" sz="1800" dirty="0">
                <a:solidFill>
                  <a:srgbClr val="000000"/>
                </a:solidFill>
              </a:rPr>
              <a:t>14:30 - Afternoon sessions</a:t>
            </a:r>
            <a:endParaRPr lang="en-US" sz="1000" dirty="0"/>
          </a:p>
          <a:p>
            <a:pPr indent="0" marL="0">
              <a:buNone/>
            </a:pPr>
            <a:r>
              <a:rPr lang="en-US" sz="1800" dirty="0">
                <a:solidFill>
                  <a:srgbClr val="000000"/>
                </a:solidFill>
              </a:rPr>
              <a:t>16:00 - Coffee &amp; networking</a:t>
            </a:r>
            <a:endParaRPr lang="en-US" sz="1000" dirty="0"/>
          </a:p>
          <a:p>
            <a:pPr indent="0" marL="0">
              <a:buNone/>
            </a:pPr>
            <a:r>
              <a:rPr lang="en-US" sz="1800" dirty="0">
                <a:solidFill>
                  <a:srgbClr val="000000"/>
                </a:solidFill>
              </a:rPr>
              <a:t>17:30 - Day concludes</a:t>
            </a:r>
            <a:endParaRPr lang="en-US" sz="1000" dirty="0"/>
          </a:p>
          <a:p>
            <a:pPr indent="0" marL="0">
              <a:buNone/>
            </a:pPr>
            <a:r>
              <a:rPr lang="en-US" sz="1800" dirty="0">
                <a:solidFill>
                  <a:srgbClr val="000000"/>
                </a:solidFill>
              </a:rPr>
              <a:t>20:00 - Group dinners</a:t>
            </a:r>
            <a:endParaRPr lang="en-US" sz="1000" dirty="0"/>
          </a:p>
        </p:txBody>
      </p:sp>
      <p:sp>
        <p:nvSpPr>
          <p:cNvPr id="5" name="Text 3"/>
          <p:cNvSpPr/>
          <p:nvPr/>
        </p:nvSpPr>
        <p:spPr>
          <a:xfrm>
            <a:off x="3200400" y="1097280"/>
            <a:ext cx="2743200" cy="365760"/>
          </a:xfrm>
          <a:prstGeom prst="rect">
            <a:avLst/>
          </a:prstGeom>
          <a:noFill/>
          <a:ln/>
        </p:spPr>
        <p:txBody>
          <a:bodyPr wrap="square" rtlCol="0" anchor="ctr"/>
          <a:lstStyle/>
          <a:p>
            <a:pPr indent="0" marL="0">
              <a:buNone/>
            </a:pPr>
            <a:r>
              <a:rPr lang="en-US" sz="1800" b="1" dirty="0">
                <a:solidFill>
                  <a:srgbClr val="8B6914"/>
                </a:solidFill>
              </a:rPr>
              <a:t>Venue Features</a:t>
            </a:r>
            <a:endParaRPr lang="en-US" sz="1400" dirty="0"/>
          </a:p>
        </p:txBody>
      </p:sp>
      <p:sp>
        <p:nvSpPr>
          <p:cNvPr id="6" name="Text 4"/>
          <p:cNvSpPr/>
          <p:nvPr/>
        </p:nvSpPr>
        <p:spPr>
          <a:xfrm>
            <a:off x="3200400" y="1463040"/>
            <a:ext cx="2743200" cy="1188720"/>
          </a:xfrm>
          <a:prstGeom prst="rect">
            <a:avLst/>
          </a:prstGeom>
          <a:noFill/>
          <a:ln/>
        </p:spPr>
        <p:txBody>
          <a:bodyPr wrap="square" rtlCol="0" anchor="ctr"/>
          <a:lstStyle/>
          <a:p>
            <a:pPr indent="0" marL="0">
              <a:buNone/>
            </a:pPr>
            <a:r>
              <a:rPr lang="en-US" sz="1800" dirty="0">
                <a:solidFill>
                  <a:srgbClr val="000000"/>
                </a:solidFill>
              </a:rPr>
              <a:t>• European Cultural Centre</a:t>
            </a:r>
            <a:endParaRPr lang="en-US" sz="1000" dirty="0"/>
          </a:p>
          <a:p>
            <a:pPr indent="0" marL="0">
              <a:buNone/>
            </a:pPr>
            <a:r>
              <a:rPr lang="en-US" sz="1800" dirty="0">
                <a:solidFill>
                  <a:srgbClr val="000000"/>
                </a:solidFill>
              </a:rPr>
              <a:t>• </a:t>
            </a:r>
            <a:endParaRPr lang="en-US" sz="1000" dirty="0"/>
          </a:p>
          <a:p>
            <a:pPr indent="0" marL="0">
              <a:buNone/>
            </a:pPr>
            <a:r>
              <a:rPr lang="en-US" sz="1800" dirty="0">
                <a:solidFill>
                  <a:srgbClr val="000000"/>
                </a:solidFill>
              </a:rPr>
              <a:t>• WiFi</a:t>
            </a:r>
            <a:endParaRPr lang="en-US" sz="1000" dirty="0"/>
          </a:p>
          <a:p>
            <a:pPr indent="0" marL="0">
              <a:buNone/>
            </a:pPr>
            <a:r>
              <a:rPr lang="en-US" sz="1800" dirty="0">
                <a:solidFill>
                  <a:srgbClr val="000000"/>
                </a:solidFill>
              </a:rPr>
              <a:t>• Recording equipment</a:t>
            </a:r>
            <a:endParaRPr lang="en-US" sz="1000" dirty="0"/>
          </a:p>
          <a:p>
            <a:pPr indent="0" marL="0">
              <a:buNone/>
            </a:pPr>
            <a:r>
              <a:rPr lang="en-US" sz="1800" dirty="0">
                <a:solidFill>
                  <a:srgbClr val="000000"/>
                </a:solidFill>
              </a:rPr>
              <a:t>• Archaeological site views</a:t>
            </a:r>
            <a:endParaRPr lang="en-US" sz="1000" dirty="0"/>
          </a:p>
        </p:txBody>
      </p:sp>
      <p:sp>
        <p:nvSpPr>
          <p:cNvPr id="7" name="Text 5"/>
          <p:cNvSpPr/>
          <p:nvPr/>
        </p:nvSpPr>
        <p:spPr>
          <a:xfrm>
            <a:off x="5943600" y="1097280"/>
            <a:ext cx="2743200" cy="365760"/>
          </a:xfrm>
          <a:prstGeom prst="rect">
            <a:avLst/>
          </a:prstGeom>
          <a:noFill/>
          <a:ln/>
        </p:spPr>
        <p:txBody>
          <a:bodyPr wrap="square" rtlCol="0" anchor="ctr"/>
          <a:lstStyle/>
          <a:p>
            <a:pPr indent="0" marL="0">
              <a:buNone/>
            </a:pPr>
            <a:r>
              <a:rPr lang="en-US" sz="1800" b="1" dirty="0">
                <a:solidFill>
                  <a:srgbClr val="2E7D32"/>
                </a:solidFill>
              </a:rPr>
              <a:t>Materials Access</a:t>
            </a:r>
            <a:endParaRPr lang="en-US" sz="1400" dirty="0"/>
          </a:p>
        </p:txBody>
      </p:sp>
      <p:sp>
        <p:nvSpPr>
          <p:cNvPr id="8" name="Text 6"/>
          <p:cNvSpPr/>
          <p:nvPr/>
        </p:nvSpPr>
        <p:spPr>
          <a:xfrm>
            <a:off x="5943600" y="1463040"/>
            <a:ext cx="2743200" cy="914400"/>
          </a:xfrm>
          <a:prstGeom prst="rect">
            <a:avLst/>
          </a:prstGeom>
          <a:noFill/>
          <a:ln/>
        </p:spPr>
        <p:txBody>
          <a:bodyPr wrap="square" rtlCol="0" anchor="ctr"/>
          <a:lstStyle/>
          <a:p>
            <a:pPr indent="0" marL="0">
              <a:buNone/>
            </a:pPr>
            <a:r>
              <a:rPr lang="en-US" sz="1800" dirty="0">
                <a:solidFill>
                  <a:srgbClr val="000000"/>
                </a:solidFill>
              </a:rPr>
              <a:t>• Workshop portal online</a:t>
            </a:r>
            <a:endParaRPr lang="en-US" sz="1000" dirty="0"/>
          </a:p>
          <a:p>
            <a:pPr indent="0" marL="0">
              <a:buNone/>
            </a:pPr>
            <a:r>
              <a:rPr lang="en-US" sz="1800" dirty="0">
                <a:solidFill>
                  <a:srgbClr val="000000"/>
                </a:solidFill>
              </a:rPr>
              <a:t>• Slides available daily</a:t>
            </a:r>
            <a:endParaRPr lang="en-US" sz="1000" dirty="0"/>
          </a:p>
          <a:p>
            <a:pPr indent="0" marL="0">
              <a:buNone/>
            </a:pPr>
            <a:r>
              <a:rPr lang="en-US" sz="1800" dirty="0">
                <a:solidFill>
                  <a:srgbClr val="000000"/>
                </a:solidFill>
              </a:rPr>
              <a:t>• Shared workspace</a:t>
            </a:r>
            <a:endParaRPr lang="en-US" sz="1000" dirty="0"/>
          </a:p>
          <a:p>
            <a:pPr indent="0" marL="0">
              <a:buNone/>
            </a:pPr>
            <a:r>
              <a:rPr lang="en-US" sz="1800" dirty="0">
                <a:solidFill>
                  <a:srgbClr val="000000"/>
                </a:solidFill>
              </a:rPr>
              <a:t>• Bibliography database</a:t>
            </a:r>
            <a:endParaRPr lang="en-US" sz="1000" dirty="0"/>
          </a:p>
        </p:txBody>
      </p:sp>
      <p:sp>
        <p:nvSpPr>
          <p:cNvPr id="9" name="Text 7"/>
          <p:cNvSpPr/>
          <p:nvPr/>
        </p:nvSpPr>
        <p:spPr>
          <a:xfrm>
            <a:off x="457200" y="3931920"/>
            <a:ext cx="8229600" cy="457200"/>
          </a:xfrm>
          <a:prstGeom prst="rect">
            <a:avLst/>
          </a:prstGeom>
          <a:noFill/>
          <a:ln/>
        </p:spPr>
        <p:txBody>
          <a:bodyPr wrap="square" rtlCol="0" anchor="ctr"/>
          <a:lstStyle/>
          <a:p>
            <a:pPr algn="ctr" indent="0" marL="0">
              <a:buNone/>
            </a:pPr>
            <a:r>
              <a:rPr lang="en-US" sz="1800" i="1" dirty="0">
                <a:solidFill>
                  <a:srgbClr val="6B6B6B"/>
                </a:solidFill>
              </a:rPr>
              <a:t>Special Events:  Archaeological tour • Farewell dinner</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5490"/>
                </a:solidFill>
              </a:rPr>
              <a:t>Our Journey Begins: Join the Movement</a:t>
            </a:r>
            <a:endParaRPr lang="en-US" sz="3200" dirty="0"/>
          </a:p>
        </p:txBody>
      </p:sp>
      <p:sp>
        <p:nvSpPr>
          <p:cNvPr id="3" name="Text 1"/>
          <p:cNvSpPr/>
          <p:nvPr/>
        </p:nvSpPr>
        <p:spPr>
          <a:xfrm>
            <a:off x="457200" y="1097280"/>
            <a:ext cx="8229600" cy="457200"/>
          </a:xfrm>
          <a:prstGeom prst="rect">
            <a:avLst/>
          </a:prstGeom>
          <a:noFill/>
          <a:ln/>
        </p:spPr>
        <p:txBody>
          <a:bodyPr wrap="square" rtlCol="0" anchor="ctr"/>
          <a:lstStyle/>
          <a:p>
            <a:pPr algn="ctr" indent="0" marL="0">
              <a:buNone/>
            </a:pPr>
            <a:r>
              <a:rPr lang="en-US" sz="2500" b="1" dirty="0">
                <a:solidFill>
                  <a:srgbClr val="8B6914"/>
                </a:solidFill>
              </a:rPr>
              <a:t>Together, We're Advancing Knowledge</a:t>
            </a:r>
            <a:endParaRPr lang="en-US" sz="2000" dirty="0"/>
          </a:p>
        </p:txBody>
      </p:sp>
      <p:sp>
        <p:nvSpPr>
          <p:cNvPr id="4" name="Text 2"/>
          <p:cNvSpPr/>
          <p:nvPr/>
        </p:nvSpPr>
        <p:spPr>
          <a:xfrm>
            <a:off x="457200" y="1645920"/>
            <a:ext cx="8229600" cy="548640"/>
          </a:xfrm>
          <a:prstGeom prst="rect">
            <a:avLst/>
          </a:prstGeom>
          <a:noFill/>
          <a:ln/>
        </p:spPr>
        <p:txBody>
          <a:bodyPr wrap="square" rtlCol="0" anchor="ctr"/>
          <a:lstStyle/>
          <a:p>
            <a:pPr algn="ctr" indent="0" marL="0">
              <a:buNone/>
            </a:pPr>
            <a:r>
              <a:rPr lang="en-US" sz="1800" dirty="0">
                <a:solidFill>
                  <a:srgbClr val="000000"/>
                </a:solidFill>
              </a:rPr>
              <a:t>Every annotation, every analysis, every collaboration contributes to</a:t>
            </a:r>
            <a:endParaRPr lang="en-US" sz="1200" dirty="0"/>
          </a:p>
          <a:p>
            <a:pPr algn="ctr" indent="0" marL="0">
              <a:buNone/>
            </a:pPr>
            <a:r>
              <a:rPr lang="en-US" sz="1800" dirty="0">
                <a:solidFill>
                  <a:srgbClr val="000000"/>
                </a:solidFill>
              </a:rPr>
              <a:t>understanding of language evolution</a:t>
            </a:r>
            <a:endParaRPr lang="en-US" sz="1200" dirty="0"/>
          </a:p>
        </p:txBody>
      </p:sp>
      <p:sp>
        <p:nvSpPr>
          <p:cNvPr id="5" name="Text 3"/>
          <p:cNvSpPr/>
          <p:nvPr/>
        </p:nvSpPr>
        <p:spPr>
          <a:xfrm>
            <a:off x="457200" y="2560320"/>
            <a:ext cx="2743200" cy="365760"/>
          </a:xfrm>
          <a:prstGeom prst="rect">
            <a:avLst/>
          </a:prstGeom>
          <a:noFill/>
          <a:ln/>
        </p:spPr>
        <p:txBody>
          <a:bodyPr wrap="square" rtlCol="0" anchor="ctr"/>
          <a:lstStyle/>
          <a:p>
            <a:pPr algn="ctr" indent="0" marL="0">
              <a:buNone/>
            </a:pPr>
            <a:r>
              <a:rPr lang="en-US" sz="2000" b="1" dirty="0">
                <a:solidFill>
                  <a:srgbClr val="8B6914"/>
                </a:solidFill>
              </a:rPr>
              <a:t>Engage</a:t>
            </a:r>
            <a:endParaRPr lang="en-US" sz="1600" dirty="0"/>
          </a:p>
        </p:txBody>
      </p:sp>
      <p:sp>
        <p:nvSpPr>
          <p:cNvPr id="6" name="Text 4"/>
          <p:cNvSpPr/>
          <p:nvPr/>
        </p:nvSpPr>
        <p:spPr>
          <a:xfrm>
            <a:off x="457200" y="2926080"/>
            <a:ext cx="2743200" cy="731520"/>
          </a:xfrm>
          <a:prstGeom prst="rect">
            <a:avLst/>
          </a:prstGeom>
          <a:noFill/>
          <a:ln/>
        </p:spPr>
        <p:txBody>
          <a:bodyPr wrap="square" rtlCol="0" anchor="ctr"/>
          <a:lstStyle/>
          <a:p>
            <a:pPr algn="ctr" indent="0" marL="0">
              <a:buNone/>
            </a:pPr>
            <a:r>
              <a:rPr lang="en-US" sz="1800" dirty="0">
                <a:solidFill>
                  <a:srgbClr val="000000"/>
                </a:solidFill>
              </a:rPr>
              <a:t>Share expertise</a:t>
            </a:r>
            <a:endParaRPr lang="en-US" sz="1100" dirty="0"/>
          </a:p>
          <a:p>
            <a:pPr algn="ctr" indent="0" marL="0">
              <a:buNone/>
            </a:pPr>
            <a:r>
              <a:rPr lang="en-US" sz="1800" dirty="0">
                <a:solidFill>
                  <a:srgbClr val="000000"/>
                </a:solidFill>
              </a:rPr>
              <a:t>Ask questions</a:t>
            </a:r>
            <a:endParaRPr lang="en-US" sz="1100" dirty="0"/>
          </a:p>
          <a:p>
            <a:pPr algn="ctr" indent="0" marL="0">
              <a:buNone/>
            </a:pPr>
            <a:r>
              <a:rPr lang="en-US" sz="1800" dirty="0">
                <a:solidFill>
                  <a:srgbClr val="000000"/>
                </a:solidFill>
              </a:rPr>
              <a:t>Propose directions</a:t>
            </a:r>
            <a:endParaRPr lang="en-US" sz="1100" dirty="0"/>
          </a:p>
        </p:txBody>
      </p:sp>
      <p:sp>
        <p:nvSpPr>
          <p:cNvPr id="7" name="Text 5"/>
          <p:cNvSpPr/>
          <p:nvPr/>
        </p:nvSpPr>
        <p:spPr>
          <a:xfrm>
            <a:off x="3200400" y="2560320"/>
            <a:ext cx="2743200" cy="365760"/>
          </a:xfrm>
          <a:prstGeom prst="rect">
            <a:avLst/>
          </a:prstGeom>
          <a:noFill/>
          <a:ln/>
        </p:spPr>
        <p:txBody>
          <a:bodyPr wrap="square" rtlCol="0" anchor="ctr"/>
          <a:lstStyle/>
          <a:p>
            <a:pPr algn="ctr" indent="0" marL="0">
              <a:buNone/>
            </a:pPr>
            <a:r>
              <a:rPr lang="en-US" sz="2000" b="1" dirty="0">
                <a:solidFill>
                  <a:srgbClr val="2E7D32"/>
                </a:solidFill>
              </a:rPr>
              <a:t>Connect</a:t>
            </a:r>
            <a:endParaRPr lang="en-US" sz="1600" dirty="0"/>
          </a:p>
        </p:txBody>
      </p:sp>
      <p:sp>
        <p:nvSpPr>
          <p:cNvPr id="8" name="Text 6"/>
          <p:cNvSpPr/>
          <p:nvPr/>
        </p:nvSpPr>
        <p:spPr>
          <a:xfrm>
            <a:off x="3200400" y="2926080"/>
            <a:ext cx="2743200" cy="731520"/>
          </a:xfrm>
          <a:prstGeom prst="rect">
            <a:avLst/>
          </a:prstGeom>
          <a:noFill/>
          <a:ln/>
        </p:spPr>
        <p:txBody>
          <a:bodyPr wrap="square" rtlCol="0" anchor="ctr"/>
          <a:lstStyle/>
          <a:p>
            <a:pPr algn="ctr" indent="0" marL="0">
              <a:buNone/>
            </a:pPr>
            <a:r>
              <a:rPr lang="en-US" sz="1800" dirty="0">
                <a:solidFill>
                  <a:srgbClr val="000000"/>
                </a:solidFill>
              </a:rPr>
              <a:t>Build partnerships</a:t>
            </a:r>
            <a:endParaRPr lang="en-US" sz="1100" dirty="0"/>
          </a:p>
          <a:p>
            <a:pPr algn="ctr" indent="0" marL="0">
              <a:buNone/>
            </a:pPr>
            <a:r>
              <a:rPr lang="en-US" sz="1800" dirty="0">
                <a:solidFill>
                  <a:srgbClr val="000000"/>
                </a:solidFill>
              </a:rPr>
              <a:t>Exchange methods</a:t>
            </a:r>
            <a:endParaRPr lang="en-US" sz="1100" dirty="0"/>
          </a:p>
          <a:p>
            <a:pPr algn="ctr" indent="0" marL="0">
              <a:buNone/>
            </a:pPr>
            <a:r>
              <a:rPr lang="en-US" sz="1800" dirty="0">
                <a:solidFill>
                  <a:srgbClr val="000000"/>
                </a:solidFill>
              </a:rPr>
              <a:t>Create networks</a:t>
            </a:r>
            <a:endParaRPr lang="en-US" sz="1100" dirty="0"/>
          </a:p>
        </p:txBody>
      </p:sp>
      <p:sp>
        <p:nvSpPr>
          <p:cNvPr id="9" name="Text 7"/>
          <p:cNvSpPr/>
          <p:nvPr/>
        </p:nvSpPr>
        <p:spPr>
          <a:xfrm>
            <a:off x="5943600" y="2560320"/>
            <a:ext cx="2743200" cy="365760"/>
          </a:xfrm>
          <a:prstGeom prst="rect">
            <a:avLst/>
          </a:prstGeom>
          <a:noFill/>
          <a:ln/>
        </p:spPr>
        <p:txBody>
          <a:bodyPr wrap="square" rtlCol="0" anchor="ctr"/>
          <a:lstStyle/>
          <a:p>
            <a:pPr algn="ctr" indent="0" marL="0">
              <a:buNone/>
            </a:pPr>
            <a:r>
              <a:rPr lang="en-US" sz="2000" b="1" dirty="0">
                <a:solidFill>
                  <a:srgbClr val="1A5490"/>
                </a:solidFill>
              </a:rPr>
              <a:t>Innovate</a:t>
            </a:r>
            <a:endParaRPr lang="en-US" sz="1600" dirty="0"/>
          </a:p>
        </p:txBody>
      </p:sp>
      <p:sp>
        <p:nvSpPr>
          <p:cNvPr id="10" name="Text 8"/>
          <p:cNvSpPr/>
          <p:nvPr/>
        </p:nvSpPr>
        <p:spPr>
          <a:xfrm>
            <a:off x="5943600" y="2926080"/>
            <a:ext cx="2743200" cy="731520"/>
          </a:xfrm>
          <a:prstGeom prst="rect">
            <a:avLst/>
          </a:prstGeom>
          <a:noFill/>
          <a:ln/>
        </p:spPr>
        <p:txBody>
          <a:bodyPr wrap="square" rtlCol="0" anchor="ctr"/>
          <a:lstStyle/>
          <a:p>
            <a:pPr algn="ctr" indent="0" marL="0">
              <a:buNone/>
            </a:pPr>
            <a:r>
              <a:rPr lang="en-US" sz="1800" dirty="0">
                <a:solidFill>
                  <a:srgbClr val="000000"/>
                </a:solidFill>
              </a:rPr>
              <a:t>Challenge assumptions</a:t>
            </a:r>
            <a:endParaRPr lang="en-US" sz="1100" dirty="0"/>
          </a:p>
          <a:p>
            <a:pPr algn="ctr" indent="0" marL="0">
              <a:buNone/>
            </a:pPr>
            <a:r>
              <a:rPr lang="en-US" sz="1800" dirty="0">
                <a:solidFill>
                  <a:srgbClr val="000000"/>
                </a:solidFill>
              </a:rPr>
              <a:t>Develop tools</a:t>
            </a:r>
            <a:endParaRPr lang="en-US" sz="1100" dirty="0"/>
          </a:p>
          <a:p>
            <a:pPr algn="ctr" indent="0" marL="0">
              <a:buNone/>
            </a:pPr>
            <a:r>
              <a:rPr lang="en-US" sz="1800" dirty="0">
                <a:solidFill>
                  <a:srgbClr val="000000"/>
                </a:solidFill>
              </a:rPr>
              <a:t>Shape the future</a:t>
            </a:r>
            <a:endParaRPr lang="en-US" sz="1100" dirty="0"/>
          </a:p>
        </p:txBody>
      </p:sp>
      <p:sp>
        <p:nvSpPr>
          <p:cNvPr id="11" name="Text 9"/>
          <p:cNvSpPr/>
          <p:nvPr/>
        </p:nvSpPr>
        <p:spPr>
          <a:xfrm>
            <a:off x="457200" y="3931920"/>
            <a:ext cx="8229600" cy="457200"/>
          </a:xfrm>
          <a:prstGeom prst="rect">
            <a:avLst/>
          </a:prstGeom>
          <a:noFill/>
          <a:ln/>
        </p:spPr>
        <p:txBody>
          <a:bodyPr wrap="square" rtlCol="0" anchor="ctr"/>
          <a:lstStyle/>
          <a:p>
            <a:pPr algn="ctr" indent="0" marL="0">
              <a:buNone/>
            </a:pPr>
            <a:r>
              <a:rPr lang="en-US" sz="1800" b="1" dirty="0">
                <a:solidFill>
                  <a:srgbClr val="8B6914"/>
                </a:solidFill>
              </a:rPr>
              <a:t>What will YOUR contribution be to this grand endeavor?</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7F5"/>
        </a:solidFill>
      </p:bgPr>
    </p:bg>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algn="ctr" indent="0" marL="0">
              <a:buNone/>
            </a:pPr>
            <a:r>
              <a:rPr lang="en-US" sz="5500" b="1" dirty="0">
                <a:solidFill>
                  <a:srgbClr val="1A5490"/>
                </a:solidFill>
              </a:rPr>
              <a:t>Welcome to Delphi 2025</a:t>
            </a:r>
            <a:endParaRPr lang="en-US" sz="4400" dirty="0"/>
          </a:p>
        </p:txBody>
      </p:sp>
      <p:sp>
        <p:nvSpPr>
          <p:cNvPr id="3" name="Text 1"/>
          <p:cNvSpPr/>
          <p:nvPr/>
        </p:nvSpPr>
        <p:spPr>
          <a:xfrm>
            <a:off x="457200" y="2560320"/>
            <a:ext cx="8229600" cy="457200"/>
          </a:xfrm>
          <a:prstGeom prst="rect">
            <a:avLst/>
          </a:prstGeom>
          <a:noFill/>
          <a:ln/>
        </p:spPr>
        <p:txBody>
          <a:bodyPr wrap="square" rtlCol="0" anchor="ctr"/>
          <a:lstStyle/>
          <a:p>
            <a:pPr algn="ctr" indent="0" marL="0">
              <a:buNone/>
            </a:pPr>
            <a:r>
              <a:rPr lang="en-US" sz="2500" b="1" dirty="0">
                <a:solidFill>
                  <a:srgbClr val="8B6914"/>
                </a:solidFill>
              </a:rPr>
              <a:t>Let the journey begin</a:t>
            </a:r>
            <a:endParaRPr lang="en-US" sz="2000" dirty="0"/>
          </a:p>
        </p:txBody>
      </p:sp>
      <p:sp>
        <p:nvSpPr>
          <p:cNvPr id="4" name="Text 2"/>
          <p:cNvSpPr/>
          <p:nvPr/>
        </p:nvSpPr>
        <p:spPr>
          <a:xfrm>
            <a:off x="457200" y="3474720"/>
            <a:ext cx="8229600" cy="365760"/>
          </a:xfrm>
          <a:prstGeom prst="rect">
            <a:avLst/>
          </a:prstGeom>
          <a:noFill/>
          <a:ln/>
        </p:spPr>
        <p:txBody>
          <a:bodyPr wrap="square" rtlCol="0" anchor="ctr"/>
          <a:lstStyle/>
          <a:p>
            <a:pPr algn="ctr" indent="0" marL="0">
              <a:buNone/>
            </a:pPr>
            <a:r>
              <a:rPr lang="en-US" sz="2000" b="1" dirty="0">
                <a:solidFill>
                  <a:srgbClr val="1A5490"/>
                </a:solidFill>
              </a:rPr>
              <a:t>Up Next: Retranslations Across Millennia</a:t>
            </a:r>
            <a:endParaRPr lang="en-US" sz="1600" dirty="0"/>
          </a:p>
        </p:txBody>
      </p:sp>
      <p:sp>
        <p:nvSpPr>
          <p:cNvPr id="5" name="Text 3"/>
          <p:cNvSpPr/>
          <p:nvPr/>
        </p:nvSpPr>
        <p:spPr>
          <a:xfrm>
            <a:off x="457200" y="3840480"/>
            <a:ext cx="8229600" cy="274320"/>
          </a:xfrm>
          <a:prstGeom prst="rect">
            <a:avLst/>
          </a:prstGeom>
          <a:noFill/>
          <a:ln/>
        </p:spPr>
        <p:txBody>
          <a:bodyPr wrap="square" rtlCol="0" anchor="ctr"/>
          <a:lstStyle/>
          <a:p>
            <a:pPr algn="ctr" indent="0" marL="0">
              <a:buNone/>
            </a:pPr>
            <a:r>
              <a:rPr lang="en-US" sz="1800" dirty="0">
                <a:solidFill>
                  <a:srgbClr val="6B6B6B"/>
                </a:solidFill>
              </a:rPr>
              <a:t>75-minute presentation by the AthDGC core team</a:t>
            </a:r>
            <a:endParaRPr lang="en-US" sz="1200" dirty="0"/>
          </a:p>
        </p:txBody>
      </p:sp>
      <p:sp>
        <p:nvSpPr>
          <p:cNvPr id="6" name="Text 4"/>
          <p:cNvSpPr/>
          <p:nvPr/>
        </p:nvSpPr>
        <p:spPr>
          <a:xfrm>
            <a:off x="457200" y="4389120"/>
            <a:ext cx="8229600" cy="274320"/>
          </a:xfrm>
          <a:prstGeom prst="rect">
            <a:avLst/>
          </a:prstGeom>
          <a:noFill/>
          <a:ln/>
        </p:spPr>
        <p:txBody>
          <a:bodyPr wrap="square" rtlCol="0" anchor="ctr"/>
          <a:lstStyle/>
          <a:p>
            <a:pPr algn="ctr" indent="0" marL="0">
              <a:buNone/>
            </a:pPr>
            <a:r>
              <a:rPr lang="en-US" sz="1800" i="1" dirty="0">
                <a:solidFill>
                  <a:srgbClr val="6B6B6B"/>
                </a:solidFill>
              </a:rPr>
              <a:t>"Know thyself" - γνῶθι σεαυτόν</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National and Kapodistrian University of Athens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Opening - Delphi 2025</dc:title>
  <dc:subject>PptxGenJS Presentation</dc:subject>
  <dc:creator>Athens Digital Glossa Chronos</dc:creator>
  <cp:lastModifiedBy>Athens Digital Glossa Chronos</cp:lastModifiedBy>
  <cp:revision>1</cp:revision>
  <dcterms:created xsi:type="dcterms:W3CDTF">2025-11-23T08:17:03Z</dcterms:created>
  <dcterms:modified xsi:type="dcterms:W3CDTF">2025-11-23T08:17:03Z</dcterms:modified>
</cp:coreProperties>
</file>