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1E3C72"/>
                </a:solidFill>
              </a:defRPr>
            </a:pPr>
            <a:r>
              <a:t>Corpora and Diachrony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2A5298"/>
                </a:solidFill>
              </a:defRPr>
            </a:pPr>
            <a:r>
              <a:t>Influential Texts, Text Types and Genres</a:t>
            </a:r>
            <a:br/>
            <a:r>
              <a:t>Workshop Opening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46464"/>
                </a:solidFill>
              </a:defRPr>
            </a:pPr>
            <a:r>
              <a:t>Delphi, Greece • November 26-29,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C72"/>
                </a:solidFill>
              </a:defRPr>
            </a:pPr>
            <a:r>
              <a:t>Welcome to Ancient Delphi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The Sacred Center of Wisdom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We gather at the heart of the ancient world, where prophecy met philosophy, to explore how languages transform across millennia.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Four Days of Intensive Exploration: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C72"/>
                </a:solidFill>
              </a:defRPr>
            </a:pPr>
            <a:r>
              <a:t>Our Focus Areas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defRPr sz="2400" b="1">
                <a:solidFill>
                  <a:srgbClr val="1E3C72"/>
                </a:solidFill>
              </a:defRPr>
            </a:pPr>
            <a:r>
              <a:t>Corpus-based valency lexica development</a:t>
            </a:r>
          </a:p>
          <a:p>
            <a:pPr>
              <a:spcBef>
                <a:spcPts val="600"/>
              </a:spcBef>
              <a:defRPr sz="2400" b="1">
                <a:solidFill>
                  <a:srgbClr val="1E3C72"/>
                </a:solidFill>
              </a:defRPr>
            </a:pPr>
            <a:r>
              <a:t>Computational methods meet philological-linguistic expertise</a:t>
            </a:r>
          </a:p>
          <a:p>
            <a:pPr>
              <a:spcBef>
                <a:spcPts val="600"/>
              </a:spcBef>
              <a:defRPr sz="2400" b="1">
                <a:solidFill>
                  <a:srgbClr val="1E3C72"/>
                </a:solidFill>
              </a:defRPr>
            </a:pPr>
            <a:r>
              <a:t>Language change patterns across 3,000 years</a:t>
            </a:r>
          </a:p>
          <a:p>
            <a:pPr>
              <a:spcBef>
                <a:spcPts val="600"/>
              </a:spcBef>
              <a:defRPr sz="2400" b="1">
                <a:solidFill>
                  <a:srgbClr val="1E3C72"/>
                </a:solidFill>
              </a:defRPr>
            </a:pPr>
            <a:r>
              <a:t>Collaborative research initiatives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C72"/>
                </a:solidFill>
              </a:defRPr>
            </a:pPr>
            <a:r>
              <a:t>Our Organizing Committee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defRPr sz="2400" b="1">
                <a:solidFill>
                  <a:srgbClr val="1E3C72"/>
                </a:solidFill>
              </a:defRPr>
            </a:pPr>
            <a:r>
              <a:t>Principal Investigator:</a:t>
            </a:r>
          </a:p>
          <a:p>
            <a:pPr>
              <a:spcBef>
                <a:spcPts val="600"/>
              </a:spcBef>
              <a:defRPr sz="2400" b="1">
                <a:solidFill>
                  <a:srgbClr val="1E3C72"/>
                </a:solidFill>
              </a:defRPr>
            </a:pPr>
            <a:r>
              <a:t>Nikolaos Lavidas</a:t>
            </a:r>
          </a:p>
          <a:p>
            <a:pPr>
              <a:spcBef>
                <a:spcPts val="600"/>
              </a:spcBef>
              <a:defRPr sz="24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400" b="1">
                <a:solidFill>
                  <a:srgbClr val="1E3C72"/>
                </a:solidFill>
              </a:defRPr>
            </a:pPr>
            <a:r>
              <a:t>Co-Investigator:</a:t>
            </a:r>
          </a:p>
          <a:p>
            <a:pPr>
              <a:spcBef>
                <a:spcPts val="600"/>
              </a:spcBef>
              <a:defRPr sz="2400" b="1">
                <a:solidFill>
                  <a:srgbClr val="1E3C72"/>
                </a:solidFill>
              </a:defRPr>
            </a:pPr>
            <a:r>
              <a:t>Kiki Nikiforidou</a:t>
            </a:r>
          </a:p>
          <a:p>
            <a:pPr>
              <a:spcBef>
                <a:spcPts val="600"/>
              </a:spcBef>
              <a:defRPr sz="24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400" b="1">
                <a:solidFill>
                  <a:srgbClr val="1E3C72"/>
                </a:solidFill>
              </a:defRPr>
            </a:pPr>
            <a:r>
              <a:t>Team Members:</a:t>
            </a:r>
          </a:p>
          <a:p>
            <a:pPr>
              <a:spcBef>
                <a:spcPts val="600"/>
              </a:spcBef>
              <a:defRPr sz="2400" b="1">
                <a:solidFill>
                  <a:srgbClr val="1E3C72"/>
                </a:solidFill>
              </a:defRPr>
            </a:pPr>
            <a:r>
              <a:t>Vassiliki Geka</a:t>
            </a:r>
          </a:p>
          <a:p>
            <a:pPr>
              <a:spcBef>
                <a:spcPts val="600"/>
              </a:spcBef>
              <a:defRPr sz="2400" b="1">
                <a:solidFill>
                  <a:srgbClr val="1E3C72"/>
                </a:solidFill>
              </a:defRPr>
            </a:pPr>
            <a:r>
              <a:t>Vassilios Symeonidis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C72"/>
                </a:solidFill>
              </a:defRPr>
            </a:pPr>
            <a:r>
              <a:t>Our Organizing Committee (cont.)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defRPr sz="2400" b="1">
                <a:solidFill>
                  <a:srgbClr val="1E3C72"/>
                </a:solidFill>
              </a:defRPr>
            </a:pPr>
            <a:r>
              <a:t>Team Members (cont.):</a:t>
            </a:r>
          </a:p>
          <a:p>
            <a:pPr>
              <a:spcBef>
                <a:spcPts val="600"/>
              </a:spcBef>
              <a:defRPr sz="2400" b="1">
                <a:solidFill>
                  <a:srgbClr val="1E3C72"/>
                </a:solidFill>
              </a:defRPr>
            </a:pPr>
            <a:r>
              <a:t>Sofia Chionidi</a:t>
            </a:r>
          </a:p>
          <a:p>
            <a:pPr>
              <a:spcBef>
                <a:spcPts val="600"/>
              </a:spcBef>
              <a:defRPr sz="2400" b="1">
                <a:solidFill>
                  <a:srgbClr val="1E3C72"/>
                </a:solidFill>
              </a:defRPr>
            </a:pPr>
            <a:r>
              <a:t>Anastasia Tsiropina</a:t>
            </a:r>
          </a:p>
          <a:p>
            <a:pPr>
              <a:spcBef>
                <a:spcPts val="600"/>
              </a:spcBef>
              <a:defRPr sz="2400" b="1">
                <a:solidFill>
                  <a:srgbClr val="1E3C72"/>
                </a:solidFill>
              </a:defRPr>
            </a:pPr>
            <a:r>
              <a:t>Eleni Plakoutsi</a:t>
            </a:r>
          </a:p>
          <a:p>
            <a:pPr>
              <a:spcBef>
                <a:spcPts val="600"/>
              </a:spcBef>
              <a:defRPr sz="2400" b="1">
                <a:solidFill>
                  <a:srgbClr val="1E3C72"/>
                </a:solidFill>
              </a:defRPr>
            </a:pPr>
            <a:r>
              <a:t>Theodoros Michalareas</a:t>
            </a:r>
          </a:p>
          <a:p>
            <a:pPr>
              <a:spcBef>
                <a:spcPts val="600"/>
              </a:spcBef>
              <a:defRPr sz="24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400" b="1">
                <a:solidFill>
                  <a:srgbClr val="1E3C72"/>
                </a:solidFill>
              </a:defRPr>
            </a:pPr>
            <a:r>
              <a:t>Together, we're building bridges between computational innovation and the philological-linguistic tradition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C72"/>
                </a:solidFill>
              </a:defRPr>
            </a:pPr>
            <a:r>
              <a:t>Our Vision: Bridging Millennia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Developing corpus-based valency lexica for ancient and medieval languages through innovative computational methods integrated with traditional expertise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Ancient → Medieval → Modern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Core Objectives: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Track argument structure transformations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Map contact-induced changes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Build open-access resources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C72"/>
                </a:solidFill>
              </a:defRPr>
            </a:pPr>
            <a:r>
              <a:t>Four Days of Discovery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Day 0 - Nov 26: Arrival &amp; Welcome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Departure from Athens (15:30)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Welcome dinner in Delphi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Day 1 - Nov 27: Opening &amp; Foundations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Opening ceremony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Core methodology presentations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PROIEL framework (Haug)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Construction Grammar (Fried)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Historical syntax perspectives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C72"/>
                </a:solidFill>
              </a:defRPr>
            </a:pPr>
            <a:r>
              <a:t>Four Days of Discovery (cont.)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Day 2 - Nov 28: Deep Dive &amp; Collaboration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Computational approaches (Mikros)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Contact phenomena studies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Archaeological site guided tour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Corpus methods (Tantos, Sitaridou)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Day 3 - Nov 29: Technology &amp; Future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ARCAS Harvard collaboration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Planning next project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Closing ceremony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C72"/>
                </a:solidFill>
              </a:defRPr>
            </a:pPr>
            <a:r>
              <a:t>International Participation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defRPr sz="2800" b="1">
                <a:solidFill>
                  <a:srgbClr val="1E3C72"/>
                </a:solidFill>
              </a:defRPr>
            </a:pPr>
            <a:r>
              <a:t>20+ Distinguished Speakers</a:t>
            </a:r>
          </a:p>
          <a:p>
            <a:pPr>
              <a:spcBef>
                <a:spcPts val="600"/>
              </a:spcBef>
              <a:defRPr sz="28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800" b="1">
                <a:solidFill>
                  <a:srgbClr val="1E3C72"/>
                </a:solidFill>
              </a:defRPr>
            </a:pPr>
            <a:r>
              <a:t>12 Institutions</a:t>
            </a:r>
          </a:p>
          <a:p>
            <a:pPr>
              <a:spcBef>
                <a:spcPts val="600"/>
              </a:spcBef>
              <a:defRPr sz="28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800" b="1">
                <a:solidFill>
                  <a:srgbClr val="1E3C72"/>
                </a:solidFill>
              </a:defRPr>
            </a:pPr>
            <a:r>
              <a:t>8 Countries</a:t>
            </a:r>
          </a:p>
          <a:p>
            <a:pPr>
              <a:spcBef>
                <a:spcPts val="600"/>
              </a:spcBef>
              <a:defRPr sz="28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800" b="1">
                <a:solidFill>
                  <a:srgbClr val="1E3C72"/>
                </a:solidFill>
              </a:defRPr>
            </a:pPr>
            <a:r>
              <a:t>United by purpose: Understanding how languages evolve through contact and time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C72"/>
                </a:solidFill>
              </a:defRPr>
            </a:pPr>
            <a:r>
              <a:t>Distinguished International Speakers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Leading Voices in Diachronic Linguistics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University of Oslo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  PROIEL methodology expertise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University of Cambridge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  Historical syntax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Charles University Prague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  Corpus annotation systems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C72"/>
                </a:solidFill>
              </a:defRPr>
            </a:pPr>
            <a:r>
              <a:t>Distinguished International Speakers (cont.)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Universidad de Murcia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  Ancient Greek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Harvard CHS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  ARCAS digital philology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University of Bologna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  Classical languages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University of Mannheim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  Computational linguistics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CSIC Madrid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  Classical languages, computational methods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C72"/>
                </a:solidFill>
              </a:defRPr>
            </a:pPr>
            <a:r>
              <a:t>The PROIEL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Pragmatic Resources in Old Indo-European Languages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A dependency-based annotation system enabling precise tracking of grammatical evolution across millennia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Three Dimensions of Analysis: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Morphological complexity across time periods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Argument structures and case marking evolution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Translation effects and contact-induced patterns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C72"/>
                </a:solidFill>
              </a:defRPr>
            </a:pPr>
            <a:r>
              <a:t>Central Research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defRPr sz="1900" b="1">
                <a:solidFill>
                  <a:srgbClr val="1E3C72"/>
                </a:solidFill>
              </a:defRPr>
            </a:pPr>
            <a:r>
              <a:t>1. Contact Patterns</a:t>
            </a:r>
          </a:p>
          <a:p>
            <a:pPr>
              <a:spcBef>
                <a:spcPts val="600"/>
              </a:spcBef>
              <a:defRPr sz="1900" b="1">
                <a:solidFill>
                  <a:srgbClr val="1E3C72"/>
                </a:solidFill>
              </a:defRPr>
            </a:pPr>
            <a:r>
              <a:t>How do interlingual and intralingual contact produce different syntactic effects?</a:t>
            </a:r>
          </a:p>
          <a:p>
            <a:pPr>
              <a:spcBef>
                <a:spcPts val="600"/>
              </a:spcBef>
              <a:defRPr sz="19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1900" b="1">
                <a:solidFill>
                  <a:srgbClr val="1E3C72"/>
                </a:solidFill>
              </a:defRPr>
            </a:pPr>
            <a:r>
              <a:t>2. Translation Chains and Retranslations</a:t>
            </a:r>
          </a:p>
          <a:p>
            <a:pPr>
              <a:spcBef>
                <a:spcPts val="600"/>
              </a:spcBef>
              <a:defRPr sz="1900" b="1">
                <a:solidFill>
                  <a:srgbClr val="1E3C72"/>
                </a:solidFill>
              </a:defRPr>
            </a:pPr>
            <a:r>
              <a:t>What do retranslation patterns reveal about language evolution mechanisms?</a:t>
            </a:r>
          </a:p>
          <a:p>
            <a:pPr>
              <a:spcBef>
                <a:spcPts val="600"/>
              </a:spcBef>
              <a:defRPr sz="19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1900" b="1">
                <a:solidFill>
                  <a:srgbClr val="1E3C72"/>
                </a:solidFill>
              </a:defRPr>
            </a:pPr>
            <a:r>
              <a:t>3. Canonical Texts and Textual Transmission</a:t>
            </a:r>
          </a:p>
          <a:p>
            <a:pPr>
              <a:spcBef>
                <a:spcPts val="600"/>
              </a:spcBef>
              <a:defRPr sz="1900" b="1">
                <a:solidFill>
                  <a:srgbClr val="1E3C72"/>
                </a:solidFill>
              </a:defRPr>
            </a:pPr>
            <a:r>
              <a:t>Do influential texts maintain original forms or evolve through transmission?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C72"/>
                </a:solidFill>
              </a:defRPr>
            </a:pPr>
            <a:r>
              <a:t>Central Research Questions (cont.)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defRPr sz="1900" b="1">
                <a:solidFill>
                  <a:srgbClr val="1E3C72"/>
                </a:solidFill>
              </a:defRPr>
            </a:pPr>
            <a:r>
              <a:t>4. Rate and Nature of Syntactic Change</a:t>
            </a:r>
          </a:p>
          <a:p>
            <a:pPr>
              <a:spcBef>
                <a:spcPts val="600"/>
              </a:spcBef>
              <a:defRPr sz="1900" b="1">
                <a:solidFill>
                  <a:srgbClr val="1E3C72"/>
                </a:solidFill>
              </a:defRPr>
            </a:pPr>
            <a:r>
              <a:t>Does contact lead to rapid systematic changes or gradual modifications?</a:t>
            </a:r>
          </a:p>
          <a:p>
            <a:pPr>
              <a:spcBef>
                <a:spcPts val="600"/>
              </a:spcBef>
              <a:defRPr sz="19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1900" b="1">
                <a:solidFill>
                  <a:srgbClr val="1E3C72"/>
                </a:solidFill>
              </a:defRPr>
            </a:pPr>
            <a:r>
              <a:t>5. Historical Syntax Across Periods</a:t>
            </a:r>
          </a:p>
          <a:p>
            <a:pPr>
              <a:spcBef>
                <a:spcPts val="600"/>
              </a:spcBef>
              <a:defRPr sz="1900" b="1">
                <a:solidFill>
                  <a:srgbClr val="1E3C72"/>
                </a:solidFill>
              </a:defRPr>
            </a:pPr>
            <a:r>
              <a:t>How do syntactic structures transform from Classical through Byzantine to Modern Greek?</a:t>
            </a:r>
          </a:p>
          <a:p>
            <a:pPr>
              <a:spcBef>
                <a:spcPts val="600"/>
              </a:spcBef>
              <a:defRPr sz="19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1900" b="1">
                <a:solidFill>
                  <a:srgbClr val="1E3C72"/>
                </a:solidFill>
              </a:defRPr>
            </a:pPr>
            <a:r>
              <a:t>6. Register and Genre Variation</a:t>
            </a:r>
          </a:p>
          <a:p>
            <a:pPr>
              <a:spcBef>
                <a:spcPts val="600"/>
              </a:spcBef>
              <a:defRPr sz="1900" b="1">
                <a:solidFill>
                  <a:srgbClr val="1E3C72"/>
                </a:solidFill>
              </a:defRPr>
            </a:pPr>
            <a:r>
              <a:t>How do different text types and genres influence grammatical patterns?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C72"/>
                </a:solidFill>
              </a:defRPr>
            </a:pPr>
            <a:r>
              <a:t>Central Research Questions (cont.)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defRPr sz="1900" b="1">
                <a:solidFill>
                  <a:srgbClr val="1E3C72"/>
                </a:solidFill>
              </a:defRPr>
            </a:pPr>
            <a:r>
              <a:t>7. Corpus-Based Methods</a:t>
            </a:r>
          </a:p>
          <a:p>
            <a:pPr>
              <a:spcBef>
                <a:spcPts val="600"/>
              </a:spcBef>
              <a:defRPr sz="1900" b="1">
                <a:solidFill>
                  <a:srgbClr val="1E3C72"/>
                </a:solidFill>
              </a:defRPr>
            </a:pPr>
            <a:r>
              <a:t>How can computational approaches best capture diachronic variation and change?</a:t>
            </a:r>
          </a:p>
          <a:p>
            <a:pPr>
              <a:spcBef>
                <a:spcPts val="600"/>
              </a:spcBef>
              <a:defRPr sz="19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1900" b="1">
                <a:solidFill>
                  <a:srgbClr val="1E3C72"/>
                </a:solidFill>
              </a:defRPr>
            </a:pPr>
            <a:r>
              <a:t>8. Valency and Argument Structure</a:t>
            </a:r>
          </a:p>
          <a:p>
            <a:pPr>
              <a:spcBef>
                <a:spcPts val="600"/>
              </a:spcBef>
              <a:defRPr sz="1900" b="1">
                <a:solidFill>
                  <a:srgbClr val="1E3C72"/>
                </a:solidFill>
              </a:defRPr>
            </a:pPr>
            <a:r>
              <a:t>How do argument structure patterns evolve through contact and time?</a:t>
            </a:r>
          </a:p>
          <a:p>
            <a:pPr>
              <a:spcBef>
                <a:spcPts val="600"/>
              </a:spcBef>
              <a:defRPr sz="19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1900" b="1">
                <a:solidFill>
                  <a:srgbClr val="1E3C72"/>
                </a:solidFill>
              </a:defRPr>
            </a:pPr>
            <a:r>
              <a:t>9. Annotation Frameworks</a:t>
            </a:r>
          </a:p>
          <a:p>
            <a:pPr>
              <a:spcBef>
                <a:spcPts val="600"/>
              </a:spcBef>
              <a:defRPr sz="1900" b="1">
                <a:solidFill>
                  <a:srgbClr val="1E3C72"/>
                </a:solidFill>
              </a:defRPr>
            </a:pPr>
            <a:r>
              <a:t>What standards enable cross-linguistic diachronic comparison?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C72"/>
                </a:solidFill>
              </a:defRPr>
            </a:pPr>
            <a:r>
              <a:t>Central Research Questions (cont.)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10. Cross-Linguistic Patterns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What universal patterns emerge from comparing Greek, Romance, and Germanic?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11. Text Types and Discourse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How do different discourse contexts shape grammatical innovations?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These questions guide our exploration across three millennia of textual evidence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C72"/>
                </a:solidFill>
              </a:defRPr>
            </a:pPr>
            <a:r>
              <a:t>Today's Session: Retranslations Across Millennia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75-Minute Deep Dive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Following This Opening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Presenting Team: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Lavidas, Michalareas, Symeonidis,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Chionidi, Tsiropina, Plakoutsi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Focus Areas: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Intralingual contact (Classical → Byzantine → Modern)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Interlingual contact (Greek ↔ Latin interfaces)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C72"/>
                </a:solidFill>
              </a:defRPr>
            </a:pPr>
            <a:r>
              <a:t>The AthDGC Corpus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3,000 Years • Multiple Languages • One Framework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Corpus Components: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Original texts: Homer, Plato, New Testament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Historical translations: Septuagint, Vulgate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Modern retranslations: Contemporary versions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Technical Infrastructure: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Stanza NLP integration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CHS Harvard, ARCAS: collaboration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Multi-temporal annotation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C72"/>
                </a:solidFill>
              </a:defRPr>
            </a:pPr>
            <a:r>
              <a:t>Innovation: Where Tradition Meets 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defRPr sz="2400" b="1">
                <a:solidFill>
                  <a:srgbClr val="1E3C72"/>
                </a:solidFill>
              </a:defRPr>
            </a:pPr>
            <a:r>
              <a:t>Traditional Philology:</a:t>
            </a:r>
          </a:p>
          <a:p>
            <a:pPr>
              <a:spcBef>
                <a:spcPts val="600"/>
              </a:spcBef>
              <a:defRPr sz="2400" b="1">
                <a:solidFill>
                  <a:srgbClr val="1E3C72"/>
                </a:solidFill>
              </a:defRPr>
            </a:pPr>
            <a:r>
              <a:t>Close reading</a:t>
            </a:r>
          </a:p>
          <a:p>
            <a:pPr>
              <a:spcBef>
                <a:spcPts val="600"/>
              </a:spcBef>
              <a:defRPr sz="2400" b="1">
                <a:solidFill>
                  <a:srgbClr val="1E3C72"/>
                </a:solidFill>
              </a:defRPr>
            </a:pPr>
            <a:r>
              <a:t>Manuscript expertise</a:t>
            </a:r>
          </a:p>
          <a:p>
            <a:pPr>
              <a:spcBef>
                <a:spcPts val="600"/>
              </a:spcBef>
              <a:defRPr sz="2400" b="1">
                <a:solidFill>
                  <a:srgbClr val="1E3C72"/>
                </a:solidFill>
              </a:defRPr>
            </a:pPr>
            <a:r>
              <a:t>Historical context</a:t>
            </a:r>
          </a:p>
          <a:p>
            <a:pPr>
              <a:spcBef>
                <a:spcPts val="600"/>
              </a:spcBef>
              <a:defRPr sz="2400" b="1">
                <a:solidFill>
                  <a:srgbClr val="1E3C72"/>
                </a:solidFill>
              </a:defRPr>
            </a:pPr>
            <a:r>
              <a:t>Linguistic intuition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C72"/>
                </a:solidFill>
              </a:defRPr>
            </a:pPr>
            <a:r>
              <a:t>Innovation: Where Tradition Meets 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defRPr sz="2400" b="1">
                <a:solidFill>
                  <a:srgbClr val="1E3C72"/>
                </a:solidFill>
              </a:defRPr>
            </a:pPr>
            <a:r>
              <a:t>Computational Methods:</a:t>
            </a:r>
          </a:p>
          <a:p>
            <a:pPr>
              <a:spcBef>
                <a:spcPts val="600"/>
              </a:spcBef>
              <a:defRPr sz="2400" b="1">
                <a:solidFill>
                  <a:srgbClr val="1E3C72"/>
                </a:solidFill>
              </a:defRPr>
            </a:pPr>
            <a:r>
              <a:t>Statistical analysis</a:t>
            </a:r>
          </a:p>
          <a:p>
            <a:pPr>
              <a:spcBef>
                <a:spcPts val="600"/>
              </a:spcBef>
              <a:defRPr sz="2400" b="1">
                <a:solidFill>
                  <a:srgbClr val="1E3C72"/>
                </a:solidFill>
              </a:defRPr>
            </a:pPr>
            <a:r>
              <a:t>Pattern detection</a:t>
            </a:r>
          </a:p>
          <a:p>
            <a:pPr>
              <a:spcBef>
                <a:spcPts val="600"/>
              </a:spcBef>
              <a:defRPr sz="2400" b="1">
                <a:solidFill>
                  <a:srgbClr val="1E3C72"/>
                </a:solidFill>
              </a:defRPr>
            </a:pPr>
            <a:r>
              <a:t>Large-scale comparison</a:t>
            </a:r>
          </a:p>
          <a:p>
            <a:pPr>
              <a:spcBef>
                <a:spcPts val="600"/>
              </a:spcBef>
              <a:defRPr sz="2400" b="1">
                <a:solidFill>
                  <a:srgbClr val="1E3C72"/>
                </a:solidFill>
              </a:defRPr>
            </a:pPr>
            <a:r>
              <a:t>Automated annotation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C72"/>
                </a:solidFill>
              </a:defRPr>
            </a:pPr>
            <a:r>
              <a:t>Innovation: Where Tradition Meets 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Historical Linguistics: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Diachronic analysis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Language change patterns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Contact-induced variation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Grammaticalization pathways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SYNTHESIS = BREAKTHROUGH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Integrated Approach: Combining philological-linguistic expertise with computational power and historical linguistic theory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C72"/>
                </a:solidFill>
              </a:defRPr>
            </a:pPr>
            <a:r>
              <a:t>Emerging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Finding 1: Translation Prestige Effect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Prestigious source languages trigger more organized structural changes than register variation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Finding 2: Case System Simplification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Dative case decline from Classical (70%) to complete loss in Modern Greek, replaced by prepositional phrases (εἰς, πρός + ACC)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C72"/>
                </a:solidFill>
              </a:defRPr>
            </a:pPr>
            <a:r>
              <a:t>Emerging Findings (cont.)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Finding 3: Grammatical Multiglossia &amp; LCTT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Language Contact Through Translation (LCTT) produces innovations limited to translated texts, creating parallel grammatical systems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Finding 4: Semi-Natural Change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Translation-induced changes follow natural language evolution pathways (Weiß 1998, 2001) - distinct from internal change but not artificial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C72"/>
                </a:solidFill>
              </a:defRPr>
            </a:pPr>
            <a:r>
              <a:t>International Partnership: ARCAS at Harvard CHS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defRPr sz="2400" b="1">
                <a:solidFill>
                  <a:srgbClr val="1E3C72"/>
                </a:solidFill>
              </a:defRPr>
            </a:pPr>
            <a:r>
              <a:t>Day 3 Special Session</a:t>
            </a:r>
          </a:p>
          <a:p>
            <a:pPr>
              <a:spcBef>
                <a:spcPts val="600"/>
              </a:spcBef>
              <a:defRPr sz="24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400" b="1">
                <a:solidFill>
                  <a:srgbClr val="1E3C72"/>
                </a:solidFill>
              </a:defRPr>
            </a:pPr>
            <a:r>
              <a:t>Presenting Team:</a:t>
            </a:r>
          </a:p>
          <a:p>
            <a:pPr>
              <a:spcBef>
                <a:spcPts val="600"/>
              </a:spcBef>
              <a:defRPr sz="2400" b="1">
                <a:solidFill>
                  <a:srgbClr val="1E3C72"/>
                </a:solidFill>
              </a:defRPr>
            </a:pPr>
            <a:r>
              <a:t>Saïd Esteban Belmehdi</a:t>
            </a:r>
          </a:p>
          <a:p>
            <a:pPr>
              <a:spcBef>
                <a:spcPts val="600"/>
              </a:spcBef>
              <a:defRPr sz="2400" b="1">
                <a:solidFill>
                  <a:srgbClr val="1E3C72"/>
                </a:solidFill>
              </a:defRPr>
            </a:pPr>
            <a:r>
              <a:t>Ioanna Papadopoulou</a:t>
            </a:r>
          </a:p>
          <a:p>
            <a:pPr>
              <a:spcBef>
                <a:spcPts val="600"/>
              </a:spcBef>
              <a:defRPr sz="2400" b="1">
                <a:solidFill>
                  <a:srgbClr val="1E3C72"/>
                </a:solidFill>
              </a:defRPr>
            </a:pPr>
            <a:r>
              <a:t>Julien Razanajao</a:t>
            </a:r>
          </a:p>
          <a:p>
            <a:pPr>
              <a:spcBef>
                <a:spcPts val="600"/>
              </a:spcBef>
              <a:defRPr sz="24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400" b="1">
                <a:solidFill>
                  <a:srgbClr val="1E3C72"/>
                </a:solidFill>
              </a:defRPr>
            </a:pPr>
            <a:r>
              <a:t>ARCAS: Advanced Research Collaboration</a:t>
            </a:r>
          </a:p>
          <a:p>
            <a:pPr>
              <a:spcBef>
                <a:spcPts val="600"/>
              </a:spcBef>
              <a:defRPr sz="2400" b="1">
                <a:solidFill>
                  <a:srgbClr val="1E3C72"/>
                </a:solidFill>
              </a:defRPr>
            </a:pPr>
            <a:r>
              <a:t>and Analysis System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C72"/>
                </a:solidFill>
              </a:defRPr>
            </a:pPr>
            <a:r>
              <a:t>ARCAS Collaboration Focus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Key Areas: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Digital text editions and critical apparatus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Collaborative annotation frameworks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Semantic networks and cross-referencing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Machine learning for textual analysis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Synergy Points: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Perseus Digital Library integration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Homeric and classical tradition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Byzantine textual transmission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C72"/>
                </a:solidFill>
              </a:defRPr>
            </a:pPr>
            <a:r>
              <a:t>Our Active Participation: Workshop Dynamics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This is OUR workshop - engage, question, collaborate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Collaborative Dialogue: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Open discussions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Shared insights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Collective problem-solving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Building Partnerships: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Cross-institutional collaboration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Methodological exchange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Future proposal preparation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C72"/>
                </a:solidFill>
              </a:defRPr>
            </a:pPr>
            <a:r>
              <a:t>Future Resources: What AthDGC Will Offer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Open Access Commitment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All future tools, corpora, and research outputs will be freely available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Planned Infrastructure: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Digital corpus repository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Annotation tools and guidelines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Collaborative research platform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Open-access publications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github.com/athdgc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C72"/>
                </a:solidFill>
              </a:defRPr>
            </a:pPr>
            <a:r>
              <a:t>Looking Ahead: Day 4 Planning Session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Building Our Future Together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Key Discussion Topics: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Texts: Which canonical works to prioritize?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Grammar: Annotation standards and protocols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Change: Tracking mechanisms and metrics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Corpora: Integration with existing resources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Next Venues: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Athens 2026 - Spring conference at NKUA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Naxos 2026 - Summer school program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C72"/>
                </a:solidFill>
              </a:defRPr>
            </a:pPr>
            <a:r>
              <a:t>Acknowledgments: Making This Possible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Hellenic Foundation for Research and Innovation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2nd Call for H.F.R.I. Research Projects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Project ID: HFRI-FM17-3968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Full Support Provided: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No registration fees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Accommodation covered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All meals included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Cultural program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C72"/>
                </a:solidFill>
              </a:defRPr>
            </a:pPr>
            <a:r>
              <a:t>Partner Support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defRPr sz="2600" b="1">
                <a:solidFill>
                  <a:srgbClr val="1E3C72"/>
                </a:solidFill>
              </a:defRPr>
            </a:pPr>
            <a:r>
              <a:t>European Cultural Centre of Delphi</a:t>
            </a:r>
          </a:p>
          <a:p>
            <a:pPr>
              <a:spcBef>
                <a:spcPts val="600"/>
              </a:spcBef>
              <a:defRPr sz="26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600" b="1">
                <a:solidFill>
                  <a:srgbClr val="1E3C72"/>
                </a:solidFill>
              </a:defRPr>
            </a:pPr>
            <a:r>
              <a:t>Naxos Diachronic Linguistics School</a:t>
            </a:r>
          </a:p>
          <a:p>
            <a:pPr>
              <a:spcBef>
                <a:spcPts val="600"/>
              </a:spcBef>
              <a:defRPr sz="26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600" b="1">
                <a:solidFill>
                  <a:srgbClr val="1E3C72"/>
                </a:solidFill>
              </a:defRPr>
            </a:pPr>
            <a:r>
              <a:t>Athens «Glossa Contact Laboratory»</a:t>
            </a:r>
          </a:p>
          <a:p>
            <a:pPr>
              <a:spcBef>
                <a:spcPts val="600"/>
              </a:spcBef>
              <a:defRPr sz="26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600" b="1">
                <a:solidFill>
                  <a:srgbClr val="1E3C72"/>
                </a:solidFill>
              </a:defRPr>
            </a:pPr>
            <a:r>
              <a:t>International collaborators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C72"/>
                </a:solidFill>
              </a:defRPr>
            </a:pPr>
            <a:r>
              <a:t>Practical Matters: Our Workshop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Four-Day Schedule: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Day 0 (Nov 26): Arrival &amp; welcome dinner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Day 1 (Nov 27): 09:30-18:30 Sessions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  Evening dinner in Arachova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Day 2 (Nov 28): Morning sessions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  Archaeological tour 13:00-16:00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  Evening sessions &amp; gala dinner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Day 3 (Nov 29): 09:30-12:30 Final sessions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  Departure 14:30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C72"/>
                </a:solidFill>
              </a:defRPr>
            </a:pPr>
            <a:r>
              <a:t>Venue Features &amp; Materials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Venue: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European Cultural Centre of Delphi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WiFi available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All meals at venue or local tavernas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Materials Access (Future):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Workshop GitHub repository for participants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Open-access resources planned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Full program: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athdgc.github.io/Delphi2025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C72"/>
                </a:solidFill>
              </a:defRPr>
            </a:pPr>
            <a:r>
              <a:t>Our Journey Begins: Join the Movement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Together, We're Advancing Knowledge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Every annotation, every analysis, every collaboration contributes to understanding of language evolution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Engage • Connect • Innovate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What will YOUR contribution be to this grand endeavor?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C72"/>
                </a:solidFill>
              </a:defRPr>
            </a:pPr>
            <a:r>
              <a:t>Welcome to Delphi 2025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defRPr sz="24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400" b="1">
                <a:solidFill>
                  <a:srgbClr val="1E3C72"/>
                </a:solidFill>
              </a:defRPr>
            </a:pPr>
            <a:r>
              <a:t>Let the journey begin</a:t>
            </a:r>
          </a:p>
          <a:p>
            <a:pPr>
              <a:spcBef>
                <a:spcPts val="600"/>
              </a:spcBef>
              <a:defRPr sz="24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4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400" b="1">
                <a:solidFill>
                  <a:srgbClr val="1E3C72"/>
                </a:solidFill>
              </a:defRPr>
            </a:pPr>
            <a:r>
              <a:t>Up Next:</a:t>
            </a:r>
          </a:p>
          <a:p>
            <a:pPr>
              <a:spcBef>
                <a:spcPts val="600"/>
              </a:spcBef>
              <a:defRPr sz="2400" b="1">
                <a:solidFill>
                  <a:srgbClr val="1E3C72"/>
                </a:solidFill>
              </a:defRPr>
            </a:pPr>
            <a:r>
              <a:t>Retranslations Across Millennia</a:t>
            </a:r>
          </a:p>
          <a:p>
            <a:pPr>
              <a:spcBef>
                <a:spcPts val="600"/>
              </a:spcBef>
              <a:defRPr sz="2400" b="1">
                <a:solidFill>
                  <a:srgbClr val="1E3C72"/>
                </a:solidFill>
              </a:defRPr>
            </a:pPr>
            <a:r>
              <a:t>75-minute presentation by the AthDGC core team</a:t>
            </a:r>
          </a:p>
          <a:p>
            <a:pPr>
              <a:spcBef>
                <a:spcPts val="600"/>
              </a:spcBef>
              <a:defRPr sz="24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4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400" b="1">
                <a:solidFill>
                  <a:srgbClr val="1E3C72"/>
                </a:solidFill>
              </a:defRPr>
            </a:pPr>
            <a:r>
              <a:t>"Know thyself" - γνῶθι σεαυτόν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