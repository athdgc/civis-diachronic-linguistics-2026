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1" r:id="rId7"/>
    <p:sldId id="262" r:id="rId8"/>
    <p:sldId id="264" r:id="rId10"/>
    <p:sldId id="265" r:id="rId11"/>
    <p:sldId id="266" r:id="rId12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2"/>
    <p:sldId id="287" r:id="rId33"/>
    <p:sldId id="288" r:id="rId34"/>
    <p:sldId id="289" r:id="rId35"/>
    <p:sldId id="290" r:id="rId36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7"/>
    <p:sldId id="302" r:id="rId48"/>
    <p:sldId id="303" r:id="rId49"/>
    <p:sldId id="304" r:id="rId50"/>
    <p:sldId id="305" r:id="rId51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6" r:id="rId62"/>
    <p:sldId id="317" r:id="rId63"/>
    <p:sldId id="318" r:id="rId64"/>
    <p:sldId id="319" r:id="rId65"/>
    <p:sldId id="320" r:id="rId66"/>
    <p:sldId id="322" r:id="rId68"/>
    <p:sldId id="323" r:id="rId69"/>
    <p:sldId id="324" r:id="rId70"/>
    <p:sldId id="325" r:id="rId71"/>
    <p:sldId id="326" r:id="rId72"/>
    <p:sldId id="332" r:id="rId78"/>
    <p:sldId id="333" r:id="rId79"/>
    <p:sldId id="334" r:id="rId80"/>
    <p:sldId id="335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Retranslations Across Millennia:</a:t>
            </a:r>
            <a:br/>
            <a:r>
              <a:t>A Diachronic Contrastive Corpus for Studying</a:t>
            </a:r>
            <a:br/>
            <a:r>
              <a:t>Interlingual and Intralingual Language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Nikolaos Lavidas, Theodoros Michalaeras, Vassilios Symeonidis,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Sofia Chionidi, Anastasia Tsiropina, Eleni Plakoutsi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endParaRPr/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Athens Digital Glossa Chronos (AthDGC)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National and Kapodistrian University of Athens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endParaRPr/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DELPHI Workshop 2025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November 26-29, 2025 | Delphi, Greece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Retranslations Across Millennia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Core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Intralingual &amp; Interlingual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Language Contact Through Translation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Nikolaos Lavidas, Theodoros Michalareas, Vassilios Symeonidis,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Sofia Chionidi, Anastasia Tsiropina, 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Delphi Workshop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PART III:</a:t>
            </a:r>
            <a:br/>
            <a:r>
              <a:rPr>
                <a:solidFill>
                  <a:srgbClr val="40829B"/>
                </a:solidFill>
              </a:rPr>
              <a:t>Detailed Research Findings</a:t>
            </a:r>
            <a:br/>
            <a:r>
              <a:rPr>
                <a:solidFill>
                  <a:srgbClr val="40829B"/>
                </a:solidFill>
              </a:rPr>
              <a:t>(CIDL25 Study)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Lavidas, Sitaridou, &amp; Yanovich (2025)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Acknowledgments: H.F.R.I. Project Number: 15284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Nikolaos Lavidas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National and Kapodistrian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University of Athens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nlavidas@enl.uoa.gr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National and Kapodistrian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University of Athens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eleni2plak@gmail.com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Anastasia Tsiropina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National and Kapodistrian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University of Athens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natasatsirop@gmail.com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evolution of valency over time: Digital pathways uncovering the grammatical structure of Indo-European languages.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Athens Digital Glossa Chronos (AthDGC)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25th International Conference of the Department of Linguistics (CIDL25)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Research Team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Professor Nikolaos Lavidas (Principal Investigator)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Professor Emeritus Vasiliki Nikiforidou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Theodoros Michalareas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Vasiliki Geka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Vasilis Symeonidis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Sophia Chionidi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Anastasia Tsiropina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Aim of AthDGC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Creation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 parallel diachronic corpus of 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B) A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Analysis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B) Language diachrony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C) Written Language Contact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Sitaridou (2014a); Nikiforidou, Marmaridou, &amp; Mikros (2014)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Theoretical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Research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Interdisciplinary approach: Diachronic - Historical Linguistics, Translation Studies, Computational analysis.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Focus on transitivity, semantic structure and morphosyntactic change.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(Lavidas &amp; Haug 2019)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(Lavidas, 2009; Nikiforidou,1991)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Material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PROIEL software and annotation tools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(source texts and retranslations)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AthDGC </a:t>
            </a:r>
            <a:br/>
            <a:r>
              <a:rPr>
                <a:solidFill>
                  <a:srgbClr val="40829B"/>
                </a:solidFill>
              </a:rPr>
              <a:t>Corpus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rPr>
                <a:solidFill>
                  <a:srgbClr val="40829B"/>
                </a:solidFill>
              </a:rPr>
              <a:t>Lavidas &amp; Haug (2019)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AthDGC Corpus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Influential texts-&gt; Texts that have a great impact in the history of humanity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e.g. The Bible, the Homeric Poems etc   - criterion: retranslated and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republished in many periods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Indo-European Languages under investigation: Phase 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Hellenic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Germanic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(English &amp; Gothic)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Romance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(Latin &amp; Old French)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Original (source)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&amp; Texts representative of different periods: for diachronic, contrastive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Original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Greek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Ancient Greek: e.g. Homeric poems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Hellenistic Greek: e.g. New Testament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Medieval Greek: e.g. Psellos’ Chronographia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Early Modern Greek: e.g. Digenis Akritas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English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Old English: e.g. Ælfric's Lives of Saints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Middle English: e.g. Orrmin: The Ormulum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Modern English: e.g. Jane Austen’s Pride and Prejudice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Old French: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e.g. La Vie de Saint Eustache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Intralingual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e.g. the Greek retranslation of the New Testament by Alexandros Palles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(20th century)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Interlingual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e.g. the English retranslation of the New Testament by William Tyndale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(16th century)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Pragmatic Resources in Old Indo-European Languages</a:t>
            </a:r>
            <a:br/>
            <a:r>
              <a:rPr>
                <a:solidFill>
                  <a:srgbClr val="40829B"/>
                </a:solidFill>
              </a:rPr>
              <a:t>- PROIEL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PROIEL interface has been used by scholars to study language diachrony and written language contact.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(cf. Lavidas &amp; Haug, 2019; Klein 2011; Giannolo 2011)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Open-source software tools and annotation schemes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Annotation guidelines regarding: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tokenization and sentence division (fully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morphological annotation (partly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c) syntactic annotation (manually completed)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Dependency grammar scheme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Morphological and Syntactic tagset.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Effective in the analysis of free-word order languages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(Eckoff et al 2018)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Table 1. The 22 syntactic tagset of PROEIL (Haug 2010).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ATHDGC corpus Construction Principles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Corpus Construction Principles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Diachronic and Theoretical (argument structure)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Text selection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Influential texts and sources as close as possible to the digital versions.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Copyright free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Metadata (Author, date, URL etc)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A) Texts from other open-access treebanks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B) Texts from online text collections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C) Scanned books or manuscripts from digital libraries and archives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 types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19/67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Texts from other open-source treebanks -PROIEL, Perseus database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(in .xml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Nikiforidou &amp; Torres Cacoullos (2010)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B) Texts from online text collections, such as Project Gutenberg or Bible Gateway.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(in .txt or .html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Tokenization and Sentence division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Sentences: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segmentation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Delimiters established by the research team -&gt; punctuation marks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Challenges: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for example: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-Modern English: Μr. / Mrs.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-Modern Greek: ό,τι (anything)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Identification Codes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Creation of IDs for the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ID information: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Author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Source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Translator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Target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Version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Only for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Morphological Annotation (partially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Syntactic Annotation (manually completed)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syntactic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Extraction of syntactic information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Creation of the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Main goal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What is valency?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describes the presence/absence, type and number of arguments licensed by a verb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(1) Mary sleeps.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(2) Mary likes John.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(3) Mary gave a letter to John.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Underlying idea: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Number of participants in semantics = number of arguments in syntax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Tesnière (1959)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Verb = central structural element of the sentence, all other elements depend on it [dependency grammar]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Verb classes according to the number of arguments: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Basic argument frame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Basic argument frame = the most frequent/default argument set of a verb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e.g. He saw her.   1-nom.V.2-acc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But: not only one argument frame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 I see. (= I understand.)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number of arguments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case/type of the arguments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word order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29/67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Alternations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alternations = a verb changes the number and/or type of arguments it licenses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Middle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Jane broke the crystal. // The crystal broke.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Margaret cut the board. // ??The board cut.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Causative/Inchoative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They stood the statue on the pedestal.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statue stood on the pedestal.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Dative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They gave him cake.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They gave cake to him.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Alternations (2)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Unspecified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Mike ate all the cake.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Mike ate.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Mike put the flowers in the vase.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??Mike put.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Understood Reflexive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Jill dressed herself in a hurry.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Jill dressed in a hurry.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Jill cut herself.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??Jill cut.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6.    Understood Reciprocal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Anne met Cathy.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Anne and Cathy met.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Joe and Carter gossiped.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??Joe gossiped Carter.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Alternations (2) (continued)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Alternations (3)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etc.…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 Valency alternations vary from one language to another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 Levin (1993): identifies up to 50 alternations for English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Locative preposition drop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Martha climbed up a mountain.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Martha climbed a mountain.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Sharon came into the room.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??Sharon came the room.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8.    Benefactive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Martha carved a toy for the baby.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Martha carved the baby a toy.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architect selected a house for the couple.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?? The architect selected	the couple a house.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One lexicon per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(1 for Greek, 1 for English)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Valency lexicon =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list of verbs + valency information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Annotation through 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Sitaridou (2014b)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Annotation through 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 Valency Lexicon </a:t>
            </a:r>
            <a:br/>
            <a:r>
              <a:rPr>
                <a:solidFill>
                  <a:srgbClr val="40829B"/>
                </a:solidFill>
              </a:rPr>
              <a:t>a .cvs file –Cooperation with Harvard CHS (Arkas Team)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 Valency Lexicon </a:t>
            </a:r>
            <a:br/>
            <a:r>
              <a:rPr>
                <a:solidFill>
                  <a:srgbClr val="40829B"/>
                </a:solidFill>
              </a:rPr>
              <a:t>a .cvs file –Cooperation with Harvard CHS (Arkas Team)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‘write’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Modern English, Frequency in the corpus: 1015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etc…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You write uncommonly fast.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because he does not write with ease.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…a person who can write a long letter with ease…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and when I next write to her 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it had been written five days ago.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39/67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‘writen’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Middle English, Frequency in the corpus: 103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Reum Beel Theem and Samsai the scryuen writen sich oon epistle fro Jerusalem to the kyng Artaxerses;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(“Reum Beelteem and Samsai the scribe wrote a letter from Jerusalem to king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Artaxerxes in this manner”)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Forsothe of his vnclennesse and his vnreligioustee it is writen in the book of the tymes of kyngis.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(Indeed, of his uncleanness and his unreligiousness it is written in the book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of the history of kings.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‘writan’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Old English, Frequency in the corpus: 10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Moyses lyfde þæt man write hiwgedales boc &amp; hi forlete.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(Moses allowed the man to write a bill of divorce and abandon her.)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for eower heortan heardnesse he eow wrat þis bebod.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(for your heart’s hardness he wrote you this command)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Lareow, Moyses us wrat, gif hwæs broðor dead bið 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(Teacher, Moses, wrote us if someone’s brother is dead…)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Challenges encountered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Text processing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Texts for the corpus (copyright-free):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Orthographic variation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For example: Old and Middle English: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 instead of v, i instead of j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same word, different orthographies: gyue, yyue, yiue, giue = give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Our decision: keep original orthography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BUT create custom dictionaries for each text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Challenges: automatic dictionary does not recognize different tokens of the same words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 harder tokenization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 harder for the automatic morphological parser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valency extraction: Subjects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Subjects = problematic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null subjects in pro-drop languages (e.g. 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null subject verbs vs avalent verbs (impersonal verbs, weather verbs)  hard to distinguish automatically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null objects too?  harder to locate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valency extraction: Subjects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Possible solutions: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do not extract subjects at all (e.g. HoDeL, see Zanchi 2021; Syntacticus for PROIEL)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fully-manual annotation (e.g. PaVeDa, see Luraghi et al. 2024)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Our decision: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Extract all overt subjects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If overt subject not present  mark the subject as expressed by the verb suffix (V[subj])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Manually delete the subject from avalent verbs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Morphological annotation – Modern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PROIEL: uses traditional metalanguage for the morphological description of Ancient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Annotation scheme - Morphology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conflates tense (past – present – future) with aspect (perfective – imperfective), e.g.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difference between AG and MG verbal systems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 lot of periphrastic verbal forms  impossible to fit into the traditional 6 categories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aorist = [+past], [+perfective],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imperfect = [+past], [-perfective]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(Holton, Mackridge, and Philippaki-Warburton 2014: 121-122)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48/67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 new annotation scheme for MG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 new PROIEL annotation scheme for MG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See Tsangalidis (2013) and Spyropoulos and Stamatogiannis (2013), among many others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New tags: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particle: for na/as, tha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non-finite: for periphrases of perfect tenses (echo grapsi, icha grapsi)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No subjunctive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Imperative: unspecified tense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syntactic parsing: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1 reference text (Sphrantzes) in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selected 4 parsers trained in modern or ancient Greek for evaluation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syntactic parsing: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Problem 1: Parsers use UD/CoNLL-U Treebank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A.1) Evaluate 4 parsers on reference text – CoNLL-U data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convert reference annotated treebank chron-1.xml to CoNLL-U using PROIEL method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run 4 parsers → get CoNLL-U results → compare to reference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 Are they accurate for CoNLL-U?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syntactic parsing: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A.2) Evaluate 4 parsers on reference text - PROIEL data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run 4 parsers → get CoNLL-U results → convert to PROIEL using custom mapping → compare results to original PROEIL data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Are they accurate for PROEIL?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Most data available in CoNLL-U  conversion to PROEIL can speed up corpus compilation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very low F1 scores &lt;0.42  models have poor performance in Late Medieval Greek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syntactic parsing: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 simplified score = average (number of relations discovered successfully for each sentence compared to that of the original treebank)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F1 score (overall and across different UD syntactic classes)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Automatic syntactic parsing: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Best results: semi-automatic annotation = as time-consuming as manual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BUT better results in shorter sentences  break up large sentences?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CoNLL-U vs PROEIL: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PROIEL has more fine-grained distinctions compared to UD-ConLL structural differences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On-going 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Expand on the least represented languages of the corpus (Old and Middle French, Old English)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Add new languages (Gothic)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Automate syntactic annotation: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 more accurate conversion pipeline from UD-ConLL to PROIEL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training existing syntactic parsers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Liu, G., &amp; Du, Y. (2019). A corpus-based study of valency sentence patterns of English verbs. Theory and Practice in Language Studies, 9(6), 655–665.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Eckhoff, H. M., Bech, K., Bouma, G., Eide, K., Haug, D., Haugen, O. E., &amp; Jøhndal, M. (2018). The PROIEL treebank family: A standard for early attestations of Indo-European languages. Language Resources and Evaluation, 52(1), 29–65.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Gianollo, C. (2011). Native syntax and translation effects: Adnominal arguments in the Greek and Latin New Testament. In E. Welo (Ed.), Indo‑European Syntax and Pragmatics: Contrastive Approaches (Vol. 3(3), pp. 75–101). Oslo, Norway: Department of Linguistics and Scandinavian Studies, University of Oslo.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Haug, D. T. (2008, July 16). Detecting word order freezing in old Indo-European languages [Conference presentation]. New Reflections on Grammaticalization 4, Leuven, Belgium.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Haug, D. T. T. (2010). PROIEL guidelines for annotation. Department of Philosophy, Classics, History of Arts and Ideas, University of Oslo. Retrieved from https://dev.syntacticus.org/proiel-annotators-handbook-v1.pdf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Haug, D. T. T., &amp; Jøhndal, M. L. (2008). Creating a parallel treebank of the old Indo-European Bible translations. In Proceedings of the 6th International Conference on Language Resources and Evaluation (LREC’08). European Language Resources Association (ELRA).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Inglese, G., Molina, M., &amp; Eckhoff, H. M. (2018). Incorporating Hittite into PROIEL: A pilot project. In Proceedings of the Second Workshop on Corpus-Based Research in the Humanities (CRH-2) (Vol. 1, pp. 1–10).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59/67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65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Contact us at:</a:t>
            </a:r>
            <a:br/>
            <a:r>
              <a:rPr>
                <a:solidFill>
                  <a:srgbClr val="40829B"/>
                </a:solidFill>
              </a:rPr>
              <a:t>Professor Nikolaos Lavidas: nlavidas@enl.uoa.gr</a:t>
            </a:r>
            <a:br/>
            <a:r>
              <a:rPr>
                <a:solidFill>
                  <a:srgbClr val="40829B"/>
                </a:solidFill>
              </a:rPr>
              <a:t>Eleni Plakoutsi: eleni2plak@gmail.com </a:t>
            </a:r>
            <a:br/>
            <a:r>
              <a:rPr>
                <a:solidFill>
                  <a:srgbClr val="40829B"/>
                </a:solidFill>
              </a:rPr>
              <a:t>Anastasia Tsiropina: natasatsirop@gmail.com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Thank you!</a:t>
            </a:r>
            <a:br/>
            <a:br/>
            <a:r>
              <a:rPr>
                <a:solidFill>
                  <a:srgbClr val="40829B"/>
                </a:solidFill>
              </a:rPr>
              <a:t>Discussion &amp; Questions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Project: H.F.R.I. Project Number 15284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The 25th International Conference of the Department of Linguistics (CIDL25)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Linguistic Intersections: from Natural Language to Artificial Intelligence.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21-22 November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Bucharest, Romania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64/67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Benefit: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Ready-made dictionaries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lemmatization of the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creation of an annotation basis for the corpus.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Texts from other open-source treebanks -PROIEL, Perseus database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(in .xml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65/67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Limitation: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unwanted characters -&gt; difficult to process.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Solution: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Manual review, before importing them into the database.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B) Texts from online text collections, such as Project Gutenberg or Bible Gateway.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(in .txt or .html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66/67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C) Scanned books or manuscripts from digital libraries and archives (e.g.the Internet Archive)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(in .pdf format containing images of the pages)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Digitization-&gt;Optional Character Recognition (OCR)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ABBYY FineReader  (Latin, English,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Old French)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2) Google Lens (Greek)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From CIDL25 Study • Slide 67/67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rPr>
                <a:solidFill>
                  <a:srgbClr val="40829B"/>
                </a:solidFill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5243</Words>
  <Application>Microsoft Office PowerPoint</Application>
  <PresentationFormat>On-screen Show (4:3)</PresentationFormat>
  <Paragraphs>877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Nikolaos Lavidas</dc:creator>
  <cp:keywords/>
  <dc:description>generated using python-pptx</dc:description>
  <cp:lastModifiedBy>Nikolaos Lavidas</cp:lastModifiedBy>
  <cp:revision>1</cp:revision>
  <dcterms:created xsi:type="dcterms:W3CDTF">2013-01-27T09:14:16Z</dcterms:created>
  <dcterms:modified xsi:type="dcterms:W3CDTF">2025-11-24T18:54:40Z</dcterms:modified>
  <cp:category/>
</cp:coreProperties>
</file>