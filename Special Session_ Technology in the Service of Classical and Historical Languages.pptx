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fairDisplay-bold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regular.fntdata"/><Relationship Id="rId13" Type="http://schemas.openxmlformats.org/officeDocument/2006/relationships/slide" Target="slides/slide8.xml"/><Relationship Id="rId35" Type="http://schemas.openxmlformats.org/officeDocument/2006/relationships/font" Target="fonts/PlayfairDisplay-boldItalic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47.png"/><Relationship Id="rId6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75795"/>
            <a:ext cx="11049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301055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Special Session: Technology in the Service of Classical and Historical Languages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6505575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collaborative presentation on the intersection of digital technology and historical linguistics.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67955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7FF"/>
                </a:solidFill>
                <a:latin typeface="Lato"/>
                <a:ea typeface="Lato"/>
                <a:cs typeface="Lato"/>
                <a:sym typeface="Lato"/>
              </a:rPr>
              <a:t>By Esteban Belmehdi, Ioanna Papadopoulou, Julien Razanajao (ARCAS Team, CHS Harvard University),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E0E7FF"/>
                </a:solidFill>
                <a:latin typeface="Lato"/>
                <a:ea typeface="Lato"/>
                <a:cs typeface="Lato"/>
                <a:sym typeface="Lato"/>
              </a:rPr>
              <a:t> and joint work with AthDGC, NKUA (60 min)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091880"/>
            <a:ext cx="11049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AthDGC Team Members:</a:t>
            </a:r>
            <a:r>
              <a:rPr b="0" i="0" lang="en-US" sz="1350" u="none" cap="none" strike="noStrike">
                <a:solidFill>
                  <a:srgbClr val="BFDBFE"/>
                </a:solidFill>
                <a:latin typeface="Lato"/>
                <a:ea typeface="Lato"/>
                <a:cs typeface="Lato"/>
                <a:sym typeface="Lato"/>
              </a:rPr>
              <a:t> Nikolaos Lavidas, Theodoros Michalareas, Vassilios Symeonidis, Sofia Chionidi, Anastasia Tsiropina, Eleni Plakoutsi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6950" y="3867150"/>
            <a:ext cx="31718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6650" y="3867150"/>
            <a:ext cx="24384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Research Partnership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809750" y="2899469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 strategic alliance to study language change across continents.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809750" y="4905375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Uniting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computational methods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with deep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philological expertise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3175" y="4052887"/>
            <a:ext cx="2190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Vision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95375" y="2929979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Digital Infrastructure: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Creating a robust platform for historical linguistic data.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95375" y="3564284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Data Sharing: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 unified ecosystem for sharing digital humanities resources.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95375" y="4198590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Focus: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Comprehensive diachronic study of Greek and other Indo-European languages.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8712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214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5574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3262312"/>
            <a:ext cx="49530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Theoretical Foundation: Valency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2541389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Lucien Tesnière (1959)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3198614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Valency is the capacity of a verb to bond with a specific number of arguments.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4238625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It dictates the structure and components of the clause.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3557587"/>
            <a:ext cx="4362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Core Question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Valency Change Markers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2409973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Valency shift is observed through three main linguistic phenomena: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95375" y="3149054"/>
            <a:ext cx="10334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Transitivity Alternations: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Shifts between transitive (two arguments) and intransitive (one argument) uses.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95375" y="4179540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Voice Morphology: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The rise, decay, or reanalysis of Active, Middle, and Passive systems.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95375" y="4813845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Case Systems: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The loss or development of morphological case marking.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0620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3669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7099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Focus: Lability (Zero Derivation)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2863304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Definition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3520529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Verbs that function as both transitive and intransitive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without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any formal morphological change (Lavidas, 2009).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477000" y="2966144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 (English)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810375" y="3528119"/>
            <a:ext cx="4619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Transitive: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"I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break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the glass."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810375" y="4162425"/>
            <a:ext cx="4619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Intransitive: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"The glass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breaks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358526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421957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917" y="3629025"/>
            <a:ext cx="140017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9414" y="3629025"/>
            <a:ext cx="14573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2061" y="3629025"/>
            <a:ext cx="14954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Mechanism: Voice Systems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2851844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Many Indo-European languages historically used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Voice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morphology to signal valency changes.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4572000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Middle Voice traditionally functioned as an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anticausative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marker.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7928" y="3824287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40575" y="3824287"/>
            <a:ext cx="2476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Mechanism: Causative Strategies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62000" y="2608064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Strategies used to mark causative/anticausative pairs in diachrony: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095375" y="3347144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Morphological: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Affixation or inflection (e.g., Old English).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095375" y="3981450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Syntactic: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Auxiliary verbs or periphrasis.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095375" y="4615755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Suppletion: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Using entirely different roots for transitive and intransitive (e.g., "kill" vs. "die").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0429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386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7290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03227"/>
            <a:ext cx="106680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Typological Scale of Spontaneity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62000" y="2616547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Haspelmath (1993) notes that valency marking correlates with the inherent nature of the event.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57275" y="3498502"/>
            <a:ext cx="10077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High Spontaneity: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057275" y="4451002"/>
            <a:ext cx="10077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Low Spontaneity: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Greek Case Study: Ancient System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095375" y="2929979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Voice Dominant: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Ancient Greek relied heavily on morphological distinctions.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095375" y="3564284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Tripartite System: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Distinct Active, Middle, and Passive forms.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1095375" y="4198590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Low Lability: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Lability was rare and mainly confined to inanimate subjects.</a:t>
            </a:r>
            <a:endParaRPr/>
          </a:p>
        </p:txBody>
      </p:sp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8712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214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5574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02272"/>
            <a:ext cx="10668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Middle Voice Function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762000" y="4759672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It covered reflexive actions, spontaneous events, and movements.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Post-Classical Shift: Morphological Collapse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6477000" y="2795736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Over centuries, the distinct Middle Voice morphology began to collapse, merging with Passive constructions.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6477000" y="4231927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This morphological decay necessitated a new syntactic solution for transitivity alternation.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Modern Greek: Rise of Lability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1095375" y="3049041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New Strategy: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As voice distinctions faded, Modern Greek adopted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Lability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095375" y="3683347"/>
            <a:ext cx="10334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Typological Change: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The shift from a Voice-based system to a Lability-based system constitutes a fundamental typological restructuring.</a:t>
            </a:r>
            <a:endParaRPr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06191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40497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25" y="3362325"/>
            <a:ext cx="42672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4576" y="3362325"/>
            <a:ext cx="426720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Greek Diachronic Summary</a:t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1365200" y="3657600"/>
            <a:ext cx="36766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Ancient</a:t>
            </a:r>
            <a:endParaRPr/>
          </a:p>
        </p:txBody>
      </p:sp>
      <p:pic>
        <p:nvPicPr>
          <p:cNvPr descr="image.png" id="248" name="Google Shape;2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2976" y="393858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7149851" y="3657600"/>
            <a:ext cx="36766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Modern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Comparative: English Case Study</a:t>
            </a: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762000" y="2727126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English, while genetically related, followed a parallel evolutionary path accelerated by different factors.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1095375" y="3862387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Old English: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Had a richer case and voice system, closer to the Ancient Greek type.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1095375" y="4496692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Causative Markers: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Used affixes (e.g.,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-jan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) to derive transitive forms.</a:t>
            </a:r>
            <a:endParaRPr/>
          </a:p>
        </p:txBody>
      </p:sp>
      <p:pic>
        <p:nvPicPr>
          <p:cNvPr descr="image.png" id="260" name="Google Shape;2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195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5384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11847"/>
            <a:ext cx="1066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English: The Loss of Inflections</a:t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762000" y="2239416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transition to Middle English involved a dramatic loss of inflectional endings (Visser, 1963).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762000" y="4788247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This necessitated the adoption of fixed Subject-Verb-Object (SVO) order and a sharp increase in lability.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Modern English: High Lability</a:t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762000" y="2727126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English represents the maximal end of the lability spectrum in Indo-European.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1095375" y="3466207"/>
            <a:ext cx="10334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Zero-Derivation: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Nouns frequently become verbs, and intransitives become transitives with no morphological change.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1095375" y="4496692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Widespread Use: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High frequency of labile verbs across all registers.</a:t>
            </a:r>
            <a:endParaRPr/>
          </a:p>
        </p:txBody>
      </p:sp>
      <p:pic>
        <p:nvPicPr>
          <p:cNvPr descr="image.png" id="282" name="Google Shape;2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2335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5384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62125"/>
            <a:ext cx="10668000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Comparative Analysis: Valency Trends</a:t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762000" y="2863304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Parallel Shift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762000" y="3520529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Both Greek and English moved from rich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Morphological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encoding to reliance on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Syntactic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Lexical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strategies.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1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Indo-European Comparative: Vedic Sanskrit</a:t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762000" y="2087165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drift toward lability is not universal across IE subfamilies.</a:t>
            </a:r>
            <a:endParaRPr/>
          </a:p>
        </p:txBody>
      </p:sp>
      <p:pic>
        <p:nvPicPr>
          <p:cNvPr descr="image.png" id="303" name="Google Shape;30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1095375" y="3070026"/>
            <a:ext cx="4619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Vedic Sanskrit: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Showed a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decline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 lability over time (Kulikov, 2014).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1095375" y="4100512"/>
            <a:ext cx="4619625" cy="15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Contrast: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Unlike Greek/English, Indo-Iranian languages often maintained or reinforced morphological complexity in valency marking.</a:t>
            </a:r>
            <a:endParaRPr/>
          </a:p>
        </p:txBody>
      </p:sp>
      <p:pic>
        <p:nvPicPr>
          <p:cNvPr descr="image.png" id="306" name="Google Shape;30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2717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5766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Indo-European Comparative: Summary</a:t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762000" y="2409973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project seeks to map these divergent paths: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1095375" y="3149054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Analytic Drift: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Greek and Germanic branches moving toward analytic (syntactic) encoding.</a:t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1095375" y="3783359"/>
            <a:ext cx="10334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Conservative Branches: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Languages like Sanskrit maintaining synthetic (morphological) complexity.</a:t>
            </a:r>
            <a:endParaRPr/>
          </a:p>
        </p:txBody>
      </p:sp>
      <p:sp>
        <p:nvSpPr>
          <p:cNvPr id="318" name="Google Shape;318;p32"/>
          <p:cNvSpPr txBox="1"/>
          <p:nvPr/>
        </p:nvSpPr>
        <p:spPr>
          <a:xfrm>
            <a:off x="1095375" y="4813845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Provide empirical data to test typological theories on complexity and language decay.</a:t>
            </a:r>
            <a:endParaRPr/>
          </a:p>
        </p:txBody>
      </p:sp>
      <p:pic>
        <p:nvPicPr>
          <p:cNvPr descr="image.png" id="319" name="Google Shape;31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0620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4050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7099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87155"/>
            <a:ext cx="10668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Role of Language Contact: Retranslations</a:t>
            </a:r>
            <a:endParaRPr/>
          </a:p>
        </p:txBody>
      </p:sp>
      <p:sp>
        <p:nvSpPr>
          <p:cNvPr id="329" name="Google Shape;329;p33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762000" y="2604194"/>
            <a:ext cx="11201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Retranslations as Controlled Evidence</a:t>
            </a:r>
            <a:endParaRPr/>
          </a:p>
        </p:txBody>
      </p:sp>
      <p:sp>
        <p:nvSpPr>
          <p:cNvPr id="331" name="Google Shape;331;p33"/>
          <p:cNvSpPr txBox="1"/>
          <p:nvPr/>
        </p:nvSpPr>
        <p:spPr>
          <a:xfrm>
            <a:off x="762000" y="3404294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Translators mediate between the source language structures and the evolving norms of the target language.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2591692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4"/>
          <p:cNvSpPr txBox="1"/>
          <p:nvPr/>
        </p:nvSpPr>
        <p:spPr>
          <a:xfrm>
            <a:off x="762000" y="170557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Methodology: Corpus Linguistics</a:t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762000" y="970657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4"/>
          <p:cNvSpPr txBox="1"/>
          <p:nvPr/>
        </p:nvSpPr>
        <p:spPr>
          <a:xfrm>
            <a:off x="762000" y="1608832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Collaboration with CHS Harvard University provides the computational platform for corpus processing.</a:t>
            </a:r>
            <a:endParaRPr/>
          </a:p>
        </p:txBody>
      </p:sp>
      <p:pic>
        <p:nvPicPr>
          <p:cNvPr descr="image.png" id="341" name="Google Shape;34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591692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1095375" y="3115716"/>
            <a:ext cx="4619625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Parallel Alignment: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Mapping corresponding sentences for precise cross-temporal comparison.</a:t>
            </a:r>
            <a:endParaRPr/>
          </a:p>
        </p:txBody>
      </p:sp>
      <p:sp>
        <p:nvSpPr>
          <p:cNvPr id="343" name="Google Shape;343;p34"/>
          <p:cNvSpPr txBox="1"/>
          <p:nvPr/>
        </p:nvSpPr>
        <p:spPr>
          <a:xfrm>
            <a:off x="1095375" y="4542383"/>
            <a:ext cx="4619625" cy="124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Infrastructure: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9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Servers hosted by Harvard University, CHS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ensure high-performance processing.</a:t>
            </a:r>
            <a:endParaRPr/>
          </a:p>
        </p:txBody>
      </p:sp>
      <p:pic>
        <p:nvPicPr>
          <p:cNvPr descr="image.png" id="344" name="Google Shape;34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7286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99533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AthDGC Query System</a:t>
            </a:r>
            <a:endParaRPr/>
          </a:p>
        </p:txBody>
      </p:sp>
      <p:sp>
        <p:nvSpPr>
          <p:cNvPr id="353" name="Google Shape;353;p35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2087165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 specialized digital tool for investigating language change, developed with ARCAS infrastructure.</a:t>
            </a:r>
            <a:endParaRPr/>
          </a:p>
        </p:txBody>
      </p:sp>
      <p:pic>
        <p:nvPicPr>
          <p:cNvPr descr="image.png" id="355" name="Google Shape;35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976437"/>
            <a:ext cx="4953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1095375" y="3466207"/>
            <a:ext cx="4619625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Function: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Allows complex queries targeting specific morphological-to-syntactic shifts.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1095375" y="4892873"/>
            <a:ext cx="461962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Statistical frequency charts across specified time periods for validation.</a:t>
            </a:r>
            <a:endParaRPr/>
          </a:p>
        </p:txBody>
      </p:sp>
      <p:pic>
        <p:nvPicPr>
          <p:cNvPr descr="image.png" id="358" name="Google Shape;35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2335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950023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Outcomes</a:t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1095375" y="2929979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Empirical Data: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Large-scale, validated data on Greek and English valency shifts.</a:t>
            </a:r>
            <a:endParaRPr/>
          </a:p>
        </p:txBody>
      </p:sp>
      <p:sp>
        <p:nvSpPr>
          <p:cNvPr id="368" name="Google Shape;368;p36"/>
          <p:cNvSpPr txBox="1"/>
          <p:nvPr/>
        </p:nvSpPr>
        <p:spPr>
          <a:xfrm>
            <a:off x="1095375" y="3564284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Theoretical: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New models for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Grammaticalization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Cyclic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language change.</a:t>
            </a:r>
            <a:endParaRPr/>
          </a:p>
        </p:txBody>
      </p:sp>
      <p:sp>
        <p:nvSpPr>
          <p:cNvPr id="369" name="Google Shape;369;p36"/>
          <p:cNvSpPr txBox="1"/>
          <p:nvPr/>
        </p:nvSpPr>
        <p:spPr>
          <a:xfrm>
            <a:off x="1095375" y="4198590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Research Resource: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 searchable, contrastive database for the wider academic community.</a:t>
            </a:r>
            <a:endParaRPr/>
          </a:p>
        </p:txBody>
      </p:sp>
      <p:pic>
        <p:nvPicPr>
          <p:cNvPr descr="image.png" id="370" name="Google Shape;3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8712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214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5574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3175"/>
            <a:ext cx="12192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Selected Bibliography</a:t>
            </a:r>
            <a:endParaRPr/>
          </a:p>
        </p:txBody>
      </p:sp>
      <p:sp>
        <p:nvSpPr>
          <p:cNvPr id="379" name="Google Shape;379;p37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7"/>
          <p:cNvSpPr txBox="1"/>
          <p:nvPr/>
        </p:nvSpPr>
        <p:spPr>
          <a:xfrm>
            <a:off x="762000" y="2028080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Haspelmath, M. (1993).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More on the typology of inchoative/causative verb alternations. In B. Comrie &amp; M. Polinsky (Eds.),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Cause and Control: The Typology of Voice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 MIT Press.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762000" y="3068091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Kulikov, L. (2014).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Typology of Labile Verbs: Focus on Diachrony.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Linguistics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52(4).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762000" y="3711922"/>
            <a:ext cx="10668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Lavidas, N. (2009).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Transitivity Alternations in Diachrony: Changes in Argument Structure and Voice Morphology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 Cambridge Scholars Publishing.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762000" y="4751933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Tesnière, L. (1959).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Éléments de syntaxe structurale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 Klincksieck.</a:t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762000" y="5395763"/>
            <a:ext cx="10668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Visser, F. T. (1963).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An Historical Syntax of the English Language</a:t>
            </a:r>
            <a:r>
              <a:rPr b="0" i="0" lang="en-US" sz="19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 Brill.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1" name="Google Shape;3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6714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8"/>
          <p:cNvSpPr/>
          <p:nvPr/>
        </p:nvSpPr>
        <p:spPr>
          <a:xfrm>
            <a:off x="762000" y="358333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3" name="Google Shape;3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650009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/>
          <p:nvPr/>
        </p:nvSpPr>
        <p:spPr>
          <a:xfrm>
            <a:off x="762000" y="436810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5" name="Google Shape;3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43478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585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8"/>
          <p:cNvSpPr txBox="1"/>
          <p:nvPr/>
        </p:nvSpPr>
        <p:spPr>
          <a:xfrm>
            <a:off x="1857375" y="2752873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https://static.vecteezy.com/system/resources/previews/070/998/760/large_2x/abstract-data-visualization-with-flowing-lines-and-graph-elements-on-a-light-background-photo.jpg</a:t>
            </a:r>
            <a:endParaRPr/>
          </a:p>
        </p:txBody>
      </p:sp>
      <p:sp>
        <p:nvSpPr>
          <p:cNvPr id="398" name="Google Shape;398;p38"/>
          <p:cNvSpPr txBox="1"/>
          <p:nvPr/>
        </p:nvSpPr>
        <p:spPr>
          <a:xfrm>
            <a:off x="1857375" y="319667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99" name="Google Shape;39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422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8"/>
          <p:cNvSpPr txBox="1"/>
          <p:nvPr/>
        </p:nvSpPr>
        <p:spPr>
          <a:xfrm>
            <a:off x="1857375" y="3735734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https://img.freepik.com/premium-photo/colorful-geometric-fluid-shapes-abstract-background-design-ar-169-job-id-eade4e3598aa4983a5497d002ca_524325-5830.jpg</a:t>
            </a:r>
            <a:endParaRPr/>
          </a:p>
        </p:txBody>
      </p:sp>
      <p:sp>
        <p:nvSpPr>
          <p:cNvPr id="401" name="Google Shape;401;p38"/>
          <p:cNvSpPr txBox="1"/>
          <p:nvPr/>
        </p:nvSpPr>
        <p:spPr>
          <a:xfrm>
            <a:off x="1857375" y="398145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402" name="Google Shape;40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270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8"/>
          <p:cNvSpPr txBox="1"/>
          <p:nvPr/>
        </p:nvSpPr>
        <p:spPr>
          <a:xfrm>
            <a:off x="1857375" y="452050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https://static.vecteezy.com/system/resources/thumbnails/024/222/251/small/abstract-technology-smart-city-online-network-concept-vector.jpg</a:t>
            </a:r>
            <a:endParaRPr/>
          </a:p>
        </p:txBody>
      </p:sp>
      <p:sp>
        <p:nvSpPr>
          <p:cNvPr id="404" name="Google Shape;404;p38"/>
          <p:cNvSpPr txBox="1"/>
          <p:nvPr/>
        </p:nvSpPr>
        <p:spPr>
          <a:xfrm>
            <a:off x="1857375" y="476622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