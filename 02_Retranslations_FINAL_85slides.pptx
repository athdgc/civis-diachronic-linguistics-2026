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Retranslations Across Millennia:</a:t>
            </a:r>
            <a:br/>
            <a:r>
              <a:t>A Diachronic Contrastive Corpus for Studying</a:t>
            </a:r>
            <a:br/>
            <a:r>
              <a:t>Interlingual and Intralingual Language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Nikolaos Lavidas, Theodoros Michalaeras, Vassilios Symeonidis,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National and Kapodistrian University of Athens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November 26-29, 2025 | Delphi, Greece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The Athens Digital Glossa Chronos (AthDGC) project develops a diachronic corpus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containing influential and canonical Greek texts alongside their translations from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different periods across three thousand years.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The project studies both: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Interlingual contact through Greek, Latin, Romance, and Germanic texts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Intralingual contact through Greek text retranslations from different historical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periods with different translation methods and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Lavidas, Sitaridou, &amp; Yanovich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Abstract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Technical approach: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Greek morphological tagsets with multi-temporal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Stanza NLP and PROIEL parsing for robust comparative analysis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methods to determine if contact leads to fast organized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changes or slow progressive change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Deliverables: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Open-access annotated texts and PROIEL-compliant treebanks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Trained parsers for comparative diachronic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Georgakopoulos, Lincke, Nikiforidou, &amp; Piata (2020)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Retranslations Across Millennia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Core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Intralingual &amp; Interlingual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Language Contact Through Translation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Nikolaos Lavidas, Theodoros Michalareas, Vassilios Symeonidis,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Session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I: Theoretical Framework &amp; Methodology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II: AthDGC Corpus &amp; Research Process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III: Detailed Findings from CIDL25 Study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IV: Challenges &amp; Future Directions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Retranslations Across Millennia • Delphi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III:</a:t>
            </a:r>
            <a:br/>
            <a:r>
              <a:t>Detailed Research Findings</a:t>
            </a:r>
            <a:br/>
            <a:r>
              <a:t>(CIDL25 Study)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Sitaridou, &amp; Yanovich (2025)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Acknowledgments: H.F.R.I. Project Number: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Nikolaos Lavidas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nlavidas@enl.uoa.gr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eleni2plak@gmail.com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evolution of valency over time: Digital pathways uncovering the grammatical structure of Indo-European languages.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Acknowledgments: H.F.R.I. Project Number: 15284 (continued)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Linguistic Intersections: from Natural Language to Artificial Intelligence.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21-22 November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Bucharest, Romania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(2014a); Nikiforidou, Marmaridou, &amp; Mikros (2014)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Research Team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Nikolaos Lavidas (Principal Investigator)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Emeritus Vasiliki Nikiforidou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Theodoros Michalareas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Vasiliki Geka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Vasilis Symeonidis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Sophia Chionidi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Aim of AthDGC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parallel diachronic corpus of 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A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Analysis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Language diachrony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Written Language Contact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 (2014a); Nikiforidou, Marmaridou, &amp; Mikros (2014)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Theoretical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Previous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Corpus of original texts and their retranslations as an effective tool for the study of language diachrony, language change and contact.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Digital corpus of texts: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Pragmatic Resources in Old Indo-European Languages-PROIEL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(University of Oslo)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(Haug and Jøhndal 2008; Eckoff et al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Synchronic Valency Lexica: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ValPaL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(Malchukov and Comrie 2015)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or Crosslinguistic Valency Lexica: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e.g.HoDeL (Zanchi 2021)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PaVeDa (Luraghi et al. 2024)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 2021; Luraghi &amp; Sausa 2016; Sitaridou et al 2005)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 &amp; Haug (2019)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Research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Interdisciplinary approach: Diachronic - Historical Linguistics, Translation Studies, Computational analysis.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Focus on transitivity, semantic structure and morphosyntactic change.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 &amp; Haug 2019)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(Lavidas, 2009; Nikiforidou,1991)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Material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PROIEL software and annotation tools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(source texts and retranslations)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AthDGC </a:t>
            </a:r>
            <a:br/>
            <a:r>
              <a:t>Corpus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Lavidas &amp; Haug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AthDGC Corpus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texts-&gt; Texts that have a great impact in the history of humanity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Bible, the Homeric Poems etc   - criterion: retranslated and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republished in many periods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Indo-European Languages under investigation: Phase 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Hellenic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Germanic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(English &amp; 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Romance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(Latin &amp; 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Original (source)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&amp; Texts representative of different periods: for diachronic, contrastive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Original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Greek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Ancient Greek: e.g. Homeric poems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Hellenistic Greek: e.g. New Testament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Medieval Greek: e.g. Psellos’ Chronographia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Early Modern Greek: e.g. Digenis Akritas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English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English: e.g. Ælfric's Lives of Saints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English: e.g. Orrmin: The Ormulum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English: e.g. Jane Austen’s Pride and Prejudice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French: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La Vie de Saint Eustache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Intralingual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Greek retranslation of the New Testament by Alexandros Palles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(20th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Interlingual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English retranslation of the New Testament by William Tyndale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(16th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Pragmatic Resources in Old Indo-European Languages</a:t>
            </a:r>
            <a:br/>
            <a:r>
              <a:t>- 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CIDL25 - Additional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Further analysis and examples: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examination of patterns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validation of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comparison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contextualization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PROIEL interface has been used by scholars to study language diachrony and written language contact.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(cf. Lavidas &amp; Haug, 2019; Klein 2011; Giannolo 2011)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Open-source software tools and annotation schemes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guidelines regarding: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tokenization and sentence division (fully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annotation (partly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Dependency grammar scheme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and Syntactic tagset.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Effective in the analysis of free-word order languages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(Eckoff et al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Table 1. The 22 syntactic tagset of PROEIL (Haug 2010).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ATHDGC corpus Construction Principles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Corpus Construction Principles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Diachronic and Theoretical (argument structure)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 selection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 and sources as close as possible to the digital versions.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Copyright free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Metadata (Author, date, URL etc)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A) Texts from other open-access treebanks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 types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from other open-source treebanks -PROIEL, Perseus database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Nikiforidou &amp; Torres Cacoullos (2010)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 (e.g.the Internet Archive)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.pdf format containing images of the pages)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Torres Cacoullos (2010)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Tokenization and Sentence division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Sentences: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segmentation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Delimiters established by the research team -&gt; punctuation marks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Challenges: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example: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-Modern English: Μr. / Mrs.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-Modern Greek: ό,τι (anything)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Identification Codes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IDs for the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ID information: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Author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Source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Translator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Target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Only for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Annotation (partially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Extraction of syntactic information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the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Main goal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What is valency?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describes the presence/absence, type and number of arguments licensed by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(1) Mary sleeps.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(2) Mary likes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(3) Mary gave a letter to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Underlying idea: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Number of participants in semantics = number of arguments in syntax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CIDL25 - Additional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Further analysis and examples: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examination of patterns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validation of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comparison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contextualization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Tesnière (1959)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Verb = central structural element of the sentence, all other elements depend on it [dependency grammar]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Verb classes according to the number of arguments: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Basic argument frame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Basic argument frame = the most frequent/default argument set of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He saw her.   1-nom.V.2-acc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But: not only one argument frame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I see. (= I understand.)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number of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case/type of the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word order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 = a verb changes the number and/or type of arguments it licenses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Jane broke the crystal. // The crystal broke.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Margaret cut the board. // ??The board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Causative/Inchoative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They stood the statue on the pedestal.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statue stood on the pedestal.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They gave him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They gave cake to him.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 (2)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Unspecified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Mike ate all the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Mike ate.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Mike put the flowers in the vase.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??Mike put.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Understood Reflexive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Jill dressed herself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Jill dressed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Jill cut herself.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??Jill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6.    Understood Reciprocal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Anne met Cathy.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Anne and Cathy met.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Joe and Carter gossiped.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??Joe gossiped Carter.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 (2) (continued)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 (3)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etc.…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Valency alternations vary from one language to another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Levin (1993): identifies up to 50 alternations for English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Locative preposition drop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Martha climbed up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Martha climbed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Sharon came into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??Sharon came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8.    Benefactive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Martha carved a toy for the baby.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Martha carved the baby a toy.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architect selected a house for the couple.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?? The architect selected	the couple a house.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One lexicon per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(1 for Greek, 1 for English)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lexicon =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list of verbs + valency information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through 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 (2014b)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through 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through the PROIEL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 </a:t>
            </a:r>
            <a:br/>
            <a: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 </a:t>
            </a:r>
            <a:br/>
            <a: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‘write’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English, Frequency in the corpus: 1015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etc…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You write uncommonly fast.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because he does not write with ease.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…a person who can write a long letter with ease…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and when I next write to her 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it had been written five days ago.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‘writen’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English, Frequency in the corpus: 103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Reum Beel Theem and Samsai the scryuen writen sich oon epistle fro Jerusalem to the kyng Artaxerses;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(“Reum Beelteem and Samsai the scribe wrote a letter from Jerusalem to king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Artaxerxes in this manner”)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Forsothe of his vnclennesse and his vnreligioustee it is writen in the book of the tymes of kyngis.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(Indeed, of his uncleanness and his unreligiousness it is written in the book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of the history of kings.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CIDL25 - Additional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Further analysis and examples: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examination of patterns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validation of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comparison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contextualization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‘writan’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English, Frequency in the corpus: 10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Moyses lyfde þæt man write hiwgedales boc &amp; hi forlete.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(Moses allowed the man to write a bill of divorce and abandon her.)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eower heortan heardnesse he eow wrat þis bebod.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(for your heart’s hardness he wrote you this command)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Lareow, Moyses us wrat, gif hwæs broðor dead bið 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(Teacher, Moses, wrote us if someone’s brother is dead…)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Challenges encountered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 processing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for the corpus (copyright-free):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Orthographic variation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example: Old and Middle English: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 instead of v, i instead of j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same word, different orthographies: gyue, yyue, yiue, giue = give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Our decision: keep original orthography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BUT create custom dictionaries for each text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Challenges: automatic dictionary does not recognize different tokens of the same words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harder tokenization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harder for the automatic morphological parser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valency extraction: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Subjects = problematic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subjects in pro-drop languages (e.g. 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subject verbs vs avalent verbs (impersonal verbs, weather verbs)  hard to distinguish automatically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objects too?  harder to locate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valency extraction: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Possible solutions: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do not extract subjects at all (e.g. HoDeL, see Zanchi 2021; Syntacticus for PROIEL)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fully-manual annotation (e.g. PaVeDa, see Luraghi et al. 2024)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Our decision: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Extract all overt subjects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If overt subject not present  mark the subject as expressed by the verb suffix (V[subj])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Manually delete the subject from avalent verbs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annotation – Modern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PROIEL: uses traditional metalanguage for the morphological description of Ancient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scheme - Morphology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conflates tense (past – present – future) with aspect (perfective – imperfective), e.g.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difference between AG and MG verbal systems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lot of periphrastic verbal forms  impossible to fit into the traditional 6 categories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aorist = [+past], [+perfective],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imperfect = [+past], [-perfective]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(Holton, Mackridge, and Philippaki-Warburton 2014: 121-122)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new annotation scheme for MG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 (2015)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new annotation scheme for MG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new PROIEL annotation scheme for MG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See Tsangalidis (2013) and Spyropoulos and Stamatogiannis (2013), among many others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New tags: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particle: for na/as, tha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non-finite: for periphrases of perfect tenses (echo grapsi, icha grapsi)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No subjunctive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Imperative: unspecified tense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 reference text (Sphrantzes) in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selected 4 parsers trained in modern or ancient Greek for evaluation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Problem 1: Parsers use UD/CoNLL-U Treebank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A.1) Evaluate 4 parsers on reference text – CoNLL-U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convert reference annotated treebank chron-1.xml to CoNLL-U using PROIEL method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run 4 parsers → get CoNLL-U results → compare to reference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Are they accurate for CoNLL-U?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Late Medieval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A.2) Evaluate 4 parsers on reference text - PROIEL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run 4 parsers → get CoNLL-U results → convert to PROIEL using custom mapping → compare results to original PROEIL data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Are they accurate for PROEIL?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Most data available in CoNLL-U  conversion to PROEIL can speed up corpus compilation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CIDL25 - Additional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Further analysis and examples: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examination of patterns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validation of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comparison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contextualization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very low F1 scores &lt;0.42  models have poor performance in Late Medieval Greek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simplified score = average (number of relations discovered successfully for each sentence compared to that of the original treebank)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F1 score (overall and across different UD syntactic classes)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Best results: semi-automatic annotation = as time-consuming as manual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BUT better results in shorter sentences  break up large sentences?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CoNLL-U vs PROEIL: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PROIEL has more fine-grained distinctions compared to UD-ConLL structural differences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On-going 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Expand on the least represented languages of the corpus (Old and Middle French, Old English)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Add new languages (Gothic)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Automate syntactic annotation: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more accurate conversion pipeline from UD-ConLL to 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training existing syntactic parsers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Liu, G., &amp; Du, Y. (2019). A corpus-based study of valency sentence patterns of English verbs. Theory and Practice in Language Studies, 9(6), 655–665.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Eckhoff, H. M., Bech, K., Bouma, G., Eide, K., Haug, D., Haugen, O. E., &amp; Jøhndal, M. (2018). The PROIEL treebank family: A standard for early attestations of Indo-European languages. Language Resources and Evaluation, 52(1), 29–65.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Gianollo, C. (2011). Native syntax and translation effects: Adnominal arguments in the Greek and Latin New Testament. In E. Welo (Ed.), Indo‑European Syntax and Pragmatics: Contrastive Approaches (Vol. 3(3), pp. 75–101). Oslo, Norway: Department of Linguistics and Scandinavian Studies, University of Oslo.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(2008, July 16). Detecting word order freezing in old Indo-European languages [Conference presentation]. New Reflections on Grammaticalization 4, Leuven, Belgium.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58/67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T. (2010). PROIEL guidelines for annotation. Department of Philosophy, Classics, History of Arts and Ideas, University of Oslo. Retrieved from https://dev.syntacticus.org/proiel-annotators-handbook-v1.pdf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T., &amp; Jøhndal, M. L. (2008). Creating a parallel treebank of the old Indo-European Bible translations. In Proceedings of the 6th International Conference on Language Resources and Evaluation (LREC’08). European Language Resources Association (ELRA).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Inglese, G., Molina, M., &amp; Eckhoff, H. M. (2018). Incorporating Hittite into PROIEL: A pilot project. In Proceedings of the Second Workshop on Corpus-Based Research in the Humanities (CRH-2) (Vol. 1, pp. 1–10).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59/67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60/67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Malchukov, A., &amp; Comrie, B. (Eds.). (2015). Valency classes in the world’s languages. Berlin, Germany; New York, NY: Mouton de Gruyter.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Klein, J. (2011). Negation and polarity in the Greek, Gothic, Classical Armenian, and Old Church Slavic Gospels: A preliminary study. In E. Welo (Ed.), Indo-European syntax and pragmatics: Contrastive approaches (Vol. 3(3), pp. 131–154). Oslo, Norway: Department of Linguistics and Scandinavian Studies, University of Oslo.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 (2009). Transitivity Alternations in Diachrony. Changes in Argument Structure and Voice Morphology. Newcastle upon Tyne: Cambridge Scholars Publishing.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 (2021). The diachrony of written language contact: A contrastive approach. Leiden:Brill.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61/67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N., &amp; Haug, D. T. (2019). Postclassical Greek and treebanks for a diachronic analysis. In D. Rafiyenko &amp; I. A. Seržant (Eds.), Postclassical Greek: Contemporary approaches to philology and linguistics (pp. 163–202). Berlin, Germany: De Gruyter Mouton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Luraghi, S., et al. (2024). Introducing PaVeDa – Pavia Verbs Database: Valency patterns and pattern comparison in Ancient Indo-European languages. In Proceedings of the LT4HALA 2024 Workshop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Luraghi, S., &amp; Sausa, E. (2016). New approaches to New Testament Greek linguistics. Studi Italiani di Linguistica Teorica e Applicata, 45(1), 123–143.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Levin, B. (1993). English verb classes and alternations: A preliminary investigation. Chicago, IL: University of Chicago Press.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62/67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Nikiforidou, K. (1991). The meanings of the genitive: A case study in semantic structure and semantic change. Cognitive Linguistics, 2(2), 149-206.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Sitaridou, I., Pusch, C. D., Kabatek, J., &amp; Raible, W. (2005). A corpus-based study of null subjects in Old French and Occitan. In Corpora and historical linguistics: Investigating language change through corpora and databases (pp. 360–374).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Spyropoulos, V., &amp; Stamatogiannis, N. (2013). Sýntomī perigrafī́ tīs rīmatikī́s morfosýntaxīs tīs Ellīnikī́s [‘A short description of the verbal morphosyntax of the Greek language’]. In Revythiadou, A., &amp; Spyropoulos, V. (Eds.), Antiparavolikī́ melétī grammatikṓn domṓn Alvanikī́s kai Ellīnikī́s [‘Comparative study of the grammatical structures of Albanian and Greek’]. Thessaloniki: Special Account for Research Funds (ELKE), Auth. http://www.diapolis.auth.gr/diapolis_files/drasi5/Drasi5_website/Drasi5_Ypodrasi_5_2/Ebook_Alb_Gr.pdf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63/67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Tesnière, L. (1959). Eléments de Syntaxe Structurale. Paris: Klincksieck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Tsangalidis, A. (2013). To rīmatikó sýstīma tīs Néas Ellīnikī́s: Zītī́mata orologías kai perigrafī́s tīs néas ellīnikī́s [‘The verbal system of Modern Greek: Issues of terminology and description of Modern Greek’]. Diadromés stī didaskalía tīs néas ellīnikī́s se allóglōssous stīn Elláda [‘Trajectories for the teaching of Modern Greek to non-Greeek speakers in Greeece’]. Thessaloniki: Centre for the Greek Language. http://elearning.greek language.gr/pluginfile.php/1134/mod_resource/content/5/rimaorologia.pdf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Zanchi, C. (2021). The Homeric Dependency Lexicon: What it is and how to use it. Journal of Greek Linguistics, 21(2), 263–297.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CIDL25 - Additional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Further analysis and examples: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examination of patterns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validation of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comparison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contextualization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Contact us at:</a:t>
            </a:r>
            <a:br/>
            <a:r>
              <a:t>Professor Nikolaos Lavidas: nlavidas@enl.uoa.gr</a:t>
            </a:r>
            <a:br/>
            <a:r>
              <a:t>Eleni Plakoutsi: eleni2plak@gmail.com </a:t>
            </a:r>
            <a:br/>
            <a:r>
              <a:t>Anastasia Tsiropina: 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Thank you!</a:t>
            </a:r>
            <a:br/>
            <a:br/>
            <a:r>
              <a:t>Discussion &amp; Questions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Project: H.F.R.I. Project Number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Linguistic Intersections: from Natural Language to Artificial Intelligence.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21-22 November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Bucharest, Romania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64/67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Benefit: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Ready-made dictionaries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lemmatization of the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an annotation basis for the corpus.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from other open-source treebanks -PROIEL, Perseus database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65/67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Limitation: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unwanted characters -&gt; difficult to process.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Solution: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Manual review, before importing them into the database.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66/67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 (e.g.the Internet Archive)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.pdf format containing images of the pages)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Digitization-&gt;Optional Character Recognition (OCR)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ABBYY FineReader  (Latin, English,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2) Google Lens 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67/67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Georgakopoulos, T., Lincke, E.-S., Nikiforidou, K., &amp; Piata, A. (2020). On the polysemy of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motion verbs in Ancient Greek and Coptic. Studies in Language, 44(1), 27–69.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N., Sitaridou, I., &amp; Yanovich, I. (Eds.). (2025). Towards a Holistic Understanding of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Language Contact in the Past. London: Bloomsbury. [Forthcoming]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Nikiforidou, K., Marmaridou, S., &amp; Mikros, G. K. (2014). What's in a dialogic construction?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Cognitive Linguistics, 25(4), 655–699.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Nikiforidou, K., &amp; Torres Cacoullos, R. (2010). Variably future-marked conditionals in Greek.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Constructions and Frames, 2(1), 90–123.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Sitaridou, I. (2014a). The Romeyka Infinitive. Diachronica, 31(1), 23–73.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Sitaridou, I. (2014b). Modality, antiveridicality, and complementation. Lingua, 148, 118–146.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Sitaridou, I. (2015). Object arguments. In A. Dufter &amp; E. Stark (Eds.), Manual of Romance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Morphosyntax and Syntax (pp. 89–153). Berlin: De Gruyter Mouton.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Corpus annotation procedures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Quality assurance protocols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analysis methods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Cross-validation techniques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Reproducibility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Corpus annotation procedures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Quality assurance protocols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analysis methods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Cross-validation techniques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Reproducibility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0EE90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Corpus annotation procedures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Quality assurance protocols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analysis methods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Cross-validation techniques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Reproducibility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Georgakopoulos, T., Lincke, E.-S., Nikiforidou, K., &amp; Piata, A. (2020). On the polysemy of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motion verbs in Ancient Greek and Coptic. Studies in Language, 44(1), 27–69.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Lavidas, N., Sitaridou, I., &amp; Yanovich, I. (Eds.). (2025). Towards a Holistic Understanding of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Language Contact in the Past. London: Bloomsbury. [Forthcoming]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Marmaridou, S., &amp; Mikros, G. K. (2014). What's in a dialogic construction?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Cognitive Linguistics, 25(4), 655–699.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&amp; Torres Cacoullos, R. (2010). Variably future-marked conditionals in Greek.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Constructions and Frames, 2(1), 90–123.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(2014a). The Romeyka Infinitive. Diachronica, 31(1), 23–73.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(2014b). Modality, antiveridicality, and complementation. Lingua, 148, 118–146.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(2015). Object arguments. In A. Dufter &amp; E. Stark (Eds.), Manual of Romance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Morphosyntax and Syntax (pp. 89–153). Berlin: De Gruyter Mouton.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