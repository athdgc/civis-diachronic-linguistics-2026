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theme/theme1.xml" ContentType="application/vnd.openxmlformats-officedocument.presentationml.theme+xml"/>
  <Override PartName="/docProps/core.xml" ContentType="application/vnd.openxmlformats-package.core-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p="http://schemas.openxmlformats.org/presentationml/2006/main" xmlns:r="http://schemas.openxmlformats.org/officeDocument/2006/relationships" xmlns:a="http://schemas.openxmlformats.org/drawingml/2006/main">
  <p:sldSz cx="9144000" cy="6858000"/>
  <p:notesSz cx="10058400" cy="7772400"/>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Lst>
  <p:clrMapOvr>
    <a:masterClrMapping/>
  </p:clrMapOvr>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8" Type="http://schemas.openxmlformats.org/officeDocument/2006/relationships/slide" Target="slides/slide197.xml"/>
  <Relationship Id="rId199" Type="http://schemas.openxmlformats.org/officeDocument/2006/relationships/slide" Target="slides/slide198.xml"/>
  <Relationship Id="rId200" Type="http://schemas.openxmlformats.org/officeDocument/2006/relationships/slide" Target="slides/slide199.xml"/>
  <Relationship Id="rId201" Type="http://schemas.openxmlformats.org/officeDocument/2006/relationships/slide" Target="slides/slide200.xml"/>
  <Relationship Id="rId202" Type="http://schemas.openxmlformats.org/officeDocument/2006/relationships/slide" Target="slides/slide201.xml"/>
  <Relationship Id="rId203" Type="http://schemas.openxmlformats.org/officeDocument/2006/relationships/slide" Target="slides/slide202.xml"/>
  <Relationship Id="rId204" Type="http://schemas.openxmlformats.org/officeDocument/2006/relationships/slide" Target="slides/slide203.xml"/>
  <Relationship Id="rId205" Type="http://schemas.openxmlformats.org/officeDocument/2006/relationships/slide" Target="slides/slide204.xml"/>
  <Relationship Id="rId206" Type="http://schemas.openxmlformats.org/officeDocument/2006/relationships/slide" Target="slides/slide205.xml"/>
  <Relationship Id="rId207" Type="http://schemas.openxmlformats.org/officeDocument/2006/relationships/slide" Target="slides/slide206.xml"/>
  <Relationship Id="rId208" Type="http://schemas.openxmlformats.org/officeDocument/2006/relationships/slide" Target="slides/slide207.xml"/>
  <Relationship Id="rId209" Type="http://schemas.openxmlformats.org/officeDocument/2006/relationships/slide" Target="slides/slide208.xml"/>
  <Relationship Id="rId210" Type="http://schemas.openxmlformats.org/officeDocument/2006/relationships/slide" Target="slides/slide209.xml"/>
  <Relationship Id="rId211" Type="http://schemas.openxmlformats.org/officeDocument/2006/relationships/slide" Target="slides/slide210.xml"/>
  <Relationship Id="rId212" Type="http://schemas.openxmlformats.org/officeDocument/2006/relationships/slide" Target="slides/slide211.xml"/>
  <Relationship Id="rId213" Type="http://schemas.openxmlformats.org/officeDocument/2006/relationships/slide" Target="slides/slide212.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r="http://schemas.openxmlformats.org/officeDocument/2006/relationships" type="blank">
  <p:cSld>
    <p:bg>
      <p:bgPr>
        <a:effectLst xmlns:a="http://schemas.openxmlformats.org/drawingml/2006/main"/>
      </p:bgPr>
    </p:bg>
    <p:spTree>
      <p:nvGrpSpPr>
        <p:cNvPr id="1" name="1"/>
        <p:cNvGrpSpPr/>
        <p:nvPr/>
      </p:nvGrpSpPr>
      <p:grpSpPr>
        <a:xfrm xmlns:a="http://schemas.openxmlformats.org/drawingml/2006/main">
          <a:off x="0" y="0"/>
          <a:ext cx="9144000" cy="6858000"/>
          <a:chOff x="0" y="0"/>
          <a:chExt cx="9144000" cy="6858000"/>
        </a:xfrm>
      </p:grpSpPr>
    </p:spTree>
  </p:cSld>
</p:sldLayout>
</file>

<file path=ppt/slideMasters/_rels/slideMaster1.xml.rels><?xml version="1.0" encoding="UTF-8" standalone="yes"?>
<Relationships xmlns="http://schemas.openxmlformats.org/package/2006/relationships">
  <Relationship Id="rId1" Type="http://schemas.openxmlformats.org/officeDocument/2006/relationships/theme" Target="../theme/theme1.xml"/>
</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1"/>
        <p:cNvGrpSpPr/>
        <p:nvPr/>
      </p:nvGrpSpPr>
      <p:grpSpPr>
        <a:xfrm>
          <a:off x="0" y="0"/>
          <a:ext cx="9144000" cy="6858000"/>
          <a:chOff x="0" y="0"/>
          <a:chExt cx="9144000" cy="6858000"/>
        </a:xfrm>
      </p:grpSpPr>
    </p:spTree>
  </p:cSld>
  <p:clrMap accent1="accent1" accent2="accent2" accent3="accent3" accent4="accent4" accent5="accent5" accent6="accent6" dk1="dk1" dk2="dk2" folHyperlink="folHyperlink" hyperlink="hyperlink" lt1="lt1" lt2="lt2"/>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The Textual Foundation and Computational Architecture of the CVL-CDSAML Corpus</a:t>
            </a:r>
          </a:p>
        </p:txBody>
      </p:sp>
    </p:spTree>
  </p:cSld>
</p:sld>
</file>

<file path=ppt/slides/slide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does Part 2 of this research focus on?</a:t>
            </a:r>
          </a:p>
        </p:txBody>
      </p:sp>
    </p:spTree>
  </p:cSld>
</p:sld>
</file>

<file path=ppt/slides/slide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Part 2: Textual Foundation &amp; Computational Architecture</a:t>
            </a:r>
          </a:p>
        </p:txBody>
      </p:sp>
    </p:spTree>
  </p:cSld>
</p:sld>
</file>

<file path=ppt/slides/slide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Why do we need a comprehensive foundation for diachronic research?</a:t>
            </a:r>
          </a:p>
        </p:txBody>
      </p:sp>
    </p:spTree>
  </p:cSld>
</p:sld>
</file>

<file path=ppt/slides/slide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Introduction: The Need for a Comprehensive Foundation</a:t>
            </a:r>
          </a:p>
        </p:txBody>
      </p:sp>
    </p:spTree>
  </p:cSld>
</p:sld>
</file>

<file path=ppt/slides/slide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exactly is the CVL-CDSAML Corpus?</a:t>
            </a:r>
          </a:p>
        </p:txBody>
      </p:sp>
    </p:spTree>
  </p:cSld>
</p:sld>
</file>

<file path=ppt/slides/slide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What is the CVL-CDSAML Corpus?</a:t>
            </a:r>
          </a:p>
        </p:txBody>
      </p:sp>
    </p:spTree>
  </p:cSld>
</p:sld>
</file>

<file path=ppt/slides/slide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research questions can this corpus address?</a:t>
            </a:r>
          </a:p>
        </p:txBody>
      </p:sp>
    </p:spTree>
  </p:cSld>
</p:sld>
</file>

<file path=ppt/slides/slide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Research Context &amp; Methodology</a:t>
            </a:r>
          </a:p>
        </p:txBody>
      </p:sp>
    </p:spTree>
  </p:cSld>
</p:sld>
</file>

<file path=ppt/slides/slide1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Who funds this research and what is the timeline?</a:t>
            </a:r>
          </a:p>
        </p:txBody>
      </p:sp>
    </p:spTree>
  </p:cSld>
</p:sld>
</file>

<file path=ppt/slides/slide1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The CVL-CDSAML Project Overview</a:t>
            </a:r>
          </a:p>
        </p:txBody>
      </p:sp>
    </p:spTree>
  </p:cSld>
</p:sld>
</file>

<file path=ppt/slides/slide1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are the main deliverables of this project?</a:t>
            </a:r>
          </a:p>
        </p:txBody>
      </p:sp>
    </p:spTree>
  </p:cSld>
</p:sld>
</file>

<file path=ppt/slides/slide1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Project Goals &amp; Deliverables</a:t>
            </a:r>
          </a:p>
        </p:txBody>
      </p:sp>
    </p:spTree>
  </p:cSld>
</p:sld>
</file>

<file path=ppt/slides/slide1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How large is the corpus and how is it organized?</a:t>
            </a:r>
          </a:p>
        </p:txBody>
      </p:sp>
    </p:spTree>
  </p:cSld>
</p:sld>
</file>

<file path=ppt/slides/slide1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Project Scope &amp; Scale</a:t>
            </a:r>
          </a:p>
        </p:txBody>
      </p:sp>
    </p:spTree>
  </p:cSld>
</p:sld>
</file>

<file path=ppt/slides/slide1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Can you show us the actual directory structure?</a:t>
            </a:r>
          </a:p>
        </p:txBody>
      </p:sp>
    </p:spTree>
  </p:cSld>
</p:sld>
</file>

<file path=ppt/slides/slide1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Corpus Structure Example: Hierarchical Organization</a:t>
            </a:r>
          </a:p>
        </p:txBody>
      </p:sp>
    </p:spTree>
  </p:cSld>
</p:sld>
</file>

<file path=ppt/slides/slide1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makes a text "influential" enough to include?</a:t>
            </a:r>
          </a:p>
        </p:txBody>
      </p:sp>
    </p:spTree>
  </p:cSld>
</p:sld>
</file>

<file path=ppt/slides/slide1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Defining Influential Texts: Criteria</a:t>
            </a:r>
          </a:p>
        </p:txBody>
      </p:sp>
    </p:spTree>
  </p:cSld>
</p:sld>
</file>

<file path=ppt/slides/slide2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How does the corpus capture language contact effects?</a:t>
            </a:r>
          </a:p>
        </p:txBody>
      </p:sp>
    </p:spTree>
  </p:cSld>
</p:sld>
</file>

<file path=ppt/slides/slide2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Written Language Contact: A Key Focus</a:t>
            </a:r>
          </a:p>
        </p:txBody>
      </p:sp>
    </p:spTree>
  </p:cSld>
</p:sld>
</file>

<file path=ppt/slides/slide2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metadata does each text file contain?</a:t>
            </a:r>
          </a:p>
        </p:txBody>
      </p:sp>
    </p:spTree>
  </p:cSld>
</p:sld>
</file>

<file path=ppt/slides/slide2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Corpus Metadata Structure Example</a:t>
            </a:r>
          </a:p>
        </p:txBody>
      </p:sp>
    </p:spTree>
  </p:cSld>
</p:sld>
</file>

<file path=ppt/slides/slide2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are retranslations and why do they matter?</a:t>
            </a:r>
          </a:p>
        </p:txBody>
      </p:sp>
    </p:spTree>
  </p:cSld>
</p:sld>
</file>

<file path=ppt/slides/slide2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Understanding Retranslations</a:t>
            </a:r>
          </a:p>
        </p:txBody>
      </p:sp>
    </p:spTree>
  </p:cSld>
</p:sld>
</file>

<file path=ppt/slides/slide2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Passive Retranslation Explained</a:t>
            </a:r>
          </a:p>
        </p:txBody>
      </p:sp>
    </p:spTree>
  </p:cSld>
</p:sld>
</file>

<file path=ppt/slides/slide2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Active Retranslation Explained</a:t>
            </a:r>
          </a:p>
        </p:txBody>
      </p:sp>
    </p:spTree>
  </p:cSld>
</p:sld>
</file>

<file path=ppt/slides/slide2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Language Families in the Corpus</a:t>
            </a:r>
          </a:p>
        </p:txBody>
      </p:sp>
    </p:spTree>
  </p:cSld>
</p:sld>
</file>

<file path=ppt/slides/slide2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The Three Language Families</a:t>
            </a:r>
          </a:p>
        </p:txBody>
      </p:sp>
    </p:spTree>
  </p:cSld>
</p:sld>
</file>

<file path=ppt/slides/slide3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Why These Languages?</a:t>
            </a:r>
          </a:p>
        </p:txBody>
      </p:sp>
    </p:spTree>
  </p:cSld>
</p:sld>
</file>

<file path=ppt/slides/slide3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The Role of Original Texts</a:t>
            </a:r>
          </a:p>
        </p:txBody>
      </p:sp>
    </p:spTree>
  </p:cSld>
</p:sld>
</file>

<file path=ppt/slides/slide3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The Core Hellenic Tradition</a:t>
            </a:r>
          </a:p>
        </p:txBody>
      </p:sp>
    </p:spTree>
  </p:cSld>
</p:sld>
</file>

<file path=ppt/slides/slide3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Focus on Post-Classical Development</a:t>
            </a:r>
          </a:p>
        </p:txBody>
      </p:sp>
    </p:spTree>
  </p:cSld>
</p:sld>
</file>

<file path=ppt/slides/slide3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Grammatical Shift: Synthetic to Analytic</a:t>
            </a:r>
          </a:p>
        </p:txBody>
      </p:sp>
    </p:spTree>
  </p:cSld>
</p:sld>
</file>

<file path=ppt/slides/slide3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Dual Methodology Approach</a:t>
            </a:r>
          </a:p>
        </p:txBody>
      </p:sp>
    </p:spTree>
  </p:cSld>
</p:sld>
</file>

<file path=ppt/slides/slide3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Classical Greek Baseline</a:t>
            </a:r>
          </a:p>
        </p:txBody>
      </p:sp>
    </p:spTree>
  </p:cSld>
</p:sld>
</file>

<file path=ppt/slides/slide3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The Koine Greek Core</a:t>
            </a:r>
          </a:p>
        </p:txBody>
      </p:sp>
    </p:spTree>
  </p:cSld>
</p:sld>
</file>

<file path=ppt/slides/slide3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Significance of Koine Greek</a:t>
            </a:r>
          </a:p>
        </p:txBody>
      </p:sp>
    </p:spTree>
  </p:cSld>
</p:sld>
</file>

<file path=ppt/slides/slide3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Summary: A Comprehensive Resource</a:t>
            </a:r>
          </a:p>
        </p:txBody>
      </p:sp>
    </p:spTree>
  </p:cSld>
</p:sld>
</file>

<file path=ppt/slides/slide4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Detailed Example: The Septuagint as a Translation Corpus</a:t>
            </a:r>
          </a:p>
        </p:txBody>
      </p:sp>
    </p:spTree>
  </p:cSld>
</p:sld>
</file>

<file path=ppt/slides/slide4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Septuagint Translation Patterns</a:t>
            </a:r>
          </a:p>
        </p:txBody>
      </p:sp>
    </p:spTree>
  </p:cSld>
</p:sld>
</file>

<file path=ppt/slides/slide4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New Testament: A Koine Greek Case Study</a:t>
            </a:r>
          </a:p>
        </p:txBody>
      </p:sp>
    </p:spTree>
  </p:cSld>
</p:sld>
</file>

<file path=ppt/slides/slide4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Gospel Language Variation</a:t>
            </a:r>
          </a:p>
        </p:txBody>
      </p:sp>
    </p:spTree>
  </p:cSld>
</p:sld>
</file>

<file path=ppt/slides/slide4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Byzantine Greek: The Medieval Transition</a:t>
            </a:r>
          </a:p>
        </p:txBody>
      </p:sp>
    </p:spTree>
  </p:cSld>
</p:sld>
</file>

<file path=ppt/slides/slide4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Dative Case Replacement</a:t>
            </a:r>
          </a:p>
        </p:txBody>
      </p:sp>
    </p:spTree>
  </p:cSld>
</p:sld>
</file>

<file path=ppt/slides/slide4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Modern Greek in the Corpus</a:t>
            </a:r>
          </a:p>
        </p:txBody>
      </p:sp>
    </p:spTree>
  </p:cSld>
</p:sld>
</file>

<file path=ppt/slides/slide4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Multiple Greek Translations Compared</a:t>
            </a:r>
          </a:p>
        </p:txBody>
      </p:sp>
    </p:spTree>
  </p:cSld>
</p:sld>
</file>

<file path=ppt/slides/slide4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Germanic Language Family: English Corpus</a:t>
            </a:r>
          </a:p>
        </p:txBody>
      </p:sp>
    </p:spTree>
  </p:cSld>
</p:sld>
</file>

<file path=ppt/slides/slide4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English Bible Translation Evolution</a:t>
            </a:r>
          </a:p>
        </p:txBody>
      </p:sp>
    </p:spTree>
  </p:cSld>
</p:sld>
</file>

<file path=ppt/slides/slide5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Romance Languages: Latin Foundation</a:t>
            </a:r>
          </a:p>
        </p:txBody>
      </p:sp>
    </p:spTree>
  </p:cSld>
</p:sld>
</file>

<file path=ppt/slides/slide5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Latin Vulgate Influence</a:t>
            </a:r>
          </a:p>
        </p:txBody>
      </p:sp>
    </p:spTree>
  </p:cSld>
</p:sld>
</file>

<file path=ppt/slides/slide5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French in the Corpus</a:t>
            </a:r>
          </a:p>
        </p:txBody>
      </p:sp>
    </p:spTree>
  </p:cSld>
</p:sld>
</file>

<file path=ppt/slides/slide5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Computational Processing Pipeline</a:t>
            </a:r>
          </a:p>
        </p:txBody>
      </p:sp>
    </p:spTree>
  </p:cSld>
</p:sld>
</file>

<file path=ppt/slides/slide5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happens during text digitization?</a:t>
            </a:r>
          </a:p>
        </p:txBody>
      </p:sp>
    </p:spTree>
  </p:cSld>
</p:sld>
</file>

<file path=ppt/slides/slide5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Computational Processing Pipeline (2)</a:t>
            </a:r>
          </a:p>
        </p:txBody>
      </p:sp>
    </p:spTree>
  </p:cSld>
</p:sld>
</file>

<file path=ppt/slides/slide5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happens during linguistic annotation?</a:t>
            </a:r>
          </a:p>
        </p:txBody>
      </p:sp>
    </p:spTree>
  </p:cSld>
</p:sld>
</file>

<file path=ppt/slides/slide5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Computational Processing Pipeline (3)</a:t>
            </a:r>
          </a:p>
        </p:txBody>
      </p:sp>
    </p:spTree>
  </p:cSld>
</p:sld>
</file>

<file path=ppt/slides/slide5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Valency Pattern Extraction</a:t>
            </a:r>
          </a:p>
        </p:txBody>
      </p:sp>
    </p:spTree>
  </p:cSld>
</p:sld>
</file>

<file path=ppt/slides/slide5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How is the valency lexicon structured?</a:t>
            </a:r>
          </a:p>
        </p:txBody>
      </p:sp>
    </p:spTree>
  </p:cSld>
</p:sld>
</file>

<file path=ppt/slides/slide6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Valency Lexicon Structure</a:t>
            </a:r>
          </a:p>
        </p:txBody>
      </p:sp>
    </p:spTree>
  </p:cSld>
</p:sld>
</file>

<file path=ppt/slides/slide6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does the database schema look like?</a:t>
            </a:r>
          </a:p>
        </p:txBody>
      </p:sp>
    </p:spTree>
  </p:cSld>
</p:sld>
</file>

<file path=ppt/slides/slide6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Valency Lexicon: Database Schema</a:t>
            </a:r>
          </a:p>
        </p:txBody>
      </p:sp>
    </p:spTree>
  </p:cSld>
</p:sld>
</file>

<file path=ppt/slides/slide6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Can you show a complete lexicon entry example?</a:t>
            </a:r>
          </a:p>
        </p:txBody>
      </p:sp>
    </p:spTree>
  </p:cSld>
</p:sld>
</file>

<file path=ppt/slides/slide6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Valency Lexicon Entry Structure Example</a:t>
            </a:r>
          </a:p>
        </p:txBody>
      </p:sp>
    </p:spTree>
  </p:cSld>
</p:sld>
</file>

<file path=ppt/slides/slide6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Lexicon Entry: διδάσκω (didaskō) "teach"</a:t>
            </a:r>
          </a:p>
        </p:txBody>
      </p:sp>
    </p:spTree>
  </p:cSld>
</p:sld>
</file>

<file path=ppt/slides/slide6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How do valency patterns compare across languages?</a:t>
            </a:r>
          </a:p>
        </p:txBody>
      </p:sp>
    </p:spTree>
  </p:cSld>
</p:sld>
</file>

<file path=ppt/slides/slide6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Valency Lexicon: Comparison Across Languages</a:t>
            </a:r>
          </a:p>
        </p:txBody>
      </p:sp>
    </p:spTree>
  </p:cSld>
</p:sld>
</file>

<file path=ppt/slides/slide6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Cross-Linguistic Comparison: "To Know"</a:t>
            </a:r>
          </a:p>
        </p:txBody>
      </p:sp>
    </p:spTree>
  </p:cSld>
</p:sld>
</file>

<file path=ppt/slides/slide6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Translation Effects on Valency</a:t>
            </a:r>
          </a:p>
        </p:txBody>
      </p:sp>
    </p:spTree>
  </p:cSld>
</p:sld>
</file>

<file path=ppt/slides/slide7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Translation Interference</a:t>
            </a:r>
          </a:p>
        </p:txBody>
      </p:sp>
    </p:spTree>
  </p:cSld>
</p:sld>
</file>

<file path=ppt/slides/slide7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Register and Genre Effects</a:t>
            </a:r>
          </a:p>
        </p:txBody>
      </p:sp>
    </p:spTree>
  </p:cSld>
</p:sld>
</file>

<file path=ppt/slides/slide7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Genre-Specific Valency</a:t>
            </a:r>
          </a:p>
        </p:txBody>
      </p:sp>
    </p:spTree>
  </p:cSld>
</p:sld>
</file>

<file path=ppt/slides/slide7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are the corpus statistics and scale?</a:t>
            </a:r>
          </a:p>
        </p:txBody>
      </p:sp>
    </p:spTree>
  </p:cSld>
</p:sld>
</file>

<file path=ppt/slides/slide7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Corpus Size and Statistics</a:t>
            </a:r>
          </a:p>
        </p:txBody>
      </p:sp>
    </p:spTree>
  </p:cSld>
</p:sld>
</file>

<file path=ppt/slides/slide7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How are tokens distributed across languages?</a:t>
            </a:r>
          </a:p>
        </p:txBody>
      </p:sp>
    </p:spTree>
  </p:cSld>
</p:sld>
</file>

<file path=ppt/slides/slide7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Corpus Statistics by Language and Period</a:t>
            </a:r>
          </a:p>
        </p:txBody>
      </p:sp>
    </p:spTree>
  </p:cSld>
</p:sld>
</file>

<file path=ppt/slides/slide7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technical infrastructure supports the corpus?</a:t>
            </a:r>
          </a:p>
        </p:txBody>
      </p:sp>
    </p:spTree>
  </p:cSld>
</p:sld>
</file>

<file path=ppt/slides/slide7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Technical Infrastructure</a:t>
            </a:r>
          </a:p>
        </p:txBody>
      </p:sp>
    </p:spTree>
  </p:cSld>
</p:sld>
</file>

<file path=ppt/slides/slide7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does the TEI XML encoding look like?</a:t>
            </a:r>
          </a:p>
        </p:txBody>
      </p:sp>
    </p:spTree>
  </p:cSld>
</p:sld>
</file>

<file path=ppt/slides/slide8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Data Format Example: TEI XML</a:t>
            </a:r>
          </a:p>
        </p:txBody>
      </p:sp>
    </p:spTree>
  </p:cSld>
</p:sld>
</file>

<file path=ppt/slides/slide8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Research Applications: Diachronic Syntax</a:t>
            </a:r>
          </a:p>
        </p:txBody>
      </p:sp>
    </p:spTree>
  </p:cSld>
</p:sld>
</file>

<file path=ppt/slides/slide8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How can we study language contact with this corpus?</a:t>
            </a:r>
          </a:p>
        </p:txBody>
      </p:sp>
    </p:spTree>
  </p:cSld>
</p:sld>
</file>

<file path=ppt/slides/slide8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Research Applications: Language Contact</a:t>
            </a:r>
          </a:p>
        </p:txBody>
      </p:sp>
    </p:spTree>
  </p:cSld>
</p:sld>
</file>

<file path=ppt/slides/slide8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sociolinguistic questions can we answer?</a:t>
            </a:r>
          </a:p>
        </p:txBody>
      </p:sp>
    </p:spTree>
  </p:cSld>
</p:sld>
</file>

<file path=ppt/slides/slide8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Research Applications: Historical Sociolinguistics</a:t>
            </a:r>
          </a:p>
        </p:txBody>
      </p:sp>
    </p:spTree>
  </p:cSld>
</p:sld>
</file>

<file path=ppt/slides/slide8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Collaborative Research Potential</a:t>
            </a:r>
          </a:p>
        </p:txBody>
      </p:sp>
    </p:spTree>
  </p:cSld>
</p:sld>
</file>

<file path=ppt/slides/slide8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Open Access and Sustainability</a:t>
            </a:r>
          </a:p>
        </p:txBody>
      </p:sp>
    </p:spTree>
  </p:cSld>
</p:sld>
</file>

<file path=ppt/slides/slide8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expansions are planned for Phase 2?</a:t>
            </a:r>
          </a:p>
        </p:txBody>
      </p:sp>
    </p:spTree>
  </p:cSld>
</p:sld>
</file>

<file path=ppt/slides/slide8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Future Developments: Phase 2</a:t>
            </a:r>
          </a:p>
        </p:txBody>
      </p:sp>
    </p:spTree>
  </p:cSld>
</p:sld>
</file>

<file path=ppt/slides/slide9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computational enhancements are planned?</a:t>
            </a:r>
          </a:p>
        </p:txBody>
      </p:sp>
    </p:spTree>
  </p:cSld>
</p:sld>
</file>

<file path=ppt/slides/slide9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Future Developments: Advanced Features</a:t>
            </a:r>
          </a:p>
        </p:txBody>
      </p:sp>
    </p:spTree>
  </p:cSld>
</p:sld>
</file>

<file path=ppt/slides/slide9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makes this project methodologically innovative?</a:t>
            </a:r>
          </a:p>
        </p:txBody>
      </p:sp>
    </p:spTree>
  </p:cSld>
</p:sld>
</file>

<file path=ppt/slides/slide9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Methodological Innovations</a:t>
            </a:r>
          </a:p>
        </p:txBody>
      </p:sp>
    </p:spTree>
  </p:cSld>
</p:sld>
</file>

<file path=ppt/slides/slide9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is the theoretical impact of this work?</a:t>
            </a:r>
          </a:p>
        </p:txBody>
      </p:sp>
    </p:spTree>
  </p:cSld>
</p:sld>
</file>

<file path=ppt/slides/slide9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Impact on Linguistic Theory</a:t>
            </a:r>
          </a:p>
        </p:txBody>
      </p:sp>
    </p:spTree>
  </p:cSld>
</p:sld>
</file>

<file path=ppt/slides/slide9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Educational Applications</a:t>
            </a:r>
          </a:p>
        </p:txBody>
      </p:sp>
    </p:spTree>
  </p:cSld>
</p:sld>
</file>

<file path=ppt/slides/slide9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Student Research Project</a:t>
            </a:r>
          </a:p>
        </p:txBody>
      </p:sp>
    </p:spTree>
  </p:cSld>
</p:sld>
</file>

<file path=ppt/slides/slide9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Interdisciplinary Connections</a:t>
            </a:r>
          </a:p>
        </p:txBody>
      </p:sp>
    </p:spTree>
  </p:cSld>
</p:sld>
</file>

<file path=ppt/slides/slide9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Biblical Studies Applications</a:t>
            </a:r>
          </a:p>
        </p:txBody>
      </p:sp>
    </p:spTree>
  </p:cSld>
</p:sld>
</file>

<file path=ppt/slides/slide10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Case Study: Textual Variants</a:t>
            </a:r>
          </a:p>
        </p:txBody>
      </p:sp>
    </p:spTree>
  </p:cSld>
</p:sld>
</file>

<file path=ppt/slides/slide10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Challenges and Solutions: Data Quality</a:t>
            </a:r>
          </a:p>
        </p:txBody>
      </p:sp>
    </p:spTree>
  </p:cSld>
</p:sld>
</file>

<file path=ppt/slides/slide10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technical challenges exist and how are they solved?</a:t>
            </a:r>
          </a:p>
        </p:txBody>
      </p:sp>
    </p:spTree>
  </p:cSld>
</p:sld>
</file>

<file path=ppt/slides/slide10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Challenges and Solutions: Technical</a:t>
            </a:r>
          </a:p>
        </p:txBody>
      </p:sp>
    </p:spTree>
  </p:cSld>
</p:sld>
</file>

<file path=ppt/slides/slide10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Challenges and Solutions: Scope</a:t>
            </a:r>
          </a:p>
        </p:txBody>
      </p:sp>
    </p:spTree>
  </p:cSld>
</p:sld>
</file>

<file path=ppt/slides/slide10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Quality Assurance Processes</a:t>
            </a:r>
          </a:p>
        </p:txBody>
      </p:sp>
    </p:spTree>
  </p:cSld>
</p:sld>
</file>

<file path=ppt/slides/slide10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Community Engagement</a:t>
            </a:r>
          </a:p>
        </p:txBody>
      </p:sp>
    </p:spTree>
  </p:cSld>
</p:sld>
</file>

<file path=ppt/slides/slide10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Dissemination Strategy</a:t>
            </a:r>
          </a:p>
        </p:txBody>
      </p:sp>
    </p:spTree>
  </p:cSld>
</p:sld>
</file>

<file path=ppt/slides/slide10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Publications from the Project</a:t>
            </a:r>
          </a:p>
        </p:txBody>
      </p:sp>
    </p:spTree>
  </p:cSld>
</p:sld>
</file>

<file path=ppt/slides/slide10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Timeline and Milestones</a:t>
            </a:r>
          </a:p>
        </p:txBody>
      </p:sp>
    </p:spTree>
  </p:cSld>
</p:sld>
</file>

<file path=ppt/slides/slide11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Project Team and Expertise</a:t>
            </a:r>
          </a:p>
        </p:txBody>
      </p:sp>
    </p:spTree>
  </p:cSld>
</p:sld>
</file>

<file path=ppt/slides/slide11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Funding and Support</a:t>
            </a:r>
          </a:p>
        </p:txBody>
      </p:sp>
    </p:spTree>
  </p:cSld>
</p:sld>
</file>

<file path=ppt/slides/slide11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Broader Impact: Digital Humanities</a:t>
            </a:r>
          </a:p>
        </p:txBody>
      </p:sp>
    </p:spTree>
  </p:cSld>
</p:sld>
</file>

<file path=ppt/slides/slide11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Question: What are the main takeaways from this presentation?</a:t>
            </a:r>
          </a:p>
        </p:txBody>
      </p:sp>
    </p:spTree>
  </p:cSld>
</p:sld>
</file>

<file path=ppt/slides/slide11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Key Takeaways</a:t>
            </a:r>
          </a:p>
        </p:txBody>
      </p:sp>
    </p:spTree>
  </p:cSld>
</p:sld>
</file>

<file path=ppt/slides/slide11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Theoretical Significance</a:t>
            </a:r>
          </a:p>
        </p:txBody>
      </p:sp>
    </p:spTree>
  </p:cSld>
</p:sld>
</file>

<file path=ppt/slides/slide11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Practical Applications Beyond Academia</a:t>
            </a:r>
          </a:p>
        </p:txBody>
      </p:sp>
    </p:spTree>
  </p:cSld>
</p:sld>
</file>

<file path=ppt/slides/slide11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Vision for the Future</a:t>
            </a:r>
          </a:p>
        </p:txBody>
      </p:sp>
    </p:spTree>
  </p:cSld>
</p:sld>
</file>

<file path=ppt/slides/slide11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How to Get Involved</a:t>
            </a:r>
          </a:p>
        </p:txBody>
      </p:sp>
    </p:spTree>
  </p:cSld>
</p:sld>
</file>

<file path=ppt/slides/slide11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Contact and Resources</a:t>
            </a:r>
          </a:p>
        </p:txBody>
      </p:sp>
    </p:spTree>
  </p:cSld>
</p:sld>
</file>

<file path=ppt/slides/slide12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Thank You!</a:t>
            </a:r>
          </a:p>
        </p:txBody>
      </p:sp>
      <p:sp>
        <p:nvSpPr>
          <p:cNvPr id="3" name="Content"/>
          <p:cNvSpPr/>
          <p:nvPr/>
        </p:nvSpPr>
        <p:spPr>
          <a:xfrm>
            <a:off x="457200" y="1417638"/>
            <a:ext cx="8229600" cy="5000000"/>
          </a:xfrm>
        </p:spPr>
        <p:txBody>
          <a:bodyPr/>
          <a:lstStyle/>
          <a:p>
            <a:r>
              <a:rPr lang="en-US" sz="2200" bold="1"/>
              <a:t>Think about:</a:t>
            </a:r>
          </a:p>
          <a:p>
            <a:r>
              <a:rPr lang="en-US" sz="2200" bold="1"/>
              <a:t>A comprehensive approach to diachronic valency research</a:t>
            </a:r>
          </a:p>
          <a:p>
            <a:r>
              <a:rPr lang="en-US" sz="2200" bold="1"/>
              <a:t>Consider:</a:t>
            </a:r>
          </a:p>
          <a:p>
            <a:r>
              <a:rPr lang="en-US" sz="2200" bold="1"/>
              <a:t>Text selection</a:t>
            </a:r>
          </a:p>
          <a:p>
            <a:r>
              <a:rPr lang="en-US" sz="2200" bold="1"/>
              <a:t>historical evidence</a:t>
            </a:r>
          </a:p>
          <a:p>
            <a:r>
              <a:rPr lang="en-US" sz="2200" bold="1"/>
              <a:t>language development</a:t>
            </a:r>
          </a:p>
        </p:txBody>
      </p:sp>
    </p:spTree>
  </p:cSld>
</p:sld>
</file>

<file path=ppt/slides/slide12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external factors</a:t>
            </a:r>
          </a:p>
        </p:txBody>
      </p:sp>
      <p:sp>
        <p:nvSpPr>
          <p:cNvPr id="3" name="Content"/>
          <p:cNvSpPr/>
          <p:nvPr/>
        </p:nvSpPr>
        <p:spPr>
          <a:xfrm>
            <a:off x="457200" y="1417638"/>
            <a:ext cx="8229600" cy="5000000"/>
          </a:xfrm>
        </p:spPr>
        <p:txBody>
          <a:bodyPr/>
          <a:lstStyle/>
          <a:p>
            <a:r>
              <a:rPr lang="en-US" sz="2200" bold="1"/>
              <a:t>Ask yourself:</a:t>
            </a:r>
          </a:p>
          <a:p>
            <a:r>
              <a:rPr lang="en-US" sz="2200" bold="1"/>
              <a:t>Purpose:</a:t>
            </a:r>
          </a:p>
          <a:p>
            <a:r>
              <a:rPr lang="en-US" sz="2200" bold="1"/>
              <a:t>Scope:</a:t>
            </a:r>
          </a:p>
          <a:p>
            <a:r>
              <a:rPr lang="en-US" sz="2200" bold="1"/>
              <a:t>three millennia</a:t>
            </a:r>
          </a:p>
          <a:p>
            <a:r>
              <a:rPr lang="en-US" sz="2200" bold="1"/>
              <a:t>Inclusion:</a:t>
            </a:r>
          </a:p>
          <a:p>
            <a:r>
              <a:rPr lang="en-US" sz="2200" bold="1"/>
              <a:t>Germanic</a:t>
            </a:r>
          </a:p>
        </p:txBody>
      </p:sp>
    </p:spTree>
  </p:cSld>
</p:sld>
</file>

<file path=ppt/slides/slide12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Romance</a:t>
            </a:r>
          </a:p>
        </p:txBody>
      </p:sp>
      <p:sp>
        <p:nvSpPr>
          <p:cNvPr id="3" name="Content"/>
          <p:cNvSpPr/>
          <p:nvPr/>
        </p:nvSpPr>
        <p:spPr>
          <a:xfrm>
            <a:off x="457200" y="1417638"/>
            <a:ext cx="8229600" cy="5000000"/>
          </a:xfrm>
        </p:spPr>
        <p:txBody>
          <a:bodyPr/>
          <a:lstStyle/>
          <a:p>
            <a:r>
              <a:rPr lang="en-US" sz="2200" bold="1"/>
              <a:t>Approach:</a:t>
            </a:r>
          </a:p>
          <a:p>
            <a:r>
              <a:rPr lang="en-US" sz="2200" bold="1"/>
              <a:t>Think about:</a:t>
            </a:r>
          </a:p>
          <a:p>
            <a:r>
              <a:rPr lang="en-US" sz="2200" bold="1"/>
              <a:t>Internal language development</a:t>
            </a:r>
          </a:p>
          <a:p>
            <a:r>
              <a:rPr lang="en-US" sz="2200" bold="1"/>
              <a:t>External language interactions</a:t>
            </a:r>
          </a:p>
          <a:p>
            <a:r>
              <a:rPr lang="en-US" sz="2200" bold="1"/>
              <a:t>Genre effects</a:t>
            </a:r>
          </a:p>
          <a:p>
            <a:r>
              <a:rPr lang="en-US" sz="2200" bold="1"/>
              <a:t>Register variations</a:t>
            </a:r>
          </a:p>
        </p:txBody>
      </p:sp>
    </p:spTree>
  </p:cSld>
</p:sld>
</file>

<file path=ppt/slides/slide12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Transmission problems</a:t>
            </a:r>
          </a:p>
        </p:txBody>
      </p:sp>
      <p:sp>
        <p:nvSpPr>
          <p:cNvPr id="3" name="Content"/>
          <p:cNvSpPr/>
          <p:nvPr/>
        </p:nvSpPr>
        <p:spPr>
          <a:xfrm>
            <a:off x="457200" y="1417638"/>
            <a:ext cx="8229600" cy="5000000"/>
          </a:xfrm>
        </p:spPr>
        <p:txBody>
          <a:bodyPr/>
          <a:lstStyle/>
          <a:p>
            <a:r>
              <a:rPr lang="en-US" sz="2200" bold="1"/>
              <a:t>Key questions:</a:t>
            </a:r>
          </a:p>
          <a:p>
            <a:r>
              <a:rPr lang="en-US" sz="2200" bold="1"/>
              <a:t>Funded by:</a:t>
            </a:r>
          </a:p>
          <a:p>
            <a:r>
              <a:rPr lang="en-US" sz="2200" bold="1"/>
              <a:t>Program:</a:t>
            </a:r>
          </a:p>
          <a:p>
            <a:r>
              <a:rPr lang="en-US" sz="2200" bold="1"/>
              <a:t>Timeline:</a:t>
            </a:r>
          </a:p>
          <a:p>
            <a:r>
              <a:rPr lang="en-US" sz="2200" bold="1"/>
              <a:t>Two major outputs:</a:t>
            </a:r>
          </a:p>
          <a:p>
            <a:r>
              <a:rPr lang="en-US" sz="2200" bold="1"/>
              <a:t>Two Major Linguistic Tools:</a:t>
            </a:r>
          </a:p>
        </p:txBody>
      </p:sp>
    </p:spTree>
  </p:cSld>
</p:sld>
</file>

<file path=ppt/slides/slide12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Parallel Diachronic Corpus</a:t>
            </a:r>
          </a:p>
        </p:txBody>
      </p:sp>
      <p:sp>
        <p:nvSpPr>
          <p:cNvPr id="3" name="Content"/>
          <p:cNvSpPr/>
          <p:nvPr/>
        </p:nvSpPr>
        <p:spPr>
          <a:xfrm>
            <a:off x="457200" y="1417638"/>
            <a:ext cx="8229600" cy="5000000"/>
          </a:xfrm>
        </p:spPr>
        <p:txBody>
          <a:bodyPr/>
          <a:lstStyle/>
          <a:p>
            <a:r>
              <a:rPr lang="en-US" sz="2200" bold="1"/>
              <a:t>Diachronic Valency Lexicon</a:t>
            </a:r>
          </a:p>
          <a:p>
            <a:r>
              <a:rPr lang="en-US" sz="2200" bold="1"/>
              <a:t>Scale questions:</a:t>
            </a:r>
          </a:p>
          <a:p>
            <a:r>
              <a:rPr lang="en-US" sz="2200" bold="1"/>
              <a:t>338 historical texts</a:t>
            </a:r>
          </a:p>
          <a:p>
            <a:r>
              <a:rPr lang="en-US" sz="2200" bold="1"/>
              <a:t>Over two millennia</a:t>
            </a:r>
          </a:p>
          <a:p>
            <a:r>
              <a:rPr lang="en-US" sz="2200" bold="1"/>
              <a:t>Multiple language families</a:t>
            </a:r>
          </a:p>
          <a:p>
            <a:r>
              <a:rPr lang="en-US" sz="2200" bold="1"/>
              <a:t>Comprehensive coverage</a:t>
            </a:r>
          </a:p>
        </p:txBody>
      </p:sp>
    </p:spTree>
  </p:cSld>
</p:sld>
</file>

<file path=ppt/slides/slide12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Structure details:</a:t>
            </a:r>
          </a:p>
        </p:txBody>
      </p:sp>
      <p:sp>
        <p:nvSpPr>
          <p:cNvPr id="3" name="Content"/>
          <p:cNvSpPr/>
          <p:nvPr/>
        </p:nvSpPr>
        <p:spPr>
          <a:xfrm>
            <a:off x="457200" y="1417638"/>
            <a:ext cx="8229600" cy="5000000"/>
          </a:xfrm>
        </p:spPr>
        <p:txBody>
          <a:bodyPr/>
          <a:lstStyle/>
          <a:p>
            <a:r>
              <a:rPr lang="en-US" sz="2200" bold="1"/>
              <a:t>Selection criteria:</a:t>
            </a:r>
          </a:p>
          <a:p>
            <a:r>
              <a:rPr lang="en-US" sz="2200" bold="1"/>
              <a:t>Two Essential Conditions for Text Selection:</a:t>
            </a:r>
          </a:p>
          <a:p>
            <a:r>
              <a:rPr lang="en-US" sz="2200" bold="1"/>
              <a:t>cultural and linguistic significance</a:t>
            </a:r>
          </a:p>
          <a:p>
            <a:r>
              <a:rPr lang="en-US" sz="2200" bold="1"/>
              <a:t>multiple translations</a:t>
            </a:r>
          </a:p>
          <a:p>
            <a:r>
              <a:rPr lang="en-US" sz="2200" bold="1"/>
              <a:t>Contact linguistics:</a:t>
            </a:r>
          </a:p>
          <a:p>
            <a:r>
              <a:rPr lang="en-US" sz="2200" bold="1"/>
              <a:t>written language contact</a:t>
            </a:r>
          </a:p>
        </p:txBody>
      </p:sp>
    </p:spTree>
  </p:cSld>
</p:sld>
</file>

<file path=ppt/slides/slide12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Translation-based interactions</a:t>
            </a:r>
          </a:p>
        </p:txBody>
      </p:sp>
      <p:sp>
        <p:nvSpPr>
          <p:cNvPr id="3" name="Content"/>
          <p:cNvSpPr/>
          <p:nvPr/>
        </p:nvSpPr>
        <p:spPr>
          <a:xfrm>
            <a:off x="457200" y="1417638"/>
            <a:ext cx="8229600" cy="5000000"/>
          </a:xfrm>
        </p:spPr>
        <p:txBody>
          <a:bodyPr/>
          <a:lstStyle/>
          <a:p>
            <a:r>
              <a:rPr lang="en-US" sz="2200" bold="1"/>
              <a:t>Interlingual contact</a:t>
            </a:r>
          </a:p>
          <a:p>
            <a:r>
              <a:rPr lang="en-US" sz="2200" bold="1"/>
              <a:t>Intralingual contact</a:t>
            </a:r>
          </a:p>
          <a:p>
            <a:r>
              <a:rPr lang="en-US" sz="2200" bold="1"/>
              <a:t>Metadata questions:</a:t>
            </a:r>
          </a:p>
          <a:p>
            <a:r>
              <a:rPr lang="en-US" sz="2200" bold="1"/>
              <a:t>Retranslation concepts:</a:t>
            </a:r>
          </a:p>
          <a:p>
            <a:r>
              <a:rPr lang="en-US" sz="2200" bold="1"/>
              <a:t>Definition:</a:t>
            </a:r>
          </a:p>
          <a:p>
            <a:r>
              <a:rPr lang="en-US" sz="2200" bold="1"/>
              <a:t>Two Types:</a:t>
            </a:r>
          </a:p>
        </p:txBody>
      </p:sp>
    </p:spTree>
  </p:cSld>
</p:sld>
</file>

<file path=ppt/slides/slide12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Passive Retranslation</a:t>
            </a:r>
          </a:p>
        </p:txBody>
      </p:sp>
      <p:sp>
        <p:nvSpPr>
          <p:cNvPr id="3" name="Content"/>
          <p:cNvSpPr/>
          <p:nvPr/>
        </p:nvSpPr>
        <p:spPr>
          <a:xfrm>
            <a:off x="457200" y="1417638"/>
            <a:ext cx="8229600" cy="5000000"/>
          </a:xfrm>
        </p:spPr>
        <p:txBody>
          <a:bodyPr/>
          <a:lstStyle/>
          <a:p>
            <a:r>
              <a:rPr lang="en-US" sz="2200" bold="1"/>
              <a:t>Active Retranslation</a:t>
            </a:r>
          </a:p>
          <a:p>
            <a:r>
              <a:rPr lang="en-US" sz="2200" bold="1"/>
              <a:t>Occurs when:</a:t>
            </a:r>
          </a:p>
          <a:p>
            <a:r>
              <a:rPr lang="en-US" sz="2200" bold="1"/>
              <a:t>Example: Modern Greek Translations of the Old Testament</a:t>
            </a:r>
          </a:p>
          <a:p>
            <a:r>
              <a:rPr lang="en-US" sz="2200" bold="1"/>
              <a:t>Occurs when:</a:t>
            </a:r>
          </a:p>
          <a:p>
            <a:r>
              <a:rPr lang="en-US" sz="2200" bold="1"/>
              <a:t>Example: English Bible Translations (19th-20th centuries)</a:t>
            </a:r>
          </a:p>
          <a:p>
            <a:r>
              <a:rPr lang="en-US" sz="2200" bold="1"/>
              <a:t>three Indo-European language families:</a:t>
            </a:r>
          </a:p>
        </p:txBody>
      </p:sp>
    </p:spTree>
  </p:cSld>
</p:sld>
</file>

<file path=ppt/slides/slide12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Hellenic</a:t>
            </a:r>
          </a:p>
        </p:txBody>
      </p:sp>
      <p:sp>
        <p:nvSpPr>
          <p:cNvPr id="3" name="Content"/>
          <p:cNvSpPr/>
          <p:nvPr/>
        </p:nvSpPr>
        <p:spPr>
          <a:xfrm>
            <a:off x="457200" y="1417638"/>
            <a:ext cx="8229600" cy="5000000"/>
          </a:xfrm>
        </p:spPr>
        <p:txBody>
          <a:bodyPr/>
          <a:lstStyle/>
          <a:p>
            <a:r>
              <a:rPr lang="en-US" sz="2200" bold="1"/>
              <a:t>Germanic</a:t>
            </a:r>
          </a:p>
          <a:p>
            <a:r>
              <a:rPr lang="en-US" sz="2200" bold="1"/>
              <a:t>Romance</a:t>
            </a:r>
          </a:p>
          <a:p>
            <a:r>
              <a:rPr lang="en-US" sz="2200" bold="1"/>
              <a:t>Strategic Selection Based On:</a:t>
            </a:r>
          </a:p>
          <a:p>
            <a:r>
              <a:rPr lang="en-US" sz="2200" bold="1"/>
              <a:t>attested history</a:t>
            </a:r>
          </a:p>
          <a:p>
            <a:r>
              <a:rPr lang="en-US" sz="2200" bold="1"/>
              <a:t>documented traditions</a:t>
            </a:r>
          </a:p>
          <a:p>
            <a:r>
              <a:rPr lang="en-US" sz="2200" bold="1"/>
              <a:t>translation practices</a:t>
            </a:r>
          </a:p>
        </p:txBody>
      </p:sp>
    </p:spTree>
  </p:cSld>
</p:sld>
</file>

<file path=ppt/slides/slide12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historical records</a:t>
            </a:r>
          </a:p>
        </p:txBody>
      </p:sp>
      <p:sp>
        <p:nvSpPr>
          <p:cNvPr id="3" name="Content"/>
          <p:cNvSpPr/>
          <p:nvPr/>
        </p:nvSpPr>
        <p:spPr>
          <a:xfrm>
            <a:off x="457200" y="1417638"/>
            <a:ext cx="8229600" cy="5000000"/>
          </a:xfrm>
        </p:spPr>
        <p:txBody>
          <a:bodyPr/>
          <a:lstStyle/>
          <a:p>
            <a:r>
              <a:rPr lang="en-US" sz="2200" bold="1"/>
              <a:t>Original influential texts are included as:</a:t>
            </a:r>
          </a:p>
          <a:p>
            <a:r>
              <a:rPr lang="en-US" sz="2200" bold="1"/>
              <a:t>Source texts</a:t>
            </a:r>
          </a:p>
          <a:p>
            <a:r>
              <a:rPr lang="en-US" sz="2200" bold="1"/>
              <a:t>Control group</a:t>
            </a:r>
          </a:p>
          <a:p>
            <a:r>
              <a:rPr lang="en-US" sz="2200" bold="1"/>
              <a:t>Greek: The Longest Historical Record</a:t>
            </a:r>
          </a:p>
          <a:p>
            <a:r>
              <a:rPr lang="en-US" sz="2200" bold="1"/>
              <a:t>Mycenaean era</a:t>
            </a:r>
          </a:p>
          <a:p>
            <a:r>
              <a:rPr lang="en-US" sz="2200" bold="1"/>
              <a:t>continuity</a:t>
            </a:r>
          </a:p>
        </p:txBody>
      </p:sp>
    </p:spTree>
  </p:cSld>
</p:sld>
</file>

<file path=ppt/slides/slide13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long-term language change</a:t>
            </a:r>
          </a:p>
        </p:txBody>
      </p:sp>
      <p:sp>
        <p:nvSpPr>
          <p:cNvPr id="3" name="Content"/>
          <p:cNvSpPr/>
          <p:nvPr/>
        </p:nvSpPr>
        <p:spPr>
          <a:xfrm>
            <a:off x="457200" y="1417638"/>
            <a:ext cx="8229600" cy="5000000"/>
          </a:xfrm>
        </p:spPr>
        <p:txBody>
          <a:bodyPr/>
          <a:lstStyle/>
          <a:p>
            <a:r>
              <a:rPr lang="en-US" sz="2200" bold="1"/>
              <a:t>Koine Greek</a:t>
            </a:r>
          </a:p>
          <a:p>
            <a:r>
              <a:rPr lang="en-US" sz="2200" bold="1"/>
              <a:t>Byzantine Greek</a:t>
            </a:r>
          </a:p>
          <a:p>
            <a:r>
              <a:rPr lang="en-US" sz="2200" bold="1"/>
              <a:t>Modern Greek</a:t>
            </a:r>
          </a:p>
          <a:p>
            <a:r>
              <a:rPr lang="en-US" sz="2200" bold="1"/>
              <a:t>Major Transition in Greek:</a:t>
            </a:r>
          </a:p>
          <a:p>
            <a:r>
              <a:rPr lang="en-US" sz="2200" bold="1"/>
              <a:t>synthetic structures</a:t>
            </a:r>
          </a:p>
          <a:p>
            <a:r>
              <a:rPr lang="en-US" sz="2200" bold="1"/>
              <a:t>analytic structures</a:t>
            </a:r>
          </a:p>
        </p:txBody>
      </p:sp>
    </p:spTree>
  </p:cSld>
</p:sld>
</file>

<file path=ppt/slides/slide13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Key Research Question:</a:t>
            </a:r>
          </a:p>
        </p:txBody>
      </p:sp>
      <p:sp>
        <p:nvSpPr>
          <p:cNvPr id="3" name="Content"/>
          <p:cNvSpPr/>
          <p:nvPr/>
        </p:nvSpPr>
        <p:spPr>
          <a:xfrm>
            <a:off x="457200" y="1417638"/>
            <a:ext cx="8229600" cy="5000000"/>
          </a:xfrm>
        </p:spPr>
        <p:txBody>
          <a:bodyPr/>
          <a:lstStyle/>
          <a:p>
            <a:r>
              <a:rPr lang="en-US" sz="2200" bold="1"/>
              <a:t>Philological Curation:</a:t>
            </a:r>
          </a:p>
          <a:p>
            <a:r>
              <a:rPr lang="en-US" sz="2200" bold="1"/>
              <a:t>Computational Processing:</a:t>
            </a:r>
          </a:p>
          <a:p>
            <a:r>
              <a:rPr lang="en-US" sz="2200" bold="1"/>
              <a:t>register variation</a:t>
            </a:r>
          </a:p>
          <a:p>
            <a:r>
              <a:rPr lang="en-US" sz="2200" bold="1"/>
              <a:t>later developments</a:t>
            </a:r>
          </a:p>
          <a:p>
            <a:r>
              <a:rPr lang="en-US" sz="2200" bold="1"/>
              <a:t>linguistic change</a:t>
            </a:r>
          </a:p>
          <a:p>
            <a:r>
              <a:rPr lang="en-US" sz="2200" bold="1"/>
              <a:t>Foundation of the Early Corpus:</a:t>
            </a:r>
          </a:p>
        </p:txBody>
      </p:sp>
    </p:spTree>
  </p:cSld>
</p:sld>
</file>

<file path=ppt/slides/slide13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Septuagint</a:t>
            </a:r>
          </a:p>
        </p:txBody>
      </p:sp>
      <p:sp>
        <p:nvSpPr>
          <p:cNvPr id="3" name="Content"/>
          <p:cNvSpPr/>
          <p:nvPr/>
        </p:nvSpPr>
        <p:spPr>
          <a:xfrm>
            <a:off x="457200" y="1417638"/>
            <a:ext cx="8229600" cy="5000000"/>
          </a:xfrm>
        </p:spPr>
        <p:txBody>
          <a:bodyPr/>
          <a:lstStyle/>
          <a:p>
            <a:r>
              <a:rPr lang="en-US" sz="2200" bold="1"/>
              <a:t>New Testament</a:t>
            </a:r>
          </a:p>
          <a:p>
            <a:r>
              <a:rPr lang="en-US" sz="2200" bold="1"/>
              <a:t>Hellenistic and Roman periods</a:t>
            </a:r>
          </a:p>
          <a:p>
            <a:r>
              <a:rPr lang="en-US" sz="2200" bold="1"/>
              <a:t>Why Koine is Central:</a:t>
            </a:r>
          </a:p>
          <a:p>
            <a:r>
              <a:rPr lang="en-US" sz="2200" bold="1"/>
              <a:t>translation activity</a:t>
            </a:r>
          </a:p>
          <a:p>
            <a:r>
              <a:rPr lang="en-US" sz="2200" bold="1"/>
              <a:t>Widespread use</a:t>
            </a:r>
          </a:p>
          <a:p>
            <a:r>
              <a:rPr lang="en-US" sz="2200" bold="1"/>
              <a:t>language contact</a:t>
            </a:r>
          </a:p>
        </p:txBody>
      </p:sp>
    </p:spTree>
  </p:cSld>
</p:sld>
</file>

<file path=ppt/slides/slide13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Byzantine</a:t>
            </a:r>
          </a:p>
        </p:txBody>
      </p:sp>
      <p:sp>
        <p:nvSpPr>
          <p:cNvPr id="3" name="Content"/>
          <p:cNvSpPr/>
          <p:nvPr/>
        </p:nvSpPr>
        <p:spPr>
          <a:xfrm>
            <a:off x="457200" y="1417638"/>
            <a:ext cx="8229600" cy="5000000"/>
          </a:xfrm>
        </p:spPr>
        <p:txBody>
          <a:bodyPr/>
          <a:lstStyle/>
          <a:p>
            <a:r>
              <a:rPr lang="en-US" sz="2200" bold="1"/>
              <a:t>Modern Greek</a:t>
            </a:r>
          </a:p>
          <a:p>
            <a:r>
              <a:rPr lang="en-US" sz="2200" bold="1"/>
              <a:t>338 texts</a:t>
            </a:r>
          </a:p>
          <a:p>
            <a:r>
              <a:rPr lang="en-US" sz="2200" bold="1"/>
              <a:t>Three millennia</a:t>
            </a:r>
          </a:p>
          <a:p>
            <a:r>
              <a:rPr lang="en-US" sz="2200" bold="1"/>
              <a:t>Systematic methodology</a:t>
            </a:r>
          </a:p>
          <a:p>
            <a:r>
              <a:rPr lang="en-US" sz="2200" bold="1"/>
              <a:t>Translation-based</a:t>
            </a:r>
          </a:p>
          <a:p>
            <a:r>
              <a:rPr lang="en-US" sz="2200" bold="1"/>
              <a:t>diachronic valency research</a:t>
            </a:r>
          </a:p>
        </p:txBody>
      </p:sp>
    </p:spTree>
  </p:cSld>
</p:sld>
</file>

<file path=ppt/slides/slide13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Historical Context:</a:t>
            </a:r>
          </a:p>
        </p:txBody>
      </p:sp>
      <p:sp>
        <p:nvSpPr>
          <p:cNvPr id="3" name="Content"/>
          <p:cNvSpPr/>
          <p:nvPr/>
        </p:nvSpPr>
        <p:spPr>
          <a:xfrm>
            <a:off x="457200" y="1417638"/>
            <a:ext cx="8229600" cy="5000000"/>
          </a:xfrm>
        </p:spPr>
        <p:txBody>
          <a:bodyPr/>
          <a:lstStyle/>
          <a:p>
            <a:r>
              <a:rPr lang="en-US" sz="2200" bold="1"/>
              <a:t>Research Value:</a:t>
            </a:r>
          </a:p>
          <a:p>
            <a:r>
              <a:rPr lang="en-US" sz="2200" bold="1"/>
              <a:t>Hebrew-Greek language contact</a:t>
            </a:r>
          </a:p>
          <a:p>
            <a:r>
              <a:rPr lang="en-US" sz="2200" bold="1"/>
              <a:t>Hebrew Source Influence:</a:t>
            </a:r>
          </a:p>
          <a:p>
            <a:r>
              <a:rPr lang="en-US" sz="2200" bold="1"/>
              <a:t>Translationese Features:</a:t>
            </a:r>
          </a:p>
          <a:p>
            <a:r>
              <a:rPr lang="en-US" sz="2200" bold="1"/>
              <a:t>Corpus Characteristics:</a:t>
            </a:r>
          </a:p>
          <a:p>
            <a:r>
              <a:rPr lang="en-US" sz="2200" bold="1"/>
              <a:t>Koine Greek</a:t>
            </a:r>
          </a:p>
        </p:txBody>
      </p:sp>
    </p:spTree>
  </p:cSld>
</p:sld>
</file>

<file path=ppt/slides/slide13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authors</a:t>
            </a:r>
          </a:p>
        </p:txBody>
      </p:sp>
      <p:sp>
        <p:nvSpPr>
          <p:cNvPr id="3" name="Content"/>
          <p:cNvSpPr/>
          <p:nvPr/>
        </p:nvSpPr>
        <p:spPr>
          <a:xfrm>
            <a:off x="457200" y="1417638"/>
            <a:ext cx="8229600" cy="5000000"/>
          </a:xfrm>
        </p:spPr>
        <p:txBody>
          <a:bodyPr/>
          <a:lstStyle/>
          <a:p>
            <a:r>
              <a:rPr lang="en-US" sz="2200" bold="1"/>
              <a:t>registers</a:t>
            </a:r>
          </a:p>
          <a:p>
            <a:r>
              <a:rPr lang="en-US" sz="2200" bold="1"/>
              <a:t>Linguistic Features:</a:t>
            </a:r>
          </a:p>
          <a:p>
            <a:r>
              <a:rPr lang="en-US" sz="2200" bold="1"/>
              <a:t>Luke's Gospel:</a:t>
            </a:r>
          </a:p>
          <a:p>
            <a:r>
              <a:rPr lang="en-US" sz="2200" bold="1"/>
              <a:t>literary</a:t>
            </a:r>
          </a:p>
          <a:p>
            <a:r>
              <a:rPr lang="en-US" sz="2200" bold="1"/>
              <a:t>Mark's Gospel:</a:t>
            </a:r>
          </a:p>
          <a:p>
            <a:r>
              <a:rPr lang="en-US" sz="2200" bold="1"/>
              <a:t>colloquial</a:t>
            </a:r>
          </a:p>
        </p:txBody>
      </p:sp>
    </p:spTree>
  </p:cSld>
</p:sld>
</file>

<file path=ppt/slides/slide13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Time Period:</a:t>
            </a:r>
          </a:p>
        </p:txBody>
      </p:sp>
      <p:sp>
        <p:nvSpPr>
          <p:cNvPr id="3" name="Content"/>
          <p:cNvSpPr/>
          <p:nvPr/>
        </p:nvSpPr>
        <p:spPr>
          <a:xfrm>
            <a:off x="457200" y="1417638"/>
            <a:ext cx="8229600" cy="5000000"/>
          </a:xfrm>
        </p:spPr>
        <p:txBody>
          <a:bodyPr/>
          <a:lstStyle/>
          <a:p>
            <a:r>
              <a:rPr lang="en-US" sz="2200" bold="1"/>
              <a:t>Key Changes:</a:t>
            </a:r>
          </a:p>
          <a:p>
            <a:r>
              <a:rPr lang="en-US" sz="2200" bold="1"/>
              <a:t>dative case</a:t>
            </a:r>
          </a:p>
          <a:p>
            <a:r>
              <a:rPr lang="en-US" sz="2200" bold="1"/>
              <a:t>infinitive</a:t>
            </a:r>
          </a:p>
          <a:p>
            <a:r>
              <a:rPr lang="en-US" sz="2200" bold="1"/>
              <a:t>periphrastic constructions</a:t>
            </a:r>
          </a:p>
          <a:p>
            <a:r>
              <a:rPr lang="en-US" sz="2200" bold="1"/>
              <a:t>Classical/Koine Greek:</a:t>
            </a:r>
          </a:p>
          <a:p>
            <a:r>
              <a:rPr lang="en-US" sz="2200" bold="1"/>
              <a:t>Byzantine/Modern Greek:</a:t>
            </a:r>
          </a:p>
        </p:txBody>
      </p:sp>
    </p:spTree>
  </p:cSld>
</p:sld>
</file>

<file path=ppt/slides/slide13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Varieties Included:</a:t>
            </a:r>
          </a:p>
        </p:txBody>
      </p:sp>
      <p:sp>
        <p:nvSpPr>
          <p:cNvPr id="3" name="Content"/>
          <p:cNvSpPr/>
          <p:nvPr/>
        </p:nvSpPr>
        <p:spPr>
          <a:xfrm>
            <a:off x="457200" y="1417638"/>
            <a:ext cx="8229600" cy="5000000"/>
          </a:xfrm>
        </p:spPr>
        <p:txBody>
          <a:bodyPr/>
          <a:lstStyle/>
          <a:p>
            <a:r>
              <a:rPr lang="en-US" sz="2200" bold="1"/>
              <a:t>Katharevousa</a:t>
            </a:r>
          </a:p>
          <a:p>
            <a:r>
              <a:rPr lang="en-US" sz="2200" bold="1"/>
              <a:t>Dimotiki</a:t>
            </a:r>
          </a:p>
          <a:p>
            <a:r>
              <a:rPr lang="en-US" sz="2200" bold="1"/>
              <a:t>Research Focus:</a:t>
            </a:r>
          </a:p>
          <a:p>
            <a:r>
              <a:rPr lang="en-US" sz="2200" bold="1"/>
              <a:t>Source:</a:t>
            </a:r>
          </a:p>
          <a:p>
            <a:r>
              <a:rPr lang="en-US" sz="2200" bold="1"/>
              <a:t>Septuagint</a:t>
            </a:r>
          </a:p>
          <a:p>
            <a:r>
              <a:rPr lang="en-US" sz="2200" bold="1"/>
              <a:t>Byzantine translation</a:t>
            </a:r>
          </a:p>
        </p:txBody>
      </p:sp>
    </p:spTree>
  </p:cSld>
</p:sld>
</file>

<file path=ppt/slides/slide13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Modern translation</a:t>
            </a:r>
          </a:p>
        </p:txBody>
      </p:sp>
      <p:sp>
        <p:nvSpPr>
          <p:cNvPr id="3" name="Content"/>
          <p:cNvSpPr/>
          <p:nvPr/>
        </p:nvSpPr>
        <p:spPr>
          <a:xfrm>
            <a:off x="457200" y="1417638"/>
            <a:ext cx="8229600" cy="5000000"/>
          </a:xfrm>
        </p:spPr>
        <p:txBody>
          <a:bodyPr/>
          <a:lstStyle/>
          <a:p>
            <a:r>
              <a:rPr lang="en-US" sz="2200" bold="1"/>
              <a:t>Analysis:</a:t>
            </a:r>
          </a:p>
          <a:p>
            <a:r>
              <a:rPr lang="en-US" sz="2200" bold="1"/>
              <a:t>Historical Stages Included:</a:t>
            </a:r>
          </a:p>
          <a:p>
            <a:r>
              <a:rPr lang="en-US" sz="2200" bold="1"/>
              <a:t>Old English</a:t>
            </a:r>
          </a:p>
          <a:p>
            <a:r>
              <a:rPr lang="en-US" sz="2200" bold="1"/>
              <a:t>Middle English</a:t>
            </a:r>
          </a:p>
          <a:p>
            <a:r>
              <a:rPr lang="en-US" sz="2200" bold="1"/>
              <a:t>Early Modern English</a:t>
            </a:r>
          </a:p>
          <a:p>
            <a:r>
              <a:rPr lang="en-US" sz="2200" bold="1"/>
              <a:t>Modern English</a:t>
            </a:r>
          </a:p>
        </p:txBody>
      </p:sp>
    </p:spTree>
  </p:cSld>
</p:sld>
</file>

<file path=ppt/slides/slide13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Same Verse Across Time:</a:t>
            </a:r>
          </a:p>
        </p:txBody>
      </p:sp>
      <p:sp>
        <p:nvSpPr>
          <p:cNvPr id="3" name="Content"/>
          <p:cNvSpPr/>
          <p:nvPr/>
        </p:nvSpPr>
        <p:spPr>
          <a:xfrm>
            <a:off x="457200" y="1417638"/>
            <a:ext cx="8229600" cy="5000000"/>
          </a:xfrm>
        </p:spPr>
        <p:txBody>
          <a:bodyPr/>
          <a:lstStyle/>
          <a:p>
            <a:r>
              <a:rPr lang="en-US" sz="2200" bold="1"/>
              <a:t>Wycliffe (1382):</a:t>
            </a:r>
          </a:p>
          <a:p>
            <a:r>
              <a:rPr lang="en-US" sz="2200" bold="1"/>
              <a:t>King James (1611):</a:t>
            </a:r>
          </a:p>
          <a:p>
            <a:r>
              <a:rPr lang="en-US" sz="2200" bold="1"/>
              <a:t>NIV (1978):</a:t>
            </a:r>
          </a:p>
          <a:p>
            <a:r>
              <a:rPr lang="en-US" sz="2200" bold="1"/>
              <a:t>Latin Corpus Components:</a:t>
            </a:r>
          </a:p>
          <a:p>
            <a:r>
              <a:rPr lang="en-US" sz="2200" bold="1"/>
              <a:t>Vulgate</a:t>
            </a:r>
          </a:p>
          <a:p>
            <a:r>
              <a:rPr lang="en-US" sz="2200" bold="1"/>
              <a:t>Why Latin?</a:t>
            </a:r>
          </a:p>
        </p:txBody>
      </p:sp>
    </p:spTree>
  </p:cSld>
</p:sld>
</file>

<file path=ppt/slides/slide14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Vulgate Latin:</a:t>
            </a:r>
          </a:p>
        </p:txBody>
      </p:sp>
      <p:sp>
        <p:nvSpPr>
          <p:cNvPr id="3" name="Content"/>
          <p:cNvSpPr/>
          <p:nvPr/>
        </p:nvSpPr>
        <p:spPr>
          <a:xfrm>
            <a:off x="457200" y="1417638"/>
            <a:ext cx="8229600" cy="5000000"/>
          </a:xfrm>
        </p:spPr>
        <p:txBody>
          <a:bodyPr/>
          <a:lstStyle/>
          <a:p>
            <a:r>
              <a:rPr lang="en-US" sz="2200" bold="1"/>
              <a:t>Influenced translations in:</a:t>
            </a:r>
          </a:p>
          <a:p>
            <a:r>
              <a:rPr lang="en-US" sz="2200" bold="1"/>
              <a:t>Stages Represented:</a:t>
            </a:r>
          </a:p>
          <a:p>
            <a:r>
              <a:rPr lang="en-US" sz="2200" bold="1"/>
              <a:t>Old French</a:t>
            </a:r>
          </a:p>
          <a:p>
            <a:r>
              <a:rPr lang="en-US" sz="2200" bold="1"/>
              <a:t>Middle French</a:t>
            </a:r>
          </a:p>
          <a:p>
            <a:r>
              <a:rPr lang="en-US" sz="2200" bold="1"/>
              <a:t>Modern French</a:t>
            </a:r>
          </a:p>
          <a:p>
            <a:r>
              <a:rPr lang="en-US" sz="2200" bold="1"/>
              <a:t>Research Questions:</a:t>
            </a:r>
          </a:p>
        </p:txBody>
      </p:sp>
    </p:spTree>
  </p:cSld>
</p:sld>
</file>

<file path=ppt/slides/slide14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Stage 1: Text Digitization</a:t>
            </a:r>
          </a:p>
        </p:txBody>
      </p:sp>
      <p:sp>
        <p:nvSpPr>
          <p:cNvPr id="3" name="Content"/>
          <p:cNvSpPr/>
          <p:nvPr/>
        </p:nvSpPr>
        <p:spPr>
          <a:xfrm>
            <a:off x="457200" y="1417638"/>
            <a:ext cx="8229600" cy="5000000"/>
          </a:xfrm>
        </p:spPr>
        <p:txBody>
          <a:bodyPr/>
          <a:lstStyle/>
          <a:p>
            <a:r>
              <a:rPr lang="en-US" sz="2200" bold="1"/>
              <a:t>Digitization process:</a:t>
            </a:r>
          </a:p>
          <a:p>
            <a:r>
              <a:rPr lang="en-US" sz="2200" bold="1"/>
              <a:t>Stage 2: Linguistic Annotation</a:t>
            </a:r>
          </a:p>
          <a:p>
            <a:r>
              <a:rPr lang="en-US" sz="2200" bold="1"/>
              <a:t>Tokenization</a:t>
            </a:r>
          </a:p>
          <a:p>
            <a:r>
              <a:rPr lang="en-US" sz="2200" bold="1"/>
              <a:t>Lemmatization</a:t>
            </a:r>
          </a:p>
          <a:p>
            <a:r>
              <a:rPr lang="en-US" sz="2200" bold="1"/>
              <a:t>Morphological tagging</a:t>
            </a:r>
          </a:p>
          <a:p>
            <a:r>
              <a:rPr lang="en-US" sz="2200" bold="1"/>
              <a:t>Syntactic parsing</a:t>
            </a:r>
          </a:p>
        </p:txBody>
      </p:sp>
    </p:spTree>
  </p:cSld>
</p:sld>
</file>

<file path=ppt/slides/slide14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Annotation layers:</a:t>
            </a:r>
          </a:p>
        </p:txBody>
      </p:sp>
      <p:sp>
        <p:nvSpPr>
          <p:cNvPr id="3" name="Content"/>
          <p:cNvSpPr/>
          <p:nvPr/>
        </p:nvSpPr>
        <p:spPr>
          <a:xfrm>
            <a:off x="457200" y="1417638"/>
            <a:ext cx="8229600" cy="5000000"/>
          </a:xfrm>
        </p:spPr>
        <p:txBody>
          <a:bodyPr/>
          <a:lstStyle/>
          <a:p>
            <a:r>
              <a:rPr lang="en-US" sz="2200" bold="1"/>
              <a:t>Stage 3: Valency Extraction</a:t>
            </a:r>
          </a:p>
          <a:p>
            <a:r>
              <a:rPr lang="en-US" sz="2200" bold="1"/>
              <a:t>argument structures</a:t>
            </a:r>
          </a:p>
          <a:p>
            <a:r>
              <a:rPr lang="en-US" sz="2200" bold="1"/>
              <a:t>valency frames</a:t>
            </a:r>
          </a:p>
          <a:p>
            <a:r>
              <a:rPr lang="en-US" sz="2200" bold="1"/>
              <a:t>Predicate:</a:t>
            </a:r>
          </a:p>
          <a:p>
            <a:r>
              <a:rPr lang="en-US" sz="2200" bold="1"/>
              <a:t>Classical Greek Valency:</a:t>
            </a:r>
          </a:p>
          <a:p>
            <a:r>
              <a:rPr lang="en-US" sz="2200" bold="1"/>
              <a:t>Modern Greek Valency:</a:t>
            </a:r>
          </a:p>
        </p:txBody>
      </p:sp>
    </p:spTree>
  </p:cSld>
</p:sld>
</file>

<file path=ppt/slides/slide14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Lexicon design:</a:t>
            </a:r>
          </a:p>
        </p:txBody>
      </p:sp>
      <p:sp>
        <p:nvSpPr>
          <p:cNvPr id="3" name="Content"/>
          <p:cNvSpPr/>
          <p:nvPr/>
        </p:nvSpPr>
        <p:spPr>
          <a:xfrm>
            <a:off x="457200" y="1417638"/>
            <a:ext cx="8229600" cy="5000000"/>
          </a:xfrm>
        </p:spPr>
        <p:txBody>
          <a:bodyPr/>
          <a:lstStyle/>
          <a:p>
            <a:r>
              <a:rPr lang="en-US" sz="2200" bold="1"/>
              <a:t>Each Entry Contains:</a:t>
            </a:r>
          </a:p>
          <a:p>
            <a:r>
              <a:rPr lang="en-US" sz="2200" bold="1"/>
              <a:t>Technical structure:</a:t>
            </a:r>
          </a:p>
          <a:p>
            <a:r>
              <a:rPr lang="en-US" sz="2200" bold="1"/>
              <a:t>Entry structure:</a:t>
            </a:r>
          </a:p>
          <a:p>
            <a:r>
              <a:rPr lang="en-US" sz="2200" bold="1"/>
              <a:t>Koine Greek (1st century CE):</a:t>
            </a:r>
          </a:p>
          <a:p>
            <a:r>
              <a:rPr lang="en-US" sz="2200" bold="1"/>
              <a:t>Byzantine Greek (10th century):</a:t>
            </a:r>
          </a:p>
          <a:p>
            <a:r>
              <a:rPr lang="en-US" sz="2200" bold="1"/>
              <a:t>Cross-linguistic perspective:</a:t>
            </a:r>
          </a:p>
        </p:txBody>
      </p:sp>
    </p:spTree>
  </p:cSld>
</p:sld>
</file>

<file path=ppt/slides/slide14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Greek:</a:t>
            </a:r>
          </a:p>
        </p:txBody>
      </p:sp>
      <p:sp>
        <p:nvSpPr>
          <p:cNvPr id="3" name="Content"/>
          <p:cNvSpPr/>
          <p:nvPr/>
        </p:nvSpPr>
        <p:spPr>
          <a:xfrm>
            <a:off x="457200" y="1417638"/>
            <a:ext cx="8229600" cy="5000000"/>
          </a:xfrm>
        </p:spPr>
        <p:txBody>
          <a:bodyPr/>
          <a:lstStyle/>
          <a:p>
            <a:r>
              <a:rPr lang="en-US" sz="2200" bold="1"/>
              <a:t>Latin:</a:t>
            </a:r>
          </a:p>
          <a:p>
            <a:r>
              <a:rPr lang="en-US" sz="2200" bold="1"/>
              <a:t>English:</a:t>
            </a:r>
          </a:p>
          <a:p>
            <a:r>
              <a:rPr lang="en-US" sz="2200" bold="1"/>
              <a:t>Question:</a:t>
            </a:r>
          </a:p>
          <a:p>
            <a:r>
              <a:rPr lang="en-US" sz="2200" bold="1"/>
              <a:t>Findings:</a:t>
            </a:r>
          </a:p>
          <a:p>
            <a:r>
              <a:rPr lang="en-US" sz="2200" bold="1"/>
              <a:t>interference</a:t>
            </a:r>
          </a:p>
          <a:p>
            <a:r>
              <a:rPr lang="en-US" sz="2200" bold="1"/>
              <a:t>naturalize</a:t>
            </a:r>
          </a:p>
        </p:txBody>
      </p:sp>
    </p:spTree>
  </p:cSld>
</p:sld>
</file>

<file path=ppt/slides/slide14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corrected</a:t>
            </a:r>
          </a:p>
        </p:txBody>
      </p:sp>
      <p:sp>
        <p:nvSpPr>
          <p:cNvPr id="3" name="Content"/>
          <p:cNvSpPr/>
          <p:nvPr/>
        </p:nvSpPr>
        <p:spPr>
          <a:xfrm>
            <a:off x="457200" y="1417638"/>
            <a:ext cx="8229600" cy="5000000"/>
          </a:xfrm>
        </p:spPr>
        <p:txBody>
          <a:bodyPr/>
          <a:lstStyle/>
          <a:p>
            <a:r>
              <a:rPr lang="en-US" sz="2200" bold="1"/>
              <a:t>Hebrew Source:</a:t>
            </a:r>
          </a:p>
          <a:p>
            <a:r>
              <a:rPr lang="en-US" sz="2200" bold="1"/>
              <a:t>Greek Translation:</a:t>
            </a:r>
          </a:p>
          <a:p>
            <a:r>
              <a:rPr lang="en-US" sz="2200" bold="1"/>
              <a:t>Native Greek:</a:t>
            </a:r>
          </a:p>
          <a:p>
            <a:r>
              <a:rPr lang="en-US" sz="2200" bold="1"/>
              <a:t>Different text types show different patterns:</a:t>
            </a:r>
          </a:p>
          <a:p>
            <a:r>
              <a:rPr lang="en-US" sz="2200" bold="1"/>
              <a:t>Narrative texts:</a:t>
            </a:r>
          </a:p>
          <a:p>
            <a:r>
              <a:rPr lang="en-US" sz="2200" bold="1"/>
              <a:t>Legal texts:</a:t>
            </a:r>
          </a:p>
        </p:txBody>
      </p:sp>
    </p:spTree>
  </p:cSld>
</p:sld>
</file>

<file path=ppt/slides/slide14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Poetic texts:</a:t>
            </a:r>
          </a:p>
        </p:txBody>
      </p:sp>
      <p:sp>
        <p:nvSpPr>
          <p:cNvPr id="3" name="Content"/>
          <p:cNvSpPr/>
          <p:nvPr/>
        </p:nvSpPr>
        <p:spPr>
          <a:xfrm>
            <a:off x="457200" y="1417638"/>
            <a:ext cx="8229600" cy="5000000"/>
          </a:xfrm>
        </p:spPr>
        <p:txBody>
          <a:bodyPr/>
          <a:lstStyle/>
          <a:p>
            <a:r>
              <a:rPr lang="en-US" sz="2200" bold="1"/>
              <a:t>Herodotus (Historical Narrative):</a:t>
            </a:r>
          </a:p>
          <a:p>
            <a:r>
              <a:rPr lang="en-US" sz="2200" bold="1"/>
              <a:t>New Testament Epistles:</a:t>
            </a:r>
          </a:p>
          <a:p>
            <a:r>
              <a:rPr lang="en-US" sz="2200" bold="1"/>
              <a:t>Size and scope:</a:t>
            </a:r>
          </a:p>
          <a:p>
            <a:r>
              <a:rPr lang="en-US" sz="2200" bold="1"/>
              <a:t>Total Word Count:</a:t>
            </a:r>
          </a:p>
          <a:p>
            <a:r>
              <a:rPr lang="en-US" sz="2200" bold="1"/>
              <a:t>Languages:</a:t>
            </a:r>
          </a:p>
          <a:p>
            <a:r>
              <a:rPr lang="en-US" sz="2200" bold="1"/>
              <a:t>Time Span:</a:t>
            </a:r>
          </a:p>
        </p:txBody>
      </p:sp>
    </p:spTree>
  </p:cSld>
</p:sld>
</file>

<file path=ppt/slides/slide14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Number of Predicates Analyzed:</a:t>
            </a:r>
          </a:p>
        </p:txBody>
      </p:sp>
      <p:sp>
        <p:nvSpPr>
          <p:cNvPr id="3" name="Content"/>
          <p:cNvSpPr/>
          <p:nvPr/>
        </p:nvSpPr>
        <p:spPr>
          <a:xfrm>
            <a:off x="457200" y="1417638"/>
            <a:ext cx="8229600" cy="5000000"/>
          </a:xfrm>
        </p:spPr>
        <p:txBody>
          <a:bodyPr/>
          <a:lstStyle/>
          <a:p>
            <a:r>
              <a:rPr lang="en-US" sz="2200" bold="1"/>
              <a:t>Valency Frames Documented:</a:t>
            </a:r>
          </a:p>
          <a:p>
            <a:r>
              <a:rPr lang="en-US" sz="2200" bold="1"/>
              <a:t>Distribution questions:</a:t>
            </a:r>
          </a:p>
          <a:p>
            <a:r>
              <a:rPr lang="en-US" sz="2200" bold="1"/>
              <a:t>Infrastructure components:</a:t>
            </a:r>
          </a:p>
          <a:p>
            <a:r>
              <a:rPr lang="en-US" sz="2200" bold="1"/>
              <a:t>Tools and Technologies:</a:t>
            </a:r>
          </a:p>
          <a:p>
            <a:r>
              <a:rPr lang="en-US" sz="2200" bold="1"/>
              <a:t>Python</a:t>
            </a:r>
          </a:p>
          <a:p>
            <a:r>
              <a:rPr lang="en-US" sz="2200" bold="1"/>
              <a:t>XML/TEI</a:t>
            </a:r>
          </a:p>
        </p:txBody>
      </p:sp>
    </p:spTree>
  </p:cSld>
</p:sld>
</file>

<file path=ppt/slides/slide14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SQL databases</a:t>
            </a:r>
          </a:p>
        </p:txBody>
      </p:sp>
      <p:sp>
        <p:nvSpPr>
          <p:cNvPr id="3" name="Content"/>
          <p:cNvSpPr/>
          <p:nvPr/>
        </p:nvSpPr>
        <p:spPr>
          <a:xfrm>
            <a:off x="457200" y="1417638"/>
            <a:ext cx="8229600" cy="5000000"/>
          </a:xfrm>
        </p:spPr>
        <p:txBody>
          <a:bodyPr/>
          <a:lstStyle/>
          <a:p>
            <a:r>
              <a:rPr lang="en-US" sz="2200" bold="1"/>
              <a:t>Natural Language Processing</a:t>
            </a:r>
          </a:p>
          <a:p>
            <a:r>
              <a:rPr lang="en-US" sz="2200" bold="1"/>
              <a:t>Web interface</a:t>
            </a:r>
          </a:p>
          <a:p>
            <a:r>
              <a:rPr lang="en-US" sz="2200" bold="1"/>
              <a:t>Encoding details:</a:t>
            </a:r>
          </a:p>
          <a:p>
            <a:r>
              <a:rPr lang="en-US" sz="2200" bold="1"/>
              <a:t>Benefits:</a:t>
            </a:r>
          </a:p>
          <a:p>
            <a:r>
              <a:rPr lang="en-US" sz="2200" bold="1"/>
              <a:t>Using the CVL-CDSAML corpus to study:</a:t>
            </a:r>
          </a:p>
          <a:p>
            <a:r>
              <a:rPr lang="en-US" sz="2200" bold="1"/>
              <a:t>case systems</a:t>
            </a:r>
          </a:p>
        </p:txBody>
      </p:sp>
    </p:spTree>
  </p:cSld>
</p:sld>
</file>

<file path=ppt/slides/slide14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word order</a:t>
            </a:r>
          </a:p>
        </p:txBody>
      </p:sp>
      <p:sp>
        <p:nvSpPr>
          <p:cNvPr id="3" name="Content"/>
          <p:cNvSpPr/>
          <p:nvPr/>
        </p:nvSpPr>
        <p:spPr>
          <a:xfrm>
            <a:off x="457200" y="1417638"/>
            <a:ext cx="8229600" cy="5000000"/>
          </a:xfrm>
        </p:spPr>
        <p:txBody>
          <a:bodyPr/>
          <a:lstStyle/>
          <a:p>
            <a:r>
              <a:rPr lang="en-US" sz="2200" bold="1"/>
              <a:t>prepositional phrases</a:t>
            </a:r>
          </a:p>
          <a:p>
            <a:r>
              <a:rPr lang="en-US" sz="2200" bold="1"/>
              <a:t>non-finite constructions</a:t>
            </a:r>
          </a:p>
          <a:p>
            <a:r>
              <a:rPr lang="en-US" sz="2200" bold="1"/>
              <a:t>Contact phenomena:</a:t>
            </a:r>
          </a:p>
          <a:p>
            <a:r>
              <a:rPr lang="en-US" sz="2200" bold="1"/>
              <a:t>Analyzing:</a:t>
            </a:r>
          </a:p>
          <a:p>
            <a:r>
              <a:rPr lang="en-US" sz="2200" bold="1"/>
              <a:t>Borrowing</a:t>
            </a:r>
          </a:p>
          <a:p>
            <a:r>
              <a:rPr lang="en-US" sz="2200" bold="1"/>
              <a:t>Calquing</a:t>
            </a:r>
          </a:p>
        </p:txBody>
      </p:sp>
    </p:spTree>
  </p:cSld>
</p:sld>
</file>

<file path=ppt/slides/slide15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Interference</a:t>
            </a:r>
          </a:p>
        </p:txBody>
      </p:sp>
      <p:sp>
        <p:nvSpPr>
          <p:cNvPr id="3" name="Content"/>
          <p:cNvSpPr/>
          <p:nvPr/>
        </p:nvSpPr>
        <p:spPr>
          <a:xfrm>
            <a:off x="457200" y="1417638"/>
            <a:ext cx="8229600" cy="5000000"/>
          </a:xfrm>
        </p:spPr>
        <p:txBody>
          <a:bodyPr/>
          <a:lstStyle/>
          <a:p>
            <a:r>
              <a:rPr lang="en-US" sz="2200" bold="1"/>
              <a:t>Convergence</a:t>
            </a:r>
          </a:p>
          <a:p>
            <a:r>
              <a:rPr lang="en-US" sz="2200" bold="1"/>
              <a:t>Historical sociolinguistics:</a:t>
            </a:r>
          </a:p>
          <a:p>
            <a:r>
              <a:rPr lang="en-US" sz="2200" bold="1"/>
              <a:t>Investigating:</a:t>
            </a:r>
          </a:p>
          <a:p>
            <a:r>
              <a:rPr lang="en-US" sz="2200" bold="1"/>
              <a:t>Register variation</a:t>
            </a:r>
          </a:p>
          <a:p>
            <a:r>
              <a:rPr lang="en-US" sz="2200" bold="1"/>
              <a:t>Standardization</a:t>
            </a:r>
          </a:p>
          <a:p>
            <a:r>
              <a:rPr lang="en-US" sz="2200" bold="1"/>
              <a:t>Literacy</a:t>
            </a:r>
          </a:p>
        </p:txBody>
      </p:sp>
    </p:spTree>
  </p:cSld>
</p:sld>
</file>

<file path=ppt/slides/slide15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Translation norms</a:t>
            </a:r>
          </a:p>
        </p:txBody>
      </p:sp>
      <p:sp>
        <p:nvSpPr>
          <p:cNvPr id="3" name="Content"/>
          <p:cNvSpPr/>
          <p:nvPr/>
        </p:nvSpPr>
        <p:spPr>
          <a:xfrm>
            <a:off x="457200" y="1417638"/>
            <a:ext cx="8229600" cy="5000000"/>
          </a:xfrm>
        </p:spPr>
        <p:txBody>
          <a:bodyPr/>
          <a:lstStyle/>
          <a:p>
            <a:r>
              <a:rPr lang="en-US" sz="2200" bold="1"/>
              <a:t>The corpus enables:</a:t>
            </a:r>
          </a:p>
          <a:p>
            <a:r>
              <a:rPr lang="en-US" sz="2200" bold="1"/>
              <a:t>International collaboration</a:t>
            </a:r>
          </a:p>
          <a:p>
            <a:r>
              <a:rPr lang="en-US" sz="2200" bold="1"/>
              <a:t>Interdisciplinary research</a:t>
            </a:r>
          </a:p>
          <a:p>
            <a:r>
              <a:rPr lang="en-US" sz="2200" bold="1"/>
              <a:t>Computational humanities</a:t>
            </a:r>
          </a:p>
          <a:p>
            <a:r>
              <a:rPr lang="en-US" sz="2200" bold="1"/>
              <a:t>Educational applications</a:t>
            </a:r>
          </a:p>
          <a:p>
            <a:r>
              <a:rPr lang="en-US" sz="2200" bold="1"/>
              <a:t>Project Commitment:</a:t>
            </a:r>
          </a:p>
        </p:txBody>
      </p:sp>
    </p:spTree>
  </p:cSld>
</p:sld>
</file>

<file path=ppt/slides/slide15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Open access</a:t>
            </a:r>
          </a:p>
        </p:txBody>
      </p:sp>
      <p:sp>
        <p:nvSpPr>
          <p:cNvPr id="3" name="Content"/>
          <p:cNvSpPr/>
          <p:nvPr/>
        </p:nvSpPr>
        <p:spPr>
          <a:xfrm>
            <a:off x="457200" y="1417638"/>
            <a:ext cx="8229600" cy="5000000"/>
          </a:xfrm>
        </p:spPr>
        <p:txBody>
          <a:bodyPr/>
          <a:lstStyle/>
          <a:p>
            <a:r>
              <a:rPr lang="en-US" sz="2200" bold="1"/>
              <a:t>Documentation</a:t>
            </a:r>
          </a:p>
          <a:p>
            <a:r>
              <a:rPr lang="en-US" sz="2200" bold="1"/>
              <a:t>Long-term preservation</a:t>
            </a:r>
          </a:p>
          <a:p>
            <a:r>
              <a:rPr lang="en-US" sz="2200" bold="1"/>
              <a:t>Community contributions</a:t>
            </a:r>
          </a:p>
          <a:p>
            <a:r>
              <a:rPr lang="en-US" sz="2200" bold="1"/>
              <a:t>Future additions:</a:t>
            </a:r>
          </a:p>
          <a:p>
            <a:r>
              <a:rPr lang="en-US" sz="2200" bold="1"/>
              <a:t>Planned Expansions:</a:t>
            </a:r>
          </a:p>
          <a:p>
            <a:r>
              <a:rPr lang="en-US" sz="2200" bold="1"/>
              <a:t>Slavic languages</a:t>
            </a:r>
          </a:p>
        </p:txBody>
      </p:sp>
    </p:spTree>
  </p:cSld>
</p:sld>
</file>

<file path=ppt/slides/slide15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Germanic languages</a:t>
            </a:r>
          </a:p>
        </p:txBody>
      </p:sp>
      <p:sp>
        <p:nvSpPr>
          <p:cNvPr id="3" name="Content"/>
          <p:cNvSpPr/>
          <p:nvPr/>
        </p:nvSpPr>
        <p:spPr>
          <a:xfrm>
            <a:off x="457200" y="1417638"/>
            <a:ext cx="8229600" cy="5000000"/>
          </a:xfrm>
        </p:spPr>
        <p:txBody>
          <a:bodyPr/>
          <a:lstStyle/>
          <a:p>
            <a:r>
              <a:rPr lang="en-US" sz="2200" bold="1"/>
              <a:t>Arabic</a:t>
            </a:r>
          </a:p>
          <a:p>
            <a:r>
              <a:rPr lang="en-US" sz="2200" bold="1"/>
              <a:t>Modern Greek</a:t>
            </a:r>
          </a:p>
          <a:p>
            <a:r>
              <a:rPr lang="en-US" sz="2200" bold="1"/>
              <a:t>Advanced features:</a:t>
            </a:r>
          </a:p>
          <a:p>
            <a:r>
              <a:rPr lang="en-US" sz="2200" bold="1"/>
              <a:t>Computational Enhancements:</a:t>
            </a:r>
          </a:p>
          <a:p>
            <a:r>
              <a:rPr lang="en-US" sz="2200" bold="1"/>
              <a:t>Machine learning</a:t>
            </a:r>
          </a:p>
          <a:p>
            <a:r>
              <a:rPr lang="en-US" sz="2200" bold="1"/>
              <a:t>Visualization tools</a:t>
            </a:r>
          </a:p>
        </p:txBody>
      </p:sp>
    </p:spTree>
  </p:cSld>
</p:sld>
</file>

<file path=ppt/slides/slide15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Automatic alignment</a:t>
            </a:r>
          </a:p>
        </p:txBody>
      </p:sp>
      <p:sp>
        <p:nvSpPr>
          <p:cNvPr id="3" name="Content"/>
          <p:cNvSpPr/>
          <p:nvPr/>
        </p:nvSpPr>
        <p:spPr>
          <a:xfrm>
            <a:off x="457200" y="1417638"/>
            <a:ext cx="8229600" cy="5000000"/>
          </a:xfrm>
        </p:spPr>
        <p:txBody>
          <a:bodyPr/>
          <a:lstStyle/>
          <a:p>
            <a:r>
              <a:rPr lang="en-US" sz="2200" bold="1"/>
              <a:t>Statistical analysis</a:t>
            </a:r>
          </a:p>
          <a:p>
            <a:r>
              <a:rPr lang="en-US" sz="2200" bold="1"/>
              <a:t>Innovations:</a:t>
            </a:r>
          </a:p>
          <a:p>
            <a:r>
              <a:rPr lang="en-US" sz="2200" bold="1"/>
              <a:t>CVL-CDSAML introduces:</a:t>
            </a:r>
          </a:p>
          <a:p>
            <a:r>
              <a:rPr lang="en-US" sz="2200" bold="1"/>
              <a:t>philology</a:t>
            </a:r>
          </a:p>
          <a:p>
            <a:r>
              <a:rPr lang="en-US" sz="2200" bold="1"/>
              <a:t>computation</a:t>
            </a:r>
          </a:p>
          <a:p>
            <a:r>
              <a:rPr lang="en-US" sz="2200" bold="1"/>
              <a:t>Translation-based</a:t>
            </a:r>
          </a:p>
        </p:txBody>
      </p:sp>
    </p:spTree>
  </p:cSld>
</p:sld>
</file>

<file path=ppt/slides/slide15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Multi-millennial</a:t>
            </a:r>
          </a:p>
        </p:txBody>
      </p:sp>
      <p:sp>
        <p:nvSpPr>
          <p:cNvPr id="3" name="Content"/>
          <p:cNvSpPr/>
          <p:nvPr/>
        </p:nvSpPr>
        <p:spPr>
          <a:xfrm>
            <a:off x="457200" y="1417638"/>
            <a:ext cx="8229600" cy="5000000"/>
          </a:xfrm>
        </p:spPr>
        <p:txBody>
          <a:bodyPr/>
          <a:lstStyle/>
          <a:p>
            <a:r>
              <a:rPr lang="en-US" sz="2200" bold="1"/>
              <a:t>Parallel corpus</a:t>
            </a:r>
          </a:p>
          <a:p>
            <a:r>
              <a:rPr lang="en-US" sz="2200" bold="1"/>
              <a:t>Theoretical contributions:</a:t>
            </a:r>
          </a:p>
          <a:p>
            <a:r>
              <a:rPr lang="en-US" sz="2200" bold="1"/>
              <a:t>Contributions to:</a:t>
            </a:r>
          </a:p>
          <a:p>
            <a:r>
              <a:rPr lang="en-US" sz="2200" bold="1"/>
              <a:t>Valency theory</a:t>
            </a:r>
          </a:p>
          <a:p>
            <a:r>
              <a:rPr lang="en-US" sz="2200" bold="1"/>
              <a:t>Language change</a:t>
            </a:r>
          </a:p>
          <a:p>
            <a:r>
              <a:rPr lang="en-US" sz="2200" bold="1"/>
              <a:t>Contact linguistics</a:t>
            </a:r>
          </a:p>
        </p:txBody>
      </p:sp>
    </p:spTree>
  </p:cSld>
</p:sld>
</file>

<file path=ppt/slides/slide15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Corpus linguistics</a:t>
            </a:r>
          </a:p>
        </p:txBody>
      </p:sp>
      <p:sp>
        <p:nvSpPr>
          <p:cNvPr id="3" name="Content"/>
          <p:cNvSpPr/>
          <p:nvPr/>
        </p:nvSpPr>
        <p:spPr>
          <a:xfrm>
            <a:off x="457200" y="1417638"/>
            <a:ext cx="8229600" cy="5000000"/>
          </a:xfrm>
        </p:spPr>
        <p:txBody>
          <a:bodyPr/>
          <a:lstStyle/>
          <a:p>
            <a:r>
              <a:rPr lang="en-US" sz="2200" bold="1"/>
              <a:t>Uses for Teaching:</a:t>
            </a:r>
          </a:p>
          <a:p>
            <a:r>
              <a:rPr lang="en-US" sz="2200" bold="1"/>
              <a:t>Historical linguistics</a:t>
            </a:r>
          </a:p>
          <a:p>
            <a:r>
              <a:rPr lang="en-US" sz="2200" bold="1"/>
              <a:t>Translation studies</a:t>
            </a:r>
          </a:p>
          <a:p>
            <a:r>
              <a:rPr lang="en-US" sz="2200" bold="1"/>
              <a:t>Classical languages</a:t>
            </a:r>
          </a:p>
          <a:p>
            <a:r>
              <a:rPr lang="en-US" sz="2200" bold="1"/>
              <a:t>Digital humanities</a:t>
            </a:r>
          </a:p>
          <a:p>
            <a:r>
              <a:rPr lang="en-US" sz="2200" bold="1"/>
              <a:t>Topic:</a:t>
            </a:r>
          </a:p>
        </p:txBody>
      </p:sp>
    </p:spTree>
  </p:cSld>
</p:sld>
</file>

<file path=ppt/slides/slide15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Method:</a:t>
            </a:r>
          </a:p>
        </p:txBody>
      </p:sp>
      <p:sp>
        <p:nvSpPr>
          <p:cNvPr id="3" name="Content"/>
          <p:cNvSpPr/>
          <p:nvPr/>
        </p:nvSpPr>
        <p:spPr>
          <a:xfrm>
            <a:off x="457200" y="1417638"/>
            <a:ext cx="8229600" cy="5000000"/>
          </a:xfrm>
        </p:spPr>
        <p:txBody>
          <a:bodyPr/>
          <a:lstStyle/>
          <a:p>
            <a:r>
              <a:rPr lang="en-US" sz="2200" bold="1"/>
              <a:t>Bridges Between:</a:t>
            </a:r>
          </a:p>
          <a:p>
            <a:r>
              <a:rPr lang="en-US" sz="2200" bold="1"/>
              <a:t>Linguistics</a:t>
            </a:r>
          </a:p>
          <a:p>
            <a:r>
              <a:rPr lang="en-US" sz="2200" bold="1"/>
              <a:t>Theology</a:t>
            </a:r>
          </a:p>
          <a:p>
            <a:r>
              <a:rPr lang="en-US" sz="2200" bold="1"/>
              <a:t>Computer Science</a:t>
            </a:r>
          </a:p>
          <a:p>
            <a:r>
              <a:rPr lang="en-US" sz="2200" bold="1"/>
              <a:t>Translation Studies</a:t>
            </a:r>
          </a:p>
          <a:p>
            <a:r>
              <a:rPr lang="en-US" sz="2200" bold="1"/>
              <a:t>Supporting:</a:t>
            </a:r>
          </a:p>
        </p:txBody>
      </p:sp>
    </p:spTree>
  </p:cSld>
</p:sld>
</file>

<file path=ppt/slides/slide15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Textual criticism</a:t>
            </a:r>
          </a:p>
        </p:txBody>
      </p:sp>
      <p:sp>
        <p:nvSpPr>
          <p:cNvPr id="3" name="Content"/>
          <p:cNvSpPr/>
          <p:nvPr/>
        </p:nvSpPr>
        <p:spPr>
          <a:xfrm>
            <a:off x="457200" y="1417638"/>
            <a:ext cx="8229600" cy="5000000"/>
          </a:xfrm>
        </p:spPr>
        <p:txBody>
          <a:bodyPr/>
          <a:lstStyle/>
          <a:p>
            <a:r>
              <a:rPr lang="en-US" sz="2200" bold="1"/>
              <a:t>Translation theory</a:t>
            </a:r>
          </a:p>
          <a:p>
            <a:r>
              <a:rPr lang="en-US" sz="2200" bold="1"/>
              <a:t>Historical context</a:t>
            </a:r>
          </a:p>
          <a:p>
            <a:r>
              <a:rPr lang="en-US" sz="2200" bold="1"/>
              <a:t>Exegesis</a:t>
            </a:r>
          </a:p>
          <a:p>
            <a:r>
              <a:rPr lang="en-US" sz="2200" bold="1"/>
              <a:t>John 1:1 in different manuscripts:</a:t>
            </a:r>
          </a:p>
          <a:p>
            <a:r>
              <a:rPr lang="en-US" sz="2200" bold="1"/>
              <a:t>Corpus enables:</a:t>
            </a:r>
          </a:p>
          <a:p>
            <a:r>
              <a:rPr lang="en-US" sz="2200" bold="1"/>
              <a:t>Challenge:</a:t>
            </a:r>
          </a:p>
        </p:txBody>
      </p:sp>
    </p:spTree>
  </p:cSld>
</p:sld>
</file>

<file path=ppt/slides/slide15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Solution:</a:t>
            </a:r>
          </a:p>
        </p:txBody>
      </p:sp>
      <p:sp>
        <p:nvSpPr>
          <p:cNvPr id="3" name="Content"/>
          <p:cNvSpPr/>
          <p:nvPr/>
        </p:nvSpPr>
        <p:spPr>
          <a:xfrm>
            <a:off x="457200" y="1417638"/>
            <a:ext cx="8229600" cy="5000000"/>
          </a:xfrm>
        </p:spPr>
        <p:txBody>
          <a:bodyPr/>
          <a:lstStyle/>
          <a:p>
            <a:r>
              <a:rPr lang="en-US" sz="2200" bold="1"/>
              <a:t>quality control</a:t>
            </a:r>
          </a:p>
          <a:p>
            <a:r>
              <a:rPr lang="en-US" sz="2200" bold="1"/>
              <a:t>verification stages</a:t>
            </a:r>
          </a:p>
          <a:p>
            <a:r>
              <a:rPr lang="en-US" sz="2200" bold="1"/>
              <a:t>philological review</a:t>
            </a:r>
          </a:p>
          <a:p>
            <a:r>
              <a:rPr lang="en-US" sz="2200" bold="1"/>
              <a:t>Documented</a:t>
            </a:r>
          </a:p>
          <a:p>
            <a:r>
              <a:rPr lang="en-US" sz="2200" bold="1"/>
              <a:t>Technical issues:</a:t>
            </a:r>
          </a:p>
          <a:p>
            <a:r>
              <a:rPr lang="en-US" sz="2200" bold="1"/>
              <a:t>Challenge:</a:t>
            </a:r>
          </a:p>
        </p:txBody>
      </p:sp>
    </p:spTree>
  </p:cSld>
</p:sld>
</file>

<file path=ppt/slides/slide16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Solution:</a:t>
            </a:r>
          </a:p>
        </p:txBody>
      </p:sp>
      <p:sp>
        <p:nvSpPr>
          <p:cNvPr id="3" name="Content"/>
          <p:cNvSpPr/>
          <p:nvPr/>
        </p:nvSpPr>
        <p:spPr>
          <a:xfrm>
            <a:off x="457200" y="1417638"/>
            <a:ext cx="8229600" cy="5000000"/>
          </a:xfrm>
        </p:spPr>
        <p:txBody>
          <a:bodyPr/>
          <a:lstStyle/>
          <a:p>
            <a:r>
              <a:rPr lang="en-US" sz="2200" bold="1"/>
              <a:t>NLP tools</a:t>
            </a:r>
          </a:p>
          <a:p>
            <a:r>
              <a:rPr lang="en-US" sz="2200" bold="1"/>
              <a:t>Manual correction</a:t>
            </a:r>
          </a:p>
          <a:p>
            <a:r>
              <a:rPr lang="en-US" sz="2200" bold="1"/>
              <a:t>Community feedback</a:t>
            </a:r>
          </a:p>
          <a:p>
            <a:r>
              <a:rPr lang="en-US" sz="2200" bold="1"/>
              <a:t>Iterative improvement</a:t>
            </a:r>
          </a:p>
          <a:p>
            <a:r>
              <a:rPr lang="en-US" sz="2200" bold="1"/>
              <a:t>Challenge:</a:t>
            </a:r>
          </a:p>
          <a:p>
            <a:r>
              <a:rPr lang="en-US" sz="2200" bold="1"/>
              <a:t>Solution:</a:t>
            </a:r>
          </a:p>
        </p:txBody>
      </p:sp>
    </p:spTree>
  </p:cSld>
</p:sld>
</file>

<file path=ppt/slides/slide16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Phased processing</a:t>
            </a:r>
          </a:p>
        </p:txBody>
      </p:sp>
      <p:sp>
        <p:nvSpPr>
          <p:cNvPr id="3" name="Content"/>
          <p:cNvSpPr/>
          <p:nvPr/>
        </p:nvSpPr>
        <p:spPr>
          <a:xfrm>
            <a:off x="457200" y="1417638"/>
            <a:ext cx="8229600" cy="5000000"/>
          </a:xfrm>
        </p:spPr>
        <p:txBody>
          <a:bodyPr/>
          <a:lstStyle/>
          <a:p>
            <a:r>
              <a:rPr lang="en-US" sz="2200" bold="1"/>
              <a:t>Priority texts</a:t>
            </a:r>
          </a:p>
          <a:p>
            <a:r>
              <a:rPr lang="en-US" sz="2200" bold="1"/>
              <a:t>Modular architecture</a:t>
            </a:r>
          </a:p>
          <a:p>
            <a:r>
              <a:rPr lang="en-US" sz="2200" bold="1"/>
              <a:t>Incremental publication</a:t>
            </a:r>
          </a:p>
          <a:p>
            <a:r>
              <a:rPr lang="en-US" sz="2200" bold="1"/>
              <a:t>Multi-Level Verification:</a:t>
            </a:r>
          </a:p>
          <a:p>
            <a:r>
              <a:rPr lang="en-US" sz="2200" bold="1"/>
              <a:t>consistency checks</a:t>
            </a:r>
          </a:p>
          <a:p>
            <a:r>
              <a:rPr lang="en-US" sz="2200" bold="1"/>
              <a:t>linguistic review</a:t>
            </a:r>
          </a:p>
        </p:txBody>
      </p:sp>
    </p:spTree>
  </p:cSld>
</p:sld>
</file>

<file path=ppt/slides/slide16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Cross-validation</a:t>
            </a:r>
          </a:p>
        </p:txBody>
      </p:sp>
      <p:sp>
        <p:nvSpPr>
          <p:cNvPr id="3" name="Content"/>
          <p:cNvSpPr/>
          <p:nvPr/>
        </p:nvSpPr>
        <p:spPr>
          <a:xfrm>
            <a:off x="457200" y="1417638"/>
            <a:ext cx="8229600" cy="5000000"/>
          </a:xfrm>
        </p:spPr>
        <p:txBody>
          <a:bodyPr/>
          <a:lstStyle/>
          <a:p>
            <a:r>
              <a:rPr lang="en-US" sz="2200" bold="1"/>
              <a:t>User feedback</a:t>
            </a:r>
          </a:p>
          <a:p>
            <a:r>
              <a:rPr lang="en-US" sz="2200" bold="1"/>
              <a:t>Building the User Community:</a:t>
            </a:r>
          </a:p>
          <a:p>
            <a:r>
              <a:rPr lang="en-US" sz="2200" bold="1"/>
              <a:t>Workshops</a:t>
            </a:r>
          </a:p>
          <a:p>
            <a:r>
              <a:rPr lang="en-US" sz="2200" bold="1"/>
              <a:t>User forums</a:t>
            </a:r>
          </a:p>
          <a:p>
            <a:r>
              <a:rPr lang="en-US" sz="2200" bold="1"/>
              <a:t>Documentation</a:t>
            </a:r>
          </a:p>
          <a:p>
            <a:r>
              <a:rPr lang="en-US" sz="2200" bold="1"/>
              <a:t>Publication</a:t>
            </a:r>
          </a:p>
        </p:txBody>
      </p:sp>
    </p:spTree>
  </p:cSld>
</p:sld>
</file>

<file path=ppt/slides/slide16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Making the Research Accessible:</a:t>
            </a:r>
          </a:p>
        </p:txBody>
      </p:sp>
      <p:sp>
        <p:nvSpPr>
          <p:cNvPr id="3" name="Content"/>
          <p:cNvSpPr/>
          <p:nvPr/>
        </p:nvSpPr>
        <p:spPr>
          <a:xfrm>
            <a:off x="457200" y="1417638"/>
            <a:ext cx="8229600" cy="5000000"/>
          </a:xfrm>
        </p:spPr>
        <p:txBody>
          <a:bodyPr/>
          <a:lstStyle/>
          <a:p>
            <a:r>
              <a:rPr lang="en-US" sz="2200" bold="1"/>
              <a:t>Academic publications</a:t>
            </a:r>
          </a:p>
          <a:p>
            <a:r>
              <a:rPr lang="en-US" sz="2200" bold="1"/>
              <a:t>Conference presentations</a:t>
            </a:r>
          </a:p>
          <a:p>
            <a:r>
              <a:rPr lang="en-US" sz="2200" bold="1"/>
              <a:t>Online platform</a:t>
            </a:r>
          </a:p>
          <a:p>
            <a:r>
              <a:rPr lang="en-US" sz="2200" bold="1"/>
              <a:t>Educational materials</a:t>
            </a:r>
          </a:p>
          <a:p>
            <a:r>
              <a:rPr lang="en-US" sz="2200" bold="1"/>
              <a:t>Expected Outputs:</a:t>
            </a:r>
          </a:p>
          <a:p>
            <a:r>
              <a:rPr lang="en-US" sz="2200" bold="1"/>
              <a:t>Volume 1:</a:t>
            </a:r>
          </a:p>
        </p:txBody>
      </p:sp>
    </p:spTree>
  </p:cSld>
</p:sld>
</file>

<file path=ppt/slides/slide16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Volume 2:</a:t>
            </a:r>
          </a:p>
        </p:txBody>
      </p:sp>
      <p:sp>
        <p:nvSpPr>
          <p:cNvPr id="3" name="Content"/>
          <p:cNvSpPr/>
          <p:nvPr/>
        </p:nvSpPr>
        <p:spPr>
          <a:xfrm>
            <a:off x="457200" y="1417638"/>
            <a:ext cx="8229600" cy="5000000"/>
          </a:xfrm>
        </p:spPr>
        <p:txBody>
          <a:bodyPr/>
          <a:lstStyle/>
          <a:p>
            <a:r>
              <a:rPr lang="en-US" sz="2200" bold="1"/>
              <a:t>Volume 3:</a:t>
            </a:r>
          </a:p>
          <a:p>
            <a:r>
              <a:rPr lang="en-US" sz="2200" bold="1"/>
              <a:t>Valency lexicon</a:t>
            </a:r>
          </a:p>
          <a:p>
            <a:r>
              <a:rPr lang="en-US" sz="2200" bold="1"/>
              <a:t>2024-2025 (Current Phase):</a:t>
            </a:r>
          </a:p>
          <a:p>
            <a:r>
              <a:rPr lang="en-US" sz="2200" bold="1"/>
              <a:t>Future Phases:</a:t>
            </a:r>
          </a:p>
          <a:p>
            <a:r>
              <a:rPr lang="en-US" sz="2200" bold="1"/>
              <a:t>Multidisciplinary Team:</a:t>
            </a:r>
          </a:p>
          <a:p>
            <a:r>
              <a:rPr lang="en-US" sz="2200" bold="1"/>
              <a:t>Historical linguists</a:t>
            </a:r>
          </a:p>
        </p:txBody>
      </p:sp>
    </p:spTree>
  </p:cSld>
</p:sld>
</file>

<file path=ppt/slides/slide16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Classical philologists</a:t>
            </a:r>
          </a:p>
        </p:txBody>
      </p:sp>
      <p:sp>
        <p:nvSpPr>
          <p:cNvPr id="3" name="Content"/>
          <p:cNvSpPr/>
          <p:nvPr/>
        </p:nvSpPr>
        <p:spPr>
          <a:xfrm>
            <a:off x="457200" y="1417638"/>
            <a:ext cx="8229600" cy="5000000"/>
          </a:xfrm>
        </p:spPr>
        <p:txBody>
          <a:bodyPr/>
          <a:lstStyle/>
          <a:p>
            <a:r>
              <a:rPr lang="en-US" sz="2200" bold="1"/>
              <a:t>Computational linguists</a:t>
            </a:r>
          </a:p>
          <a:p>
            <a:r>
              <a:rPr lang="en-US" sz="2200" bold="1"/>
              <a:t>Software developers</a:t>
            </a:r>
          </a:p>
          <a:p>
            <a:r>
              <a:rPr lang="en-US" sz="2200" bold="1"/>
              <a:t>Research assistants</a:t>
            </a:r>
          </a:p>
          <a:p>
            <a:r>
              <a:rPr lang="en-US" sz="2200" bold="1"/>
              <a:t>Hellenic Foundation for Research &amp; Innovation (H.F.R.I.):</a:t>
            </a:r>
          </a:p>
          <a:p>
            <a:r>
              <a:rPr lang="en-US" sz="2200" bold="1"/>
              <a:t>ELIDEK Excellence</a:t>
            </a:r>
          </a:p>
          <a:p>
            <a:r>
              <a:rPr lang="en-US" sz="2200" bold="1"/>
              <a:t>2024-2025</a:t>
            </a:r>
          </a:p>
        </p:txBody>
      </p:sp>
    </p:spTree>
  </p:cSld>
</p:sld>
</file>

<file path=ppt/slides/slide16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national grant</a:t>
            </a:r>
          </a:p>
        </p:txBody>
      </p:sp>
      <p:sp>
        <p:nvSpPr>
          <p:cNvPr id="3" name="Content"/>
          <p:cNvSpPr/>
          <p:nvPr/>
        </p:nvSpPr>
        <p:spPr>
          <a:xfrm>
            <a:off x="457200" y="1417638"/>
            <a:ext cx="8229600" cy="5000000"/>
          </a:xfrm>
        </p:spPr>
        <p:txBody>
          <a:bodyPr/>
          <a:lstStyle/>
          <a:p>
            <a:r>
              <a:rPr lang="en-US" sz="2200" bold="1"/>
              <a:t>significance</a:t>
            </a:r>
          </a:p>
          <a:p>
            <a:r>
              <a:rPr lang="en-US" sz="2200" bold="1"/>
              <a:t>Contribution to Field:</a:t>
            </a:r>
          </a:p>
          <a:p>
            <a:r>
              <a:rPr lang="en-US" sz="2200" bold="1"/>
              <a:t>large-scale</a:t>
            </a:r>
          </a:p>
          <a:p>
            <a:r>
              <a:rPr lang="en-US" sz="2200" bold="1"/>
              <a:t>traditional</a:t>
            </a:r>
          </a:p>
          <a:p>
            <a:r>
              <a:rPr lang="en-US" sz="2200" bold="1"/>
              <a:t>digital</a:t>
            </a:r>
          </a:p>
          <a:p>
            <a:r>
              <a:rPr lang="en-US" sz="2200" bold="1"/>
              <a:t>Sustainable</a:t>
            </a:r>
          </a:p>
        </p:txBody>
      </p:sp>
    </p:spTree>
  </p:cSld>
</p:sld>
</file>

<file path=ppt/slides/slide16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Replicable</a:t>
            </a:r>
          </a:p>
        </p:txBody>
      </p:sp>
      <p:sp>
        <p:nvSpPr>
          <p:cNvPr id="3" name="Content"/>
          <p:cNvSpPr/>
          <p:nvPr/>
        </p:nvSpPr>
        <p:spPr>
          <a:xfrm>
            <a:off x="457200" y="1417638"/>
            <a:ext cx="8229600" cy="5000000"/>
          </a:xfrm>
        </p:spPr>
        <p:txBody>
          <a:bodyPr/>
          <a:lstStyle/>
          <a:p>
            <a:r>
              <a:rPr lang="en-US" sz="2200" bold="1"/>
              <a:t>Summary points:</a:t>
            </a:r>
          </a:p>
          <a:p>
            <a:r>
              <a:rPr lang="en-US" sz="2200" bold="1"/>
              <a:t>338 texts</a:t>
            </a:r>
          </a:p>
          <a:p>
            <a:r>
              <a:rPr lang="en-US" sz="2200" bold="1"/>
              <a:t>3000+ years</a:t>
            </a:r>
          </a:p>
          <a:p>
            <a:r>
              <a:rPr lang="en-US" sz="2200" bold="1"/>
              <a:t>Multiple languages</a:t>
            </a:r>
          </a:p>
          <a:p>
            <a:r>
              <a:rPr lang="en-US" sz="2200" bold="1"/>
              <a:t>Philology + Computation</a:t>
            </a:r>
          </a:p>
          <a:p>
            <a:r>
              <a:rPr lang="en-US" sz="2200" bold="1"/>
              <a:t>Valency</a:t>
            </a:r>
          </a:p>
        </p:txBody>
      </p:sp>
    </p:spTree>
  </p:cSld>
</p:sld>
</file>

<file path=ppt/slides/slide16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Open access</a:t>
            </a:r>
          </a:p>
        </p:txBody>
      </p:sp>
      <p:sp>
        <p:nvSpPr>
          <p:cNvPr id="3" name="Content"/>
          <p:cNvSpPr/>
          <p:nvPr/>
        </p:nvSpPr>
        <p:spPr>
          <a:xfrm>
            <a:off x="457200" y="1417638"/>
            <a:ext cx="8229600" cy="5000000"/>
          </a:xfrm>
        </p:spPr>
        <p:txBody>
          <a:bodyPr/>
          <a:lstStyle/>
          <a:p>
            <a:r>
              <a:rPr lang="en-US" sz="2200" bold="1"/>
              <a:t>Why This Matters:</a:t>
            </a:r>
          </a:p>
          <a:p>
            <a:r>
              <a:rPr lang="en-US" sz="2200" bold="1"/>
              <a:t>mechanisms</a:t>
            </a:r>
          </a:p>
          <a:p>
            <a:r>
              <a:rPr lang="en-US" sz="2200" bold="1"/>
              <a:t>long-term</a:t>
            </a:r>
          </a:p>
          <a:p>
            <a:r>
              <a:rPr lang="en-US" sz="2200" bold="1"/>
              <a:t>contact effects</a:t>
            </a:r>
          </a:p>
          <a:p>
            <a:r>
              <a:rPr lang="en-US" sz="2200" bold="1"/>
              <a:t>empirical foundation</a:t>
            </a:r>
          </a:p>
          <a:p>
            <a:r>
              <a:rPr lang="en-US" sz="2200" bold="1"/>
              <a:t>Real-World Uses:</a:t>
            </a:r>
          </a:p>
        </p:txBody>
      </p:sp>
    </p:spTree>
  </p:cSld>
</p:sld>
</file>

<file path=ppt/slides/slide16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Translation technology</a:t>
            </a:r>
          </a:p>
        </p:txBody>
      </p:sp>
      <p:sp>
        <p:nvSpPr>
          <p:cNvPr id="3" name="Content"/>
          <p:cNvSpPr/>
          <p:nvPr/>
        </p:nvSpPr>
        <p:spPr>
          <a:xfrm>
            <a:off x="457200" y="1417638"/>
            <a:ext cx="8229600" cy="5000000"/>
          </a:xfrm>
        </p:spPr>
        <p:txBody>
          <a:bodyPr/>
          <a:lstStyle/>
          <a:p>
            <a:r>
              <a:rPr lang="en-US" sz="2200" bold="1"/>
              <a:t>Language learning</a:t>
            </a:r>
          </a:p>
          <a:p>
            <a:r>
              <a:rPr lang="en-US" sz="2200" bold="1"/>
              <a:t>Cultural heritage</a:t>
            </a:r>
          </a:p>
          <a:p>
            <a:r>
              <a:rPr lang="en-US" sz="2200" bold="1"/>
              <a:t>Digital archive</a:t>
            </a:r>
          </a:p>
          <a:p>
            <a:r>
              <a:rPr lang="en-US" sz="2200" bold="1"/>
              <a:t>Long-Term Goals:</a:t>
            </a:r>
          </a:p>
          <a:p>
            <a:r>
              <a:rPr lang="en-US" sz="2200" bold="1"/>
              <a:t>reference corpus</a:t>
            </a:r>
          </a:p>
          <a:p>
            <a:r>
              <a:rPr lang="en-US" sz="2200" bold="1"/>
              <a:t>more languages</a:t>
            </a:r>
          </a:p>
        </p:txBody>
      </p:sp>
    </p:spTree>
  </p:cSld>
</p:sld>
</file>

<file path=ppt/slides/slide17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advanced computational tools</a:t>
            </a:r>
          </a:p>
        </p:txBody>
      </p:sp>
      <p:sp>
        <p:nvSpPr>
          <p:cNvPr id="3" name="Content"/>
          <p:cNvSpPr/>
          <p:nvPr/>
        </p:nvSpPr>
        <p:spPr>
          <a:xfrm>
            <a:off x="457200" y="1417638"/>
            <a:ext cx="8229600" cy="5000000"/>
          </a:xfrm>
        </p:spPr>
        <p:txBody>
          <a:bodyPr/>
          <a:lstStyle/>
          <a:p>
            <a:r>
              <a:rPr lang="en-US" sz="2200" bold="1"/>
              <a:t>international collaboration</a:t>
            </a:r>
          </a:p>
          <a:p>
            <a:r>
              <a:rPr lang="en-US" sz="2200" bold="1"/>
              <a:t>For Researchers:</a:t>
            </a:r>
          </a:p>
          <a:p>
            <a:r>
              <a:rPr lang="en-US" sz="2200" bold="1"/>
              <a:t>For Students:</a:t>
            </a:r>
          </a:p>
          <a:p>
            <a:r>
              <a:rPr lang="en-US" sz="2200" bold="1"/>
              <a:t>Project Website:</a:t>
            </a:r>
          </a:p>
          <a:p>
            <a:r>
              <a:rPr lang="en-US" sz="2200" bold="1"/>
              <a:t>Principal Investigator:</a:t>
            </a:r>
          </a:p>
          <a:p>
            <a:r>
              <a:rPr lang="en-US" sz="2200" bold="1"/>
              <a:t>Institution:</a:t>
            </a:r>
          </a:p>
        </p:txBody>
      </p:sp>
    </p:spTree>
  </p:cSld>
</p:sld>
</file>

<file path=ppt/slides/slide17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Funding:</a:t>
            </a:r>
          </a:p>
        </p:txBody>
      </p:sp>
      <p:sp>
        <p:nvSpPr>
          <p:cNvPr id="3" name="Content"/>
          <p:cNvSpPr/>
          <p:nvPr/>
        </p:nvSpPr>
        <p:spPr>
          <a:xfrm>
            <a:off x="457200" y="1417638"/>
            <a:ext cx="8229600" cy="5000000"/>
          </a:xfrm>
        </p:spPr>
        <p:txBody>
          <a:bodyPr/>
          <a:lstStyle/>
          <a:p>
            <a:r>
              <a:rPr lang="en-US" sz="2200" bold="1"/>
              <a:t>Questions &amp; Discussion</a:t>
            </a:r>
          </a:p>
          <a:p>
            <a:r>
              <a:rPr lang="en-US" sz="2200" bold="1"/>
              <a:t>Building bridges between past and present, philology and computation</a:t>
            </a:r>
          </a:p>
          <a:p>
            <a:r>
              <a:rPr lang="en-US" sz="1800"/>
              <a:t>This presentation explores Part 2 of our research paper, focusing on how the CVL-CDSAML corpus is structured and how it serves as the foundation for extracting diachronic valency patterns. We will examine the corpus architecture, text selection crite</a:t>
            </a:r>
          </a:p>
          <a:p>
            <a:r>
              <a:rPr lang="en-US" sz="1800"/>
              <a:t>The CVL-CDSAML project represents a novel integration of traditional philological expertise with modern computational linguistics. This corpus contains 338 carefully curated historical texts that enable systematic analysis of how verb valency pattern</a:t>
            </a:r>
          </a:p>
          <a:p>
            <a:r>
              <a:rPr lang="en-US" sz="1800"/>
              <a:t>Diachronic linguistic analysis requires careful consideration of multiple elements:</a:t>
            </a:r>
          </a:p>
          <a:p>
            <a:r>
              <a:rPr lang="en-US" sz="1800"/>
              <a:t>Studying language change over millennia demands rigorous methodology in selecting and preparing texts. The CVL-CDSAML corpus addresses this need by establishing clear criteria for text inclusion and implementing systematic quality control measures. T</a:t>
            </a:r>
          </a:p>
        </p:txBody>
      </p:sp>
    </p:spTree>
  </p:cSld>
</p:sld>
</file>

<file path=ppt/slides/slide17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The CVL-CDSAML (Corpus for Valency Lexicon - Corpus of Diachronic and Synchronic Analyses of Multipl</a:t>
            </a:r>
          </a:p>
        </p:txBody>
      </p:sp>
      <p:sp>
        <p:nvSpPr>
          <p:cNvPr id="3" name="Content"/>
          <p:cNvSpPr/>
          <p:nvPr/>
        </p:nvSpPr>
        <p:spPr>
          <a:xfrm>
            <a:off x="457200" y="1417638"/>
            <a:ext cx="8229600" cy="5000000"/>
          </a:xfrm>
        </p:spPr>
        <p:txBody>
          <a:bodyPr/>
          <a:lstStyle/>
          <a:p>
            <a:r>
              <a:rPr lang="en-US" sz="1800"/>
              <a:t>The corpus allows researchers to analyze:</a:t>
            </a:r>
          </a:p>
          <a:p>
            <a:r>
              <a:rPr lang="en-US" sz="1800"/>
              <a:t>This project is funded through the competitive ELIDEK Excellence program, which supports high-quality research in Greece. The 2024-2025 funding period focuses on completing the core corpus construction and releasing the initial version of the valency</a:t>
            </a:r>
          </a:p>
          <a:p>
            <a:r>
              <a:rPr lang="en-US" sz="1800"/>
              <a:t>The parallel corpus allows direct comparison of translations, revealing how source language structures influence target language valency. The valency lexicon will contain entries for approximately 5,000 predicates (verbs, adjectives, and nouns) with </a:t>
            </a:r>
          </a:p>
          <a:p>
            <a:r>
              <a:rPr lang="en-US" sz="1800"/>
              <a:t>This hierarchical structure allows researchers to query specific periods (e.g., "all Koine texts") or track individual texts across translations (e.g., "Genesis in all Greek periods"). The file naming convention includes language code, period, text t</a:t>
            </a:r>
          </a:p>
          <a:p>
            <a:r>
              <a:rPr lang="en-US" sz="1800"/>
              <a:t>These criteria ensure that included texts have both influenced language use historically and are available in sufficient translations for comparative analysis. For example, the Book of Psalms meets both criteria: it shaped liturgical language across </a:t>
            </a:r>
          </a:p>
          <a:p>
            <a:r>
              <a:rPr lang="en-US" sz="1800"/>
              <a:t>Written language contact occurs when translators transfer structures from source to target languages, creating non-native patterns. The corpus structure captures these effects by aligning parallel texts with metadata indicating translation direction.</a:t>
            </a:r>
          </a:p>
        </p:txBody>
      </p:sp>
    </p:spTree>
  </p:cSld>
</p:sld>
</file>

<file path=ppt/slides/slide17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Each text file includes comprehensive metadata enabling filtering by translation type, date, registe</a:t>
            </a:r>
          </a:p>
        </p:txBody>
      </p:sp>
      <p:sp>
        <p:nvSpPr>
          <p:cNvPr id="3" name="Content"/>
          <p:cNvSpPr/>
          <p:nvPr/>
        </p:nvSpPr>
        <p:spPr>
          <a:xfrm>
            <a:off x="457200" y="1417638"/>
            <a:ext cx="8229600" cy="5000000"/>
          </a:xfrm>
        </p:spPr>
        <p:txBody>
          <a:bodyPr/>
          <a:lstStyle/>
          <a:p>
            <a:r>
              <a:rPr lang="en-US" sz="1800"/>
              <a:t>The CVL-CDSAML corpus examines:</a:t>
            </a:r>
          </a:p>
          <a:p>
            <a:r>
              <a:rPr lang="en-US" sz="1800"/>
              <a:t>The CVL-CDSAML corpus provides:</a:t>
            </a:r>
          </a:p>
          <a:p>
            <a:r>
              <a:rPr lang="en-US" sz="1800"/>
              <a:t>Digitization is the foundation of the entire project: physical texts must be converted to machine-readable format. For printed texts (19th-21st century), we use OCR technology trained on historical fonts; OCR output is manually verified for accuracy </a:t>
            </a:r>
          </a:p>
          <a:p>
            <a:r>
              <a:rPr lang="en-US" sz="1800"/>
              <a:t>Linguistic annotation adds layers of linguistic information to raw text. Tokenization segments text into words, handling clitics and contractions appropriately for each language. Lemmatization links inflected forms to lexicon entries (e.g., ἔδωκεν → </a:t>
            </a:r>
          </a:p>
          <a:p>
            <a:r>
              <a:rPr lang="en-US" sz="1800"/>
              <a:t>Valency extraction is semi-automatic: algorithms identify predicates and their dependents from syntactic parses, then linguists verify and classify the patterns. Each predicate instance is checked for its arguments (subject, objects, complements, adj</a:t>
            </a:r>
          </a:p>
          <a:p>
            <a:r>
              <a:rPr lang="en-US" sz="1800"/>
              <a:t>The valency lexicon is structured as a relational database where each predicate entry links to multiple frames, and each frame links to attested examples from the corpus. The database schema includes tables for predicates, frames, arguments, and atte</a:t>
            </a:r>
          </a:p>
        </p:txBody>
      </p:sp>
    </p:spTree>
  </p:cSld>
</p:sld>
</file>

<file path=ppt/slides/slide17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This relational structure allows efficient querying across time periods, languages, and semantic cla</a:t>
            </a:r>
          </a:p>
        </p:txBody>
      </p:sp>
      <p:sp>
        <p:nvSpPr>
          <p:cNvPr id="3" name="Content"/>
          <p:cNvSpPr/>
          <p:nvPr/>
        </p:nvSpPr>
        <p:spPr>
          <a:xfrm>
            <a:off x="457200" y="1417638"/>
            <a:ext cx="8229600" cy="5000000"/>
          </a:xfrm>
        </p:spPr>
        <p:txBody>
          <a:bodyPr/>
          <a:lstStyle/>
          <a:p>
            <a:r>
              <a:rPr lang="en-US" sz="1800"/>
              <a:t>This JSON structure shows how a single predicate's valency evolves across four historical periods. Notice how the basic ditransitive structure (three arguments) remains constant, but the morphosyntactic realization of the recipient changes from dativ</a:t>
            </a:r>
          </a:p>
          <a:p>
            <a:r>
              <a:rPr lang="en-US" sz="1800"/>
              <a:t>The verb "teach" shows the typical pattern of Greek complementation change: infinitival complements (Frame 2 in Koine) are increasingly replaced by finite subordinate clauses in Byzantine Greek. The lexicon tracks these changes with corpus counts sho</a:t>
            </a:r>
          </a:p>
          <a:p>
            <a:r>
              <a:rPr lang="en-US" sz="1800"/>
              <a:t>This comparative view reveals that Greek, Latin, and English all share similar valency patterns for "teach" but differ in their diachronic trajectories. Greek loses the double accusative early and shifts to finite clauses; English retains the double </a:t>
            </a:r>
          </a:p>
          <a:p>
            <a:r>
              <a:rPr lang="en-US" sz="1800"/>
              <a:t>Cognition verbs like "to know" exhibit remarkable cross-linguistic stability in their valency: they take either a direct object (thing known) or a clausal complement (propositional knowledge). The lexicon documents how this semantic distinction maps </a:t>
            </a:r>
          </a:p>
          <a:p>
            <a:r>
              <a:rPr lang="en-US" sz="1800"/>
              <a:t>These statistics represent the completed first phase of the project. The 10 million tokens are distributed across languages with Greek contributing ~4.5 million (largest due to spanning 3000 years), English ~2.5 million, Latin ~2 million, and French </a:t>
            </a:r>
          </a:p>
          <a:p>
            <a:r>
              <a:rPr lang="en-US" sz="1800"/>
              <a:t>This breakdown shows how corpus resources are allocated. Greek has the most texts and tokens because it spans the longest period and includes multiple diachronic stages. The distribution ensures adequate representation of each major period for robust</a:t>
            </a:r>
          </a:p>
        </p:txBody>
      </p:sp>
    </p:spTree>
  </p:cSld>
</p:sld>
</file>

<file path=ppt/slides/slide17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The infrastructure is designed for scalability and interoperability. Python scripts handle text clea</a:t>
            </a:r>
          </a:p>
        </p:txBody>
      </p:sp>
      <p:sp>
        <p:nvSpPr>
          <p:cNvPr id="3" name="Content"/>
          <p:cNvSpPr/>
          <p:nvPr/>
        </p:nvSpPr>
        <p:spPr>
          <a:xfrm>
            <a:off x="457200" y="1417638"/>
            <a:ext cx="8229600" cy="5000000"/>
          </a:xfrm>
        </p:spPr>
        <p:txBody>
          <a:bodyPr/>
          <a:lstStyle/>
          <a:p>
            <a:r>
              <a:rPr lang="en-US" sz="1800"/>
              <a:t>The corpus enables systematic tracking of major syntactic changes across centuries. For instance, researchers can query all valency frames containing dative case in Greek and plot their decline from 95% frequency in Classical texts to less than 5% in</a:t>
            </a:r>
          </a:p>
          <a:p>
            <a:r>
              <a:rPr lang="en-US" sz="1800"/>
              <a:t>Phase 2 will add approximately 150 more texts, bringing the total to nearly 500 texts and 15+ million tokens. Church Slavonic is particularly valuable for comparative purposes, as it represents another Indo-European branch with rich case morphology. </a:t>
            </a:r>
          </a:p>
          <a:p>
            <a:r>
              <a:rPr lang="en-US" sz="1800"/>
              <a:t>Historical texts present numerous quality challenges: variant readings in manuscripts, editorial choices in critical editions, OCR errors in digitization. We address these through systematic quality control: every text undergoes automated consistency</a:t>
            </a:r>
          </a:p>
          <a:p>
            <a:pPr lvl="0"/>
            <a:r>
              <a:rPr lang="en-US" sz="2000"/>
              <a:t>• What is the main architectural framework?</a:t>
            </a:r>
          </a:p>
          <a:p>
            <a:pPr lvl="0"/>
            <a:r>
              <a:rPr lang="en-US" sz="2000"/>
              <a:t>• How does it support linguistic research?</a:t>
            </a:r>
          </a:p>
          <a:p>
            <a:pPr lvl="0"/>
            <a:r>
              <a:rPr lang="en-US" sz="2000"/>
              <a:t>• What makes this approach unique?</a:t>
            </a:r>
          </a:p>
        </p:txBody>
      </p:sp>
    </p:spTree>
  </p:cSld>
</p:sld>
</file>

<file path=ppt/slides/slide17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What challenges do historical linguists face?</a:t>
            </a:r>
          </a:p>
        </p:txBody>
      </p:sp>
      <p:sp>
        <p:nvSpPr>
          <p:cNvPr id="3" name="Content"/>
          <p:cNvSpPr/>
          <p:nvPr/>
        </p:nvSpPr>
        <p:spPr>
          <a:xfrm>
            <a:off x="457200" y="1417638"/>
            <a:ext cx="8229600" cy="5000000"/>
          </a:xfrm>
        </p:spPr>
        <p:txBody>
          <a:bodyPr/>
          <a:lstStyle/>
          <a:p>
            <a:pPr lvl="0"/>
            <a:r>
              <a:rPr lang="en-US" sz="2000"/>
              <a:t>• How does text quality affect research outcomes?</a:t>
            </a:r>
          </a:p>
          <a:p>
            <a:pPr lvl="0"/>
            <a:r>
              <a:rPr lang="en-US" sz="2000"/>
              <a:t>• What factors must be controlled?</a:t>
            </a:r>
          </a:p>
          <a:p>
            <a:pPr lvl="0"/>
            <a:r>
              <a:rPr lang="en-US" sz="2000"/>
              <a:t>• What does CVL-CDSAML stand for?</a:t>
            </a:r>
          </a:p>
          <a:p>
            <a:pPr lvl="0"/>
            <a:r>
              <a:rPr lang="en-US" sz="2000"/>
              <a:t>• How many texts does it contain?</a:t>
            </a:r>
          </a:p>
          <a:p>
            <a:pPr lvl="0"/>
            <a:r>
              <a:rPr lang="en-US" sz="2000"/>
              <a:t>• What time period does it cover?</a:t>
            </a:r>
          </a:p>
          <a:p>
            <a:pPr lvl="0"/>
            <a:r>
              <a:rPr lang="en-US" sz="2000"/>
              <a:t>• Internal vs. external language development</a:t>
            </a:r>
          </a:p>
        </p:txBody>
      </p:sp>
    </p:spTree>
  </p:cSld>
</p:sld>
</file>

<file path=ppt/slides/slide17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Genre and register effects</a:t>
            </a:r>
          </a:p>
        </p:txBody>
      </p:sp>
      <p:sp>
        <p:nvSpPr>
          <p:cNvPr id="3" name="Content"/>
          <p:cNvSpPr/>
          <p:nvPr/>
        </p:nvSpPr>
        <p:spPr>
          <a:xfrm>
            <a:off x="457200" y="1417638"/>
            <a:ext cx="8229600" cy="5000000"/>
          </a:xfrm>
        </p:spPr>
        <p:txBody>
          <a:bodyPr/>
          <a:lstStyle/>
          <a:p>
            <a:pPr lvl="0"/>
            <a:r>
              <a:rPr lang="en-US" sz="2000"/>
              <a:t>• Historical transmission problems</a:t>
            </a:r>
          </a:p>
          <a:p>
            <a:pPr lvl="0"/>
            <a:r>
              <a:rPr lang="en-US" sz="2000"/>
              <a:t>• Which foundation supports the project?</a:t>
            </a:r>
          </a:p>
          <a:p>
            <a:pPr lvl="0"/>
            <a:r>
              <a:rPr lang="en-US" sz="2000"/>
              <a:t>• What is the funding period?</a:t>
            </a:r>
          </a:p>
          <a:p>
            <a:pPr lvl="0"/>
            <a:r>
              <a:rPr lang="en-US" sz="2000"/>
              <a:t>• What makes this project competitive?</a:t>
            </a:r>
          </a:p>
          <a:p>
            <a:pPr lvl="0"/>
            <a:r>
              <a:rPr lang="en-US" sz="2000"/>
              <a:t>• What kind of corpus will be produced?</a:t>
            </a:r>
          </a:p>
          <a:p>
            <a:pPr lvl="0"/>
            <a:r>
              <a:rPr lang="en-US" sz="2000"/>
              <a:t>• What kind of lexicon will be created?</a:t>
            </a:r>
          </a:p>
        </p:txBody>
      </p:sp>
    </p:spTree>
  </p:cSld>
</p:sld>
</file>

<file path=ppt/slides/slide17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How do these tools work together?</a:t>
            </a:r>
          </a:p>
        </p:txBody>
      </p:sp>
      <p:sp>
        <p:nvSpPr>
          <p:cNvPr id="3" name="Content"/>
          <p:cNvSpPr/>
          <p:nvPr/>
        </p:nvSpPr>
        <p:spPr>
          <a:xfrm>
            <a:off x="457200" y="1417638"/>
            <a:ext cx="8229600" cy="5000000"/>
          </a:xfrm>
        </p:spPr>
        <p:txBody>
          <a:bodyPr/>
          <a:lstStyle/>
          <a:p>
            <a:pPr lvl="0"/>
            <a:r>
              <a:rPr lang="en-US" sz="2000"/>
              <a:t>• Bible texts across multiple languages and time periods</a:t>
            </a:r>
          </a:p>
          <a:p>
            <a:pPr lvl="0"/>
            <a:r>
              <a:rPr lang="en-US" sz="2000"/>
              <a:t>• Other significant historical texts</a:t>
            </a:r>
          </a:p>
          <a:p>
            <a:pPr lvl="0"/>
            <a:r>
              <a:rPr lang="en-US" sz="2000"/>
              <a:t>• Extracted systematically from the corpus</a:t>
            </a:r>
          </a:p>
          <a:p>
            <a:pPr lvl="0"/>
            <a:r>
              <a:rPr lang="en-US" sz="2000"/>
              <a:t>• Tracks valency patterns across time</a:t>
            </a:r>
          </a:p>
          <a:p>
            <a:pPr lvl="0"/>
            <a:r>
              <a:rPr lang="en-US" sz="2000"/>
              <a:t>• How many texts total?</a:t>
            </a:r>
          </a:p>
          <a:p>
            <a:pPr lvl="0"/>
            <a:r>
              <a:rPr lang="en-US" sz="2000"/>
              <a:t>• How many years of history?</a:t>
            </a:r>
          </a:p>
        </p:txBody>
      </p:sp>
    </p:spTree>
  </p:cSld>
</p:sld>
</file>

<file path=ppt/slides/slide17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How is it structured hierarchically?</a:t>
            </a:r>
          </a:p>
        </p:txBody>
      </p:sp>
      <p:sp>
        <p:nvSpPr>
          <p:cNvPr id="3" name="Content"/>
          <p:cNvSpPr/>
          <p:nvPr/>
        </p:nvSpPr>
        <p:spPr>
          <a:xfrm>
            <a:off x="457200" y="1417638"/>
            <a:ext cx="8229600" cy="5000000"/>
          </a:xfrm>
        </p:spPr>
        <p:txBody>
          <a:bodyPr/>
          <a:lstStyle/>
          <a:p>
            <a:pPr lvl="0"/>
            <a:r>
              <a:rPr lang="en-US" sz="2000"/>
              <a:t>• How are files organized?</a:t>
            </a:r>
          </a:p>
          <a:p>
            <a:pPr lvl="0"/>
            <a:r>
              <a:rPr lang="en-US" sz="2000"/>
              <a:t>• What naming conventions are used?</a:t>
            </a:r>
          </a:p>
          <a:p>
            <a:pPr lvl="0"/>
            <a:r>
              <a:rPr lang="en-US" sz="2000"/>
              <a:t>• How does this enable efficient querying?</a:t>
            </a:r>
          </a:p>
          <a:p>
            <a:pPr lvl="0"/>
            <a:r>
              <a:rPr lang="en-US" sz="2000"/>
              <a:t>• What defines cultural significance?</a:t>
            </a:r>
          </a:p>
          <a:p>
            <a:pPr lvl="0"/>
            <a:r>
              <a:rPr lang="en-US" sz="2000"/>
              <a:t>• Why is translation availability important?</a:t>
            </a:r>
          </a:p>
          <a:p>
            <a:pPr lvl="0"/>
            <a:r>
              <a:rPr lang="en-US" sz="2000"/>
              <a:t>• How do these criteria work together?</a:t>
            </a:r>
          </a:p>
        </p:txBody>
      </p:sp>
    </p:spTree>
  </p:cSld>
</p:sld>
</file>

<file path=ppt/slides/slide18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What is written language contact?</a:t>
            </a:r>
          </a:p>
        </p:txBody>
      </p:sp>
      <p:sp>
        <p:nvSpPr>
          <p:cNvPr id="3" name="Content"/>
          <p:cNvSpPr/>
          <p:nvPr/>
        </p:nvSpPr>
        <p:spPr>
          <a:xfrm>
            <a:off x="457200" y="1417638"/>
            <a:ext cx="8229600" cy="5000000"/>
          </a:xfrm>
        </p:spPr>
        <p:txBody>
          <a:bodyPr/>
          <a:lstStyle/>
          <a:p>
            <a:pPr lvl="0"/>
            <a:r>
              <a:rPr lang="en-US" sz="2000"/>
              <a:t>• How do translations create contact?</a:t>
            </a:r>
          </a:p>
          <a:p>
            <a:pPr lvl="0"/>
            <a:r>
              <a:rPr lang="en-US" sz="2000"/>
              <a:t>• What types of contact can we study?</a:t>
            </a:r>
          </a:p>
          <a:p>
            <a:pPr lvl="0"/>
            <a:r>
              <a:rPr lang="en-US" sz="2000"/>
              <a:t>• What information is tracked?</a:t>
            </a:r>
          </a:p>
          <a:p>
            <a:pPr lvl="0"/>
            <a:r>
              <a:rPr lang="en-US" sz="2000"/>
              <a:t>• How is translation direction encoded?</a:t>
            </a:r>
          </a:p>
          <a:p>
            <a:pPr lvl="0"/>
            <a:r>
              <a:rPr lang="en-US" sz="2000"/>
              <a:t>• Why is this metadata crucial?</a:t>
            </a:r>
          </a:p>
          <a:p>
            <a:pPr lvl="0"/>
            <a:r>
              <a:rPr lang="en-US" sz="2000"/>
              <a:t>• How are they defined?</a:t>
            </a:r>
          </a:p>
        </p:txBody>
      </p:sp>
    </p:spTree>
  </p:cSld>
</p:sld>
</file>

<file path=ppt/slides/slide18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What types exist?</a:t>
            </a:r>
          </a:p>
        </p:txBody>
      </p:sp>
      <p:sp>
        <p:nvSpPr>
          <p:cNvPr id="3" name="Content"/>
          <p:cNvSpPr/>
          <p:nvPr/>
        </p:nvSpPr>
        <p:spPr>
          <a:xfrm>
            <a:off x="457200" y="1417638"/>
            <a:ext cx="8229600" cy="5000000"/>
          </a:xfrm>
        </p:spPr>
        <p:txBody>
          <a:bodyPr/>
          <a:lstStyle/>
          <a:p>
            <a:pPr lvl="0"/>
            <a:r>
              <a:rPr lang="en-US" sz="2000"/>
              <a:t>• How are they encoded in the corpus?</a:t>
            </a:r>
          </a:p>
          <a:p>
            <a:pPr lvl="0"/>
            <a:r>
              <a:rPr lang="en-US" sz="2000"/>
              <a:t>• The Septuagint (c. 150 BCE) became no longer intelligible to modern speakers</a:t>
            </a:r>
          </a:p>
          <a:p>
            <a:pPr lvl="0"/>
            <a:r>
              <a:rPr lang="en-US" sz="2000"/>
              <a:t>• This necessitated new translation work for contemporary audiences</a:t>
            </a:r>
          </a:p>
          <a:p>
            <a:pPr lvl="0"/>
            <a:r>
              <a:rPr lang="en-US" sz="2000"/>
              <a:t>• Protestant versions</a:t>
            </a:r>
          </a:p>
          <a:p>
            <a:pPr lvl="0"/>
            <a:r>
              <a:rPr lang="en-US" sz="2000"/>
              <a:t>• Catholic versions</a:t>
            </a:r>
          </a:p>
          <a:p>
            <a:pPr lvl="0"/>
            <a:r>
              <a:rPr lang="en-US" sz="2000"/>
              <a:t>• Each reflecting different theological and doctrinal preferences</a:t>
            </a:r>
          </a:p>
        </p:txBody>
      </p:sp>
    </p:spTree>
  </p:cSld>
</p:sld>
</file>

<file path=ppt/slides/slide18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Greek (across all historical periods)</a:t>
            </a:r>
          </a:p>
        </p:txBody>
      </p:sp>
      <p:sp>
        <p:nvSpPr>
          <p:cNvPr id="3" name="Content"/>
          <p:cNvSpPr/>
          <p:nvPr/>
        </p:nvSpPr>
        <p:spPr>
          <a:xfrm>
            <a:off x="457200" y="1417638"/>
            <a:ext cx="8229600" cy="5000000"/>
          </a:xfrm>
        </p:spPr>
        <p:txBody>
          <a:bodyPr/>
          <a:lstStyle/>
          <a:p>
            <a:pPr lvl="0"/>
            <a:r>
              <a:rPr lang="en-US" sz="2000"/>
              <a:t>• English (various historical stages)</a:t>
            </a:r>
          </a:p>
          <a:p>
            <a:pPr lvl="0"/>
            <a:r>
              <a:rPr lang="en-US" sz="2000"/>
              <a:t>• Latin</a:t>
            </a:r>
          </a:p>
          <a:p>
            <a:pPr lvl="0"/>
            <a:r>
              <a:rPr lang="en-US" sz="2000"/>
              <a:t>• French</a:t>
            </a:r>
          </a:p>
          <a:p>
            <a:pPr lvl="0"/>
            <a:r>
              <a:rPr lang="en-US" sz="2000"/>
              <a:t>• Source language influences</a:t>
            </a:r>
          </a:p>
          <a:p>
            <a:pPr lvl="0"/>
            <a:r>
              <a:rPr lang="en-US" sz="2000"/>
              <a:t>• Unique characteristics of translations</a:t>
            </a:r>
          </a:p>
          <a:p>
            <a:pPr lvl="0"/>
            <a:r>
              <a:rPr lang="en-US" sz="2000"/>
              <a:t>• "Translationese" phenomena</a:t>
            </a:r>
          </a:p>
        </p:txBody>
      </p:sp>
    </p:spTree>
  </p:cSld>
</p:sld>
</file>

<file path=ppt/slides/slide18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Expert text selection</a:t>
            </a:r>
          </a:p>
        </p:txBody>
      </p:sp>
      <p:sp>
        <p:nvSpPr>
          <p:cNvPr id="3" name="Content"/>
          <p:cNvSpPr/>
          <p:nvPr/>
        </p:nvSpPr>
        <p:spPr>
          <a:xfrm>
            <a:off x="457200" y="1417638"/>
            <a:ext cx="8229600" cy="5000000"/>
          </a:xfrm>
        </p:spPr>
        <p:txBody>
          <a:bodyPr/>
          <a:lstStyle/>
          <a:p>
            <a:pPr lvl="0"/>
            <a:r>
              <a:rPr lang="en-US" sz="2000"/>
              <a:t>• Critical edition standards</a:t>
            </a:r>
          </a:p>
          <a:p>
            <a:pPr lvl="0"/>
            <a:r>
              <a:rPr lang="en-US" sz="2000"/>
              <a:t>• Historical authenticity</a:t>
            </a:r>
          </a:p>
          <a:p>
            <a:pPr lvl="0"/>
            <a:r>
              <a:rPr lang="en-US" sz="2000"/>
              <a:t>• Systematic analysis</a:t>
            </a:r>
          </a:p>
          <a:p>
            <a:pPr lvl="0"/>
            <a:r>
              <a:rPr lang="en-US" sz="2000"/>
              <a:t>• Large-scale pattern detection</a:t>
            </a:r>
          </a:p>
          <a:p>
            <a:pPr lvl="0"/>
            <a:r>
              <a:rPr lang="en-US" sz="2000"/>
              <a:t>• Reproducible results</a:t>
            </a:r>
          </a:p>
          <a:p>
            <a:pPr lvl="0"/>
            <a:r>
              <a:rPr lang="en-US" sz="2000"/>
              <a:t>• Transition period between Classical and Medieval Greek</a:t>
            </a:r>
          </a:p>
        </p:txBody>
      </p:sp>
    </p:spTree>
  </p:cSld>
</p:sld>
</file>

<file path=ppt/slides/slide18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Translated in Alexandria, Egypt (3rd-2nd century BCE)</a:t>
            </a:r>
          </a:p>
        </p:txBody>
      </p:sp>
      <p:sp>
        <p:nvSpPr>
          <p:cNvPr id="3" name="Content"/>
          <p:cNvSpPr/>
          <p:nvPr/>
        </p:nvSpPr>
        <p:spPr>
          <a:xfrm>
            <a:off x="457200" y="1417638"/>
            <a:ext cx="8229600" cy="5000000"/>
          </a:xfrm>
        </p:spPr>
        <p:txBody>
          <a:bodyPr/>
          <a:lstStyle/>
          <a:p>
            <a:pPr lvl="0"/>
            <a:r>
              <a:rPr lang="en-US" sz="2000"/>
              <a:t>• Hebrew Bible → Koine Greek</a:t>
            </a:r>
          </a:p>
          <a:p>
            <a:pPr lvl="0"/>
            <a:r>
              <a:rPr lang="en-US" sz="2000"/>
              <a:t>• Major cultural and linguistic bridge</a:t>
            </a:r>
          </a:p>
          <a:p>
            <a:pPr lvl="0"/>
            <a:r>
              <a:rPr lang="en-US" sz="2000"/>
              <a:t>• Translation strategies and techniques</a:t>
            </a:r>
          </a:p>
          <a:p>
            <a:pPr lvl="0"/>
            <a:r>
              <a:rPr lang="en-US" sz="2000"/>
              <a:t>• Lexical and syntactic innovations</a:t>
            </a:r>
          </a:p>
          <a:p>
            <a:pPr lvl="0"/>
            <a:r>
              <a:rPr lang="en-US" sz="2000"/>
              <a:t>• Word-for-word translation approach</a:t>
            </a:r>
          </a:p>
          <a:p>
            <a:pPr lvl="0"/>
            <a:r>
              <a:rPr lang="en-US" sz="2000"/>
              <a:t>• Preservation of Hebrew syntax patterns</a:t>
            </a:r>
          </a:p>
        </p:txBody>
      </p:sp>
    </p:spTree>
  </p:cSld>
</p:sld>
</file>

<file path=ppt/slides/slide18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Creation of new Greek semantic extensions</a:t>
            </a:r>
          </a:p>
        </p:txBody>
      </p:sp>
      <p:sp>
        <p:nvSpPr>
          <p:cNvPr id="3" name="Content"/>
          <p:cNvSpPr/>
          <p:nvPr/>
        </p:nvSpPr>
        <p:spPr>
          <a:xfrm>
            <a:off x="457200" y="1417638"/>
            <a:ext cx="8229600" cy="5000000"/>
          </a:xfrm>
        </p:spPr>
        <p:txBody>
          <a:bodyPr/>
          <a:lstStyle/>
          <a:p>
            <a:pPr lvl="0"/>
            <a:r>
              <a:rPr lang="en-US" sz="2000"/>
              <a:t>• Vernacular Koine grammar</a:t>
            </a:r>
          </a:p>
          <a:p>
            <a:pPr lvl="0"/>
            <a:r>
              <a:rPr lang="en-US" sz="2000"/>
              <a:t>• Semitic influences from bilingual authors</a:t>
            </a:r>
          </a:p>
          <a:p>
            <a:pPr lvl="0"/>
            <a:r>
              <a:rPr lang="en-US" sz="2000"/>
              <a:t>• Range from "sophisticated" to "simple" Greek</a:t>
            </a:r>
          </a:p>
          <a:p>
            <a:pPr lvl="0"/>
            <a:r>
              <a:rPr lang="en-US" sz="2000"/>
              <a:t>• Classical influences</a:t>
            </a:r>
          </a:p>
          <a:p>
            <a:pPr lvl="0"/>
            <a:r>
              <a:rPr lang="en-US" sz="2000"/>
              <a:t>• Sophisticated vocabulary</a:t>
            </a:r>
          </a:p>
          <a:p>
            <a:pPr lvl="0"/>
            <a:r>
              <a:rPr lang="en-US" sz="2000"/>
              <a:t>• Simpler syntax</a:t>
            </a:r>
          </a:p>
        </p:txBody>
      </p:sp>
    </p:spTree>
  </p:cSld>
</p:sld>
</file>

<file path=ppt/slides/slide18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Oral narrative features</a:t>
            </a:r>
          </a:p>
        </p:txBody>
      </p:sp>
      <p:sp>
        <p:nvSpPr>
          <p:cNvPr id="3" name="Content"/>
          <p:cNvSpPr/>
          <p:nvPr/>
        </p:nvSpPr>
        <p:spPr>
          <a:xfrm>
            <a:off x="457200" y="1417638"/>
            <a:ext cx="8229600" cy="5000000"/>
          </a:xfrm>
        </p:spPr>
        <p:txBody>
          <a:bodyPr/>
          <a:lstStyle/>
          <a:p>
            <a:pPr lvl="0"/>
            <a:r>
              <a:rPr lang="en-US" sz="2000"/>
              <a:t>• Modern translations of ancient texts</a:t>
            </a:r>
          </a:p>
          <a:p>
            <a:pPr lvl="0"/>
            <a:r>
              <a:rPr lang="en-US" sz="2000"/>
              <a:t>• Completion of the synthetic→analytic shift</a:t>
            </a:r>
          </a:p>
          <a:p>
            <a:pPr lvl="0"/>
            <a:r>
              <a:rPr lang="en-US" sz="2000"/>
              <a:t>• Standardization processes</a:t>
            </a:r>
          </a:p>
          <a:p>
            <a:pPr lvl="0"/>
            <a:r>
              <a:rPr lang="en-US" sz="2000"/>
              <a:t>• Contemporary translation practices</a:t>
            </a:r>
          </a:p>
          <a:p>
            <a:pPr lvl="0"/>
            <a:r>
              <a:rPr lang="en-US" sz="2000"/>
              <a:t>• Medieval Latin texts</a:t>
            </a:r>
          </a:p>
          <a:p>
            <a:pPr lvl="0"/>
            <a:r>
              <a:rPr lang="en-US" sz="2000"/>
              <a:t>• Original Latin works for comparison</a:t>
            </a:r>
          </a:p>
        </p:txBody>
      </p:sp>
    </p:spTree>
  </p:cSld>
</p:sld>
</file>

<file path=ppt/slides/slide18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Source language for Romance translations</a:t>
            </a:r>
          </a:p>
        </p:txBody>
      </p:sp>
      <p:sp>
        <p:nvSpPr>
          <p:cNvPr id="3" name="Content"/>
          <p:cNvSpPr/>
          <p:nvPr/>
        </p:nvSpPr>
        <p:spPr>
          <a:xfrm>
            <a:off x="457200" y="1417638"/>
            <a:ext cx="8229600" cy="5000000"/>
          </a:xfrm>
        </p:spPr>
        <p:txBody>
          <a:bodyPr/>
          <a:lstStyle/>
          <a:p>
            <a:pPr lvl="0"/>
            <a:r>
              <a:rPr lang="en-US" sz="2000"/>
              <a:t>• Direct influence on ecclesiastical Greek</a:t>
            </a:r>
          </a:p>
          <a:p>
            <a:pPr lvl="0"/>
            <a:r>
              <a:rPr lang="en-US" sz="2000"/>
              <a:t>• Control for translation directionality</a:t>
            </a:r>
          </a:p>
          <a:p>
            <a:pPr lvl="0"/>
            <a:r>
              <a:rPr lang="en-US" sz="2000"/>
              <a:t>• French: "Que la lumière soit"</a:t>
            </a:r>
          </a:p>
          <a:p>
            <a:pPr lvl="0"/>
            <a:r>
              <a:rPr lang="en-US" sz="2000"/>
              <a:t>• Italian: "Sia la luce"</a:t>
            </a:r>
          </a:p>
          <a:p>
            <a:pPr lvl="0"/>
            <a:r>
              <a:rPr lang="en-US" sz="2000"/>
              <a:t>• Spanish: "Hágase la luz"</a:t>
            </a:r>
          </a:p>
          <a:p>
            <a:pPr lvl="0"/>
            <a:r>
              <a:rPr lang="en-US" sz="2000"/>
              <a:t>• How did French develop its analytical structures?</a:t>
            </a:r>
          </a:p>
        </p:txBody>
      </p:sp>
    </p:spTree>
  </p:cSld>
</p:sld>
</file>

<file path=ppt/slides/slide18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What role did Latin play in French syntax?</a:t>
            </a:r>
          </a:p>
        </p:txBody>
      </p:sp>
      <p:sp>
        <p:nvSpPr>
          <p:cNvPr id="3" name="Content"/>
          <p:cNvSpPr/>
          <p:nvPr/>
        </p:nvSpPr>
        <p:spPr>
          <a:xfrm>
            <a:off x="457200" y="1417638"/>
            <a:ext cx="8229600" cy="5000000"/>
          </a:xfrm>
        </p:spPr>
        <p:txBody>
          <a:bodyPr/>
          <a:lstStyle/>
          <a:p>
            <a:pPr lvl="0"/>
            <a:r>
              <a:rPr lang="en-US" sz="2000"/>
              <a:t>• OCR for printed sources (Tesseract with language-specific training)</a:t>
            </a:r>
          </a:p>
          <a:p>
            <a:pPr lvl="0"/>
            <a:r>
              <a:rPr lang="en-US" sz="2000"/>
              <a:t>• Manual transcription for manuscripts (paleographic expertise)</a:t>
            </a:r>
          </a:p>
          <a:p>
            <a:pPr lvl="0"/>
            <a:r>
              <a:rPr lang="en-US" sz="2000"/>
              <a:t>• Quality verification (double-checking, error correction)</a:t>
            </a:r>
          </a:p>
          <a:p>
            <a:pPr lvl="0"/>
            <a:r>
              <a:rPr lang="en-US" sz="2000"/>
              <a:t>• How are printed texts digitized?</a:t>
            </a:r>
          </a:p>
          <a:p>
            <a:pPr lvl="0"/>
            <a:r>
              <a:rPr lang="en-US" sz="2000"/>
              <a:t>• How are manuscripts transcribed?</a:t>
            </a:r>
          </a:p>
          <a:p>
            <a:pPr lvl="0"/>
            <a:r>
              <a:rPr lang="en-US" sz="2000"/>
              <a:t>• What quality control measures are in place?</a:t>
            </a:r>
          </a:p>
        </p:txBody>
      </p:sp>
    </p:spTree>
  </p:cSld>
</p:sld>
</file>

<file path=ppt/slides/slide18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How are words segmented?</a:t>
            </a:r>
          </a:p>
        </p:txBody>
      </p:sp>
      <p:sp>
        <p:nvSpPr>
          <p:cNvPr id="3" name="Content"/>
          <p:cNvSpPr/>
          <p:nvPr/>
        </p:nvSpPr>
        <p:spPr>
          <a:xfrm>
            <a:off x="457200" y="1417638"/>
            <a:ext cx="8229600" cy="5000000"/>
          </a:xfrm>
        </p:spPr>
        <p:txBody>
          <a:bodyPr/>
          <a:lstStyle/>
          <a:p>
            <a:pPr lvl="0"/>
            <a:r>
              <a:rPr lang="en-US" sz="2000"/>
              <a:t>• How are lemmas identified?</a:t>
            </a:r>
          </a:p>
          <a:p>
            <a:pPr lvl="0"/>
            <a:r>
              <a:rPr lang="en-US" sz="2000"/>
              <a:t>• How is morphology tagged?</a:t>
            </a:r>
          </a:p>
          <a:p>
            <a:pPr lvl="0"/>
            <a:r>
              <a:rPr lang="en-US" sz="2000"/>
              <a:t>• Identify predicates (verbs, adjectives, nouns requiring arguments)</a:t>
            </a:r>
          </a:p>
          <a:p>
            <a:pPr lvl="0"/>
            <a:r>
              <a:rPr lang="en-US" sz="2000"/>
              <a:t>• Track changes across time periods (compare frames diachronically)</a:t>
            </a:r>
          </a:p>
          <a:p>
            <a:pPr lvl="0"/>
            <a:r>
              <a:rPr lang="en-US" sz="2000"/>
              <a:t>• SUBJ (nominative) + OBJ1 (accusative) + OBJ2 (dative)</a:t>
            </a:r>
          </a:p>
          <a:p>
            <a:pPr lvl="0"/>
            <a:r>
              <a:rPr lang="en-US" sz="2000"/>
              <a:t>• SUBJ + OBJ1 + prepositional phrase (σε + accusative)</a:t>
            </a:r>
          </a:p>
        </p:txBody>
      </p:sp>
    </p:spTree>
  </p:cSld>
</p:sld>
</file>

<file path=ppt/slides/slide19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What information does each entry contain?</a:t>
            </a:r>
          </a:p>
        </p:txBody>
      </p:sp>
      <p:sp>
        <p:nvSpPr>
          <p:cNvPr id="3" name="Content"/>
          <p:cNvSpPr/>
          <p:nvPr/>
        </p:nvSpPr>
        <p:spPr>
          <a:xfrm>
            <a:off x="457200" y="1417638"/>
            <a:ext cx="8229600" cy="5000000"/>
          </a:xfrm>
        </p:spPr>
        <p:txBody>
          <a:bodyPr/>
          <a:lstStyle/>
          <a:p>
            <a:pPr lvl="0"/>
            <a:r>
              <a:rPr lang="en-US" sz="2000"/>
              <a:t>• How are frames linked to examples?</a:t>
            </a:r>
          </a:p>
          <a:p>
            <a:pPr lvl="0"/>
            <a:r>
              <a:rPr lang="en-US" sz="2000"/>
              <a:t>• What enables complex queries?</a:t>
            </a:r>
          </a:p>
          <a:p>
            <a:pPr lvl="0"/>
            <a:r>
              <a:rPr lang="en-US" sz="2000"/>
              <a:t>• Lemma (base form)</a:t>
            </a:r>
          </a:p>
          <a:p>
            <a:pPr lvl="0"/>
            <a:r>
              <a:rPr lang="en-US" sz="2000"/>
              <a:t>• Time period</a:t>
            </a:r>
          </a:p>
          <a:p>
            <a:pPr lvl="0"/>
            <a:r>
              <a:rPr lang="en-US" sz="2000"/>
              <a:t>• Source text</a:t>
            </a:r>
          </a:p>
          <a:p>
            <a:pPr lvl="0"/>
            <a:r>
              <a:rPr lang="en-US" sz="2000"/>
              <a:t>• Valency frame(s)</a:t>
            </a:r>
          </a:p>
        </p:txBody>
      </p:sp>
    </p:spTree>
  </p:cSld>
</p:sld>
</file>

<file path=ppt/slides/slide19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Example sentences</a:t>
            </a:r>
          </a:p>
        </p:txBody>
      </p:sp>
      <p:sp>
        <p:nvSpPr>
          <p:cNvPr id="3" name="Content"/>
          <p:cNvSpPr/>
          <p:nvPr/>
        </p:nvSpPr>
        <p:spPr>
          <a:xfrm>
            <a:off x="457200" y="1417638"/>
            <a:ext cx="8229600" cy="5000000"/>
          </a:xfrm>
        </p:spPr>
        <p:txBody>
          <a:bodyPr/>
          <a:lstStyle/>
          <a:p>
            <a:pPr lvl="0"/>
            <a:r>
              <a:rPr lang="en-US" sz="2000"/>
              <a:t>• Frequency data</a:t>
            </a:r>
          </a:p>
          <a:p>
            <a:pPr lvl="0"/>
            <a:r>
              <a:rPr lang="en-US" sz="2000"/>
              <a:t>• What tables exist?</a:t>
            </a:r>
          </a:p>
          <a:p>
            <a:pPr lvl="0"/>
            <a:r>
              <a:rPr lang="en-US" sz="2000"/>
              <a:t>• How are they related?</a:t>
            </a:r>
          </a:p>
          <a:p>
            <a:pPr lvl="0"/>
            <a:r>
              <a:rPr lang="en-US" sz="2000"/>
              <a:t>• What queries are possible?</a:t>
            </a:r>
          </a:p>
          <a:p>
            <a:pPr lvl="0"/>
            <a:r>
              <a:rPr lang="en-US" sz="2000"/>
              <a:t>• What does a full JSON entry look like?</a:t>
            </a:r>
          </a:p>
          <a:p>
            <a:pPr lvl="0"/>
            <a:r>
              <a:rPr lang="en-US" sz="2000"/>
              <a:t>• How is diachronic change represented?</a:t>
            </a:r>
          </a:p>
        </p:txBody>
      </p:sp>
    </p:spTree>
  </p:cSld>
</p:sld>
</file>

<file path=ppt/slides/slide19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What frequency data is included?</a:t>
            </a:r>
          </a:p>
        </p:txBody>
      </p:sp>
      <p:sp>
        <p:nvSpPr>
          <p:cNvPr id="3" name="Content"/>
          <p:cNvSpPr/>
          <p:nvPr/>
        </p:nvSpPr>
        <p:spPr>
          <a:xfrm>
            <a:off x="457200" y="1417638"/>
            <a:ext cx="8229600" cy="5000000"/>
          </a:xfrm>
        </p:spPr>
        <p:txBody>
          <a:bodyPr/>
          <a:lstStyle/>
          <a:p>
            <a:pPr lvl="0"/>
            <a:r>
              <a:rPr lang="en-US" sz="2000"/>
              <a:t>• What patterns are universal?</a:t>
            </a:r>
          </a:p>
          <a:p>
            <a:pPr lvl="0"/>
            <a:r>
              <a:rPr lang="en-US" sz="2000"/>
              <a:t>• What patterns are language-specific?</a:t>
            </a:r>
          </a:p>
          <a:p>
            <a:pPr lvl="0"/>
            <a:r>
              <a:rPr lang="en-US" sz="2000"/>
              <a:t>• How do diachronic paths differ?</a:t>
            </a:r>
          </a:p>
          <a:p>
            <a:pPr lvl="0"/>
            <a:r>
              <a:rPr lang="en-US" sz="2000"/>
              <a:t>• Koine: + ACC / + ὅτι-clause</a:t>
            </a:r>
          </a:p>
          <a:p>
            <a:pPr lvl="0"/>
            <a:r>
              <a:rPr lang="en-US" sz="2000"/>
              <a:t>• ACC / + quod-clause</a:t>
            </a:r>
          </a:p>
          <a:p>
            <a:pPr lvl="0"/>
            <a:r>
              <a:rPr lang="en-US" sz="2000"/>
              <a:t>• NP / + that-clause</a:t>
            </a:r>
          </a:p>
        </p:txBody>
      </p:sp>
    </p:spTree>
  </p:cSld>
</p:sld>
</file>

<file path=ppt/slides/slide19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Creates non-native valency frames</a:t>
            </a:r>
          </a:p>
        </p:txBody>
      </p:sp>
      <p:sp>
        <p:nvSpPr>
          <p:cNvPr id="3" name="Content"/>
          <p:cNvSpPr/>
          <p:nvPr/>
        </p:nvSpPr>
        <p:spPr>
          <a:xfrm>
            <a:off x="457200" y="1417638"/>
            <a:ext cx="8229600" cy="5000000"/>
          </a:xfrm>
        </p:spPr>
        <p:txBody>
          <a:bodyPr/>
          <a:lstStyle/>
          <a:p>
            <a:pPr lvl="0"/>
            <a:r>
              <a:rPr lang="en-US" sz="2000"/>
              <a:t>• Rich verb valency</a:t>
            </a:r>
          </a:p>
          <a:p>
            <a:pPr lvl="0"/>
            <a:r>
              <a:rPr lang="en-US" sz="2000"/>
              <a:t>• Temporal constructions</a:t>
            </a:r>
          </a:p>
          <a:p>
            <a:pPr lvl="0"/>
            <a:r>
              <a:rPr lang="en-US" sz="2000"/>
              <a:t>• Complex nominal valency</a:t>
            </a:r>
          </a:p>
          <a:p>
            <a:pPr lvl="0"/>
            <a:r>
              <a:rPr lang="en-US" sz="2000"/>
              <a:t>• Conditional structures</a:t>
            </a:r>
          </a:p>
          <a:p>
            <a:pPr lvl="0"/>
            <a:r>
              <a:rPr lang="en-US" sz="2000"/>
              <a:t>• Non-standard valency</a:t>
            </a:r>
          </a:p>
          <a:p>
            <a:pPr lvl="0"/>
            <a:r>
              <a:rPr lang="en-US" sz="2000"/>
              <a:t>• Artistic license</a:t>
            </a:r>
          </a:p>
        </p:txBody>
      </p:sp>
    </p:spTree>
  </p:cSld>
</p:sld>
</file>

<file path=ppt/slides/slide19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Complex sentence structures</a:t>
            </a:r>
          </a:p>
        </p:txBody>
      </p:sp>
      <p:sp>
        <p:nvSpPr>
          <p:cNvPr id="3" name="Content"/>
          <p:cNvSpPr/>
          <p:nvPr/>
        </p:nvSpPr>
        <p:spPr>
          <a:xfrm>
            <a:off x="457200" y="1417638"/>
            <a:ext cx="8229600" cy="5000000"/>
          </a:xfrm>
        </p:spPr>
        <p:txBody>
          <a:bodyPr/>
          <a:lstStyle/>
          <a:p>
            <a:pPr lvl="0"/>
            <a:r>
              <a:rPr lang="en-US" sz="2000"/>
              <a:t>• Elaborate participial constructions</a:t>
            </a:r>
          </a:p>
          <a:p>
            <a:pPr lvl="0"/>
            <a:r>
              <a:rPr lang="en-US" sz="2000"/>
              <a:t>• Rich use of complementation</a:t>
            </a:r>
          </a:p>
          <a:p>
            <a:pPr lvl="0"/>
            <a:r>
              <a:rPr lang="en-US" sz="2000"/>
              <a:t>• Simpler syntax</a:t>
            </a:r>
          </a:p>
          <a:p>
            <a:pPr lvl="0"/>
            <a:r>
              <a:rPr lang="en-US" sz="2000"/>
              <a:t>• Direct argumentation</a:t>
            </a:r>
          </a:p>
          <a:p>
            <a:pPr lvl="0"/>
            <a:r>
              <a:rPr lang="en-US" sz="2000"/>
              <a:t>• Limited subordination</a:t>
            </a:r>
          </a:p>
          <a:p>
            <a:pPr lvl="0"/>
            <a:r>
              <a:rPr lang="en-US" sz="2000"/>
              <a:t>• How many total tokens?</a:t>
            </a:r>
          </a:p>
        </p:txBody>
      </p:sp>
    </p:spTree>
  </p:cSld>
</p:sld>
</file>

<file path=ppt/slides/slide19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How many predicates analyzed?</a:t>
            </a:r>
          </a:p>
        </p:txBody>
      </p:sp>
      <p:sp>
        <p:nvSpPr>
          <p:cNvPr id="3" name="Content"/>
          <p:cNvSpPr/>
          <p:nvPr/>
        </p:nvSpPr>
        <p:spPr>
          <a:xfrm>
            <a:off x="457200" y="1417638"/>
            <a:ext cx="8229600" cy="5000000"/>
          </a:xfrm>
        </p:spPr>
        <p:txBody>
          <a:bodyPr/>
          <a:lstStyle/>
          <a:p>
            <a:pPr lvl="0"/>
            <a:r>
              <a:rPr lang="en-US" sz="2000"/>
              <a:t>• How many valency frames documented?</a:t>
            </a:r>
          </a:p>
          <a:p>
            <a:pPr lvl="0"/>
            <a:r>
              <a:rPr lang="en-US" sz="2000"/>
              <a:t>• Which language has the most tokens?</a:t>
            </a:r>
          </a:p>
          <a:p>
            <a:pPr lvl="0"/>
            <a:r>
              <a:rPr lang="en-US" sz="2000"/>
              <a:t>• How are periods represented?</a:t>
            </a:r>
          </a:p>
          <a:p>
            <a:pPr lvl="0"/>
            <a:r>
              <a:rPr lang="en-US" sz="2000"/>
              <a:t>• Why these specific allocations?</a:t>
            </a:r>
          </a:p>
          <a:p>
            <a:pPr lvl="0"/>
            <a:r>
              <a:rPr lang="en-US" sz="2000"/>
              <a:t>• What programming languages are used?</a:t>
            </a:r>
          </a:p>
          <a:p>
            <a:pPr lvl="0"/>
            <a:r>
              <a:rPr lang="en-US" sz="2000"/>
              <a:t>• What encoding standards?</a:t>
            </a:r>
          </a:p>
        </p:txBody>
      </p:sp>
    </p:spTree>
  </p:cSld>
</p:sld>
</file>

<file path=ppt/slides/slide19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How is data accessed?</a:t>
            </a:r>
          </a:p>
        </p:txBody>
      </p:sp>
      <p:sp>
        <p:nvSpPr>
          <p:cNvPr id="3" name="Content"/>
          <p:cNvSpPr/>
          <p:nvPr/>
        </p:nvSpPr>
        <p:spPr>
          <a:xfrm>
            <a:off x="457200" y="1417638"/>
            <a:ext cx="8229600" cy="5000000"/>
          </a:xfrm>
        </p:spPr>
        <p:txBody>
          <a:bodyPr/>
          <a:lstStyle/>
          <a:p>
            <a:pPr lvl="0"/>
            <a:r>
              <a:rPr lang="en-US" sz="2000"/>
              <a:t>• How are sentences structured?</a:t>
            </a:r>
          </a:p>
          <a:p>
            <a:pPr lvl="0"/>
            <a:r>
              <a:rPr lang="en-US" sz="2000"/>
              <a:t>• What annotations are on each word?</a:t>
            </a:r>
          </a:p>
          <a:p>
            <a:pPr lvl="0"/>
            <a:r>
              <a:rPr lang="en-US" sz="2000"/>
              <a:t>• Why use TEI standard?</a:t>
            </a:r>
          </a:p>
          <a:p>
            <a:pPr lvl="0"/>
            <a:r>
              <a:rPr lang="en-US" sz="2000"/>
              <a:t>• Standardized format (TEI P5 guidelines)</a:t>
            </a:r>
          </a:p>
          <a:p>
            <a:pPr lvl="0"/>
            <a:r>
              <a:rPr lang="en-US" sz="2000"/>
              <a:t>• Machine-readable (XML parsers)</a:t>
            </a:r>
          </a:p>
          <a:p>
            <a:pPr lvl="0"/>
            <a:r>
              <a:rPr lang="en-US" sz="2000"/>
              <a:t>• Human-readable (with proper tools)</a:t>
            </a:r>
          </a:p>
        </p:txBody>
      </p:sp>
    </p:spTree>
  </p:cSld>
</p:sld>
</file>

<file path=ppt/slides/slide19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Interoperable (compatible with other TEI corpora)</a:t>
            </a:r>
          </a:p>
        </p:txBody>
      </p:sp>
      <p:sp>
        <p:nvSpPr>
          <p:cNvPr id="3" name="Content"/>
          <p:cNvSpPr/>
          <p:nvPr/>
        </p:nvSpPr>
        <p:spPr>
          <a:xfrm>
            <a:off x="457200" y="1417638"/>
            <a:ext cx="8229600" cy="5000000"/>
          </a:xfrm>
        </p:spPr>
        <p:txBody>
          <a:bodyPr/>
          <a:lstStyle/>
          <a:p>
            <a:pPr lvl="0"/>
            <a:r>
              <a:rPr lang="en-US" sz="2000"/>
              <a:t>• Preserves linguistic annotations at word level</a:t>
            </a:r>
          </a:p>
          <a:p>
            <a:pPr lvl="0"/>
            <a:r>
              <a:rPr lang="en-US" sz="2000"/>
              <a:t>• What types of borrowing occur?</a:t>
            </a:r>
          </a:p>
          <a:p>
            <a:pPr lvl="0"/>
            <a:r>
              <a:rPr lang="en-US" sz="2000"/>
              <a:t>• How is calquing identified?</a:t>
            </a:r>
          </a:p>
          <a:p>
            <a:pPr lvl="0"/>
            <a:r>
              <a:rPr lang="en-US" sz="2000"/>
              <a:t>• What convergence patterns emerge?</a:t>
            </a:r>
          </a:p>
          <a:p>
            <a:pPr lvl="0"/>
            <a:r>
              <a:rPr lang="en-US" sz="2000"/>
              <a:t>• How does register vary across time?</a:t>
            </a:r>
          </a:p>
          <a:p>
            <a:pPr lvl="0"/>
            <a:r>
              <a:rPr lang="en-US" sz="2000"/>
              <a:t>• What standardization processes occur?</a:t>
            </a:r>
          </a:p>
        </p:txBody>
      </p:sp>
    </p:spTree>
  </p:cSld>
</p:sld>
</file>

<file path=ppt/slides/slide19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How do translation norms change?</a:t>
            </a:r>
          </a:p>
        </p:txBody>
      </p:sp>
      <p:sp>
        <p:nvSpPr>
          <p:cNvPr id="3" name="Content"/>
          <p:cNvSpPr/>
          <p:nvPr/>
        </p:nvSpPr>
        <p:spPr>
          <a:xfrm>
            <a:off x="457200" y="1417638"/>
            <a:ext cx="8229600" cy="5000000"/>
          </a:xfrm>
        </p:spPr>
        <p:txBody>
          <a:bodyPr/>
          <a:lstStyle/>
          <a:p>
            <a:pPr lvl="0"/>
            <a:r>
              <a:rPr lang="en-US" sz="2000"/>
              <a:t>• What new languages?</a:t>
            </a:r>
          </a:p>
          <a:p>
            <a:pPr lvl="0"/>
            <a:r>
              <a:rPr lang="en-US" sz="2000"/>
              <a:t>• How many more texts?</a:t>
            </a:r>
          </a:p>
          <a:p>
            <a:pPr lvl="0"/>
            <a:r>
              <a:rPr lang="en-US" sz="2000"/>
              <a:t>• What new capabilities?</a:t>
            </a:r>
          </a:p>
          <a:p>
            <a:pPr lvl="0"/>
            <a:r>
              <a:rPr lang="en-US" sz="2000"/>
              <a:t>• What machine learning applications?</a:t>
            </a:r>
          </a:p>
          <a:p>
            <a:pPr lvl="0"/>
            <a:r>
              <a:rPr lang="en-US" sz="2000"/>
              <a:t>• What visualization tools?</a:t>
            </a:r>
          </a:p>
          <a:p>
            <a:pPr lvl="0"/>
            <a:r>
              <a:rPr lang="en-US" sz="2000"/>
              <a:t>• What new analysis modules?</a:t>
            </a:r>
          </a:p>
        </p:txBody>
      </p:sp>
    </p:spTree>
  </p:cSld>
</p:sld>
</file>

<file path=ppt/slides/slide19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How does it combine disciplines?</a:t>
            </a:r>
          </a:p>
        </p:txBody>
      </p:sp>
      <p:sp>
        <p:nvSpPr>
          <p:cNvPr id="3" name="Content"/>
          <p:cNvSpPr/>
          <p:nvPr/>
        </p:nvSpPr>
        <p:spPr>
          <a:xfrm>
            <a:off x="457200" y="1417638"/>
            <a:ext cx="8229600" cy="5000000"/>
          </a:xfrm>
        </p:spPr>
        <p:txBody>
          <a:bodyPr/>
          <a:lstStyle/>
          <a:p>
            <a:pPr lvl="0"/>
            <a:r>
              <a:rPr lang="en-US" sz="2000"/>
              <a:t>• What new approaches does it introduce?</a:t>
            </a:r>
          </a:p>
          <a:p>
            <a:pPr lvl="0"/>
            <a:r>
              <a:rPr lang="en-US" sz="2000"/>
              <a:t>• How is it different from previous work?</a:t>
            </a:r>
          </a:p>
          <a:p>
            <a:pPr lvl="0"/>
            <a:r>
              <a:rPr lang="en-US" sz="2000"/>
              <a:t>• Which theories does it inform?</a:t>
            </a:r>
          </a:p>
          <a:p>
            <a:pPr lvl="0"/>
            <a:r>
              <a:rPr lang="en-US" sz="2000"/>
              <a:t>• What models does it improve?</a:t>
            </a:r>
          </a:p>
          <a:p>
            <a:pPr lvl="0"/>
            <a:r>
              <a:rPr lang="en-US" sz="2000"/>
              <a:t>• What new perspectives does it offer?</a:t>
            </a:r>
          </a:p>
          <a:p>
            <a:pPr lvl="0"/>
            <a:r>
              <a:rPr lang="en-US" sz="2000"/>
              <a:t>• Extract causative verbs from CVL-CDSAML</a:t>
            </a:r>
          </a:p>
        </p:txBody>
      </p:sp>
    </p:spTree>
  </p:cSld>
</p:sld>
</file>

<file path=ppt/slides/slide20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Analyze valency patterns across periods</a:t>
            </a:r>
          </a:p>
        </p:txBody>
      </p:sp>
      <p:sp>
        <p:nvSpPr>
          <p:cNvPr id="3" name="Content"/>
          <p:cNvSpPr/>
          <p:nvPr/>
        </p:nvSpPr>
        <p:spPr>
          <a:xfrm>
            <a:off x="457200" y="1417638"/>
            <a:ext cx="8229600" cy="5000000"/>
          </a:xfrm>
        </p:spPr>
        <p:txBody>
          <a:bodyPr/>
          <a:lstStyle/>
          <a:p>
            <a:pPr lvl="0"/>
            <a:r>
              <a:rPr lang="en-US" sz="2000"/>
              <a:t>• Compare with Latin and English</a:t>
            </a:r>
          </a:p>
          <a:p>
            <a:pPr lvl="0"/>
            <a:r>
              <a:rPr lang="en-US" sz="2000"/>
              <a:t>• Identify contact effects</a:t>
            </a:r>
          </a:p>
          <a:p>
            <a:pPr lvl="0"/>
            <a:r>
              <a:rPr lang="en-US" sz="2000"/>
              <a:t>• Variations in word order</a:t>
            </a:r>
          </a:p>
          <a:p>
            <a:pPr lvl="0"/>
            <a:r>
              <a:rPr lang="en-US" sz="2000"/>
              <a:t>• Different particle usage</a:t>
            </a:r>
          </a:p>
          <a:p>
            <a:pPr lvl="0"/>
            <a:r>
              <a:rPr lang="en-US" sz="2000"/>
              <a:t>• Valency implications</a:t>
            </a:r>
          </a:p>
          <a:p>
            <a:pPr lvl="0"/>
            <a:r>
              <a:rPr lang="en-US" sz="2000"/>
              <a:t>• How to process ancient languages?</a:t>
            </a:r>
          </a:p>
        </p:txBody>
      </p:sp>
    </p:spTree>
  </p:cSld>
</p:sld>
</file>

<file path=ppt/slides/slide20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How to ensure annotation quality?</a:t>
            </a:r>
          </a:p>
        </p:txBody>
      </p:sp>
      <p:sp>
        <p:nvSpPr>
          <p:cNvPr id="3" name="Content"/>
          <p:cNvSpPr/>
          <p:nvPr/>
        </p:nvSpPr>
        <p:spPr>
          <a:xfrm>
            <a:off x="457200" y="1417638"/>
            <a:ext cx="8229600" cy="5000000"/>
          </a:xfrm>
        </p:spPr>
        <p:txBody>
          <a:bodyPr/>
          <a:lstStyle/>
          <a:p>
            <a:pPr lvl="0"/>
            <a:r>
              <a:rPr lang="en-US" sz="2000"/>
              <a:t>• How to iterate and improve?</a:t>
            </a:r>
          </a:p>
          <a:p>
            <a:pPr lvl="0"/>
            <a:r>
              <a:rPr lang="en-US" sz="2000"/>
              <a:t>• Complete core text processing</a:t>
            </a:r>
          </a:p>
          <a:p>
            <a:pPr lvl="0"/>
            <a:r>
              <a:rPr lang="en-US" sz="2000"/>
              <a:t>• Initial valency lexicon release</a:t>
            </a:r>
          </a:p>
          <a:p>
            <a:pPr lvl="0"/>
            <a:r>
              <a:rPr lang="en-US" sz="2000"/>
              <a:t>• Publication of research findings</a:t>
            </a:r>
          </a:p>
          <a:p>
            <a:pPr lvl="0"/>
            <a:r>
              <a:rPr lang="en-US" sz="2000"/>
              <a:t>• Platform beta launch</a:t>
            </a:r>
          </a:p>
          <a:p>
            <a:pPr lvl="0"/>
            <a:r>
              <a:rPr lang="en-US" sz="2000"/>
              <a:t>• Corpus expansion</a:t>
            </a:r>
          </a:p>
        </p:txBody>
      </p:sp>
    </p:spTree>
  </p:cSld>
</p:sld>
</file>

<file path=ppt/slides/slide20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Enhanced computational tools</a:t>
            </a:r>
          </a:p>
        </p:txBody>
      </p:sp>
      <p:sp>
        <p:nvSpPr>
          <p:cNvPr id="3" name="Content"/>
          <p:cNvSpPr/>
          <p:nvPr/>
        </p:nvSpPr>
        <p:spPr>
          <a:xfrm>
            <a:off x="457200" y="1417638"/>
            <a:ext cx="8229600" cy="5000000"/>
          </a:xfrm>
        </p:spPr>
        <p:txBody>
          <a:bodyPr/>
          <a:lstStyle/>
          <a:p>
            <a:pPr lvl="0"/>
            <a:r>
              <a:rPr lang="en-US" sz="2000"/>
              <a:t>• Broader community engagement</a:t>
            </a:r>
          </a:p>
          <a:p>
            <a:pPr lvl="0"/>
            <a:r>
              <a:rPr lang="en-US" sz="2000"/>
              <a:t>• What is the scope?</a:t>
            </a:r>
          </a:p>
          <a:p>
            <a:pPr lvl="0"/>
            <a:r>
              <a:rPr lang="en-US" sz="2000"/>
              <a:t>• What is the methodology?</a:t>
            </a:r>
          </a:p>
          <a:p>
            <a:pPr lvl="0"/>
            <a:r>
              <a:rPr lang="en-US" sz="2000"/>
              <a:t>• What is the significance?</a:t>
            </a:r>
          </a:p>
          <a:p>
            <a:pPr lvl="0"/>
            <a:r>
              <a:rPr lang="en-US" sz="2000"/>
              <a:t>• Access the corpus (upon release)</a:t>
            </a:r>
          </a:p>
          <a:p>
            <a:pPr lvl="0"/>
            <a:r>
              <a:rPr lang="en-US" sz="2000"/>
              <a:t>• Contribute annotations</a:t>
            </a:r>
          </a:p>
        </p:txBody>
      </p:sp>
    </p:spTree>
  </p:cSld>
</p:sld>
</file>

<file path=ppt/slides/slide203.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Propose collaborative projects</a:t>
            </a:r>
          </a:p>
        </p:txBody>
      </p:sp>
      <p:sp>
        <p:nvSpPr>
          <p:cNvPr id="3" name="Content"/>
          <p:cNvSpPr/>
          <p:nvPr/>
        </p:nvSpPr>
        <p:spPr>
          <a:xfrm>
            <a:off x="457200" y="1417638"/>
            <a:ext cx="8229600" cy="5000000"/>
          </a:xfrm>
        </p:spPr>
        <p:txBody>
          <a:bodyPr/>
          <a:lstStyle/>
          <a:p>
            <a:pPr lvl="0"/>
            <a:r>
              <a:rPr lang="en-US" sz="2000"/>
              <a:t>• Cite and build upon the work</a:t>
            </a:r>
          </a:p>
          <a:p>
            <a:pPr lvl="0"/>
            <a:r>
              <a:rPr lang="en-US" sz="2000"/>
              <a:t>• Use for thesis research</a:t>
            </a:r>
          </a:p>
          <a:p>
            <a:pPr lvl="0"/>
            <a:r>
              <a:rPr lang="en-US" sz="2000"/>
              <a:t>• Participate in training workshops</a:t>
            </a:r>
          </a:p>
          <a:p>
            <a:pPr lvl="0"/>
            <a:r>
              <a:rPr lang="en-US" sz="2000"/>
              <a:t>• Explore teaching materials</a:t>
            </a:r>
          </a:p>
          <a:p>
            <a:r>
              <a:rPr lang="en-US" sz="1800"/>
              <a:t>"GRK-KOINE-LXX-GEN"</a:t>
            </a:r>
          </a:p>
          <a:p>
            <a:r>
              <a:rPr lang="en-US" sz="1800"/>
              <a:t>source_lang</a:t>
            </a:r>
          </a:p>
        </p:txBody>
      </p:sp>
    </p:spTree>
  </p:cSld>
</p:sld>
</file>

<file path=ppt/slides/slide204.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translation_type</a:t>
            </a:r>
          </a:p>
        </p:txBody>
      </p:sp>
      <p:sp>
        <p:nvSpPr>
          <p:cNvPr id="3" name="Content"/>
          <p:cNvSpPr/>
          <p:nvPr/>
        </p:nvSpPr>
        <p:spPr>
          <a:xfrm>
            <a:off x="457200" y="1417638"/>
            <a:ext cx="8229600" cy="5000000"/>
          </a:xfrm>
        </p:spPr>
        <p:txBody>
          <a:bodyPr/>
          <a:lstStyle/>
          <a:p>
            <a:r>
              <a:rPr lang="en-US" sz="1800"/>
              <a:t>"religious-narrative"</a:t>
            </a:r>
          </a:p>
          <a:p>
            <a:r>
              <a:rPr lang="en-US" sz="1800"/>
              <a:t>translator</a:t>
            </a:r>
          </a:p>
          <a:p>
            <a:r>
              <a:rPr lang="en-US" sz="1800"/>
              <a:t>translator</a:t>
            </a:r>
          </a:p>
          <a:p>
            <a:r>
              <a:rPr lang="en-US" sz="1800"/>
              <a:t>source_text</a:t>
            </a:r>
          </a:p>
          <a:p>
            <a:r>
              <a:rPr lang="en-US" sz="1800"/>
              <a:t>source_text</a:t>
            </a:r>
          </a:p>
          <a:p>
            <a:r>
              <a:rPr lang="en-US" sz="1800"/>
              <a:t>CREATE TABLE</a:t>
            </a:r>
          </a:p>
        </p:txBody>
      </p:sp>
    </p:spTree>
  </p:cSld>
</p:sld>
</file>

<file path=ppt/slides/slide205.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PRIMARY KEY</a:t>
            </a:r>
          </a:p>
        </p:txBody>
      </p:sp>
      <p:sp>
        <p:nvSpPr>
          <p:cNvPr id="3" name="Content"/>
          <p:cNvSpPr/>
          <p:nvPr/>
        </p:nvSpPr>
        <p:spPr>
          <a:xfrm>
            <a:off x="457200" y="1417638"/>
            <a:ext cx="8229600" cy="5000000"/>
          </a:xfrm>
        </p:spPr>
        <p:txBody>
          <a:bodyPr/>
          <a:lstStyle/>
          <a:p>
            <a:r>
              <a:rPr lang="en-US" sz="1800"/>
              <a:t>CREATE TABLE</a:t>
            </a:r>
          </a:p>
          <a:p>
            <a:r>
              <a:rPr lang="en-US" sz="1800"/>
              <a:t>PRIMARY KEY</a:t>
            </a:r>
          </a:p>
          <a:p>
            <a:r>
              <a:rPr lang="en-US" sz="1800"/>
              <a:t>FOREIGN KEY</a:t>
            </a:r>
          </a:p>
          <a:p>
            <a:r>
              <a:rPr lang="en-US" sz="1800"/>
              <a:t>REFERENCES</a:t>
            </a:r>
          </a:p>
          <a:p>
            <a:r>
              <a:rPr lang="en-US" sz="1800"/>
              <a:t>CREATE TABLE</a:t>
            </a:r>
          </a:p>
          <a:p>
            <a:r>
              <a:rPr lang="en-US" sz="1800"/>
              <a:t>PRIMARY KEY</a:t>
            </a:r>
          </a:p>
        </p:txBody>
      </p:sp>
    </p:spTree>
  </p:cSld>
</p:sld>
</file>

<file path=ppt/slides/slide206.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FOREIGN KEY</a:t>
            </a:r>
          </a:p>
        </p:txBody>
      </p:sp>
      <p:sp>
        <p:nvSpPr>
          <p:cNvPr id="3" name="Content"/>
          <p:cNvSpPr/>
          <p:nvPr/>
        </p:nvSpPr>
        <p:spPr>
          <a:xfrm>
            <a:off x="457200" y="1417638"/>
            <a:ext cx="8229600" cy="5000000"/>
          </a:xfrm>
        </p:spPr>
        <p:txBody>
          <a:bodyPr/>
          <a:lstStyle/>
          <a:p>
            <a:r>
              <a:rPr lang="en-US" sz="1800"/>
              <a:t>REFERENCES</a:t>
            </a:r>
          </a:p>
          <a:p>
            <a:r>
              <a:rPr lang="en-US" sz="1800"/>
              <a:t>"predicate"</a:t>
            </a:r>
          </a:p>
          <a:p>
            <a:r>
              <a:rPr lang="en-US" sz="1800"/>
              <a:t>"to give"</a:t>
            </a:r>
          </a:p>
          <a:p>
            <a:r>
              <a:rPr lang="en-US" sz="1800"/>
              <a:t>"language"</a:t>
            </a:r>
          </a:p>
          <a:p>
            <a:r>
              <a:rPr lang="en-US" sz="1800"/>
              <a:t>"semantic_class"</a:t>
            </a:r>
          </a:p>
          <a:p>
            <a:r>
              <a:rPr lang="en-US" sz="1800"/>
              <a:t>"transfer"</a:t>
            </a:r>
          </a:p>
        </p:txBody>
      </p:sp>
    </p:spTree>
  </p:cSld>
</p:sld>
</file>

<file path=ppt/slides/slide207.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"classical"</a:t>
            </a:r>
          </a:p>
        </p:txBody>
      </p:sp>
      <p:sp>
        <p:nvSpPr>
          <p:cNvPr id="3" name="Content"/>
          <p:cNvSpPr/>
          <p:nvPr/>
        </p:nvSpPr>
        <p:spPr>
          <a:xfrm>
            <a:off x="457200" y="1417638"/>
            <a:ext cx="8229600" cy="5000000"/>
          </a:xfrm>
        </p:spPr>
        <p:txBody>
          <a:bodyPr/>
          <a:lstStyle/>
          <a:p>
            <a:r>
              <a:rPr lang="en-US" sz="1800"/>
              <a:t>"frame_id"</a:t>
            </a:r>
          </a:p>
          <a:p>
            <a:r>
              <a:rPr lang="en-US" sz="1800"/>
              <a:t>"DIDOMI_CL_01"</a:t>
            </a:r>
          </a:p>
          <a:p>
            <a:r>
              <a:rPr lang="en-US" sz="1800"/>
              <a:t>"structure"</a:t>
            </a:r>
          </a:p>
          <a:p>
            <a:r>
              <a:rPr lang="en-US" sz="1800"/>
              <a:t>"NOM + ACC + DAT"</a:t>
            </a:r>
          </a:p>
          <a:p>
            <a:r>
              <a:rPr lang="en-US" sz="1800"/>
              <a:t>"description"</a:t>
            </a:r>
          </a:p>
          <a:p>
            <a:r>
              <a:rPr lang="en-US" sz="1800"/>
              <a:t>"Subject gives Object1 to Recipient"</a:t>
            </a:r>
          </a:p>
        </p:txBody>
      </p:sp>
    </p:spTree>
  </p:cSld>
</p:sld>
</file>

<file path=ppt/slides/slide208.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"frequency"</a:t>
            </a:r>
          </a:p>
        </p:txBody>
      </p:sp>
      <p:sp>
        <p:nvSpPr>
          <p:cNvPr id="3" name="Content"/>
          <p:cNvSpPr/>
          <p:nvPr/>
        </p:nvSpPr>
        <p:spPr>
          <a:xfrm>
            <a:off x="457200" y="1417638"/>
            <a:ext cx="8229600" cy="5000000"/>
          </a:xfrm>
        </p:spPr>
        <p:txBody>
          <a:bodyPr/>
          <a:lstStyle/>
          <a:p>
            <a:r>
              <a:rPr lang="en-US" sz="1800"/>
              <a:t>"examples"</a:t>
            </a:r>
          </a:p>
          <a:p>
            <a:r>
              <a:rPr lang="en-US" sz="1800"/>
              <a:t>"text_id"</a:t>
            </a:r>
          </a:p>
          <a:p>
            <a:r>
              <a:rPr lang="en-US" sz="1800"/>
              <a:t>"GRK-CLASS-HERODOTUS-HIST"</a:t>
            </a:r>
          </a:p>
          <a:p>
            <a:r>
              <a:rPr lang="en-US" sz="1800"/>
              <a:t>"sentence"</a:t>
            </a:r>
          </a:p>
          <a:p>
            <a:r>
              <a:rPr lang="en-US" sz="1800"/>
              <a:t>"ὁ βασιλεὺς τὰ χρήματα τῷ στρατηγῷ ἔδωκεν"</a:t>
            </a:r>
          </a:p>
          <a:p>
            <a:r>
              <a:rPr lang="en-US" sz="1800"/>
              <a:t>"the king the money to-the general gave"</a:t>
            </a:r>
          </a:p>
        </p:txBody>
      </p:sp>
    </p:spTree>
  </p:cSld>
</p:sld>
</file>

<file path=ppt/slides/slide209.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"translation"</a:t>
            </a:r>
          </a:p>
        </p:txBody>
      </p:sp>
      <p:sp>
        <p:nvSpPr>
          <p:cNvPr id="3" name="Content"/>
          <p:cNvSpPr/>
          <p:nvPr/>
        </p:nvSpPr>
        <p:spPr>
          <a:xfrm>
            <a:off x="457200" y="1417638"/>
            <a:ext cx="8229600" cy="5000000"/>
          </a:xfrm>
        </p:spPr>
        <p:txBody>
          <a:bodyPr/>
          <a:lstStyle/>
          <a:p>
            <a:r>
              <a:rPr lang="en-US" sz="1800"/>
              <a:t>"The king gave the money to the general"</a:t>
            </a:r>
          </a:p>
          <a:p>
            <a:r>
              <a:rPr lang="en-US" sz="1800"/>
              <a:t>"frame_id"</a:t>
            </a:r>
          </a:p>
          <a:p>
            <a:r>
              <a:rPr lang="en-US" sz="1800"/>
              <a:t>"DIDOMI_KO_01"</a:t>
            </a:r>
          </a:p>
          <a:p>
            <a:r>
              <a:rPr lang="en-US" sz="1800"/>
              <a:t>"structure"</a:t>
            </a:r>
          </a:p>
          <a:p>
            <a:r>
              <a:rPr lang="en-US" sz="1800"/>
              <a:t>"NOM + ACC + DAT"</a:t>
            </a:r>
          </a:p>
          <a:p>
            <a:r>
              <a:rPr lang="en-US" sz="1800"/>
              <a:t>"description"</a:t>
            </a:r>
          </a:p>
        </p:txBody>
      </p:sp>
    </p:spTree>
  </p:cSld>
</p:sld>
</file>

<file path=ppt/slides/slide210.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"Subject gives Object1 to Recipient"</a:t>
            </a:r>
          </a:p>
        </p:txBody>
      </p:sp>
      <p:sp>
        <p:nvSpPr>
          <p:cNvPr id="3" name="Content"/>
          <p:cNvSpPr/>
          <p:nvPr/>
        </p:nvSpPr>
        <p:spPr>
          <a:xfrm>
            <a:off x="457200" y="1417638"/>
            <a:ext cx="8229600" cy="5000000"/>
          </a:xfrm>
        </p:spPr>
        <p:txBody>
          <a:bodyPr/>
          <a:lstStyle/>
          <a:p>
            <a:r>
              <a:rPr lang="en-US" sz="1800"/>
              <a:t>"frequency"</a:t>
            </a:r>
          </a:p>
          <a:p>
            <a:r>
              <a:rPr lang="en-US" sz="1800"/>
              <a:t>"Frame continues from Classical period"</a:t>
            </a:r>
          </a:p>
          <a:p>
            <a:r>
              <a:rPr lang="en-US" sz="1800"/>
              <a:t>"byzantine"</a:t>
            </a:r>
          </a:p>
          <a:p>
            <a:r>
              <a:rPr lang="en-US" sz="1800"/>
              <a:t>"frame_id"</a:t>
            </a:r>
          </a:p>
          <a:p>
            <a:r>
              <a:rPr lang="en-US" sz="1800"/>
              <a:t>"DIDOMI_BYZ_01"</a:t>
            </a:r>
          </a:p>
          <a:p>
            <a:r>
              <a:rPr lang="en-US" sz="1800"/>
              <a:t>"structure"</a:t>
            </a:r>
          </a:p>
        </p:txBody>
      </p:sp>
    </p:spTree>
  </p:cSld>
</p:sld>
</file>

<file path=ppt/slides/slide211.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"NOM + ACC + εἰς+ACC"</a:t>
            </a:r>
          </a:p>
        </p:txBody>
      </p:sp>
      <p:sp>
        <p:nvSpPr>
          <p:cNvPr id="3" name="Content"/>
          <p:cNvSpPr/>
          <p:nvPr/>
        </p:nvSpPr>
        <p:spPr>
          <a:xfrm>
            <a:off x="457200" y="1417638"/>
            <a:ext cx="8229600" cy="5000000"/>
          </a:xfrm>
        </p:spPr>
        <p:txBody>
          <a:bodyPr/>
          <a:lstStyle/>
          <a:p>
            <a:r>
              <a:rPr lang="en-US" sz="1800"/>
              <a:t>"description"</a:t>
            </a:r>
          </a:p>
          <a:p>
            <a:r>
              <a:rPr lang="en-US" sz="1800"/>
              <a:t>"Subject gives Object1 to Recipient (prep phrase)"</a:t>
            </a:r>
          </a:p>
          <a:p>
            <a:r>
              <a:rPr lang="en-US" sz="1800"/>
              <a:t>"frequency"</a:t>
            </a:r>
          </a:p>
          <a:p>
            <a:r>
              <a:rPr lang="en-US" sz="1800"/>
              <a:t>"Dative replaced by prepositional phrase"</a:t>
            </a:r>
          </a:p>
          <a:p>
            <a:r>
              <a:rPr lang="en-US" sz="1800"/>
              <a:t>"frame_id"</a:t>
            </a:r>
          </a:p>
          <a:p>
            <a:r>
              <a:rPr lang="en-US" sz="1800"/>
              <a:t>"DIDOMI_MOD_01"</a:t>
            </a:r>
          </a:p>
        </p:txBody>
      </p:sp>
    </p:spTree>
  </p:cSld>
</p:sld>
</file>

<file path=ppt/slides/slide212.xml><?xml version="1.0" encoding="utf-8"?>
<p:sld xmlns:p="http://schemas.openxmlformats.org/presentationml/2006/main" xmlns:r="http://schemas.openxmlformats.org/officeDocument/2006/relationships" xmlns:a="http://schemas.openxmlformats.org/drawingml/2006/main">
  <p:cSld>
    <p:bg>
      <p:bgPr>
        <a:solidFill>
          <a:srgbClr val="FFFFFF"/>
        </a:solidFill>
        <a:effectLst/>
      </p:bgPr>
    </p:bg>
    <p:spTree>
      <p:nvGrpSpPr>
        <p:cNvPr id="1" name="0"/>
        <p:cNvGrpSpPr/>
        <p:nvPr/>
      </p:nvGrpSpPr>
      <p:grpSpPr>
        <a:xfrm>
          <a:off x="0" y="0"/>
          <a:ext cx="9144000" cy="6858000"/>
          <a:chOff x="0" y="0"/>
          <a:chExt cx="9144000" cy="6858000"/>
        </a:xfrm>
      </p:grpSpPr>
      <p:sp>
        <p:nvSpPr>
          <p:cNvPr id="2" name="Title"/>
          <p:cNvSpPr/>
          <p:nvPr/>
        </p:nvSpPr>
        <p:spPr>
          <a:xfrm>
            <a:off x="457200" y="274638"/>
            <a:ext cx="8229600" cy="1143000"/>
          </a:xfrm>
        </p:spPr>
        <p:txBody>
          <a:bodyPr/>
          <a:lstStyle/>
          <a:p>
            <a:r>
              <a:rPr lang="en-US" sz="4400" bold="1"/>
              <a:t>"structure"</a:t>
            </a:r>
          </a:p>
        </p:txBody>
      </p:sp>
      <p:sp>
        <p:nvSpPr>
          <p:cNvPr id="3" name="Content"/>
          <p:cNvSpPr/>
          <p:nvPr/>
        </p:nvSpPr>
        <p:spPr>
          <a:xfrm>
            <a:off x="457200" y="1417638"/>
            <a:ext cx="8229600" cy="5000000"/>
          </a:xfrm>
        </p:spPr>
        <p:txBody>
          <a:bodyPr/>
          <a:lstStyle/>
          <a:p>
            <a:r>
              <a:rPr lang="en-US" sz="1800"/>
              <a:t>"NOM + ACC + σε+ACC"</a:t>
            </a:r>
          </a:p>
          <a:p>
            <a:r>
              <a:rPr lang="en-US" sz="1800"/>
              <a:t>"description"</a:t>
            </a:r>
          </a:p>
          <a:p>
            <a:r>
              <a:rPr lang="en-US" sz="1800"/>
              <a:t>"Subject gives Object1 to Recipient (modern prep)"</a:t>
            </a:r>
          </a:p>
          <a:p>
            <a:r>
              <a:rPr lang="en-US" sz="1800"/>
              <a:t>"frequency"</a:t>
            </a:r>
          </a:p>
          <a:p>
            <a:r>
              <a:rPr lang="en-US" sz="1800"/>
              <a:t>"Modern preposition σε replaces εἰς"</a:t>
            </a:r>
          </a:p>
          <a:p>
            <a:r>
              <a:rPr lang="en-US" sz="1800"/>
              <a:t>"GRK-KOINE-NT-JOHN-1-1"</a:t>
            </a:r>
          </a:p>
        </p:txBody>
      </p:sp>
    </p:spTree>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BEBEB"/>
      </a:lt2>
      <a:accent1>
        <a:srgbClr val="4472C4"/>
      </a:accent1>
      <a:accent2>
        <a:srgbClr val="ED7D31"/>
      </a:accent2>
      <a:accent3>
        <a:srgbClr val="A5A5A5"/>
      </a:accent3>
      <a:accent4>
        <a:srgbClr val="FFC000"/>
      </a:accent4>
      <a:accent5>
        <a:srgbClr val="5B9BD5"/>
      </a:accent5>
      <a:accent6>
        <a:srgbClr val="70AD47"/>
      </a:accent6>
      <a:hyperlink>
        <a:srgbClr val="0563C1"/>
      </a:hyperlink>
      <a:folHyperlink>
        <a:srgbClr val="954F72"/>
      </a:folHyperlink>
    </a:clrScheme>
  </a:themeElements>
</a:theme>
</file>

<file path=docProps/core.xml><?xml version="1.0" encoding="UTF-8" standalone="yes"?>
<cp:coreProperties xmlns:cp="http://schemas.openxmlformats.org/officeDocument/2006/metadata/core-properties" xmlns:dc="http://purl.org/dc/elements/1.1/" xmlns:dcterms="http://purl.org/dc/terms/" xmlns:dcmitype="http://purl.org/dc/dcmitype/" xmlns:xsi="http://www.w3.org/2001/XMLSchema-instance">
  <dc:title>CVL-CDSAML Corpus: Textual Foundation & Architecture</dc:title>
  <dc:description>Diachronic Corpus Linguistics & Computational Methodology</dc:description>
  <cp:lastModifiedBy>Computational Linguistics</cp:lastModifiedBy>
  <cp:revision>2</cp:revision>
</cp:coreProperties>
</file>