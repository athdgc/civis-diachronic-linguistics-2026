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24 - Ορθογώνιο"/>
          <p:cNvSpPr/>
          <p:nvPr/>
        </p:nvSpPr>
        <p:spPr>
          <a:xfrm>
            <a:off x="467544" y="2636912"/>
            <a:ext cx="8247842" cy="1386738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58" tIns="41029" rIns="82058" bIns="41029" rtlCol="0" anchor="ctr"/>
          <a:lstStyle/>
          <a:p>
            <a:pPr algn="ctr"/>
            <a:endParaRPr lang="el-GR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object 10"/>
          <p:cNvSpPr txBox="1"/>
          <p:nvPr/>
        </p:nvSpPr>
        <p:spPr>
          <a:xfrm>
            <a:off x="8802946" y="6541930"/>
            <a:ext cx="209337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5"/>
              </a:lnSpc>
            </a:pPr>
            <a:r>
              <a:rPr sz="1000" dirty="0">
                <a:solidFill>
                  <a:srgbClr val="666666"/>
                </a:solidFill>
                <a:latin typeface="Arial"/>
                <a:cs typeface="Arial"/>
              </a:rPr>
              <a:t>1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/>
          <a:srcRect l="79983" t="35089" b="26317"/>
          <a:stretch>
            <a:fillRect/>
          </a:stretch>
        </p:blipFill>
        <p:spPr bwMode="auto">
          <a:xfrm>
            <a:off x="0" y="6580676"/>
            <a:ext cx="838678" cy="277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 cstate="print"/>
          <a:srcRect t="35089" b="26317"/>
          <a:stretch>
            <a:fillRect/>
          </a:stretch>
        </p:blipFill>
        <p:spPr bwMode="auto">
          <a:xfrm>
            <a:off x="805269" y="6580676"/>
            <a:ext cx="4189802" cy="277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 cstate="print"/>
          <a:srcRect t="35089" b="26317"/>
          <a:stretch>
            <a:fillRect/>
          </a:stretch>
        </p:blipFill>
        <p:spPr bwMode="auto">
          <a:xfrm>
            <a:off x="4954198" y="6580676"/>
            <a:ext cx="4189802" cy="277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" name="Picture 20">
            <a:extLst>
              <a:ext uri="{FF2B5EF4-FFF2-40B4-BE49-F238E27FC236}">
                <a16:creationId xmlns="" xmlns:a16="http://schemas.microsoft.com/office/drawing/2014/main" id="{C036CFC2-9293-069F-3105-3D61D46CF04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 l="13017" t="17613" r="11784" b="20018"/>
          <a:stretch>
            <a:fillRect/>
          </a:stretch>
        </p:blipFill>
        <p:spPr>
          <a:xfrm>
            <a:off x="155833" y="5004838"/>
            <a:ext cx="2255572" cy="1390159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="" xmlns:a16="http://schemas.microsoft.com/office/drawing/2014/main" id="{7C89A168-6743-9A61-F835-63209EF794F3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640740" y="4941805"/>
            <a:ext cx="2503261" cy="1121370"/>
          </a:xfrm>
          <a:prstGeom prst="rect">
            <a:avLst/>
          </a:prstGeom>
        </p:spPr>
      </p:pic>
      <p:pic>
        <p:nvPicPr>
          <p:cNvPr id="20" name="Picture 18">
            <a:extLst>
              <a:ext uri="{FF2B5EF4-FFF2-40B4-BE49-F238E27FC236}">
                <a16:creationId xmlns="" xmlns:a16="http://schemas.microsoft.com/office/drawing/2014/main" id="{CAA4284B-BCC7-0B28-CA56-D5E1DB4A2978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039858" y="5824274"/>
            <a:ext cx="1754787" cy="598773"/>
          </a:xfrm>
          <a:prstGeom prst="rect">
            <a:avLst/>
          </a:prstGeom>
        </p:spPr>
      </p:pic>
      <p:sp>
        <p:nvSpPr>
          <p:cNvPr id="21" name="object 16"/>
          <p:cNvSpPr txBox="1"/>
          <p:nvPr/>
        </p:nvSpPr>
        <p:spPr>
          <a:xfrm>
            <a:off x="2123728" y="6021288"/>
            <a:ext cx="5258818" cy="305769"/>
          </a:xfrm>
          <a:prstGeom prst="rect">
            <a:avLst/>
          </a:prstGeom>
        </p:spPr>
        <p:txBody>
          <a:bodyPr vert="horz" wrap="square" lIns="0" tIns="28492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Acknowledgments:</a:t>
            </a:r>
            <a:r>
              <a:rPr b="1" i="1" spc="76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H.F.R.I.</a:t>
            </a:r>
            <a:r>
              <a:rPr b="1" i="1" spc="8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</a:t>
            </a:r>
            <a:r>
              <a:rPr b="1" i="1" spc="8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i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Number:</a:t>
            </a:r>
            <a:r>
              <a:rPr b="1" i="1" spc="8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i="1" spc="-9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15284</a:t>
            </a:r>
            <a:endParaRPr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object 11"/>
          <p:cNvSpPr txBox="1"/>
          <p:nvPr/>
        </p:nvSpPr>
        <p:spPr>
          <a:xfrm>
            <a:off x="490344" y="2771953"/>
            <a:ext cx="2590800" cy="1070915"/>
          </a:xfrm>
          <a:prstGeom prst="rect">
            <a:avLst/>
          </a:prstGeom>
        </p:spPr>
        <p:txBody>
          <a:bodyPr vert="horz" wrap="square" lIns="0" tIns="28492" rIns="0" bIns="0" rtlCol="0">
            <a:spAutoFit/>
          </a:bodyPr>
          <a:lstStyle/>
          <a:p>
            <a:pPr algn="ctr">
              <a:spcBef>
                <a:spcPts val="224"/>
              </a:spcBef>
            </a:pPr>
            <a:r>
              <a:rPr b="1" dirty="0">
                <a:latin typeface="Calibri" panose="020F0502020204030204" pitchFamily="34" charset="0"/>
                <a:cs typeface="Calibri" panose="020F0502020204030204" pitchFamily="34" charset="0"/>
              </a:rPr>
              <a:t>Nikolaos</a:t>
            </a:r>
            <a:r>
              <a:rPr b="1" spc="9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9" dirty="0">
                <a:latin typeface="Calibri" panose="020F0502020204030204" pitchFamily="34" charset="0"/>
                <a:cs typeface="Calibri" panose="020F0502020204030204" pitchFamily="34" charset="0"/>
              </a:rPr>
              <a:t>Lavidas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827" marR="4559" algn="ctr">
              <a:lnSpc>
                <a:spcPct val="112500"/>
              </a:lnSpc>
            </a:pP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National</a:t>
            </a:r>
            <a:r>
              <a:rPr sz="1400" spc="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z="1400" spc="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Kapodistrian</a:t>
            </a:r>
            <a:r>
              <a:rPr sz="1400" spc="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1400" spc="7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827" marR="4559" algn="ctr">
              <a:lnSpc>
                <a:spcPct val="112500"/>
              </a:lnSpc>
            </a:pP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University</a:t>
            </a:r>
            <a:r>
              <a:rPr sz="1400" spc="8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400" spc="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9" dirty="0">
                <a:latin typeface="Calibri" panose="020F0502020204030204" pitchFamily="34" charset="0"/>
                <a:cs typeface="Calibri" panose="020F0502020204030204" pitchFamily="34" charset="0"/>
              </a:rPr>
              <a:t>Athens </a:t>
            </a:r>
            <a:endParaRPr lang="en-GB" sz="1400" spc="-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827" marR="4559" algn="ctr">
              <a:lnSpc>
                <a:spcPct val="112500"/>
              </a:lnSpc>
            </a:pPr>
            <a:r>
              <a:rPr sz="1400" spc="-9" dirty="0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nlavidas@enl.uoa.gr</a:t>
            </a: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object 13"/>
          <p:cNvSpPr txBox="1"/>
          <p:nvPr/>
        </p:nvSpPr>
        <p:spPr>
          <a:xfrm>
            <a:off x="3347864" y="2708920"/>
            <a:ext cx="2590800" cy="1315661"/>
          </a:xfrm>
          <a:prstGeom prst="rect">
            <a:avLst/>
          </a:prstGeom>
        </p:spPr>
        <p:txBody>
          <a:bodyPr vert="horz" wrap="square" lIns="0" tIns="28492" rIns="0" bIns="0" rtlCol="0">
            <a:spAutoFit/>
          </a:bodyPr>
          <a:lstStyle/>
          <a:p>
            <a:pPr marL="11397" marR="4559" algn="ctr">
              <a:lnSpc>
                <a:spcPct val="112500"/>
              </a:lnSpc>
            </a:pPr>
            <a:r>
              <a:rPr lang="en-US" b="1" spc="-9" dirty="0" err="1">
                <a:latin typeface="Calibri" panose="020F0502020204030204" pitchFamily="34" charset="0"/>
                <a:cs typeface="Calibri" panose="020F0502020204030204" pitchFamily="34" charset="0"/>
              </a:rPr>
              <a:t>Eleni</a:t>
            </a:r>
            <a:r>
              <a:rPr lang="en-US" b="1" spc="-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spc="-9" dirty="0" err="1">
                <a:latin typeface="Calibri" panose="020F0502020204030204" pitchFamily="34" charset="0"/>
                <a:cs typeface="Calibri" panose="020F0502020204030204" pitchFamily="34" charset="0"/>
              </a:rPr>
              <a:t>Plakoutsi</a:t>
            </a:r>
            <a:endParaRPr lang="en-US" b="1" spc="-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397" marR="4559" algn="ctr">
              <a:lnSpc>
                <a:spcPct val="112500"/>
              </a:lnSpc>
            </a:pP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National</a:t>
            </a:r>
            <a:r>
              <a:rPr sz="1400" spc="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z="1400" spc="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Kapodistrian</a:t>
            </a:r>
            <a:r>
              <a:rPr sz="1400" spc="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1400" spc="7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397" marR="4559" algn="ctr">
              <a:lnSpc>
                <a:spcPct val="112500"/>
              </a:lnSpc>
            </a:pP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University</a:t>
            </a:r>
            <a:r>
              <a:rPr sz="1400" spc="8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400" spc="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9" dirty="0">
                <a:latin typeface="Calibri" panose="020F0502020204030204" pitchFamily="34" charset="0"/>
                <a:cs typeface="Calibri" panose="020F0502020204030204" pitchFamily="34" charset="0"/>
              </a:rPr>
              <a:t>Athens </a:t>
            </a:r>
            <a:endParaRPr lang="en-US" sz="1400" spc="-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397" marR="4559" algn="ctr">
              <a:lnSpc>
                <a:spcPct val="112500"/>
              </a:lnSpc>
            </a:pPr>
            <a:r>
              <a:rPr lang="en-US" sz="1400" spc="-9" dirty="0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eleni2plak@gmail.com</a:t>
            </a:r>
            <a:endParaRPr lang="en-GB" sz="1400" spc="-9" dirty="0">
              <a:latin typeface="Calibri" panose="020F0502020204030204" pitchFamily="34" charset="0"/>
              <a:cs typeface="Calibri" panose="020F0502020204030204" pitchFamily="34" charset="0"/>
              <a:hlinkClick r:id="rId7"/>
            </a:endParaRPr>
          </a:p>
          <a:p>
            <a:pPr marL="11397" marR="4559" algn="ctr">
              <a:lnSpc>
                <a:spcPct val="112500"/>
              </a:lnSpc>
            </a:pP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object 15"/>
          <p:cNvSpPr txBox="1"/>
          <p:nvPr/>
        </p:nvSpPr>
        <p:spPr>
          <a:xfrm>
            <a:off x="6156176" y="2708920"/>
            <a:ext cx="2402915" cy="126346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28492" rIns="0" bIns="0" rtlCol="0">
            <a:spAutoFit/>
          </a:bodyPr>
          <a:lstStyle/>
          <a:p>
            <a:pPr marL="11397" marR="4559" algn="ctr">
              <a:lnSpc>
                <a:spcPct val="112500"/>
              </a:lnSpc>
            </a:pPr>
            <a:r>
              <a:rPr lang="en-US" b="1" spc="-9" dirty="0">
                <a:latin typeface="Calibri" panose="020F0502020204030204" pitchFamily="34" charset="0"/>
                <a:cs typeface="Calibri" panose="020F0502020204030204" pitchFamily="34" charset="0"/>
              </a:rPr>
              <a:t>Anastasia </a:t>
            </a:r>
            <a:r>
              <a:rPr lang="en-US" b="1" spc="-9" dirty="0" err="1">
                <a:latin typeface="Calibri" panose="020F0502020204030204" pitchFamily="34" charset="0"/>
                <a:cs typeface="Calibri" panose="020F0502020204030204" pitchFamily="34" charset="0"/>
              </a:rPr>
              <a:t>Tsiropina</a:t>
            </a:r>
            <a:endParaRPr lang="en-US" b="1" spc="-9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397" marR="4559" algn="ctr">
              <a:lnSpc>
                <a:spcPct val="112500"/>
              </a:lnSpc>
            </a:pP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National</a:t>
            </a:r>
            <a:r>
              <a:rPr sz="1400" spc="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z="1400" spc="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Kapodistrian</a:t>
            </a:r>
            <a:r>
              <a:rPr sz="1400" spc="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1400" spc="76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397" marR="4559" algn="ctr">
              <a:lnSpc>
                <a:spcPct val="112500"/>
              </a:lnSpc>
            </a:pP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University</a:t>
            </a:r>
            <a:r>
              <a:rPr sz="1400" spc="8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1400" spc="76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9" dirty="0">
                <a:latin typeface="Calibri" panose="020F0502020204030204" pitchFamily="34" charset="0"/>
                <a:cs typeface="Calibri" panose="020F0502020204030204" pitchFamily="34" charset="0"/>
              </a:rPr>
              <a:t>Athens </a:t>
            </a:r>
            <a:endParaRPr lang="en-US" sz="1400" dirty="0"/>
          </a:p>
          <a:p>
            <a:pPr marL="11397" marR="4559" algn="ctr">
              <a:lnSpc>
                <a:spcPct val="112500"/>
              </a:lnSpc>
            </a:pPr>
            <a:r>
              <a:rPr lang="en-US" sz="1400" spc="-9" dirty="0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natasatsirop@gmail.com</a:t>
            </a:r>
          </a:p>
          <a:p>
            <a:pPr marL="11397" marR="4559" algn="ctr">
              <a:lnSpc>
                <a:spcPct val="112500"/>
              </a:lnSpc>
            </a:pPr>
            <a:endParaRPr sz="1100" dirty="0"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25 - TextBox"/>
          <p:cNvSpPr txBox="1"/>
          <p:nvPr/>
        </p:nvSpPr>
        <p:spPr>
          <a:xfrm>
            <a:off x="755576" y="1700808"/>
            <a:ext cx="7920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The evolution of </a:t>
            </a:r>
            <a:r>
              <a:rPr lang="en-US" b="1" dirty="0" err="1"/>
              <a:t>valency</a:t>
            </a:r>
            <a:r>
              <a:rPr lang="en-US" b="1" dirty="0"/>
              <a:t> over time: Digital pathways uncovering the grammatical structure of Indo-European languages.</a:t>
            </a:r>
            <a:endParaRPr lang="el-GR" dirty="0"/>
          </a:p>
        </p:txBody>
      </p:sp>
      <p:sp>
        <p:nvSpPr>
          <p:cNvPr id="27" name="26 - TextBox"/>
          <p:cNvSpPr txBox="1"/>
          <p:nvPr/>
        </p:nvSpPr>
        <p:spPr>
          <a:xfrm>
            <a:off x="1187624" y="980728"/>
            <a:ext cx="73388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1" dirty="0"/>
              <a:t>Athens Digital </a:t>
            </a:r>
            <a:r>
              <a:rPr lang="en-US" sz="2800" b="1" i="1" dirty="0" err="1"/>
              <a:t>Glossa</a:t>
            </a:r>
            <a:r>
              <a:rPr lang="en-US" sz="2800" b="1" i="1" dirty="0"/>
              <a:t> </a:t>
            </a:r>
            <a:r>
              <a:rPr lang="en-US" sz="2800" b="1" i="1" dirty="0" err="1"/>
              <a:t>Chronos</a:t>
            </a:r>
            <a:r>
              <a:rPr lang="en-US" sz="2800" b="1" dirty="0"/>
              <a:t> (</a:t>
            </a:r>
            <a:r>
              <a:rPr lang="en-US" sz="2800" b="1" dirty="0" err="1"/>
              <a:t>AthDGC</a:t>
            </a:r>
            <a:r>
              <a:rPr lang="en-US" sz="2800" b="1" dirty="0"/>
              <a:t>) </a:t>
            </a:r>
            <a:endParaRPr lang="el-GR" sz="2800" b="1" dirty="0"/>
          </a:p>
        </p:txBody>
      </p:sp>
      <p:sp>
        <p:nvSpPr>
          <p:cNvPr id="28" name="27 - TextBox"/>
          <p:cNvSpPr txBox="1"/>
          <p:nvPr/>
        </p:nvSpPr>
        <p:spPr>
          <a:xfrm>
            <a:off x="1187624" y="4221088"/>
            <a:ext cx="676875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libri" pitchFamily="34" charset="0"/>
                <a:cs typeface="Calibri" pitchFamily="34" charset="0"/>
              </a:rPr>
              <a:t>The 25</a:t>
            </a:r>
            <a:r>
              <a:rPr lang="en-US" sz="1600" b="1" baseline="30000" dirty="0">
                <a:latin typeface="Calibri" pitchFamily="34" charset="0"/>
                <a:cs typeface="Calibri" pitchFamily="34" charset="0"/>
              </a:rPr>
              <a:t>th</a:t>
            </a:r>
            <a:r>
              <a:rPr lang="en-US" sz="1600" b="1" dirty="0">
                <a:latin typeface="Calibri" pitchFamily="34" charset="0"/>
                <a:cs typeface="Calibri" pitchFamily="34" charset="0"/>
              </a:rPr>
              <a:t> International Conference of the Department of Linguistics (CIDL25)</a:t>
            </a:r>
          </a:p>
          <a:p>
            <a:pPr algn="ctr"/>
            <a:r>
              <a:rPr lang="en-US" sz="1600" b="1" dirty="0">
                <a:latin typeface="Calibri" pitchFamily="34" charset="0"/>
                <a:cs typeface="Calibri" pitchFamily="34" charset="0"/>
              </a:rPr>
              <a:t> Linguistic Intersections: from Natural Language to Artificial Intelligence. </a:t>
            </a:r>
          </a:p>
          <a:p>
            <a:pPr algn="ctr"/>
            <a:endParaRPr lang="en-US" sz="1600" b="1" dirty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1600" b="1" dirty="0">
                <a:latin typeface="Calibri" pitchFamily="34" charset="0"/>
                <a:cs typeface="Calibri" pitchFamily="34" charset="0"/>
              </a:rPr>
              <a:t>21-22 November 2025</a:t>
            </a:r>
          </a:p>
          <a:p>
            <a:pPr algn="ctr"/>
            <a:r>
              <a:rPr lang="en-US" sz="1600" b="1" dirty="0">
                <a:latin typeface="Calibri" pitchFamily="34" charset="0"/>
                <a:cs typeface="Calibri" pitchFamily="34" charset="0"/>
              </a:rPr>
              <a:t>Bucharest, Romania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 </a:t>
            </a:r>
          </a:p>
          <a:p>
            <a:pPr algn="ctr"/>
            <a:endParaRPr lang="en-US" dirty="0">
              <a:latin typeface="Calibri" pitchFamily="34" charset="0"/>
              <a:cs typeface="Calibri" pitchFamily="34" charset="0"/>
            </a:endParaRPr>
          </a:p>
          <a:p>
            <a:endParaRPr lang="el-GR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1C8FACF5-3DAB-8F10-F1C7-D6F413AD4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1</a:t>
            </a:fld>
            <a:endParaRPr lang="el-G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TextBox"/>
          <p:cNvSpPr txBox="1"/>
          <p:nvPr/>
        </p:nvSpPr>
        <p:spPr>
          <a:xfrm>
            <a:off x="3203848" y="692696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Research Team</a:t>
            </a:r>
            <a:endParaRPr lang="el-GR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10 - TextBox"/>
          <p:cNvSpPr txBox="1"/>
          <p:nvPr/>
        </p:nvSpPr>
        <p:spPr>
          <a:xfrm>
            <a:off x="1835696" y="1484784"/>
            <a:ext cx="583264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Professor </a:t>
            </a:r>
            <a:r>
              <a:rPr lang="en-US" b="1" dirty="0" err="1"/>
              <a:t>Nikolaos</a:t>
            </a:r>
            <a:r>
              <a:rPr lang="en-US" b="1" dirty="0"/>
              <a:t> </a:t>
            </a:r>
            <a:r>
              <a:rPr lang="en-US" b="1" dirty="0" err="1"/>
              <a:t>Lavidas</a:t>
            </a:r>
            <a:r>
              <a:rPr lang="en-US" b="1" dirty="0"/>
              <a:t> (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Principal Investigator</a:t>
            </a:r>
            <a:r>
              <a:rPr lang="en-US" b="1" dirty="0"/>
              <a:t>)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Professor Emeritus </a:t>
            </a:r>
            <a:r>
              <a:rPr lang="en-US" b="1" dirty="0" err="1"/>
              <a:t>Vasiliki</a:t>
            </a:r>
            <a:r>
              <a:rPr lang="en-US" b="1" dirty="0"/>
              <a:t> </a:t>
            </a:r>
            <a:r>
              <a:rPr lang="en-US" b="1" dirty="0" err="1"/>
              <a:t>Nikiforidou</a:t>
            </a:r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 err="1"/>
              <a:t>Theodoros</a:t>
            </a:r>
            <a:r>
              <a:rPr lang="en-US" b="1" dirty="0"/>
              <a:t> </a:t>
            </a:r>
            <a:r>
              <a:rPr lang="en-US" b="1" dirty="0" err="1"/>
              <a:t>Michalareas</a:t>
            </a:r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 err="1"/>
              <a:t>Vasiliki</a:t>
            </a:r>
            <a:r>
              <a:rPr lang="en-US" b="1" dirty="0"/>
              <a:t> </a:t>
            </a:r>
            <a:r>
              <a:rPr lang="en-US" b="1" dirty="0" err="1"/>
              <a:t>Geka</a:t>
            </a:r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 err="1"/>
              <a:t>Vasilis</a:t>
            </a:r>
            <a:r>
              <a:rPr lang="en-US" b="1" dirty="0"/>
              <a:t> </a:t>
            </a:r>
            <a:r>
              <a:rPr lang="en-US" b="1" dirty="0" err="1"/>
              <a:t>Symeonidis</a:t>
            </a:r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/>
              <a:t>Sophia </a:t>
            </a:r>
            <a:r>
              <a:rPr lang="en-US" b="1" dirty="0" err="1"/>
              <a:t>Chionidi</a:t>
            </a:r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 err="1"/>
              <a:t>Eleni</a:t>
            </a:r>
            <a:r>
              <a:rPr lang="en-US" b="1" dirty="0"/>
              <a:t> </a:t>
            </a:r>
            <a:r>
              <a:rPr lang="en-US" b="1" dirty="0" err="1"/>
              <a:t>Plakoutsi</a:t>
            </a:r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/>
              <a:t>Anastasia </a:t>
            </a:r>
            <a:r>
              <a:rPr lang="en-US" b="1" dirty="0" err="1"/>
              <a:t>Tsiropina</a:t>
            </a:r>
            <a:endParaRPr 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62B5F3AC-0AD2-58AF-3C70-3560259DF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2</a:t>
            </a:fld>
            <a:endParaRPr lang="el-G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10 - TextBox"/>
          <p:cNvSpPr txBox="1"/>
          <p:nvPr/>
        </p:nvSpPr>
        <p:spPr>
          <a:xfrm>
            <a:off x="2915816" y="980728"/>
            <a:ext cx="28360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</a:rPr>
              <a:t>Aim of </a:t>
            </a:r>
            <a:r>
              <a:rPr lang="en-US" sz="2800" b="1" u="sng" dirty="0" err="1">
                <a:solidFill>
                  <a:schemeClr val="accent1">
                    <a:lumMod val="50000"/>
                  </a:schemeClr>
                </a:solidFill>
              </a:rPr>
              <a:t>AthDGC</a:t>
            </a:r>
            <a:endParaRPr lang="en-US" sz="2800" b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11 - Στρογγυλεμένο ορθογώνιο"/>
          <p:cNvSpPr/>
          <p:nvPr/>
        </p:nvSpPr>
        <p:spPr>
          <a:xfrm>
            <a:off x="179512" y="1988840"/>
            <a:ext cx="3779912" cy="32403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/>
            <a:endParaRPr lang="en-US" dirty="0">
              <a:solidFill>
                <a:schemeClr val="tx1"/>
              </a:solidFill>
            </a:endParaRPr>
          </a:p>
          <a:p>
            <a:pPr marL="342900" indent="-342900" algn="ctr"/>
            <a:r>
              <a:rPr lang="en-US" dirty="0">
                <a:solidFill>
                  <a:schemeClr val="tx1"/>
                </a:solidFill>
              </a:rPr>
              <a:t>Creation of:</a:t>
            </a:r>
          </a:p>
          <a:p>
            <a:pPr marL="342900" indent="-342900" algn="ctr"/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lphaUcParenR"/>
            </a:pPr>
            <a:r>
              <a:rPr lang="en-US" dirty="0">
                <a:solidFill>
                  <a:schemeClr val="tx1"/>
                </a:solidFill>
              </a:rPr>
              <a:t>A parallel diachronic corpus of influential texts</a:t>
            </a:r>
          </a:p>
          <a:p>
            <a:pPr marL="342900" indent="-342900"/>
            <a:endParaRPr lang="en-US" dirty="0">
              <a:solidFill>
                <a:schemeClr val="tx1"/>
              </a:solidFill>
            </a:endParaRPr>
          </a:p>
          <a:p>
            <a:pPr marL="342900" indent="-342900"/>
            <a:r>
              <a:rPr lang="en-US" dirty="0">
                <a:solidFill>
                  <a:schemeClr val="tx1"/>
                </a:solidFill>
              </a:rPr>
              <a:t>B) A diachronic </a:t>
            </a:r>
            <a:r>
              <a:rPr lang="en-US" dirty="0" err="1">
                <a:solidFill>
                  <a:schemeClr val="tx1"/>
                </a:solidFill>
              </a:rPr>
              <a:t>Valency</a:t>
            </a:r>
            <a:r>
              <a:rPr lang="en-US" dirty="0">
                <a:solidFill>
                  <a:schemeClr val="tx1"/>
                </a:solidFill>
              </a:rPr>
              <a:t> Lexicon</a:t>
            </a:r>
          </a:p>
          <a:p>
            <a:pPr marL="342900" indent="-342900" algn="ctr">
              <a:buAutoNum type="alphaUcParenR"/>
            </a:pP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13" name="12 - Δεξιό βέλος"/>
          <p:cNvSpPr/>
          <p:nvPr/>
        </p:nvSpPr>
        <p:spPr>
          <a:xfrm>
            <a:off x="4067944" y="3356992"/>
            <a:ext cx="1440160" cy="57606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4" name="13 - Στρογγυλεμένο ορθογώνιο"/>
          <p:cNvSpPr/>
          <p:nvPr/>
        </p:nvSpPr>
        <p:spPr>
          <a:xfrm>
            <a:off x="5580112" y="1844824"/>
            <a:ext cx="3456384" cy="345638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/>
            <a:r>
              <a:rPr lang="en-US" dirty="0">
                <a:solidFill>
                  <a:schemeClr val="tx1"/>
                </a:solidFill>
              </a:rPr>
              <a:t>Analysis of: </a:t>
            </a:r>
          </a:p>
          <a:p>
            <a:pPr marL="342900" indent="-342900" algn="ctr"/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lphaUcParenR"/>
            </a:pPr>
            <a:r>
              <a:rPr lang="en-US" dirty="0">
                <a:solidFill>
                  <a:schemeClr val="tx1"/>
                </a:solidFill>
              </a:rPr>
              <a:t>Valency</a:t>
            </a:r>
          </a:p>
          <a:p>
            <a:pPr marL="342900" indent="-342900"/>
            <a:endParaRPr lang="en-US" dirty="0">
              <a:solidFill>
                <a:schemeClr val="tx1"/>
              </a:solidFill>
            </a:endParaRPr>
          </a:p>
          <a:p>
            <a:pPr marL="342900" indent="-342900"/>
            <a:r>
              <a:rPr lang="en-US" dirty="0">
                <a:solidFill>
                  <a:schemeClr val="tx1"/>
                </a:solidFill>
              </a:rPr>
              <a:t>B) Language </a:t>
            </a:r>
            <a:r>
              <a:rPr lang="en-US" dirty="0" err="1">
                <a:solidFill>
                  <a:schemeClr val="tx1"/>
                </a:solidFill>
              </a:rPr>
              <a:t>diachrony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/>
            <a:endParaRPr lang="en-US" dirty="0">
              <a:solidFill>
                <a:schemeClr val="tx1"/>
              </a:solidFill>
            </a:endParaRPr>
          </a:p>
          <a:p>
            <a:pPr marL="342900" indent="-342900"/>
            <a:r>
              <a:rPr lang="en-US" dirty="0">
                <a:solidFill>
                  <a:schemeClr val="tx1"/>
                </a:solidFill>
              </a:rPr>
              <a:t>C) Written Language Contact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B92F0721-2B95-5A09-EEC4-048562320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3</a:t>
            </a:fld>
            <a:endParaRPr lang="el-G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1 - Τίτλος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Theoretical Framework</a:t>
            </a:r>
            <a:endParaRPr lang="el-G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Ορθογώνιο"/>
          <p:cNvSpPr/>
          <p:nvPr/>
        </p:nvSpPr>
        <p:spPr>
          <a:xfrm>
            <a:off x="323528" y="764704"/>
            <a:ext cx="28761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u="sng" dirty="0">
                <a:solidFill>
                  <a:schemeClr val="accent1">
                    <a:lumMod val="50000"/>
                  </a:schemeClr>
                </a:solidFill>
              </a:rPr>
              <a:t>Previous Research</a:t>
            </a:r>
            <a:endParaRPr lang="el-GR" sz="2400" b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11 - TextBox"/>
          <p:cNvSpPr txBox="1"/>
          <p:nvPr/>
        </p:nvSpPr>
        <p:spPr>
          <a:xfrm>
            <a:off x="0" y="1268760"/>
            <a:ext cx="9144001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Corpus of original texts and their retranslations as an effective tool for the study of language </a:t>
            </a:r>
            <a:r>
              <a:rPr lang="en-US" dirty="0" err="1"/>
              <a:t>diachrony</a:t>
            </a:r>
            <a:r>
              <a:rPr lang="en-US" dirty="0"/>
              <a:t>, language change and contact. </a:t>
            </a:r>
          </a:p>
          <a:p>
            <a:pPr algn="r"/>
            <a:endParaRPr lang="en-US" sz="1400" dirty="0"/>
          </a:p>
          <a:p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b="1" dirty="0"/>
              <a:t>Digital corpus of texts:</a:t>
            </a:r>
            <a:endParaRPr lang="en-US" dirty="0"/>
          </a:p>
          <a:p>
            <a:r>
              <a:rPr lang="en-US" dirty="0"/>
              <a:t>e.g. </a:t>
            </a:r>
            <a:r>
              <a:rPr lang="en-US" i="1" dirty="0"/>
              <a:t>Pragmatic Resources in Old Indo-European Languages</a:t>
            </a:r>
            <a:r>
              <a:rPr lang="en-US" dirty="0"/>
              <a:t>-PROIEL </a:t>
            </a:r>
          </a:p>
          <a:p>
            <a:r>
              <a:rPr lang="en-US" dirty="0"/>
              <a:t>(University of Oslo) </a:t>
            </a:r>
          </a:p>
          <a:p>
            <a:pPr algn="r"/>
            <a:r>
              <a:rPr lang="en-US" sz="1400" dirty="0"/>
              <a:t>(</a:t>
            </a:r>
            <a:r>
              <a:rPr lang="en-US" sz="1400" dirty="0" err="1"/>
              <a:t>Haug</a:t>
            </a:r>
            <a:r>
              <a:rPr lang="en-US" sz="1400" dirty="0"/>
              <a:t> and </a:t>
            </a:r>
            <a:r>
              <a:rPr lang="en-US" sz="1400" dirty="0" err="1"/>
              <a:t>Jøhndal</a:t>
            </a:r>
            <a:r>
              <a:rPr lang="en-US" sz="1400" dirty="0"/>
              <a:t> 2008; </a:t>
            </a:r>
            <a:r>
              <a:rPr lang="en-US" sz="1400" dirty="0" err="1"/>
              <a:t>Eckoff</a:t>
            </a:r>
            <a:r>
              <a:rPr lang="en-US" sz="1400" dirty="0"/>
              <a:t> et al 2018)</a:t>
            </a:r>
          </a:p>
          <a:p>
            <a:endParaRPr lang="en-US" b="1" dirty="0">
              <a:highlight>
                <a:srgbClr val="FFFF00"/>
              </a:highlight>
            </a:endParaRPr>
          </a:p>
          <a:p>
            <a:pPr>
              <a:buFont typeface="Wingdings" pitchFamily="2" charset="2"/>
              <a:buChar char="Ø"/>
            </a:pPr>
            <a:r>
              <a:rPr lang="en-US" b="1" dirty="0"/>
              <a:t>Synchronic Valency Lexica:</a:t>
            </a:r>
          </a:p>
          <a:p>
            <a:r>
              <a:rPr lang="en-US" dirty="0"/>
              <a:t>e.g. </a:t>
            </a:r>
            <a:r>
              <a:rPr lang="en-US" dirty="0" err="1"/>
              <a:t>ValPaL</a:t>
            </a:r>
            <a:endParaRPr lang="en-US" sz="1400" dirty="0"/>
          </a:p>
          <a:p>
            <a:pPr algn="r"/>
            <a:r>
              <a:rPr lang="en-US" sz="1400" dirty="0"/>
              <a:t>(</a:t>
            </a:r>
            <a:r>
              <a:rPr lang="en-US" sz="1400" dirty="0" err="1"/>
              <a:t>Malchukov</a:t>
            </a:r>
            <a:r>
              <a:rPr lang="en-US" sz="1400" dirty="0"/>
              <a:t> and </a:t>
            </a:r>
            <a:r>
              <a:rPr lang="en-US" sz="1400" dirty="0" err="1"/>
              <a:t>Comrie</a:t>
            </a:r>
            <a:r>
              <a:rPr lang="en-US" sz="1400" dirty="0"/>
              <a:t> 2015)</a:t>
            </a:r>
            <a:endParaRPr lang="el-GR" sz="1400" dirty="0"/>
          </a:p>
          <a:p>
            <a:endParaRPr lang="en-US" b="1" dirty="0"/>
          </a:p>
          <a:p>
            <a:pPr>
              <a:buFont typeface="Wingdings" pitchFamily="2" charset="2"/>
              <a:buChar char="Ø"/>
            </a:pPr>
            <a:r>
              <a:rPr lang="en-US" b="1" dirty="0"/>
              <a:t>Historical or Crosslinguistic Valency Lexica: </a:t>
            </a:r>
          </a:p>
          <a:p>
            <a:r>
              <a:rPr lang="en-US" dirty="0"/>
              <a:t>e.g.</a:t>
            </a:r>
            <a:r>
              <a:rPr lang="it-IT" dirty="0"/>
              <a:t>HoDeL </a:t>
            </a:r>
            <a:r>
              <a:rPr lang="it-IT" sz="1400" dirty="0"/>
              <a:t>(Zanchi 2021)</a:t>
            </a:r>
          </a:p>
          <a:p>
            <a:r>
              <a:rPr lang="it-IT" dirty="0"/>
              <a:t>PaVeDa </a:t>
            </a:r>
            <a:r>
              <a:rPr lang="it-IT" sz="1400" dirty="0"/>
              <a:t>(Luraghi et al. 2024)</a:t>
            </a:r>
          </a:p>
          <a:p>
            <a:endParaRPr lang="en-US" dirty="0"/>
          </a:p>
          <a:p>
            <a:r>
              <a:rPr lang="it-IT" dirty="0"/>
              <a:t> </a:t>
            </a:r>
            <a:endParaRPr lang="el-GR" dirty="0"/>
          </a:p>
        </p:txBody>
      </p:sp>
      <p:sp>
        <p:nvSpPr>
          <p:cNvPr id="11" name="10 - TextBox"/>
          <p:cNvSpPr txBox="1"/>
          <p:nvPr/>
        </p:nvSpPr>
        <p:spPr>
          <a:xfrm>
            <a:off x="3491880" y="2132856"/>
            <a:ext cx="5652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(</a:t>
            </a:r>
            <a:r>
              <a:rPr lang="en-US" sz="1400" dirty="0" err="1"/>
              <a:t>Lavidas</a:t>
            </a:r>
            <a:r>
              <a:rPr lang="en-US" sz="1400" dirty="0"/>
              <a:t> 2021; </a:t>
            </a:r>
            <a:r>
              <a:rPr lang="en-US" sz="1400" dirty="0" err="1"/>
              <a:t>Luraghi</a:t>
            </a:r>
            <a:r>
              <a:rPr lang="en-US" sz="1400" dirty="0"/>
              <a:t> &amp; </a:t>
            </a:r>
            <a:r>
              <a:rPr lang="en-US" sz="1400" dirty="0" err="1"/>
              <a:t>Sausa</a:t>
            </a:r>
            <a:r>
              <a:rPr lang="en-US" sz="1400" dirty="0"/>
              <a:t> 2016; </a:t>
            </a:r>
            <a:r>
              <a:rPr lang="en-US" sz="1400" dirty="0" err="1"/>
              <a:t>Sitaridou</a:t>
            </a:r>
            <a:r>
              <a:rPr lang="en-US" sz="1400" dirty="0"/>
              <a:t> et al 2005)</a:t>
            </a:r>
            <a:endParaRPr lang="el-GR" sz="1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3D2C6391-C785-A0E8-6406-5E004EF1C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5</a:t>
            </a:fld>
            <a:endParaRPr lang="el-G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11 - TextBox"/>
          <p:cNvSpPr txBox="1"/>
          <p:nvPr/>
        </p:nvSpPr>
        <p:spPr>
          <a:xfrm>
            <a:off x="323528" y="620688"/>
            <a:ext cx="3275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solidFill>
                  <a:schemeClr val="accent1">
                    <a:lumMod val="50000"/>
                  </a:schemeClr>
                </a:solidFill>
              </a:rPr>
              <a:t>Research Framework</a:t>
            </a:r>
            <a:endParaRPr lang="el-GR" sz="2400" b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12 - Ορθογώνιο"/>
          <p:cNvSpPr/>
          <p:nvPr/>
        </p:nvSpPr>
        <p:spPr>
          <a:xfrm>
            <a:off x="179512" y="1268760"/>
            <a:ext cx="896448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Interdisciplinary approach</a:t>
            </a:r>
            <a:r>
              <a:rPr lang="en-US" dirty="0"/>
              <a:t>: Diachronic - Historical Linguistics, Translation Studies, Computational analysis.</a:t>
            </a:r>
          </a:p>
          <a:p>
            <a:endParaRPr lang="en-US" dirty="0"/>
          </a:p>
          <a:p>
            <a:endParaRPr lang="en-US" dirty="0"/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en-US" dirty="0"/>
              <a:t> Focus on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transitivity</a:t>
            </a:r>
            <a:r>
              <a:rPr lang="en-US" dirty="0"/>
              <a:t>,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semantic structure </a:t>
            </a:r>
            <a:r>
              <a:rPr lang="en-US" dirty="0"/>
              <a:t>and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morphosyntactic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change.</a:t>
            </a:r>
          </a:p>
          <a:p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16" name="15 - TextBox"/>
          <p:cNvSpPr txBox="1"/>
          <p:nvPr/>
        </p:nvSpPr>
        <p:spPr>
          <a:xfrm>
            <a:off x="6876256" y="1916832"/>
            <a:ext cx="21467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</a:t>
            </a:r>
            <a:r>
              <a:rPr lang="en-US" sz="1400" dirty="0" err="1"/>
              <a:t>Lavidas</a:t>
            </a:r>
            <a:r>
              <a:rPr lang="en-US" sz="1400" dirty="0"/>
              <a:t> &amp; </a:t>
            </a:r>
            <a:r>
              <a:rPr lang="en-US" sz="1400" dirty="0" err="1"/>
              <a:t>Haug</a:t>
            </a:r>
            <a:r>
              <a:rPr lang="en-US" sz="1400" dirty="0"/>
              <a:t> 2019)</a:t>
            </a:r>
          </a:p>
          <a:p>
            <a:endParaRPr lang="el-GR" sz="1400" dirty="0"/>
          </a:p>
        </p:txBody>
      </p:sp>
      <p:sp>
        <p:nvSpPr>
          <p:cNvPr id="18" name="17 - TextBox"/>
          <p:cNvSpPr txBox="1"/>
          <p:nvPr/>
        </p:nvSpPr>
        <p:spPr>
          <a:xfrm>
            <a:off x="6033853" y="3212976"/>
            <a:ext cx="3110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</a:t>
            </a:r>
            <a:r>
              <a:rPr lang="en-US" sz="1400" dirty="0" err="1"/>
              <a:t>Lavidas</a:t>
            </a:r>
            <a:r>
              <a:rPr lang="en-US" sz="1400" dirty="0"/>
              <a:t>, 2009; Nikiforidou,1991)</a:t>
            </a:r>
            <a:endParaRPr lang="el-GR" sz="1400" dirty="0"/>
          </a:p>
          <a:p>
            <a:endParaRPr lang="el-GR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2CE01E22-B63A-90B9-E0AD-34BDCC0C2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6</a:t>
            </a:fld>
            <a:endParaRPr lang="el-G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Στρογγυλεμένο ορθογώνιο"/>
          <p:cNvSpPr/>
          <p:nvPr/>
        </p:nvSpPr>
        <p:spPr>
          <a:xfrm>
            <a:off x="3275856" y="692696"/>
            <a:ext cx="2592288" cy="122413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Material</a:t>
            </a:r>
            <a:endParaRPr lang="el-GR" b="1" dirty="0">
              <a:solidFill>
                <a:schemeClr val="tx1"/>
              </a:solidFill>
            </a:endParaRPr>
          </a:p>
        </p:txBody>
      </p:sp>
      <p:sp>
        <p:nvSpPr>
          <p:cNvPr id="14" name="13 - Στρογγυλεμένο ορθογώνιο"/>
          <p:cNvSpPr/>
          <p:nvPr/>
        </p:nvSpPr>
        <p:spPr>
          <a:xfrm>
            <a:off x="6047656" y="2348880"/>
            <a:ext cx="3096344" cy="1512168"/>
          </a:xfrm>
          <a:prstGeom prst="roundRect">
            <a:avLst/>
          </a:prstGeom>
          <a:solidFill>
            <a:srgbClr val="F0D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PROIEL software and annotation tools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15" name="14 - Στρογγυλεμένο ορθογώνιο"/>
          <p:cNvSpPr/>
          <p:nvPr/>
        </p:nvSpPr>
        <p:spPr>
          <a:xfrm>
            <a:off x="107504" y="2348880"/>
            <a:ext cx="3096344" cy="1512168"/>
          </a:xfrm>
          <a:prstGeom prst="roundRect">
            <a:avLst/>
          </a:prstGeom>
          <a:solidFill>
            <a:srgbClr val="F0DBD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Influential texts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(source texts and retranslations)</a:t>
            </a:r>
            <a:endParaRPr lang="el-GR" dirty="0">
              <a:solidFill>
                <a:schemeClr val="tx1"/>
              </a:solidFill>
            </a:endParaRPr>
          </a:p>
        </p:txBody>
      </p:sp>
      <p:cxnSp>
        <p:nvCxnSpPr>
          <p:cNvPr id="17" name="16 - Ευθύγραμμο βέλος σύνδεσης"/>
          <p:cNvCxnSpPr>
            <a:stCxn id="10" idx="1"/>
            <a:endCxn id="15" idx="0"/>
          </p:cNvCxnSpPr>
          <p:nvPr/>
        </p:nvCxnSpPr>
        <p:spPr>
          <a:xfrm flipH="1">
            <a:off x="1655676" y="1304764"/>
            <a:ext cx="1620180" cy="1044116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- Ευθύγραμμο βέλος σύνδεσης"/>
          <p:cNvCxnSpPr/>
          <p:nvPr/>
        </p:nvCxnSpPr>
        <p:spPr>
          <a:xfrm>
            <a:off x="5868144" y="1268760"/>
            <a:ext cx="1728192" cy="108012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A155060A-C754-C49A-8AB3-66872F5C2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7</a:t>
            </a:fld>
            <a:endParaRPr lang="el-G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14 - Τίτλος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i="1" dirty="0"/>
              <a:t>The </a:t>
            </a:r>
            <a:r>
              <a:rPr lang="en-US" i="1" dirty="0" err="1"/>
              <a:t>AthDGC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Corpus</a:t>
            </a:r>
            <a:endParaRPr lang="el-G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23 - Στρογγυλεμένο ορθογώνιο"/>
          <p:cNvSpPr/>
          <p:nvPr/>
        </p:nvSpPr>
        <p:spPr>
          <a:xfrm>
            <a:off x="611560" y="2708920"/>
            <a:ext cx="7992888" cy="3312368"/>
          </a:xfrm>
          <a:prstGeom prst="roundRect">
            <a:avLst/>
          </a:prstGeom>
          <a:solidFill>
            <a:srgbClr val="F0DBD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Ορθογώνιο"/>
          <p:cNvSpPr/>
          <p:nvPr/>
        </p:nvSpPr>
        <p:spPr>
          <a:xfrm>
            <a:off x="3203848" y="836712"/>
            <a:ext cx="2440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The </a:t>
            </a:r>
            <a:r>
              <a:rPr lang="en-US" b="1" dirty="0" err="1"/>
              <a:t>AthDGC</a:t>
            </a:r>
            <a:r>
              <a:rPr lang="en-US" b="1" dirty="0"/>
              <a:t> Corpus</a:t>
            </a:r>
            <a:endParaRPr lang="el-GR" dirty="0"/>
          </a:p>
        </p:txBody>
      </p:sp>
      <p:sp>
        <p:nvSpPr>
          <p:cNvPr id="11" name="10 - TextBox"/>
          <p:cNvSpPr txBox="1"/>
          <p:nvPr/>
        </p:nvSpPr>
        <p:spPr>
          <a:xfrm>
            <a:off x="251520" y="1484784"/>
            <a:ext cx="873187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Influential texts-</a:t>
            </a:r>
            <a:r>
              <a:rPr lang="en-US" dirty="0"/>
              <a:t>&gt; Texts that have a great impact in the history of humanity</a:t>
            </a:r>
          </a:p>
          <a:p>
            <a:r>
              <a:rPr lang="en-US" dirty="0"/>
              <a:t>e.g. The Bible, the Homeric Poems </a:t>
            </a:r>
            <a:r>
              <a:rPr lang="en-US" dirty="0" err="1"/>
              <a:t>etc</a:t>
            </a:r>
            <a:r>
              <a:rPr lang="en-US" dirty="0"/>
              <a:t>   - criterion: retranslated and </a:t>
            </a:r>
          </a:p>
          <a:p>
            <a:r>
              <a:rPr lang="en-US" dirty="0"/>
              <a:t>republished in many periods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0482" name="AutoShape 2" descr="https://chatgpt.com/backend-api/estuary/content?id=file_00000000aafc71f4a55808154c905c55&amp;ts=489662&amp;p=fs&amp;cid=1&amp;sig=454da1c6ca8ba1b149fd0bb013911362ab9ba9b5fac9ac1bd8e5a874be50ef8f&amp;v=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sp>
        <p:nvSpPr>
          <p:cNvPr id="14" name="13 - TextBox"/>
          <p:cNvSpPr txBox="1"/>
          <p:nvPr/>
        </p:nvSpPr>
        <p:spPr>
          <a:xfrm>
            <a:off x="2051720" y="2924944"/>
            <a:ext cx="6314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Indo-European Languages under investigation: Phase I</a:t>
            </a:r>
            <a:endParaRPr lang="el-GR" b="1" dirty="0"/>
          </a:p>
        </p:txBody>
      </p:sp>
      <p:sp>
        <p:nvSpPr>
          <p:cNvPr id="15" name="14 - Δεξιό άγκιστρο"/>
          <p:cNvSpPr/>
          <p:nvPr/>
        </p:nvSpPr>
        <p:spPr>
          <a:xfrm rot="16200000">
            <a:off x="3563888" y="2132856"/>
            <a:ext cx="1872208" cy="4176464"/>
          </a:xfrm>
          <a:prstGeom prst="rightBrac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cxnSp>
        <p:nvCxnSpPr>
          <p:cNvPr id="17" name="16 - Ευθεία γραμμή σύνδεσης"/>
          <p:cNvCxnSpPr/>
          <p:nvPr/>
        </p:nvCxnSpPr>
        <p:spPr>
          <a:xfrm>
            <a:off x="4499992" y="3645024"/>
            <a:ext cx="0" cy="1656184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17 - TextBox"/>
          <p:cNvSpPr txBox="1"/>
          <p:nvPr/>
        </p:nvSpPr>
        <p:spPr>
          <a:xfrm>
            <a:off x="2051720" y="5229200"/>
            <a:ext cx="11480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Hellenic </a:t>
            </a:r>
          </a:p>
          <a:p>
            <a:r>
              <a:rPr lang="en-US" b="1" dirty="0"/>
              <a:t>(Greek)</a:t>
            </a:r>
            <a:endParaRPr lang="el-GR" b="1" dirty="0"/>
          </a:p>
        </p:txBody>
      </p:sp>
      <p:sp>
        <p:nvSpPr>
          <p:cNvPr id="19" name="18 - TextBox"/>
          <p:cNvSpPr txBox="1"/>
          <p:nvPr/>
        </p:nvSpPr>
        <p:spPr>
          <a:xfrm>
            <a:off x="3491880" y="5229200"/>
            <a:ext cx="2172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Germanic </a:t>
            </a:r>
          </a:p>
          <a:p>
            <a:pPr algn="ctr"/>
            <a:r>
              <a:rPr lang="en-US" b="1" dirty="0"/>
              <a:t>(English &amp; Gothic)</a:t>
            </a:r>
            <a:endParaRPr lang="el-GR" b="1" dirty="0"/>
          </a:p>
        </p:txBody>
      </p:sp>
      <p:sp>
        <p:nvSpPr>
          <p:cNvPr id="20" name="19 - TextBox"/>
          <p:cNvSpPr txBox="1"/>
          <p:nvPr/>
        </p:nvSpPr>
        <p:spPr>
          <a:xfrm>
            <a:off x="5724128" y="5229200"/>
            <a:ext cx="24080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Romance</a:t>
            </a:r>
          </a:p>
          <a:p>
            <a:pPr algn="ctr"/>
            <a:r>
              <a:rPr lang="en-US" b="1" dirty="0"/>
              <a:t>(Latin &amp; Old French)</a:t>
            </a:r>
            <a:endParaRPr lang="el-GR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3D76E694-59AB-8102-B9A1-BC791BD3B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9</a:t>
            </a:fld>
            <a:endParaRPr lang="el-G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12 - Κουλούρα"/>
          <p:cNvSpPr/>
          <p:nvPr/>
        </p:nvSpPr>
        <p:spPr>
          <a:xfrm>
            <a:off x="1835696" y="980728"/>
            <a:ext cx="5544616" cy="5040560"/>
          </a:xfrm>
          <a:prstGeom prst="donu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>
              <a:solidFill>
                <a:schemeClr val="tx1"/>
              </a:solidFill>
            </a:endParaRPr>
          </a:p>
        </p:txBody>
      </p:sp>
      <p:sp>
        <p:nvSpPr>
          <p:cNvPr id="14" name="13 - TextBox"/>
          <p:cNvSpPr txBox="1"/>
          <p:nvPr/>
        </p:nvSpPr>
        <p:spPr>
          <a:xfrm>
            <a:off x="3347864" y="4941168"/>
            <a:ext cx="2667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Retranslations</a:t>
            </a:r>
            <a:endParaRPr lang="el-GR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14 - TextBox"/>
          <p:cNvSpPr txBox="1"/>
          <p:nvPr/>
        </p:nvSpPr>
        <p:spPr>
          <a:xfrm>
            <a:off x="3131840" y="1340768"/>
            <a:ext cx="30764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Original (source)</a:t>
            </a:r>
          </a:p>
          <a:p>
            <a:pPr algn="ctr"/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texts</a:t>
            </a:r>
            <a:endParaRPr lang="el-GR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15 - TextBox"/>
          <p:cNvSpPr txBox="1"/>
          <p:nvPr/>
        </p:nvSpPr>
        <p:spPr>
          <a:xfrm>
            <a:off x="3203848" y="3140968"/>
            <a:ext cx="29209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50000"/>
                  </a:schemeClr>
                </a:solidFill>
              </a:rPr>
              <a:t>Influential texts</a:t>
            </a:r>
            <a:endParaRPr lang="el-GR" sz="2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17" name="16 - Ευθεία γραμμή σύνδεσης"/>
          <p:cNvCxnSpPr>
            <a:stCxn id="13" idx="2"/>
          </p:cNvCxnSpPr>
          <p:nvPr/>
        </p:nvCxnSpPr>
        <p:spPr>
          <a:xfrm>
            <a:off x="1835696" y="3501008"/>
            <a:ext cx="1296144" cy="0"/>
          </a:xfrm>
          <a:prstGeom prst="line">
            <a:avLst/>
          </a:prstGeom>
          <a:ln w="476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- Ευθεία γραμμή σύνδεσης"/>
          <p:cNvCxnSpPr/>
          <p:nvPr/>
        </p:nvCxnSpPr>
        <p:spPr>
          <a:xfrm>
            <a:off x="6084168" y="3501008"/>
            <a:ext cx="1296144" cy="0"/>
          </a:xfrm>
          <a:prstGeom prst="line">
            <a:avLst/>
          </a:prstGeom>
          <a:ln w="4762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37C9E911-3616-5089-DB9D-5D4CB0AFC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10</a:t>
            </a:fld>
            <a:endParaRPr lang="el-GR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CD13CE4-8CAB-39E6-8137-CBC5173513EB}"/>
              </a:ext>
            </a:extLst>
          </p:cNvPr>
          <p:cNvSpPr txBox="1"/>
          <p:nvPr/>
        </p:nvSpPr>
        <p:spPr>
          <a:xfrm>
            <a:off x="6300192" y="980728"/>
            <a:ext cx="2376264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&amp; Texts representative of different periods: for diachronic, contrastive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11 - Στρογγυλεμένο ορθογώνιο"/>
          <p:cNvSpPr/>
          <p:nvPr/>
        </p:nvSpPr>
        <p:spPr>
          <a:xfrm>
            <a:off x="2699792" y="548680"/>
            <a:ext cx="396044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Original texts</a:t>
            </a:r>
            <a:endParaRPr lang="el-GR" sz="2800" b="1" dirty="0">
              <a:solidFill>
                <a:schemeClr val="tx1"/>
              </a:solidFill>
            </a:endParaRPr>
          </a:p>
        </p:txBody>
      </p:sp>
      <p:cxnSp>
        <p:nvCxnSpPr>
          <p:cNvPr id="14" name="13 - Ευθύγραμμο βέλος σύνδεσης"/>
          <p:cNvCxnSpPr/>
          <p:nvPr/>
        </p:nvCxnSpPr>
        <p:spPr>
          <a:xfrm flipH="1">
            <a:off x="2267744" y="1268760"/>
            <a:ext cx="1440160" cy="64807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- Στρογγυλεμένο ορθογώνιο"/>
          <p:cNvSpPr/>
          <p:nvPr/>
        </p:nvSpPr>
        <p:spPr>
          <a:xfrm>
            <a:off x="0" y="2060848"/>
            <a:ext cx="3131840" cy="410445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>
                <a:solidFill>
                  <a:schemeClr val="tx1"/>
                </a:solidFill>
              </a:rPr>
              <a:t>Greek texts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Ancient Greek</a:t>
            </a:r>
            <a:r>
              <a:rPr lang="en-US" dirty="0">
                <a:solidFill>
                  <a:schemeClr val="tx1"/>
                </a:solidFill>
              </a:rPr>
              <a:t>: e.g. Homeric poems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Hellenistic Greek</a:t>
            </a:r>
            <a:r>
              <a:rPr lang="en-US" dirty="0">
                <a:solidFill>
                  <a:schemeClr val="tx1"/>
                </a:solidFill>
              </a:rPr>
              <a:t>: e.g. </a:t>
            </a:r>
            <a:r>
              <a:rPr lang="en-US" i="1" dirty="0">
                <a:solidFill>
                  <a:schemeClr val="tx1"/>
                </a:solidFill>
              </a:rPr>
              <a:t>New Testament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Medieval Greek</a:t>
            </a:r>
            <a:r>
              <a:rPr lang="en-US" dirty="0">
                <a:solidFill>
                  <a:schemeClr val="tx1"/>
                </a:solidFill>
              </a:rPr>
              <a:t>: e.g. </a:t>
            </a:r>
            <a:r>
              <a:rPr lang="en-US" i="1" dirty="0" err="1">
                <a:solidFill>
                  <a:schemeClr val="tx1"/>
                </a:solidFill>
              </a:rPr>
              <a:t>Psellos</a:t>
            </a:r>
            <a:r>
              <a:rPr lang="en-US" i="1" dirty="0">
                <a:solidFill>
                  <a:schemeClr val="tx1"/>
                </a:solidFill>
              </a:rPr>
              <a:t>’ </a:t>
            </a:r>
            <a:r>
              <a:rPr lang="en-US" i="1" dirty="0" err="1">
                <a:solidFill>
                  <a:schemeClr val="tx1"/>
                </a:solidFill>
              </a:rPr>
              <a:t>Chronographia</a:t>
            </a:r>
            <a:endParaRPr lang="en-US" i="1" dirty="0">
              <a:solidFill>
                <a:schemeClr val="tx1"/>
              </a:solidFill>
            </a:endParaRPr>
          </a:p>
          <a:p>
            <a:endParaRPr lang="en-US" i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Early Modern Greek</a:t>
            </a:r>
            <a:r>
              <a:rPr lang="en-US" dirty="0">
                <a:solidFill>
                  <a:schemeClr val="tx1"/>
                </a:solidFill>
              </a:rPr>
              <a:t>: e.g. </a:t>
            </a:r>
            <a:r>
              <a:rPr lang="en-US" i="1" dirty="0" err="1">
                <a:solidFill>
                  <a:schemeClr val="tx1"/>
                </a:solidFill>
              </a:rPr>
              <a:t>Digenis</a:t>
            </a:r>
            <a:r>
              <a:rPr lang="en-US" i="1" dirty="0">
                <a:solidFill>
                  <a:schemeClr val="tx1"/>
                </a:solidFill>
              </a:rPr>
              <a:t> </a:t>
            </a:r>
            <a:r>
              <a:rPr lang="en-US" i="1" dirty="0" err="1">
                <a:solidFill>
                  <a:schemeClr val="tx1"/>
                </a:solidFill>
              </a:rPr>
              <a:t>Akritas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17" name="16 - Στρογγυλεμένο ορθογώνιο"/>
          <p:cNvSpPr/>
          <p:nvPr/>
        </p:nvSpPr>
        <p:spPr>
          <a:xfrm>
            <a:off x="3419872" y="2060848"/>
            <a:ext cx="3096344" cy="410445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>
                <a:solidFill>
                  <a:schemeClr val="tx1"/>
                </a:solidFill>
              </a:rPr>
              <a:t>English texts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Old English</a:t>
            </a:r>
            <a:r>
              <a:rPr lang="en-US" dirty="0">
                <a:solidFill>
                  <a:schemeClr val="tx1"/>
                </a:solidFill>
              </a:rPr>
              <a:t>: e.g. </a:t>
            </a:r>
            <a:r>
              <a:rPr lang="en-US" i="1" dirty="0" err="1">
                <a:solidFill>
                  <a:schemeClr val="tx1"/>
                </a:solidFill>
              </a:rPr>
              <a:t>Ælfric's</a:t>
            </a:r>
            <a:r>
              <a:rPr lang="en-US" i="1" dirty="0">
                <a:solidFill>
                  <a:schemeClr val="tx1"/>
                </a:solidFill>
              </a:rPr>
              <a:t> Lives of Saints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Middle English</a:t>
            </a:r>
            <a:r>
              <a:rPr lang="en-US" dirty="0">
                <a:solidFill>
                  <a:schemeClr val="tx1"/>
                </a:solidFill>
              </a:rPr>
              <a:t>: e.g.</a:t>
            </a:r>
            <a:r>
              <a:rPr lang="en-US" i="1" dirty="0">
                <a:solidFill>
                  <a:schemeClr val="tx1"/>
                </a:solidFill>
              </a:rPr>
              <a:t> </a:t>
            </a:r>
            <a:r>
              <a:rPr lang="en-US" i="1" dirty="0" err="1">
                <a:solidFill>
                  <a:schemeClr val="tx1"/>
                </a:solidFill>
              </a:rPr>
              <a:t>Orrmin</a:t>
            </a:r>
            <a:r>
              <a:rPr lang="en-US" i="1" dirty="0">
                <a:solidFill>
                  <a:schemeClr val="tx1"/>
                </a:solidFill>
              </a:rPr>
              <a:t>: The </a:t>
            </a:r>
            <a:r>
              <a:rPr lang="en-US" i="1" dirty="0" err="1">
                <a:solidFill>
                  <a:schemeClr val="tx1"/>
                </a:solidFill>
              </a:rPr>
              <a:t>Ormulum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Modern English</a:t>
            </a:r>
            <a:r>
              <a:rPr lang="en-US" dirty="0">
                <a:solidFill>
                  <a:schemeClr val="tx1"/>
                </a:solidFill>
              </a:rPr>
              <a:t>: e.g. Jane Austen’s </a:t>
            </a:r>
            <a:r>
              <a:rPr lang="en-US" i="1" dirty="0">
                <a:solidFill>
                  <a:schemeClr val="tx1"/>
                </a:solidFill>
              </a:rPr>
              <a:t>Pride and Prejudice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17 - Στρογγυλεμένο ορθογώνιο"/>
          <p:cNvSpPr/>
          <p:nvPr/>
        </p:nvSpPr>
        <p:spPr>
          <a:xfrm>
            <a:off x="6660232" y="2060848"/>
            <a:ext cx="2483768" cy="244827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>
                <a:solidFill>
                  <a:schemeClr val="tx1"/>
                </a:solidFill>
              </a:rPr>
              <a:t>Old French:</a:t>
            </a:r>
          </a:p>
          <a:p>
            <a:r>
              <a:rPr lang="fr-FR" i="1" dirty="0" err="1">
                <a:solidFill>
                  <a:schemeClr val="tx1"/>
                </a:solidFill>
              </a:rPr>
              <a:t>e.g</a:t>
            </a:r>
            <a:r>
              <a:rPr lang="fr-FR" i="1" dirty="0">
                <a:solidFill>
                  <a:schemeClr val="tx1"/>
                </a:solidFill>
              </a:rPr>
              <a:t>. La Vie de Saint Eustache</a:t>
            </a:r>
          </a:p>
          <a:p>
            <a:endParaRPr lang="fr-FR" i="1" dirty="0">
              <a:solidFill>
                <a:schemeClr val="tx1"/>
              </a:solidFill>
            </a:endParaRPr>
          </a:p>
        </p:txBody>
      </p:sp>
      <p:cxnSp>
        <p:nvCxnSpPr>
          <p:cNvPr id="19" name="18 - Ευθύγραμμο βέλος σύνδεσης"/>
          <p:cNvCxnSpPr/>
          <p:nvPr/>
        </p:nvCxnSpPr>
        <p:spPr>
          <a:xfrm flipH="1">
            <a:off x="4716016" y="1268760"/>
            <a:ext cx="8384" cy="72008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- Ευθύγραμμο βέλος σύνδεσης"/>
          <p:cNvCxnSpPr/>
          <p:nvPr/>
        </p:nvCxnSpPr>
        <p:spPr>
          <a:xfrm>
            <a:off x="6596608" y="1196752"/>
            <a:ext cx="1215752" cy="72008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F422BAAE-330A-2626-A3AD-9903E2CC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11</a:t>
            </a:fld>
            <a:endParaRPr lang="el-G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10 - Στρογγυλεμένο ορθογώνιο"/>
          <p:cNvSpPr/>
          <p:nvPr/>
        </p:nvSpPr>
        <p:spPr>
          <a:xfrm>
            <a:off x="2699792" y="548680"/>
            <a:ext cx="396044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Retranslations</a:t>
            </a:r>
            <a:endParaRPr lang="el-GR" sz="2800" b="1" dirty="0">
              <a:solidFill>
                <a:schemeClr val="tx1"/>
              </a:solidFill>
            </a:endParaRPr>
          </a:p>
        </p:txBody>
      </p:sp>
      <p:cxnSp>
        <p:nvCxnSpPr>
          <p:cNvPr id="12" name="11 - Ευθύγραμμο βέλος σύνδεσης"/>
          <p:cNvCxnSpPr/>
          <p:nvPr/>
        </p:nvCxnSpPr>
        <p:spPr>
          <a:xfrm flipH="1">
            <a:off x="2195736" y="1268760"/>
            <a:ext cx="1512168" cy="72008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2 - Κατακόρυφος πάπυρος"/>
          <p:cNvSpPr/>
          <p:nvPr/>
        </p:nvSpPr>
        <p:spPr>
          <a:xfrm>
            <a:off x="0" y="2060848"/>
            <a:ext cx="4355976" cy="3816424"/>
          </a:xfrm>
          <a:prstGeom prst="verticalScroll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Intralingual</a:t>
            </a:r>
            <a:r>
              <a:rPr lang="en-US" sz="2000" b="1" dirty="0">
                <a:solidFill>
                  <a:schemeClr val="tx1"/>
                </a:solidFill>
              </a:rPr>
              <a:t> translations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e.g. the </a:t>
            </a:r>
            <a:r>
              <a:rPr lang="en-US" b="1" dirty="0">
                <a:solidFill>
                  <a:schemeClr val="tx1"/>
                </a:solidFill>
              </a:rPr>
              <a:t>Greek</a:t>
            </a:r>
            <a:r>
              <a:rPr lang="en-US" dirty="0">
                <a:solidFill>
                  <a:schemeClr val="tx1"/>
                </a:solidFill>
              </a:rPr>
              <a:t> retranslation of the New Testament by Alexandros Palles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(20</a:t>
            </a:r>
            <a:r>
              <a:rPr lang="en-US" baseline="30000" dirty="0">
                <a:solidFill>
                  <a:schemeClr val="tx1"/>
                </a:solidFill>
              </a:rPr>
              <a:t>th</a:t>
            </a:r>
            <a:r>
              <a:rPr lang="en-US" dirty="0">
                <a:solidFill>
                  <a:schemeClr val="tx1"/>
                </a:solidFill>
              </a:rPr>
              <a:t> century) 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14" name="13 - Κατακόρυφος πάπυρος"/>
          <p:cNvSpPr/>
          <p:nvPr/>
        </p:nvSpPr>
        <p:spPr>
          <a:xfrm>
            <a:off x="4860032" y="2132856"/>
            <a:ext cx="4283968" cy="3744416"/>
          </a:xfrm>
          <a:prstGeom prst="verticalScroll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Interlingual</a:t>
            </a:r>
            <a:r>
              <a:rPr lang="en-US" sz="2000" b="1" dirty="0">
                <a:solidFill>
                  <a:schemeClr val="tx1"/>
                </a:solidFill>
              </a:rPr>
              <a:t> translations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e.g. the </a:t>
            </a:r>
            <a:r>
              <a:rPr lang="en-US" b="1" dirty="0">
                <a:solidFill>
                  <a:schemeClr val="tx1"/>
                </a:solidFill>
              </a:rPr>
              <a:t>English</a:t>
            </a:r>
            <a:r>
              <a:rPr lang="en-US" dirty="0">
                <a:solidFill>
                  <a:schemeClr val="tx1"/>
                </a:solidFill>
              </a:rPr>
              <a:t> retranslation of the New Testament by William Tyndale 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(16</a:t>
            </a:r>
            <a:r>
              <a:rPr lang="en-US" baseline="30000" dirty="0">
                <a:solidFill>
                  <a:schemeClr val="tx1"/>
                </a:solidFill>
              </a:rPr>
              <a:t>th</a:t>
            </a:r>
            <a:r>
              <a:rPr lang="en-US" dirty="0">
                <a:solidFill>
                  <a:schemeClr val="tx1"/>
                </a:solidFill>
              </a:rPr>
              <a:t> century)</a:t>
            </a:r>
            <a:endParaRPr lang="el-GR" dirty="0">
              <a:solidFill>
                <a:schemeClr val="tx1"/>
              </a:solidFill>
            </a:endParaRPr>
          </a:p>
        </p:txBody>
      </p:sp>
      <p:cxnSp>
        <p:nvCxnSpPr>
          <p:cNvPr id="15" name="14 - Ευθύγραμμο βέλος σύνδεσης"/>
          <p:cNvCxnSpPr/>
          <p:nvPr/>
        </p:nvCxnSpPr>
        <p:spPr>
          <a:xfrm>
            <a:off x="6012160" y="1268760"/>
            <a:ext cx="1224136" cy="79208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8E3F7C1F-5FF5-F3EB-812F-230093D5B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12</a:t>
            </a:fld>
            <a:endParaRPr lang="el-G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10 - Τίτλος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b="0" dirty="0"/>
              <a:t>Pragmatic Resources in Old Indo-European Languages</a:t>
            </a:r>
            <a:br>
              <a:rPr lang="en-US" b="0" dirty="0"/>
            </a:br>
            <a:r>
              <a:rPr lang="en-US" b="0" dirty="0"/>
              <a:t>- </a:t>
            </a:r>
            <a:r>
              <a:rPr lang="en-US" i="1" dirty="0"/>
              <a:t>PROIEL</a:t>
            </a:r>
            <a:endParaRPr lang="el-GR" i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Ορθογώνιο"/>
          <p:cNvSpPr/>
          <p:nvPr/>
        </p:nvSpPr>
        <p:spPr>
          <a:xfrm>
            <a:off x="107504" y="692696"/>
            <a:ext cx="24849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The PROIEL platform</a:t>
            </a:r>
            <a:endParaRPr lang="el-GR" dirty="0"/>
          </a:p>
        </p:txBody>
      </p:sp>
      <p:sp>
        <p:nvSpPr>
          <p:cNvPr id="11" name="10 - TextBox"/>
          <p:cNvSpPr txBox="1"/>
          <p:nvPr/>
        </p:nvSpPr>
        <p:spPr>
          <a:xfrm>
            <a:off x="107505" y="1268760"/>
            <a:ext cx="8856984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PROIEL interface </a:t>
            </a:r>
            <a:r>
              <a:rPr lang="en-US" dirty="0"/>
              <a:t>has been used by scholars to study language </a:t>
            </a:r>
            <a:r>
              <a:rPr lang="en-US" dirty="0" err="1"/>
              <a:t>diachrony</a:t>
            </a:r>
            <a:r>
              <a:rPr lang="en-US" dirty="0"/>
              <a:t> and written language contact. </a:t>
            </a:r>
          </a:p>
          <a:p>
            <a:pPr algn="r"/>
            <a:r>
              <a:rPr lang="en-US" sz="1400" dirty="0"/>
              <a:t>(cf. </a:t>
            </a:r>
            <a:r>
              <a:rPr lang="en-US" sz="1400" dirty="0" err="1"/>
              <a:t>Lavidas</a:t>
            </a:r>
            <a:r>
              <a:rPr lang="en-US" sz="1400" dirty="0"/>
              <a:t> &amp; </a:t>
            </a:r>
            <a:r>
              <a:rPr lang="en-US" sz="1400" dirty="0" err="1"/>
              <a:t>Haug</a:t>
            </a:r>
            <a:r>
              <a:rPr lang="en-US" sz="1400" dirty="0"/>
              <a:t>, 2019; Klein 2011; </a:t>
            </a:r>
            <a:r>
              <a:rPr lang="en-US" sz="1400" dirty="0" err="1"/>
              <a:t>Giannolo</a:t>
            </a:r>
            <a:r>
              <a:rPr lang="en-US" sz="1400" dirty="0"/>
              <a:t> 2011)</a:t>
            </a:r>
          </a:p>
          <a:p>
            <a:endParaRPr lang="en-US" dirty="0"/>
          </a:p>
          <a:p>
            <a:endParaRPr lang="el-GR" dirty="0"/>
          </a:p>
        </p:txBody>
      </p:sp>
      <p:sp>
        <p:nvSpPr>
          <p:cNvPr id="12" name="11 - Στρογγυλεμένο ορθογώνιο"/>
          <p:cNvSpPr/>
          <p:nvPr/>
        </p:nvSpPr>
        <p:spPr>
          <a:xfrm>
            <a:off x="0" y="2132856"/>
            <a:ext cx="6336704" cy="864096"/>
          </a:xfrm>
          <a:prstGeom prst="roundRect">
            <a:avLst/>
          </a:prstGeom>
          <a:solidFill>
            <a:srgbClr val="E0C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Open-source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software</a:t>
            </a:r>
            <a:r>
              <a:rPr lang="en-US" dirty="0">
                <a:solidFill>
                  <a:schemeClr val="tx1"/>
                </a:solidFill>
              </a:rPr>
              <a:t> tools and </a:t>
            </a:r>
            <a:r>
              <a:rPr lang="en-US" b="1" dirty="0">
                <a:solidFill>
                  <a:schemeClr val="tx1"/>
                </a:solidFill>
              </a:rPr>
              <a:t>annotation</a:t>
            </a:r>
            <a:r>
              <a:rPr lang="en-US" dirty="0">
                <a:solidFill>
                  <a:schemeClr val="tx1"/>
                </a:solidFill>
              </a:rPr>
              <a:t> schemes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13" name="12 - Στρογγυλεμένο ορθογώνιο"/>
          <p:cNvSpPr/>
          <p:nvPr/>
        </p:nvSpPr>
        <p:spPr>
          <a:xfrm>
            <a:off x="827584" y="3068960"/>
            <a:ext cx="7200800" cy="115212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 </a:t>
            </a:r>
            <a:r>
              <a:rPr lang="en-US" b="1" u="sng" dirty="0">
                <a:solidFill>
                  <a:schemeClr val="tx1"/>
                </a:solidFill>
              </a:rPr>
              <a:t>Annotation guidelines regarding:</a:t>
            </a:r>
          </a:p>
          <a:p>
            <a:pPr marL="342900" indent="-342900" algn="ctr">
              <a:buAutoNum type="alphaLcParenR"/>
            </a:pPr>
            <a:r>
              <a:rPr lang="en-US" dirty="0">
                <a:solidFill>
                  <a:schemeClr val="tx1"/>
                </a:solidFill>
              </a:rPr>
              <a:t>tokenization and sentence division (fully automated)</a:t>
            </a:r>
          </a:p>
          <a:p>
            <a:pPr marL="342900" indent="-342900" algn="ctr">
              <a:buAutoNum type="alphaLcParenR"/>
            </a:pPr>
            <a:r>
              <a:rPr lang="en-US" dirty="0">
                <a:solidFill>
                  <a:schemeClr val="tx1"/>
                </a:solidFill>
              </a:rPr>
              <a:t>morphological annotation (partly automated)</a:t>
            </a:r>
          </a:p>
          <a:p>
            <a:pPr marL="342900" indent="-342900" algn="ctr"/>
            <a:r>
              <a:rPr lang="en-US" dirty="0">
                <a:solidFill>
                  <a:schemeClr val="tx1"/>
                </a:solidFill>
              </a:rPr>
              <a:t>c) syntactic annotation (manually completed)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14" name="13 - Στρογγυλεμένο ορθογώνιο"/>
          <p:cNvSpPr/>
          <p:nvPr/>
        </p:nvSpPr>
        <p:spPr>
          <a:xfrm>
            <a:off x="1403648" y="4293096"/>
            <a:ext cx="7740352" cy="20162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Dependency grammar scheme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Morphological and Syntactic </a:t>
            </a:r>
            <a:r>
              <a:rPr lang="en-US" b="1" dirty="0" err="1">
                <a:solidFill>
                  <a:schemeClr val="tx1"/>
                </a:solidFill>
              </a:rPr>
              <a:t>tagset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algn="just"/>
            <a:endParaRPr lang="en-US" dirty="0">
              <a:solidFill>
                <a:schemeClr val="tx1"/>
              </a:solidFill>
            </a:endParaRPr>
          </a:p>
          <a:p>
            <a:pPr algn="just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Effective in the analysis of </a:t>
            </a:r>
            <a:r>
              <a:rPr lang="en-US" b="1" dirty="0">
                <a:solidFill>
                  <a:schemeClr val="tx1"/>
                </a:solidFill>
              </a:rPr>
              <a:t>free-word order languages</a:t>
            </a:r>
          </a:p>
        </p:txBody>
      </p:sp>
      <p:sp>
        <p:nvSpPr>
          <p:cNvPr id="15" name="14 - TextBox"/>
          <p:cNvSpPr txBox="1"/>
          <p:nvPr/>
        </p:nvSpPr>
        <p:spPr>
          <a:xfrm>
            <a:off x="7593576" y="6021288"/>
            <a:ext cx="15504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</a:t>
            </a:r>
            <a:r>
              <a:rPr lang="en-US" sz="1200" dirty="0" err="1"/>
              <a:t>Eckoff</a:t>
            </a:r>
            <a:r>
              <a:rPr lang="en-US" sz="1200" dirty="0"/>
              <a:t> et al 2018)</a:t>
            </a:r>
            <a:endParaRPr lang="el-GR" sz="1200" dirty="0"/>
          </a:p>
        </p:txBody>
      </p:sp>
      <p:sp>
        <p:nvSpPr>
          <p:cNvPr id="17" name="16 - Βέλος προς τα κάτω"/>
          <p:cNvSpPr/>
          <p:nvPr/>
        </p:nvSpPr>
        <p:spPr>
          <a:xfrm>
            <a:off x="4932040" y="5301208"/>
            <a:ext cx="360040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1845CCFB-0308-C33B-0832-D6E58383C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14</a:t>
            </a:fld>
            <a:endParaRPr lang="el-G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" name="9 - Πίνακας"/>
          <p:cNvGraphicFramePr>
            <a:graphicFrameLocks noGrp="1"/>
          </p:cNvGraphicFramePr>
          <p:nvPr/>
        </p:nvGraphicFramePr>
        <p:xfrm>
          <a:off x="1115616" y="692696"/>
          <a:ext cx="7272808" cy="5096632"/>
        </p:xfrm>
        <a:graphic>
          <a:graphicData uri="http://schemas.openxmlformats.org/drawingml/2006/table">
            <a:tbl>
              <a:tblPr/>
              <a:tblGrid>
                <a:gridCol w="181820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1820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1820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81820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98915"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PRED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predicate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8915"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VOC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vocative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8915"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COMP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complement 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98915"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PARPRED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parenthetical predication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98915"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AUX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Auxiliary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98915"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Verbal dependencies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Adnominal dependencies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98915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SUB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subject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ATR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Attribute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98915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OBJ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object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PART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Partitive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515306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OBL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oblique (verbal arguments in oblique cases)</a:t>
                      </a:r>
                      <a:endParaRPr lang="fr-FR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NARG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noun argument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98915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AG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passive agent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APOS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Appositions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57110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ADV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adverbial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l-GR" sz="1000"/>
                        <a:t/>
                      </a:r>
                      <a:br>
                        <a:rPr lang="el-GR" sz="1000"/>
                      </a:br>
                      <a:endParaRPr lang="el-GR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l-GR" sz="1000"/>
                        <a:t/>
                      </a:r>
                      <a:br>
                        <a:rPr lang="el-GR" sz="1000"/>
                      </a:br>
                      <a:endParaRPr lang="el-GR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57110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XOBJ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predicative complements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l-GR" sz="1000" dirty="0"/>
                        <a:t/>
                      </a:r>
                      <a:br>
                        <a:rPr lang="el-GR" sz="1000" dirty="0"/>
                      </a:br>
                      <a:endParaRPr lang="el-GR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l-GR" sz="1000"/>
                        <a:t/>
                      </a:r>
                      <a:br>
                        <a:rPr lang="el-GR" sz="1000"/>
                      </a:br>
                      <a:endParaRPr lang="el-GR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357110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APOS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adverbial appositions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l-GR" sz="1000" dirty="0"/>
                        <a:t/>
                      </a:r>
                      <a:br>
                        <a:rPr lang="el-GR" sz="1000" dirty="0"/>
                      </a:br>
                      <a:endParaRPr lang="el-GR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l-GR" sz="1000"/>
                        <a:t/>
                      </a:r>
                      <a:br>
                        <a:rPr lang="el-GR" sz="1000"/>
                      </a:br>
                      <a:endParaRPr lang="el-GR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57110"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XADV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conjunct (or predicative) participles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l-GR" sz="1000" dirty="0"/>
                        <a:t/>
                      </a:r>
                      <a:br>
                        <a:rPr lang="el-GR" sz="1000" dirty="0"/>
                      </a:br>
                      <a:endParaRPr lang="el-GR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l-GR" sz="1000"/>
                        <a:t/>
                      </a:r>
                      <a:br>
                        <a:rPr lang="el-GR" sz="1000"/>
                      </a:br>
                      <a:endParaRPr lang="el-GR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198915">
                <a:tc gridSpan="4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Supertags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 (ambiguous cases)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198915"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PER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OBL or ADV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198915"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ARG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OBJ or OBL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198915"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NONSUB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OBJ, OBL or ADV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198915"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ADNOM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ATR, APOS, PART or NARG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8"/>
                  </a:ext>
                </a:extLst>
              </a:tr>
              <a:tr h="240002"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REL</a:t>
                      </a:r>
                      <a:endParaRPr lang="en-US" sz="100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Times New Roman"/>
                        </a:rPr>
                        <a:t>ATR or APOS (for relative clauses)</a:t>
                      </a:r>
                      <a:endParaRPr lang="en-US" sz="1000" dirty="0"/>
                    </a:p>
                  </a:txBody>
                  <a:tcPr marL="41189" marR="41189" marT="27459" marB="27459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5361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l-G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Table 1. The 22 syntactic tagset of PROEIL (Haug 2010).</a:t>
            </a:r>
            <a:endParaRPr kumimoji="0" lang="el-GR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l-G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l-G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l-G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10 - Ορθογώνιο"/>
          <p:cNvSpPr/>
          <p:nvPr/>
        </p:nvSpPr>
        <p:spPr>
          <a:xfrm>
            <a:off x="1907704" y="5877272"/>
            <a:ext cx="69847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1" dirty="0"/>
              <a:t>Table 1. The 22 syntactic </a:t>
            </a:r>
            <a:r>
              <a:rPr lang="en-US" sz="1600" b="1" i="1" dirty="0" err="1"/>
              <a:t>tagset</a:t>
            </a:r>
            <a:r>
              <a:rPr lang="en-US" sz="1600" b="1" i="1" dirty="0"/>
              <a:t> of PROEIL </a:t>
            </a:r>
            <a:r>
              <a:rPr lang="en-US" sz="1600" b="1" dirty="0"/>
              <a:t>(</a:t>
            </a:r>
            <a:r>
              <a:rPr lang="en-US" sz="1600" b="1" dirty="0" err="1"/>
              <a:t>Haug</a:t>
            </a:r>
            <a:r>
              <a:rPr lang="en-US" sz="1600" b="1" dirty="0"/>
              <a:t> 2010).</a:t>
            </a:r>
            <a:endParaRPr lang="el-GR" sz="16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60D6A280-BFE8-679F-EFB8-E53B489F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15</a:t>
            </a:fld>
            <a:endParaRPr lang="el-G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12 - Τίτλος"/>
          <p:cNvSpPr>
            <a:spLocks noGrp="1"/>
          </p:cNvSpPr>
          <p:nvPr>
            <p:ph type="ctrTitle"/>
          </p:nvPr>
        </p:nvSpPr>
        <p:spPr>
          <a:xfrm>
            <a:off x="611560" y="1556792"/>
            <a:ext cx="853244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b="1" dirty="0"/>
              <a:t>The</a:t>
            </a:r>
            <a:r>
              <a:rPr lang="en-US" b="1" i="1" dirty="0"/>
              <a:t> ATHDGC </a:t>
            </a:r>
            <a:r>
              <a:rPr lang="en-US" b="1" dirty="0"/>
              <a:t>corpus Construction Principles</a:t>
            </a:r>
            <a:endParaRPr lang="en-US" dirty="0"/>
          </a:p>
          <a:p>
            <a:pPr algn="l"/>
            <a:r>
              <a:rPr lang="en-US" dirty="0"/>
              <a:t/>
            </a:r>
            <a:br>
              <a:rPr lang="en-US" dirty="0"/>
            </a:br>
            <a:endParaRPr lang="el-G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Ορθογώνιο"/>
          <p:cNvSpPr/>
          <p:nvPr/>
        </p:nvSpPr>
        <p:spPr>
          <a:xfrm>
            <a:off x="1475656" y="836712"/>
            <a:ext cx="7200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The Corpus Construction Principles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l-GR" dirty="0"/>
          </a:p>
        </p:txBody>
      </p:sp>
      <p:sp>
        <p:nvSpPr>
          <p:cNvPr id="12" name="11 - Επεξήγηση με γραμμή 1"/>
          <p:cNvSpPr/>
          <p:nvPr/>
        </p:nvSpPr>
        <p:spPr>
          <a:xfrm>
            <a:off x="611560" y="2420888"/>
            <a:ext cx="2016224" cy="1512168"/>
          </a:xfrm>
          <a:prstGeom prst="borderCallout1">
            <a:avLst>
              <a:gd name="adj1" fmla="val -7744"/>
              <a:gd name="adj2" fmla="val 49817"/>
              <a:gd name="adj3" fmla="val -66867"/>
              <a:gd name="adj4" fmla="val 133938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Diachronic and Theoretical (argument structure) Research</a:t>
            </a:r>
            <a:endParaRPr lang="el-GR" b="1" dirty="0">
              <a:solidFill>
                <a:schemeClr val="tx1"/>
              </a:solidFill>
            </a:endParaRPr>
          </a:p>
        </p:txBody>
      </p:sp>
      <p:sp>
        <p:nvSpPr>
          <p:cNvPr id="13" name="12 - Επεξήγηση με γραμμή 1"/>
          <p:cNvSpPr/>
          <p:nvPr/>
        </p:nvSpPr>
        <p:spPr>
          <a:xfrm>
            <a:off x="3491880" y="2636912"/>
            <a:ext cx="2016224" cy="1512168"/>
          </a:xfrm>
          <a:prstGeom prst="borderCallout1">
            <a:avLst>
              <a:gd name="adj1" fmla="val -11976"/>
              <a:gd name="adj2" fmla="val 48910"/>
              <a:gd name="adj3" fmla="val -81985"/>
              <a:gd name="adj4" fmla="val 49584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Digitization</a:t>
            </a:r>
            <a:endParaRPr lang="el-GR" b="1" dirty="0">
              <a:solidFill>
                <a:schemeClr val="tx1"/>
              </a:solidFill>
            </a:endParaRPr>
          </a:p>
        </p:txBody>
      </p:sp>
      <p:sp>
        <p:nvSpPr>
          <p:cNvPr id="14" name="13 - Επεξήγηση με γραμμή 1"/>
          <p:cNvSpPr/>
          <p:nvPr/>
        </p:nvSpPr>
        <p:spPr>
          <a:xfrm>
            <a:off x="6948264" y="2492896"/>
            <a:ext cx="2016224" cy="1512168"/>
          </a:xfrm>
          <a:prstGeom prst="borderCallout1">
            <a:avLst>
              <a:gd name="adj1" fmla="val -8348"/>
              <a:gd name="adj2" fmla="val 49364"/>
              <a:gd name="adj3" fmla="val -74728"/>
              <a:gd name="adj4" fmla="val -41574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Annotation</a:t>
            </a:r>
            <a:endParaRPr lang="el-GR" b="1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938DBD24-9C45-066E-CBF8-BD16799BB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17</a:t>
            </a:fld>
            <a:endParaRPr lang="el-G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</a:t>
            </a:r>
            <a:endParaRPr lang="el-GR" dirty="0"/>
          </a:p>
        </p:txBody>
      </p:sp>
      <p:sp>
        <p:nvSpPr>
          <p:cNvPr id="11" name="10 - Θέση περιεχομένου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Text selection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Influential texts and sources as close as possible to the digital versions.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Copyright free texts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Metadata (Author, date, URL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3CAEB59D-E0B7-FA39-620B-6A73F11E4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18</a:t>
            </a:fld>
            <a:endParaRPr lang="el-G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10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Digitization</a:t>
            </a:r>
            <a:endParaRPr lang="el-GR" dirty="0"/>
          </a:p>
        </p:txBody>
      </p:sp>
      <p:sp>
        <p:nvSpPr>
          <p:cNvPr id="13" name="12 - Διάγραμμα ροής: Λογικό &quot;ΚΑΙ&quot;"/>
          <p:cNvSpPr/>
          <p:nvPr/>
        </p:nvSpPr>
        <p:spPr>
          <a:xfrm>
            <a:off x="3203848" y="836712"/>
            <a:ext cx="5544616" cy="5301208"/>
          </a:xfrm>
          <a:prstGeom prst="flowChartSummingJunctio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/>
          </a:p>
        </p:txBody>
      </p:sp>
      <p:sp>
        <p:nvSpPr>
          <p:cNvPr id="14" name="13 - TextBox"/>
          <p:cNvSpPr txBox="1"/>
          <p:nvPr/>
        </p:nvSpPr>
        <p:spPr>
          <a:xfrm>
            <a:off x="4932040" y="1412776"/>
            <a:ext cx="2268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A)</a:t>
            </a:r>
            <a:r>
              <a:rPr lang="en-US" dirty="0"/>
              <a:t> Texts from other </a:t>
            </a:r>
            <a:r>
              <a:rPr lang="en-US" b="1" dirty="0"/>
              <a:t>open-access treebanks</a:t>
            </a:r>
            <a:endParaRPr lang="el-GR" dirty="0"/>
          </a:p>
        </p:txBody>
      </p:sp>
      <p:sp>
        <p:nvSpPr>
          <p:cNvPr id="15" name="14 - TextBox"/>
          <p:cNvSpPr txBox="1"/>
          <p:nvPr/>
        </p:nvSpPr>
        <p:spPr>
          <a:xfrm>
            <a:off x="6516216" y="2852936"/>
            <a:ext cx="2268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B)</a:t>
            </a:r>
            <a:r>
              <a:rPr lang="en-US" dirty="0"/>
              <a:t> Texts from </a:t>
            </a:r>
            <a:r>
              <a:rPr lang="en-US" b="1" dirty="0"/>
              <a:t>online text collections</a:t>
            </a:r>
            <a:endParaRPr lang="el-GR" dirty="0"/>
          </a:p>
        </p:txBody>
      </p:sp>
      <p:sp>
        <p:nvSpPr>
          <p:cNvPr id="16" name="15 - TextBox"/>
          <p:cNvSpPr txBox="1"/>
          <p:nvPr/>
        </p:nvSpPr>
        <p:spPr>
          <a:xfrm>
            <a:off x="4932040" y="4149080"/>
            <a:ext cx="21242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C) Scanned books or manuscripts</a:t>
            </a:r>
            <a:r>
              <a:rPr lang="en-US" dirty="0"/>
              <a:t> from digital libraries and archives </a:t>
            </a:r>
            <a:endParaRPr lang="el-GR" dirty="0"/>
          </a:p>
        </p:txBody>
      </p:sp>
      <p:sp>
        <p:nvSpPr>
          <p:cNvPr id="17" name="16 - TextBox"/>
          <p:cNvSpPr txBox="1"/>
          <p:nvPr/>
        </p:nvSpPr>
        <p:spPr>
          <a:xfrm>
            <a:off x="3347864" y="3284984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D) Printed</a:t>
            </a:r>
            <a:r>
              <a:rPr lang="en-US" dirty="0"/>
              <a:t> </a:t>
            </a:r>
            <a:r>
              <a:rPr lang="en-US" b="1" dirty="0"/>
              <a:t>books</a:t>
            </a:r>
            <a:endParaRPr lang="el-GR" dirty="0"/>
          </a:p>
        </p:txBody>
      </p:sp>
      <p:sp>
        <p:nvSpPr>
          <p:cNvPr id="18" name="17 - Πεντάγωνο"/>
          <p:cNvSpPr/>
          <p:nvPr/>
        </p:nvSpPr>
        <p:spPr>
          <a:xfrm>
            <a:off x="179512" y="3068960"/>
            <a:ext cx="2880320" cy="792088"/>
          </a:xfrm>
          <a:prstGeom prst="homePlat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4 types</a:t>
            </a:r>
            <a:endParaRPr lang="el-GR" b="1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4455747D-0F3E-6BA0-6C3D-340573BAF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19</a:t>
            </a:fld>
            <a:endParaRPr lang="el-G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Digitization</a:t>
            </a:r>
            <a:endParaRPr lang="el-GR" dirty="0"/>
          </a:p>
        </p:txBody>
      </p:sp>
      <p:sp>
        <p:nvSpPr>
          <p:cNvPr id="15" name="14 - Κατακόρυφος πάπυρος"/>
          <p:cNvSpPr/>
          <p:nvPr/>
        </p:nvSpPr>
        <p:spPr>
          <a:xfrm>
            <a:off x="2627784" y="1484784"/>
            <a:ext cx="3816424" cy="4392488"/>
          </a:xfrm>
          <a:prstGeom prst="verticalScroll">
            <a:avLst/>
          </a:prstGeom>
          <a:solidFill>
            <a:srgbClr val="E0C9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lphaUcParenR"/>
            </a:pPr>
            <a:r>
              <a:rPr lang="en-US" dirty="0">
                <a:solidFill>
                  <a:schemeClr val="tx1"/>
                </a:solidFill>
              </a:rPr>
              <a:t>Texts from other open-source </a:t>
            </a:r>
            <a:r>
              <a:rPr lang="en-US" b="1" dirty="0">
                <a:solidFill>
                  <a:schemeClr val="tx1"/>
                </a:solidFill>
              </a:rPr>
              <a:t>treebanks</a:t>
            </a:r>
            <a:r>
              <a:rPr lang="en-US" dirty="0">
                <a:solidFill>
                  <a:schemeClr val="tx1"/>
                </a:solidFill>
              </a:rPr>
              <a:t> -</a:t>
            </a:r>
            <a:r>
              <a:rPr lang="en-US" i="1" dirty="0">
                <a:solidFill>
                  <a:schemeClr val="tx1"/>
                </a:solidFill>
              </a:rPr>
              <a:t>PROIEL, Perseus database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342900" indent="-342900" algn="ctr"/>
            <a:r>
              <a:rPr lang="en-US" sz="1400" dirty="0">
                <a:solidFill>
                  <a:schemeClr val="tx1"/>
                </a:solidFill>
              </a:rPr>
              <a:t>(in .xml format)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7034E290-41EC-7EEC-D094-203E7F71E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20</a:t>
            </a:fld>
            <a:endParaRPr lang="el-G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Digitization</a:t>
            </a:r>
            <a:endParaRPr lang="el-GR" dirty="0"/>
          </a:p>
        </p:txBody>
      </p:sp>
      <p:sp>
        <p:nvSpPr>
          <p:cNvPr id="14" name="13 - Κατακόρυφος πάπυρος"/>
          <p:cNvSpPr/>
          <p:nvPr/>
        </p:nvSpPr>
        <p:spPr>
          <a:xfrm>
            <a:off x="2915816" y="1412776"/>
            <a:ext cx="4032448" cy="4320480"/>
          </a:xfrm>
          <a:prstGeom prst="verticalScroll">
            <a:avLst/>
          </a:prstGeom>
          <a:solidFill>
            <a:srgbClr val="E0C9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buNone/>
            </a:pPr>
            <a:r>
              <a:rPr lang="en-US" dirty="0">
                <a:solidFill>
                  <a:schemeClr val="tx1"/>
                </a:solidFill>
              </a:rPr>
              <a:t>B) Texts from </a:t>
            </a:r>
            <a:r>
              <a:rPr lang="en-US" b="1" dirty="0">
                <a:solidFill>
                  <a:schemeClr val="tx1"/>
                </a:solidFill>
              </a:rPr>
              <a:t>online text collections</a:t>
            </a:r>
            <a:r>
              <a:rPr lang="en-US" dirty="0">
                <a:solidFill>
                  <a:schemeClr val="tx1"/>
                </a:solidFill>
              </a:rPr>
              <a:t>, such as </a:t>
            </a:r>
            <a:r>
              <a:rPr lang="en-US" i="1" dirty="0">
                <a:solidFill>
                  <a:schemeClr val="tx1"/>
                </a:solidFill>
              </a:rPr>
              <a:t>Project Gutenberg </a:t>
            </a:r>
            <a:r>
              <a:rPr lang="en-US" dirty="0">
                <a:solidFill>
                  <a:schemeClr val="tx1"/>
                </a:solidFill>
              </a:rPr>
              <a:t>or </a:t>
            </a:r>
            <a:r>
              <a:rPr lang="en-US" i="1" dirty="0">
                <a:solidFill>
                  <a:schemeClr val="tx1"/>
                </a:solidFill>
              </a:rPr>
              <a:t>Bible Gateway.</a:t>
            </a:r>
          </a:p>
          <a:p>
            <a:pPr fontAlgn="base">
              <a:buNone/>
            </a:pPr>
            <a:r>
              <a:rPr lang="en-US" i="1" dirty="0">
                <a:solidFill>
                  <a:schemeClr val="tx1"/>
                </a:solidFill>
              </a:rPr>
              <a:t> </a:t>
            </a:r>
          </a:p>
          <a:p>
            <a:pPr fontAlgn="base">
              <a:buNone/>
            </a:pPr>
            <a:r>
              <a:rPr lang="en-US" sz="1600" dirty="0">
                <a:solidFill>
                  <a:schemeClr val="tx1"/>
                </a:solidFill>
              </a:rPr>
              <a:t>(in .txt or .html format)</a:t>
            </a:r>
          </a:p>
          <a:p>
            <a:pPr marL="342900" indent="-342900" algn="ctr"/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3EF22B92-6F2C-8464-061F-09FD90B6F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21</a:t>
            </a:fld>
            <a:endParaRPr lang="el-G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Digitization</a:t>
            </a:r>
            <a:endParaRPr lang="el-GR" dirty="0"/>
          </a:p>
        </p:txBody>
      </p:sp>
      <p:sp>
        <p:nvSpPr>
          <p:cNvPr id="13" name="12 - Κατακόρυφος πάπυρος"/>
          <p:cNvSpPr/>
          <p:nvPr/>
        </p:nvSpPr>
        <p:spPr>
          <a:xfrm>
            <a:off x="2987824" y="1340768"/>
            <a:ext cx="4248472" cy="4608512"/>
          </a:xfrm>
          <a:prstGeom prst="verticalScroll">
            <a:avLst/>
          </a:prstGeom>
          <a:solidFill>
            <a:srgbClr val="E0C9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buNone/>
            </a:pPr>
            <a:r>
              <a:rPr lang="en-US" dirty="0">
                <a:solidFill>
                  <a:schemeClr val="tx1"/>
                </a:solidFill>
              </a:rPr>
              <a:t>C) </a:t>
            </a:r>
            <a:r>
              <a:rPr lang="en-US" b="1" dirty="0">
                <a:solidFill>
                  <a:schemeClr val="tx1"/>
                </a:solidFill>
              </a:rPr>
              <a:t>Scanned books or manuscripts</a:t>
            </a:r>
            <a:r>
              <a:rPr lang="en-US" dirty="0">
                <a:solidFill>
                  <a:schemeClr val="tx1"/>
                </a:solidFill>
              </a:rPr>
              <a:t> from digital libraries and archives (</a:t>
            </a:r>
            <a:r>
              <a:rPr lang="en-US" dirty="0" err="1">
                <a:solidFill>
                  <a:schemeClr val="tx1"/>
                </a:solidFill>
              </a:rPr>
              <a:t>e.g.the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i="1" dirty="0">
                <a:solidFill>
                  <a:schemeClr val="tx1"/>
                </a:solidFill>
              </a:rPr>
              <a:t>Internet Archive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fontAlgn="base">
              <a:buNone/>
            </a:pP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fontAlgn="base">
              <a:buNone/>
            </a:pPr>
            <a:r>
              <a:rPr lang="en-US" sz="1600" dirty="0">
                <a:solidFill>
                  <a:schemeClr val="tx1"/>
                </a:solidFill>
              </a:rPr>
              <a:t>(in .</a:t>
            </a:r>
            <a:r>
              <a:rPr lang="en-US" sz="1600" dirty="0" err="1">
                <a:solidFill>
                  <a:schemeClr val="tx1"/>
                </a:solidFill>
              </a:rPr>
              <a:t>pdf</a:t>
            </a:r>
            <a:r>
              <a:rPr lang="en-US" sz="1600" dirty="0">
                <a:solidFill>
                  <a:schemeClr val="tx1"/>
                </a:solidFill>
              </a:rPr>
              <a:t> format containing images of the pages)</a:t>
            </a:r>
          </a:p>
          <a:p>
            <a:pPr fontAlgn="base">
              <a:buNone/>
            </a:pPr>
            <a:endParaRPr lang="en-US" dirty="0">
              <a:solidFill>
                <a:schemeClr val="tx1"/>
              </a:solidFill>
            </a:endParaRPr>
          </a:p>
          <a:p>
            <a:pPr fontAlgn="base">
              <a:buNone/>
            </a:pPr>
            <a:r>
              <a:rPr lang="en-US" dirty="0">
                <a:solidFill>
                  <a:schemeClr val="tx1"/>
                </a:solidFill>
              </a:rPr>
              <a:t>D) </a:t>
            </a:r>
            <a:r>
              <a:rPr lang="en-US" b="1" dirty="0">
                <a:solidFill>
                  <a:schemeClr val="tx1"/>
                </a:solidFill>
              </a:rPr>
              <a:t>Printed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9915796C-A098-8D5F-DF80-9F8D35FD7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22</a:t>
            </a:fld>
            <a:endParaRPr lang="el-G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13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Digitization:</a:t>
            </a:r>
            <a:endParaRPr lang="el-GR" dirty="0"/>
          </a:p>
        </p:txBody>
      </p:sp>
      <p:sp>
        <p:nvSpPr>
          <p:cNvPr id="16" name="15 - TextBox"/>
          <p:cNvSpPr txBox="1"/>
          <p:nvPr/>
        </p:nvSpPr>
        <p:spPr>
          <a:xfrm>
            <a:off x="467544" y="1124744"/>
            <a:ext cx="6359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Tokenization and Sentence division</a:t>
            </a:r>
            <a:endParaRPr lang="el-GR" sz="2800" b="1" u="sng" dirty="0"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7" name="16 - Πεντάγωνο"/>
          <p:cNvSpPr/>
          <p:nvPr/>
        </p:nvSpPr>
        <p:spPr>
          <a:xfrm>
            <a:off x="251520" y="1844824"/>
            <a:ext cx="8712968" cy="1368152"/>
          </a:xfrm>
          <a:prstGeom prst="homePlat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>
                <a:solidFill>
                  <a:schemeClr val="tx1"/>
                </a:solidFill>
              </a:rPr>
              <a:t>Sentences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Automatic segmentation</a:t>
            </a:r>
          </a:p>
          <a:p>
            <a:pPr>
              <a:buFont typeface="Wingdings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Delimiters established by the research team -&gt; punctuation marks  </a:t>
            </a:r>
          </a:p>
        </p:txBody>
      </p:sp>
      <p:sp>
        <p:nvSpPr>
          <p:cNvPr id="18" name="17 - Πεντάγωνο"/>
          <p:cNvSpPr/>
          <p:nvPr/>
        </p:nvSpPr>
        <p:spPr>
          <a:xfrm>
            <a:off x="251520" y="3861048"/>
            <a:ext cx="4248472" cy="1224136"/>
          </a:xfrm>
          <a:prstGeom prst="homePlat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b="1" u="sng" dirty="0">
                <a:solidFill>
                  <a:schemeClr val="tx1"/>
                </a:solidFill>
              </a:rPr>
              <a:t>Challenges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for example: </a:t>
            </a: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-Modern English: </a:t>
            </a:r>
            <a:r>
              <a:rPr lang="el-GR" i="1" dirty="0">
                <a:solidFill>
                  <a:schemeClr val="tx1"/>
                </a:solidFill>
              </a:rPr>
              <a:t>Μ</a:t>
            </a:r>
            <a:r>
              <a:rPr lang="en-US" i="1" dirty="0">
                <a:solidFill>
                  <a:schemeClr val="tx1"/>
                </a:solidFill>
              </a:rPr>
              <a:t>r.</a:t>
            </a:r>
            <a:r>
              <a:rPr lang="el-GR" dirty="0">
                <a:solidFill>
                  <a:schemeClr val="tx1"/>
                </a:solidFill>
              </a:rPr>
              <a:t> /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i="1" dirty="0">
                <a:solidFill>
                  <a:schemeClr val="tx1"/>
                </a:solidFill>
              </a:rPr>
              <a:t>Mrs.</a:t>
            </a: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</a:rPr>
              <a:t>-Modern Greek: </a:t>
            </a:r>
            <a:r>
              <a:rPr lang="el-GR" i="1" dirty="0" err="1">
                <a:solidFill>
                  <a:schemeClr val="tx1"/>
                </a:solidFill>
              </a:rPr>
              <a:t>ό,τι</a:t>
            </a:r>
            <a:r>
              <a:rPr lang="en-US" i="1" dirty="0">
                <a:solidFill>
                  <a:schemeClr val="tx1"/>
                </a:solidFill>
              </a:rPr>
              <a:t> (anything)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57607341-04D1-FBB2-4F69-DF17A5DC5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23</a:t>
            </a:fld>
            <a:endParaRPr lang="el-G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Digitization</a:t>
            </a:r>
            <a:endParaRPr lang="el-GR" dirty="0"/>
          </a:p>
        </p:txBody>
      </p:sp>
      <p:sp>
        <p:nvSpPr>
          <p:cNvPr id="12" name="11 - TextBox"/>
          <p:cNvSpPr txBox="1"/>
          <p:nvPr/>
        </p:nvSpPr>
        <p:spPr>
          <a:xfrm>
            <a:off x="467544" y="1052736"/>
            <a:ext cx="3671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Identification Codes</a:t>
            </a:r>
            <a:endParaRPr lang="el-GR" sz="2800" b="1" u="sng" dirty="0"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4" name="13 - Στρογγυλεμένο ορθογώνιο"/>
          <p:cNvSpPr/>
          <p:nvPr/>
        </p:nvSpPr>
        <p:spPr>
          <a:xfrm>
            <a:off x="1403648" y="1700808"/>
            <a:ext cx="6768752" cy="4392488"/>
          </a:xfrm>
          <a:prstGeom prst="roundRect">
            <a:avLst/>
          </a:prstGeom>
          <a:solidFill>
            <a:srgbClr val="E0C9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u="sng" dirty="0">
              <a:solidFill>
                <a:schemeClr val="tx1"/>
              </a:solidFill>
            </a:endParaRPr>
          </a:p>
          <a:p>
            <a:pPr algn="ctr"/>
            <a:r>
              <a:rPr lang="en-US" b="1" u="sng" dirty="0">
                <a:solidFill>
                  <a:schemeClr val="tx1"/>
                </a:solidFill>
              </a:rPr>
              <a:t>Creation of IDs for the texts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u="sng" dirty="0">
                <a:solidFill>
                  <a:schemeClr val="tx1"/>
                </a:solidFill>
              </a:rPr>
              <a:t>ID information:</a:t>
            </a:r>
          </a:p>
          <a:p>
            <a:pPr algn="ctr"/>
            <a:endParaRPr lang="en-US" b="1" u="sng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ATHDGC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Author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Source Language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Translator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Target Language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Version</a:t>
            </a:r>
          </a:p>
          <a:p>
            <a:pPr algn="ctr"/>
            <a:endParaRPr lang="en-US" dirty="0"/>
          </a:p>
        </p:txBody>
      </p:sp>
      <p:sp>
        <p:nvSpPr>
          <p:cNvPr id="16" name="15 - Δεξιό άγκιστρο"/>
          <p:cNvSpPr/>
          <p:nvPr/>
        </p:nvSpPr>
        <p:spPr>
          <a:xfrm>
            <a:off x="5724128" y="4653136"/>
            <a:ext cx="648072" cy="648072"/>
          </a:xfrm>
          <a:prstGeom prst="rightBrac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7" name="16 - Στρογγυλεμένο ορθογώνιο"/>
          <p:cNvSpPr/>
          <p:nvPr/>
        </p:nvSpPr>
        <p:spPr>
          <a:xfrm>
            <a:off x="6444208" y="4653136"/>
            <a:ext cx="1728192" cy="86409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Only for translations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CEE3F632-92E6-281A-3833-2D2B40F38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24</a:t>
            </a:fld>
            <a:endParaRPr lang="el-G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Annotation</a:t>
            </a:r>
            <a:endParaRPr lang="el-GR" dirty="0"/>
          </a:p>
        </p:txBody>
      </p:sp>
      <p:sp>
        <p:nvSpPr>
          <p:cNvPr id="11" name="10 - Θέση περιεχομένου"/>
          <p:cNvSpPr>
            <a:spLocks noGrp="1"/>
          </p:cNvSpPr>
          <p:nvPr>
            <p:ph idx="1"/>
          </p:nvPr>
        </p:nvSpPr>
        <p:spPr>
          <a:xfrm>
            <a:off x="457200" y="1481329"/>
            <a:ext cx="8686800" cy="1515624"/>
          </a:xfrm>
        </p:spPr>
        <p:txBody>
          <a:bodyPr/>
          <a:lstStyle/>
          <a:p>
            <a:r>
              <a:rPr lang="en-US" dirty="0"/>
              <a:t>Morphological Annotation (partially automated)</a:t>
            </a:r>
          </a:p>
          <a:p>
            <a:r>
              <a:rPr lang="en-US" dirty="0"/>
              <a:t>Syntactic Annotation (manually completed)</a:t>
            </a:r>
          </a:p>
          <a:p>
            <a:endParaRPr lang="en-US" dirty="0"/>
          </a:p>
        </p:txBody>
      </p:sp>
      <p:sp>
        <p:nvSpPr>
          <p:cNvPr id="12" name="11 - Στρογγυλεμένο ορθογώνιο"/>
          <p:cNvSpPr/>
          <p:nvPr/>
        </p:nvSpPr>
        <p:spPr>
          <a:xfrm>
            <a:off x="2483768" y="3212976"/>
            <a:ext cx="4824536" cy="302433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Automatic syntactic annotation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Extraction of syntactic information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Creation of the diachronic </a:t>
            </a:r>
            <a:r>
              <a:rPr lang="en-US" dirty="0" err="1">
                <a:solidFill>
                  <a:schemeClr val="tx1"/>
                </a:solidFill>
              </a:rPr>
              <a:t>Valency</a:t>
            </a:r>
            <a:r>
              <a:rPr lang="en-US" dirty="0">
                <a:solidFill>
                  <a:schemeClr val="tx1"/>
                </a:solidFill>
              </a:rPr>
              <a:t> Lexicon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13" name="12 - Βέλος προς τα κάτω"/>
          <p:cNvSpPr/>
          <p:nvPr/>
        </p:nvSpPr>
        <p:spPr>
          <a:xfrm>
            <a:off x="4644008" y="3789040"/>
            <a:ext cx="288032" cy="504056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5" name="14 - Ορθογώνιο"/>
          <p:cNvSpPr/>
          <p:nvPr/>
        </p:nvSpPr>
        <p:spPr>
          <a:xfrm>
            <a:off x="3779912" y="2636912"/>
            <a:ext cx="1882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</a:rPr>
              <a:t>Main goal</a:t>
            </a:r>
          </a:p>
        </p:txBody>
      </p:sp>
      <p:sp>
        <p:nvSpPr>
          <p:cNvPr id="16" name="15 - Βέλος προς τα κάτω"/>
          <p:cNvSpPr/>
          <p:nvPr/>
        </p:nvSpPr>
        <p:spPr>
          <a:xfrm>
            <a:off x="4644008" y="4797152"/>
            <a:ext cx="288032" cy="504056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885F6E0E-D023-497A-D477-5D545ECDC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25</a:t>
            </a:fld>
            <a:endParaRPr lang="el-G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1C0708C4-0235-DF64-406B-6BECF2141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86EE9DBC-03F0-3002-4707-B7C0268E9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EA41535C-C0C9-0FEA-74A5-C93762511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BB991C4F-4F74-CDA0-F5A7-29199FFB6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C90191F4-B44C-5886-A659-E42142A23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F20B5728-D7A5-EF1C-1033-710424FE7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11 - Τίτλος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1829761"/>
          </a:xfrm>
        </p:spPr>
        <p:txBody>
          <a:bodyPr/>
          <a:lstStyle/>
          <a:p>
            <a:pPr algn="ctr"/>
            <a:r>
              <a:rPr lang="en-US" dirty="0"/>
              <a:t>The </a:t>
            </a:r>
            <a:r>
              <a:rPr lang="en-US" dirty="0" err="1"/>
              <a:t>Valency</a:t>
            </a:r>
            <a:r>
              <a:rPr lang="en-US" dirty="0"/>
              <a:t> Lexicon</a:t>
            </a:r>
            <a:r>
              <a:rPr lang="el-GR" i="1" dirty="0"/>
              <a:t/>
            </a:r>
            <a:br>
              <a:rPr lang="el-GR" i="1" dirty="0"/>
            </a:br>
            <a:endParaRPr lang="el-GR" i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253652A3-0AE0-48B0-25CC-585BAD767EB3}"/>
              </a:ext>
            </a:extLst>
          </p:cNvPr>
          <p:cNvSpPr txBox="1">
            <a:spLocks/>
          </p:cNvSpPr>
          <p:nvPr/>
        </p:nvSpPr>
        <p:spPr>
          <a:xfrm>
            <a:off x="1097280" y="908720"/>
            <a:ext cx="7291144" cy="828640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b="0" dirty="0"/>
              <a:t>What is </a:t>
            </a:r>
            <a:r>
              <a:rPr lang="en-US" b="0" dirty="0" err="1"/>
              <a:t>valency</a:t>
            </a:r>
            <a:r>
              <a:rPr lang="en-US" b="0" dirty="0"/>
              <a:t>?</a:t>
            </a:r>
            <a:endParaRPr lang="el-GR" b="0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A3D5A440-5CB6-2A7E-774B-4AE5D1F158ED}"/>
              </a:ext>
            </a:extLst>
          </p:cNvPr>
          <p:cNvSpPr txBox="1">
            <a:spLocks/>
          </p:cNvSpPr>
          <p:nvPr/>
        </p:nvSpPr>
        <p:spPr>
          <a:xfrm>
            <a:off x="838678" y="2060848"/>
            <a:ext cx="7549746" cy="369987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2400" dirty="0"/>
              <a:t>Valency describes the presence/absence, type and number of arguments licensed by a verb</a:t>
            </a:r>
          </a:p>
          <a:p>
            <a:pPr marL="0" indent="0">
              <a:buFont typeface="Wingdings 3"/>
              <a:buNone/>
            </a:pPr>
            <a:r>
              <a:rPr lang="en-US" sz="2400" dirty="0"/>
              <a:t>	(1) </a:t>
            </a: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Mary</a:t>
            </a:r>
            <a:r>
              <a:rPr lang="en-US" sz="2400" dirty="0"/>
              <a:t> sleeps.</a:t>
            </a:r>
          </a:p>
          <a:p>
            <a:pPr marL="0" indent="0">
              <a:buFont typeface="Wingdings 3"/>
              <a:buNone/>
            </a:pPr>
            <a:r>
              <a:rPr lang="en-US" sz="2400" dirty="0"/>
              <a:t>	(2) </a:t>
            </a: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Mary</a:t>
            </a:r>
            <a:r>
              <a:rPr lang="en-US" sz="2400" dirty="0"/>
              <a:t> likes 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John</a:t>
            </a:r>
            <a:r>
              <a:rPr lang="en-US" sz="2400" dirty="0"/>
              <a:t>.</a:t>
            </a:r>
          </a:p>
          <a:p>
            <a:pPr marL="0" indent="0">
              <a:buFont typeface="Wingdings 3"/>
              <a:buNone/>
            </a:pPr>
            <a:r>
              <a:rPr lang="en-US" sz="2400" dirty="0"/>
              <a:t>	(3) </a:t>
            </a: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Mary</a:t>
            </a:r>
            <a:r>
              <a:rPr lang="en-US" sz="2400" dirty="0"/>
              <a:t> gave </a:t>
            </a: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a letter </a:t>
            </a:r>
            <a:r>
              <a:rPr lang="en-US" sz="2400" dirty="0">
                <a:solidFill>
                  <a:srgbClr val="FFC000"/>
                </a:solidFill>
              </a:rPr>
              <a:t>to John</a:t>
            </a:r>
            <a:r>
              <a:rPr lang="en-US" sz="2400" dirty="0"/>
              <a:t>.</a:t>
            </a:r>
          </a:p>
          <a:p>
            <a:pPr marL="0" indent="0">
              <a:buFont typeface="Wingdings 3"/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à"/>
            </a:pPr>
            <a:r>
              <a:rPr lang="en-US" sz="2400" dirty="0">
                <a:sym typeface="Wingdings" panose="05000000000000000000" pitchFamily="2" charset="2"/>
              </a:rPr>
              <a:t> Underlying idea: </a:t>
            </a:r>
          </a:p>
          <a:p>
            <a:pPr marL="457200" lvl="1" indent="0">
              <a:buFont typeface="Verdana"/>
              <a:buNone/>
            </a:pPr>
            <a:r>
              <a:rPr lang="en-US" sz="2000" dirty="0">
                <a:sym typeface="Wingdings" panose="05000000000000000000" pitchFamily="2" charset="2"/>
              </a:rPr>
              <a:t>Number of participants in semantics = number of arguments in syntax</a:t>
            </a:r>
            <a:endParaRPr lang="el-GR" sz="20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A473F4F2-2591-315E-846C-9B5483477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27</a:t>
            </a:fld>
            <a:endParaRPr lang="el-G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6B14DD76-2604-7142-6B73-C5667B075495}"/>
              </a:ext>
            </a:extLst>
          </p:cNvPr>
          <p:cNvSpPr txBox="1">
            <a:spLocks/>
          </p:cNvSpPr>
          <p:nvPr/>
        </p:nvSpPr>
        <p:spPr>
          <a:xfrm>
            <a:off x="838678" y="1052736"/>
            <a:ext cx="7507168" cy="684624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Tesnière</a:t>
            </a:r>
            <a:r>
              <a:rPr 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(1959)</a:t>
            </a:r>
            <a:endParaRPr lang="el-GR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884B1996-524F-A6F3-7777-E02FCAA0B34B}"/>
              </a:ext>
            </a:extLst>
          </p:cNvPr>
          <p:cNvSpPr txBox="1">
            <a:spLocks/>
          </p:cNvSpPr>
          <p:nvPr/>
        </p:nvSpPr>
        <p:spPr>
          <a:xfrm>
            <a:off x="611560" y="1988840"/>
            <a:ext cx="7920880" cy="1162347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2400" dirty="0"/>
              <a:t>Verb = central structural element of the sentence, all other elements depend on it [dependency grammar]</a:t>
            </a:r>
          </a:p>
          <a:p>
            <a:r>
              <a:rPr lang="en-US" sz="2400" dirty="0"/>
              <a:t>Verb classes according to the number of arguments:</a:t>
            </a:r>
          </a:p>
        </p:txBody>
      </p:sp>
      <p:graphicFrame>
        <p:nvGraphicFramePr>
          <p:cNvPr id="10" name="Πίνακας 9">
            <a:extLst>
              <a:ext uri="{FF2B5EF4-FFF2-40B4-BE49-F238E27FC236}">
                <a16:creationId xmlns="" xmlns:a16="http://schemas.microsoft.com/office/drawing/2014/main" id="{38949A31-F5D8-E3E2-3EAE-7FE17D755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91043960"/>
              </p:ext>
            </p:extLst>
          </p:nvPr>
        </p:nvGraphicFramePr>
        <p:xfrm>
          <a:off x="683568" y="3501008"/>
          <a:ext cx="7920880" cy="1854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06516">
                  <a:extLst>
                    <a:ext uri="{9D8B030D-6E8A-4147-A177-3AD203B41FA5}">
                      <a16:colId xmlns="" xmlns:a16="http://schemas.microsoft.com/office/drawing/2014/main" val="608348547"/>
                    </a:ext>
                  </a:extLst>
                </a:gridCol>
                <a:gridCol w="2709775">
                  <a:extLst>
                    <a:ext uri="{9D8B030D-6E8A-4147-A177-3AD203B41FA5}">
                      <a16:colId xmlns="" xmlns:a16="http://schemas.microsoft.com/office/drawing/2014/main" val="3129832621"/>
                    </a:ext>
                  </a:extLst>
                </a:gridCol>
                <a:gridCol w="3404589">
                  <a:extLst>
                    <a:ext uri="{9D8B030D-6E8A-4147-A177-3AD203B41FA5}">
                      <a16:colId xmlns="" xmlns:a16="http://schemas.microsoft.com/office/drawing/2014/main" val="23774711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Verb class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</a:t>
                      </a:r>
                      <a:r>
                        <a:rPr lang="en-US" dirty="0" err="1"/>
                        <a:t>args</a:t>
                      </a:r>
                      <a:r>
                        <a:rPr lang="en-US" dirty="0"/>
                        <a:t> (0-3)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60004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Avalent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l-G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rains.</a:t>
                      </a:r>
                      <a:endParaRPr lang="el-GR" i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62915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Monovalent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 sleeps.</a:t>
                      </a:r>
                      <a:endParaRPr lang="el-GR" i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50723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Divalent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 sees Mary.</a:t>
                      </a:r>
                      <a:endParaRPr lang="el-GR" i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62976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Trivalent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l-G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 gives Mary a book.</a:t>
                      </a:r>
                      <a:endParaRPr lang="el-GR" i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57901530"/>
                  </a:ext>
                </a:extLst>
              </a:tr>
            </a:tbl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7FB48323-B182-0572-05FC-0D2526863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28</a:t>
            </a:fld>
            <a:endParaRPr lang="el-G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B56B43C9-98DA-9BF9-18D4-BD3B629E7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E3BCAC6F-6796-4353-8D31-0E2F377CE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68A25219-FB4B-1257-5C5B-1323EEE4F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0DCD85D5-EE0C-A821-C966-3A2EC803B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C24FDF85-E83F-70D2-C742-A4A9B155A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6FED4458-A783-9426-0646-1B3FC463C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FA54DBB1-3889-060C-394C-1F38D66FB44E}"/>
              </a:ext>
            </a:extLst>
          </p:cNvPr>
          <p:cNvSpPr txBox="1">
            <a:spLocks/>
          </p:cNvSpPr>
          <p:nvPr/>
        </p:nvSpPr>
        <p:spPr>
          <a:xfrm>
            <a:off x="805269" y="692696"/>
            <a:ext cx="6719059" cy="1044664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b="0" dirty="0"/>
              <a:t>Basic argument frame</a:t>
            </a:r>
            <a:endParaRPr lang="el-GR" b="0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332CCB3A-0314-1AFB-CDD0-52B28D25AFC6}"/>
              </a:ext>
            </a:extLst>
          </p:cNvPr>
          <p:cNvSpPr txBox="1">
            <a:spLocks/>
          </p:cNvSpPr>
          <p:nvPr/>
        </p:nvSpPr>
        <p:spPr>
          <a:xfrm>
            <a:off x="805269" y="1730954"/>
            <a:ext cx="7799179" cy="4434350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>
              <a:buFont typeface="Wingdings 3"/>
              <a:buNone/>
            </a:pPr>
            <a:r>
              <a:rPr lang="en-US" sz="2400" dirty="0"/>
              <a:t>Basic argument frame = the most frequent/default argument set of a verb</a:t>
            </a:r>
          </a:p>
          <a:p>
            <a:pPr marL="0" indent="0">
              <a:buFont typeface="Wingdings 3"/>
              <a:buNone/>
            </a:pPr>
            <a:r>
              <a:rPr lang="en-US" sz="2400" dirty="0"/>
              <a:t>e.g. </a:t>
            </a:r>
            <a:r>
              <a:rPr lang="en-US" sz="2400" dirty="0">
                <a:solidFill>
                  <a:srgbClr val="0070C0"/>
                </a:solidFill>
              </a:rPr>
              <a:t>He saw her.</a:t>
            </a:r>
            <a:r>
              <a:rPr lang="en-US" sz="2400" dirty="0">
                <a:solidFill>
                  <a:srgbClr val="002060"/>
                </a:solidFill>
              </a:rPr>
              <a:t>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fr-FR" sz="2400" dirty="0">
                <a:sym typeface="Wingdings" panose="05000000000000000000" pitchFamily="2" charset="2"/>
              </a:rPr>
              <a:t> </a:t>
            </a:r>
            <a:r>
              <a:rPr lang="fr-FR" sz="2400" dirty="0">
                <a:solidFill>
                  <a:srgbClr val="002060"/>
                </a:solidFill>
                <a:sym typeface="Wingdings" panose="05000000000000000000" pitchFamily="2" charset="2"/>
              </a:rPr>
              <a:t>1-nom.V.2-acc </a:t>
            </a:r>
          </a:p>
          <a:p>
            <a:pPr marL="342900" indent="-342900"/>
            <a:endParaRPr lang="en-US" sz="2000" dirty="0"/>
          </a:p>
          <a:p>
            <a:pPr marL="0" indent="0">
              <a:buNone/>
            </a:pPr>
            <a:r>
              <a:rPr lang="en-US" sz="2400" dirty="0"/>
              <a:t>But: not only one argument frame</a:t>
            </a:r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>
                <a:solidFill>
                  <a:srgbClr val="0070C0"/>
                </a:solidFill>
                <a:sym typeface="Wingdings" panose="05000000000000000000" pitchFamily="2" charset="2"/>
              </a:rPr>
              <a:t>I see. </a:t>
            </a:r>
            <a:r>
              <a:rPr lang="en-US" sz="2400" dirty="0">
                <a:sym typeface="Wingdings" panose="05000000000000000000" pitchFamily="2" charset="2"/>
              </a:rPr>
              <a:t>(= I understand.)</a:t>
            </a:r>
            <a:endParaRPr lang="en-US" sz="2400" dirty="0"/>
          </a:p>
          <a:p>
            <a:pPr marL="598932" lvl="1" indent="-342900">
              <a:buFont typeface="Wingdings" panose="05000000000000000000" pitchFamily="2" charset="2"/>
              <a:buChar char="Ø"/>
            </a:pPr>
            <a:r>
              <a:rPr lang="fr-FR" sz="2000" dirty="0" err="1">
                <a:sym typeface="Wingdings" panose="05000000000000000000" pitchFamily="2" charset="2"/>
              </a:rPr>
              <a:t>number</a:t>
            </a:r>
            <a:r>
              <a:rPr lang="fr-FR" sz="2000" dirty="0">
                <a:sym typeface="Wingdings" panose="05000000000000000000" pitchFamily="2" charset="2"/>
              </a:rPr>
              <a:t> of arguments</a:t>
            </a:r>
          </a:p>
          <a:p>
            <a:pPr marL="598932" lvl="1" indent="-342900">
              <a:buFont typeface="Wingdings" panose="05000000000000000000" pitchFamily="2" charset="2"/>
              <a:buChar char="Ø"/>
            </a:pPr>
            <a:r>
              <a:rPr lang="en-US" sz="2000" dirty="0"/>
              <a:t>case/type of the arguments</a:t>
            </a:r>
          </a:p>
          <a:p>
            <a:pPr marL="598932" lvl="1" indent="-342900">
              <a:buFont typeface="Wingdings" panose="05000000000000000000" pitchFamily="2" charset="2"/>
              <a:buChar char="Ø"/>
            </a:pPr>
            <a:r>
              <a:rPr lang="en-US" sz="2000" dirty="0"/>
              <a:t>word order</a:t>
            </a:r>
          </a:p>
          <a:p>
            <a:pPr marL="0" indent="0">
              <a:buNone/>
            </a:pPr>
            <a:endParaRPr lang="el-G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35066FE9-1AAA-0AB1-43A3-D6298ECDD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29</a:t>
            </a:fld>
            <a:endParaRPr lang="el-G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Τίτλος 1">
            <a:extLst>
              <a:ext uri="{FF2B5EF4-FFF2-40B4-BE49-F238E27FC236}">
                <a16:creationId xmlns="" xmlns:a16="http://schemas.microsoft.com/office/drawing/2014/main" id="{02C72917-086C-0159-C6E6-626E88B6F932}"/>
              </a:ext>
            </a:extLst>
          </p:cNvPr>
          <p:cNvSpPr txBox="1">
            <a:spLocks/>
          </p:cNvSpPr>
          <p:nvPr/>
        </p:nvSpPr>
        <p:spPr>
          <a:xfrm>
            <a:off x="539552" y="730271"/>
            <a:ext cx="6719059" cy="1044664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b="0" dirty="0"/>
              <a:t>Valency Alternations</a:t>
            </a:r>
            <a:endParaRPr lang="el-GR" b="0" dirty="0"/>
          </a:p>
        </p:txBody>
      </p:sp>
      <p:sp>
        <p:nvSpPr>
          <p:cNvPr id="10" name="Θέση περιεχομένου 2">
            <a:extLst>
              <a:ext uri="{FF2B5EF4-FFF2-40B4-BE49-F238E27FC236}">
                <a16:creationId xmlns="" xmlns:a16="http://schemas.microsoft.com/office/drawing/2014/main" id="{79EA7FE7-67C2-C8FB-F41C-8FE20F1522B8}"/>
              </a:ext>
            </a:extLst>
          </p:cNvPr>
          <p:cNvSpPr txBox="1">
            <a:spLocks/>
          </p:cNvSpPr>
          <p:nvPr/>
        </p:nvSpPr>
        <p:spPr>
          <a:xfrm>
            <a:off x="539552" y="1584723"/>
            <a:ext cx="8208912" cy="1044664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>
              <a:buFont typeface="Wingdings 3"/>
              <a:buNone/>
            </a:pPr>
            <a:r>
              <a:rPr lang="en-US" sz="2400" dirty="0"/>
              <a:t>Valency alternations = a verb changes the number and/or type of arguments it licenses</a:t>
            </a:r>
          </a:p>
          <a:p>
            <a:pPr marL="0" indent="0">
              <a:buFont typeface="Wingdings 3"/>
              <a:buNone/>
            </a:pPr>
            <a:endParaRPr lang="en-US" sz="2400" dirty="0"/>
          </a:p>
        </p:txBody>
      </p:sp>
      <p:sp>
        <p:nvSpPr>
          <p:cNvPr id="2" name="Ορθογώνιο: Στρογγύλεμα γωνιών 1">
            <a:extLst>
              <a:ext uri="{FF2B5EF4-FFF2-40B4-BE49-F238E27FC236}">
                <a16:creationId xmlns="" xmlns:a16="http://schemas.microsoft.com/office/drawing/2014/main" id="{8BF03B9C-E6E3-A326-588B-8A8C7D1A4C85}"/>
              </a:ext>
            </a:extLst>
          </p:cNvPr>
          <p:cNvSpPr/>
          <p:nvPr/>
        </p:nvSpPr>
        <p:spPr>
          <a:xfrm>
            <a:off x="0" y="2540949"/>
            <a:ext cx="6502878" cy="14791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Middle alternation</a:t>
            </a:r>
          </a:p>
          <a:p>
            <a:r>
              <a:rPr lang="en-US" i="1" dirty="0"/>
              <a:t>	</a:t>
            </a:r>
            <a:r>
              <a:rPr lang="en-US" u="sng" dirty="0">
                <a:solidFill>
                  <a:srgbClr val="0070C0"/>
                </a:solidFill>
              </a:rPr>
              <a:t>Jane</a:t>
            </a:r>
            <a:r>
              <a:rPr lang="en-US" dirty="0">
                <a:solidFill>
                  <a:srgbClr val="0070C0"/>
                </a:solidFill>
              </a:rPr>
              <a:t> broke </a:t>
            </a:r>
            <a:r>
              <a:rPr lang="en-US" u="sng" dirty="0">
                <a:solidFill>
                  <a:srgbClr val="0070C0"/>
                </a:solidFill>
              </a:rPr>
              <a:t>the crystal</a:t>
            </a:r>
            <a:r>
              <a:rPr lang="en-US" dirty="0">
                <a:solidFill>
                  <a:srgbClr val="0070C0"/>
                </a:solidFill>
              </a:rPr>
              <a:t>. // The c</a:t>
            </a:r>
            <a:r>
              <a:rPr lang="en-US" u="sng" dirty="0">
                <a:solidFill>
                  <a:srgbClr val="0070C0"/>
                </a:solidFill>
              </a:rPr>
              <a:t>rystal</a:t>
            </a:r>
            <a:r>
              <a:rPr lang="en-US" dirty="0">
                <a:solidFill>
                  <a:srgbClr val="0070C0"/>
                </a:solidFill>
              </a:rPr>
              <a:t> broke.</a:t>
            </a:r>
          </a:p>
          <a:p>
            <a:r>
              <a:rPr lang="en-US" dirty="0">
                <a:solidFill>
                  <a:srgbClr val="0070C0"/>
                </a:solidFill>
              </a:rPr>
              <a:t>	</a:t>
            </a:r>
            <a:r>
              <a:rPr lang="en-US" u="sng" dirty="0">
                <a:solidFill>
                  <a:srgbClr val="0070C0"/>
                </a:solidFill>
              </a:rPr>
              <a:t>Margaret</a:t>
            </a:r>
            <a:r>
              <a:rPr lang="en-US" dirty="0">
                <a:solidFill>
                  <a:srgbClr val="0070C0"/>
                </a:solidFill>
              </a:rPr>
              <a:t> cut </a:t>
            </a:r>
            <a:r>
              <a:rPr lang="en-US" u="sng" dirty="0">
                <a:solidFill>
                  <a:srgbClr val="0070C0"/>
                </a:solidFill>
              </a:rPr>
              <a:t>the board</a:t>
            </a:r>
            <a:r>
              <a:rPr lang="en-US" dirty="0">
                <a:solidFill>
                  <a:srgbClr val="0070C0"/>
                </a:solidFill>
              </a:rPr>
              <a:t>. // ??</a:t>
            </a:r>
            <a:r>
              <a:rPr lang="en-US" u="sng" dirty="0">
                <a:solidFill>
                  <a:srgbClr val="0070C0"/>
                </a:solidFill>
              </a:rPr>
              <a:t>The board </a:t>
            </a:r>
            <a:r>
              <a:rPr lang="en-US" dirty="0">
                <a:solidFill>
                  <a:srgbClr val="0070C0"/>
                </a:solidFill>
              </a:rPr>
              <a:t>cut.</a:t>
            </a:r>
            <a:endParaRPr lang="el-GR" dirty="0"/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="" xmlns:a16="http://schemas.microsoft.com/office/drawing/2014/main" id="{93901B27-F070-D970-5331-35EC47AB8E01}"/>
              </a:ext>
            </a:extLst>
          </p:cNvPr>
          <p:cNvSpPr/>
          <p:nvPr/>
        </p:nvSpPr>
        <p:spPr>
          <a:xfrm>
            <a:off x="1187624" y="3794123"/>
            <a:ext cx="6502878" cy="14791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>
                <a:solidFill>
                  <a:schemeClr val="tx1"/>
                </a:solidFill>
              </a:rPr>
              <a:t>Causative/Inchoative alternation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They stood </a:t>
            </a:r>
            <a:r>
              <a:rPr lang="en-US" u="sng" dirty="0">
                <a:solidFill>
                  <a:srgbClr val="0070C0"/>
                </a:solidFill>
              </a:rPr>
              <a:t>the statue </a:t>
            </a:r>
            <a:r>
              <a:rPr lang="en-US" dirty="0">
                <a:solidFill>
                  <a:srgbClr val="0070C0"/>
                </a:solidFill>
              </a:rPr>
              <a:t>on the pedestal. </a:t>
            </a:r>
          </a:p>
          <a:p>
            <a:r>
              <a:rPr lang="en-US" dirty="0">
                <a:solidFill>
                  <a:srgbClr val="0070C0"/>
                </a:solidFill>
              </a:rPr>
              <a:t>	</a:t>
            </a:r>
            <a:r>
              <a:rPr lang="en-US" u="sng" dirty="0">
                <a:solidFill>
                  <a:srgbClr val="0070C0"/>
                </a:solidFill>
              </a:rPr>
              <a:t>The statue </a:t>
            </a:r>
            <a:r>
              <a:rPr lang="en-US" dirty="0">
                <a:solidFill>
                  <a:srgbClr val="0070C0"/>
                </a:solidFill>
              </a:rPr>
              <a:t>stood on the pedestal.</a:t>
            </a:r>
          </a:p>
        </p:txBody>
      </p:sp>
      <p:sp>
        <p:nvSpPr>
          <p:cNvPr id="12" name="Ορθογώνιο: Στρογγύλεμα γωνιών 11">
            <a:extLst>
              <a:ext uri="{FF2B5EF4-FFF2-40B4-BE49-F238E27FC236}">
                <a16:creationId xmlns="" xmlns:a16="http://schemas.microsoft.com/office/drawing/2014/main" id="{0EEBD499-DE38-78B2-3D75-4E0C14D57580}"/>
              </a:ext>
            </a:extLst>
          </p:cNvPr>
          <p:cNvSpPr/>
          <p:nvPr/>
        </p:nvSpPr>
        <p:spPr>
          <a:xfrm>
            <a:off x="2627784" y="5068257"/>
            <a:ext cx="6502878" cy="14791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>
                <a:solidFill>
                  <a:schemeClr val="tx1"/>
                </a:solidFill>
              </a:rPr>
              <a:t>Dative alternation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They gave </a:t>
            </a:r>
            <a:r>
              <a:rPr lang="en-US" u="sng" dirty="0">
                <a:solidFill>
                  <a:srgbClr val="0070C0"/>
                </a:solidFill>
              </a:rPr>
              <a:t>him</a:t>
            </a:r>
            <a:r>
              <a:rPr lang="en-US" dirty="0">
                <a:solidFill>
                  <a:srgbClr val="0070C0"/>
                </a:solidFill>
              </a:rPr>
              <a:t> cake.</a:t>
            </a:r>
          </a:p>
          <a:p>
            <a:r>
              <a:rPr lang="en-US" dirty="0">
                <a:solidFill>
                  <a:srgbClr val="0070C0"/>
                </a:solidFill>
              </a:rPr>
              <a:t>	They gave cake </a:t>
            </a:r>
            <a:r>
              <a:rPr lang="en-US" u="sng" dirty="0">
                <a:solidFill>
                  <a:srgbClr val="0070C0"/>
                </a:solidFill>
              </a:rPr>
              <a:t>to him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="" xmlns:a16="http://schemas.microsoft.com/office/drawing/2014/main" id="{319AEC34-8BFC-B835-9BDE-5FA73356D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30</a:t>
            </a:fld>
            <a:endParaRPr lang="el-G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89B0CE84-302E-D43A-05A2-4C3BDCAA0E18}"/>
              </a:ext>
            </a:extLst>
          </p:cNvPr>
          <p:cNvSpPr txBox="1">
            <a:spLocks/>
          </p:cNvSpPr>
          <p:nvPr/>
        </p:nvSpPr>
        <p:spPr>
          <a:xfrm>
            <a:off x="1097280" y="764704"/>
            <a:ext cx="6499056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b="0" dirty="0" err="1"/>
              <a:t>Valency</a:t>
            </a:r>
            <a:r>
              <a:rPr lang="en-US" b="0" dirty="0"/>
              <a:t> Alternations (2) </a:t>
            </a:r>
            <a:endParaRPr lang="el-GR" b="0" dirty="0"/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="" xmlns:a16="http://schemas.microsoft.com/office/drawing/2014/main" id="{2848131C-5D22-A99E-2A67-C5B67A7BC19D}"/>
              </a:ext>
            </a:extLst>
          </p:cNvPr>
          <p:cNvSpPr/>
          <p:nvPr/>
        </p:nvSpPr>
        <p:spPr>
          <a:xfrm>
            <a:off x="0" y="1615274"/>
            <a:ext cx="6502878" cy="181372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 startAt="4"/>
            </a:pPr>
            <a:r>
              <a:rPr lang="en-US" sz="2000" dirty="0"/>
              <a:t>Unspecified Object Alternation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Mike ate all the cake.</a:t>
            </a:r>
          </a:p>
          <a:p>
            <a:r>
              <a:rPr lang="en-US" dirty="0">
                <a:solidFill>
                  <a:srgbClr val="0070C0"/>
                </a:solidFill>
              </a:rPr>
              <a:t>	Mike ate.</a:t>
            </a:r>
          </a:p>
          <a:p>
            <a:r>
              <a:rPr lang="en-US" dirty="0">
                <a:solidFill>
                  <a:srgbClr val="0070C0"/>
                </a:solidFill>
              </a:rPr>
              <a:t>	Mike put the flowers in the vase.</a:t>
            </a:r>
          </a:p>
          <a:p>
            <a:r>
              <a:rPr lang="en-US" dirty="0">
                <a:solidFill>
                  <a:srgbClr val="0070C0"/>
                </a:solidFill>
              </a:rPr>
              <a:t>	??Mike put. </a:t>
            </a:r>
          </a:p>
        </p:txBody>
      </p:sp>
      <p:sp>
        <p:nvSpPr>
          <p:cNvPr id="12" name="Ορθογώνιο: Στρογγύλεμα γωνιών 11">
            <a:extLst>
              <a:ext uri="{FF2B5EF4-FFF2-40B4-BE49-F238E27FC236}">
                <a16:creationId xmlns="" xmlns:a16="http://schemas.microsoft.com/office/drawing/2014/main" id="{1539B615-6CB4-68CF-09C0-AD057F19DC8A}"/>
              </a:ext>
            </a:extLst>
          </p:cNvPr>
          <p:cNvSpPr/>
          <p:nvPr/>
        </p:nvSpPr>
        <p:spPr>
          <a:xfrm>
            <a:off x="1320561" y="3216959"/>
            <a:ext cx="6502878" cy="181372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 startAt="5"/>
            </a:pPr>
            <a:r>
              <a:rPr lang="en-US" sz="2000" dirty="0"/>
              <a:t>Understood Reflexive Object Alternation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Jill dressed herself in a hurry.</a:t>
            </a:r>
          </a:p>
          <a:p>
            <a:r>
              <a:rPr lang="en-US" dirty="0">
                <a:solidFill>
                  <a:srgbClr val="0070C0"/>
                </a:solidFill>
              </a:rPr>
              <a:t>	Jill dressed in a hurry.</a:t>
            </a:r>
          </a:p>
          <a:p>
            <a:r>
              <a:rPr lang="en-US" dirty="0">
                <a:solidFill>
                  <a:srgbClr val="0070C0"/>
                </a:solidFill>
              </a:rPr>
              <a:t>	Jill cut herself.</a:t>
            </a:r>
          </a:p>
          <a:p>
            <a:r>
              <a:rPr lang="en-US" dirty="0">
                <a:solidFill>
                  <a:srgbClr val="0070C0"/>
                </a:solidFill>
              </a:rPr>
              <a:t>	??Jill cut.</a:t>
            </a:r>
          </a:p>
        </p:txBody>
      </p:sp>
      <p:sp>
        <p:nvSpPr>
          <p:cNvPr id="13" name="Ορθογώνιο: Στρογγύλεμα γωνιών 12">
            <a:extLst>
              <a:ext uri="{FF2B5EF4-FFF2-40B4-BE49-F238E27FC236}">
                <a16:creationId xmlns="" xmlns:a16="http://schemas.microsoft.com/office/drawing/2014/main" id="{398328F4-0CB5-65EA-E7FA-979F7034A95C}"/>
              </a:ext>
            </a:extLst>
          </p:cNvPr>
          <p:cNvSpPr/>
          <p:nvPr/>
        </p:nvSpPr>
        <p:spPr>
          <a:xfrm>
            <a:off x="2627784" y="4796959"/>
            <a:ext cx="6502878" cy="181372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l-GR" sz="2000" dirty="0">
                <a:solidFill>
                  <a:schemeClr val="tx1"/>
                </a:solidFill>
              </a:rPr>
              <a:t>6.    </a:t>
            </a:r>
            <a:r>
              <a:rPr lang="en-US" sz="2000" dirty="0"/>
              <a:t>Understood Reciprocal Object Alternation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Anne met Cathy.</a:t>
            </a:r>
          </a:p>
          <a:p>
            <a:r>
              <a:rPr lang="en-US" dirty="0">
                <a:solidFill>
                  <a:srgbClr val="0070C0"/>
                </a:solidFill>
              </a:rPr>
              <a:t>	Anne and Cathy met.</a:t>
            </a:r>
          </a:p>
          <a:p>
            <a:r>
              <a:rPr lang="en-US" dirty="0">
                <a:solidFill>
                  <a:srgbClr val="0070C0"/>
                </a:solidFill>
              </a:rPr>
              <a:t>	Joe and Carter gossiped.</a:t>
            </a:r>
          </a:p>
          <a:p>
            <a:r>
              <a:rPr lang="en-US" dirty="0">
                <a:solidFill>
                  <a:srgbClr val="0070C0"/>
                </a:solidFill>
              </a:rPr>
              <a:t>	??Joe gossiped Carter.</a:t>
            </a:r>
            <a:endParaRPr lang="el-GR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4CC37368-FB57-FF91-CD77-F0261F1CF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31</a:t>
            </a:fld>
            <a:endParaRPr lang="el-G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54EB3F82-5B17-DC10-8D1E-0E17B68D65EA}"/>
              </a:ext>
            </a:extLst>
          </p:cNvPr>
          <p:cNvSpPr txBox="1">
            <a:spLocks/>
          </p:cNvSpPr>
          <p:nvPr/>
        </p:nvSpPr>
        <p:spPr>
          <a:xfrm>
            <a:off x="1097280" y="764704"/>
            <a:ext cx="7363152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b="0" dirty="0"/>
              <a:t>Valency Alternations (3) </a:t>
            </a:r>
            <a:endParaRPr lang="el-GR" b="0" dirty="0"/>
          </a:p>
        </p:txBody>
      </p:sp>
      <p:sp>
        <p:nvSpPr>
          <p:cNvPr id="10" name="Θέση περιεχομένου 2">
            <a:extLst>
              <a:ext uri="{FF2B5EF4-FFF2-40B4-BE49-F238E27FC236}">
                <a16:creationId xmlns="" xmlns:a16="http://schemas.microsoft.com/office/drawing/2014/main" id="{01DE8A26-BDFB-A43E-C561-CEB435696121}"/>
              </a:ext>
            </a:extLst>
          </p:cNvPr>
          <p:cNvSpPr txBox="1">
            <a:spLocks/>
          </p:cNvSpPr>
          <p:nvPr/>
        </p:nvSpPr>
        <p:spPr>
          <a:xfrm>
            <a:off x="4860032" y="1737359"/>
            <a:ext cx="4189802" cy="3036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	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endParaRPr lang="el-GR" sz="2400" dirty="0"/>
          </a:p>
        </p:txBody>
      </p:sp>
      <p:sp>
        <p:nvSpPr>
          <p:cNvPr id="11" name="Θέση περιεχομένου 2">
            <a:extLst>
              <a:ext uri="{FF2B5EF4-FFF2-40B4-BE49-F238E27FC236}">
                <a16:creationId xmlns="" xmlns:a16="http://schemas.microsoft.com/office/drawing/2014/main" id="{E7EFB880-03D3-81D8-0D4E-43C6F9318600}"/>
              </a:ext>
            </a:extLst>
          </p:cNvPr>
          <p:cNvSpPr txBox="1">
            <a:spLocks/>
          </p:cNvSpPr>
          <p:nvPr/>
        </p:nvSpPr>
        <p:spPr>
          <a:xfrm>
            <a:off x="755576" y="4941168"/>
            <a:ext cx="8280920" cy="1315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	etc.…</a:t>
            </a:r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 Valency alternations vary from one language to another</a:t>
            </a:r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 Levin (1993): identifies up to 50 alternations for English</a:t>
            </a: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endParaRPr lang="el-GR" sz="2000" dirty="0"/>
          </a:p>
        </p:txBody>
      </p:sp>
      <p:sp>
        <p:nvSpPr>
          <p:cNvPr id="12" name="Ορθογώνιο: Στρογγύλεμα γωνιών 11">
            <a:extLst>
              <a:ext uri="{FF2B5EF4-FFF2-40B4-BE49-F238E27FC236}">
                <a16:creationId xmlns="" xmlns:a16="http://schemas.microsoft.com/office/drawing/2014/main" id="{52A143A4-EDA8-0246-5275-A8F546AC80EE}"/>
              </a:ext>
            </a:extLst>
          </p:cNvPr>
          <p:cNvSpPr/>
          <p:nvPr/>
        </p:nvSpPr>
        <p:spPr>
          <a:xfrm>
            <a:off x="243180" y="1571732"/>
            <a:ext cx="7214138" cy="18873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 startAt="7"/>
            </a:pPr>
            <a:r>
              <a:rPr lang="en-US" sz="2000" dirty="0"/>
              <a:t>Locative preposition drop</a:t>
            </a:r>
          </a:p>
          <a:p>
            <a:r>
              <a:rPr lang="en-US" sz="2000" dirty="0"/>
              <a:t>	</a:t>
            </a:r>
            <a:r>
              <a:rPr lang="en-US" dirty="0">
                <a:solidFill>
                  <a:srgbClr val="0070C0"/>
                </a:solidFill>
              </a:rPr>
              <a:t>Martha climbed </a:t>
            </a:r>
            <a:r>
              <a:rPr lang="en-US" u="sng" dirty="0">
                <a:solidFill>
                  <a:srgbClr val="0070C0"/>
                </a:solidFill>
              </a:rPr>
              <a:t>up</a:t>
            </a:r>
            <a:r>
              <a:rPr lang="en-US" dirty="0">
                <a:solidFill>
                  <a:srgbClr val="0070C0"/>
                </a:solidFill>
              </a:rPr>
              <a:t> a mountain.</a:t>
            </a:r>
          </a:p>
          <a:p>
            <a:r>
              <a:rPr lang="en-US" dirty="0">
                <a:solidFill>
                  <a:srgbClr val="0070C0"/>
                </a:solidFill>
              </a:rPr>
              <a:t>	Martha climbed a mountain.</a:t>
            </a:r>
          </a:p>
          <a:p>
            <a:r>
              <a:rPr lang="en-US" dirty="0">
                <a:solidFill>
                  <a:srgbClr val="0070C0"/>
                </a:solidFill>
              </a:rPr>
              <a:t>	Sharon came </a:t>
            </a:r>
            <a:r>
              <a:rPr lang="en-US" u="sng" dirty="0">
                <a:solidFill>
                  <a:srgbClr val="0070C0"/>
                </a:solidFill>
              </a:rPr>
              <a:t>into</a:t>
            </a:r>
            <a:r>
              <a:rPr lang="en-US" dirty="0">
                <a:solidFill>
                  <a:srgbClr val="0070C0"/>
                </a:solidFill>
              </a:rPr>
              <a:t> the room.</a:t>
            </a:r>
          </a:p>
          <a:p>
            <a:r>
              <a:rPr lang="en-US" dirty="0">
                <a:solidFill>
                  <a:srgbClr val="0070C0"/>
                </a:solidFill>
              </a:rPr>
              <a:t>	??Sharon came the room.</a:t>
            </a:r>
          </a:p>
        </p:txBody>
      </p:sp>
      <p:sp>
        <p:nvSpPr>
          <p:cNvPr id="13" name="Ορθογώνιο: Στρογγύλεμα γωνιών 12">
            <a:extLst>
              <a:ext uri="{FF2B5EF4-FFF2-40B4-BE49-F238E27FC236}">
                <a16:creationId xmlns="" xmlns:a16="http://schemas.microsoft.com/office/drawing/2014/main" id="{786517B6-8BB6-6379-BA90-6A17D741385F}"/>
              </a:ext>
            </a:extLst>
          </p:cNvPr>
          <p:cNvSpPr/>
          <p:nvPr/>
        </p:nvSpPr>
        <p:spPr>
          <a:xfrm>
            <a:off x="1835696" y="3252469"/>
            <a:ext cx="7128792" cy="176089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l-GR" sz="1600" dirty="0">
                <a:solidFill>
                  <a:schemeClr val="tx1"/>
                </a:solidFill>
              </a:rPr>
              <a:t>8.    </a:t>
            </a:r>
            <a:r>
              <a:rPr lang="en-US" dirty="0"/>
              <a:t>Benefactive Alternation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Martha carved a toy </a:t>
            </a:r>
            <a:r>
              <a:rPr lang="en-US" u="sng" dirty="0">
                <a:solidFill>
                  <a:srgbClr val="0070C0"/>
                </a:solidFill>
              </a:rPr>
              <a:t>for the baby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  <a:p>
            <a:r>
              <a:rPr lang="en-US" dirty="0">
                <a:solidFill>
                  <a:srgbClr val="0070C0"/>
                </a:solidFill>
              </a:rPr>
              <a:t>	Martha carved </a:t>
            </a:r>
            <a:r>
              <a:rPr lang="en-US" u="sng" dirty="0">
                <a:solidFill>
                  <a:srgbClr val="0070C0"/>
                </a:solidFill>
              </a:rPr>
              <a:t>the baby </a:t>
            </a:r>
            <a:r>
              <a:rPr lang="en-US" dirty="0">
                <a:solidFill>
                  <a:srgbClr val="0070C0"/>
                </a:solidFill>
              </a:rPr>
              <a:t>a toy.</a:t>
            </a:r>
          </a:p>
          <a:p>
            <a:r>
              <a:rPr lang="en-US" dirty="0">
                <a:solidFill>
                  <a:srgbClr val="0070C0"/>
                </a:solidFill>
              </a:rPr>
              <a:t>	The architect selected</a:t>
            </a:r>
            <a:r>
              <a:rPr lang="el-GR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a house </a:t>
            </a:r>
            <a:r>
              <a:rPr lang="en-US" u="sng" dirty="0">
                <a:solidFill>
                  <a:srgbClr val="0070C0"/>
                </a:solidFill>
              </a:rPr>
              <a:t>for the couple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  <a:p>
            <a:r>
              <a:rPr lang="en-US" dirty="0">
                <a:solidFill>
                  <a:srgbClr val="0070C0"/>
                </a:solidFill>
              </a:rPr>
              <a:t>	?? The architect selected	</a:t>
            </a:r>
            <a:r>
              <a:rPr lang="en-US" u="sng" dirty="0">
                <a:solidFill>
                  <a:srgbClr val="0070C0"/>
                </a:solidFill>
              </a:rPr>
              <a:t>the</a:t>
            </a:r>
            <a:r>
              <a:rPr lang="el-GR" u="sng" dirty="0">
                <a:solidFill>
                  <a:srgbClr val="0070C0"/>
                </a:solidFill>
              </a:rPr>
              <a:t> </a:t>
            </a:r>
            <a:r>
              <a:rPr lang="en-US" u="sng" dirty="0">
                <a:solidFill>
                  <a:srgbClr val="0070C0"/>
                </a:solidFill>
              </a:rPr>
              <a:t>couple </a:t>
            </a:r>
            <a:r>
              <a:rPr lang="en-US" dirty="0">
                <a:solidFill>
                  <a:srgbClr val="0070C0"/>
                </a:solidFill>
              </a:rPr>
              <a:t>a house</a:t>
            </a:r>
            <a:r>
              <a:rPr lang="el-GR" dirty="0">
                <a:solidFill>
                  <a:srgbClr val="0070C0"/>
                </a:solidFill>
              </a:rPr>
              <a:t>.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174AC852-D303-F40F-DCA8-1091D572A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32</a:t>
            </a:fld>
            <a:endParaRPr lang="el-G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04A5A2F2-4466-069C-92BC-FB5378E48A86}"/>
              </a:ext>
            </a:extLst>
          </p:cNvPr>
          <p:cNvSpPr txBox="1">
            <a:spLocks/>
          </p:cNvSpPr>
          <p:nvPr/>
        </p:nvSpPr>
        <p:spPr>
          <a:xfrm>
            <a:off x="1097280" y="764704"/>
            <a:ext cx="7363152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 err="1"/>
              <a:t>AthDGC</a:t>
            </a:r>
            <a:r>
              <a:rPr lang="en-US" sz="4400" b="0" dirty="0"/>
              <a:t> Valency Lexicon</a:t>
            </a:r>
            <a:endParaRPr lang="el-GR" b="0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22F3BE2E-9592-3026-586F-738B7636C327}"/>
              </a:ext>
            </a:extLst>
          </p:cNvPr>
          <p:cNvSpPr txBox="1">
            <a:spLocks/>
          </p:cNvSpPr>
          <p:nvPr/>
        </p:nvSpPr>
        <p:spPr>
          <a:xfrm>
            <a:off x="179512" y="1730954"/>
            <a:ext cx="5616624" cy="4434350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/>
            <a:r>
              <a:rPr lang="en-US" sz="2500" dirty="0"/>
              <a:t>One lexicon per language </a:t>
            </a:r>
            <a:endParaRPr lang="el-GR" sz="2500" dirty="0"/>
          </a:p>
          <a:p>
            <a:pPr marL="457200" indent="-457200">
              <a:buNone/>
            </a:pPr>
            <a:r>
              <a:rPr lang="en-US" sz="2500" dirty="0"/>
              <a:t>	(1 for Greek, 1 for English)</a:t>
            </a:r>
            <a:endParaRPr lang="el-GR" sz="2500" dirty="0"/>
          </a:p>
          <a:p>
            <a:pPr marL="457200" indent="-457200">
              <a:buNone/>
            </a:pPr>
            <a:endParaRPr lang="en-US" dirty="0"/>
          </a:p>
          <a:p>
            <a:pPr marL="457200" indent="-457200"/>
            <a:r>
              <a:rPr lang="en-US" sz="2500" dirty="0"/>
              <a:t>Valency lexicon = </a:t>
            </a:r>
            <a:endParaRPr lang="el-GR" sz="2500" dirty="0"/>
          </a:p>
          <a:p>
            <a:pPr marL="457200" indent="-457200">
              <a:buNone/>
            </a:pPr>
            <a:r>
              <a:rPr lang="en-US" sz="2500" dirty="0"/>
              <a:t>	list of verbs + valency information</a:t>
            </a:r>
            <a:endParaRPr lang="el-GR" sz="2500" dirty="0"/>
          </a:p>
        </p:txBody>
      </p:sp>
      <p:pic>
        <p:nvPicPr>
          <p:cNvPr id="11" name="Εικόνα 10">
            <a:extLst>
              <a:ext uri="{FF2B5EF4-FFF2-40B4-BE49-F238E27FC236}">
                <a16:creationId xmlns="" xmlns:a16="http://schemas.microsoft.com/office/drawing/2014/main" id="{F54230AA-E910-FE22-FAB9-CA57280C087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580112" y="1412776"/>
            <a:ext cx="3355638" cy="426724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C0670D5B-AE99-EEF3-FD39-D6B36B84D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33</a:t>
            </a:fld>
            <a:endParaRPr lang="el-G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3D37D41E-D8EB-8AA5-B65B-3BC36813C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806F6CD8-73F3-C7A8-D0F9-789DF50CC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95C852CE-DDF8-18F8-18AB-E1E10DFBB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E5F64E58-1C71-88B0-3347-9888CF1C5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6FB45E24-7B09-1246-66EA-09D4CE854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7AB606DA-0116-F41E-9076-D61BAB739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3B337A44-24CA-A0CD-4D40-FE80AB913AC1}"/>
              </a:ext>
            </a:extLst>
          </p:cNvPr>
          <p:cNvSpPr txBox="1">
            <a:spLocks/>
          </p:cNvSpPr>
          <p:nvPr/>
        </p:nvSpPr>
        <p:spPr>
          <a:xfrm>
            <a:off x="395536" y="529458"/>
            <a:ext cx="8486424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Annotation through the PROIEL platform</a:t>
            </a:r>
            <a:endParaRPr lang="el-GR" b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9888260C-1C99-AA3E-175D-6551C69C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34</a:t>
            </a:fld>
            <a:endParaRPr lang="el-GR"/>
          </a:p>
        </p:txBody>
      </p:sp>
      <p:pic>
        <p:nvPicPr>
          <p:cNvPr id="11" name="Εικόνα 10">
            <a:extLst>
              <a:ext uri="{FF2B5EF4-FFF2-40B4-BE49-F238E27FC236}">
                <a16:creationId xmlns="" xmlns:a16="http://schemas.microsoft.com/office/drawing/2014/main" id="{F311BFA7-2A24-0C3A-8C32-8D5A190AC4C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11147" y="2020614"/>
            <a:ext cx="9144000" cy="324934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EFE07AEA-F325-410D-FFD8-F01980E45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4C8E6157-5651-020D-7EDB-182A5B284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D91AE3D3-20B2-FD47-EAC0-E744EC5DD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EC5A1928-906F-AD5A-CE99-11B0825D2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B685013B-3679-FE65-DE4A-C5FD8B22F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C2EE6DA6-5C0E-BD11-8150-D89C77600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E11063E1-3A62-9162-E767-68C60A5BF19D}"/>
              </a:ext>
            </a:extLst>
          </p:cNvPr>
          <p:cNvSpPr txBox="1">
            <a:spLocks/>
          </p:cNvSpPr>
          <p:nvPr/>
        </p:nvSpPr>
        <p:spPr>
          <a:xfrm>
            <a:off x="395536" y="529458"/>
            <a:ext cx="8486424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Annotation through the PROIEL platform</a:t>
            </a:r>
            <a:endParaRPr lang="el-GR" b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652A4C96-39E5-852D-B72D-911AD94F4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35</a:t>
            </a:fld>
            <a:endParaRPr lang="el-GR"/>
          </a:p>
        </p:txBody>
      </p:sp>
      <p:pic>
        <p:nvPicPr>
          <p:cNvPr id="13" name="Εικόνα 12">
            <a:extLst>
              <a:ext uri="{FF2B5EF4-FFF2-40B4-BE49-F238E27FC236}">
                <a16:creationId xmlns="" xmlns:a16="http://schemas.microsoft.com/office/drawing/2014/main" id="{000D5663-AF6B-B9E1-824B-63349AC43857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2040" y="1816762"/>
            <a:ext cx="8619920" cy="381319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07EC7B69-9F1A-65B5-734B-B244FC753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5D9BF01E-7951-E081-9B68-C887E9589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6B5DAA2A-730E-9852-6A51-CF9CB16DB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D7CE2042-5CBE-0A1F-0061-D2CE9942B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CA81F9B3-C1D2-C1D8-9292-EBA0E22F0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9DBEA74A-92C1-FE4C-82E4-2C3905020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6904D0C7-BE74-3BC4-36B3-1EA005FD1A56}"/>
              </a:ext>
            </a:extLst>
          </p:cNvPr>
          <p:cNvSpPr txBox="1">
            <a:spLocks/>
          </p:cNvSpPr>
          <p:nvPr/>
        </p:nvSpPr>
        <p:spPr>
          <a:xfrm>
            <a:off x="395536" y="529458"/>
            <a:ext cx="8486424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Annotation through the PROIEL platform</a:t>
            </a:r>
            <a:endParaRPr lang="el-GR" b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22164E52-215B-AF2D-08E0-9FCAC2E86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36</a:t>
            </a:fld>
            <a:endParaRPr lang="el-GR"/>
          </a:p>
        </p:txBody>
      </p:sp>
      <p:pic>
        <p:nvPicPr>
          <p:cNvPr id="11" name="Εικόνα 10">
            <a:extLst>
              <a:ext uri="{FF2B5EF4-FFF2-40B4-BE49-F238E27FC236}">
                <a16:creationId xmlns="" xmlns:a16="http://schemas.microsoft.com/office/drawing/2014/main" id="{F4F1787A-8BE0-0BB9-004B-7B28C4445B9C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91680" y="1916832"/>
            <a:ext cx="5008149" cy="429195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A4706252-7D60-A329-AABD-DF5A95358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36996C72-CBC0-4B6C-6DAC-F7012501D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81B2B31B-3165-CE13-3100-48EE12499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780ABC3E-5E1B-2210-8285-ABD7628E9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36FEAA9A-67C0-F299-C36D-58E2D6AB5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0F4A3DB3-51C0-DFB1-0EA9-D15291236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71CEF536-DCE1-10CF-BDE7-4205C9DB0D68}"/>
              </a:ext>
            </a:extLst>
          </p:cNvPr>
          <p:cNvSpPr txBox="1">
            <a:spLocks/>
          </p:cNvSpPr>
          <p:nvPr/>
        </p:nvSpPr>
        <p:spPr>
          <a:xfrm>
            <a:off x="35496" y="529458"/>
            <a:ext cx="9145016" cy="1135893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400" b="0" dirty="0" err="1"/>
              <a:t>AthDGC</a:t>
            </a:r>
            <a:r>
              <a:rPr lang="en-US" sz="2400" b="0" dirty="0"/>
              <a:t> Valency Lexicon</a:t>
            </a:r>
            <a:r>
              <a:rPr lang="el-GR" sz="2400" b="0" dirty="0"/>
              <a:t> </a:t>
            </a:r>
            <a:endParaRPr lang="en-US" sz="2400" b="0" dirty="0"/>
          </a:p>
          <a:p>
            <a:pPr algn="ctr"/>
            <a:r>
              <a:rPr lang="en-US" sz="2400" b="0" dirty="0"/>
              <a:t>a .</a:t>
            </a:r>
            <a:r>
              <a:rPr lang="en-US" sz="2400" b="0" dirty="0" err="1"/>
              <a:t>cvs</a:t>
            </a:r>
            <a:r>
              <a:rPr lang="en-US" sz="2400" b="0" dirty="0"/>
              <a:t> file </a:t>
            </a:r>
            <a:r>
              <a:rPr lang="el-GR" sz="2400" b="0" dirty="0"/>
              <a:t>–</a:t>
            </a:r>
            <a:r>
              <a:rPr lang="en-US" sz="2400" b="0" dirty="0"/>
              <a:t>Cooperation with Harvard CHS (</a:t>
            </a:r>
            <a:r>
              <a:rPr lang="en-US" sz="2400" b="0" dirty="0" err="1"/>
              <a:t>Arkas</a:t>
            </a:r>
            <a:r>
              <a:rPr lang="en-US" sz="2400" b="0" dirty="0"/>
              <a:t> Team)</a:t>
            </a:r>
            <a:endParaRPr lang="el-GR" sz="2400" b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CBD8B88F-64AD-6E84-C0DD-DAEE8EB66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37</a:t>
            </a:fld>
            <a:endParaRPr lang="el-GR"/>
          </a:p>
        </p:txBody>
      </p:sp>
      <p:pic>
        <p:nvPicPr>
          <p:cNvPr id="12" name="Εικόνα 11">
            <a:extLst>
              <a:ext uri="{FF2B5EF4-FFF2-40B4-BE49-F238E27FC236}">
                <a16:creationId xmlns="" xmlns:a16="http://schemas.microsoft.com/office/drawing/2014/main" id="{2B8DD61E-9B74-4770-FED9-462A482075EF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4710" y="1408993"/>
            <a:ext cx="8894799" cy="485584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7B419AD7-7AF6-4F68-C4C6-8DA9EAC0E3BE}"/>
              </a:ext>
            </a:extLst>
          </p:cNvPr>
          <p:cNvSpPr txBox="1">
            <a:spLocks/>
          </p:cNvSpPr>
          <p:nvPr/>
        </p:nvSpPr>
        <p:spPr>
          <a:xfrm>
            <a:off x="35496" y="529458"/>
            <a:ext cx="9145016" cy="1135893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400" b="0" dirty="0" err="1"/>
              <a:t>AthDGC</a:t>
            </a:r>
            <a:r>
              <a:rPr lang="en-US" sz="2400" b="0" dirty="0"/>
              <a:t> Valency Lexicon</a:t>
            </a:r>
            <a:r>
              <a:rPr lang="el-GR" sz="2400" b="0" dirty="0"/>
              <a:t> </a:t>
            </a:r>
            <a:endParaRPr lang="en-US" sz="2400" b="0" dirty="0"/>
          </a:p>
          <a:p>
            <a:pPr algn="ctr"/>
            <a:r>
              <a:rPr lang="en-US" sz="2400" b="0" dirty="0"/>
              <a:t>a .</a:t>
            </a:r>
            <a:r>
              <a:rPr lang="en-US" sz="2400" b="0" dirty="0" err="1"/>
              <a:t>cvs</a:t>
            </a:r>
            <a:r>
              <a:rPr lang="en-US" sz="2400" b="0" dirty="0"/>
              <a:t> file </a:t>
            </a:r>
            <a:r>
              <a:rPr lang="el-GR" sz="2400" b="0" dirty="0"/>
              <a:t>–</a:t>
            </a:r>
            <a:r>
              <a:rPr lang="en-US" sz="2400" b="0" dirty="0"/>
              <a:t>Cooperation with Harvard CHS (</a:t>
            </a:r>
            <a:r>
              <a:rPr lang="en-US" sz="2400" b="0" dirty="0" err="1"/>
              <a:t>Arkas</a:t>
            </a:r>
            <a:r>
              <a:rPr lang="en-US" sz="2400" b="0" dirty="0"/>
              <a:t> Team)</a:t>
            </a:r>
            <a:endParaRPr lang="el-GR" sz="2400" b="0" dirty="0"/>
          </a:p>
        </p:txBody>
      </p:sp>
      <p:graphicFrame>
        <p:nvGraphicFramePr>
          <p:cNvPr id="3" name="Πίνακας 2">
            <a:extLst>
              <a:ext uri="{FF2B5EF4-FFF2-40B4-BE49-F238E27FC236}">
                <a16:creationId xmlns="" xmlns:a16="http://schemas.microsoft.com/office/drawing/2014/main" id="{CC137796-77AD-8EB0-3908-54CB7D2FE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652798562"/>
              </p:ext>
            </p:extLst>
          </p:nvPr>
        </p:nvGraphicFramePr>
        <p:xfrm>
          <a:off x="143509" y="1877913"/>
          <a:ext cx="8928990" cy="2053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4115">
                  <a:extLst>
                    <a:ext uri="{9D8B030D-6E8A-4147-A177-3AD203B41FA5}">
                      <a16:colId xmlns="" xmlns:a16="http://schemas.microsoft.com/office/drawing/2014/main" val="67285584"/>
                    </a:ext>
                  </a:extLst>
                </a:gridCol>
                <a:gridCol w="1224136">
                  <a:extLst>
                    <a:ext uri="{9D8B030D-6E8A-4147-A177-3AD203B41FA5}">
                      <a16:colId xmlns="" xmlns:a16="http://schemas.microsoft.com/office/drawing/2014/main" val="1887354883"/>
                    </a:ext>
                  </a:extLst>
                </a:gridCol>
                <a:gridCol w="1558459">
                  <a:extLst>
                    <a:ext uri="{9D8B030D-6E8A-4147-A177-3AD203B41FA5}">
                      <a16:colId xmlns="" xmlns:a16="http://schemas.microsoft.com/office/drawing/2014/main" val="500754830"/>
                    </a:ext>
                  </a:extLst>
                </a:gridCol>
                <a:gridCol w="1275570">
                  <a:extLst>
                    <a:ext uri="{9D8B030D-6E8A-4147-A177-3AD203B41FA5}">
                      <a16:colId xmlns="" xmlns:a16="http://schemas.microsoft.com/office/drawing/2014/main" val="911689426"/>
                    </a:ext>
                  </a:extLst>
                </a:gridCol>
                <a:gridCol w="1275570">
                  <a:extLst>
                    <a:ext uri="{9D8B030D-6E8A-4147-A177-3AD203B41FA5}">
                      <a16:colId xmlns="" xmlns:a16="http://schemas.microsoft.com/office/drawing/2014/main" val="1840079110"/>
                    </a:ext>
                  </a:extLst>
                </a:gridCol>
                <a:gridCol w="1275570">
                  <a:extLst>
                    <a:ext uri="{9D8B030D-6E8A-4147-A177-3AD203B41FA5}">
                      <a16:colId xmlns="" xmlns:a16="http://schemas.microsoft.com/office/drawing/2014/main" val="2397981844"/>
                    </a:ext>
                  </a:extLst>
                </a:gridCol>
                <a:gridCol w="1275570">
                  <a:extLst>
                    <a:ext uri="{9D8B030D-6E8A-4147-A177-3AD203B41FA5}">
                      <a16:colId xmlns="" xmlns:a16="http://schemas.microsoft.com/office/drawing/2014/main" val="2117131384"/>
                    </a:ext>
                  </a:extLst>
                </a:gridCol>
              </a:tblGrid>
              <a:tr h="865041">
                <a:tc>
                  <a:txBody>
                    <a:bodyPr/>
                    <a:lstStyle/>
                    <a:p>
                      <a:r>
                        <a:rPr lang="en-US" b="1" dirty="0" err="1"/>
                        <a:t>subdoc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Valency no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Children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Form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Lemma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Postag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Relation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97611301"/>
                  </a:ext>
                </a:extLst>
              </a:tr>
              <a:tr h="865041">
                <a:tc>
                  <a:txBody>
                    <a:bodyPr/>
                    <a:lstStyle/>
                    <a:p>
                      <a:r>
                        <a:rPr lang="en-US" dirty="0"/>
                        <a:t>01Sphr_0000_0001_0002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xobj</a:t>
                      </a:r>
                      <a:r>
                        <a:rPr lang="en-US" dirty="0"/>
                        <a:t> | </a:t>
                      </a:r>
                      <a:r>
                        <a:rPr lang="el-GR" dirty="0" err="1"/>
                        <a:t>πρῶτος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 err="1"/>
                        <a:t>ἦν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 err="1"/>
                        <a:t>εἰμί</a:t>
                      </a:r>
                      <a:r>
                        <a:rPr lang="el-GR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v3sia---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82012174"/>
                  </a:ext>
                </a:extLst>
              </a:tr>
            </a:tbl>
          </a:graphicData>
        </a:graphic>
      </p:graphicFrame>
      <p:graphicFrame>
        <p:nvGraphicFramePr>
          <p:cNvPr id="14" name="Πίνακας 13">
            <a:extLst>
              <a:ext uri="{FF2B5EF4-FFF2-40B4-BE49-F238E27FC236}">
                <a16:creationId xmlns="" xmlns:a16="http://schemas.microsoft.com/office/drawing/2014/main" id="{C2E31B59-26B1-F819-BC51-175DF6A8B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172018033"/>
              </p:ext>
            </p:extLst>
          </p:nvPr>
        </p:nvGraphicFramePr>
        <p:xfrm>
          <a:off x="251520" y="3973497"/>
          <a:ext cx="8677477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79605">
                  <a:extLst>
                    <a:ext uri="{9D8B030D-6E8A-4147-A177-3AD203B41FA5}">
                      <a16:colId xmlns="" xmlns:a16="http://schemas.microsoft.com/office/drawing/2014/main" val="3154323285"/>
                    </a:ext>
                  </a:extLst>
                </a:gridCol>
                <a:gridCol w="1282475">
                  <a:extLst>
                    <a:ext uri="{9D8B030D-6E8A-4147-A177-3AD203B41FA5}">
                      <a16:colId xmlns="" xmlns:a16="http://schemas.microsoft.com/office/drawing/2014/main" val="3349825051"/>
                    </a:ext>
                  </a:extLst>
                </a:gridCol>
                <a:gridCol w="1709966">
                  <a:extLst>
                    <a:ext uri="{9D8B030D-6E8A-4147-A177-3AD203B41FA5}">
                      <a16:colId xmlns="" xmlns:a16="http://schemas.microsoft.com/office/drawing/2014/main" val="4377026"/>
                    </a:ext>
                  </a:extLst>
                </a:gridCol>
                <a:gridCol w="2051960">
                  <a:extLst>
                    <a:ext uri="{9D8B030D-6E8A-4147-A177-3AD203B41FA5}">
                      <a16:colId xmlns="" xmlns:a16="http://schemas.microsoft.com/office/drawing/2014/main" val="2996253322"/>
                    </a:ext>
                  </a:extLst>
                </a:gridCol>
                <a:gridCol w="1453471">
                  <a:extLst>
                    <a:ext uri="{9D8B030D-6E8A-4147-A177-3AD203B41FA5}">
                      <a16:colId xmlns="" xmlns:a16="http://schemas.microsoft.com/office/drawing/2014/main" val="294847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l-GR" dirty="0" err="1"/>
                        <a:t>Παϊαζήτης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l-GR" dirty="0" err="1">
                          <a:solidFill>
                            <a:srgbClr val="FF0000"/>
                          </a:solidFill>
                        </a:rPr>
                        <a:t>ἦν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πέμπτος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l-GR" dirty="0" err="1"/>
                        <a:t>αὐθέντης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l-GR" dirty="0" err="1"/>
                        <a:t>τῆς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688680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Paiazitis.</a:t>
                      </a:r>
                      <a:r>
                        <a:rPr lang="en-US" sz="1200" dirty="0"/>
                        <a:t>NOM.SG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be.</a:t>
                      </a:r>
                      <a:r>
                        <a:rPr lang="en-US" sz="1200" dirty="0"/>
                        <a:t>3SG.PST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fifth.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NOM.SG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master.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NOM.SG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the.</a:t>
                      </a:r>
                      <a:r>
                        <a:rPr lang="en-US" sz="1200" dirty="0"/>
                        <a:t>GEN.SG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2101748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dirty="0" err="1"/>
                        <a:t>γενεᾶς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 err="1"/>
                        <a:t>αὐτοῦ</a:t>
                      </a:r>
                      <a:r>
                        <a:rPr lang="el-GR" dirty="0"/>
                        <a:t>.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2429154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generarion</a:t>
                      </a:r>
                      <a:r>
                        <a:rPr lang="en-US" dirty="0"/>
                        <a:t>.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GEN.SG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he.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GEN.SG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l-GR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4250763619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r>
                        <a:rPr lang="en-US" dirty="0" err="1"/>
                        <a:t>Paiazitis</a:t>
                      </a:r>
                      <a:r>
                        <a:rPr lang="en-US" dirty="0"/>
                        <a:t>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was</a:t>
                      </a:r>
                      <a:r>
                        <a:rPr lang="en-US" dirty="0"/>
                        <a:t> the fifth master of his generation. </a:t>
                      </a:r>
                      <a:endParaRPr lang="el-G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247974134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6F95097C-51AB-DBE5-3A14-3BB6B9DB5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38</a:t>
            </a:fld>
            <a:endParaRPr lang="el-G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5AECD9EF-9159-FBE4-7692-69A412AC7AF6}"/>
              </a:ext>
            </a:extLst>
          </p:cNvPr>
          <p:cNvSpPr txBox="1">
            <a:spLocks/>
          </p:cNvSpPr>
          <p:nvPr/>
        </p:nvSpPr>
        <p:spPr>
          <a:xfrm>
            <a:off x="1043608" y="620688"/>
            <a:ext cx="7363152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 err="1"/>
              <a:t>AthDGC</a:t>
            </a:r>
            <a:r>
              <a:rPr lang="en-US" sz="4400" b="0" dirty="0"/>
              <a:t> Valency Lexicon</a:t>
            </a:r>
            <a:endParaRPr lang="el-GR" b="0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007C082-8A6D-4FD5-45D0-42DE6E81BC44}"/>
              </a:ext>
            </a:extLst>
          </p:cNvPr>
          <p:cNvSpPr txBox="1"/>
          <p:nvPr/>
        </p:nvSpPr>
        <p:spPr>
          <a:xfrm>
            <a:off x="419339" y="1480530"/>
            <a:ext cx="8424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3600" dirty="0"/>
              <a:t>‘</a:t>
            </a:r>
            <a:r>
              <a:rPr lang="en-US" sz="3600" dirty="0"/>
              <a:t>write</a:t>
            </a:r>
            <a:r>
              <a:rPr lang="el-GR" sz="3600" dirty="0"/>
              <a:t>’</a:t>
            </a:r>
            <a:endParaRPr lang="en-US" dirty="0"/>
          </a:p>
          <a:p>
            <a:r>
              <a:rPr lang="en-US" dirty="0"/>
              <a:t>Modern English, Frequency in the corpus: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1015</a:t>
            </a:r>
          </a:p>
        </p:txBody>
      </p:sp>
      <p:graphicFrame>
        <p:nvGraphicFramePr>
          <p:cNvPr id="10" name="Πίνακας 9">
            <a:extLst>
              <a:ext uri="{FF2B5EF4-FFF2-40B4-BE49-F238E27FC236}">
                <a16:creationId xmlns="" xmlns:a16="http://schemas.microsoft.com/office/drawing/2014/main" id="{9FBC9317-BAD4-9F0D-ABED-954F2402FC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604689199"/>
              </p:ext>
            </p:extLst>
          </p:nvPr>
        </p:nvGraphicFramePr>
        <p:xfrm>
          <a:off x="395536" y="2636912"/>
          <a:ext cx="8424936" cy="19365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15338">
                  <a:extLst>
                    <a:ext uri="{9D8B030D-6E8A-4147-A177-3AD203B41FA5}">
                      <a16:colId xmlns="" xmlns:a16="http://schemas.microsoft.com/office/drawing/2014/main" val="4043654411"/>
                    </a:ext>
                  </a:extLst>
                </a:gridCol>
                <a:gridCol w="2501286">
                  <a:extLst>
                    <a:ext uri="{9D8B030D-6E8A-4147-A177-3AD203B41FA5}">
                      <a16:colId xmlns="" xmlns:a16="http://schemas.microsoft.com/office/drawing/2014/main" val="3991075884"/>
                    </a:ext>
                  </a:extLst>
                </a:gridCol>
                <a:gridCol w="2808312">
                  <a:extLst>
                    <a:ext uri="{9D8B030D-6E8A-4147-A177-3AD203B41FA5}">
                      <a16:colId xmlns="" xmlns:a16="http://schemas.microsoft.com/office/drawing/2014/main" val="296243753"/>
                    </a:ext>
                  </a:extLst>
                </a:gridCol>
              </a:tblGrid>
              <a:tr h="387314">
                <a:tc>
                  <a:txBody>
                    <a:bodyPr/>
                    <a:lstStyle/>
                    <a:p>
                      <a:r>
                        <a:rPr lang="en-US" b="1" dirty="0"/>
                        <a:t>Arguments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Voice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Frequency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61844204"/>
                  </a:ext>
                </a:extLst>
              </a:tr>
              <a:tr h="387314">
                <a:tc>
                  <a:txBody>
                    <a:bodyPr/>
                    <a:lstStyle/>
                    <a:p>
                      <a:r>
                        <a:rPr lang="en-US" dirty="0"/>
                        <a:t>SUB(nom).V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active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403</a:t>
                      </a:r>
                      <a:endParaRPr lang="el-GR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53273380"/>
                  </a:ext>
                </a:extLst>
              </a:tr>
              <a:tr h="387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SUB(nom).V.OBJ(acc)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active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112</a:t>
                      </a:r>
                      <a:endParaRPr lang="el-GR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85344665"/>
                  </a:ext>
                </a:extLst>
              </a:tr>
              <a:tr h="387314">
                <a:tc>
                  <a:txBody>
                    <a:bodyPr/>
                    <a:lstStyle/>
                    <a:p>
                      <a:r>
                        <a:rPr lang="en-US" dirty="0"/>
                        <a:t>SUB(nom).V.OBL(</a:t>
                      </a:r>
                      <a:r>
                        <a:rPr lang="en-US" dirty="0" err="1"/>
                        <a:t>to+acc</a:t>
                      </a:r>
                      <a:r>
                        <a:rPr lang="en-US" dirty="0"/>
                        <a:t>)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active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60</a:t>
                      </a:r>
                      <a:endParaRPr lang="el-GR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88238778"/>
                  </a:ext>
                </a:extLst>
              </a:tr>
              <a:tr h="387314">
                <a:tc>
                  <a:txBody>
                    <a:bodyPr/>
                    <a:lstStyle/>
                    <a:p>
                      <a:r>
                        <a:rPr lang="en-US" dirty="0"/>
                        <a:t>SUB(nom).V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non-active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57</a:t>
                      </a:r>
                      <a:endParaRPr lang="el-GR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95454066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AC556E6F-7675-844E-D225-03E1495FF0D8}"/>
              </a:ext>
            </a:extLst>
          </p:cNvPr>
          <p:cNvSpPr txBox="1"/>
          <p:nvPr/>
        </p:nvSpPr>
        <p:spPr>
          <a:xfrm>
            <a:off x="537891" y="4581128"/>
            <a:ext cx="806821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								</a:t>
            </a:r>
            <a:r>
              <a:rPr lang="en-US" sz="1600" dirty="0" err="1"/>
              <a:t>etc</a:t>
            </a:r>
            <a:r>
              <a:rPr lang="en-US" sz="1600" dirty="0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u="sng" dirty="0"/>
              <a:t>You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write</a:t>
            </a:r>
            <a:r>
              <a:rPr lang="en-US" sz="1600" dirty="0"/>
              <a:t> uncommonly fast.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because </a:t>
            </a:r>
            <a:r>
              <a:rPr lang="en-US" sz="1600" u="sng" dirty="0"/>
              <a:t>he</a:t>
            </a:r>
            <a:r>
              <a:rPr lang="en-US" sz="1600" dirty="0"/>
              <a:t> does not </a:t>
            </a:r>
            <a:r>
              <a:rPr lang="en-US" sz="1600" dirty="0">
                <a:solidFill>
                  <a:srgbClr val="FF0000"/>
                </a:solidFill>
              </a:rPr>
              <a:t>write</a:t>
            </a:r>
            <a:r>
              <a:rPr lang="en-US" sz="1600" dirty="0"/>
              <a:t> with ease.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…a person </a:t>
            </a:r>
            <a:r>
              <a:rPr lang="en-US" sz="1600" u="sng" dirty="0"/>
              <a:t>who</a:t>
            </a:r>
            <a:r>
              <a:rPr lang="en-US" sz="1600" dirty="0"/>
              <a:t> can </a:t>
            </a:r>
            <a:r>
              <a:rPr lang="en-US" sz="1600" dirty="0">
                <a:solidFill>
                  <a:srgbClr val="FF0000"/>
                </a:solidFill>
              </a:rPr>
              <a:t>write</a:t>
            </a:r>
            <a:r>
              <a:rPr lang="en-US" sz="1600" dirty="0"/>
              <a:t> a long </a:t>
            </a:r>
            <a:r>
              <a:rPr lang="en-US" sz="1600" u="sng" dirty="0"/>
              <a:t>letter</a:t>
            </a:r>
            <a:r>
              <a:rPr lang="en-US" sz="1600" dirty="0"/>
              <a:t> with ease…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and when </a:t>
            </a:r>
            <a:r>
              <a:rPr lang="en-US" sz="1600" u="sng" dirty="0"/>
              <a:t>I</a:t>
            </a:r>
            <a:r>
              <a:rPr lang="en-US" sz="1600" dirty="0"/>
              <a:t> next </a:t>
            </a:r>
            <a:r>
              <a:rPr lang="en-US" sz="1600" dirty="0">
                <a:solidFill>
                  <a:srgbClr val="FF0000"/>
                </a:solidFill>
              </a:rPr>
              <a:t>write</a:t>
            </a:r>
            <a:r>
              <a:rPr lang="en-US" sz="1600" dirty="0"/>
              <a:t> </a:t>
            </a:r>
            <a:r>
              <a:rPr lang="en-US" sz="1600" u="sng" dirty="0"/>
              <a:t>to her</a:t>
            </a:r>
            <a:r>
              <a:rPr lang="en-US" sz="1600" dirty="0"/>
              <a:t>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u="sng" dirty="0"/>
              <a:t>it</a:t>
            </a:r>
            <a:r>
              <a:rPr lang="en-US" sz="1600" dirty="0"/>
              <a:t> had been </a:t>
            </a:r>
            <a:r>
              <a:rPr lang="en-US" sz="1600" dirty="0">
                <a:solidFill>
                  <a:srgbClr val="FF0000"/>
                </a:solidFill>
              </a:rPr>
              <a:t>written</a:t>
            </a:r>
            <a:r>
              <a:rPr lang="en-US" sz="1600" dirty="0"/>
              <a:t> five days ago.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="" xmlns:a16="http://schemas.microsoft.com/office/drawing/2014/main" id="{BD41AC20-25C4-0155-80D1-5077F9DA9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39</a:t>
            </a:fld>
            <a:endParaRPr lang="el-G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E4847052-CDC6-898B-7A6A-1A082F8F0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F088A852-8E0A-7F06-7915-0FC0C340B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DB924CD8-5977-CC96-0EA5-F17D0D814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E956A2DB-A7A4-A93E-B0B9-6D0683158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D01CF9ED-DFDD-B32A-08D5-275760006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D89CE6FA-C800-6313-8E72-024A8F99E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4DB85ECB-2F86-D9B2-5E54-713B53AE806F}"/>
              </a:ext>
            </a:extLst>
          </p:cNvPr>
          <p:cNvSpPr txBox="1">
            <a:spLocks/>
          </p:cNvSpPr>
          <p:nvPr/>
        </p:nvSpPr>
        <p:spPr>
          <a:xfrm>
            <a:off x="1043608" y="620688"/>
            <a:ext cx="7363152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 err="1"/>
              <a:t>AthDGC</a:t>
            </a:r>
            <a:r>
              <a:rPr lang="en-US" sz="4400" b="0" dirty="0"/>
              <a:t> Valency Lexicon</a:t>
            </a:r>
            <a:endParaRPr lang="el-GR" b="0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C1A7DF6-2866-02C8-B2AD-D42F3EF07961}"/>
              </a:ext>
            </a:extLst>
          </p:cNvPr>
          <p:cNvSpPr txBox="1"/>
          <p:nvPr/>
        </p:nvSpPr>
        <p:spPr>
          <a:xfrm>
            <a:off x="419339" y="1480530"/>
            <a:ext cx="8424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3600" dirty="0"/>
              <a:t>‘</a:t>
            </a:r>
            <a:r>
              <a:rPr lang="en-US" sz="3600" dirty="0" err="1"/>
              <a:t>writen</a:t>
            </a:r>
            <a:r>
              <a:rPr lang="el-GR" sz="3600" dirty="0"/>
              <a:t>’</a:t>
            </a:r>
            <a:endParaRPr lang="en-US" dirty="0"/>
          </a:p>
          <a:p>
            <a:r>
              <a:rPr lang="en-US" dirty="0"/>
              <a:t>Middle English, Frequency in the corpus: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103</a:t>
            </a:r>
          </a:p>
        </p:txBody>
      </p:sp>
      <p:graphicFrame>
        <p:nvGraphicFramePr>
          <p:cNvPr id="10" name="Πίνακας 9">
            <a:extLst>
              <a:ext uri="{FF2B5EF4-FFF2-40B4-BE49-F238E27FC236}">
                <a16:creationId xmlns="" xmlns:a16="http://schemas.microsoft.com/office/drawing/2014/main" id="{BFED7591-C92D-ABC7-4F8A-7F18BF362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80722380"/>
              </p:ext>
            </p:extLst>
          </p:nvPr>
        </p:nvGraphicFramePr>
        <p:xfrm>
          <a:off x="448550" y="2453186"/>
          <a:ext cx="8424936" cy="11619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91402">
                  <a:extLst>
                    <a:ext uri="{9D8B030D-6E8A-4147-A177-3AD203B41FA5}">
                      <a16:colId xmlns="" xmlns:a16="http://schemas.microsoft.com/office/drawing/2014/main" val="4043654411"/>
                    </a:ext>
                  </a:extLst>
                </a:gridCol>
                <a:gridCol w="1925222">
                  <a:extLst>
                    <a:ext uri="{9D8B030D-6E8A-4147-A177-3AD203B41FA5}">
                      <a16:colId xmlns="" xmlns:a16="http://schemas.microsoft.com/office/drawing/2014/main" val="3991075884"/>
                    </a:ext>
                  </a:extLst>
                </a:gridCol>
                <a:gridCol w="2808312">
                  <a:extLst>
                    <a:ext uri="{9D8B030D-6E8A-4147-A177-3AD203B41FA5}">
                      <a16:colId xmlns="" xmlns:a16="http://schemas.microsoft.com/office/drawing/2014/main" val="296243753"/>
                    </a:ext>
                  </a:extLst>
                </a:gridCol>
              </a:tblGrid>
              <a:tr h="387314">
                <a:tc>
                  <a:txBody>
                    <a:bodyPr/>
                    <a:lstStyle/>
                    <a:p>
                      <a:r>
                        <a:rPr lang="en-US" b="1" dirty="0"/>
                        <a:t>Arguments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Voice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Frequency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61844204"/>
                  </a:ext>
                </a:extLst>
              </a:tr>
              <a:tr h="387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SUB(nom).V.OBJ(acc)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active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54</a:t>
                      </a:r>
                      <a:endParaRPr lang="el-GR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842739667"/>
                  </a:ext>
                </a:extLst>
              </a:tr>
              <a:tr h="387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SUB(nom). V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non-active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</a:t>
                      </a:r>
                      <a:endParaRPr lang="el-GR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8534466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3DF1EEC7-3283-2705-C573-3042132FCC05}"/>
              </a:ext>
            </a:extLst>
          </p:cNvPr>
          <p:cNvSpPr txBox="1"/>
          <p:nvPr/>
        </p:nvSpPr>
        <p:spPr>
          <a:xfrm>
            <a:off x="626909" y="3928988"/>
            <a:ext cx="80682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u="sng" dirty="0"/>
              <a:t>Reum Beel </a:t>
            </a:r>
            <a:r>
              <a:rPr lang="en-US" sz="1600" u="sng" dirty="0" err="1"/>
              <a:t>Theem</a:t>
            </a:r>
            <a:r>
              <a:rPr lang="en-US" sz="1600" u="sng" dirty="0"/>
              <a:t> and </a:t>
            </a:r>
            <a:r>
              <a:rPr lang="en-US" sz="1600" u="sng" dirty="0" err="1"/>
              <a:t>Samsai</a:t>
            </a:r>
            <a:r>
              <a:rPr lang="en-US" sz="1600" u="sng" dirty="0"/>
              <a:t> </a:t>
            </a:r>
            <a:r>
              <a:rPr lang="en-US" sz="1600" dirty="0"/>
              <a:t>the </a:t>
            </a:r>
            <a:r>
              <a:rPr lang="en-US" sz="1600" dirty="0" err="1"/>
              <a:t>scryuen</a:t>
            </a:r>
            <a:r>
              <a:rPr lang="en-US" sz="1600" dirty="0"/>
              <a:t> </a:t>
            </a:r>
            <a:r>
              <a:rPr lang="en-US" sz="1600" dirty="0" err="1">
                <a:solidFill>
                  <a:srgbClr val="FF0000"/>
                </a:solidFill>
              </a:rPr>
              <a:t>writen</a:t>
            </a:r>
            <a:r>
              <a:rPr lang="en-US" sz="1600" dirty="0"/>
              <a:t> </a:t>
            </a:r>
            <a:r>
              <a:rPr lang="en-US" sz="1600" dirty="0" err="1"/>
              <a:t>sich</a:t>
            </a:r>
            <a:r>
              <a:rPr lang="en-US" sz="1600" dirty="0"/>
              <a:t> </a:t>
            </a:r>
            <a:r>
              <a:rPr lang="en-US" sz="1600" dirty="0" err="1"/>
              <a:t>oon</a:t>
            </a:r>
            <a:r>
              <a:rPr lang="en-US" sz="1600" dirty="0"/>
              <a:t> </a:t>
            </a:r>
            <a:r>
              <a:rPr lang="en-US" sz="1600" u="sng" dirty="0"/>
              <a:t>epistle</a:t>
            </a:r>
            <a:r>
              <a:rPr lang="en-US" sz="1600" dirty="0"/>
              <a:t> </a:t>
            </a:r>
            <a:r>
              <a:rPr lang="en-US" sz="1600" dirty="0" err="1"/>
              <a:t>fro</a:t>
            </a:r>
            <a:r>
              <a:rPr lang="en-US" sz="1600" dirty="0"/>
              <a:t> Jerusalem to the </a:t>
            </a:r>
            <a:r>
              <a:rPr lang="en-US" sz="1600" dirty="0" err="1"/>
              <a:t>kyng</a:t>
            </a:r>
            <a:r>
              <a:rPr lang="en-US" sz="1600" dirty="0"/>
              <a:t> </a:t>
            </a:r>
            <a:r>
              <a:rPr lang="en-US" sz="1600" dirty="0" err="1"/>
              <a:t>Artaxerses</a:t>
            </a:r>
            <a:r>
              <a:rPr lang="en-US" sz="1600" dirty="0"/>
              <a:t>;</a:t>
            </a:r>
          </a:p>
          <a:p>
            <a:r>
              <a:rPr lang="en-US" sz="1600" dirty="0"/>
              <a:t>    (“Reum </a:t>
            </a:r>
            <a:r>
              <a:rPr lang="en-US" sz="1600" dirty="0" err="1"/>
              <a:t>Beelteem</a:t>
            </a:r>
            <a:r>
              <a:rPr lang="en-US" sz="1600" dirty="0"/>
              <a:t> and </a:t>
            </a:r>
            <a:r>
              <a:rPr lang="en-US" sz="1600" dirty="0" err="1"/>
              <a:t>Samsai</a:t>
            </a:r>
            <a:r>
              <a:rPr lang="en-US" sz="1600" dirty="0"/>
              <a:t> the scribe wrote a letter from Jerusalem to king</a:t>
            </a:r>
          </a:p>
          <a:p>
            <a:r>
              <a:rPr lang="en-US" sz="1600" dirty="0"/>
              <a:t>    Artaxerxes in this manner”)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Forsothe</a:t>
            </a:r>
            <a:r>
              <a:rPr lang="en-US" sz="1600" dirty="0"/>
              <a:t> of his </a:t>
            </a:r>
            <a:r>
              <a:rPr lang="en-US" sz="1600" dirty="0" err="1"/>
              <a:t>vnclennesse</a:t>
            </a:r>
            <a:r>
              <a:rPr lang="en-US" sz="1600" dirty="0"/>
              <a:t> and his </a:t>
            </a:r>
            <a:r>
              <a:rPr lang="en-US" sz="1600" dirty="0" err="1"/>
              <a:t>vnreligioustee</a:t>
            </a:r>
            <a:r>
              <a:rPr lang="en-US" sz="1600" dirty="0"/>
              <a:t> </a:t>
            </a:r>
            <a:r>
              <a:rPr lang="en-US" sz="1600" u="sng" dirty="0"/>
              <a:t>it</a:t>
            </a:r>
            <a:r>
              <a:rPr lang="en-US" sz="1600" dirty="0"/>
              <a:t> is </a:t>
            </a:r>
            <a:r>
              <a:rPr lang="en-US" sz="1600" dirty="0" err="1">
                <a:solidFill>
                  <a:srgbClr val="FF0000"/>
                </a:solidFill>
              </a:rPr>
              <a:t>writen</a:t>
            </a:r>
            <a:r>
              <a:rPr lang="en-US" sz="1600" dirty="0"/>
              <a:t> in the book of the </a:t>
            </a:r>
            <a:r>
              <a:rPr lang="en-US" sz="1600" dirty="0" err="1"/>
              <a:t>tymes</a:t>
            </a:r>
            <a:r>
              <a:rPr lang="en-US" sz="1600" dirty="0"/>
              <a:t> of </a:t>
            </a:r>
            <a:r>
              <a:rPr lang="en-US" sz="1600" dirty="0" err="1"/>
              <a:t>kyngis</a:t>
            </a:r>
            <a:r>
              <a:rPr lang="en-US" sz="1600" dirty="0"/>
              <a:t>.</a:t>
            </a:r>
          </a:p>
          <a:p>
            <a:r>
              <a:rPr lang="en-US" sz="1600" dirty="0"/>
              <a:t>    (Indeed, of his uncleanness and his </a:t>
            </a:r>
            <a:r>
              <a:rPr lang="en-US" sz="1600" dirty="0" err="1"/>
              <a:t>unreligiousness</a:t>
            </a:r>
            <a:r>
              <a:rPr lang="en-US" sz="1600" dirty="0"/>
              <a:t> it is written in the book </a:t>
            </a:r>
          </a:p>
          <a:p>
            <a:r>
              <a:rPr lang="en-US" sz="1600" dirty="0"/>
              <a:t>    of the history of kings.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F4A6D309-8EB9-ED58-9055-19DC106D2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40</a:t>
            </a:fld>
            <a:endParaRPr lang="el-G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938D233C-C45D-CEFD-1A1B-3FBB0FCC0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15FBCD10-B8C2-D87F-3CF6-49241A724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234AF2FF-9E9D-087A-E1C7-D180656BA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5E7547D3-9C13-0CD7-2222-CE36AB1C9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50B30E8E-9B00-9CC6-2451-33CDF0C32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13DA7A68-2779-9A31-C579-65455FAE6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1F94A3FC-B4E7-D5D4-8338-C3EEAD408C7F}"/>
              </a:ext>
            </a:extLst>
          </p:cNvPr>
          <p:cNvSpPr txBox="1">
            <a:spLocks/>
          </p:cNvSpPr>
          <p:nvPr/>
        </p:nvSpPr>
        <p:spPr>
          <a:xfrm>
            <a:off x="1043608" y="620688"/>
            <a:ext cx="7363152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 err="1"/>
              <a:t>AthDGC</a:t>
            </a:r>
            <a:r>
              <a:rPr lang="en-US" sz="4400" b="0" dirty="0"/>
              <a:t> Valency Lexicon</a:t>
            </a:r>
            <a:endParaRPr lang="el-GR" b="0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9B2C2DD-5224-95DD-019A-EECA43E786D2}"/>
              </a:ext>
            </a:extLst>
          </p:cNvPr>
          <p:cNvSpPr txBox="1"/>
          <p:nvPr/>
        </p:nvSpPr>
        <p:spPr>
          <a:xfrm>
            <a:off x="419339" y="1480530"/>
            <a:ext cx="84249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3600" dirty="0"/>
              <a:t>‘</a:t>
            </a:r>
            <a:r>
              <a:rPr lang="en-US" sz="3600" dirty="0" err="1"/>
              <a:t>writan</a:t>
            </a:r>
            <a:r>
              <a:rPr lang="el-GR" sz="3600" dirty="0"/>
              <a:t>’</a:t>
            </a:r>
            <a:endParaRPr lang="en-US" dirty="0"/>
          </a:p>
          <a:p>
            <a:r>
              <a:rPr lang="en-US" dirty="0"/>
              <a:t>Old English, Frequency in the corpus: 10</a:t>
            </a:r>
          </a:p>
        </p:txBody>
      </p:sp>
      <p:graphicFrame>
        <p:nvGraphicFramePr>
          <p:cNvPr id="10" name="Πίνακας 9">
            <a:extLst>
              <a:ext uri="{FF2B5EF4-FFF2-40B4-BE49-F238E27FC236}">
                <a16:creationId xmlns="" xmlns:a16="http://schemas.microsoft.com/office/drawing/2014/main" id="{A0824ACB-6F7C-FE1C-5E2D-026BEE7EC3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961437597"/>
              </p:ext>
            </p:extLst>
          </p:nvPr>
        </p:nvGraphicFramePr>
        <p:xfrm>
          <a:off x="448550" y="2453186"/>
          <a:ext cx="8424936" cy="15492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91402">
                  <a:extLst>
                    <a:ext uri="{9D8B030D-6E8A-4147-A177-3AD203B41FA5}">
                      <a16:colId xmlns="" xmlns:a16="http://schemas.microsoft.com/office/drawing/2014/main" val="4043654411"/>
                    </a:ext>
                  </a:extLst>
                </a:gridCol>
                <a:gridCol w="1925222">
                  <a:extLst>
                    <a:ext uri="{9D8B030D-6E8A-4147-A177-3AD203B41FA5}">
                      <a16:colId xmlns="" xmlns:a16="http://schemas.microsoft.com/office/drawing/2014/main" val="3991075884"/>
                    </a:ext>
                  </a:extLst>
                </a:gridCol>
                <a:gridCol w="2808312">
                  <a:extLst>
                    <a:ext uri="{9D8B030D-6E8A-4147-A177-3AD203B41FA5}">
                      <a16:colId xmlns="" xmlns:a16="http://schemas.microsoft.com/office/drawing/2014/main" val="296243753"/>
                    </a:ext>
                  </a:extLst>
                </a:gridCol>
              </a:tblGrid>
              <a:tr h="387314">
                <a:tc>
                  <a:txBody>
                    <a:bodyPr/>
                    <a:lstStyle/>
                    <a:p>
                      <a:r>
                        <a:rPr lang="en-US" b="1" dirty="0"/>
                        <a:t>Arguments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Voice</a:t>
                      </a:r>
                      <a:endParaRPr lang="el-G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Frequency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61844204"/>
                  </a:ext>
                </a:extLst>
              </a:tr>
              <a:tr h="387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SUB(nom).V.OBJ(acc)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active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842739667"/>
                  </a:ext>
                </a:extLst>
              </a:tr>
              <a:tr h="3873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SUB(nom).OBL(DAT).V.OBJ(acc)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active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85344665"/>
                  </a:ext>
                </a:extLst>
              </a:tr>
              <a:tr h="387314">
                <a:tc>
                  <a:txBody>
                    <a:bodyPr/>
                    <a:lstStyle/>
                    <a:p>
                      <a:r>
                        <a:rPr lang="en-US" dirty="0"/>
                        <a:t>SUB(nom).OBL(DAT).V.COMP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active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8823877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E9434D6F-E985-E6DE-EB7D-31B2E22D2C4F}"/>
              </a:ext>
            </a:extLst>
          </p:cNvPr>
          <p:cNvSpPr txBox="1"/>
          <p:nvPr/>
        </p:nvSpPr>
        <p:spPr>
          <a:xfrm>
            <a:off x="251520" y="4438096"/>
            <a:ext cx="806821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Moyses </a:t>
            </a:r>
            <a:r>
              <a:rPr lang="en-US" sz="1600" dirty="0" err="1"/>
              <a:t>lyfde</a:t>
            </a:r>
            <a:r>
              <a:rPr lang="en-US" sz="1600" dirty="0"/>
              <a:t> </a:t>
            </a:r>
            <a:r>
              <a:rPr lang="en-US" sz="1600" dirty="0" err="1"/>
              <a:t>þæt</a:t>
            </a:r>
            <a:r>
              <a:rPr lang="en-US" sz="1600" dirty="0"/>
              <a:t> </a:t>
            </a:r>
            <a:r>
              <a:rPr lang="en-US" sz="1600" u="sng" dirty="0"/>
              <a:t>man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FF0000"/>
                </a:solidFill>
              </a:rPr>
              <a:t>write</a:t>
            </a:r>
            <a:r>
              <a:rPr lang="en-US" sz="1600" dirty="0"/>
              <a:t> </a:t>
            </a:r>
            <a:r>
              <a:rPr lang="en-US" sz="1600" dirty="0" err="1"/>
              <a:t>hiwgedales</a:t>
            </a:r>
            <a:r>
              <a:rPr lang="en-US" sz="1600" dirty="0"/>
              <a:t> </a:t>
            </a:r>
            <a:r>
              <a:rPr lang="en-US" sz="1600" u="sng" dirty="0" err="1"/>
              <a:t>boc</a:t>
            </a:r>
            <a:r>
              <a:rPr lang="en-US" sz="1600" dirty="0"/>
              <a:t> &amp; hi </a:t>
            </a:r>
            <a:r>
              <a:rPr lang="en-US" sz="1600" dirty="0" err="1"/>
              <a:t>forlete</a:t>
            </a:r>
            <a:r>
              <a:rPr lang="en-US" sz="1600" dirty="0"/>
              <a:t>.</a:t>
            </a:r>
          </a:p>
          <a:p>
            <a:r>
              <a:rPr lang="en-US" sz="1600" dirty="0"/>
              <a:t>    (Moses allowed the man to write a bill of divorce and abandon her.)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</a:t>
            </a:r>
            <a:r>
              <a:rPr lang="en-US" sz="1600" dirty="0" err="1"/>
              <a:t>eower</a:t>
            </a:r>
            <a:r>
              <a:rPr lang="en-US" sz="1600" dirty="0"/>
              <a:t> </a:t>
            </a:r>
            <a:r>
              <a:rPr lang="en-US" sz="1600" dirty="0" err="1"/>
              <a:t>heortan</a:t>
            </a:r>
            <a:r>
              <a:rPr lang="en-US" sz="1600" dirty="0"/>
              <a:t> </a:t>
            </a:r>
            <a:r>
              <a:rPr lang="en-US" sz="1600" dirty="0" err="1"/>
              <a:t>heardnesse</a:t>
            </a:r>
            <a:r>
              <a:rPr lang="en-US" sz="1600" dirty="0"/>
              <a:t> </a:t>
            </a:r>
            <a:r>
              <a:rPr lang="en-US" sz="1600" u="sng" dirty="0"/>
              <a:t>he</a:t>
            </a:r>
            <a:r>
              <a:rPr lang="en-US" sz="1600" dirty="0"/>
              <a:t> </a:t>
            </a:r>
            <a:r>
              <a:rPr lang="en-US" sz="1600" u="sng" dirty="0" err="1"/>
              <a:t>eow</a:t>
            </a:r>
            <a:r>
              <a:rPr lang="en-US" sz="1600" dirty="0"/>
              <a:t> </a:t>
            </a:r>
            <a:r>
              <a:rPr lang="en-US" sz="1600" dirty="0" err="1">
                <a:solidFill>
                  <a:srgbClr val="FF0000"/>
                </a:solidFill>
              </a:rPr>
              <a:t>wrat</a:t>
            </a:r>
            <a:r>
              <a:rPr lang="en-US" sz="1600" dirty="0"/>
              <a:t> </a:t>
            </a:r>
            <a:r>
              <a:rPr lang="en-US" sz="1600" dirty="0" err="1"/>
              <a:t>þis</a:t>
            </a:r>
            <a:r>
              <a:rPr lang="en-US" sz="1600" dirty="0"/>
              <a:t> </a:t>
            </a:r>
            <a:r>
              <a:rPr lang="en-US" sz="1600" u="sng" dirty="0" err="1"/>
              <a:t>bebod</a:t>
            </a:r>
            <a:r>
              <a:rPr lang="en-US" sz="1600" dirty="0"/>
              <a:t>.</a:t>
            </a:r>
          </a:p>
          <a:p>
            <a:r>
              <a:rPr lang="en-US" sz="1600" dirty="0"/>
              <a:t>    (for your heart’s hardness he wrote you this command)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Lareow</a:t>
            </a:r>
            <a:r>
              <a:rPr lang="en-US" sz="1600" dirty="0"/>
              <a:t>, </a:t>
            </a:r>
            <a:r>
              <a:rPr lang="en-US" sz="1600" u="sng" dirty="0"/>
              <a:t>Moyses</a:t>
            </a:r>
            <a:r>
              <a:rPr lang="en-US" sz="1600" dirty="0"/>
              <a:t> </a:t>
            </a:r>
            <a:r>
              <a:rPr lang="en-US" sz="1600" u="sng" dirty="0"/>
              <a:t>us</a:t>
            </a:r>
            <a:r>
              <a:rPr lang="en-US" sz="1600" dirty="0"/>
              <a:t> </a:t>
            </a:r>
            <a:r>
              <a:rPr lang="en-US" sz="1600" dirty="0" err="1">
                <a:solidFill>
                  <a:srgbClr val="FF0000"/>
                </a:solidFill>
              </a:rPr>
              <a:t>wrat</a:t>
            </a:r>
            <a:r>
              <a:rPr lang="en-US" sz="1600" dirty="0"/>
              <a:t>, </a:t>
            </a:r>
            <a:r>
              <a:rPr lang="en-US" sz="1600" u="sng" dirty="0"/>
              <a:t>gif </a:t>
            </a:r>
            <a:r>
              <a:rPr lang="en-US" sz="1600" u="sng" dirty="0" err="1"/>
              <a:t>hwæs</a:t>
            </a:r>
            <a:r>
              <a:rPr lang="en-US" sz="1600" u="sng" dirty="0"/>
              <a:t> </a:t>
            </a:r>
            <a:r>
              <a:rPr lang="en-US" sz="1600" u="sng" dirty="0" err="1"/>
              <a:t>broðor</a:t>
            </a:r>
            <a:r>
              <a:rPr lang="en-US" sz="1600" u="sng" dirty="0"/>
              <a:t> dead </a:t>
            </a:r>
            <a:r>
              <a:rPr lang="en-US" sz="1600" u="sng" dirty="0" err="1"/>
              <a:t>bið</a:t>
            </a:r>
            <a:r>
              <a:rPr lang="en-US" sz="1600" u="sng" dirty="0"/>
              <a:t> </a:t>
            </a:r>
            <a:r>
              <a:rPr lang="en-US" sz="1600" dirty="0"/>
              <a:t>…</a:t>
            </a:r>
          </a:p>
          <a:p>
            <a:r>
              <a:rPr lang="en-US" sz="1600" dirty="0"/>
              <a:t>    (Teacher, Moses, wrote us if someone’s brother is dead…)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="" xmlns:a16="http://schemas.microsoft.com/office/drawing/2014/main" id="{E38FDB56-BB53-16A0-7E65-8F5A2CC9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41</a:t>
            </a:fld>
            <a:endParaRPr lang="el-G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2149FCB5-0022-351F-3F5A-DBB482101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C12F49D5-1EB4-2C98-47CE-7EA7F1694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F216A2F5-2B93-C691-47EE-27B62B67F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AAD12818-095B-ADBE-70B1-82027C0DA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BE00D432-31F4-1149-58B0-B58C275E7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12A32351-A98F-1E43-2056-9B14C8EDF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Τίτλος"/>
          <p:cNvSpPr>
            <a:spLocks noGrp="1"/>
          </p:cNvSpPr>
          <p:nvPr>
            <p:ph type="ctrTitle"/>
          </p:nvPr>
        </p:nvSpPr>
        <p:spPr>
          <a:xfrm>
            <a:off x="685800" y="2132856"/>
            <a:ext cx="7772400" cy="187220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Challenges encountered</a:t>
            </a:r>
            <a:r>
              <a:rPr lang="el-GR" dirty="0"/>
              <a:t/>
            </a:r>
            <a:br>
              <a:rPr lang="el-GR" dirty="0"/>
            </a:br>
            <a:endParaRPr lang="el-GR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3CF15D30-D33B-082C-DB4C-7698DB5FD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1C8C5F05-DF7E-0A6F-A083-E8BD3FFC2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8F06C08A-134B-960F-E8D5-94633C959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DF0BDE4C-0590-33E5-BB19-15E2E1914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B9CBF89E-7C77-895F-6A19-B09020E74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BA8A430D-5BCA-2316-3088-F266597F9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37A13DD3-046D-3D69-4C62-1927CC8CF2DB}"/>
              </a:ext>
            </a:extLst>
          </p:cNvPr>
          <p:cNvSpPr txBox="1">
            <a:spLocks/>
          </p:cNvSpPr>
          <p:nvPr/>
        </p:nvSpPr>
        <p:spPr>
          <a:xfrm>
            <a:off x="805268" y="620688"/>
            <a:ext cx="7601491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Text processing</a:t>
            </a:r>
            <a:endParaRPr lang="el-GR" sz="4400" b="0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11065D63-949E-44DB-F1EA-88C4ED49D1D5}"/>
              </a:ext>
            </a:extLst>
          </p:cNvPr>
          <p:cNvSpPr txBox="1">
            <a:spLocks/>
          </p:cNvSpPr>
          <p:nvPr/>
        </p:nvSpPr>
        <p:spPr>
          <a:xfrm>
            <a:off x="805268" y="1684574"/>
            <a:ext cx="7601491" cy="520290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/>
            <a:r>
              <a:rPr lang="en-US" sz="2400" dirty="0"/>
              <a:t>Texts for the corpus (copyright-free):</a:t>
            </a:r>
          </a:p>
          <a:p>
            <a:pPr marL="713232" lvl="1" indent="-457200"/>
            <a:endParaRPr lang="en-US" sz="2000" dirty="0"/>
          </a:p>
          <a:p>
            <a:pPr marL="457200" indent="-457200"/>
            <a:endParaRPr lang="en-US" sz="2400" dirty="0"/>
          </a:p>
        </p:txBody>
      </p:sp>
      <p:graphicFrame>
        <p:nvGraphicFramePr>
          <p:cNvPr id="10" name="Πίνακας 9">
            <a:extLst>
              <a:ext uri="{FF2B5EF4-FFF2-40B4-BE49-F238E27FC236}">
                <a16:creationId xmlns="" xmlns:a16="http://schemas.microsoft.com/office/drawing/2014/main" id="{881316AB-6E65-221F-E1C7-784606263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921974275"/>
              </p:ext>
            </p:extLst>
          </p:nvPr>
        </p:nvGraphicFramePr>
        <p:xfrm>
          <a:off x="503548" y="2328662"/>
          <a:ext cx="8136904" cy="3388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48472">
                  <a:extLst>
                    <a:ext uri="{9D8B030D-6E8A-4147-A177-3AD203B41FA5}">
                      <a16:colId xmlns="" xmlns:a16="http://schemas.microsoft.com/office/drawing/2014/main" val="1887387218"/>
                    </a:ext>
                  </a:extLst>
                </a:gridCol>
                <a:gridCol w="3888432">
                  <a:extLst>
                    <a:ext uri="{9D8B030D-6E8A-4147-A177-3AD203B41FA5}">
                      <a16:colId xmlns="" xmlns:a16="http://schemas.microsoft.com/office/drawing/2014/main" val="6007003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Texts from other treebanks (in .xml format)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Minor corrections (e.g. missing tags, </a:t>
                      </a:r>
                      <a:r>
                        <a:rPr kumimoji="0"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unwanted characters</a:t>
                      </a:r>
                      <a:r>
                        <a:rPr lang="en-US" b="1" dirty="0"/>
                        <a:t>)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400481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Texts from online collections, such as Project Gutenberg or Bible Gateway (in .txt or .html format)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Minor corrections (e.g. missing tags, </a:t>
                      </a:r>
                      <a:r>
                        <a:rPr kumimoji="0"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unwanted characters, text normalization</a:t>
                      </a:r>
                      <a:r>
                        <a:rPr lang="en-US" b="1" dirty="0"/>
                        <a:t>)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76147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Scanned books or manuscripts from digital libraries and archives, such as the Internet Archive, Bodleian Library (in .pdf format containing images of the pages)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OCR + manual correction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71497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Printed books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scan + OCR + manual correction</a:t>
                      </a:r>
                      <a:endParaRPr lang="el-GR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29602688"/>
                  </a:ext>
                </a:extLst>
              </a:tr>
            </a:tbl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65BF32B0-1B2C-1C99-C1A7-215E0F0F8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43</a:t>
            </a:fld>
            <a:endParaRPr lang="el-G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66DF65EA-923C-56E4-DECD-FDDF16773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BE6B0CC7-4CFC-0ABD-8FEA-A275212F3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F5C214A1-4DD6-CB76-EB13-BEF6B532F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90DDAECC-45D3-5EC9-7001-FEC848775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7EE3B413-1A8A-2491-8355-D006424A7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CD3DDD63-9D28-42AE-6668-B3FF3CC60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221348B8-E0D5-AB78-BBCE-FCFA60455A0D}"/>
              </a:ext>
            </a:extLst>
          </p:cNvPr>
          <p:cNvSpPr txBox="1">
            <a:spLocks/>
          </p:cNvSpPr>
          <p:nvPr/>
        </p:nvSpPr>
        <p:spPr>
          <a:xfrm>
            <a:off x="805268" y="620688"/>
            <a:ext cx="7601491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Orthographic variation</a:t>
            </a:r>
            <a:endParaRPr lang="el-GR" sz="4400" b="0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DA71BC61-2F97-49C8-65D3-AD3214D15F80}"/>
              </a:ext>
            </a:extLst>
          </p:cNvPr>
          <p:cNvSpPr txBox="1">
            <a:spLocks/>
          </p:cNvSpPr>
          <p:nvPr/>
        </p:nvSpPr>
        <p:spPr>
          <a:xfrm>
            <a:off x="805268" y="1684574"/>
            <a:ext cx="7601491" cy="4192698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/>
            <a:r>
              <a:rPr lang="en-US" sz="2400" dirty="0"/>
              <a:t>For example: Old and Middle English:</a:t>
            </a:r>
          </a:p>
          <a:p>
            <a:pPr marL="713232" lvl="1" indent="-457200"/>
            <a:r>
              <a:rPr lang="en-US" sz="1600" dirty="0"/>
              <a:t>u instead of v, </a:t>
            </a:r>
            <a:r>
              <a:rPr lang="en-US" sz="1600" dirty="0" err="1"/>
              <a:t>i</a:t>
            </a:r>
            <a:r>
              <a:rPr lang="en-US" sz="1600" dirty="0"/>
              <a:t> instead of j</a:t>
            </a:r>
          </a:p>
          <a:p>
            <a:pPr marL="713232" lvl="1" indent="-457200"/>
            <a:r>
              <a:rPr lang="en-US" sz="1600" dirty="0"/>
              <a:t>same word, different orthographies: </a:t>
            </a:r>
            <a:r>
              <a:rPr lang="en-US" sz="1600" dirty="0" err="1"/>
              <a:t>gyue</a:t>
            </a:r>
            <a:r>
              <a:rPr lang="en-US" sz="1600" dirty="0"/>
              <a:t>, </a:t>
            </a:r>
            <a:r>
              <a:rPr lang="en-US" sz="1600" dirty="0" err="1"/>
              <a:t>yyue</a:t>
            </a:r>
            <a:r>
              <a:rPr lang="en-US" sz="1600" dirty="0"/>
              <a:t>, </a:t>
            </a:r>
            <a:r>
              <a:rPr lang="en-US" sz="1600" dirty="0" err="1"/>
              <a:t>yiue</a:t>
            </a:r>
            <a:r>
              <a:rPr lang="en-US" sz="1600" dirty="0"/>
              <a:t>, </a:t>
            </a:r>
            <a:r>
              <a:rPr lang="en-US" sz="1600" dirty="0" err="1"/>
              <a:t>giue</a:t>
            </a:r>
            <a:r>
              <a:rPr lang="en-US" sz="1600" dirty="0"/>
              <a:t> = give</a:t>
            </a:r>
          </a:p>
          <a:p>
            <a:pPr marL="457200" indent="-457200"/>
            <a:endParaRPr lang="en-US" sz="2000" dirty="0"/>
          </a:p>
          <a:p>
            <a:pPr marL="342900" indent="-342900"/>
            <a:endParaRPr lang="en-US" sz="2000" dirty="0">
              <a:sym typeface="Wingdings" panose="05000000000000000000" pitchFamily="2" charset="2"/>
            </a:endParaRPr>
          </a:p>
          <a:p>
            <a:pPr marL="342900" indent="-342900"/>
            <a:endParaRPr lang="en-US" sz="2000" dirty="0">
              <a:sym typeface="Wingdings" panose="05000000000000000000" pitchFamily="2" charset="2"/>
            </a:endParaRPr>
          </a:p>
          <a:p>
            <a:pPr marL="342900" indent="-342900"/>
            <a:endParaRPr lang="en-US" sz="2000" dirty="0">
              <a:sym typeface="Wingdings" panose="05000000000000000000" pitchFamily="2" charset="2"/>
            </a:endParaRPr>
          </a:p>
          <a:p>
            <a:pPr marL="342900" indent="-342900"/>
            <a:endParaRPr lang="en-US" sz="2000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pPr marL="342900" indent="-342900"/>
            <a:r>
              <a:rPr lang="en-US" sz="2000" dirty="0">
                <a:sym typeface="Wingdings" panose="05000000000000000000" pitchFamily="2" charset="2"/>
              </a:rPr>
              <a:t>Our decision: keep original orthography</a:t>
            </a:r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    BUT create custom dictionaries for each text</a:t>
            </a:r>
            <a:endParaRPr lang="en-US" sz="2000" dirty="0"/>
          </a:p>
          <a:p>
            <a:pPr marL="457200" indent="-457200"/>
            <a:endParaRPr lang="en-US" sz="2400" dirty="0"/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="" xmlns:a16="http://schemas.microsoft.com/office/drawing/2014/main" id="{3E087A79-BD29-97C3-CC17-C505578C0168}"/>
              </a:ext>
            </a:extLst>
          </p:cNvPr>
          <p:cNvSpPr/>
          <p:nvPr/>
        </p:nvSpPr>
        <p:spPr>
          <a:xfrm>
            <a:off x="861597" y="2780928"/>
            <a:ext cx="7488832" cy="151216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/>
            <a:r>
              <a:rPr lang="en-US" dirty="0">
                <a:solidFill>
                  <a:schemeClr val="tx1"/>
                </a:solidFill>
              </a:rPr>
              <a:t>Challenges: automatic dictionary does not recognize different tokens of the same words </a:t>
            </a: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	 harder tokenization</a:t>
            </a: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	 harder for the automatic morphological parser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61753B70-9B3A-05D5-BAC1-4908A80DD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44</a:t>
            </a:fld>
            <a:endParaRPr lang="el-G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8753854F-C0E5-406E-EEF4-46F3E1915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75043807-0F27-3D44-D171-89439684B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B0C118FA-979A-99F2-E6CE-21C788478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A56EBEB1-A176-2320-8F88-6A5460752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E3C88852-2406-B68F-2D0C-2F6383DE5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05E131D5-C32C-F2AB-B425-8C8B1A5B1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63647858-76D2-AA73-978C-6266C1BCE0F9}"/>
              </a:ext>
            </a:extLst>
          </p:cNvPr>
          <p:cNvSpPr txBox="1">
            <a:spLocks/>
          </p:cNvSpPr>
          <p:nvPr/>
        </p:nvSpPr>
        <p:spPr>
          <a:xfrm>
            <a:off x="479869" y="635320"/>
            <a:ext cx="8317432" cy="1728192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Automatic </a:t>
            </a:r>
            <a:r>
              <a:rPr lang="en-US" sz="4400" b="0" dirty="0" err="1"/>
              <a:t>valency</a:t>
            </a:r>
            <a:r>
              <a:rPr lang="en-US" sz="4400" b="0" dirty="0"/>
              <a:t> extraction: Subjects</a:t>
            </a:r>
            <a:endParaRPr lang="el-GR" sz="4400" b="0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E027A835-2F75-87D6-C002-E0D130E90622}"/>
              </a:ext>
            </a:extLst>
          </p:cNvPr>
          <p:cNvSpPr txBox="1">
            <a:spLocks/>
          </p:cNvSpPr>
          <p:nvPr/>
        </p:nvSpPr>
        <p:spPr>
          <a:xfrm>
            <a:off x="822036" y="2780928"/>
            <a:ext cx="7601491" cy="3456384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/>
            <a:r>
              <a:rPr lang="en-US" sz="2400" dirty="0"/>
              <a:t>Subjects = problematic</a:t>
            </a:r>
          </a:p>
          <a:p>
            <a:pPr marL="713232" lvl="1" indent="-457200"/>
            <a:r>
              <a:rPr lang="en-US" sz="2000" dirty="0"/>
              <a:t>null subjects in pro-drop languages (e.g. Greek)</a:t>
            </a:r>
          </a:p>
          <a:p>
            <a:pPr marL="713232" lvl="1" indent="-457200"/>
            <a:r>
              <a:rPr lang="en-US" sz="2000" dirty="0"/>
              <a:t>null subject verbs vs </a:t>
            </a:r>
            <a:r>
              <a:rPr lang="en-US" sz="2000" dirty="0" err="1"/>
              <a:t>avalent</a:t>
            </a:r>
            <a:r>
              <a:rPr lang="en-US" sz="2000" dirty="0"/>
              <a:t> verbs (impersonal verbs, weather verbs)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 hard to distinguish automatically</a:t>
            </a:r>
          </a:p>
          <a:p>
            <a:pPr marL="713232" lvl="1" indent="-457200"/>
            <a:r>
              <a:rPr lang="en-US" sz="2000" dirty="0"/>
              <a:t>null objects too? </a:t>
            </a:r>
            <a:r>
              <a:rPr lang="en-US" sz="2000" dirty="0">
                <a:sym typeface="Wingdings" panose="05000000000000000000" pitchFamily="2" charset="2"/>
              </a:rPr>
              <a:t> harder to locate</a:t>
            </a:r>
          </a:p>
          <a:p>
            <a:pPr marL="256032" lvl="1" indent="0">
              <a:buNone/>
            </a:pPr>
            <a:endParaRPr lang="en-US" sz="2000" dirty="0"/>
          </a:p>
          <a:p>
            <a:pPr marL="713232" lvl="1" indent="-457200"/>
            <a:endParaRPr lang="en-US" sz="2000" dirty="0"/>
          </a:p>
          <a:p>
            <a:pPr marL="713232" lvl="1" indent="-457200"/>
            <a:endParaRPr lang="en-US" sz="20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A5429DE9-9F12-F7E1-A175-8DEBD12E9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45</a:t>
            </a:fld>
            <a:endParaRPr lang="el-G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D459AEB0-FB9E-EA7E-976F-4432DDDA1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AB7B8D1C-C0E9-5C88-5777-34E53F1F2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9A3B5260-3E63-FCC0-BD0F-597AB2BCF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974A0930-3ECC-0872-4AAE-3A8AFC2E8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D795890C-C68C-15C6-6414-64D7EBB5C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90BFF13D-66EF-E4F8-ACFD-EB6D3F328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64C6AB27-7AF2-9879-382D-C227E1175E65}"/>
              </a:ext>
            </a:extLst>
          </p:cNvPr>
          <p:cNvSpPr txBox="1">
            <a:spLocks/>
          </p:cNvSpPr>
          <p:nvPr/>
        </p:nvSpPr>
        <p:spPr>
          <a:xfrm>
            <a:off x="419338" y="620688"/>
            <a:ext cx="8545149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Automatic valency extraction: Subjects</a:t>
            </a:r>
            <a:endParaRPr lang="el-GR" sz="4400" b="0" dirty="0"/>
          </a:p>
        </p:txBody>
      </p:sp>
      <p:sp>
        <p:nvSpPr>
          <p:cNvPr id="10" name="Ορθογώνιο: Στρογγύλεμα γωνιών 9">
            <a:extLst>
              <a:ext uri="{FF2B5EF4-FFF2-40B4-BE49-F238E27FC236}">
                <a16:creationId xmlns="" xmlns:a16="http://schemas.microsoft.com/office/drawing/2014/main" id="{3A9FC85C-04F1-D926-4114-5A01BCA9CF3B}"/>
              </a:ext>
            </a:extLst>
          </p:cNvPr>
          <p:cNvSpPr/>
          <p:nvPr/>
        </p:nvSpPr>
        <p:spPr>
          <a:xfrm>
            <a:off x="419339" y="2116622"/>
            <a:ext cx="3600400" cy="42484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/>
            <a:r>
              <a:rPr lang="en-US" sz="2400" dirty="0">
                <a:sym typeface="Wingdings" panose="05000000000000000000" pitchFamily="2" charset="2"/>
              </a:rPr>
              <a:t>Possible solutions:</a:t>
            </a:r>
          </a:p>
          <a:p>
            <a:pPr marL="713232" lvl="1" indent="-457200">
              <a:buFont typeface="+mj-lt"/>
              <a:buAutoNum type="arabicPeriod"/>
            </a:pPr>
            <a:r>
              <a:rPr lang="en-US" sz="2000" dirty="0">
                <a:sym typeface="Wingdings" panose="05000000000000000000" pitchFamily="2" charset="2"/>
              </a:rPr>
              <a:t>do not extract subjects at all (e.g. </a:t>
            </a:r>
            <a:r>
              <a:rPr lang="en-US" sz="2000" dirty="0" err="1">
                <a:sym typeface="Wingdings" panose="05000000000000000000" pitchFamily="2" charset="2"/>
              </a:rPr>
              <a:t>HoDeL</a:t>
            </a:r>
            <a:r>
              <a:rPr lang="en-US" sz="2000" dirty="0">
                <a:sym typeface="Wingdings" panose="05000000000000000000" pitchFamily="2" charset="2"/>
              </a:rPr>
              <a:t>, see Zanchi 2021; </a:t>
            </a:r>
            <a:r>
              <a:rPr lang="en-US" sz="2000" dirty="0" err="1">
                <a:sym typeface="Wingdings" panose="05000000000000000000" pitchFamily="2" charset="2"/>
              </a:rPr>
              <a:t>Syntacticus</a:t>
            </a:r>
            <a:r>
              <a:rPr lang="en-US" sz="2000" dirty="0">
                <a:sym typeface="Wingdings" panose="05000000000000000000" pitchFamily="2" charset="2"/>
              </a:rPr>
              <a:t> for PROIEL)</a:t>
            </a:r>
          </a:p>
          <a:p>
            <a:pPr marL="713232" lvl="1" indent="-457200">
              <a:buFont typeface="+mj-lt"/>
              <a:buAutoNum type="arabicPeriod"/>
            </a:pPr>
            <a:r>
              <a:rPr lang="en-US" sz="2000" dirty="0">
                <a:sym typeface="Wingdings" panose="05000000000000000000" pitchFamily="2" charset="2"/>
              </a:rPr>
              <a:t>fully-manual annotation (e.g. </a:t>
            </a:r>
            <a:r>
              <a:rPr lang="en-US" sz="2000" dirty="0" err="1">
                <a:sym typeface="Wingdings" panose="05000000000000000000" pitchFamily="2" charset="2"/>
              </a:rPr>
              <a:t>PaVeDa</a:t>
            </a:r>
            <a:r>
              <a:rPr lang="en-US" sz="2000" dirty="0">
                <a:sym typeface="Wingdings" panose="05000000000000000000" pitchFamily="2" charset="2"/>
              </a:rPr>
              <a:t>, see </a:t>
            </a:r>
            <a:r>
              <a:rPr lang="en-US" sz="2000" dirty="0" err="1">
                <a:sym typeface="Wingdings" panose="05000000000000000000" pitchFamily="2" charset="2"/>
              </a:rPr>
              <a:t>Luraghi</a:t>
            </a:r>
            <a:r>
              <a:rPr lang="en-US" sz="2000" dirty="0">
                <a:sym typeface="Wingdings" panose="05000000000000000000" pitchFamily="2" charset="2"/>
              </a:rPr>
              <a:t> et al. 2024)</a:t>
            </a:r>
          </a:p>
          <a:p>
            <a:pPr algn="ctr"/>
            <a:endParaRPr lang="el-GR" dirty="0"/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="" xmlns:a16="http://schemas.microsoft.com/office/drawing/2014/main" id="{FD9D73A8-7F3C-C200-9613-25135289ECF8}"/>
              </a:ext>
            </a:extLst>
          </p:cNvPr>
          <p:cNvSpPr/>
          <p:nvPr/>
        </p:nvSpPr>
        <p:spPr>
          <a:xfrm>
            <a:off x="4827373" y="2116622"/>
            <a:ext cx="3600400" cy="4248472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/>
            <a:r>
              <a:rPr lang="en-US" sz="2400" dirty="0">
                <a:sym typeface="Wingdings" panose="05000000000000000000" pitchFamily="2" charset="2"/>
              </a:rPr>
              <a:t>Our decision:</a:t>
            </a:r>
          </a:p>
          <a:p>
            <a:pPr marL="713232" lvl="1" indent="-457200">
              <a:buFont typeface="+mj-lt"/>
              <a:buAutoNum type="arabicPeriod"/>
            </a:pPr>
            <a:r>
              <a:rPr lang="en-US" sz="2000" dirty="0">
                <a:sym typeface="Wingdings" panose="05000000000000000000" pitchFamily="2" charset="2"/>
              </a:rPr>
              <a:t>Extract all overt subjects </a:t>
            </a:r>
          </a:p>
          <a:p>
            <a:pPr marL="713232" lvl="1" indent="-457200">
              <a:buFont typeface="+mj-lt"/>
              <a:buAutoNum type="arabicPeriod"/>
            </a:pPr>
            <a:r>
              <a:rPr lang="en-US" sz="2000" dirty="0">
                <a:sym typeface="Wingdings" panose="05000000000000000000" pitchFamily="2" charset="2"/>
              </a:rPr>
              <a:t>If overt subject not present  mark the subject as expressed by the verb suffix (V[subj])</a:t>
            </a:r>
          </a:p>
          <a:p>
            <a:pPr marL="713232" lvl="1" indent="-457200">
              <a:buFont typeface="+mj-lt"/>
              <a:buAutoNum type="arabicPeriod"/>
            </a:pPr>
            <a:r>
              <a:rPr lang="en-US" sz="2000" dirty="0">
                <a:sym typeface="Wingdings" panose="05000000000000000000" pitchFamily="2" charset="2"/>
              </a:rPr>
              <a:t>Manually delete the subject from </a:t>
            </a:r>
            <a:r>
              <a:rPr lang="en-US" sz="2000" dirty="0" err="1">
                <a:sym typeface="Wingdings" panose="05000000000000000000" pitchFamily="2" charset="2"/>
              </a:rPr>
              <a:t>avalent</a:t>
            </a:r>
            <a:r>
              <a:rPr lang="en-US" sz="2000" dirty="0">
                <a:sym typeface="Wingdings" panose="05000000000000000000" pitchFamily="2" charset="2"/>
              </a:rPr>
              <a:t> verbs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1733DDCB-29C0-7297-C70E-E81C5E38B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46</a:t>
            </a:fld>
            <a:endParaRPr lang="el-G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D8CFC5CC-8E0D-4239-AF79-EA8A9A7AFB78}"/>
              </a:ext>
            </a:extLst>
          </p:cNvPr>
          <p:cNvSpPr txBox="1">
            <a:spLocks/>
          </p:cNvSpPr>
          <p:nvPr/>
        </p:nvSpPr>
        <p:spPr>
          <a:xfrm>
            <a:off x="805268" y="620688"/>
            <a:ext cx="7601491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000" b="0" dirty="0"/>
              <a:t>Morphological annotation – Modern Greek</a:t>
            </a:r>
            <a:endParaRPr lang="el-GR" sz="4000" b="0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073A6002-EF7E-881A-8CAA-D9E10F9B59D8}"/>
              </a:ext>
            </a:extLst>
          </p:cNvPr>
          <p:cNvSpPr txBox="1">
            <a:spLocks/>
          </p:cNvSpPr>
          <p:nvPr/>
        </p:nvSpPr>
        <p:spPr>
          <a:xfrm>
            <a:off x="831457" y="2034075"/>
            <a:ext cx="7601491" cy="136815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/>
            <a:r>
              <a:rPr lang="en-US" sz="2400" dirty="0"/>
              <a:t>PROIEL: uses traditional metalanguage for the morphological description of Ancient Greek</a:t>
            </a:r>
          </a:p>
          <a:p>
            <a:pPr marL="457200" indent="-457200"/>
            <a:endParaRPr lang="en-US" sz="2400" dirty="0"/>
          </a:p>
          <a:p>
            <a:pPr marL="457200" indent="-457200"/>
            <a:endParaRPr lang="en-US" sz="2400" dirty="0"/>
          </a:p>
          <a:p>
            <a:pPr marL="457200" indent="-457200"/>
            <a:endParaRPr lang="en-US" sz="2400" dirty="0"/>
          </a:p>
          <a:p>
            <a:pPr marL="457200" indent="-457200"/>
            <a:endParaRPr lang="el-GR" sz="2400" dirty="0"/>
          </a:p>
        </p:txBody>
      </p:sp>
      <p:pic>
        <p:nvPicPr>
          <p:cNvPr id="13" name="Εικόνα 12">
            <a:extLst>
              <a:ext uri="{FF2B5EF4-FFF2-40B4-BE49-F238E27FC236}">
                <a16:creationId xmlns="" xmlns:a16="http://schemas.microsoft.com/office/drawing/2014/main" id="{C69C8D2E-C7A1-7CC8-D7A5-6B63DE80CF3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2856822"/>
            <a:ext cx="9178013" cy="3706819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A20E19A8-15B9-5B9D-2C20-BEFD19F69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47</a:t>
            </a:fld>
            <a:endParaRPr lang="el-G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47074F0E-3C6B-97A9-FC56-3D0B458D1DD5}"/>
              </a:ext>
            </a:extLst>
          </p:cNvPr>
          <p:cNvSpPr txBox="1">
            <a:spLocks/>
          </p:cNvSpPr>
          <p:nvPr/>
        </p:nvSpPr>
        <p:spPr>
          <a:xfrm>
            <a:off x="805268" y="620688"/>
            <a:ext cx="7601491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Annotation scheme - Morphology</a:t>
            </a:r>
            <a:endParaRPr lang="el-GR" sz="4400" b="0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37DA0A5D-1127-43C7-0EA0-4B42FC81374C}"/>
              </a:ext>
            </a:extLst>
          </p:cNvPr>
          <p:cNvSpPr txBox="1">
            <a:spLocks/>
          </p:cNvSpPr>
          <p:nvPr/>
        </p:nvSpPr>
        <p:spPr>
          <a:xfrm>
            <a:off x="831457" y="2124739"/>
            <a:ext cx="7601491" cy="4112573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/>
            <a:r>
              <a:rPr lang="en-US" sz="2400" dirty="0"/>
              <a:t>conflates tense (past – present – future) with aspect (perfective – imperfective), e.g.</a:t>
            </a:r>
          </a:p>
          <a:p>
            <a:pPr marL="457200" indent="-457200"/>
            <a:endParaRPr lang="en-US" sz="2400" dirty="0"/>
          </a:p>
          <a:p>
            <a:pPr marL="256032" lvl="1" indent="0">
              <a:buNone/>
            </a:pPr>
            <a:endParaRPr lang="en-US" sz="2000" dirty="0"/>
          </a:p>
          <a:p>
            <a:pPr marL="256032" lvl="1" indent="0">
              <a:buNone/>
            </a:pPr>
            <a:endParaRPr lang="en-US" sz="2000" dirty="0"/>
          </a:p>
          <a:p>
            <a:pPr marL="256032" lvl="1" indent="0">
              <a:buNone/>
            </a:pPr>
            <a:endParaRPr lang="en-US" sz="2000" dirty="0"/>
          </a:p>
          <a:p>
            <a:pPr marL="256032" lvl="1" indent="0">
              <a:buNone/>
            </a:pPr>
            <a:endParaRPr lang="en-US" sz="2000" dirty="0"/>
          </a:p>
          <a:p>
            <a:pPr marL="256032" lvl="1" indent="0">
              <a:buNone/>
            </a:pPr>
            <a:endParaRPr lang="en-US" sz="2000" dirty="0"/>
          </a:p>
          <a:p>
            <a:pPr marL="457200" indent="-457200"/>
            <a:r>
              <a:rPr lang="en-US" sz="2400" dirty="0"/>
              <a:t>difference between AG and MG verbal systems</a:t>
            </a:r>
          </a:p>
          <a:p>
            <a:pPr marL="713232" lvl="1" indent="-457200"/>
            <a:r>
              <a:rPr lang="en-US" sz="2000" dirty="0"/>
              <a:t>a lot of periphrastic verbal forms </a:t>
            </a:r>
            <a:r>
              <a:rPr lang="en-US" sz="2000" dirty="0">
                <a:sym typeface="Wingdings" panose="05000000000000000000" pitchFamily="2" charset="2"/>
              </a:rPr>
              <a:t> impossible to fit into the traditional 6 categories</a:t>
            </a:r>
            <a:endParaRPr lang="en-US" sz="2000" dirty="0"/>
          </a:p>
          <a:p>
            <a:pPr marL="457200" indent="-457200"/>
            <a:endParaRPr lang="en-US" sz="2400" dirty="0"/>
          </a:p>
          <a:p>
            <a:pPr marL="457200" indent="-457200"/>
            <a:endParaRPr lang="en-US" sz="2400" dirty="0"/>
          </a:p>
          <a:p>
            <a:pPr marL="457200" indent="-457200"/>
            <a:endParaRPr lang="en-US" sz="2400" dirty="0"/>
          </a:p>
          <a:p>
            <a:pPr marL="457200" indent="-457200"/>
            <a:endParaRPr lang="el-GR" sz="2400" dirty="0"/>
          </a:p>
        </p:txBody>
      </p:sp>
      <p:sp>
        <p:nvSpPr>
          <p:cNvPr id="10" name="Ορθογώνιο: Στρογγύλεμα γωνιών 9">
            <a:extLst>
              <a:ext uri="{FF2B5EF4-FFF2-40B4-BE49-F238E27FC236}">
                <a16:creationId xmlns="" xmlns:a16="http://schemas.microsoft.com/office/drawing/2014/main" id="{C37E7CC0-C3B5-9B4A-45EE-40CA06E29070}"/>
              </a:ext>
            </a:extLst>
          </p:cNvPr>
          <p:cNvSpPr/>
          <p:nvPr/>
        </p:nvSpPr>
        <p:spPr>
          <a:xfrm>
            <a:off x="995798" y="3140968"/>
            <a:ext cx="7152403" cy="159229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13232" lvl="1" indent="-457200"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aorist = [+past], [+perfective], </a:t>
            </a:r>
          </a:p>
          <a:p>
            <a:pPr marL="713232" lvl="1" indent="-457200"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imperfect = [+past], [-perfective] </a:t>
            </a:r>
            <a:endParaRPr lang="el-GR" sz="2000" dirty="0">
              <a:solidFill>
                <a:schemeClr val="tx1"/>
              </a:solidFill>
            </a:endParaRPr>
          </a:p>
          <a:p>
            <a:pPr marL="713232" lvl="1" indent="-457200"/>
            <a:endParaRPr lang="en-US" sz="2000" dirty="0">
              <a:solidFill>
                <a:schemeClr val="tx1"/>
              </a:solidFill>
            </a:endParaRPr>
          </a:p>
          <a:p>
            <a:pPr marL="256032" lvl="1" indent="0" algn="r">
              <a:buNone/>
            </a:pPr>
            <a:r>
              <a:rPr lang="en-US" sz="1400" dirty="0">
                <a:solidFill>
                  <a:schemeClr val="tx1"/>
                </a:solidFill>
              </a:rPr>
              <a:t>(Holton, </a:t>
            </a:r>
            <a:r>
              <a:rPr lang="en-US" sz="1400" dirty="0" err="1">
                <a:solidFill>
                  <a:schemeClr val="tx1"/>
                </a:solidFill>
              </a:rPr>
              <a:t>Mackridge</a:t>
            </a:r>
            <a:r>
              <a:rPr lang="en-US" sz="1400" dirty="0">
                <a:solidFill>
                  <a:schemeClr val="tx1"/>
                </a:solidFill>
              </a:rPr>
              <a:t>, and </a:t>
            </a:r>
            <a:r>
              <a:rPr lang="en-US" sz="1400" dirty="0" err="1">
                <a:solidFill>
                  <a:schemeClr val="tx1"/>
                </a:solidFill>
              </a:rPr>
              <a:t>Philippaki</a:t>
            </a:r>
            <a:r>
              <a:rPr lang="en-US" sz="1400" dirty="0">
                <a:solidFill>
                  <a:schemeClr val="tx1"/>
                </a:solidFill>
              </a:rPr>
              <a:t>-Warburton 2014: 121-122)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43DAD03D-DCF0-B087-1B79-6B92BA0FD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48</a:t>
            </a:fld>
            <a:endParaRPr lang="el-G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44A3FD54-77DF-B390-A07E-8B4EC0B725D7}"/>
              </a:ext>
            </a:extLst>
          </p:cNvPr>
          <p:cNvSpPr txBox="1">
            <a:spLocks/>
          </p:cNvSpPr>
          <p:nvPr/>
        </p:nvSpPr>
        <p:spPr>
          <a:xfrm>
            <a:off x="805268" y="620688"/>
            <a:ext cx="7601491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 new annotation scheme for MG</a:t>
            </a:r>
            <a:endParaRPr lang="el-GR" sz="4400" b="0" dirty="0"/>
          </a:p>
        </p:txBody>
      </p:sp>
      <p:graphicFrame>
        <p:nvGraphicFramePr>
          <p:cNvPr id="10" name="Πίνακας 9">
            <a:extLst>
              <a:ext uri="{FF2B5EF4-FFF2-40B4-BE49-F238E27FC236}">
                <a16:creationId xmlns="" xmlns:a16="http://schemas.microsoft.com/office/drawing/2014/main" id="{1E8288A9-081D-CA99-E084-03EC2E7C0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025303677"/>
              </p:ext>
            </p:extLst>
          </p:nvPr>
        </p:nvGraphicFramePr>
        <p:xfrm>
          <a:off x="358140" y="2155696"/>
          <a:ext cx="4213860" cy="310896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="" xmlns:a16="http://schemas.microsoft.com/office/drawing/2014/main" val="1841060676"/>
                    </a:ext>
                  </a:extLst>
                </a:gridCol>
                <a:gridCol w="1303020">
                  <a:extLst>
                    <a:ext uri="{9D8B030D-6E8A-4147-A177-3AD203B41FA5}">
                      <a16:colId xmlns="" xmlns:a16="http://schemas.microsoft.com/office/drawing/2014/main" val="2977678539"/>
                    </a:ext>
                  </a:extLst>
                </a:gridCol>
                <a:gridCol w="1402080">
                  <a:extLst>
                    <a:ext uri="{9D8B030D-6E8A-4147-A177-3AD203B41FA5}">
                      <a16:colId xmlns="" xmlns:a16="http://schemas.microsoft.com/office/drawing/2014/main" val="14354580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PROEIL Ancient Greek tags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Modern Greek verb forms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Modern Greek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tagset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954633865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Indicative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80668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Present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grafo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nonpast, imperfective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7060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l-G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???</a:t>
                      </a:r>
                      <a:endParaRPr lang="el-GR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grapso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nonpast, perfective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55887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Imperfect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egrafa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past, imperfective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182832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Aorist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egrapsa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past, perfective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300791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Perfect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echo grapsi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echo=verb, grapsi=nonfinite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73101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Pluperfect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icha grapsi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icha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=verb,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grapsi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=nonfinite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218342977"/>
                  </a:ext>
                </a:extLst>
              </a:tr>
            </a:tbl>
          </a:graphicData>
        </a:graphic>
      </p:graphicFrame>
      <p:graphicFrame>
        <p:nvGraphicFramePr>
          <p:cNvPr id="11" name="Πίνακας 10">
            <a:extLst>
              <a:ext uri="{FF2B5EF4-FFF2-40B4-BE49-F238E27FC236}">
                <a16:creationId xmlns="" xmlns:a16="http://schemas.microsoft.com/office/drawing/2014/main" id="{B3167184-87FE-366B-E1FC-316A32225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38687986"/>
              </p:ext>
            </p:extLst>
          </p:nvPr>
        </p:nvGraphicFramePr>
        <p:xfrm>
          <a:off x="4788024" y="2155696"/>
          <a:ext cx="4213860" cy="393192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="" xmlns:a16="http://schemas.microsoft.com/office/drawing/2014/main" val="667884361"/>
                    </a:ext>
                  </a:extLst>
                </a:gridCol>
                <a:gridCol w="1303020">
                  <a:extLst>
                    <a:ext uri="{9D8B030D-6E8A-4147-A177-3AD203B41FA5}">
                      <a16:colId xmlns="" xmlns:a16="http://schemas.microsoft.com/office/drawing/2014/main" val="3466548251"/>
                    </a:ext>
                  </a:extLst>
                </a:gridCol>
                <a:gridCol w="1402080">
                  <a:extLst>
                    <a:ext uri="{9D8B030D-6E8A-4147-A177-3AD203B41FA5}">
                      <a16:colId xmlns="" xmlns:a16="http://schemas.microsoft.com/office/drawing/2014/main" val="249243534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Verb forms with </a:t>
                      </a:r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/</a:t>
                      </a:r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as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68197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subjunctive, present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na/as grafo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na/as=particle, </a:t>
                      </a:r>
                      <a:endParaRPr lang="en-US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grafo (see above)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583490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subjunctive, aorist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na/as grapso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na/as=particle, </a:t>
                      </a:r>
                      <a:endParaRPr lang="en-US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grapso (see above)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07803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l-GR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???</a:t>
                      </a:r>
                      <a:endParaRPr lang="el-G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na/as egrafa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na/as=particle, </a:t>
                      </a:r>
                      <a:endParaRPr lang="en-US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egrafa (see above)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39926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l-GR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???</a:t>
                      </a:r>
                      <a:endParaRPr lang="el-G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na/as egrapsa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na/as=particle, </a:t>
                      </a:r>
                      <a:endParaRPr lang="en-US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egrapsa (see above)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464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subjunctive, perfect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na/as echo grapsi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na/as=particle, </a:t>
                      </a:r>
                      <a:endParaRPr lang="en-US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echo grapsi (see above)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013735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subjunctive, pluperfect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na/as icha grapsi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/as=particle, </a:t>
                      </a:r>
                      <a:endParaRPr lang="en-US" dirty="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icha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grapsi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(see above)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8737257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B76F9E49-31B8-1401-0C99-211EE09C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49</a:t>
            </a:fld>
            <a:endParaRPr lang="el-G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C0619CFB-8ABC-82D3-CB43-01808A5F2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D9862EFE-8502-2DE3-655C-D3C8DFBB9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C23D17DF-D0A4-CE89-571D-F5374C762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43F770C0-B0B6-955D-8E12-056CD7D3D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42A1BEFB-813D-1B5E-3B2E-85FF92EBC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38AAFF87-6202-C536-F94D-746418E91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9F7D1F9A-A4CD-5F4C-5A6D-B85AD3AED9DD}"/>
              </a:ext>
            </a:extLst>
          </p:cNvPr>
          <p:cNvSpPr txBox="1">
            <a:spLocks/>
          </p:cNvSpPr>
          <p:nvPr/>
        </p:nvSpPr>
        <p:spPr>
          <a:xfrm>
            <a:off x="805268" y="620688"/>
            <a:ext cx="7601491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 new annotation scheme for MG</a:t>
            </a:r>
            <a:endParaRPr lang="el-GR" sz="4400" b="0" dirty="0"/>
          </a:p>
        </p:txBody>
      </p:sp>
      <p:graphicFrame>
        <p:nvGraphicFramePr>
          <p:cNvPr id="3" name="Πίνακας 2">
            <a:extLst>
              <a:ext uri="{FF2B5EF4-FFF2-40B4-BE49-F238E27FC236}">
                <a16:creationId xmlns="" xmlns:a16="http://schemas.microsoft.com/office/drawing/2014/main" id="{D9F9315D-F59D-19CE-488C-BB7838F15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810493001"/>
              </p:ext>
            </p:extLst>
          </p:nvPr>
        </p:nvGraphicFramePr>
        <p:xfrm>
          <a:off x="2465070" y="2177863"/>
          <a:ext cx="4213860" cy="393192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="" xmlns:a16="http://schemas.microsoft.com/office/drawing/2014/main" val="1100347153"/>
                    </a:ext>
                  </a:extLst>
                </a:gridCol>
                <a:gridCol w="1303020">
                  <a:extLst>
                    <a:ext uri="{9D8B030D-6E8A-4147-A177-3AD203B41FA5}">
                      <a16:colId xmlns="" xmlns:a16="http://schemas.microsoft.com/office/drawing/2014/main" val="2202472417"/>
                    </a:ext>
                  </a:extLst>
                </a:gridCol>
                <a:gridCol w="1402080">
                  <a:extLst>
                    <a:ext uri="{9D8B030D-6E8A-4147-A177-3AD203B41FA5}">
                      <a16:colId xmlns="" xmlns:a16="http://schemas.microsoft.com/office/drawing/2014/main" val="1735579613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Verb forms with </a:t>
                      </a:r>
                      <a:r>
                        <a:rPr lang="en-US" sz="1200" b="1" i="1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41826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Future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 grafo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tha=particle, </a:t>
                      </a:r>
                      <a:endParaRPr lang="en-US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grafo (see above)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391481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Future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 grapso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tha=particle, </a:t>
                      </a:r>
                      <a:endParaRPr lang="en-US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grapso (see above)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223305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l-GR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???</a:t>
                      </a:r>
                      <a:endParaRPr lang="el-G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 egrafa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tha=particle, </a:t>
                      </a:r>
                      <a:endParaRPr lang="en-US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egrafa (see above)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660162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l-GR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???</a:t>
                      </a:r>
                      <a:endParaRPr lang="el-G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 egrapsa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tha=particle, </a:t>
                      </a:r>
                      <a:endParaRPr lang="en-US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egrapsa (see above)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83209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future perfect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 echo grapsi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tha=particle, </a:t>
                      </a:r>
                      <a:endParaRPr lang="en-US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echo grapsi (see above)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57885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l-GR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???</a:t>
                      </a:r>
                      <a:endParaRPr lang="el-GR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 icha grapsi</a:t>
                      </a:r>
                      <a:endParaRPr lang="en-US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=particle, </a:t>
                      </a:r>
                      <a:endParaRPr lang="en-US" dirty="0">
                        <a:effectLst/>
                      </a:endParaRPr>
                    </a:p>
                    <a:p>
                      <a:pPr algn="just" rtl="0" fontAlgn="t">
                        <a:buNone/>
                      </a:pP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icha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grapsi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(see above)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76900989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54C43744-9AF3-254D-A4A8-1887E9A7A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50</a:t>
            </a:fld>
            <a:endParaRPr lang="el-G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78CA0564-2F95-137B-FC26-A0CA15870979}"/>
              </a:ext>
            </a:extLst>
          </p:cNvPr>
          <p:cNvSpPr txBox="1">
            <a:spLocks/>
          </p:cNvSpPr>
          <p:nvPr/>
        </p:nvSpPr>
        <p:spPr>
          <a:xfrm>
            <a:off x="805268" y="620688"/>
            <a:ext cx="7601491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 new PROIEL annotation scheme for MG</a:t>
            </a:r>
            <a:endParaRPr lang="el-GR" sz="4400" b="0" dirty="0"/>
          </a:p>
        </p:txBody>
      </p:sp>
      <p:graphicFrame>
        <p:nvGraphicFramePr>
          <p:cNvPr id="3" name="Πίνακας 2">
            <a:extLst>
              <a:ext uri="{FF2B5EF4-FFF2-40B4-BE49-F238E27FC236}">
                <a16:creationId xmlns="" xmlns:a16="http://schemas.microsoft.com/office/drawing/2014/main" id="{F692AEF7-5261-1957-A496-2AFF66FB8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712353730"/>
              </p:ext>
            </p:extLst>
          </p:nvPr>
        </p:nvGraphicFramePr>
        <p:xfrm>
          <a:off x="1331640" y="2932890"/>
          <a:ext cx="6096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="" xmlns:a16="http://schemas.microsoft.com/office/drawing/2014/main" val="1283084484"/>
                    </a:ext>
                  </a:extLst>
                </a:gridCol>
                <a:gridCol w="2032000">
                  <a:extLst>
                    <a:ext uri="{9D8B030D-6E8A-4147-A177-3AD203B41FA5}">
                      <a16:colId xmlns="" xmlns:a16="http://schemas.microsoft.com/office/drawing/2014/main" val="3271559236"/>
                    </a:ext>
                  </a:extLst>
                </a:gridCol>
                <a:gridCol w="2032000">
                  <a:extLst>
                    <a:ext uri="{9D8B030D-6E8A-4147-A177-3AD203B41FA5}">
                      <a16:colId xmlns="" xmlns:a16="http://schemas.microsoft.com/office/drawing/2014/main" val="8941072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l-G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imperfective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perfective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60006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non-past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grafo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grapso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35664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past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egrafa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egrapsa</a:t>
                      </a:r>
                      <a:endParaRPr lang="el-GR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08232215"/>
                  </a:ext>
                </a:extLst>
              </a:tr>
            </a:tbl>
          </a:graphicData>
        </a:graphic>
      </p:graphicFrame>
      <p:sp>
        <p:nvSpPr>
          <p:cNvPr id="12" name="Θέση περιεχομένου 2">
            <a:extLst>
              <a:ext uri="{FF2B5EF4-FFF2-40B4-BE49-F238E27FC236}">
                <a16:creationId xmlns="" xmlns:a16="http://schemas.microsoft.com/office/drawing/2014/main" id="{5DA44483-75F0-5A3F-985E-21707513A566}"/>
              </a:ext>
            </a:extLst>
          </p:cNvPr>
          <p:cNvSpPr txBox="1">
            <a:spLocks/>
          </p:cNvSpPr>
          <p:nvPr/>
        </p:nvSpPr>
        <p:spPr>
          <a:xfrm>
            <a:off x="831457" y="2034075"/>
            <a:ext cx="7601491" cy="972656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/>
            <a:r>
              <a:rPr lang="en-US" sz="2400" dirty="0"/>
              <a:t>See </a:t>
            </a:r>
            <a:r>
              <a:rPr lang="en-US" sz="2400" dirty="0" err="1"/>
              <a:t>Tsangalidis</a:t>
            </a:r>
            <a:r>
              <a:rPr lang="en-US" sz="2400" dirty="0"/>
              <a:t> (2013) and Spyropoulos and </a:t>
            </a:r>
            <a:r>
              <a:rPr lang="en-US" sz="2400" dirty="0" err="1"/>
              <a:t>Stamatogiannis</a:t>
            </a:r>
            <a:r>
              <a:rPr lang="en-US" sz="2400" dirty="0"/>
              <a:t> (2013), among many others </a:t>
            </a:r>
          </a:p>
        </p:txBody>
      </p:sp>
      <p:sp>
        <p:nvSpPr>
          <p:cNvPr id="13" name="Θέση περιεχομένου 2">
            <a:extLst>
              <a:ext uri="{FF2B5EF4-FFF2-40B4-BE49-F238E27FC236}">
                <a16:creationId xmlns="" xmlns:a16="http://schemas.microsoft.com/office/drawing/2014/main" id="{9D995F24-B61A-5A9E-9FAB-00B7CBA90915}"/>
              </a:ext>
            </a:extLst>
          </p:cNvPr>
          <p:cNvSpPr txBox="1">
            <a:spLocks/>
          </p:cNvSpPr>
          <p:nvPr/>
        </p:nvSpPr>
        <p:spPr>
          <a:xfrm>
            <a:off x="838393" y="4223889"/>
            <a:ext cx="7601491" cy="199999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/>
            <a:r>
              <a:rPr lang="en-US" sz="2400" b="1" u="sng" dirty="0"/>
              <a:t>New tags: </a:t>
            </a:r>
          </a:p>
          <a:p>
            <a:pPr marL="713232" lvl="1" indent="-457200"/>
            <a:r>
              <a:rPr lang="en-US" sz="2000" dirty="0"/>
              <a:t>particle: for </a:t>
            </a:r>
            <a:r>
              <a:rPr lang="en-US" sz="2000" dirty="0" err="1"/>
              <a:t>na</a:t>
            </a:r>
            <a:r>
              <a:rPr lang="en-US" sz="2000" dirty="0"/>
              <a:t>/as, </a:t>
            </a:r>
            <a:r>
              <a:rPr lang="en-US" sz="2000" dirty="0" err="1"/>
              <a:t>tha</a:t>
            </a:r>
            <a:endParaRPr lang="en-US" sz="2000" dirty="0"/>
          </a:p>
          <a:p>
            <a:pPr marL="713232" lvl="1" indent="-457200"/>
            <a:r>
              <a:rPr lang="en-US" sz="2000" dirty="0"/>
              <a:t>non-finite: for periphrases of perfect tenses (echo </a:t>
            </a:r>
            <a:r>
              <a:rPr lang="en-US" sz="2000" b="1" dirty="0" err="1"/>
              <a:t>grapsi</a:t>
            </a:r>
            <a:r>
              <a:rPr lang="en-US" sz="2000" dirty="0"/>
              <a:t>, </a:t>
            </a:r>
            <a:r>
              <a:rPr lang="en-US" sz="2000" dirty="0" err="1"/>
              <a:t>icha</a:t>
            </a:r>
            <a:r>
              <a:rPr lang="en-US" sz="2000" dirty="0"/>
              <a:t> </a:t>
            </a:r>
            <a:r>
              <a:rPr lang="en-US" sz="2000" b="1" dirty="0" err="1"/>
              <a:t>grapsi</a:t>
            </a:r>
            <a:r>
              <a:rPr lang="en-US" sz="2000" dirty="0"/>
              <a:t>)</a:t>
            </a:r>
          </a:p>
          <a:p>
            <a:pPr marL="713232" lvl="1" indent="-457200"/>
            <a:r>
              <a:rPr lang="en-US" sz="2000" dirty="0"/>
              <a:t>No subjunctive</a:t>
            </a:r>
          </a:p>
          <a:p>
            <a:pPr marL="713232" lvl="1" indent="-457200"/>
            <a:r>
              <a:rPr lang="en-US" sz="2000" dirty="0"/>
              <a:t>Imperative: unspecified tense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EA0ACCB0-F59C-CA31-B778-4C9F5F933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51</a:t>
            </a:fld>
            <a:endParaRPr lang="el-G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EA807013-7AAF-D4E0-601A-D570B3957BBF}"/>
              </a:ext>
            </a:extLst>
          </p:cNvPr>
          <p:cNvSpPr txBox="1">
            <a:spLocks/>
          </p:cNvSpPr>
          <p:nvPr/>
        </p:nvSpPr>
        <p:spPr>
          <a:xfrm>
            <a:off x="539552" y="620687"/>
            <a:ext cx="8208912" cy="1355229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Automatic syntactic parsing: Late Medieval Greek</a:t>
            </a:r>
            <a:endParaRPr lang="el-GR" sz="4400" b="0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50EF77AC-CB97-06E3-2E6A-3C81CE26BE5B}"/>
              </a:ext>
            </a:extLst>
          </p:cNvPr>
          <p:cNvSpPr txBox="1">
            <a:spLocks/>
          </p:cNvSpPr>
          <p:nvPr/>
        </p:nvSpPr>
        <p:spPr>
          <a:xfrm>
            <a:off x="805268" y="2060848"/>
            <a:ext cx="7601491" cy="1854200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/>
            <a:endParaRPr lang="en-US" sz="2000" dirty="0">
              <a:sym typeface="Wingdings" panose="05000000000000000000" pitchFamily="2" charset="2"/>
            </a:endParaRPr>
          </a:p>
          <a:p>
            <a:pPr marL="457200" indent="-457200"/>
            <a:r>
              <a:rPr lang="en-US" sz="2000" dirty="0">
                <a:sym typeface="Wingdings" panose="05000000000000000000" pitchFamily="2" charset="2"/>
              </a:rPr>
              <a:t>1 reference text (Sphrantzes) in Late Medieval Greek </a:t>
            </a:r>
            <a:r>
              <a:rPr lang="en-US" sz="2000" dirty="0"/>
              <a:t> </a:t>
            </a:r>
          </a:p>
          <a:p>
            <a:pPr marL="457200" indent="-457200"/>
            <a:r>
              <a:rPr lang="en-US" sz="2000" dirty="0"/>
              <a:t>selected 4 parsers trained in modern or ancient Greek for evaluation </a:t>
            </a:r>
          </a:p>
        </p:txBody>
      </p:sp>
      <p:graphicFrame>
        <p:nvGraphicFramePr>
          <p:cNvPr id="13" name="Πίνακας 12">
            <a:extLst>
              <a:ext uri="{FF2B5EF4-FFF2-40B4-BE49-F238E27FC236}">
                <a16:creationId xmlns="" xmlns:a16="http://schemas.microsoft.com/office/drawing/2014/main" id="{4456E0F5-15E0-B566-E87C-65A354A09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244935763"/>
              </p:ext>
            </p:extLst>
          </p:nvPr>
        </p:nvGraphicFramePr>
        <p:xfrm>
          <a:off x="1596008" y="3645024"/>
          <a:ext cx="6096000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8000">
                  <a:extLst>
                    <a:ext uri="{9D8B030D-6E8A-4147-A177-3AD203B41FA5}">
                      <a16:colId xmlns="" xmlns:a16="http://schemas.microsoft.com/office/drawing/2014/main" val="1626323965"/>
                    </a:ext>
                  </a:extLst>
                </a:gridCol>
                <a:gridCol w="3048000">
                  <a:extLst>
                    <a:ext uri="{9D8B030D-6E8A-4147-A177-3AD203B41FA5}">
                      <a16:colId xmlns="" xmlns:a16="http://schemas.microsoft.com/office/drawing/2014/main" val="3765409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Parser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Trained dataset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878809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kern="1200" dirty="0">
                          <a:solidFill>
                            <a:schemeClr val="dk1"/>
                          </a:solidFill>
                          <a:sym typeface="Arial"/>
                        </a:rPr>
                        <a:t>Spacy-ELL</a:t>
                      </a:r>
                      <a:endParaRPr kumimoji="0" lang="en-US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Modern Greek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64934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Odycy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Ancient Greek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828779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Grecy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Ancient Greek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840676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Stanza-ELL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Modern Greek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96980069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FCB14562-AB06-FCCB-7040-63930F88B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52</a:t>
            </a:fld>
            <a:endParaRPr lang="el-G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9D6AA226-197A-FE6B-CAD2-75DA26BA2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DE884DE5-CE9C-55C2-C109-E31B513F0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DAB20308-C62E-DA9D-8E46-29AE75C52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6605B91D-C96B-DB5B-2083-90F6B3D59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A06C4C44-74B9-331F-AF69-24CA7BBF3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180001B5-8225-40A6-3CEE-3F6888D28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3915CC6E-768B-967B-A5DD-70BB4FA53C34}"/>
              </a:ext>
            </a:extLst>
          </p:cNvPr>
          <p:cNvSpPr txBox="1">
            <a:spLocks/>
          </p:cNvSpPr>
          <p:nvPr/>
        </p:nvSpPr>
        <p:spPr>
          <a:xfrm>
            <a:off x="539552" y="620687"/>
            <a:ext cx="8208912" cy="1355229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Automatic syntactic parsing: Late Medieval Greek</a:t>
            </a:r>
            <a:endParaRPr lang="el-GR" sz="4400" b="0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234790C1-4205-716A-C7A1-350E876BD8F2}"/>
              </a:ext>
            </a:extLst>
          </p:cNvPr>
          <p:cNvSpPr txBox="1">
            <a:spLocks/>
          </p:cNvSpPr>
          <p:nvPr/>
        </p:nvSpPr>
        <p:spPr>
          <a:xfrm>
            <a:off x="539552" y="2276872"/>
            <a:ext cx="8107720" cy="316835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lvl="0" indent="0">
              <a:spcBef>
                <a:spcPts val="600"/>
              </a:spcBef>
              <a:buNone/>
            </a:pPr>
            <a:r>
              <a:rPr lang="en-US" sz="2000" b="1" dirty="0"/>
              <a:t>Problem 1: </a:t>
            </a:r>
            <a:r>
              <a:rPr lang="en-US" sz="2000" dirty="0"/>
              <a:t>Parsers use UD/</a:t>
            </a:r>
            <a:r>
              <a:rPr lang="en-US" sz="2000" dirty="0" err="1"/>
              <a:t>CoNLL</a:t>
            </a:r>
            <a:r>
              <a:rPr lang="en-US" sz="2000" dirty="0"/>
              <a:t>-U Treebank Framework</a:t>
            </a:r>
          </a:p>
          <a:p>
            <a:pPr marL="0" lvl="0" indent="0">
              <a:spcBef>
                <a:spcPts val="600"/>
              </a:spcBef>
              <a:buNone/>
            </a:pPr>
            <a:endParaRPr lang="en-US" sz="2000" b="1" dirty="0"/>
          </a:p>
          <a:p>
            <a:pPr marL="0" lvl="0" indent="0">
              <a:spcBef>
                <a:spcPts val="600"/>
              </a:spcBef>
              <a:buNone/>
            </a:pPr>
            <a:r>
              <a:rPr lang="en-US" sz="2000" b="1" dirty="0"/>
              <a:t>A.1) Evaluate 4 parsers on reference text – </a:t>
            </a:r>
            <a:r>
              <a:rPr lang="en-US" sz="2000" b="1" dirty="0" err="1">
                <a:solidFill>
                  <a:schemeClr val="bg2">
                    <a:lumMod val="50000"/>
                  </a:schemeClr>
                </a:solidFill>
              </a:rPr>
              <a:t>CoNLL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-U data 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en-US" sz="2000" dirty="0"/>
              <a:t>convert reference annotated treebank chron-1.xml to </a:t>
            </a:r>
            <a:r>
              <a:rPr lang="en-US" sz="2000" dirty="0" err="1"/>
              <a:t>CoNLL</a:t>
            </a:r>
            <a:r>
              <a:rPr lang="en-US" sz="2000" dirty="0"/>
              <a:t>-U using PROIEL method 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en-US" sz="2000" dirty="0"/>
              <a:t>run 4 parsers → get </a:t>
            </a:r>
            <a:r>
              <a:rPr lang="en-US" sz="2000" dirty="0" err="1"/>
              <a:t>CoNLL</a:t>
            </a:r>
            <a:r>
              <a:rPr lang="en-US" sz="2000" dirty="0"/>
              <a:t>-U results → compare to reference results 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en-US" sz="2000" dirty="0">
                <a:sym typeface="Wingdings" panose="05000000000000000000" pitchFamily="2" charset="2"/>
              </a:rPr>
              <a:t> Are they accurate for </a:t>
            </a:r>
            <a:r>
              <a:rPr lang="en-US" sz="2000" dirty="0" err="1">
                <a:sym typeface="Wingdings" panose="05000000000000000000" pitchFamily="2" charset="2"/>
              </a:rPr>
              <a:t>CoNLL</a:t>
            </a:r>
            <a:r>
              <a:rPr lang="en-US" sz="2000" dirty="0">
                <a:sym typeface="Wingdings" panose="05000000000000000000" pitchFamily="2" charset="2"/>
              </a:rPr>
              <a:t>-U?</a:t>
            </a:r>
            <a:endParaRPr lang="en-US" sz="20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6199A03B-F53F-F2EC-703E-7A5909B6A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53</a:t>
            </a:fld>
            <a:endParaRPr lang="el-G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D08D22F5-ECF4-CAB3-F082-C7AA20FA0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82672298-75B9-96FF-4E32-2512B067D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0DA998B8-0F88-7C5B-26D1-1EECCAED2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239740F5-697F-BF67-DC29-2FBB836D4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E21A450B-FDCA-EB6F-8FD2-094D50F93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EB3A716E-CA5E-C4A0-B6D6-C0DF12BB4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B776EE0A-971D-45D3-C9A6-59E21DFEE90E}"/>
              </a:ext>
            </a:extLst>
          </p:cNvPr>
          <p:cNvSpPr txBox="1">
            <a:spLocks/>
          </p:cNvSpPr>
          <p:nvPr/>
        </p:nvSpPr>
        <p:spPr>
          <a:xfrm>
            <a:off x="539552" y="620687"/>
            <a:ext cx="8208912" cy="1355229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Automatic syntactic parsing: Late Medieval Greek</a:t>
            </a:r>
            <a:endParaRPr lang="el-GR" sz="4400" b="0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94CC8348-9E8E-90AF-5173-0DF88D10C605}"/>
              </a:ext>
            </a:extLst>
          </p:cNvPr>
          <p:cNvSpPr txBox="1">
            <a:spLocks/>
          </p:cNvSpPr>
          <p:nvPr/>
        </p:nvSpPr>
        <p:spPr>
          <a:xfrm>
            <a:off x="539552" y="2276872"/>
            <a:ext cx="8107720" cy="3168352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lvl="0" indent="0">
              <a:spcBef>
                <a:spcPts val="600"/>
              </a:spcBef>
              <a:buNone/>
            </a:pPr>
            <a:endParaRPr lang="en-US" sz="2000" b="1" dirty="0"/>
          </a:p>
          <a:p>
            <a:pPr marL="0" lvl="0" indent="0">
              <a:spcBef>
                <a:spcPts val="600"/>
              </a:spcBef>
              <a:buNone/>
            </a:pPr>
            <a:r>
              <a:rPr lang="en-US" sz="2000" b="1" dirty="0"/>
              <a:t>A.2) Evaluate 4 parsers on reference text - </a:t>
            </a:r>
            <a:r>
              <a:rPr lang="en-US" sz="2000" b="1" dirty="0">
                <a:solidFill>
                  <a:srgbClr val="00B050"/>
                </a:solidFill>
              </a:rPr>
              <a:t>PROIEL data </a:t>
            </a:r>
          </a:p>
          <a:p>
            <a:pPr marL="0" lvl="0" indent="0">
              <a:spcBef>
                <a:spcPts val="600"/>
              </a:spcBef>
              <a:buClr>
                <a:schemeClr val="dk1"/>
              </a:buClr>
              <a:buSzPct val="45833"/>
              <a:buNone/>
            </a:pPr>
            <a:r>
              <a:rPr lang="en-US" sz="2000" dirty="0"/>
              <a:t>run 4 parsers → get </a:t>
            </a:r>
            <a:r>
              <a:rPr lang="en-US" sz="2000" dirty="0" err="1"/>
              <a:t>CoNLL</a:t>
            </a:r>
            <a:r>
              <a:rPr lang="en-US" sz="2000" dirty="0"/>
              <a:t>-U results → convert to PROIEL using </a:t>
            </a:r>
            <a:r>
              <a:rPr lang="en-US" sz="20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custom mapping </a:t>
            </a:r>
            <a:r>
              <a:rPr lang="en-US" sz="2000" dirty="0"/>
              <a:t>→ compare results to original PROEIL data </a:t>
            </a:r>
          </a:p>
          <a:p>
            <a:pPr marL="457200" indent="-457200"/>
            <a:r>
              <a:rPr lang="en-US" sz="2000" dirty="0"/>
              <a:t>Are they accurate for PROEIL?</a:t>
            </a:r>
          </a:p>
          <a:p>
            <a:pPr marL="457200" indent="-457200"/>
            <a:endParaRPr lang="en-US" sz="2000" dirty="0"/>
          </a:p>
          <a:p>
            <a:pPr marL="457200" indent="-457200"/>
            <a:r>
              <a:rPr lang="en-US" sz="2000" dirty="0"/>
              <a:t>Most data available in </a:t>
            </a:r>
            <a:r>
              <a:rPr lang="en-US" sz="2000" dirty="0" err="1"/>
              <a:t>CoNLL</a:t>
            </a:r>
            <a:r>
              <a:rPr lang="en-US" sz="2000" dirty="0"/>
              <a:t>-U </a:t>
            </a:r>
            <a:r>
              <a:rPr lang="en-US" sz="2000" dirty="0">
                <a:sym typeface="Wingdings" panose="05000000000000000000" pitchFamily="2" charset="2"/>
              </a:rPr>
              <a:t> conversion to PROEIL can speed up corpus compilation</a:t>
            </a:r>
            <a:endParaRPr lang="en-US" sz="20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4452930D-3B28-DE5B-EE07-490ECFF2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54</a:t>
            </a:fld>
            <a:endParaRPr lang="el-G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Θέση περιεχομένου 2">
            <a:extLst>
              <a:ext uri="{FF2B5EF4-FFF2-40B4-BE49-F238E27FC236}">
                <a16:creationId xmlns="" xmlns:a16="http://schemas.microsoft.com/office/drawing/2014/main" id="{3F6557F7-142E-D6DD-808E-101A51569118}"/>
              </a:ext>
            </a:extLst>
          </p:cNvPr>
          <p:cNvSpPr txBox="1">
            <a:spLocks/>
          </p:cNvSpPr>
          <p:nvPr/>
        </p:nvSpPr>
        <p:spPr>
          <a:xfrm>
            <a:off x="805268" y="5661248"/>
            <a:ext cx="8087212" cy="57606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/>
            <a:r>
              <a:rPr lang="en-US" sz="2000" dirty="0"/>
              <a:t>very low F1 scores &lt;0.42 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models have poor performance in Late Medieval Greek texts</a:t>
            </a:r>
          </a:p>
        </p:txBody>
      </p:sp>
      <p:sp>
        <p:nvSpPr>
          <p:cNvPr id="3" name="Τίτλος 1">
            <a:extLst>
              <a:ext uri="{FF2B5EF4-FFF2-40B4-BE49-F238E27FC236}">
                <a16:creationId xmlns="" xmlns:a16="http://schemas.microsoft.com/office/drawing/2014/main" id="{34D77E80-66B7-51EF-6098-8907D195C5AD}"/>
              </a:ext>
            </a:extLst>
          </p:cNvPr>
          <p:cNvSpPr txBox="1">
            <a:spLocks/>
          </p:cNvSpPr>
          <p:nvPr/>
        </p:nvSpPr>
        <p:spPr>
          <a:xfrm>
            <a:off x="539552" y="620688"/>
            <a:ext cx="8208912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Automatic syntactic parsing: Results</a:t>
            </a:r>
            <a:endParaRPr lang="el-GR" sz="4400" b="0" dirty="0"/>
          </a:p>
        </p:txBody>
      </p:sp>
      <p:sp>
        <p:nvSpPr>
          <p:cNvPr id="10" name="Θέση περιεχομένου 2">
            <a:extLst>
              <a:ext uri="{FF2B5EF4-FFF2-40B4-BE49-F238E27FC236}">
                <a16:creationId xmlns="" xmlns:a16="http://schemas.microsoft.com/office/drawing/2014/main" id="{F1B58447-902D-87C0-C623-16A89D0C62C2}"/>
              </a:ext>
            </a:extLst>
          </p:cNvPr>
          <p:cNvSpPr txBox="1">
            <a:spLocks/>
          </p:cNvSpPr>
          <p:nvPr/>
        </p:nvSpPr>
        <p:spPr>
          <a:xfrm>
            <a:off x="251520" y="2204864"/>
            <a:ext cx="3190668" cy="320380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/>
            <a:r>
              <a:rPr lang="en-US" sz="2000" dirty="0"/>
              <a:t>a simplified score = average (number of relations discovered successfully for each sentence compared to that of the original treebank)</a:t>
            </a:r>
          </a:p>
          <a:p>
            <a:pPr marL="457200" indent="-457200"/>
            <a:endParaRPr lang="en-US" sz="2000" dirty="0"/>
          </a:p>
          <a:p>
            <a:pPr marL="457200" indent="-457200"/>
            <a:r>
              <a:rPr lang="en-US" sz="2000" dirty="0"/>
              <a:t>F1 score (overall and across different UD syntactic classes)</a:t>
            </a:r>
          </a:p>
          <a:p>
            <a:pPr marL="457200" indent="-457200"/>
            <a:endParaRPr lang="en-US" sz="2000" dirty="0"/>
          </a:p>
        </p:txBody>
      </p:sp>
      <p:pic>
        <p:nvPicPr>
          <p:cNvPr id="12" name="Google Shape;176;p1">
            <a:extLst>
              <a:ext uri="{FF2B5EF4-FFF2-40B4-BE49-F238E27FC236}">
                <a16:creationId xmlns="" xmlns:a16="http://schemas.microsoft.com/office/drawing/2014/main" id="{4CC913CE-48B9-5F99-8C09-CA56CD1B00BC}"/>
              </a:ext>
            </a:extLst>
          </p:cNvPr>
          <p:cNvPicPr/>
          <p:nvPr/>
        </p:nvPicPr>
        <p:blipFill rotWithShape="1">
          <a:blip r:embed="rId3" cstate="print">
            <a:alphaModFix/>
          </a:blip>
          <a:srcRect/>
          <a:stretch/>
        </p:blipFill>
        <p:spPr>
          <a:xfrm>
            <a:off x="3618170" y="2203263"/>
            <a:ext cx="5274310" cy="315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0E48C9DF-E53D-1786-5E60-A4FBD17B9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55</a:t>
            </a:fld>
            <a:endParaRPr lang="el-GR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0ED31D2F-5948-EA77-8E1D-FC7F3FC48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DFD2FB8A-C828-AE14-BA63-09EB2BD66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5AAA0EE6-E8BD-4322-BEF4-6686AB418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7E0BAE62-8C54-2985-254B-107CD2E7B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7B36B6EE-BFB7-7BD3-5DD0-430441535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B991A0CB-AF4E-2762-9A46-2C74F7407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Τίτλος 1">
            <a:extLst>
              <a:ext uri="{FF2B5EF4-FFF2-40B4-BE49-F238E27FC236}">
                <a16:creationId xmlns="" xmlns:a16="http://schemas.microsoft.com/office/drawing/2014/main" id="{7FE2C6B7-6EF8-C173-CA1C-F453E74F15A8}"/>
              </a:ext>
            </a:extLst>
          </p:cNvPr>
          <p:cNvSpPr txBox="1">
            <a:spLocks/>
          </p:cNvSpPr>
          <p:nvPr/>
        </p:nvSpPr>
        <p:spPr>
          <a:xfrm>
            <a:off x="539552" y="620688"/>
            <a:ext cx="8208912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Automatic syntactic parsing: Results</a:t>
            </a:r>
            <a:endParaRPr lang="el-GR" sz="4400" b="0" dirty="0"/>
          </a:p>
        </p:txBody>
      </p:sp>
      <p:sp>
        <p:nvSpPr>
          <p:cNvPr id="10" name="Θέση περιεχομένου 2">
            <a:extLst>
              <a:ext uri="{FF2B5EF4-FFF2-40B4-BE49-F238E27FC236}">
                <a16:creationId xmlns="" xmlns:a16="http://schemas.microsoft.com/office/drawing/2014/main" id="{BF058900-CC7E-FC90-0DEB-5093AE16049F}"/>
              </a:ext>
            </a:extLst>
          </p:cNvPr>
          <p:cNvSpPr txBox="1">
            <a:spLocks/>
          </p:cNvSpPr>
          <p:nvPr/>
        </p:nvSpPr>
        <p:spPr>
          <a:xfrm>
            <a:off x="539552" y="2359039"/>
            <a:ext cx="3190668" cy="3203808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285750" indent="-285750"/>
            <a:r>
              <a:rPr lang="en-US" sz="2000"/>
              <a:t>Best results: semi-automatic annotation = as time-consuming as manual annotation</a:t>
            </a:r>
          </a:p>
          <a:p>
            <a:pPr marL="256032" lvl="1" indent="0">
              <a:buNone/>
            </a:pPr>
            <a:endParaRPr lang="en-US" sz="1600"/>
          </a:p>
          <a:p>
            <a:pPr marL="256032" lvl="1" indent="0">
              <a:buNone/>
            </a:pPr>
            <a:r>
              <a:rPr lang="en-US" sz="1800"/>
              <a:t>BUT better results in shorter sentences </a:t>
            </a:r>
            <a:r>
              <a:rPr lang="en-US" sz="1800">
                <a:sym typeface="Wingdings" panose="05000000000000000000" pitchFamily="2" charset="2"/>
              </a:rPr>
              <a:t> break up large sentences?</a:t>
            </a:r>
            <a:endParaRPr lang="en-US" sz="18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8FB138B3-1054-8F51-A70E-00978C864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56</a:t>
            </a:fld>
            <a:endParaRPr lang="el-GR"/>
          </a:p>
        </p:txBody>
      </p:sp>
      <p:sp>
        <p:nvSpPr>
          <p:cNvPr id="14" name="Ορθογώνιο: Στρογγύλεμα γωνιών 13">
            <a:extLst>
              <a:ext uri="{FF2B5EF4-FFF2-40B4-BE49-F238E27FC236}">
                <a16:creationId xmlns="" xmlns:a16="http://schemas.microsoft.com/office/drawing/2014/main" id="{EFAE0750-251C-590E-0E1C-55FFA90D1C8F}"/>
              </a:ext>
            </a:extLst>
          </p:cNvPr>
          <p:cNvSpPr/>
          <p:nvPr/>
        </p:nvSpPr>
        <p:spPr>
          <a:xfrm>
            <a:off x="4995071" y="2107646"/>
            <a:ext cx="3318433" cy="355360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/>
            <a:r>
              <a:rPr lang="en-US" sz="2000" b="1" u="sng" dirty="0" err="1">
                <a:solidFill>
                  <a:schemeClr val="tx1"/>
                </a:solidFill>
              </a:rPr>
              <a:t>CoNLL</a:t>
            </a:r>
            <a:r>
              <a:rPr lang="en-US" sz="2000" b="1" u="sng" dirty="0">
                <a:solidFill>
                  <a:schemeClr val="tx1"/>
                </a:solidFill>
              </a:rPr>
              <a:t>-U vs PROEIL</a:t>
            </a:r>
            <a:r>
              <a:rPr lang="en-US" sz="2000" dirty="0">
                <a:solidFill>
                  <a:schemeClr val="tx1"/>
                </a:solidFill>
              </a:rPr>
              <a:t>:</a:t>
            </a:r>
            <a:endParaRPr lang="en-US" sz="16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PROIEL has more fine-grained distinctions compared to UD-</a:t>
            </a:r>
            <a:r>
              <a:rPr lang="en-US" sz="2000" dirty="0" err="1">
                <a:solidFill>
                  <a:schemeClr val="tx1"/>
                </a:solidFill>
              </a:rPr>
              <a:t>ConLL</a:t>
            </a:r>
            <a:r>
              <a:rPr lang="en-US" sz="2000" dirty="0">
                <a:solidFill>
                  <a:schemeClr val="tx1"/>
                </a:solidFill>
              </a:rPr>
              <a:t> structural differences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Θέση περιεχομένου 2">
            <a:extLst>
              <a:ext uri="{FF2B5EF4-FFF2-40B4-BE49-F238E27FC236}">
                <a16:creationId xmlns="" xmlns:a16="http://schemas.microsoft.com/office/drawing/2014/main" id="{9723618D-8F9A-C8BF-4C41-580F306B3BC0}"/>
              </a:ext>
            </a:extLst>
          </p:cNvPr>
          <p:cNvSpPr txBox="1">
            <a:spLocks/>
          </p:cNvSpPr>
          <p:nvPr/>
        </p:nvSpPr>
        <p:spPr>
          <a:xfrm>
            <a:off x="564398" y="2304012"/>
            <a:ext cx="8064896" cy="3491840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indent="-457200">
              <a:buFont typeface="+mj-lt"/>
              <a:buAutoNum type="arabicPeriod"/>
            </a:pPr>
            <a:r>
              <a:rPr lang="en-US" sz="2000" dirty="0"/>
              <a:t>Expand on the least represented languages of the corpus (Old and Middle French, Old English)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Add new languages (Gothic)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Automate syntactic annotation:</a:t>
            </a:r>
          </a:p>
          <a:p>
            <a:pPr marL="713232" lvl="1" indent="-457200"/>
            <a:r>
              <a:rPr lang="en-US" sz="1800" dirty="0"/>
              <a:t>a more accurate conversion pipeline from UD-</a:t>
            </a:r>
            <a:r>
              <a:rPr lang="en-US" sz="1800" dirty="0" err="1"/>
              <a:t>ConLL</a:t>
            </a:r>
            <a:r>
              <a:rPr lang="en-US" sz="1800" dirty="0"/>
              <a:t> to PROIEL</a:t>
            </a:r>
          </a:p>
          <a:p>
            <a:pPr marL="713232" lvl="1" indent="-457200"/>
            <a:r>
              <a:rPr lang="en-US" sz="1800" dirty="0"/>
              <a:t>training existing syntactic parsers </a:t>
            </a:r>
          </a:p>
          <a:p>
            <a:pPr marL="457200" indent="-457200"/>
            <a:endParaRPr lang="en-US" sz="2000" dirty="0"/>
          </a:p>
          <a:p>
            <a:pPr marL="457200" indent="-457200"/>
            <a:endParaRPr lang="en-US" sz="2000" dirty="0"/>
          </a:p>
          <a:p>
            <a:pPr marL="457200" indent="-457200"/>
            <a:endParaRPr lang="en-US" sz="2000" dirty="0"/>
          </a:p>
        </p:txBody>
      </p:sp>
      <p:sp>
        <p:nvSpPr>
          <p:cNvPr id="3" name="Τίτλος 1">
            <a:extLst>
              <a:ext uri="{FF2B5EF4-FFF2-40B4-BE49-F238E27FC236}">
                <a16:creationId xmlns="" xmlns:a16="http://schemas.microsoft.com/office/drawing/2014/main" id="{69BB137A-8354-0C11-B632-FCD682D8904F}"/>
              </a:ext>
            </a:extLst>
          </p:cNvPr>
          <p:cNvSpPr txBox="1">
            <a:spLocks/>
          </p:cNvSpPr>
          <p:nvPr/>
        </p:nvSpPr>
        <p:spPr>
          <a:xfrm>
            <a:off x="805269" y="798666"/>
            <a:ext cx="7583155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4400" b="0" dirty="0"/>
              <a:t>On-going work</a:t>
            </a:r>
            <a:endParaRPr lang="el-GR" b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067BA8EF-2CA1-A0BD-1152-DB0498DA4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57</a:t>
            </a:fld>
            <a:endParaRPr lang="el-G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678EDAB0-215E-86F6-9776-083DF9128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A21A7F8D-972F-AD79-262E-FF48DD9CD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396D1A6B-F7F2-2162-09DC-12CAFF2D6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ECE6DE29-FEE1-21FE-4E42-151CA7513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133939F1-E1DB-8ED5-A839-81CCD1C83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6072FE8B-5048-2524-0857-C8EEDDF88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Τίτλος">
            <a:extLst>
              <a:ext uri="{FF2B5EF4-FFF2-40B4-BE49-F238E27FC236}">
                <a16:creationId xmlns="" xmlns:a16="http://schemas.microsoft.com/office/drawing/2014/main" id="{C8C35C36-EA26-4A01-ED6E-2AEA09E73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407699"/>
            <a:ext cx="7834064" cy="926976"/>
          </a:xfrm>
        </p:spPr>
        <p:txBody>
          <a:bodyPr/>
          <a:lstStyle/>
          <a:p>
            <a:r>
              <a:rPr lang="en-US" dirty="0"/>
              <a:t>References</a:t>
            </a:r>
            <a:endParaRPr lang="el-GR" dirty="0">
              <a:highlight>
                <a:srgbClr val="FF0000"/>
              </a:highlight>
            </a:endParaRPr>
          </a:p>
        </p:txBody>
      </p:sp>
      <p:sp>
        <p:nvSpPr>
          <p:cNvPr id="11" name="10 - TextBox">
            <a:extLst>
              <a:ext uri="{FF2B5EF4-FFF2-40B4-BE49-F238E27FC236}">
                <a16:creationId xmlns="" xmlns:a16="http://schemas.microsoft.com/office/drawing/2014/main" id="{A61F1A2F-8757-9060-3E16-0D9ED74EC80C}"/>
              </a:ext>
            </a:extLst>
          </p:cNvPr>
          <p:cNvSpPr txBox="1"/>
          <p:nvPr/>
        </p:nvSpPr>
        <p:spPr>
          <a:xfrm>
            <a:off x="395536" y="1212915"/>
            <a:ext cx="835292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Liu, G., &amp; Du, Y. (2019). A corpus-based study of </a:t>
            </a:r>
            <a:r>
              <a:rPr lang="en-US" dirty="0" err="1"/>
              <a:t>valency</a:t>
            </a:r>
            <a:r>
              <a:rPr lang="en-US" dirty="0"/>
              <a:t> sentence patterns of English verbs. </a:t>
            </a:r>
            <a:r>
              <a:rPr lang="en-US" i="1" dirty="0"/>
              <a:t>Theory and Practice in Language Studies, 9</a:t>
            </a:r>
            <a:r>
              <a:rPr lang="en-US" dirty="0"/>
              <a:t>(6), 655–665.</a:t>
            </a:r>
            <a:endParaRPr lang="el-GR" dirty="0"/>
          </a:p>
          <a:p>
            <a:endParaRPr lang="el-GR" dirty="0"/>
          </a:p>
          <a:p>
            <a:r>
              <a:rPr lang="en-US" dirty="0" err="1"/>
              <a:t>Eckhoff</a:t>
            </a:r>
            <a:r>
              <a:rPr lang="en-US" dirty="0"/>
              <a:t>, H. M., </a:t>
            </a:r>
            <a:r>
              <a:rPr lang="en-US" dirty="0" err="1"/>
              <a:t>Bech</a:t>
            </a:r>
            <a:r>
              <a:rPr lang="en-US" dirty="0"/>
              <a:t>, K., </a:t>
            </a:r>
            <a:r>
              <a:rPr lang="en-US" dirty="0" err="1"/>
              <a:t>Bouma</a:t>
            </a:r>
            <a:r>
              <a:rPr lang="en-US" dirty="0"/>
              <a:t>, G., </a:t>
            </a:r>
            <a:r>
              <a:rPr lang="en-US" dirty="0" err="1"/>
              <a:t>Eide</a:t>
            </a:r>
            <a:r>
              <a:rPr lang="en-US" dirty="0"/>
              <a:t>, K., </a:t>
            </a:r>
            <a:r>
              <a:rPr lang="en-US" dirty="0" err="1"/>
              <a:t>Haug</a:t>
            </a:r>
            <a:r>
              <a:rPr lang="en-US" dirty="0"/>
              <a:t>, D., Haugen, O. E., &amp; </a:t>
            </a:r>
            <a:r>
              <a:rPr lang="en-US" dirty="0" err="1"/>
              <a:t>Jøhndal</a:t>
            </a:r>
            <a:r>
              <a:rPr lang="en-US" dirty="0"/>
              <a:t>, M. (2018). The PROIEL </a:t>
            </a:r>
            <a:r>
              <a:rPr lang="en-US" dirty="0" err="1"/>
              <a:t>treebank</a:t>
            </a:r>
            <a:r>
              <a:rPr lang="en-US" dirty="0"/>
              <a:t> family: A standard for early attestations of Indo-European languages. </a:t>
            </a:r>
            <a:r>
              <a:rPr lang="en-US" i="1" dirty="0"/>
              <a:t>Language Resources and Evaluation, 52</a:t>
            </a:r>
            <a:r>
              <a:rPr lang="en-US" dirty="0"/>
              <a:t>(1), 29–65.</a:t>
            </a:r>
          </a:p>
          <a:p>
            <a:endParaRPr lang="en-US" dirty="0"/>
          </a:p>
          <a:p>
            <a:r>
              <a:rPr lang="en-US" dirty="0" err="1"/>
              <a:t>Gianollo</a:t>
            </a:r>
            <a:r>
              <a:rPr lang="en-US" dirty="0"/>
              <a:t>, C. (2011). Native syntax and translation effects: Adnominal arguments in the Greek and Latin New Testament. In E. </a:t>
            </a:r>
            <a:r>
              <a:rPr lang="en-US" dirty="0" err="1"/>
              <a:t>Welo</a:t>
            </a:r>
            <a:r>
              <a:rPr lang="en-US" dirty="0"/>
              <a:t> (Ed.), </a:t>
            </a:r>
            <a:r>
              <a:rPr lang="en-US" i="1" dirty="0"/>
              <a:t>Indo‑European Syntax and Pragmatics: Contrastive Approaches</a:t>
            </a:r>
            <a:r>
              <a:rPr lang="en-US" dirty="0"/>
              <a:t> (Vol. 3(3), pp. 75–101). Oslo, Norway: Department of Linguistics and Scandinavian Studies, University of Oslo.</a:t>
            </a:r>
          </a:p>
          <a:p>
            <a:endParaRPr lang="en-US" dirty="0"/>
          </a:p>
          <a:p>
            <a:r>
              <a:rPr lang="en-US" dirty="0" err="1"/>
              <a:t>Haug</a:t>
            </a:r>
            <a:r>
              <a:rPr lang="en-US" dirty="0"/>
              <a:t>, D. T. (2008, July 16). </a:t>
            </a:r>
            <a:r>
              <a:rPr lang="en-US" i="1" dirty="0"/>
              <a:t>Detecting word order freezing in old Indo-European languages</a:t>
            </a:r>
            <a:r>
              <a:rPr lang="en-US" dirty="0"/>
              <a:t> [Conference presentation]. New Reflections on Grammaticalization 4, Leuven, Belgium.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8D54C262-1BB2-9972-F8A7-A5AA54723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58</a:t>
            </a:fld>
            <a:endParaRPr lang="el-G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Τίτλος"/>
          <p:cNvSpPr>
            <a:spLocks noGrp="1"/>
          </p:cNvSpPr>
          <p:nvPr>
            <p:ph type="title"/>
          </p:nvPr>
        </p:nvSpPr>
        <p:spPr>
          <a:xfrm>
            <a:off x="421195" y="285668"/>
            <a:ext cx="8229600" cy="1143000"/>
          </a:xfrm>
        </p:spPr>
        <p:txBody>
          <a:bodyPr/>
          <a:lstStyle/>
          <a:p>
            <a:r>
              <a:rPr lang="en-US" dirty="0"/>
              <a:t>References</a:t>
            </a:r>
            <a:endParaRPr lang="el-GR" dirty="0">
              <a:highlight>
                <a:srgbClr val="FF0000"/>
              </a:highlight>
            </a:endParaRPr>
          </a:p>
        </p:txBody>
      </p:sp>
      <p:sp>
        <p:nvSpPr>
          <p:cNvPr id="11" name="10 - TextBox"/>
          <p:cNvSpPr txBox="1"/>
          <p:nvPr/>
        </p:nvSpPr>
        <p:spPr>
          <a:xfrm>
            <a:off x="323527" y="1339034"/>
            <a:ext cx="842493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Haug, D. T. T. (2010). </a:t>
            </a:r>
            <a:r>
              <a:rPr lang="en-US" sz="2000" i="1" dirty="0"/>
              <a:t>PROIEL guidelines for annotation</a:t>
            </a:r>
            <a:r>
              <a:rPr lang="en-US" sz="2000" dirty="0"/>
              <a:t>. Department of Philosophy, Classics, History of Arts and Ideas, University of Oslo. Retrieved from</a:t>
            </a:r>
            <a:r>
              <a:rPr lang="en-US" sz="2000" dirty="0">
                <a:hlinkClick r:id="rId3"/>
              </a:rPr>
              <a:t> </a:t>
            </a:r>
            <a:r>
              <a:rPr lang="en-US" sz="2000" u="sng" dirty="0">
                <a:hlinkClick r:id="rId4"/>
              </a:rPr>
              <a:t>https://dev.syntacticus.org/proiel-annotators-handbook-v1.pdf</a:t>
            </a:r>
            <a:endParaRPr lang="en-US" sz="2000" u="sng" dirty="0"/>
          </a:p>
          <a:p>
            <a:endParaRPr lang="en-US" sz="2000" dirty="0"/>
          </a:p>
          <a:p>
            <a:r>
              <a:rPr lang="en-US" sz="2000" dirty="0" err="1"/>
              <a:t>Haug</a:t>
            </a:r>
            <a:r>
              <a:rPr lang="en-US" sz="2000" dirty="0"/>
              <a:t>, D. T. T., &amp; </a:t>
            </a:r>
            <a:r>
              <a:rPr lang="en-US" sz="2000" dirty="0" err="1"/>
              <a:t>Jøhndal</a:t>
            </a:r>
            <a:r>
              <a:rPr lang="en-US" sz="2000" dirty="0"/>
              <a:t>, M. L. (2008). Creating a parallel </a:t>
            </a:r>
            <a:r>
              <a:rPr lang="en-US" sz="2000" dirty="0" err="1"/>
              <a:t>treebank</a:t>
            </a:r>
            <a:r>
              <a:rPr lang="en-US" sz="2000" dirty="0"/>
              <a:t> of the old Indo-European Bible translations. In </a:t>
            </a:r>
            <a:r>
              <a:rPr lang="en-US" sz="2000" i="1" dirty="0"/>
              <a:t>Proceedings of the 6th International Conference on Language Resources and Evaluation (LREC’08)</a:t>
            </a:r>
            <a:r>
              <a:rPr lang="en-US" sz="2000" dirty="0"/>
              <a:t>. European Language Resources Association (ELRA).</a:t>
            </a:r>
          </a:p>
          <a:p>
            <a:endParaRPr lang="en-US" sz="2000" dirty="0"/>
          </a:p>
          <a:p>
            <a:r>
              <a:rPr lang="en-US" sz="2000" dirty="0" err="1"/>
              <a:t>Inglese</a:t>
            </a:r>
            <a:r>
              <a:rPr lang="en-US" sz="2000" dirty="0"/>
              <a:t>, G., Molina, M., &amp; </a:t>
            </a:r>
            <a:r>
              <a:rPr lang="en-US" sz="2000" dirty="0" err="1"/>
              <a:t>Eckhoff</a:t>
            </a:r>
            <a:r>
              <a:rPr lang="en-US" sz="2000" dirty="0"/>
              <a:t>, H. M. (2018). Incorporating Hittite into PROIEL: A pilot project. In </a:t>
            </a:r>
            <a:r>
              <a:rPr lang="en-US" sz="2000" i="1" dirty="0"/>
              <a:t>Proceedings of the Second Workshop on Corpus-Based Research in the Humanities (CRH-2)</a:t>
            </a:r>
            <a:r>
              <a:rPr lang="en-US" sz="2000" dirty="0"/>
              <a:t> (Vol. 1, pp. 1–10).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3DA6817F-BBB4-CA27-FFDE-AA846BD6F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59</a:t>
            </a:fld>
            <a:endParaRPr lang="el-G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TextBox"/>
          <p:cNvSpPr txBox="1"/>
          <p:nvPr/>
        </p:nvSpPr>
        <p:spPr>
          <a:xfrm>
            <a:off x="467545" y="836712"/>
            <a:ext cx="817972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Malchukov</a:t>
            </a:r>
            <a:r>
              <a:rPr lang="en-US" sz="2000" dirty="0"/>
              <a:t>, A., &amp; </a:t>
            </a:r>
            <a:r>
              <a:rPr lang="en-US" sz="2000" dirty="0" err="1"/>
              <a:t>Comrie</a:t>
            </a:r>
            <a:r>
              <a:rPr lang="en-US" sz="2000" dirty="0"/>
              <a:t>, B. (Eds.). (2015). </a:t>
            </a:r>
            <a:r>
              <a:rPr lang="en-US" sz="2000" i="1" dirty="0" err="1"/>
              <a:t>Valency</a:t>
            </a:r>
            <a:r>
              <a:rPr lang="en-US" sz="2000" i="1" dirty="0"/>
              <a:t> classes in the world’s languages.</a:t>
            </a:r>
            <a:r>
              <a:rPr lang="en-US" sz="2000" dirty="0"/>
              <a:t> Berlin, Germany; New York, NY: Mouton de </a:t>
            </a:r>
            <a:r>
              <a:rPr lang="en-US" sz="2000" dirty="0" err="1"/>
              <a:t>Gruyter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Klein, J. (2011). Negation and polarity in the Greek, Gothic, Classical Armenian, and Old Church Slavic Gospels: A preliminary study. In E. </a:t>
            </a:r>
            <a:r>
              <a:rPr lang="en-US" sz="2000" dirty="0" err="1"/>
              <a:t>Welo</a:t>
            </a:r>
            <a:r>
              <a:rPr lang="en-US" sz="2000" dirty="0"/>
              <a:t> (Ed.), </a:t>
            </a:r>
            <a:r>
              <a:rPr lang="en-US" sz="2000" i="1" dirty="0"/>
              <a:t>Indo-European syntax and pragmatics: Contrastive approaches</a:t>
            </a:r>
            <a:r>
              <a:rPr lang="en-US" sz="2000" dirty="0"/>
              <a:t> (Vol. 3(3), pp. 131–154). Oslo, Norway: Department of Linguistics and Scandinavian Studies, University of Oslo.</a:t>
            </a:r>
          </a:p>
          <a:p>
            <a:endParaRPr lang="en-US" sz="2000" dirty="0"/>
          </a:p>
          <a:p>
            <a:r>
              <a:rPr lang="en-US" sz="2000" dirty="0" err="1"/>
              <a:t>Lavidas</a:t>
            </a:r>
            <a:r>
              <a:rPr lang="en-US" sz="2000" dirty="0"/>
              <a:t>, N. (2009). Transitivity Alternations in </a:t>
            </a:r>
            <a:r>
              <a:rPr lang="en-US" sz="2000" dirty="0" err="1"/>
              <a:t>Diachrony</a:t>
            </a:r>
            <a:r>
              <a:rPr lang="en-US" sz="2000" dirty="0"/>
              <a:t>. Changes in Argument Structure and Voice Morphology. Newcastle upon Tyne: Cambridge Scholars Publishing.</a:t>
            </a:r>
          </a:p>
          <a:p>
            <a:endParaRPr lang="en-US" sz="2000" dirty="0"/>
          </a:p>
          <a:p>
            <a:r>
              <a:rPr lang="en-US" sz="2000" dirty="0" err="1"/>
              <a:t>Lavidas</a:t>
            </a:r>
            <a:r>
              <a:rPr lang="en-US" sz="2000" dirty="0"/>
              <a:t>, N. (2021). </a:t>
            </a:r>
            <a:r>
              <a:rPr lang="en-US" sz="2000" i="1" dirty="0"/>
              <a:t>The </a:t>
            </a:r>
            <a:r>
              <a:rPr lang="en-US" sz="2000" i="1" dirty="0" err="1"/>
              <a:t>diachrony</a:t>
            </a:r>
            <a:r>
              <a:rPr lang="en-US" sz="2000" i="1" dirty="0"/>
              <a:t> of written language contact: A contrastive approach.</a:t>
            </a:r>
            <a:r>
              <a:rPr lang="en-US" sz="2000" dirty="0"/>
              <a:t> Leiden:Brill.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82898F85-022E-B51B-CD36-564AAE13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60</a:t>
            </a:fld>
            <a:endParaRPr lang="el-GR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1D0ED6AF-F17F-444C-06A0-F24387410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0614AACC-88DA-1B9A-8159-E2A60A770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BA572A9E-9C33-63A6-614A-4F0A29F49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F2C895A4-F219-9739-E1EF-519FC81F8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D5EE3042-AEA6-C67D-CFE5-56B04CCB2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796A3B72-FA6F-0049-F388-43B9369DA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TextBox">
            <a:extLst>
              <a:ext uri="{FF2B5EF4-FFF2-40B4-BE49-F238E27FC236}">
                <a16:creationId xmlns="" xmlns:a16="http://schemas.microsoft.com/office/drawing/2014/main" id="{65A0BA92-5ABC-890A-4E38-E3F21E9C60BA}"/>
              </a:ext>
            </a:extLst>
          </p:cNvPr>
          <p:cNvSpPr txBox="1"/>
          <p:nvPr/>
        </p:nvSpPr>
        <p:spPr>
          <a:xfrm>
            <a:off x="395536" y="836712"/>
            <a:ext cx="835292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Lavidas</a:t>
            </a:r>
            <a:r>
              <a:rPr lang="en-US" sz="2000" dirty="0"/>
              <a:t>, N., &amp; Haug, D. T. (2019). </a:t>
            </a:r>
            <a:r>
              <a:rPr lang="en-US" sz="2000" i="1" dirty="0"/>
              <a:t>Postclassical Greek and </a:t>
            </a:r>
            <a:r>
              <a:rPr lang="en-US" sz="2000" i="1" dirty="0" err="1"/>
              <a:t>treebanks</a:t>
            </a:r>
            <a:r>
              <a:rPr lang="en-US" sz="2000" i="1" dirty="0"/>
              <a:t> for a diachronic analysis</a:t>
            </a:r>
            <a:r>
              <a:rPr lang="en-US" sz="2000" dirty="0"/>
              <a:t>. In D. </a:t>
            </a:r>
            <a:r>
              <a:rPr lang="en-US" sz="2000" dirty="0" err="1"/>
              <a:t>Rafiyenko</a:t>
            </a:r>
            <a:r>
              <a:rPr lang="en-US" sz="2000" dirty="0"/>
              <a:t> &amp; I. A. </a:t>
            </a:r>
            <a:r>
              <a:rPr lang="en-US" sz="2000" dirty="0" err="1"/>
              <a:t>Seržant</a:t>
            </a:r>
            <a:r>
              <a:rPr lang="en-US" sz="2000" dirty="0"/>
              <a:t> (Eds.), </a:t>
            </a:r>
            <a:r>
              <a:rPr lang="en-US" sz="2000" i="1" dirty="0"/>
              <a:t>Postclassical Greek: Contemporary approaches to philology and linguistics</a:t>
            </a:r>
            <a:r>
              <a:rPr lang="en-US" sz="2000" dirty="0"/>
              <a:t> (pp. 163–202). Berlin, Germany: De </a:t>
            </a:r>
            <a:r>
              <a:rPr lang="en-US" sz="2000" dirty="0" err="1"/>
              <a:t>Gruyter</a:t>
            </a:r>
            <a:r>
              <a:rPr lang="en-US" sz="2000" dirty="0"/>
              <a:t> Mouton</a:t>
            </a:r>
          </a:p>
          <a:p>
            <a:endParaRPr lang="en-US" sz="2000" dirty="0"/>
          </a:p>
          <a:p>
            <a:r>
              <a:rPr lang="en-US" sz="2000" dirty="0" err="1"/>
              <a:t>Luraghi</a:t>
            </a:r>
            <a:r>
              <a:rPr lang="en-US" sz="2000" dirty="0"/>
              <a:t>, S., et al. (2024). </a:t>
            </a:r>
            <a:r>
              <a:rPr lang="en-US" sz="2000" i="1" dirty="0"/>
              <a:t>Introducing </a:t>
            </a:r>
            <a:r>
              <a:rPr lang="en-US" sz="2000" i="1" dirty="0" err="1"/>
              <a:t>PaVeDa</a:t>
            </a:r>
            <a:r>
              <a:rPr lang="en-US" sz="2000" i="1" dirty="0"/>
              <a:t> – Pavia Verbs Database: </a:t>
            </a:r>
            <a:r>
              <a:rPr lang="en-US" sz="2000" i="1" dirty="0" err="1"/>
              <a:t>Valency</a:t>
            </a:r>
            <a:r>
              <a:rPr lang="en-US" sz="2000" i="1" dirty="0"/>
              <a:t> patterns and pattern comparison in Ancient Indo-European languages</a:t>
            </a:r>
            <a:r>
              <a:rPr lang="en-US" sz="2000" dirty="0"/>
              <a:t>. In </a:t>
            </a:r>
            <a:r>
              <a:rPr lang="en-US" sz="2000" i="1" dirty="0"/>
              <a:t>Proceedings of the LT4HALA 2024 Workshop</a:t>
            </a:r>
          </a:p>
          <a:p>
            <a:endParaRPr lang="en-US" sz="2000" i="1" dirty="0"/>
          </a:p>
          <a:p>
            <a:r>
              <a:rPr lang="en-US" sz="2000" dirty="0" err="1"/>
              <a:t>Luraghi</a:t>
            </a:r>
            <a:r>
              <a:rPr lang="en-US" sz="2000" dirty="0"/>
              <a:t>, S., &amp; </a:t>
            </a:r>
            <a:r>
              <a:rPr lang="en-US" sz="2000" dirty="0" err="1"/>
              <a:t>Sausa</a:t>
            </a:r>
            <a:r>
              <a:rPr lang="en-US" sz="2000" dirty="0"/>
              <a:t>, E. (2016). New approaches to New Testament Greek linguistics. </a:t>
            </a:r>
            <a:r>
              <a:rPr lang="en-US" sz="2000" i="1" dirty="0" err="1"/>
              <a:t>Studi</a:t>
            </a:r>
            <a:r>
              <a:rPr lang="en-US" sz="2000" i="1" dirty="0"/>
              <a:t> </a:t>
            </a:r>
            <a:r>
              <a:rPr lang="en-US" sz="2000" i="1" dirty="0" err="1"/>
              <a:t>Italiani</a:t>
            </a:r>
            <a:r>
              <a:rPr lang="en-US" sz="2000" i="1" dirty="0"/>
              <a:t> </a:t>
            </a:r>
            <a:r>
              <a:rPr lang="en-US" sz="2000" i="1" dirty="0" err="1"/>
              <a:t>di</a:t>
            </a:r>
            <a:r>
              <a:rPr lang="en-US" sz="2000" i="1" dirty="0"/>
              <a:t> </a:t>
            </a:r>
            <a:r>
              <a:rPr lang="en-US" sz="2000" i="1" dirty="0" err="1"/>
              <a:t>Linguistica</a:t>
            </a:r>
            <a:r>
              <a:rPr lang="en-US" sz="2000" i="1" dirty="0"/>
              <a:t> </a:t>
            </a:r>
            <a:r>
              <a:rPr lang="en-US" sz="2000" i="1" dirty="0" err="1"/>
              <a:t>Teorica</a:t>
            </a:r>
            <a:r>
              <a:rPr lang="en-US" sz="2000" i="1" dirty="0"/>
              <a:t> e </a:t>
            </a:r>
            <a:r>
              <a:rPr lang="en-US" sz="2000" i="1" dirty="0" err="1"/>
              <a:t>Applicata</a:t>
            </a:r>
            <a:r>
              <a:rPr lang="en-US" sz="2000" i="1" dirty="0"/>
              <a:t>, 45</a:t>
            </a:r>
            <a:r>
              <a:rPr lang="en-US" sz="2000" dirty="0"/>
              <a:t>(1), 123–143.</a:t>
            </a:r>
          </a:p>
          <a:p>
            <a:endParaRPr lang="en-US" sz="2000" dirty="0"/>
          </a:p>
          <a:p>
            <a:r>
              <a:rPr lang="en-US" sz="2000" dirty="0"/>
              <a:t>Levin, B. (1993). </a:t>
            </a:r>
            <a:r>
              <a:rPr lang="en-US" sz="2000" i="1" dirty="0"/>
              <a:t>English verb classes and alternations: A preliminary investigation</a:t>
            </a:r>
            <a:r>
              <a:rPr lang="en-US" sz="2000" dirty="0"/>
              <a:t>. Chicago, IL: University of Chicago Press.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0F8EE172-56B9-EE85-1AB4-89D0CD596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61</a:t>
            </a:fld>
            <a:endParaRPr lang="el-G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TextBox"/>
          <p:cNvSpPr txBox="1"/>
          <p:nvPr/>
        </p:nvSpPr>
        <p:spPr>
          <a:xfrm>
            <a:off x="390181" y="980728"/>
            <a:ext cx="825173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Nikiforidou</a:t>
            </a:r>
            <a:r>
              <a:rPr lang="en-US" dirty="0"/>
              <a:t>, K. (1991). The meanings of the genitive: A case study in semantic structure and semantic change. </a:t>
            </a:r>
            <a:r>
              <a:rPr lang="en-US" i="1" dirty="0"/>
              <a:t>Cognitive Linguistics</a:t>
            </a:r>
            <a:r>
              <a:rPr lang="en-US" dirty="0"/>
              <a:t>, </a:t>
            </a:r>
            <a:r>
              <a:rPr lang="en-US" i="1" dirty="0"/>
              <a:t>2</a:t>
            </a:r>
            <a:r>
              <a:rPr lang="en-US" dirty="0"/>
              <a:t>(2), 149-206.</a:t>
            </a:r>
          </a:p>
          <a:p>
            <a:endParaRPr lang="en-US" dirty="0"/>
          </a:p>
          <a:p>
            <a:r>
              <a:rPr lang="en-US" dirty="0" err="1"/>
              <a:t>Sitaridou</a:t>
            </a:r>
            <a:r>
              <a:rPr lang="en-US" dirty="0"/>
              <a:t>, I., </a:t>
            </a:r>
            <a:r>
              <a:rPr lang="en-US" dirty="0" err="1"/>
              <a:t>Pusch</a:t>
            </a:r>
            <a:r>
              <a:rPr lang="en-US" dirty="0"/>
              <a:t>, C. D., </a:t>
            </a:r>
            <a:r>
              <a:rPr lang="en-US" dirty="0" err="1"/>
              <a:t>Kabatek</a:t>
            </a:r>
            <a:r>
              <a:rPr lang="en-US" dirty="0"/>
              <a:t>, J., &amp; </a:t>
            </a:r>
            <a:r>
              <a:rPr lang="en-US" dirty="0" err="1"/>
              <a:t>Raible</a:t>
            </a:r>
            <a:r>
              <a:rPr lang="en-US" dirty="0"/>
              <a:t>, W. (2005). A corpus-based study of null subjects in Old French and Occitan. In </a:t>
            </a:r>
            <a:r>
              <a:rPr lang="en-US" i="1" dirty="0"/>
              <a:t>Corpora and historical linguistics: Investigating language change through corpora and databases</a:t>
            </a:r>
            <a:r>
              <a:rPr lang="en-US" dirty="0"/>
              <a:t> (pp. 360–374).</a:t>
            </a:r>
          </a:p>
          <a:p>
            <a:endParaRPr lang="en-US" dirty="0"/>
          </a:p>
          <a:p>
            <a:r>
              <a:rPr lang="en-US" dirty="0" err="1"/>
              <a:t>Spyropoulos</a:t>
            </a:r>
            <a:r>
              <a:rPr lang="en-US" dirty="0"/>
              <a:t>, V., &amp; </a:t>
            </a:r>
            <a:r>
              <a:rPr lang="en-US" dirty="0" err="1"/>
              <a:t>Stamatogiannis</a:t>
            </a:r>
            <a:r>
              <a:rPr lang="en-US" dirty="0"/>
              <a:t>, N. (2013). </a:t>
            </a:r>
            <a:r>
              <a:rPr lang="en-US" dirty="0" err="1"/>
              <a:t>Sýntomī</a:t>
            </a:r>
            <a:r>
              <a:rPr lang="en-US" dirty="0"/>
              <a:t> </a:t>
            </a:r>
            <a:r>
              <a:rPr lang="en-US" dirty="0" err="1"/>
              <a:t>perigrafī</a:t>
            </a:r>
            <a:r>
              <a:rPr lang="en-US" dirty="0"/>
              <a:t>́ </a:t>
            </a:r>
            <a:r>
              <a:rPr lang="en-US" dirty="0" err="1"/>
              <a:t>tīs</a:t>
            </a:r>
            <a:r>
              <a:rPr lang="en-US" dirty="0"/>
              <a:t> </a:t>
            </a:r>
            <a:r>
              <a:rPr lang="en-US" dirty="0" err="1"/>
              <a:t>rīmatikī́s</a:t>
            </a:r>
            <a:r>
              <a:rPr lang="en-US" dirty="0"/>
              <a:t> </a:t>
            </a:r>
            <a:r>
              <a:rPr lang="en-US" dirty="0" err="1"/>
              <a:t>morfosýntaxīs</a:t>
            </a:r>
            <a:r>
              <a:rPr lang="en-US" dirty="0"/>
              <a:t> </a:t>
            </a:r>
            <a:r>
              <a:rPr lang="en-US" dirty="0" err="1"/>
              <a:t>tīs</a:t>
            </a:r>
            <a:r>
              <a:rPr lang="en-US" dirty="0"/>
              <a:t> </a:t>
            </a:r>
            <a:r>
              <a:rPr lang="en-US" dirty="0" err="1"/>
              <a:t>Ellīnikī́s</a:t>
            </a:r>
            <a:r>
              <a:rPr lang="en-US" dirty="0"/>
              <a:t> [‘A short description of the verbal </a:t>
            </a:r>
            <a:r>
              <a:rPr lang="en-US" dirty="0" err="1"/>
              <a:t>morphosyntax</a:t>
            </a:r>
            <a:r>
              <a:rPr lang="en-US" dirty="0"/>
              <a:t> of the Greek language’]. In </a:t>
            </a:r>
            <a:r>
              <a:rPr lang="en-US" dirty="0" err="1"/>
              <a:t>Revythiadou</a:t>
            </a:r>
            <a:r>
              <a:rPr lang="en-US" dirty="0"/>
              <a:t>, A., &amp; </a:t>
            </a:r>
            <a:r>
              <a:rPr lang="en-US" dirty="0" err="1"/>
              <a:t>Spyropoulos</a:t>
            </a:r>
            <a:r>
              <a:rPr lang="en-US" dirty="0"/>
              <a:t>, V. (Eds.), </a:t>
            </a:r>
            <a:r>
              <a:rPr lang="en-US" i="1" dirty="0" err="1"/>
              <a:t>Antiparavolikī</a:t>
            </a:r>
            <a:r>
              <a:rPr lang="en-US" i="1" dirty="0"/>
              <a:t>́ </a:t>
            </a:r>
            <a:r>
              <a:rPr lang="en-US" i="1" dirty="0" err="1"/>
              <a:t>melétī</a:t>
            </a:r>
            <a:r>
              <a:rPr lang="en-US" i="1" dirty="0"/>
              <a:t> </a:t>
            </a:r>
            <a:r>
              <a:rPr lang="en-US" i="1" dirty="0" err="1"/>
              <a:t>grammatikṓn</a:t>
            </a:r>
            <a:r>
              <a:rPr lang="en-US" i="1" dirty="0"/>
              <a:t> </a:t>
            </a:r>
            <a:r>
              <a:rPr lang="en-US" i="1" dirty="0" err="1"/>
              <a:t>domṓn</a:t>
            </a:r>
            <a:r>
              <a:rPr lang="en-US" i="1" dirty="0"/>
              <a:t> </a:t>
            </a:r>
            <a:r>
              <a:rPr lang="en-US" i="1" dirty="0" err="1"/>
              <a:t>Alvanikī́s</a:t>
            </a:r>
            <a:r>
              <a:rPr lang="en-US" i="1" dirty="0"/>
              <a:t> </a:t>
            </a:r>
            <a:r>
              <a:rPr lang="en-US" i="1" dirty="0" err="1"/>
              <a:t>kai</a:t>
            </a:r>
            <a:r>
              <a:rPr lang="en-US" i="1" dirty="0"/>
              <a:t> </a:t>
            </a:r>
            <a:r>
              <a:rPr lang="en-US" i="1" dirty="0" err="1"/>
              <a:t>Ellīnikī́s</a:t>
            </a:r>
            <a:r>
              <a:rPr lang="en-US" dirty="0"/>
              <a:t> [‘Comparative study of the grammatical structures of Albanian and Greek’]. Thessaloniki: Special Account for Research Funds (ELKE), Auth.</a:t>
            </a:r>
            <a:r>
              <a:rPr lang="en-US" dirty="0">
                <a:hlinkClick r:id="rId3"/>
              </a:rPr>
              <a:t> </a:t>
            </a:r>
            <a:r>
              <a:rPr lang="en-US" u="sng" dirty="0">
                <a:hlinkClick r:id="rId3"/>
              </a:rPr>
              <a:t>http://www.diapolis.auth.gr/diapolis_files/drasi5/Drasi5_website/Drasi5_Ypodrasi_5_2/Ebook_Alb_Gr.pdf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C294A572-8EBE-2214-90F0-95CBAB9FD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62</a:t>
            </a:fld>
            <a:endParaRPr lang="el-G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66B20043-FF1A-928E-5FCE-C1B6B62E8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93676E98-C9B0-2361-BBEA-4619B60E4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B211026E-FE0E-6774-D349-FACC4A310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="" xmlns:a16="http://schemas.microsoft.com/office/drawing/2014/main" id="{23497F7F-7B39-5566-FEA2-B23FC9CC3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75E4D7EB-E0C7-14C0-46BF-6824B5500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BC1CD517-038C-58B9-7E26-493BB3ED7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TextBox">
            <a:extLst>
              <a:ext uri="{FF2B5EF4-FFF2-40B4-BE49-F238E27FC236}">
                <a16:creationId xmlns="" xmlns:a16="http://schemas.microsoft.com/office/drawing/2014/main" id="{43CD7ED8-940B-401D-A766-52B41B220ABE}"/>
              </a:ext>
            </a:extLst>
          </p:cNvPr>
          <p:cNvSpPr txBox="1"/>
          <p:nvPr/>
        </p:nvSpPr>
        <p:spPr>
          <a:xfrm>
            <a:off x="539551" y="692696"/>
            <a:ext cx="810772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r>
              <a:rPr lang="fr-FR" sz="2000" dirty="0" err="1"/>
              <a:t>Tesnière</a:t>
            </a:r>
            <a:r>
              <a:rPr lang="fr-FR" sz="2000" dirty="0"/>
              <a:t>, L. (1959). </a:t>
            </a:r>
            <a:r>
              <a:rPr lang="fr-FR" sz="2000" i="1" dirty="0"/>
              <a:t>Eléments de Syntaxe Structurale</a:t>
            </a:r>
            <a:r>
              <a:rPr lang="fr-FR" sz="2000" dirty="0"/>
              <a:t>. Paris: </a:t>
            </a:r>
            <a:r>
              <a:rPr lang="fr-FR" sz="2000" dirty="0" err="1"/>
              <a:t>Klincksieck</a:t>
            </a:r>
            <a:endParaRPr lang="fr-FR" sz="2000" dirty="0"/>
          </a:p>
          <a:p>
            <a:endParaRPr lang="fr-FR" sz="2000" dirty="0"/>
          </a:p>
          <a:p>
            <a:r>
              <a:rPr lang="en-US" sz="2000" dirty="0" err="1"/>
              <a:t>Tsangalidis</a:t>
            </a:r>
            <a:r>
              <a:rPr lang="en-US" sz="2000" dirty="0"/>
              <a:t>, A. (2013). To </a:t>
            </a:r>
            <a:r>
              <a:rPr lang="en-US" sz="2000" dirty="0" err="1"/>
              <a:t>rīmatikó</a:t>
            </a:r>
            <a:r>
              <a:rPr lang="en-US" sz="2000" dirty="0"/>
              <a:t> </a:t>
            </a:r>
            <a:r>
              <a:rPr lang="en-US" sz="2000" dirty="0" err="1"/>
              <a:t>sýstīma</a:t>
            </a:r>
            <a:r>
              <a:rPr lang="en-US" sz="2000" dirty="0"/>
              <a:t> </a:t>
            </a:r>
            <a:r>
              <a:rPr lang="en-US" sz="2000" dirty="0" err="1"/>
              <a:t>tīs</a:t>
            </a:r>
            <a:r>
              <a:rPr lang="en-US" sz="2000" dirty="0"/>
              <a:t> </a:t>
            </a:r>
            <a:r>
              <a:rPr lang="en-US" sz="2000" dirty="0" err="1"/>
              <a:t>Néas</a:t>
            </a:r>
            <a:r>
              <a:rPr lang="en-US" sz="2000" dirty="0"/>
              <a:t> </a:t>
            </a:r>
            <a:r>
              <a:rPr lang="en-US" sz="2000" dirty="0" err="1"/>
              <a:t>Ellīnikī́s</a:t>
            </a:r>
            <a:r>
              <a:rPr lang="en-US" sz="2000" dirty="0"/>
              <a:t>: </a:t>
            </a:r>
            <a:r>
              <a:rPr lang="en-US" sz="2000" dirty="0" err="1"/>
              <a:t>Zītī́mata</a:t>
            </a:r>
            <a:r>
              <a:rPr lang="en-US" sz="2000" dirty="0"/>
              <a:t> </a:t>
            </a:r>
            <a:r>
              <a:rPr lang="en-US" sz="2000" dirty="0" err="1"/>
              <a:t>orologías</a:t>
            </a:r>
            <a:r>
              <a:rPr lang="en-US" sz="2000" dirty="0"/>
              <a:t> </a:t>
            </a:r>
            <a:r>
              <a:rPr lang="en-US" sz="2000" dirty="0" err="1"/>
              <a:t>kai</a:t>
            </a:r>
            <a:r>
              <a:rPr lang="en-US" sz="2000" dirty="0"/>
              <a:t> </a:t>
            </a:r>
            <a:r>
              <a:rPr lang="en-US" sz="2000" dirty="0" err="1"/>
              <a:t>perigrafī́s</a:t>
            </a:r>
            <a:r>
              <a:rPr lang="en-US" sz="2000" dirty="0"/>
              <a:t> </a:t>
            </a:r>
            <a:r>
              <a:rPr lang="en-US" sz="2000" dirty="0" err="1"/>
              <a:t>tīs</a:t>
            </a:r>
            <a:r>
              <a:rPr lang="en-US" sz="2000" dirty="0"/>
              <a:t> </a:t>
            </a:r>
            <a:r>
              <a:rPr lang="en-US" sz="2000" dirty="0" err="1"/>
              <a:t>néas</a:t>
            </a:r>
            <a:r>
              <a:rPr lang="en-US" sz="2000" dirty="0"/>
              <a:t> </a:t>
            </a:r>
            <a:r>
              <a:rPr lang="en-US" sz="2000" dirty="0" err="1"/>
              <a:t>ellīnikī́s</a:t>
            </a:r>
            <a:r>
              <a:rPr lang="en-US" sz="2000" dirty="0"/>
              <a:t> [‘The verbal system of Modern Greek: Issues of terminology and description of Modern Greek’]. </a:t>
            </a:r>
            <a:r>
              <a:rPr lang="en-US" sz="2000" i="1" dirty="0" err="1"/>
              <a:t>Diadromés</a:t>
            </a:r>
            <a:r>
              <a:rPr lang="en-US" sz="2000" i="1" dirty="0"/>
              <a:t> </a:t>
            </a:r>
            <a:r>
              <a:rPr lang="en-US" sz="2000" i="1" dirty="0" err="1"/>
              <a:t>stī</a:t>
            </a:r>
            <a:r>
              <a:rPr lang="en-US" sz="2000" i="1" dirty="0"/>
              <a:t> </a:t>
            </a:r>
            <a:r>
              <a:rPr lang="en-US" sz="2000" i="1" dirty="0" err="1"/>
              <a:t>didaskalía</a:t>
            </a:r>
            <a:r>
              <a:rPr lang="en-US" sz="2000" i="1" dirty="0"/>
              <a:t> </a:t>
            </a:r>
            <a:r>
              <a:rPr lang="en-US" sz="2000" i="1" dirty="0" err="1"/>
              <a:t>tīs</a:t>
            </a:r>
            <a:r>
              <a:rPr lang="en-US" sz="2000" i="1" dirty="0"/>
              <a:t> </a:t>
            </a:r>
            <a:r>
              <a:rPr lang="en-US" sz="2000" i="1" dirty="0" err="1"/>
              <a:t>néas</a:t>
            </a:r>
            <a:r>
              <a:rPr lang="en-US" sz="2000" i="1" dirty="0"/>
              <a:t> </a:t>
            </a:r>
            <a:r>
              <a:rPr lang="en-US" sz="2000" i="1" dirty="0" err="1"/>
              <a:t>ellīnikī́s</a:t>
            </a:r>
            <a:r>
              <a:rPr lang="en-US" sz="2000" i="1" dirty="0"/>
              <a:t> se </a:t>
            </a:r>
            <a:r>
              <a:rPr lang="en-US" sz="2000" i="1" dirty="0" err="1"/>
              <a:t>allóglōssous</a:t>
            </a:r>
            <a:r>
              <a:rPr lang="en-US" sz="2000" i="1" dirty="0"/>
              <a:t> </a:t>
            </a:r>
            <a:r>
              <a:rPr lang="en-US" sz="2000" i="1" dirty="0" err="1"/>
              <a:t>stīn</a:t>
            </a:r>
            <a:r>
              <a:rPr lang="en-US" sz="2000" i="1" dirty="0"/>
              <a:t> </a:t>
            </a:r>
            <a:r>
              <a:rPr lang="en-US" sz="2000" i="1" dirty="0" err="1"/>
              <a:t>Elláda</a:t>
            </a:r>
            <a:r>
              <a:rPr lang="en-US" sz="2000" i="1" dirty="0"/>
              <a:t> </a:t>
            </a:r>
            <a:r>
              <a:rPr lang="en-US" sz="2000" dirty="0"/>
              <a:t>[‘Trajectories for the teaching of Modern Greek to non-</a:t>
            </a:r>
            <a:r>
              <a:rPr lang="en-US" sz="2000" dirty="0" err="1"/>
              <a:t>Greeek</a:t>
            </a:r>
            <a:r>
              <a:rPr lang="en-US" sz="2000" dirty="0"/>
              <a:t> speakers in </a:t>
            </a:r>
            <a:r>
              <a:rPr lang="en-US" sz="2000" dirty="0" err="1"/>
              <a:t>Greeece</a:t>
            </a:r>
            <a:r>
              <a:rPr lang="en-US" sz="2000" dirty="0"/>
              <a:t>’]. Thessaloniki: Centre for the Greek Language.</a:t>
            </a:r>
            <a:r>
              <a:rPr lang="en-US" sz="2000" dirty="0">
                <a:hlinkClick r:id="rId3"/>
              </a:rPr>
              <a:t> </a:t>
            </a:r>
            <a:r>
              <a:rPr lang="en-US" sz="2000" u="sng" dirty="0">
                <a:hlinkClick r:id="rId3"/>
              </a:rPr>
              <a:t>http://elearning.greek language.gr/pluginfile.php/1134/</a:t>
            </a:r>
            <a:r>
              <a:rPr lang="en-US" sz="2000" u="sng" dirty="0" err="1">
                <a:hlinkClick r:id="rId3"/>
              </a:rPr>
              <a:t>mod_resource</a:t>
            </a:r>
            <a:r>
              <a:rPr lang="en-US" sz="2000" u="sng" dirty="0">
                <a:hlinkClick r:id="rId3"/>
              </a:rPr>
              <a:t>/content/5/rimaorologia.pdf</a:t>
            </a:r>
            <a:endParaRPr lang="fr-FR" sz="2000" dirty="0"/>
          </a:p>
          <a:p>
            <a:endParaRPr lang="en-US" sz="2000" dirty="0"/>
          </a:p>
          <a:p>
            <a:r>
              <a:rPr lang="en-US" sz="2000" dirty="0" err="1"/>
              <a:t>Zanchi</a:t>
            </a:r>
            <a:r>
              <a:rPr lang="en-US" sz="2000" dirty="0"/>
              <a:t>, C. (2021). The Homeric Dependency Lexicon: What it is and how to use it. </a:t>
            </a:r>
            <a:r>
              <a:rPr lang="en-US" sz="2000" i="1" dirty="0"/>
              <a:t>Journal of Greek Linguistics, 21</a:t>
            </a:r>
            <a:r>
              <a:rPr lang="en-US" sz="2000" dirty="0"/>
              <a:t>(2), 263–297. </a:t>
            </a:r>
            <a:br>
              <a:rPr lang="en-US" sz="2000" dirty="0"/>
            </a:br>
            <a:endParaRPr lang="el-GR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14B9E38D-7308-D47A-F46F-C65E463F7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63</a:t>
            </a:fld>
            <a:endParaRPr lang="el-GR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Τίτλος 1">
            <a:extLst>
              <a:ext uri="{FF2B5EF4-FFF2-40B4-BE49-F238E27FC236}">
                <a16:creationId xmlns="" xmlns:a16="http://schemas.microsoft.com/office/drawing/2014/main" id="{95AB4395-AFEE-66DD-8637-9801CDA5105A}"/>
              </a:ext>
            </a:extLst>
          </p:cNvPr>
          <p:cNvSpPr txBox="1">
            <a:spLocks/>
          </p:cNvSpPr>
          <p:nvPr/>
        </p:nvSpPr>
        <p:spPr>
          <a:xfrm>
            <a:off x="-2628800" y="1196752"/>
            <a:ext cx="3528392" cy="972656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endParaRPr lang="el-GR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="" xmlns:a16="http://schemas.microsoft.com/office/drawing/2014/main" id="{1B9D0EF9-0F24-9B25-ED53-7D8B77098667}"/>
              </a:ext>
            </a:extLst>
          </p:cNvPr>
          <p:cNvSpPr txBox="1">
            <a:spLocks/>
          </p:cNvSpPr>
          <p:nvPr/>
        </p:nvSpPr>
        <p:spPr>
          <a:xfrm>
            <a:off x="251520" y="2675727"/>
            <a:ext cx="8892480" cy="1512168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 algn="ctr">
              <a:buNone/>
            </a:pPr>
            <a:r>
              <a:rPr lang="en-US" sz="1800" b="1" dirty="0">
                <a:latin typeface="Arial" pitchFamily="34" charset="0"/>
                <a:cs typeface="Arial" pitchFamily="34" charset="0"/>
              </a:rPr>
              <a:t>Contact us at:</a:t>
            </a:r>
          </a:p>
          <a:p>
            <a:pPr marL="0" indent="0" algn="ctr">
              <a:buNone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Professor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Nikolaos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Lavidas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1800" spc="-9" dirty="0">
                <a:latin typeface="Arial" pitchFamily="34" charset="0"/>
                <a:cs typeface="Arial" pitchFamily="34" charset="0"/>
                <a:hlinkClick r:id="rId3"/>
              </a:rPr>
              <a:t>nlavidas@enl.uoa.gr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marL="0" indent="0" algn="ctr">
              <a:buNone/>
            </a:pPr>
            <a:r>
              <a:rPr lang="en-US" sz="1800" dirty="0" err="1">
                <a:latin typeface="Arial" pitchFamily="34" charset="0"/>
                <a:cs typeface="Arial" pitchFamily="34" charset="0"/>
              </a:rPr>
              <a:t>Eleni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Plakoutsi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1800" dirty="0">
                <a:latin typeface="Arial" pitchFamily="34" charset="0"/>
                <a:cs typeface="Arial" pitchFamily="34" charset="0"/>
                <a:hlinkClick r:id="rId4"/>
              </a:rPr>
              <a:t>eleni2plak@gmail.com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0" indent="0" algn="ctr">
              <a:buNone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Anastasia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Tsiropina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1800" dirty="0">
                <a:latin typeface="Arial" pitchFamily="34" charset="0"/>
                <a:cs typeface="Arial" pitchFamily="34" charset="0"/>
                <a:hlinkClick r:id="rId5"/>
              </a:rPr>
              <a:t>natasatsirop@gmail.com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0" indent="0" algn="ctr">
              <a:buNone/>
            </a:pP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marL="457200" indent="-457200" algn="ctr"/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marL="457200" indent="-457200" algn="ctr"/>
            <a:endParaRPr lang="en-US" sz="2000" dirty="0"/>
          </a:p>
          <a:p>
            <a:pPr marL="457200" indent="-457200" algn="ctr"/>
            <a:endParaRPr lang="en-US" sz="2000" dirty="0"/>
          </a:p>
        </p:txBody>
      </p:sp>
      <p:sp>
        <p:nvSpPr>
          <p:cNvPr id="11" name="AutoShape 2">
            <a:extLst>
              <a:ext uri="{FF2B5EF4-FFF2-40B4-BE49-F238E27FC236}">
                <a16:creationId xmlns="" xmlns:a16="http://schemas.microsoft.com/office/drawing/2014/main" id="{9EAD7E6B-25D9-D975-A895-1605808E56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sp>
        <p:nvSpPr>
          <p:cNvPr id="14" name="13 - Τίτλος"/>
          <p:cNvSpPr>
            <a:spLocks noGrp="1"/>
          </p:cNvSpPr>
          <p:nvPr>
            <p:ph type="title" idx="4294967295"/>
          </p:nvPr>
        </p:nvSpPr>
        <p:spPr>
          <a:xfrm>
            <a:off x="899592" y="836712"/>
            <a:ext cx="7337871" cy="153732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Thank you!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Discussion &amp; Questions</a:t>
            </a:r>
            <a:r>
              <a:rPr lang="el-GR" sz="2200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l-GR" sz="2200" dirty="0">
                <a:solidFill>
                  <a:schemeClr val="accent1">
                    <a:lumMod val="75000"/>
                  </a:schemeClr>
                </a:solidFill>
              </a:rPr>
            </a:br>
            <a:endParaRPr lang="el-GR" sz="2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object 6"/>
          <p:cNvSpPr txBox="1"/>
          <p:nvPr/>
        </p:nvSpPr>
        <p:spPr>
          <a:xfrm>
            <a:off x="2483768" y="4619943"/>
            <a:ext cx="4903939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59"/>
              </a:lnSpc>
              <a:spcBef>
                <a:spcPts val="0"/>
              </a:spcBef>
              <a:spcAft>
                <a:spcPts val="0"/>
              </a:spcAft>
            </a:pPr>
            <a:r>
              <a:rPr b="1" spc="12" dirty="0">
                <a:solidFill>
                  <a:srgbClr val="333333"/>
                </a:solidFill>
                <a:latin typeface="Arial"/>
                <a:cs typeface="Arial"/>
              </a:rPr>
              <a:t>Project:</a:t>
            </a:r>
            <a:r>
              <a:rPr b="1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pc="-12" dirty="0">
                <a:solidFill>
                  <a:srgbClr val="333333"/>
                </a:solidFill>
                <a:latin typeface="Arial"/>
                <a:cs typeface="Arial"/>
              </a:rPr>
              <a:t>H.F.R.I.</a:t>
            </a:r>
            <a:r>
              <a:rPr spc="26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pc="12" dirty="0">
                <a:solidFill>
                  <a:srgbClr val="333333"/>
                </a:solidFill>
                <a:latin typeface="Arial"/>
                <a:cs typeface="Arial"/>
              </a:rPr>
              <a:t>Project</a:t>
            </a:r>
            <a:r>
              <a:rPr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pc="16" dirty="0">
                <a:solidFill>
                  <a:srgbClr val="333333"/>
                </a:solidFill>
                <a:latin typeface="Arial"/>
                <a:cs typeface="Arial"/>
              </a:rPr>
              <a:t>Number</a:t>
            </a:r>
            <a:r>
              <a:rPr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pc="14" dirty="0">
                <a:solidFill>
                  <a:srgbClr val="333333"/>
                </a:solidFill>
                <a:latin typeface="Arial"/>
                <a:cs typeface="Arial"/>
              </a:rPr>
              <a:t>15284</a:t>
            </a:r>
          </a:p>
        </p:txBody>
      </p:sp>
      <p:sp>
        <p:nvSpPr>
          <p:cNvPr id="17" name="16 - TextBox"/>
          <p:cNvSpPr txBox="1"/>
          <p:nvPr/>
        </p:nvSpPr>
        <p:spPr>
          <a:xfrm>
            <a:off x="1403648" y="5196007"/>
            <a:ext cx="676875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libri" pitchFamily="34" charset="0"/>
                <a:cs typeface="Calibri" pitchFamily="34" charset="0"/>
              </a:rPr>
              <a:t>The 25</a:t>
            </a:r>
            <a:r>
              <a:rPr lang="en-US" sz="1600" b="1" baseline="30000" dirty="0">
                <a:latin typeface="Calibri" pitchFamily="34" charset="0"/>
                <a:cs typeface="Calibri" pitchFamily="34" charset="0"/>
              </a:rPr>
              <a:t>th</a:t>
            </a:r>
            <a:r>
              <a:rPr lang="en-US" sz="1600" b="1" dirty="0">
                <a:latin typeface="Calibri" pitchFamily="34" charset="0"/>
                <a:cs typeface="Calibri" pitchFamily="34" charset="0"/>
              </a:rPr>
              <a:t> International Conference of the Department of Linguistics (CIDL25)</a:t>
            </a:r>
          </a:p>
          <a:p>
            <a:pPr algn="ctr"/>
            <a:r>
              <a:rPr lang="en-US" sz="1600" b="1" dirty="0">
                <a:latin typeface="Calibri" pitchFamily="34" charset="0"/>
                <a:cs typeface="Calibri" pitchFamily="34" charset="0"/>
              </a:rPr>
              <a:t> Linguistic Intersections: from Natural Language to Artificial Intelligence. </a:t>
            </a:r>
          </a:p>
          <a:p>
            <a:pPr algn="ctr"/>
            <a:r>
              <a:rPr lang="en-US" sz="1600" b="1" dirty="0">
                <a:latin typeface="Calibri" pitchFamily="34" charset="0"/>
                <a:cs typeface="Calibri" pitchFamily="34" charset="0"/>
              </a:rPr>
              <a:t>21-22 November 2025</a:t>
            </a:r>
          </a:p>
          <a:p>
            <a:pPr algn="ctr"/>
            <a:r>
              <a:rPr lang="en-US" sz="1600" b="1" dirty="0">
                <a:latin typeface="Calibri" pitchFamily="34" charset="0"/>
                <a:cs typeface="Calibri" pitchFamily="34" charset="0"/>
              </a:rPr>
              <a:t>Bucharest, Romania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 </a:t>
            </a:r>
          </a:p>
          <a:p>
            <a:pPr algn="ctr"/>
            <a:endParaRPr lang="en-US" dirty="0">
              <a:latin typeface="Calibri" pitchFamily="34" charset="0"/>
              <a:cs typeface="Calibri" pitchFamily="34" charset="0"/>
            </a:endParaRPr>
          </a:p>
          <a:p>
            <a:endParaRPr lang="el-G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3730B8EF-6347-B12E-294F-19CE8FEB4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64</a:t>
            </a:fld>
            <a:endParaRPr lang="el-GR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Digitization</a:t>
            </a:r>
            <a:endParaRPr lang="el-GR" dirty="0"/>
          </a:p>
        </p:txBody>
      </p:sp>
      <p:sp>
        <p:nvSpPr>
          <p:cNvPr id="12" name="11 - Στρογγυλεμένο ορθογώνιο"/>
          <p:cNvSpPr/>
          <p:nvPr/>
        </p:nvSpPr>
        <p:spPr>
          <a:xfrm>
            <a:off x="3923928" y="2492896"/>
            <a:ext cx="5220072" cy="345638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u="sng" dirty="0">
                <a:solidFill>
                  <a:schemeClr val="tx1"/>
                </a:solidFill>
              </a:rPr>
              <a:t>Benefit</a:t>
            </a:r>
            <a:r>
              <a:rPr lang="en-US" sz="2000" dirty="0">
                <a:solidFill>
                  <a:schemeClr val="tx1"/>
                </a:solidFill>
              </a:rPr>
              <a:t>:</a:t>
            </a:r>
          </a:p>
          <a:p>
            <a:pPr algn="ctr">
              <a:buNone/>
            </a:pPr>
            <a:r>
              <a:rPr lang="en-US" sz="2000" dirty="0">
                <a:solidFill>
                  <a:schemeClr val="tx1"/>
                </a:solidFill>
              </a:rPr>
              <a:t>Ready-made </a:t>
            </a:r>
            <a:r>
              <a:rPr lang="en-US" sz="2000" b="1" dirty="0">
                <a:solidFill>
                  <a:schemeClr val="tx1"/>
                </a:solidFill>
              </a:rPr>
              <a:t>dictionaries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pPr algn="ctr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algn="ctr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algn="ctr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algn="ctr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algn="ctr"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lemmatization of the texts </a:t>
            </a: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>
              <a:buFont typeface="Arial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creation of an annotation basis </a:t>
            </a:r>
            <a:r>
              <a:rPr lang="en-US" sz="2000" dirty="0">
                <a:solidFill>
                  <a:schemeClr val="tx1"/>
                </a:solidFill>
              </a:rPr>
              <a:t>for the corpus.</a:t>
            </a:r>
          </a:p>
        </p:txBody>
      </p:sp>
      <p:sp>
        <p:nvSpPr>
          <p:cNvPr id="13" name="12 - Βέλος προς τα κάτω"/>
          <p:cNvSpPr/>
          <p:nvPr/>
        </p:nvSpPr>
        <p:spPr>
          <a:xfrm>
            <a:off x="6300192" y="3429000"/>
            <a:ext cx="288032" cy="1008112"/>
          </a:xfrm>
          <a:prstGeom prst="down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5" name="14 - Κατακόρυφος πάπυρος"/>
          <p:cNvSpPr/>
          <p:nvPr/>
        </p:nvSpPr>
        <p:spPr>
          <a:xfrm>
            <a:off x="467544" y="1268760"/>
            <a:ext cx="3456384" cy="3816424"/>
          </a:xfrm>
          <a:prstGeom prst="verticalScroll">
            <a:avLst/>
          </a:prstGeom>
          <a:solidFill>
            <a:srgbClr val="E0C9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lphaUcParenR"/>
            </a:pPr>
            <a:r>
              <a:rPr lang="en-US" dirty="0">
                <a:solidFill>
                  <a:schemeClr val="tx1"/>
                </a:solidFill>
              </a:rPr>
              <a:t>Texts from other open-source </a:t>
            </a:r>
            <a:r>
              <a:rPr lang="en-US" b="1" dirty="0">
                <a:solidFill>
                  <a:schemeClr val="tx1"/>
                </a:solidFill>
              </a:rPr>
              <a:t>treebanks</a:t>
            </a:r>
            <a:r>
              <a:rPr lang="en-US" dirty="0">
                <a:solidFill>
                  <a:schemeClr val="tx1"/>
                </a:solidFill>
              </a:rPr>
              <a:t> -</a:t>
            </a:r>
            <a:r>
              <a:rPr lang="en-US" i="1" dirty="0">
                <a:solidFill>
                  <a:schemeClr val="tx1"/>
                </a:solidFill>
              </a:rPr>
              <a:t>PROIEL, Perseus database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342900" indent="-342900" algn="ctr"/>
            <a:r>
              <a:rPr lang="en-US" sz="1400" dirty="0">
                <a:solidFill>
                  <a:schemeClr val="tx1"/>
                </a:solidFill>
              </a:rPr>
              <a:t>(in .xml format)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7034E290-41EC-7EEC-D094-203E7F71E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65</a:t>
            </a:fld>
            <a:endParaRPr lang="el-GR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Digitization</a:t>
            </a:r>
            <a:endParaRPr lang="el-GR" dirty="0"/>
          </a:p>
        </p:txBody>
      </p:sp>
      <p:sp>
        <p:nvSpPr>
          <p:cNvPr id="12" name="11 - Στρογγυλεμένο ορθογώνιο"/>
          <p:cNvSpPr/>
          <p:nvPr/>
        </p:nvSpPr>
        <p:spPr>
          <a:xfrm>
            <a:off x="4572000" y="2996952"/>
            <a:ext cx="4104456" cy="14401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u="sng" dirty="0">
                <a:solidFill>
                  <a:schemeClr val="tx1"/>
                </a:solidFill>
              </a:rPr>
              <a:t>Limitation</a:t>
            </a:r>
            <a:r>
              <a:rPr lang="en-US" b="1" u="sng" dirty="0">
                <a:solidFill>
                  <a:schemeClr val="tx1"/>
                </a:solidFill>
              </a:rPr>
              <a:t>: </a:t>
            </a:r>
          </a:p>
          <a:p>
            <a:r>
              <a:rPr lang="en-US" dirty="0">
                <a:solidFill>
                  <a:schemeClr val="tx1"/>
                </a:solidFill>
              </a:rPr>
              <a:t>unwanted characters -&gt; difficult to process.</a:t>
            </a:r>
            <a:endParaRPr lang="en-US" dirty="0"/>
          </a:p>
          <a:p>
            <a:endParaRPr lang="en-US" dirty="0"/>
          </a:p>
        </p:txBody>
      </p:sp>
      <p:sp>
        <p:nvSpPr>
          <p:cNvPr id="13" name="12 - Στρογγυλεμένο ορθογώνιο"/>
          <p:cNvSpPr/>
          <p:nvPr/>
        </p:nvSpPr>
        <p:spPr>
          <a:xfrm>
            <a:off x="4499992" y="4653136"/>
            <a:ext cx="4248472" cy="136815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u="sng" dirty="0">
                <a:solidFill>
                  <a:schemeClr val="tx1"/>
                </a:solidFill>
              </a:rPr>
              <a:t>Solution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r>
              <a:rPr lang="en-US" dirty="0">
                <a:solidFill>
                  <a:schemeClr val="tx1"/>
                </a:solidFill>
              </a:rPr>
              <a:t>Manual review, before importing them into the database.</a:t>
            </a:r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14" name="13 - Κατακόρυφος πάπυρος"/>
          <p:cNvSpPr/>
          <p:nvPr/>
        </p:nvSpPr>
        <p:spPr>
          <a:xfrm>
            <a:off x="539552" y="1484784"/>
            <a:ext cx="3456384" cy="3816424"/>
          </a:xfrm>
          <a:prstGeom prst="verticalScroll">
            <a:avLst/>
          </a:prstGeom>
          <a:solidFill>
            <a:srgbClr val="E0C9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buNone/>
            </a:pPr>
            <a:r>
              <a:rPr lang="en-US" dirty="0">
                <a:solidFill>
                  <a:schemeClr val="tx1"/>
                </a:solidFill>
              </a:rPr>
              <a:t>B) Texts from </a:t>
            </a:r>
            <a:r>
              <a:rPr lang="en-US" b="1" dirty="0">
                <a:solidFill>
                  <a:schemeClr val="tx1"/>
                </a:solidFill>
              </a:rPr>
              <a:t>online text collections</a:t>
            </a:r>
            <a:r>
              <a:rPr lang="en-US" dirty="0">
                <a:solidFill>
                  <a:schemeClr val="tx1"/>
                </a:solidFill>
              </a:rPr>
              <a:t>, such as </a:t>
            </a:r>
            <a:r>
              <a:rPr lang="en-US" i="1" dirty="0">
                <a:solidFill>
                  <a:schemeClr val="tx1"/>
                </a:solidFill>
              </a:rPr>
              <a:t>Project Gutenberg </a:t>
            </a:r>
            <a:r>
              <a:rPr lang="en-US" dirty="0">
                <a:solidFill>
                  <a:schemeClr val="tx1"/>
                </a:solidFill>
              </a:rPr>
              <a:t>or </a:t>
            </a:r>
            <a:r>
              <a:rPr lang="en-US" i="1" dirty="0">
                <a:solidFill>
                  <a:schemeClr val="tx1"/>
                </a:solidFill>
              </a:rPr>
              <a:t>Bible Gateway.</a:t>
            </a:r>
          </a:p>
          <a:p>
            <a:pPr fontAlgn="base">
              <a:buNone/>
            </a:pPr>
            <a:r>
              <a:rPr lang="en-US" i="1" dirty="0">
                <a:solidFill>
                  <a:schemeClr val="tx1"/>
                </a:solidFill>
              </a:rPr>
              <a:t> </a:t>
            </a:r>
          </a:p>
          <a:p>
            <a:pPr fontAlgn="base">
              <a:buNone/>
            </a:pPr>
            <a:r>
              <a:rPr lang="en-US" sz="1600" dirty="0">
                <a:solidFill>
                  <a:schemeClr val="tx1"/>
                </a:solidFill>
              </a:rPr>
              <a:t>(in .txt or .html format)</a:t>
            </a:r>
          </a:p>
          <a:p>
            <a:pPr marL="342900" indent="-342900" algn="ctr"/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3EF22B92-6F2C-8464-061F-09FD90B6F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66</a:t>
            </a:fld>
            <a:endParaRPr lang="el-GR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0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0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4954198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b="26317"/>
          <a:stretch>
            <a:fillRect/>
          </a:stretch>
        </p:blipFill>
        <p:spPr bwMode="auto">
          <a:xfrm>
            <a:off x="805269" y="6328542"/>
            <a:ext cx="4189802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l="79983" b="26317"/>
          <a:stretch>
            <a:fillRect/>
          </a:stretch>
        </p:blipFill>
        <p:spPr bwMode="auto">
          <a:xfrm>
            <a:off x="0" y="6328542"/>
            <a:ext cx="838678" cy="529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9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Digitization</a:t>
            </a:r>
            <a:endParaRPr lang="el-GR" dirty="0"/>
          </a:p>
        </p:txBody>
      </p:sp>
      <p:sp>
        <p:nvSpPr>
          <p:cNvPr id="13" name="12 - Κατακόρυφος πάπυρος"/>
          <p:cNvSpPr/>
          <p:nvPr/>
        </p:nvSpPr>
        <p:spPr>
          <a:xfrm>
            <a:off x="0" y="1484784"/>
            <a:ext cx="3995936" cy="4320480"/>
          </a:xfrm>
          <a:prstGeom prst="verticalScroll">
            <a:avLst/>
          </a:prstGeom>
          <a:solidFill>
            <a:srgbClr val="E0C9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buNone/>
            </a:pPr>
            <a:r>
              <a:rPr lang="en-US" dirty="0">
                <a:solidFill>
                  <a:schemeClr val="tx1"/>
                </a:solidFill>
              </a:rPr>
              <a:t>C) </a:t>
            </a:r>
            <a:r>
              <a:rPr lang="en-US" b="1" dirty="0">
                <a:solidFill>
                  <a:schemeClr val="tx1"/>
                </a:solidFill>
              </a:rPr>
              <a:t>Scanned books or manuscripts</a:t>
            </a:r>
            <a:r>
              <a:rPr lang="en-US" dirty="0">
                <a:solidFill>
                  <a:schemeClr val="tx1"/>
                </a:solidFill>
              </a:rPr>
              <a:t> from digital libraries and archives (</a:t>
            </a:r>
            <a:r>
              <a:rPr lang="en-US" dirty="0" err="1">
                <a:solidFill>
                  <a:schemeClr val="tx1"/>
                </a:solidFill>
              </a:rPr>
              <a:t>e.g.the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i="1" dirty="0">
                <a:solidFill>
                  <a:schemeClr val="tx1"/>
                </a:solidFill>
              </a:rPr>
              <a:t>Internet Archive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fontAlgn="base">
              <a:buNone/>
            </a:pP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fontAlgn="base">
              <a:buNone/>
            </a:pPr>
            <a:r>
              <a:rPr lang="en-US" sz="1600" dirty="0">
                <a:solidFill>
                  <a:schemeClr val="tx1"/>
                </a:solidFill>
              </a:rPr>
              <a:t>(in .</a:t>
            </a:r>
            <a:r>
              <a:rPr lang="en-US" sz="1600" dirty="0" err="1">
                <a:solidFill>
                  <a:schemeClr val="tx1"/>
                </a:solidFill>
              </a:rPr>
              <a:t>pdf</a:t>
            </a:r>
            <a:r>
              <a:rPr lang="en-US" sz="1600" dirty="0">
                <a:solidFill>
                  <a:schemeClr val="tx1"/>
                </a:solidFill>
              </a:rPr>
              <a:t> format containing images of the pages)</a:t>
            </a:r>
          </a:p>
          <a:p>
            <a:pPr fontAlgn="base">
              <a:buNone/>
            </a:pPr>
            <a:endParaRPr lang="en-US" dirty="0">
              <a:solidFill>
                <a:schemeClr val="tx1"/>
              </a:solidFill>
            </a:endParaRPr>
          </a:p>
          <a:p>
            <a:pPr fontAlgn="base">
              <a:buNone/>
            </a:pPr>
            <a:r>
              <a:rPr lang="en-US" dirty="0">
                <a:solidFill>
                  <a:schemeClr val="tx1"/>
                </a:solidFill>
              </a:rPr>
              <a:t>D) </a:t>
            </a:r>
            <a:r>
              <a:rPr lang="en-US" b="1" dirty="0">
                <a:solidFill>
                  <a:schemeClr val="tx1"/>
                </a:solidFill>
              </a:rPr>
              <a:t>Printed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15" name="14 - Στρογγυλεμένο ορθογώνιο"/>
          <p:cNvSpPr/>
          <p:nvPr/>
        </p:nvSpPr>
        <p:spPr>
          <a:xfrm>
            <a:off x="3923928" y="2852936"/>
            <a:ext cx="5112568" cy="309634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b="1" dirty="0">
                <a:solidFill>
                  <a:schemeClr val="tx1"/>
                </a:solidFill>
              </a:rPr>
              <a:t>Digitization-</a:t>
            </a:r>
            <a:r>
              <a:rPr lang="en-US" dirty="0">
                <a:solidFill>
                  <a:schemeClr val="tx1"/>
                </a:solidFill>
              </a:rPr>
              <a:t>&gt;</a:t>
            </a:r>
            <a:r>
              <a:rPr lang="en-US" i="1" dirty="0">
                <a:solidFill>
                  <a:schemeClr val="tx1"/>
                </a:solidFill>
              </a:rPr>
              <a:t>Optional Character Recognition 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b="1" dirty="0">
                <a:solidFill>
                  <a:schemeClr val="tx1"/>
                </a:solidFill>
              </a:rPr>
              <a:t>OCR</a:t>
            </a:r>
            <a:r>
              <a:rPr lang="en-US" dirty="0">
                <a:solidFill>
                  <a:schemeClr val="tx1"/>
                </a:solidFill>
              </a:rPr>
              <a:t>) </a:t>
            </a:r>
          </a:p>
          <a:p>
            <a:pPr fontAlgn="base"/>
            <a:endParaRPr lang="en-US" dirty="0">
              <a:solidFill>
                <a:schemeClr val="tx1"/>
              </a:solidFill>
            </a:endParaRPr>
          </a:p>
          <a:p>
            <a:pPr marL="342900" indent="-342900" fontAlgn="base">
              <a:buAutoNum type="arabicParenR"/>
            </a:pPr>
            <a:r>
              <a:rPr lang="en-US" i="1" dirty="0">
                <a:solidFill>
                  <a:schemeClr val="tx1"/>
                </a:solidFill>
              </a:rPr>
              <a:t>ABBYY </a:t>
            </a:r>
            <a:r>
              <a:rPr lang="en-US" i="1" dirty="0" err="1">
                <a:solidFill>
                  <a:schemeClr val="tx1"/>
                </a:solidFill>
              </a:rPr>
              <a:t>FineReader</a:t>
            </a:r>
            <a:r>
              <a:rPr lang="en-US" i="1" dirty="0">
                <a:solidFill>
                  <a:schemeClr val="tx1"/>
                </a:solidFill>
              </a:rPr>
              <a:t>  </a:t>
            </a:r>
            <a:r>
              <a:rPr lang="en-US" dirty="0">
                <a:solidFill>
                  <a:schemeClr val="tx1"/>
                </a:solidFill>
              </a:rPr>
              <a:t>(Latin, English, </a:t>
            </a:r>
          </a:p>
          <a:p>
            <a:pPr marL="342900" indent="-342900" fontAlgn="base"/>
            <a:r>
              <a:rPr lang="en-US" dirty="0">
                <a:solidFill>
                  <a:schemeClr val="tx1"/>
                </a:solidFill>
              </a:rPr>
              <a:t>Old French)</a:t>
            </a:r>
          </a:p>
          <a:p>
            <a:pPr marL="342900" indent="-342900" fontAlgn="base"/>
            <a:endParaRPr lang="en-US" dirty="0">
              <a:solidFill>
                <a:schemeClr val="tx1"/>
              </a:solidFill>
            </a:endParaRPr>
          </a:p>
          <a:p>
            <a:pPr fontAlgn="base">
              <a:buNone/>
            </a:pPr>
            <a:r>
              <a:rPr lang="en-US" dirty="0">
                <a:solidFill>
                  <a:schemeClr val="tx1"/>
                </a:solidFill>
              </a:rPr>
              <a:t>2) </a:t>
            </a:r>
            <a:r>
              <a:rPr lang="en-US" i="1" dirty="0">
                <a:solidFill>
                  <a:schemeClr val="tx1"/>
                </a:solidFill>
              </a:rPr>
              <a:t>Google Lens </a:t>
            </a:r>
            <a:r>
              <a:rPr lang="en-US" dirty="0">
                <a:solidFill>
                  <a:schemeClr val="tx1"/>
                </a:solidFill>
              </a:rPr>
              <a:t>(Greek)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9915796C-A098-8D5F-DF80-9F8D35FD7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E6F96-DBA9-4966-8C10-B0B4DAA302D2}" type="slidenum">
              <a:rPr lang="el-GR" smtClean="0"/>
              <a:pPr/>
              <a:t>67</a:t>
            </a:fld>
            <a:endParaRPr lang="el-GR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C72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Sitaridou, I. (2014). The Romeyka Infinitive: Continuity, Contact and Change in the Hellenic Varieties of Pontus. Diachronica, 31(1), 23-73.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Sitaridou, I. (2012). A comparative study of word order in Old Romance. Folia Linguistica, 46(2), 553-604.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Nikiforidou, K. (1991). The meanings of the genitive: A case study in semantic structure and semantic change. Cognitive Linguistics, 2(2), 149-206.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Nikiforidou, K., Marmaridou, S., &amp; Mikros, G. K. (2014). What's in a dialogic construction? A constructional approach to polysemy and the grammar of challenge. Cognitive Linguistics, 25(4), 655-699.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Lavidas, N., &amp; Haug, D. T. T. (2020). Postclassical Greek and Treebanks for a Diachronic Analysis. In D. Rafiyenko &amp; I. A. Seržant (Eds.), Postclassical Greek: Contemporary Approaches to Philology and Linguistics (pp. 163-202). De Gruyter Mouton.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Mikros, G. K. (2005). Basic quantitative characteristics of the Modern Greek language using the Hellenic National Corpus. Journal of Quantitative Linguistics, 12(2-3), 167-184.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Trips, C., &amp; Stein, A. (2019). Contact-induced changes in the argument structure of Middle English verbs on the model of Old French. Journal of Language Contact, 12(1), 232-267.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Percillier, M., Schauwecker, Y., Stein, A., &amp; Trips, C. (2024). Carrying Verbs Across the Channel: Modelling Change in Bilingual Medieval England. Palgrave Macmillan.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