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Spline Sans"/>
      <p:regular r:id="rId20"/>
      <p:bold r:id="rId21"/>
    </p:embeddedFont>
    <p:embeddedFont>
      <p:font typeface="Outfit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4616D8-9B2A-424B-9FE8-2372672232B3}">
  <a:tblStyle styleId="{3D4616D8-9B2A-424B-9FE8-2372672232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lineSans-regular.fntdata"/><Relationship Id="rId11" Type="http://schemas.openxmlformats.org/officeDocument/2006/relationships/slide" Target="slides/slide5.xml"/><Relationship Id="rId22" Type="http://schemas.openxmlformats.org/officeDocument/2006/relationships/font" Target="fonts/Outfit-regular.fntdata"/><Relationship Id="rId10" Type="http://schemas.openxmlformats.org/officeDocument/2006/relationships/slide" Target="slides/slide4.xml"/><Relationship Id="rId21" Type="http://schemas.openxmlformats.org/officeDocument/2006/relationships/font" Target="fonts/Spline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utfi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20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11" Type="http://schemas.openxmlformats.org/officeDocument/2006/relationships/image" Target="../media/image30.png"/><Relationship Id="rId10" Type="http://schemas.openxmlformats.org/officeDocument/2006/relationships/image" Target="../media/image35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47.png"/><Relationship Id="rId5" Type="http://schemas.openxmlformats.org/officeDocument/2006/relationships/image" Target="../media/image37.png"/><Relationship Id="rId6" Type="http://schemas.openxmlformats.org/officeDocument/2006/relationships/image" Target="../media/image52.png"/><Relationship Id="rId7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Relationship Id="rId5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openxmlformats.org/officeDocument/2006/relationships/image" Target="../media/image44.png"/><Relationship Id="rId5" Type="http://schemas.openxmlformats.org/officeDocument/2006/relationships/image" Target="../media/image48.png"/><Relationship Id="rId6" Type="http://schemas.openxmlformats.org/officeDocument/2006/relationships/image" Target="../media/image50.png"/><Relationship Id="rId7" Type="http://schemas.openxmlformats.org/officeDocument/2006/relationships/image" Target="../media/image53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76250" y="1559272"/>
            <a:ext cx="5650706" cy="201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Sounds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of Language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76250" y="3875633"/>
            <a:ext cx="523875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An exploration of Phonetics, Articulation, and the hidden mechanics of human speech.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809625"/>
            <a:ext cx="5381625" cy="52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1698" y="4452044"/>
            <a:ext cx="1623863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1312" y="4452044"/>
            <a:ext cx="1801862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8924" y="4452044"/>
            <a:ext cx="1971377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381000"/>
            <a:ext cx="112395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0" y="790575"/>
            <a:ext cx="1333500" cy="120610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450383" y="2425303"/>
            <a:ext cx="129108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INTRO QUIZ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900475" y="2787253"/>
            <a:ext cx="8391048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English has 26 letters...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9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 but how many </a:t>
            </a:r>
            <a:r>
              <a:rPr b="1" i="1" lang="en-US" sz="39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sounds</a:t>
            </a:r>
            <a:r>
              <a:rPr b="1" i="0" lang="en-US" sz="39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 does it have?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739604" y="5604569"/>
            <a:ext cx="471279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(This mismatch is why we need Phonetics!)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57875" y="1012626"/>
            <a:ext cx="4762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49722"/>
            <a:ext cx="5381625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882205"/>
            <a:ext cx="5381625" cy="1091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211835"/>
            <a:ext cx="5381625" cy="1091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5541466"/>
            <a:ext cx="5381625" cy="109150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76250" y="1571922"/>
            <a:ext cx="5381625" cy="111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Phonetics</a:t>
            </a:r>
            <a:r>
              <a:rPr b="0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 is the general study of speech sound characteristics. It has three main branches: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3650" y="1359247"/>
            <a:ext cx="5362575" cy="688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42950" y="3091755"/>
            <a:ext cx="14969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Articulatory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42950" y="3444180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How sounds are made (mouth, tongue, lungs).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42950" y="4421385"/>
            <a:ext cx="112633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Spline Sans"/>
                <a:ea typeface="Spline Sans"/>
                <a:cs typeface="Spline Sans"/>
                <a:sym typeface="Spline Sans"/>
              </a:rPr>
              <a:t>Acoustic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42950" y="4773810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The physical properties of sound waves.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42950" y="5751016"/>
            <a:ext cx="10964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C4899"/>
                </a:solidFill>
                <a:latin typeface="Spline Sans"/>
                <a:ea typeface="Spline Sans"/>
                <a:cs typeface="Spline Sans"/>
                <a:sym typeface="Spline Sans"/>
              </a:rPr>
              <a:t>Auditory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42950" y="6103441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How we perceive sounds via the ear.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76250" y="225176"/>
            <a:ext cx="11715750" cy="699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Analytical Framework </a:t>
            </a:r>
            <a:r>
              <a:rPr b="1" i="0" lang="en-US" sz="4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Phonetics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76250" y="1038522"/>
            <a:ext cx="112395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3315" y="3857625"/>
            <a:ext cx="438522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81000"/>
            <a:ext cx="112395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0" y="407789"/>
            <a:ext cx="1333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825454" y="1598414"/>
            <a:ext cx="254094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Spline Sans"/>
                <a:ea typeface="Spline Sans"/>
                <a:cs typeface="Spline Sans"/>
                <a:sym typeface="Spline Sans"/>
              </a:rPr>
              <a:t>PHYSICAL CHALLENGE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180635" y="1960364"/>
            <a:ext cx="5830728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"Throat Touch" Test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2881610" y="3145184"/>
            <a:ext cx="6428779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Place your fingers gently on your Adam's apple.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310211" y="5934075"/>
            <a:ext cx="357157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Can you feel the difference?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40778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973639" y="4371975"/>
            <a:ext cx="93389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CA3AF"/>
                </a:solidFill>
                <a:latin typeface="Spline Sans"/>
                <a:ea typeface="Spline Sans"/>
                <a:cs typeface="Spline Sans"/>
                <a:sym typeface="Spline Sans"/>
              </a:rPr>
              <a:t>(Snake)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056685" y="4886325"/>
            <a:ext cx="65216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CA3AF"/>
                </a:solidFill>
                <a:latin typeface="Spline Sans"/>
                <a:ea typeface="Spline Sans"/>
                <a:cs typeface="Spline Sans"/>
                <a:sym typeface="Spline Sans"/>
              </a:rPr>
              <a:t>(Bee)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376660"/>
            <a:ext cx="5381625" cy="51848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052762"/>
            <a:ext cx="5381625" cy="1659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902398"/>
            <a:ext cx="5381625" cy="1659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" y="1386185"/>
            <a:ext cx="5362575" cy="516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334125" y="1376660"/>
            <a:ext cx="5650706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It's all in the Larynx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34125" y="2020490"/>
            <a:ext cx="5381625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The vibration you felt comes from the </a:t>
            </a:r>
            <a:r>
              <a:rPr b="1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vocal folds</a:t>
            </a:r>
            <a:r>
              <a:rPr b="0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 (vocal cords).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72250" y="3290887"/>
            <a:ext cx="214416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Voiceless (Open)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572250" y="3690937"/>
            <a:ext cx="4905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F1D1D"/>
                </a:solidFill>
                <a:latin typeface="Spline Sans"/>
                <a:ea typeface="Spline Sans"/>
                <a:cs typeface="Spline Sans"/>
                <a:sym typeface="Spline Sans"/>
              </a:rPr>
              <a:t>Folds spread apart. Air passes clearly.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800" u="none" cap="none" strike="noStrike">
                <a:solidFill>
                  <a:srgbClr val="7F1D1D"/>
                </a:solidFill>
                <a:latin typeface="Spline Sans"/>
                <a:ea typeface="Spline Sans"/>
                <a:cs typeface="Spline Sans"/>
                <a:sym typeface="Spline Sans"/>
              </a:rPr>
              <a:t>Examples: [s], [f], [t], [k]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72250" y="5140523"/>
            <a:ext cx="22574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Voiced (Vibrating)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72250" y="5540573"/>
            <a:ext cx="4905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4532D"/>
                </a:solidFill>
                <a:latin typeface="Spline Sans"/>
                <a:ea typeface="Spline Sans"/>
                <a:cs typeface="Spline Sans"/>
                <a:sym typeface="Spline Sans"/>
              </a:rPr>
              <a:t>Folds drawn together. Air pushes through.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800" u="none" cap="none" strike="noStrike">
                <a:solidFill>
                  <a:srgbClr val="14532D"/>
                </a:solidFill>
                <a:latin typeface="Spline Sans"/>
                <a:ea typeface="Spline Sans"/>
                <a:cs typeface="Spline Sans"/>
                <a:sym typeface="Spline Sans"/>
              </a:rPr>
              <a:t>Examples: [z], [v], [d], [g]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76250" y="296614"/>
            <a:ext cx="11715750" cy="699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Voiced vs. Voiceless </a:t>
            </a:r>
            <a:r>
              <a:rPr b="1" i="0" lang="en-US" sz="4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Mechanics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476250" y="1109960"/>
            <a:ext cx="112395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384845"/>
            <a:ext cx="5429250" cy="5092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84845"/>
            <a:ext cx="5429250" cy="5092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1584870"/>
            <a:ext cx="50292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4632870"/>
            <a:ext cx="5029200" cy="1644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1584870"/>
            <a:ext cx="50292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4632870"/>
            <a:ext cx="5029200" cy="1644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1584870"/>
            <a:ext cx="50292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6525" y="1584870"/>
            <a:ext cx="50292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476250" y="381000"/>
            <a:ext cx="117157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Why we need the IPA...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81000"/>
            <a:ext cx="112395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0" y="883890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4998243" y="2646015"/>
            <a:ext cx="21955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ARTICULATION MAP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3410664" y="3007965"/>
            <a:ext cx="5370671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Where is your tongue?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125539" y="4173735"/>
            <a:ext cx="594092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Say these three words and freeze your tongue.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0" y="116964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3780829" y="5050035"/>
            <a:ext cx="112648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POP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3780829" y="5669160"/>
            <a:ext cx="11264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(Lips?)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478809" y="5050035"/>
            <a:ext cx="105697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TOT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478809" y="5669160"/>
            <a:ext cx="10569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(Teeth?)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107287" y="5050035"/>
            <a:ext cx="1303883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KICK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107287" y="5669160"/>
            <a:ext cx="13038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(Back?)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61045"/>
            <a:ext cx="5381625" cy="501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76250" y="2073771"/>
            <a:ext cx="53816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We classify consonants based on </a:t>
            </a:r>
            <a:r>
              <a:rPr b="1" i="0" lang="en-US" sz="225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where</a:t>
            </a:r>
            <a:r>
              <a:rPr b="0" i="0" lang="en-US" sz="225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 the air constriction happens in the vocal tract.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470570"/>
            <a:ext cx="5362575" cy="4996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76250" y="3559671"/>
            <a:ext cx="5381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Lips:</a:t>
            </a:r>
            <a:r>
              <a:rPr b="0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 Bilabials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76250" y="4075807"/>
            <a:ext cx="5381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Teeth:</a:t>
            </a:r>
            <a:r>
              <a:rPr b="0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 Dentals &amp; Labiodentals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76250" y="4591942"/>
            <a:ext cx="5381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Ridge:</a:t>
            </a:r>
            <a:r>
              <a:rPr b="0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 Alveolars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76250" y="5108078"/>
            <a:ext cx="5381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Roof:</a:t>
            </a:r>
            <a:r>
              <a:rPr b="0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 Palatals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76250" y="5624214"/>
            <a:ext cx="53816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Back:</a:t>
            </a:r>
            <a:r>
              <a:rPr b="0" i="0" lang="en-US" sz="21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 Velars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607296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12343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639567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5155703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5671839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76250" y="381000"/>
            <a:ext cx="11715750" cy="699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Place of Articulation </a:t>
            </a:r>
            <a:r>
              <a:rPr b="1" i="0" lang="en-US" sz="4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Map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476250" y="1194345"/>
            <a:ext cx="112395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317402"/>
            <a:ext cx="3587650" cy="3303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2317402"/>
            <a:ext cx="3587799" cy="3303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317402"/>
            <a:ext cx="3587650" cy="3303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733425" y="2574577"/>
            <a:ext cx="322696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Bilabials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33425" y="3138338"/>
            <a:ext cx="3073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Using both lips.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33425" y="3763119"/>
            <a:ext cx="307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[p]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P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[b]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B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[m]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M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[w]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W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et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559200" y="2574577"/>
            <a:ext cx="322712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Labiodentals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559200" y="3138338"/>
            <a:ext cx="307344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Upper teeth + Lower lip.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559200" y="3763119"/>
            <a:ext cx="30734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[f]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F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[v]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V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385125" y="2574577"/>
            <a:ext cx="322696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Dentals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385125" y="3138338"/>
            <a:ext cx="30733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Tongue tip behind/between teeth.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385125" y="4083099"/>
            <a:ext cx="3073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[θ]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Th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in (Theta)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[ð]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Th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us (Eth)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76250" y="381000"/>
            <a:ext cx="11715750" cy="699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Front </a:t>
            </a:r>
            <a:r>
              <a:rPr b="1" i="0" lang="en-US" sz="4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Lips &amp; Teeth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476250" y="1194345"/>
            <a:ext cx="112395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461045"/>
            <a:ext cx="5381625" cy="5015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61045"/>
            <a:ext cx="5381625" cy="501595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733425" y="1718220"/>
            <a:ext cx="5110638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Alveolars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733425" y="2301031"/>
            <a:ext cx="4867275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Tongue tip touches the Alveolar Ridge (bumpy part behind top teeth).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591300" y="1718220"/>
            <a:ext cx="5110638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Palatals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591300" y="2301031"/>
            <a:ext cx="4867275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Tongue and the hard Palate (roof of mouth).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33425" y="3232398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[t]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Top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3238500" y="3232398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[d]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Dog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33425" y="3708648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[s]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Sit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238500" y="3708648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[z]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Zoo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33425" y="4184898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[n]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Nut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3238500" y="4184898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[l]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Lap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591300" y="2885777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[ʃ]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Sh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ip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9096375" y="2885777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[ʒ]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Casual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591300" y="3362027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[ʧ]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Ch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ip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9096375" y="3362027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[ʤ]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Gem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591300" y="3838277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[j]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Y</a:t>
            </a:r>
            <a:r>
              <a:rPr b="0" i="0" lang="en-US" sz="19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et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76250" y="381000"/>
            <a:ext cx="11715750" cy="699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Middle </a:t>
            </a:r>
            <a:r>
              <a:rPr b="1" i="0" lang="en-US" sz="4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Ridge &amp; Roof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476250" y="1194345"/>
            <a:ext cx="112395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056507"/>
            <a:ext cx="3587650" cy="382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2056507"/>
            <a:ext cx="3587799" cy="382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056507"/>
            <a:ext cx="3587650" cy="382488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733425" y="2313682"/>
            <a:ext cx="322696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Velars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733425" y="2877442"/>
            <a:ext cx="30733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Back of tongue touches Velum (Soft Palate).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4559200" y="2313682"/>
            <a:ext cx="322712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Glottals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559200" y="2877442"/>
            <a:ext cx="307344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Space between vocal folds.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733425" y="3707903"/>
            <a:ext cx="3073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[k]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C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at,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K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ick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733425" y="4203203"/>
            <a:ext cx="3073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[g]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G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un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733425" y="4698503"/>
            <a:ext cx="3073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[ŋ]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Ba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ng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(Angma)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733425" y="5241428"/>
            <a:ext cx="30733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Spline Sans"/>
                <a:ea typeface="Spline Sans"/>
                <a:cs typeface="Spline Sans"/>
                <a:sym typeface="Spline Sans"/>
              </a:rPr>
              <a:t>*Note: No [g] sound in "ringing"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4559200" y="3387923"/>
            <a:ext cx="30734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[h]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H</a:t>
            </a: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4559200" y="3930848"/>
            <a:ext cx="30734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Air passes through without active tongue use.</a:t>
            </a:r>
            <a:endParaRPr/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97925" y="3082230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8394650" y="4072830"/>
            <a:ext cx="30542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These are the furthest back sounds in English.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76250" y="381000"/>
            <a:ext cx="11715750" cy="699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Back </a:t>
            </a:r>
            <a:r>
              <a:rPr b="1" i="0" lang="en-US" sz="4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Velars &amp; Glottals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476250" y="1194345"/>
            <a:ext cx="112395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4" name="Google Shape;274;p24"/>
          <p:cNvGraphicFramePr/>
          <p:nvPr/>
        </p:nvGraphicFramePr>
        <p:xfrm>
          <a:off x="476250" y="1825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{3D4616D8-9B2A-424B-9FE8-2372672232B3}</a:tableStyleId>
              </a:tblPr>
              <a:tblGrid>
                <a:gridCol w="2289125"/>
                <a:gridCol w="1978975"/>
                <a:gridCol w="2758075"/>
                <a:gridCol w="4213325"/>
              </a:tblGrid>
              <a:tr h="5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Place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Voiceless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Voiced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Example Articulators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Bilabials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[p]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[b], [m], [w]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Both lips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Labiodentals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[f]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[v]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Upper teeth + Lower lip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Dentals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[θ] (thin)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[ð] (then)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tip + Upper teeth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Alveolars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[t], [s]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[d], [z], [n], [l], [r]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tip + Alveolar ridge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Palatals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[ʃ], [ʧ]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[ʒ], [ʤ], [j]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+ Palate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Velars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[k]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[g], [ŋ]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Back tongue + Velum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Glottals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[h]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Vocal folds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24"/>
          <p:cNvSpPr/>
          <p:nvPr/>
        </p:nvSpPr>
        <p:spPr>
          <a:xfrm>
            <a:off x="476250" y="2964060"/>
            <a:ext cx="22891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2765375" y="2964060"/>
            <a:ext cx="19789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4744342" y="2964060"/>
            <a:ext cx="2758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7502425" y="2964060"/>
            <a:ext cx="42133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476250" y="3487935"/>
            <a:ext cx="22891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2765375" y="3487935"/>
            <a:ext cx="19789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4744342" y="3487935"/>
            <a:ext cx="2758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7502425" y="3487935"/>
            <a:ext cx="42133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476250" y="4011810"/>
            <a:ext cx="22891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2765375" y="4011810"/>
            <a:ext cx="19789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4744342" y="4011810"/>
            <a:ext cx="2758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7502425" y="4011810"/>
            <a:ext cx="42133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476250" y="4535685"/>
            <a:ext cx="22891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2765375" y="4535685"/>
            <a:ext cx="19789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4744342" y="4535685"/>
            <a:ext cx="2758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502425" y="4535685"/>
            <a:ext cx="42133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476250" y="5059560"/>
            <a:ext cx="22891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2765375" y="5059560"/>
            <a:ext cx="19789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744342" y="5059560"/>
            <a:ext cx="2758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7502425" y="5059560"/>
            <a:ext cx="42133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476250" y="5583435"/>
            <a:ext cx="22891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2765375" y="5583435"/>
            <a:ext cx="19789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4744342" y="5583435"/>
            <a:ext cx="2758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7502425" y="5583435"/>
            <a:ext cx="42133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476250" y="381000"/>
            <a:ext cx="11715750" cy="699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Consonant Summary </a:t>
            </a:r>
            <a:r>
              <a:rPr b="1" i="0" lang="en-US" sz="4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Big Picture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476250" y="1194345"/>
            <a:ext cx="112395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/>
          <p:nvPr/>
        </p:nvSpPr>
        <p:spPr>
          <a:xfrm>
            <a:off x="476250" y="2486769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476250" y="3258294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476250" y="4029819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476250" y="4801344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476250" y="5572869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1" name="Google Shape;31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8020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1571625" y="1736526"/>
            <a:ext cx="101441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https://plus.unsplash.com/premium_photo-1756965210862-9334067f185a?fm=jpg&amp;q=60&amp;w=3000&amp;ixlib=rb-4.1.0&amp;ixid=M3wxMjA3fDB8MHxwaG90by1yZWxhdGVkfDE1fHx8ZW58MHx8fHx8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1571625" y="2130623"/>
            <a:ext cx="10144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unsplash.com</a:t>
            </a:r>
            <a:endParaRPr/>
          </a:p>
        </p:txBody>
      </p:sp>
      <p:pic>
        <p:nvPicPr>
          <p:cNvPr descr="image.png" id="314" name="Google Shape;31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6391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1571625" y="2660153"/>
            <a:ext cx="101441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https://www.internationalphoneticassociation.org/sites/default/files/IPA2005_1000px.png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571625" y="2881014"/>
            <a:ext cx="10144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www.internationalphoneticassociation.org</a:t>
            </a:r>
            <a:endParaRPr/>
          </a:p>
        </p:txBody>
      </p:sp>
      <p:pic>
        <p:nvPicPr>
          <p:cNvPr descr="image.png" id="317" name="Google Shape;31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4106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1571625" y="3431678"/>
            <a:ext cx="101441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https://cdn.vectorstock.com/i/500p/30/14/vocal-cord-anatomy-open-closed-vector-60223014.jpg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1571625" y="3652539"/>
            <a:ext cx="10144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www.vectorstock.com</a:t>
            </a:r>
            <a:endParaRPr/>
          </a:p>
        </p:txBody>
      </p:sp>
      <p:pic>
        <p:nvPicPr>
          <p:cNvPr descr="image.png" id="320" name="Google Shape;32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1822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1571625" y="4203203"/>
            <a:ext cx="101441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https://supermeme-space-prd.ams3.cdn.digitaloceanspaces.com/templates/Drake-Hotline-Bling.png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1571625" y="4424064"/>
            <a:ext cx="10144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supermeme.ai</a:t>
            </a:r>
            <a:endParaRPr/>
          </a:p>
        </p:txBody>
      </p:sp>
      <p:pic>
        <p:nvPicPr>
          <p:cNvPr descr="image.png" id="323" name="Google Shape;32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49537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1571625" y="4974728"/>
            <a:ext cx="101441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https://a.pinatafarm.com/720x728/91478a0b66/drake-hotline-approves.jpg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1571625" y="5195589"/>
            <a:ext cx="10144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www.pinatafarm.com</a:t>
            </a:r>
            <a:endParaRPr/>
          </a:p>
        </p:txBody>
      </p:sp>
      <p:pic>
        <p:nvPicPr>
          <p:cNvPr descr="image.png" id="326" name="Google Shape;32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57252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1571625" y="5746253"/>
            <a:ext cx="101441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https://opentextbc.ca/psyclanguage/wp-content/uploads/sites/356/2021/02/The-Vocal-Tract_h5p-e1683664005178.png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1571625" y="5967114"/>
            <a:ext cx="101441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opentextbc.ca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476250" y="381000"/>
            <a:ext cx="11715750" cy="699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Image Sources</a:t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476250" y="1194345"/>
            <a:ext cx="112395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