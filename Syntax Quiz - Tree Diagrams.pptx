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erriweather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944AF8-5F6F-49A6-AA0D-CA9DD6E933E3}">
  <a:tblStyle styleId="{D3944AF8-5F6F-49A6-AA0D-CA9DD6E933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erriweather-regular.fntdata"/><Relationship Id="rId21" Type="http://schemas.openxmlformats.org/officeDocument/2006/relationships/slide" Target="slides/slide15.xml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3.png"/><Relationship Id="rId7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4.png"/><Relationship Id="rId6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5" Type="http://schemas.openxmlformats.org/officeDocument/2006/relationships/image" Target="../media/image35.png"/><Relationship Id="rId6" Type="http://schemas.openxmlformats.org/officeDocument/2006/relationships/image" Target="../media/image34.png"/><Relationship Id="rId7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3858517"/>
            <a:ext cx="14287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95575" y="2085082"/>
            <a:ext cx="68008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Syntax in Motion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57500" y="3142357"/>
            <a:ext cx="64770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Song of the Tree Diagrams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57500" y="4277617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Class Quiz &amp; Structural Exercise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19250"/>
            <a:ext cx="522922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8612" y="4900612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8362" y="4900612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71550" y="2219325"/>
            <a:ext cx="4448175" cy="3016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[Verse] A tree splits wide where roots collide Each branch a tale, no need to hide Leaves whisper nouns Verbs take a glide [Prechorus] Subjects bend, Objects twist Adjuncts dance in morning mist [Chorus] Oh, deep in the structure where meaning lies Surface is simple, but truth divides Tree diagrams, they grow, they grow Through every phrase we think we know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The Song: Verse 1 &amp; Chorus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939212" y="3471862"/>
            <a:ext cx="114300" cy="95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619250"/>
            <a:ext cx="522922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9702" y="1419426"/>
            <a:ext cx="2642180" cy="4123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9391" y="1419426"/>
            <a:ext cx="2642180" cy="412392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6772275" y="2219325"/>
            <a:ext cx="4448175" cy="3351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[Verse 2] Articles small, yet they crown the scene A noun stands tall, its meaning keen Verbs like rivers, flowing between [Bridge] Ambiguity, oh, it laughs at me Two meanings bloom on the same old tree Do I climb up or let it be? [Chorus] Oh, deep in the structure where meaning lies Surface is simple, but truth divides Tree diagrams, they grow, they grow Through every phrase we think we know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The Song: Verse 2 &amp; Bridge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1487" y="4381500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1237" y="438150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1308199"/>
            <a:ext cx="51906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1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81025" y="1946374"/>
            <a:ext cx="4943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81025" y="2555974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primary visual tool for representing sentence structure, referred to as something that 'grows' and 'divides' in the Chorus?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85825" y="405770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4056757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Venn Diagrams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85825" y="439287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2025" y="4391917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Flow Charts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85825" y="472803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4727078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Tree Diagrams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85825" y="506319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5062239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Syntax Maps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9082087" y="2952750"/>
            <a:ext cx="114300" cy="952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81025" y="179873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According to the lyrics in Verse 1, which two lexical categories are represented by "Leaves whisper nouns" and "Verbs take a glide"?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318521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Adjectives and Adverbs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301376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809625" y="4006155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Nouns and Verbs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81025" y="3834705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809625" y="482709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Subjects and Objects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81025" y="465564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809625" y="564802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Prepositions and Articles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81025" y="547657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55096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2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81025" y="118913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6498" y="2658248"/>
            <a:ext cx="2579728" cy="2579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3619" y="3065368"/>
            <a:ext cx="1765487" cy="1765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3606" y="3535356"/>
            <a:ext cx="825512" cy="82551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81025" y="179873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line, "A tree splits wide where roots collide," best represents which fundamental concept of syntactic analysis?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09625" y="318521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Linear ordering of words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81025" y="301376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809625" y="4006155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Hierarchical structure of phrases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81025" y="3834705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809625" y="482709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Semantic relationship between words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81025" y="465564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809625" y="564802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Phonological form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81025" y="547657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81025" y="55096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3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81025" y="118913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87" y="3471862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19387" y="3471862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4387" y="347186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6381750" y="179873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structural phrases are occupied by the elements that "Subjects bend" and "Objects twist" in the Pre-chorus?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1957387" y="3929062"/>
            <a:ext cx="571500" cy="381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862387" y="3929062"/>
            <a:ext cx="571500" cy="381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610350" y="318521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 (Sentence) and VP (Verb Phrase)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6381750" y="301376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610350" y="4006155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NP (Subject) and NP (Object)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381750" y="3834705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10350" y="482709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Article (Art) and Verb Phrase (VP)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6381750" y="465564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610350" y="564802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NP (Subject) and Article (Art)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381750" y="547657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23912" y="3481387"/>
            <a:ext cx="933450" cy="93345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28912" y="3481387"/>
            <a:ext cx="933450" cy="93345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633912" y="3481387"/>
            <a:ext cx="933450" cy="93345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81025" y="55096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4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81025" y="118913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81025" y="163115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phrase "Adjuncts dance in morning mist" implies that adjuncts primarily serve what structural function?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09625" y="301763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Core arguments required by the verb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81025" y="284618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09625" y="3838575"/>
            <a:ext cx="47720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Optional modifiers or circumstantial elements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025" y="3667125"/>
            <a:ext cx="38100" cy="101322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809625" y="499467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Introduction of new sentences or clauses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81025" y="482322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809625" y="581560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Head of the highest node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81025" y="564415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901112" y="38528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81025" y="38338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5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102155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8424862" y="3376612"/>
            <a:ext cx="1143000" cy="11430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0399" y="2479515"/>
            <a:ext cx="2346801" cy="11903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0399" y="4226314"/>
            <a:ext cx="2346801" cy="119039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381750" y="1295995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does the Chorus statement, "Surface is simple / But truth divides," refer to in the context of linguistic analysis?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6610350" y="2682478"/>
            <a:ext cx="47720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Difference between spoken and written language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6381750" y="2511028"/>
            <a:ext cx="38100" cy="101322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610350" y="3838575"/>
            <a:ext cx="47720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Relationship between observable sentence and underlying meaning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6381750" y="3667125"/>
            <a:ext cx="38100" cy="101322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610350" y="499467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Difficulty in defining a word's category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6381750" y="482322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610350" y="5815607"/>
            <a:ext cx="47720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Conflict between prescriptive and descriptive grammar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6381750" y="5644157"/>
            <a:ext cx="38100" cy="101322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581025" y="4822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6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81025" y="68639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9380" y="1419426"/>
            <a:ext cx="2642180" cy="41239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1164" y="1419426"/>
            <a:ext cx="2642180" cy="412392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179873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Bridge notes "Two meanings bloom on the same old tree." What specific type of ambiguity is this primarily referencing?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09625" y="318521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Lexical ambiguity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81025" y="301376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809625" y="4006155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Phonological ambiguity</a:t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581025" y="3834705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809625" y="482709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Structural ambiguity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581025" y="465564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809625" y="564802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Semantic ambiguity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581025" y="547657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581025" y="55096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7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81025" y="118913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8237" y="2595562"/>
            <a:ext cx="7620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7737" y="3119437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9525"/>
            <a:ext cx="6086475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81025" y="1475779"/>
            <a:ext cx="5190648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8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81025" y="2113954"/>
            <a:ext cx="494347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 txBox="1"/>
          <p:nvPr/>
        </p:nvSpPr>
        <p:spPr>
          <a:xfrm>
            <a:off x="581025" y="2723554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What is the grammatical category for the 'Articles small / Yet they crown the scene' from Verse 2?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85825" y="389012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962025" y="3889176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Noun Phrase (NP)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85825" y="422529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62025" y="4224337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Article (Art)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885825" y="456045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962025" y="4559498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Verb Phrase (VP)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885825" y="48956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962025" y="4894659"/>
            <a:ext cx="45624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Sentence (S)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0112" y="347186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581025" y="1798736"/>
            <a:ext cx="52292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 the line "Verbs like rivers / Flowing between," what phrase structure is the verb generally considered to be the **head** of?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809625" y="3185219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Sentence (S)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581025" y="3013769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809625" y="4006155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Noun Phrase (NP)</a:t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81025" y="3834705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809625" y="4827091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Verb Phrase (VP)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581025" y="4655641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809625" y="5648027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Article (Art)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581025" y="5476577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6805612" y="3567112"/>
            <a:ext cx="762000" cy="7620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758112" y="3929062"/>
            <a:ext cx="571500" cy="381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9663112" y="3929062"/>
            <a:ext cx="571500" cy="3810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10425112" y="3567112"/>
            <a:ext cx="762000" cy="762000"/>
          </a:xfrm>
          <a:prstGeom prst="roundRect">
            <a:avLst>
              <a:gd fmla="val 16667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8529637" y="3481387"/>
            <a:ext cx="933450" cy="93345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581025" y="550961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9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581025" y="1189136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3112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6381750" y="1463575"/>
            <a:ext cx="52292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song analyzes sentences by breaking them down into smaller components. What part of the tree structure corresponds to the complete sentence or clause?</a:t>
            </a:r>
            <a:endParaRPr/>
          </a:p>
        </p:txBody>
      </p:sp>
      <p:sp>
        <p:nvSpPr>
          <p:cNvPr id="302" name="Google Shape;302;p25"/>
          <p:cNvSpPr/>
          <p:nvPr/>
        </p:nvSpPr>
        <p:spPr>
          <a:xfrm>
            <a:off x="3176587" y="3709987"/>
            <a:ext cx="38100" cy="762000"/>
          </a:xfrm>
          <a:prstGeom prst="roundRect">
            <a:avLst>
              <a:gd fmla="val 16667" name="adj"/>
            </a:avLst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2243137" y="4471987"/>
            <a:ext cx="1905000" cy="95250"/>
          </a:xfrm>
          <a:prstGeom prst="roundRect">
            <a:avLst>
              <a:gd fmla="val 16667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6610350" y="3185219"/>
            <a:ext cx="47720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highest root node, typically the S (Sentence)</a:t>
            </a:r>
            <a:endParaRPr/>
          </a:p>
        </p:txBody>
      </p:sp>
      <p:sp>
        <p:nvSpPr>
          <p:cNvPr id="305" name="Google Shape;305;p25"/>
          <p:cNvSpPr/>
          <p:nvPr/>
        </p:nvSpPr>
        <p:spPr>
          <a:xfrm>
            <a:off x="6381750" y="3013769"/>
            <a:ext cx="38100" cy="101322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6610350" y="4341316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Noun Phrase (NP)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6381750" y="4169866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6610350" y="5162252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Verb Phrase (VP)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6381750" y="4990802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6610350" y="5983188"/>
            <a:ext cx="47720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4D399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The Article (Art)</a:t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6381750" y="5811738"/>
            <a:ext cx="38100" cy="6780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 txBox="1"/>
          <p:nvPr/>
        </p:nvSpPr>
        <p:spPr>
          <a:xfrm>
            <a:off x="581025" y="21580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 10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581025" y="85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2528887" y="3328987"/>
            <a:ext cx="1333500" cy="381000"/>
          </a:xfrm>
          <a:prstGeom prst="roundRect">
            <a:avLst>
              <a:gd fmla="val 16667" name="adj"/>
            </a:avLst>
          </a:prstGeom>
          <a:solidFill>
            <a:srgbClr val="C084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25265"/>
            <a:ext cx="5229225" cy="3645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88071"/>
            <a:ext cx="5229225" cy="3520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43225" y="2515790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6"/>
          <p:cNvSpPr txBox="1"/>
          <p:nvPr/>
        </p:nvSpPr>
        <p:spPr>
          <a:xfrm>
            <a:off x="860345" y="3277790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The Ambiguity Challenge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971550" y="3830240"/>
            <a:ext cx="44481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Bridge highlights "Two meanings bloom on the same old tree." Choose a short, classic example of a structurally ambiguous English sentence.</a:t>
            </a:r>
            <a:endParaRPr/>
          </a:p>
        </p:txBody>
      </p:sp>
      <p:pic>
        <p:nvPicPr>
          <p:cNvPr descr="image.png" id="325" name="Google Shape;32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39175" y="2578596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6661070" y="3340596"/>
            <a:ext cx="46705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Your Task (2 Sentences)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6772275" y="3893046"/>
            <a:ext cx="44481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 State the ambiguous sentence.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6772275" y="4437757"/>
            <a:ext cx="44481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 Explain how the two different 'tree branchings' lead to two meanings.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581025" y="58102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Bonus: The 11th Question</a:t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581025" y="121920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p27"/>
          <p:cNvGraphicFramePr/>
          <p:nvPr/>
        </p:nvGraphicFramePr>
        <p:xfrm>
          <a:off x="581025" y="1066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{D3944AF8-5F6F-49A6-AA0D-CA9DD6E933E3}</a:tableStyleId>
              </a:tblPr>
              <a:tblGrid>
                <a:gridCol w="1018125"/>
                <a:gridCol w="6151225"/>
                <a:gridCol w="3860600"/>
              </a:tblGrid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4D39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4D39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Correct Answer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4D39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Key Concept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C: Tree Diagrams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Song Theme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Nouns and Verbs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Lexical Categories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Hierarchical 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Hierarchy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NP (Subject) and NP (Object)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NP Subject/Object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Optional modifiers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Adjuncts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Sentence vs Meaning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Deep/Surface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C: Structural ambiguity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Ambiguity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B: Article (Art)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Art/NP Crown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C: Verb Phrase (VP)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VP Head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A: S (Sentence)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 Node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27"/>
          <p:cNvSpPr/>
          <p:nvPr/>
        </p:nvSpPr>
        <p:spPr>
          <a:xfrm>
            <a:off x="581025" y="1677441"/>
            <a:ext cx="101813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1599158" y="1677441"/>
            <a:ext cx="615121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7750373" y="1677441"/>
            <a:ext cx="38606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581025" y="2204144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1599158" y="2204144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7750373" y="2204144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581025" y="2716559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1599158" y="2716559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7750373" y="2716559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81025" y="3228975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1599158" y="3228975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7750373" y="322897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581025" y="3741390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1599158" y="3741390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7750373" y="374139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81025" y="4253805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1599158" y="4253805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7750373" y="425380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581025" y="4766220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1599158" y="4766220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7750373" y="4766220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581025" y="5278635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1599158" y="5278635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7750373" y="5278635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581025" y="5791051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1599158" y="5791051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7750373" y="5791051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581025" y="6303466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1599158" y="6303466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7750373" y="6303466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581025" y="6815881"/>
            <a:ext cx="10181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1599158" y="6815881"/>
            <a:ext cx="615121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7750373" y="6815881"/>
            <a:ext cx="38606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581025" y="27830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34D399"/>
                </a:solidFill>
                <a:latin typeface="Merriweather"/>
                <a:ea typeface="Merriweather"/>
                <a:cs typeface="Merriweather"/>
                <a:sym typeface="Merriweather"/>
              </a:rPr>
              <a:t>Answer Key</a:t>
            </a: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581025" y="66600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