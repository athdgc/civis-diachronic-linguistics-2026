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Mountains of Christmas"/>
      <p:regular r:id="rId14"/>
      <p:bold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untainsofChristmas-bold.fntdata"/><Relationship Id="rId14" Type="http://schemas.openxmlformats.org/officeDocument/2006/relationships/font" Target="fonts/MountainsofChristmas-regular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10" Type="http://schemas.openxmlformats.org/officeDocument/2006/relationships/image" Target="../media/image10.png"/><Relationship Id="rId9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6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10" Type="http://schemas.openxmlformats.org/officeDocument/2006/relationships/image" Target="../media/image20.png"/><Relationship Id="rId9" Type="http://schemas.openxmlformats.org/officeDocument/2006/relationships/image" Target="../media/image29.png"/><Relationship Id="rId5" Type="http://schemas.openxmlformats.org/officeDocument/2006/relationships/image" Target="../media/image13.png"/><Relationship Id="rId6" Type="http://schemas.openxmlformats.org/officeDocument/2006/relationships/image" Target="../media/image38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10" Type="http://schemas.openxmlformats.org/officeDocument/2006/relationships/image" Target="../media/image39.png"/><Relationship Id="rId9" Type="http://schemas.openxmlformats.org/officeDocument/2006/relationships/image" Target="../media/image28.png"/><Relationship Id="rId5" Type="http://schemas.openxmlformats.org/officeDocument/2006/relationships/image" Target="../media/image13.png"/><Relationship Id="rId6" Type="http://schemas.openxmlformats.org/officeDocument/2006/relationships/image" Target="../media/image38.png"/><Relationship Id="rId7" Type="http://schemas.openxmlformats.org/officeDocument/2006/relationships/image" Target="../media/image22.png"/><Relationship Id="rId8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11" Type="http://schemas.openxmlformats.org/officeDocument/2006/relationships/image" Target="../media/image35.png"/><Relationship Id="rId10" Type="http://schemas.openxmlformats.org/officeDocument/2006/relationships/image" Target="../media/image36.png"/><Relationship Id="rId9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9" Type="http://schemas.openxmlformats.org/officeDocument/2006/relationships/image" Target="../media/image48.png"/><Relationship Id="rId5" Type="http://schemas.openxmlformats.org/officeDocument/2006/relationships/image" Target="../media/image40.png"/><Relationship Id="rId6" Type="http://schemas.openxmlformats.org/officeDocument/2006/relationships/image" Target="../media/image42.png"/><Relationship Id="rId7" Type="http://schemas.openxmlformats.org/officeDocument/2006/relationships/image" Target="../media/image46.png"/><Relationship Id="rId8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4295775"/>
            <a:ext cx="110871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76225" y="1838325"/>
            <a:ext cx="1163955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The Phonetic Carol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6225" y="3257550"/>
            <a:ext cx="116395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5803D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Class Participation Quiz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75347" y="4486275"/>
            <a:ext cx="104413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Sing along if you dare!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0070" y="74667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76544" y="141729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4090" y="539501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1081980"/>
            <a:ext cx="2857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1591121"/>
            <a:ext cx="5257800" cy="4466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91121"/>
            <a:ext cx="5257800" cy="446618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38200" y="2229296"/>
            <a:ext cx="492061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5803D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Verse 1 &amp; Chorus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838200" y="2743646"/>
            <a:ext cx="46863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38200" y="2953196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In the land of sounds we dwell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Where whispers rise and echoes swell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Manner of articulation</a:t>
            </a: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rings the bell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38200" y="4058096"/>
            <a:ext cx="4686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[Chorus]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Height frontness roundness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Oh so sweet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Dancing vowels with nimble feet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Phonemes... Allophones...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They complete the beat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0" y="2229296"/>
            <a:ext cx="492061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5803D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Verse 2 &amp; Bridge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6667500" y="2743646"/>
            <a:ext cx="46863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667500" y="2953196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Glottal stops</a:t>
            </a: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and fricatives glide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Nasal hums, they never hide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Tongues and lips in a phonetic tide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667500" y="4058096"/>
            <a:ext cx="4686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[Bridge]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 Consonants clash, Vowels bloom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 A symphony in every room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Phonology</a:t>
            </a:r>
            <a:r>
              <a:rPr b="0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 paints the sonic loom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276225" y="552450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The Carol Lyrics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2824162"/>
            <a:ext cx="35052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824162"/>
            <a:ext cx="35052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4350" y="2824162"/>
            <a:ext cx="3505200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654968" y="4090987"/>
            <a:ext cx="13001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66775" y="4833937"/>
            <a:ext cx="2876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Height, Frontness, Roundness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455920" y="4090987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B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776787" y="4833937"/>
            <a:ext cx="26384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Gold, Frankincense, Myrrh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246870" y="4090987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C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53437" y="4833937"/>
            <a:ext cx="28670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Sugar, Spice, Everything Nice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31765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31765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96450" y="31765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132939" y="41136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276225" y="928687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Q1: According to the Chorus...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52450" y="2005012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What three things make the vowels "oh so sweet"?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435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654968" y="4229100"/>
            <a:ext cx="13001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A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628775" y="4972050"/>
            <a:ext cx="13525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Santa's Sleigh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455920" y="4229100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B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962525" y="4972050"/>
            <a:ext cx="2266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Manner of Articulation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246870" y="4229100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C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658225" y="4972050"/>
            <a:ext cx="2457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The Glottal Stop Express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6925" y="33147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3314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20262" y="33147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8060" y="573032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276225" y="1066800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Q2: In Verse 1...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52450" y="2143125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What "Rings the Bell"?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435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1654968" y="4229100"/>
            <a:ext cx="13001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A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781175" y="4972050"/>
            <a:ext cx="1047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Phonology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455920" y="4229100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B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348287" y="4972050"/>
            <a:ext cx="14954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Elf on the Shelf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246870" y="4229100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C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334500" y="4972050"/>
            <a:ext cx="1104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The Grinch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3314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3314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20262" y="33147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80070" y="74667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276225" y="1066800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Q3: In the Bridge...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52450" y="2143125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Who or what "paints the sonic loom"?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5956" y="4391025"/>
            <a:ext cx="2722512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8969" y="4391025"/>
            <a:ext cx="2617737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7207" y="4391025"/>
            <a:ext cx="2598687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81238" y="5448300"/>
            <a:ext cx="2657623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29362" y="5448300"/>
            <a:ext cx="238125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2450" y="3543300"/>
            <a:ext cx="110871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276225" y="2200275"/>
            <a:ext cx="1163955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5803D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"Christmas"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43387" y="37147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40429" y="7466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276225" y="542925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Bonus Round: Transcription!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52450" y="1638300"/>
            <a:ext cx="110871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Pick the correct American transcription for: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6834" y="2762250"/>
            <a:ext cx="484629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762250"/>
            <a:ext cx="484629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6834" y="3962400"/>
            <a:ext cx="484629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3962400"/>
            <a:ext cx="484629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1468784" y="2952750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Q1</a:t>
            </a:r>
            <a:endParaRPr/>
          </a:p>
        </p:txBody>
      </p:sp>
      <p:pic>
        <p:nvPicPr>
          <p:cNvPr descr="image.png" id="195" name="Google Shape;19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9725" y="307657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6600825" y="2952750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Q2</a:t>
            </a:r>
            <a:endParaRPr/>
          </a:p>
        </p:txBody>
      </p:sp>
      <p:pic>
        <p:nvPicPr>
          <p:cNvPr descr="image.png" id="197" name="Google Shape;19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51765" y="307657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1468784" y="4157662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Q3</a:t>
            </a:r>
            <a:endParaRPr/>
          </a:p>
        </p:txBody>
      </p:sp>
      <p:pic>
        <p:nvPicPr>
          <p:cNvPr descr="image.png" id="199" name="Google Shape;19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19725" y="4281487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6600825" y="4157662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Bonus</a:t>
            </a:r>
            <a:endParaRPr/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75565" y="4281487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2135534" y="2952750"/>
            <a:ext cx="3028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Height, Frontness, Roundness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2135534" y="3276600"/>
            <a:ext cx="30289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Option A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267575" y="2952750"/>
            <a:ext cx="2381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Manner of Articulation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267575" y="327660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Option B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2135534" y="4157662"/>
            <a:ext cx="2019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Phonology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2135534" y="4481512"/>
            <a:ext cx="20193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Option A (Paints the loom!)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7267575" y="4152900"/>
            <a:ext cx="1895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[ˈkrɪs.məs]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267575" y="4486275"/>
            <a:ext cx="18954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Option 3 (The 't' is silent!)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276225" y="1971675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Santa's Answer Key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91C1C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781050"/>
            <a:ext cx="11087100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875347" y="1352550"/>
            <a:ext cx="10441305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FFFFF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A Harmony Unknown!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123950" y="3000375"/>
            <a:ext cx="9944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DF6E3"/>
                </a:solidFill>
                <a:latin typeface="Lato"/>
                <a:ea typeface="Lato"/>
                <a:cs typeface="Lato"/>
                <a:sym typeface="Lato"/>
              </a:rPr>
              <a:t>You have completed the beat.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123950" y="5000625"/>
            <a:ext cx="9944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F6E3"/>
                </a:solidFill>
                <a:latin typeface="Lato"/>
                <a:ea typeface="Lato"/>
                <a:cs typeface="Lato"/>
                <a:sym typeface="Lato"/>
              </a:rPr>
              <a:t>(Please claim your metaphorical candy cane on the way out)</a:t>
            </a:r>
            <a:endParaRPr/>
          </a:p>
        </p:txBody>
      </p:sp>
      <p:pic>
        <p:nvPicPr>
          <p:cNvPr descr="image.png" id="220" name="Google Shape;22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7250" y="3886200"/>
            <a:ext cx="857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7375" y="3886200"/>
            <a:ext cx="857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3886200"/>
            <a:ext cx="8572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