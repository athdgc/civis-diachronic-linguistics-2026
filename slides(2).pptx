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  <p:sldId id="363" r:id="rId113"/>
    <p:sldId id="364" r:id="rId114"/>
    <p:sldId id="365" r:id="rId115"/>
    <p:sldId id="366" r:id="rId116"/>
    <p:sldId id="367" r:id="rId117"/>
    <p:sldId id="368" r:id="rId118"/>
    <p:sldId id="369" r:id="rId119"/>
    <p:sldId id="370" r:id="rId120"/>
    <p:sldId id="371" r:id="rId121"/>
    <p:sldId id="372" r:id="rId122"/>
    <p:sldId id="373" r:id="rId123"/>
    <p:sldId id="374" r:id="rId124"/>
    <p:sldId id="375" r:id="rId125"/>
  </p:sldIdLst>
  <p:sldSz cx="10693400" cy="7556500"/>
  <p:notesSz cx="10693400" cy="7556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slide" Target="slides/slide73.xml"/><Relationship Id="rId79" Type="http://schemas.openxmlformats.org/officeDocument/2006/relationships/slide" Target="slides/slide74.xml"/><Relationship Id="rId80" Type="http://schemas.openxmlformats.org/officeDocument/2006/relationships/slide" Target="slides/slide75.xml"/><Relationship Id="rId81" Type="http://schemas.openxmlformats.org/officeDocument/2006/relationships/slide" Target="slides/slide76.xml"/><Relationship Id="rId82" Type="http://schemas.openxmlformats.org/officeDocument/2006/relationships/slide" Target="slides/slide77.xml"/><Relationship Id="rId83" Type="http://schemas.openxmlformats.org/officeDocument/2006/relationships/slide" Target="slides/slide78.xml"/><Relationship Id="rId84" Type="http://schemas.openxmlformats.org/officeDocument/2006/relationships/slide" Target="slides/slide79.xml"/><Relationship Id="rId85" Type="http://schemas.openxmlformats.org/officeDocument/2006/relationships/slide" Target="slides/slide80.xml"/><Relationship Id="rId86" Type="http://schemas.openxmlformats.org/officeDocument/2006/relationships/slide" Target="slides/slide81.xml"/><Relationship Id="rId87" Type="http://schemas.openxmlformats.org/officeDocument/2006/relationships/slide" Target="slides/slide82.xml"/><Relationship Id="rId88" Type="http://schemas.openxmlformats.org/officeDocument/2006/relationships/slide" Target="slides/slide83.xml"/><Relationship Id="rId89" Type="http://schemas.openxmlformats.org/officeDocument/2006/relationships/slide" Target="slides/slide84.xml"/><Relationship Id="rId90" Type="http://schemas.openxmlformats.org/officeDocument/2006/relationships/slide" Target="slides/slide85.xml"/><Relationship Id="rId91" Type="http://schemas.openxmlformats.org/officeDocument/2006/relationships/slide" Target="slides/slide86.xml"/><Relationship Id="rId92" Type="http://schemas.openxmlformats.org/officeDocument/2006/relationships/slide" Target="slides/slide87.xml"/><Relationship Id="rId93" Type="http://schemas.openxmlformats.org/officeDocument/2006/relationships/slide" Target="slides/slide88.xml"/><Relationship Id="rId94" Type="http://schemas.openxmlformats.org/officeDocument/2006/relationships/slide" Target="slides/slide89.xml"/><Relationship Id="rId95" Type="http://schemas.openxmlformats.org/officeDocument/2006/relationships/slide" Target="slides/slide90.xml"/><Relationship Id="rId96" Type="http://schemas.openxmlformats.org/officeDocument/2006/relationships/slide" Target="slides/slide91.xml"/><Relationship Id="rId97" Type="http://schemas.openxmlformats.org/officeDocument/2006/relationships/slide" Target="slides/slide92.xml"/><Relationship Id="rId98" Type="http://schemas.openxmlformats.org/officeDocument/2006/relationships/slide" Target="slides/slide93.xml"/><Relationship Id="rId99" Type="http://schemas.openxmlformats.org/officeDocument/2006/relationships/slide" Target="slides/slide94.xml"/><Relationship Id="rId100" Type="http://schemas.openxmlformats.org/officeDocument/2006/relationships/slide" Target="slides/slide95.xml"/><Relationship Id="rId101" Type="http://schemas.openxmlformats.org/officeDocument/2006/relationships/slide" Target="slides/slide96.xml"/><Relationship Id="rId102" Type="http://schemas.openxmlformats.org/officeDocument/2006/relationships/slide" Target="slides/slide97.xml"/><Relationship Id="rId103" Type="http://schemas.openxmlformats.org/officeDocument/2006/relationships/slide" Target="slides/slide98.xml"/><Relationship Id="rId104" Type="http://schemas.openxmlformats.org/officeDocument/2006/relationships/slide" Target="slides/slide99.xml"/><Relationship Id="rId105" Type="http://schemas.openxmlformats.org/officeDocument/2006/relationships/slide" Target="slides/slide100.xml"/><Relationship Id="rId106" Type="http://schemas.openxmlformats.org/officeDocument/2006/relationships/slide" Target="slides/slide101.xml"/><Relationship Id="rId107" Type="http://schemas.openxmlformats.org/officeDocument/2006/relationships/slide" Target="slides/slide102.xml"/><Relationship Id="rId108" Type="http://schemas.openxmlformats.org/officeDocument/2006/relationships/slide" Target="slides/slide103.xml"/><Relationship Id="rId109" Type="http://schemas.openxmlformats.org/officeDocument/2006/relationships/slide" Target="slides/slide104.xml"/><Relationship Id="rId110" Type="http://schemas.openxmlformats.org/officeDocument/2006/relationships/slide" Target="slides/slide105.xml"/><Relationship Id="rId111" Type="http://schemas.openxmlformats.org/officeDocument/2006/relationships/slide" Target="slides/slide106.xml"/><Relationship Id="rId112" Type="http://schemas.openxmlformats.org/officeDocument/2006/relationships/slide" Target="slides/slide107.xml"/><Relationship Id="rId113" Type="http://schemas.openxmlformats.org/officeDocument/2006/relationships/slide" Target="slides/slide108.xml"/><Relationship Id="rId114" Type="http://schemas.openxmlformats.org/officeDocument/2006/relationships/slide" Target="slides/slide109.xml"/><Relationship Id="rId115" Type="http://schemas.openxmlformats.org/officeDocument/2006/relationships/slide" Target="slides/slide110.xml"/><Relationship Id="rId116" Type="http://schemas.openxmlformats.org/officeDocument/2006/relationships/slide" Target="slides/slide111.xml"/><Relationship Id="rId117" Type="http://schemas.openxmlformats.org/officeDocument/2006/relationships/slide" Target="slides/slide112.xml"/><Relationship Id="rId118" Type="http://schemas.openxmlformats.org/officeDocument/2006/relationships/slide" Target="slides/slide113.xml"/><Relationship Id="rId119" Type="http://schemas.openxmlformats.org/officeDocument/2006/relationships/slide" Target="slides/slide114.xml"/><Relationship Id="rId120" Type="http://schemas.openxmlformats.org/officeDocument/2006/relationships/slide" Target="slides/slide115.xml"/><Relationship Id="rId121" Type="http://schemas.openxmlformats.org/officeDocument/2006/relationships/slide" Target="slides/slide116.xml"/><Relationship Id="rId122" Type="http://schemas.openxmlformats.org/officeDocument/2006/relationships/slide" Target="slides/slide117.xml"/><Relationship Id="rId123" Type="http://schemas.openxmlformats.org/officeDocument/2006/relationships/slide" Target="slides/slide118.xml"/><Relationship Id="rId124" Type="http://schemas.openxmlformats.org/officeDocument/2006/relationships/slide" Target="slides/slide119.xml"/><Relationship Id="rId125" Type="http://schemas.openxmlformats.org/officeDocument/2006/relationships/slide" Target="slides/slide12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771525"/>
            <a:ext cx="10693449" cy="6015065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584797" y="1356322"/>
            <a:ext cx="50165" cy="543560"/>
          </a:xfrm>
          <a:custGeom>
            <a:avLst/>
            <a:gdLst/>
            <a:ahLst/>
            <a:cxnLst/>
            <a:rect l="l" t="t" r="r" b="b"/>
            <a:pathLst>
              <a:path w="50165" h="543560">
                <a:moveTo>
                  <a:pt x="50125" y="543026"/>
                </a:moveTo>
                <a:lnTo>
                  <a:pt x="0" y="543026"/>
                </a:lnTo>
                <a:lnTo>
                  <a:pt x="0" y="0"/>
                </a:lnTo>
                <a:lnTo>
                  <a:pt x="50125" y="0"/>
                </a:lnTo>
                <a:lnTo>
                  <a:pt x="50125" y="543026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798575" y="1444752"/>
            <a:ext cx="6205855" cy="463550"/>
          </a:xfrm>
          <a:custGeom>
            <a:avLst/>
            <a:gdLst/>
            <a:ahLst/>
            <a:cxnLst/>
            <a:rect l="l" t="t" r="r" b="b"/>
            <a:pathLst>
              <a:path w="6205855" h="463550">
                <a:moveTo>
                  <a:pt x="6205727" y="463295"/>
                </a:moveTo>
                <a:lnTo>
                  <a:pt x="0" y="463295"/>
                </a:lnTo>
                <a:lnTo>
                  <a:pt x="0" y="0"/>
                </a:lnTo>
                <a:lnTo>
                  <a:pt x="6205727" y="0"/>
                </a:lnTo>
                <a:lnTo>
                  <a:pt x="6205727" y="463295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89308" y="1360331"/>
            <a:ext cx="6174105" cy="5067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50" b="1" i="0">
                <a:solidFill>
                  <a:srgbClr val="60A5FA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1640"/>
            <a:ext cx="7485380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1" i="0">
                <a:solidFill>
                  <a:srgbClr val="FBD34D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50" b="1" i="0">
                <a:solidFill>
                  <a:srgbClr val="60A5FA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100" b="1" i="0">
                <a:solidFill>
                  <a:srgbClr val="FBD34D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50" b="1" i="0">
                <a:solidFill>
                  <a:srgbClr val="60A5FA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3467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507101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50" b="1" i="0">
                <a:solidFill>
                  <a:srgbClr val="60A5FA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771525"/>
            <a:ext cx="10693449" cy="601506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9308" y="1360331"/>
            <a:ext cx="9315450" cy="5067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50" b="1" i="0">
                <a:solidFill>
                  <a:srgbClr val="60A5FA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2097" y="2563344"/>
            <a:ext cx="5383530" cy="2184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1" i="0">
                <a:solidFill>
                  <a:srgbClr val="FBD34D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635756" y="7027545"/>
            <a:ext cx="3421888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699248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5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5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5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5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6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6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6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6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6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6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
</file>

<file path=ppt/slides/_rels/slide6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7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7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7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7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7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7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7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8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
</file>

<file path=ppt/slides/_rels/slide8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8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8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8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8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8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8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8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8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9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9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9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9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9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9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9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9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9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10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10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10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10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10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10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10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10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10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1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1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1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1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1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
</file>

<file path=ppt/slides/_rels/slide1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1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1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1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1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3469949"/>
            <a:ext cx="9524365" cy="33655"/>
          </a:xfrm>
          <a:custGeom>
            <a:avLst/>
            <a:gdLst/>
            <a:ahLst/>
            <a:cxnLst/>
            <a:rect l="l" t="t" r="r" b="b"/>
            <a:pathLst>
              <a:path w="9524365" h="33654">
                <a:moveTo>
                  <a:pt x="9523853" y="33417"/>
                </a:moveTo>
                <a:lnTo>
                  <a:pt x="0" y="33417"/>
                </a:lnTo>
                <a:lnTo>
                  <a:pt x="0" y="0"/>
                </a:lnTo>
                <a:lnTo>
                  <a:pt x="9523853" y="0"/>
                </a:lnTo>
                <a:lnTo>
                  <a:pt x="9523853" y="33417"/>
                </a:lnTo>
                <a:close/>
              </a:path>
            </a:pathLst>
          </a:custGeom>
          <a:solidFill>
            <a:srgbClr val="FABE2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548640" y="1463039"/>
            <a:ext cx="6434455" cy="500380"/>
          </a:xfrm>
          <a:custGeom>
            <a:avLst/>
            <a:gdLst/>
            <a:ahLst/>
            <a:cxnLst/>
            <a:rect l="l" t="t" r="r" b="b"/>
            <a:pathLst>
              <a:path w="6434455" h="500380">
                <a:moveTo>
                  <a:pt x="6434327" y="499871"/>
                </a:moveTo>
                <a:lnTo>
                  <a:pt x="0" y="499871"/>
                </a:lnTo>
                <a:lnTo>
                  <a:pt x="0" y="0"/>
                </a:lnTo>
                <a:lnTo>
                  <a:pt x="6434327" y="0"/>
                </a:lnTo>
                <a:lnTo>
                  <a:pt x="6434327" y="499871"/>
                </a:lnTo>
                <a:close/>
              </a:path>
            </a:pathLst>
          </a:custGeom>
          <a:solidFill>
            <a:srgbClr val="000000">
              <a:alpha val="5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72097" y="1372027"/>
            <a:ext cx="6360795" cy="60325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750" spc="-100">
                <a:solidFill>
                  <a:srgbClr val="FABE24"/>
                </a:solidFill>
              </a:rPr>
              <a:t>The</a:t>
            </a:r>
            <a:r>
              <a:rPr dirty="0" sz="3750" spc="-150">
                <a:solidFill>
                  <a:srgbClr val="FABE24"/>
                </a:solidFill>
              </a:rPr>
              <a:t> </a:t>
            </a:r>
            <a:r>
              <a:rPr dirty="0" sz="3750" spc="-140">
                <a:solidFill>
                  <a:srgbClr val="FABE24"/>
                </a:solidFill>
              </a:rPr>
              <a:t>Textual</a:t>
            </a:r>
            <a:r>
              <a:rPr dirty="0" sz="3750" spc="-150">
                <a:solidFill>
                  <a:srgbClr val="FABE24"/>
                </a:solidFill>
              </a:rPr>
              <a:t> </a:t>
            </a:r>
            <a:r>
              <a:rPr dirty="0" sz="3750" spc="-95">
                <a:solidFill>
                  <a:srgbClr val="FABE24"/>
                </a:solidFill>
              </a:rPr>
              <a:t>Foundation</a:t>
            </a:r>
            <a:r>
              <a:rPr dirty="0" sz="3750" spc="-150">
                <a:solidFill>
                  <a:srgbClr val="FABE24"/>
                </a:solidFill>
              </a:rPr>
              <a:t> </a:t>
            </a:r>
            <a:r>
              <a:rPr dirty="0" sz="3750" spc="-30">
                <a:solidFill>
                  <a:srgbClr val="FABE24"/>
                </a:solidFill>
              </a:rPr>
              <a:t>and</a:t>
            </a:r>
            <a:endParaRPr sz="3750"/>
          </a:p>
        </p:txBody>
      </p:sp>
      <p:sp>
        <p:nvSpPr>
          <p:cNvPr id="5" name="object 5" descr=""/>
          <p:cNvSpPr/>
          <p:nvPr/>
        </p:nvSpPr>
        <p:spPr>
          <a:xfrm>
            <a:off x="551687" y="2115311"/>
            <a:ext cx="9232900" cy="573405"/>
          </a:xfrm>
          <a:custGeom>
            <a:avLst/>
            <a:gdLst/>
            <a:ahLst/>
            <a:cxnLst/>
            <a:rect l="l" t="t" r="r" b="b"/>
            <a:pathLst>
              <a:path w="9232900" h="573405">
                <a:moveTo>
                  <a:pt x="9232391" y="573023"/>
                </a:moveTo>
                <a:lnTo>
                  <a:pt x="0" y="573023"/>
                </a:lnTo>
                <a:lnTo>
                  <a:pt x="0" y="0"/>
                </a:lnTo>
                <a:lnTo>
                  <a:pt x="9232391" y="0"/>
                </a:lnTo>
                <a:lnTo>
                  <a:pt x="9232391" y="573023"/>
                </a:lnTo>
                <a:close/>
              </a:path>
            </a:pathLst>
          </a:custGeom>
          <a:solidFill>
            <a:srgbClr val="000000">
              <a:alpha val="5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551687" y="2773679"/>
            <a:ext cx="3883660" cy="567055"/>
          </a:xfrm>
          <a:custGeom>
            <a:avLst/>
            <a:gdLst/>
            <a:ahLst/>
            <a:cxnLst/>
            <a:rect l="l" t="t" r="r" b="b"/>
            <a:pathLst>
              <a:path w="3883660" h="567054">
                <a:moveTo>
                  <a:pt x="3883151" y="566927"/>
                </a:moveTo>
                <a:lnTo>
                  <a:pt x="0" y="566927"/>
                </a:lnTo>
                <a:lnTo>
                  <a:pt x="0" y="0"/>
                </a:lnTo>
                <a:lnTo>
                  <a:pt x="3883151" y="0"/>
                </a:lnTo>
                <a:lnTo>
                  <a:pt x="3883151" y="566927"/>
                </a:lnTo>
                <a:close/>
              </a:path>
            </a:pathLst>
          </a:custGeom>
          <a:solidFill>
            <a:srgbClr val="000000">
              <a:alpha val="5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572097" y="1949473"/>
            <a:ext cx="9157335" cy="13290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13999"/>
              </a:lnSpc>
              <a:spcBef>
                <a:spcPts val="90"/>
              </a:spcBef>
            </a:pPr>
            <a:r>
              <a:rPr dirty="0" sz="3750" spc="-75" b="1">
                <a:solidFill>
                  <a:srgbClr val="FABE24"/>
                </a:solidFill>
                <a:latin typeface="Tahoma"/>
                <a:cs typeface="Tahoma"/>
              </a:rPr>
              <a:t>Computational</a:t>
            </a:r>
            <a:r>
              <a:rPr dirty="0" sz="3750" spc="-200" b="1">
                <a:solidFill>
                  <a:srgbClr val="FABE24"/>
                </a:solidFill>
                <a:latin typeface="Tahoma"/>
                <a:cs typeface="Tahoma"/>
              </a:rPr>
              <a:t> </a:t>
            </a:r>
            <a:r>
              <a:rPr dirty="0" sz="3750" spc="-25" b="1">
                <a:solidFill>
                  <a:srgbClr val="FABE24"/>
                </a:solidFill>
                <a:latin typeface="Tahoma"/>
                <a:cs typeface="Tahoma"/>
              </a:rPr>
              <a:t>Architecture</a:t>
            </a:r>
            <a:r>
              <a:rPr dirty="0" sz="3750" spc="-200" b="1">
                <a:solidFill>
                  <a:srgbClr val="FABE24"/>
                </a:solidFill>
                <a:latin typeface="Tahoma"/>
                <a:cs typeface="Tahoma"/>
              </a:rPr>
              <a:t> </a:t>
            </a:r>
            <a:r>
              <a:rPr dirty="0" sz="3750" spc="-45" b="1">
                <a:solidFill>
                  <a:srgbClr val="FABE24"/>
                </a:solidFill>
                <a:latin typeface="Tahoma"/>
                <a:cs typeface="Tahoma"/>
              </a:rPr>
              <a:t>of</a:t>
            </a:r>
            <a:r>
              <a:rPr dirty="0" sz="3750" spc="-200" b="1">
                <a:solidFill>
                  <a:srgbClr val="FABE24"/>
                </a:solidFill>
                <a:latin typeface="Tahoma"/>
                <a:cs typeface="Tahoma"/>
              </a:rPr>
              <a:t> </a:t>
            </a:r>
            <a:r>
              <a:rPr dirty="0" sz="3750" spc="-105" b="1">
                <a:solidFill>
                  <a:srgbClr val="FABE24"/>
                </a:solidFill>
                <a:latin typeface="Tahoma"/>
                <a:cs typeface="Tahoma"/>
              </a:rPr>
              <a:t>the</a:t>
            </a:r>
            <a:r>
              <a:rPr dirty="0" sz="3750" spc="-200" b="1">
                <a:solidFill>
                  <a:srgbClr val="FABE24"/>
                </a:solidFill>
                <a:latin typeface="Tahoma"/>
                <a:cs typeface="Tahoma"/>
              </a:rPr>
              <a:t> </a:t>
            </a:r>
            <a:r>
              <a:rPr dirty="0" sz="3750" spc="-20" b="1">
                <a:solidFill>
                  <a:srgbClr val="FABE24"/>
                </a:solidFill>
                <a:latin typeface="Tahoma"/>
                <a:cs typeface="Tahoma"/>
              </a:rPr>
              <a:t>CVL- </a:t>
            </a:r>
            <a:r>
              <a:rPr dirty="0" sz="3750" b="1">
                <a:solidFill>
                  <a:srgbClr val="FABE24"/>
                </a:solidFill>
                <a:latin typeface="Tahoma"/>
                <a:cs typeface="Tahoma"/>
              </a:rPr>
              <a:t>CDSAML</a:t>
            </a:r>
            <a:r>
              <a:rPr dirty="0" sz="3750" spc="20" b="1">
                <a:solidFill>
                  <a:srgbClr val="FABE24"/>
                </a:solidFill>
                <a:latin typeface="Tahoma"/>
                <a:cs typeface="Tahoma"/>
              </a:rPr>
              <a:t> </a:t>
            </a:r>
            <a:r>
              <a:rPr dirty="0" sz="3750" spc="-10" b="1">
                <a:solidFill>
                  <a:srgbClr val="FABE24"/>
                </a:solidFill>
                <a:latin typeface="Tahoma"/>
                <a:cs typeface="Tahoma"/>
              </a:rPr>
              <a:t>Corpus</a:t>
            </a:r>
            <a:endParaRPr sz="3750">
              <a:latin typeface="Tahoma"/>
              <a:cs typeface="Tahom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72097" y="3520716"/>
            <a:ext cx="9484995" cy="3098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966469">
              <a:lnSpc>
                <a:spcPct val="130000"/>
              </a:lnSpc>
              <a:spcBef>
                <a:spcPts val="95"/>
              </a:spcBef>
            </a:pPr>
            <a:r>
              <a:rPr dirty="0" sz="2150" spc="45" i="1">
                <a:solidFill>
                  <a:srgbClr val="A5F2FB"/>
                </a:solidFill>
                <a:latin typeface="Trebuchet MS"/>
                <a:cs typeface="Trebuchet MS"/>
              </a:rPr>
              <a:t>Bridging</a:t>
            </a:r>
            <a:r>
              <a:rPr dirty="0" sz="2150" spc="-30" i="1">
                <a:solidFill>
                  <a:srgbClr val="A5F2FB"/>
                </a:solidFill>
                <a:latin typeface="Trebuchet MS"/>
                <a:cs typeface="Trebuchet MS"/>
              </a:rPr>
              <a:t> </a:t>
            </a:r>
            <a:r>
              <a:rPr dirty="0" sz="2150" i="1">
                <a:solidFill>
                  <a:srgbClr val="A5F2FB"/>
                </a:solidFill>
                <a:latin typeface="Trebuchet MS"/>
                <a:cs typeface="Trebuchet MS"/>
              </a:rPr>
              <a:t>three</a:t>
            </a:r>
            <a:r>
              <a:rPr dirty="0" sz="2150" spc="-30" i="1">
                <a:solidFill>
                  <a:srgbClr val="A5F2FB"/>
                </a:solidFill>
                <a:latin typeface="Trebuchet MS"/>
                <a:cs typeface="Trebuchet MS"/>
              </a:rPr>
              <a:t> </a:t>
            </a:r>
            <a:r>
              <a:rPr dirty="0" sz="2150" spc="-10" i="1">
                <a:solidFill>
                  <a:srgbClr val="A5F2FB"/>
                </a:solidFill>
                <a:latin typeface="Trebuchet MS"/>
                <a:cs typeface="Trebuchet MS"/>
              </a:rPr>
              <a:t>millennia</a:t>
            </a:r>
            <a:r>
              <a:rPr dirty="0" sz="2150" spc="-25" i="1">
                <a:solidFill>
                  <a:srgbClr val="A5F2FB"/>
                </a:solidFill>
                <a:latin typeface="Trebuchet MS"/>
                <a:cs typeface="Trebuchet MS"/>
              </a:rPr>
              <a:t> </a:t>
            </a:r>
            <a:r>
              <a:rPr dirty="0" sz="2150" i="1">
                <a:solidFill>
                  <a:srgbClr val="A5F2FB"/>
                </a:solidFill>
                <a:latin typeface="Trebuchet MS"/>
                <a:cs typeface="Trebuchet MS"/>
              </a:rPr>
              <a:t>of</a:t>
            </a:r>
            <a:r>
              <a:rPr dirty="0" sz="2150" spc="-30" i="1">
                <a:solidFill>
                  <a:srgbClr val="A5F2FB"/>
                </a:solidFill>
                <a:latin typeface="Trebuchet MS"/>
                <a:cs typeface="Trebuchet MS"/>
              </a:rPr>
              <a:t> </a:t>
            </a:r>
            <a:r>
              <a:rPr dirty="0" sz="2150" i="1">
                <a:solidFill>
                  <a:srgbClr val="A5F2FB"/>
                </a:solidFill>
                <a:latin typeface="Trebuchet MS"/>
                <a:cs typeface="Trebuchet MS"/>
              </a:rPr>
              <a:t>linguistic</a:t>
            </a:r>
            <a:r>
              <a:rPr dirty="0" sz="2150" spc="-30" i="1">
                <a:solidFill>
                  <a:srgbClr val="A5F2FB"/>
                </a:solidFill>
                <a:latin typeface="Trebuchet MS"/>
                <a:cs typeface="Trebuchet MS"/>
              </a:rPr>
              <a:t> </a:t>
            </a:r>
            <a:r>
              <a:rPr dirty="0" sz="2150" i="1">
                <a:solidFill>
                  <a:srgbClr val="A5F2FB"/>
                </a:solidFill>
                <a:latin typeface="Trebuchet MS"/>
                <a:cs typeface="Trebuchet MS"/>
              </a:rPr>
              <a:t>history</a:t>
            </a:r>
            <a:r>
              <a:rPr dirty="0" sz="2150" spc="-25" i="1">
                <a:solidFill>
                  <a:srgbClr val="A5F2FB"/>
                </a:solidFill>
                <a:latin typeface="Trebuchet MS"/>
                <a:cs typeface="Trebuchet MS"/>
              </a:rPr>
              <a:t> </a:t>
            </a:r>
            <a:r>
              <a:rPr dirty="0" sz="2150" i="1">
                <a:solidFill>
                  <a:srgbClr val="A5F2FB"/>
                </a:solidFill>
                <a:latin typeface="Trebuchet MS"/>
                <a:cs typeface="Trebuchet MS"/>
              </a:rPr>
              <a:t>through</a:t>
            </a:r>
            <a:r>
              <a:rPr dirty="0" sz="2150" spc="-30" i="1">
                <a:solidFill>
                  <a:srgbClr val="A5F2FB"/>
                </a:solidFill>
                <a:latin typeface="Trebuchet MS"/>
                <a:cs typeface="Trebuchet MS"/>
              </a:rPr>
              <a:t> </a:t>
            </a:r>
            <a:r>
              <a:rPr dirty="0" sz="2150" spc="-10" i="1">
                <a:solidFill>
                  <a:srgbClr val="A5F2FB"/>
                </a:solidFill>
                <a:latin typeface="Trebuchet MS"/>
                <a:cs typeface="Trebuchet MS"/>
              </a:rPr>
              <a:t>computational philology</a:t>
            </a:r>
            <a:endParaRPr sz="2150">
              <a:latin typeface="Trebuchet MS"/>
              <a:cs typeface="Trebuchet MS"/>
            </a:endParaRPr>
          </a:p>
          <a:p>
            <a:pPr marL="12700" marR="5080">
              <a:lnSpc>
                <a:spcPct val="133100"/>
              </a:lnSpc>
              <a:spcBef>
                <a:spcPts val="715"/>
              </a:spcBef>
            </a:pP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This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presentation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explores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5">
                <a:solidFill>
                  <a:srgbClr val="F7FAFB"/>
                </a:solidFill>
                <a:latin typeface="Tahoma"/>
                <a:cs typeface="Tahoma"/>
              </a:rPr>
              <a:t>Part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2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of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our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research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paper,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focusing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on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45">
                <a:solidFill>
                  <a:srgbClr val="F7FAFB"/>
                </a:solidFill>
                <a:latin typeface="Tahoma"/>
                <a:cs typeface="Tahoma"/>
              </a:rPr>
              <a:t>how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the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10">
                <a:solidFill>
                  <a:srgbClr val="F7FAFB"/>
                </a:solidFill>
                <a:latin typeface="Tahoma"/>
                <a:cs typeface="Tahoma"/>
              </a:rPr>
              <a:t>CVL-</a:t>
            </a:r>
            <a:r>
              <a:rPr dirty="0" sz="2100" spc="195">
                <a:solidFill>
                  <a:srgbClr val="F7FAFB"/>
                </a:solidFill>
                <a:latin typeface="Tahoma"/>
                <a:cs typeface="Tahoma"/>
              </a:rPr>
              <a:t>CDSAML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corpus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is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structured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and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how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10">
                <a:solidFill>
                  <a:srgbClr val="F7FAFB"/>
                </a:solidFill>
                <a:latin typeface="Tahoma"/>
                <a:cs typeface="Tahoma"/>
              </a:rPr>
              <a:t>it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serves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as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the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foundation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for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extracting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diachronic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valency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patterns.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35">
                <a:solidFill>
                  <a:srgbClr val="F7FAFB"/>
                </a:solidFill>
                <a:latin typeface="Tahoma"/>
                <a:cs typeface="Tahoma"/>
              </a:rPr>
              <a:t>We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14">
                <a:solidFill>
                  <a:srgbClr val="F7FAFB"/>
                </a:solidFill>
                <a:latin typeface="Tahoma"/>
                <a:cs typeface="Tahoma"/>
              </a:rPr>
              <a:t>will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examine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the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corpus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architecture,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text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selection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criteria,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and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the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computational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methods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30">
                <a:solidFill>
                  <a:srgbClr val="F7FAFB"/>
                </a:solidFill>
                <a:latin typeface="Tahoma"/>
                <a:cs typeface="Tahoma"/>
              </a:rPr>
              <a:t>used</a:t>
            </a:r>
            <a:r>
              <a:rPr dirty="0" sz="2100" spc="52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to</a:t>
            </a:r>
            <a:r>
              <a:rPr dirty="0" sz="2100" spc="-3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create</a:t>
            </a:r>
            <a:r>
              <a:rPr dirty="0" sz="2100" spc="-3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a</a:t>
            </a:r>
            <a:r>
              <a:rPr dirty="0" sz="2100" spc="-3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comprehensive</a:t>
            </a:r>
            <a:r>
              <a:rPr dirty="0" sz="2100" spc="-3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valency</a:t>
            </a:r>
            <a:r>
              <a:rPr dirty="0" sz="2100" spc="-3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lexicon</a:t>
            </a:r>
            <a:r>
              <a:rPr dirty="0" sz="2100" spc="-3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0">
                <a:solidFill>
                  <a:srgbClr val="F7FAFB"/>
                </a:solidFill>
                <a:latin typeface="Tahoma"/>
                <a:cs typeface="Tahoma"/>
              </a:rPr>
              <a:t>spanning</a:t>
            </a:r>
            <a:r>
              <a:rPr dirty="0" sz="2100" spc="-3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5">
                <a:solidFill>
                  <a:srgbClr val="F7FAFB"/>
                </a:solidFill>
                <a:latin typeface="Tahoma"/>
                <a:cs typeface="Tahoma"/>
              </a:rPr>
              <a:t>multiple</a:t>
            </a:r>
            <a:r>
              <a:rPr dirty="0" sz="2100" spc="-3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languages</a:t>
            </a:r>
            <a:r>
              <a:rPr dirty="0" sz="2100" spc="-3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25">
                <a:solidFill>
                  <a:srgbClr val="F7FAFB"/>
                </a:solidFill>
                <a:latin typeface="Tahoma"/>
                <a:cs typeface="Tahoma"/>
              </a:rPr>
              <a:t>and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1086485"/>
          </a:xfrm>
          <a:custGeom>
            <a:avLst/>
            <a:gdLst/>
            <a:ahLst/>
            <a:cxnLst/>
            <a:rect l="l" t="t" r="r" b="b"/>
            <a:pathLst>
              <a:path w="50165" h="1086485">
                <a:moveTo>
                  <a:pt x="50125" y="1086053"/>
                </a:moveTo>
                <a:lnTo>
                  <a:pt x="0" y="1086053"/>
                </a:lnTo>
                <a:lnTo>
                  <a:pt x="0" y="0"/>
                </a:lnTo>
                <a:lnTo>
                  <a:pt x="50125" y="0"/>
                </a:lnTo>
                <a:lnTo>
                  <a:pt x="50125" y="1086053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83336" y="1444752"/>
            <a:ext cx="8406765" cy="445134"/>
          </a:xfrm>
          <a:custGeom>
            <a:avLst/>
            <a:gdLst/>
            <a:ahLst/>
            <a:cxnLst/>
            <a:rect l="l" t="t" r="r" b="b"/>
            <a:pathLst>
              <a:path w="8406765" h="445135">
                <a:moveTo>
                  <a:pt x="8406383" y="445007"/>
                </a:moveTo>
                <a:lnTo>
                  <a:pt x="0" y="445007"/>
                </a:lnTo>
                <a:lnTo>
                  <a:pt x="0" y="0"/>
                </a:lnTo>
                <a:lnTo>
                  <a:pt x="8406383" y="0"/>
                </a:lnTo>
                <a:lnTo>
                  <a:pt x="8406383" y="445007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75"/>
              <a:t>Question:</a:t>
            </a:r>
            <a:r>
              <a:rPr dirty="0" spc="-155"/>
              <a:t> </a:t>
            </a:r>
            <a:r>
              <a:rPr dirty="0"/>
              <a:t>What</a:t>
            </a:r>
            <a:r>
              <a:rPr dirty="0" spc="-155"/>
              <a:t> </a:t>
            </a:r>
            <a:r>
              <a:rPr dirty="0" spc="-125"/>
              <a:t>does</a:t>
            </a:r>
            <a:r>
              <a:rPr dirty="0" spc="-150"/>
              <a:t> </a:t>
            </a:r>
            <a:r>
              <a:rPr dirty="0" spc="-50"/>
              <a:t>Part</a:t>
            </a:r>
            <a:r>
              <a:rPr dirty="0" spc="-150"/>
              <a:t> </a:t>
            </a:r>
            <a:r>
              <a:rPr dirty="0" spc="-180"/>
              <a:t>2</a:t>
            </a:r>
            <a:r>
              <a:rPr dirty="0" spc="-150"/>
              <a:t> </a:t>
            </a:r>
            <a:r>
              <a:rPr dirty="0" spc="-45"/>
              <a:t>of</a:t>
            </a:r>
            <a:r>
              <a:rPr dirty="0" spc="-150"/>
              <a:t> </a:t>
            </a:r>
            <a:r>
              <a:rPr dirty="0" spc="-80"/>
              <a:t>this</a:t>
            </a:r>
            <a:r>
              <a:rPr dirty="0" spc="-155"/>
              <a:t> </a:t>
            </a:r>
            <a:r>
              <a:rPr dirty="0" spc="-35"/>
              <a:t>research</a:t>
            </a:r>
          </a:p>
        </p:txBody>
      </p:sp>
      <p:sp>
        <p:nvSpPr>
          <p:cNvPr id="5" name="object 5" descr=""/>
          <p:cNvSpPr/>
          <p:nvPr/>
        </p:nvSpPr>
        <p:spPr>
          <a:xfrm>
            <a:off x="777239" y="1990344"/>
            <a:ext cx="1865630" cy="393700"/>
          </a:xfrm>
          <a:custGeom>
            <a:avLst/>
            <a:gdLst/>
            <a:ahLst/>
            <a:cxnLst/>
            <a:rect l="l" t="t" r="r" b="b"/>
            <a:pathLst>
              <a:path w="1865630" h="393700">
                <a:moveTo>
                  <a:pt x="1865375" y="393191"/>
                </a:moveTo>
                <a:lnTo>
                  <a:pt x="0" y="393191"/>
                </a:lnTo>
                <a:lnTo>
                  <a:pt x="0" y="0"/>
                </a:lnTo>
                <a:lnTo>
                  <a:pt x="1865375" y="0"/>
                </a:lnTo>
                <a:lnTo>
                  <a:pt x="1865375" y="393191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789308" y="1903358"/>
            <a:ext cx="1810385" cy="5067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150" spc="-95" b="1">
                <a:solidFill>
                  <a:srgbClr val="60A5FA"/>
                </a:solidFill>
                <a:latin typeface="Tahoma"/>
                <a:cs typeface="Tahoma"/>
              </a:rPr>
              <a:t>focus</a:t>
            </a:r>
            <a:r>
              <a:rPr dirty="0" sz="3150" spc="-130" b="1">
                <a:solidFill>
                  <a:srgbClr val="60A5FA"/>
                </a:solidFill>
                <a:latin typeface="Tahoma"/>
                <a:cs typeface="Tahoma"/>
              </a:rPr>
              <a:t> </a:t>
            </a:r>
            <a:r>
              <a:rPr dirty="0" sz="3150" spc="-145" b="1">
                <a:solidFill>
                  <a:srgbClr val="60A5FA"/>
                </a:solidFill>
                <a:latin typeface="Tahoma"/>
                <a:cs typeface="Tahoma"/>
              </a:rPr>
              <a:t>on?</a:t>
            </a:r>
            <a:endParaRPr sz="3150">
              <a:latin typeface="Tahoma"/>
              <a:cs typeface="Tahoma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3428178"/>
            <a:ext cx="91896" cy="9189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3987913"/>
            <a:ext cx="91896" cy="91896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4547649"/>
            <a:ext cx="91896" cy="91896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572097" y="2563344"/>
            <a:ext cx="5737225" cy="21844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Think</a:t>
            </a:r>
            <a:r>
              <a:rPr dirty="0" sz="2100" spc="-12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about:</a:t>
            </a:r>
            <a:endParaRPr sz="2100">
              <a:latin typeface="Tahoma"/>
              <a:cs typeface="Tahoma"/>
            </a:endParaRPr>
          </a:p>
          <a:p>
            <a:pPr marL="346710" marR="5080">
              <a:lnSpc>
                <a:spcPct val="174900"/>
              </a:lnSpc>
              <a:spcBef>
                <a:spcPts val="1250"/>
              </a:spcBef>
            </a:pPr>
            <a:r>
              <a:rPr dirty="0" sz="2100" spc="125">
                <a:solidFill>
                  <a:srgbClr val="F7FAFB"/>
                </a:solidFill>
                <a:latin typeface="Tahoma"/>
                <a:cs typeface="Tahoma"/>
              </a:rPr>
              <a:t>What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is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the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main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5">
                <a:solidFill>
                  <a:srgbClr val="F7FAFB"/>
                </a:solidFill>
                <a:latin typeface="Tahoma"/>
                <a:cs typeface="Tahoma"/>
              </a:rPr>
              <a:t>architectural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framework? </a:t>
            </a:r>
            <a:r>
              <a:rPr dirty="0" sz="2100" spc="130">
                <a:solidFill>
                  <a:srgbClr val="F7FAFB"/>
                </a:solidFill>
                <a:latin typeface="Tahoma"/>
                <a:cs typeface="Tahoma"/>
              </a:rPr>
              <a:t>How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0">
                <a:solidFill>
                  <a:srgbClr val="F7FAFB"/>
                </a:solidFill>
                <a:latin typeface="Tahoma"/>
                <a:cs typeface="Tahoma"/>
              </a:rPr>
              <a:t>does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10">
                <a:solidFill>
                  <a:srgbClr val="F7FAFB"/>
                </a:solidFill>
                <a:latin typeface="Tahoma"/>
                <a:cs typeface="Tahoma"/>
              </a:rPr>
              <a:t>it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support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linguistic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0">
                <a:solidFill>
                  <a:srgbClr val="F7FAFB"/>
                </a:solidFill>
                <a:latin typeface="Tahoma"/>
                <a:cs typeface="Tahoma"/>
              </a:rPr>
              <a:t>research?</a:t>
            </a:r>
            <a:endParaRPr sz="2100">
              <a:latin typeface="Tahoma"/>
              <a:cs typeface="Tahoma"/>
            </a:endParaRPr>
          </a:p>
          <a:p>
            <a:pPr marL="346710">
              <a:lnSpc>
                <a:spcPct val="100000"/>
              </a:lnSpc>
              <a:spcBef>
                <a:spcPts val="1885"/>
              </a:spcBef>
            </a:pPr>
            <a:r>
              <a:rPr dirty="0" sz="2100" spc="125">
                <a:solidFill>
                  <a:srgbClr val="F7FAFB"/>
                </a:solidFill>
                <a:latin typeface="Tahoma"/>
                <a:cs typeface="Tahoma"/>
              </a:rPr>
              <a:t>What</a:t>
            </a:r>
            <a:r>
              <a:rPr dirty="0" sz="2100" spc="-3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makes</a:t>
            </a:r>
            <a:r>
              <a:rPr dirty="0" sz="2100" spc="-3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this</a:t>
            </a:r>
            <a:r>
              <a:rPr dirty="0" sz="2100" spc="-3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approach</a:t>
            </a:r>
            <a:r>
              <a:rPr dirty="0" sz="2100" spc="-3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35">
                <a:solidFill>
                  <a:srgbClr val="F7FAFB"/>
                </a:solidFill>
                <a:latin typeface="Tahoma"/>
                <a:cs typeface="Tahoma"/>
              </a:rPr>
              <a:t>unique?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1086485"/>
          </a:xfrm>
          <a:custGeom>
            <a:avLst/>
            <a:gdLst/>
            <a:ahLst/>
            <a:cxnLst/>
            <a:rect l="l" t="t" r="r" b="b"/>
            <a:pathLst>
              <a:path w="50165" h="1086485">
                <a:moveTo>
                  <a:pt x="50125" y="1086053"/>
                </a:moveTo>
                <a:lnTo>
                  <a:pt x="0" y="1086053"/>
                </a:lnTo>
                <a:lnTo>
                  <a:pt x="0" y="0"/>
                </a:lnTo>
                <a:lnTo>
                  <a:pt x="50125" y="0"/>
                </a:lnTo>
                <a:lnTo>
                  <a:pt x="50125" y="1086053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98575" y="1444752"/>
            <a:ext cx="8486140" cy="457200"/>
          </a:xfrm>
          <a:custGeom>
            <a:avLst/>
            <a:gdLst/>
            <a:ahLst/>
            <a:cxnLst/>
            <a:rect l="l" t="t" r="r" b="b"/>
            <a:pathLst>
              <a:path w="8486140" h="457200">
                <a:moveTo>
                  <a:pt x="8485631" y="457199"/>
                </a:moveTo>
                <a:lnTo>
                  <a:pt x="0" y="457199"/>
                </a:lnTo>
                <a:lnTo>
                  <a:pt x="0" y="0"/>
                </a:lnTo>
                <a:lnTo>
                  <a:pt x="8485631" y="0"/>
                </a:lnTo>
                <a:lnTo>
                  <a:pt x="8485631" y="45719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0"/>
              <a:t>Part</a:t>
            </a:r>
            <a:r>
              <a:rPr dirty="0" spc="-140"/>
              <a:t> </a:t>
            </a:r>
            <a:r>
              <a:rPr dirty="0" spc="-200"/>
              <a:t>2:</a:t>
            </a:r>
            <a:r>
              <a:rPr dirty="0" spc="-135"/>
              <a:t> </a:t>
            </a:r>
            <a:r>
              <a:rPr dirty="0" spc="-110"/>
              <a:t>Textual</a:t>
            </a:r>
            <a:r>
              <a:rPr dirty="0" spc="-140"/>
              <a:t> </a:t>
            </a:r>
            <a:r>
              <a:rPr dirty="0" spc="-80"/>
              <a:t>Foundation</a:t>
            </a:r>
            <a:r>
              <a:rPr dirty="0" spc="-135"/>
              <a:t> </a:t>
            </a:r>
            <a:r>
              <a:rPr dirty="0" spc="-204"/>
              <a:t>&amp;</a:t>
            </a:r>
            <a:r>
              <a:rPr dirty="0" spc="-135"/>
              <a:t> </a:t>
            </a:r>
            <a:r>
              <a:rPr dirty="0" spc="-35"/>
              <a:t>Computational</a:t>
            </a:r>
          </a:p>
        </p:txBody>
      </p:sp>
      <p:sp>
        <p:nvSpPr>
          <p:cNvPr id="5" name="object 5" descr=""/>
          <p:cNvSpPr/>
          <p:nvPr/>
        </p:nvSpPr>
        <p:spPr>
          <a:xfrm>
            <a:off x="774191" y="1987295"/>
            <a:ext cx="2545080" cy="396240"/>
          </a:xfrm>
          <a:custGeom>
            <a:avLst/>
            <a:gdLst/>
            <a:ahLst/>
            <a:cxnLst/>
            <a:rect l="l" t="t" r="r" b="b"/>
            <a:pathLst>
              <a:path w="2545079" h="396239">
                <a:moveTo>
                  <a:pt x="2545079" y="396239"/>
                </a:moveTo>
                <a:lnTo>
                  <a:pt x="0" y="396239"/>
                </a:lnTo>
                <a:lnTo>
                  <a:pt x="0" y="0"/>
                </a:lnTo>
                <a:lnTo>
                  <a:pt x="2545079" y="0"/>
                </a:lnTo>
                <a:lnTo>
                  <a:pt x="2545079" y="39623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789308" y="1903358"/>
            <a:ext cx="2493645" cy="5067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150" spc="-10" b="1">
                <a:solidFill>
                  <a:srgbClr val="60A5FA"/>
                </a:solidFill>
                <a:latin typeface="Tahoma"/>
                <a:cs typeface="Tahoma"/>
              </a:rPr>
              <a:t>Architecture</a:t>
            </a:r>
            <a:endParaRPr sz="3150">
              <a:latin typeface="Tahoma"/>
              <a:cs typeface="Tahom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72097" y="2374538"/>
            <a:ext cx="9192260" cy="3183890"/>
          </a:xfrm>
          <a:prstGeom prst="rect">
            <a:avLst/>
          </a:prstGeom>
        </p:spPr>
        <p:txBody>
          <a:bodyPr wrap="square" lIns="0" tIns="2019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90"/>
              </a:spcBef>
            </a:pPr>
            <a:r>
              <a:rPr dirty="0" sz="2100" spc="100" b="1">
                <a:solidFill>
                  <a:srgbClr val="FBD34D"/>
                </a:solidFill>
                <a:latin typeface="Tahoma"/>
                <a:cs typeface="Tahoma"/>
              </a:rPr>
              <a:t>A</a:t>
            </a:r>
            <a:r>
              <a:rPr dirty="0" sz="2100" spc="-8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35" b="1">
                <a:solidFill>
                  <a:srgbClr val="FBD34D"/>
                </a:solidFill>
                <a:latin typeface="Tahoma"/>
                <a:cs typeface="Tahoma"/>
              </a:rPr>
              <a:t>comprehensive</a:t>
            </a:r>
            <a:r>
              <a:rPr dirty="0" sz="2100" spc="-8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35" b="1">
                <a:solidFill>
                  <a:srgbClr val="FBD34D"/>
                </a:solidFill>
                <a:latin typeface="Tahoma"/>
                <a:cs typeface="Tahoma"/>
              </a:rPr>
              <a:t>approach</a:t>
            </a:r>
            <a:r>
              <a:rPr dirty="0" sz="2100" spc="-7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to</a:t>
            </a:r>
            <a:r>
              <a:rPr dirty="0" sz="2100" spc="-8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20" b="1">
                <a:solidFill>
                  <a:srgbClr val="FBD34D"/>
                </a:solidFill>
                <a:latin typeface="Tahoma"/>
                <a:cs typeface="Tahoma"/>
              </a:rPr>
              <a:t>diachronic</a:t>
            </a:r>
            <a:r>
              <a:rPr dirty="0" sz="2100" spc="-8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valency</a:t>
            </a:r>
            <a:r>
              <a:rPr dirty="0" sz="2100" spc="-7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research</a:t>
            </a:r>
            <a:endParaRPr sz="2100">
              <a:latin typeface="Tahoma"/>
              <a:cs typeface="Tahoma"/>
            </a:endParaRPr>
          </a:p>
          <a:p>
            <a:pPr marL="12700" marR="5080">
              <a:lnSpc>
                <a:spcPct val="133700"/>
              </a:lnSpc>
              <a:spcBef>
                <a:spcPts val="645"/>
              </a:spcBef>
            </a:pPr>
            <a:r>
              <a:rPr dirty="0" sz="2100" spc="50">
                <a:solidFill>
                  <a:srgbClr val="F7FAFB"/>
                </a:solidFill>
                <a:latin typeface="Tahoma"/>
                <a:cs typeface="Tahoma"/>
              </a:rPr>
              <a:t>The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10">
                <a:solidFill>
                  <a:srgbClr val="F7FAFB"/>
                </a:solidFill>
                <a:latin typeface="Tahoma"/>
                <a:cs typeface="Tahoma"/>
              </a:rPr>
              <a:t>CVL-</a:t>
            </a:r>
            <a:r>
              <a:rPr dirty="0" sz="2100" spc="195">
                <a:solidFill>
                  <a:srgbClr val="F7FAFB"/>
                </a:solidFill>
                <a:latin typeface="Tahoma"/>
                <a:cs typeface="Tahoma"/>
              </a:rPr>
              <a:t>CDSAML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project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represents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a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novel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integration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of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traditional philological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expertise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5">
                <a:solidFill>
                  <a:srgbClr val="F7FAFB"/>
                </a:solidFill>
                <a:latin typeface="Tahoma"/>
                <a:cs typeface="Tahoma"/>
              </a:rPr>
              <a:t>with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modern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computational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linguistics.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This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corpus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contains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20">
                <a:solidFill>
                  <a:srgbClr val="F7FAFB"/>
                </a:solidFill>
                <a:latin typeface="Tahoma"/>
                <a:cs typeface="Tahoma"/>
              </a:rPr>
              <a:t>338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5">
                <a:solidFill>
                  <a:srgbClr val="F7FAFB"/>
                </a:solidFill>
                <a:latin typeface="Tahoma"/>
                <a:cs typeface="Tahoma"/>
              </a:rPr>
              <a:t>carefully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curated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historical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texts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that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enable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systematic analysis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of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how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verb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valency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patterns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evolve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over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time.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0">
                <a:solidFill>
                  <a:srgbClr val="F7FAFB"/>
                </a:solidFill>
                <a:latin typeface="Tahoma"/>
                <a:cs typeface="Tahoma"/>
              </a:rPr>
              <a:t>The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architecture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supports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both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5">
                <a:solidFill>
                  <a:srgbClr val="F7FAFB"/>
                </a:solidFill>
                <a:latin typeface="Tahoma"/>
                <a:cs typeface="Tahoma"/>
              </a:rPr>
              <a:t>qualitative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philological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analysis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and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quantitative computational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extraction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of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linguistic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patterns.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1086485"/>
          </a:xfrm>
          <a:custGeom>
            <a:avLst/>
            <a:gdLst/>
            <a:ahLst/>
            <a:cxnLst/>
            <a:rect l="l" t="t" r="r" b="b"/>
            <a:pathLst>
              <a:path w="50165" h="1086485">
                <a:moveTo>
                  <a:pt x="50125" y="1086053"/>
                </a:moveTo>
                <a:lnTo>
                  <a:pt x="0" y="1086053"/>
                </a:lnTo>
                <a:lnTo>
                  <a:pt x="0" y="0"/>
                </a:lnTo>
                <a:lnTo>
                  <a:pt x="50125" y="0"/>
                </a:lnTo>
                <a:lnTo>
                  <a:pt x="50125" y="1086053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83336" y="1444752"/>
            <a:ext cx="8537575" cy="457200"/>
          </a:xfrm>
          <a:custGeom>
            <a:avLst/>
            <a:gdLst/>
            <a:ahLst/>
            <a:cxnLst/>
            <a:rect l="l" t="t" r="r" b="b"/>
            <a:pathLst>
              <a:path w="8537575" h="457200">
                <a:moveTo>
                  <a:pt x="8537447" y="457199"/>
                </a:moveTo>
                <a:lnTo>
                  <a:pt x="0" y="457199"/>
                </a:lnTo>
                <a:lnTo>
                  <a:pt x="0" y="0"/>
                </a:lnTo>
                <a:lnTo>
                  <a:pt x="8537447" y="0"/>
                </a:lnTo>
                <a:lnTo>
                  <a:pt x="8537447" y="45719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75"/>
              <a:t>Question:</a:t>
            </a:r>
            <a:r>
              <a:rPr dirty="0" spc="-140"/>
              <a:t> </a:t>
            </a:r>
            <a:r>
              <a:rPr dirty="0"/>
              <a:t>Why</a:t>
            </a:r>
            <a:r>
              <a:rPr dirty="0" spc="-135"/>
              <a:t> </a:t>
            </a:r>
            <a:r>
              <a:rPr dirty="0" spc="-114"/>
              <a:t>do</a:t>
            </a:r>
            <a:r>
              <a:rPr dirty="0" spc="-140"/>
              <a:t> </a:t>
            </a:r>
            <a:r>
              <a:rPr dirty="0" spc="-180"/>
              <a:t>we</a:t>
            </a:r>
            <a:r>
              <a:rPr dirty="0" spc="-135"/>
              <a:t> </a:t>
            </a:r>
            <a:r>
              <a:rPr dirty="0" spc="-120"/>
              <a:t>need</a:t>
            </a:r>
            <a:r>
              <a:rPr dirty="0" spc="-140"/>
              <a:t> </a:t>
            </a:r>
            <a:r>
              <a:rPr dirty="0" spc="-195"/>
              <a:t>a</a:t>
            </a:r>
            <a:r>
              <a:rPr dirty="0" spc="-135"/>
              <a:t> </a:t>
            </a:r>
            <a:r>
              <a:rPr dirty="0" spc="-60"/>
              <a:t>comprehensive</a:t>
            </a:r>
          </a:p>
        </p:txBody>
      </p:sp>
      <p:sp>
        <p:nvSpPr>
          <p:cNvPr id="5" name="object 5" descr=""/>
          <p:cNvSpPr/>
          <p:nvPr/>
        </p:nvSpPr>
        <p:spPr>
          <a:xfrm>
            <a:off x="777239" y="1987295"/>
            <a:ext cx="6937375" cy="396240"/>
          </a:xfrm>
          <a:custGeom>
            <a:avLst/>
            <a:gdLst/>
            <a:ahLst/>
            <a:cxnLst/>
            <a:rect l="l" t="t" r="r" b="b"/>
            <a:pathLst>
              <a:path w="6937375" h="396239">
                <a:moveTo>
                  <a:pt x="6937247" y="396239"/>
                </a:moveTo>
                <a:lnTo>
                  <a:pt x="0" y="396239"/>
                </a:lnTo>
                <a:lnTo>
                  <a:pt x="0" y="0"/>
                </a:lnTo>
                <a:lnTo>
                  <a:pt x="6937247" y="0"/>
                </a:lnTo>
                <a:lnTo>
                  <a:pt x="6937247" y="39623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789308" y="1903358"/>
            <a:ext cx="6882765" cy="5067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150" spc="-75" b="1">
                <a:solidFill>
                  <a:srgbClr val="60A5FA"/>
                </a:solidFill>
                <a:latin typeface="Tahoma"/>
                <a:cs typeface="Tahoma"/>
              </a:rPr>
              <a:t>foundation</a:t>
            </a:r>
            <a:r>
              <a:rPr dirty="0" sz="3150" spc="-145" b="1">
                <a:solidFill>
                  <a:srgbClr val="60A5FA"/>
                </a:solidFill>
                <a:latin typeface="Tahoma"/>
                <a:cs typeface="Tahoma"/>
              </a:rPr>
              <a:t> </a:t>
            </a:r>
            <a:r>
              <a:rPr dirty="0" sz="3150" spc="-20" b="1">
                <a:solidFill>
                  <a:srgbClr val="60A5FA"/>
                </a:solidFill>
                <a:latin typeface="Tahoma"/>
                <a:cs typeface="Tahoma"/>
              </a:rPr>
              <a:t>for</a:t>
            </a:r>
            <a:r>
              <a:rPr dirty="0" sz="3150" spc="-145" b="1">
                <a:solidFill>
                  <a:srgbClr val="60A5FA"/>
                </a:solidFill>
                <a:latin typeface="Tahoma"/>
                <a:cs typeface="Tahoma"/>
              </a:rPr>
              <a:t> </a:t>
            </a:r>
            <a:r>
              <a:rPr dirty="0" sz="3150" spc="-60" b="1">
                <a:solidFill>
                  <a:srgbClr val="60A5FA"/>
                </a:solidFill>
                <a:latin typeface="Tahoma"/>
                <a:cs typeface="Tahoma"/>
              </a:rPr>
              <a:t>diachronic</a:t>
            </a:r>
            <a:r>
              <a:rPr dirty="0" sz="3150" spc="-145" b="1">
                <a:solidFill>
                  <a:srgbClr val="60A5FA"/>
                </a:solidFill>
                <a:latin typeface="Tahoma"/>
                <a:cs typeface="Tahoma"/>
              </a:rPr>
              <a:t> </a:t>
            </a:r>
            <a:r>
              <a:rPr dirty="0" sz="3150" spc="-70" b="1">
                <a:solidFill>
                  <a:srgbClr val="60A5FA"/>
                </a:solidFill>
                <a:latin typeface="Tahoma"/>
                <a:cs typeface="Tahoma"/>
              </a:rPr>
              <a:t>research?</a:t>
            </a:r>
            <a:endParaRPr sz="3150">
              <a:latin typeface="Tahoma"/>
              <a:cs typeface="Tahoma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3428178"/>
            <a:ext cx="91896" cy="9189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3987913"/>
            <a:ext cx="91896" cy="91896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4547649"/>
            <a:ext cx="91896" cy="91896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572097" y="2563344"/>
            <a:ext cx="6486525" cy="21844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Consider:</a:t>
            </a:r>
            <a:endParaRPr sz="2100">
              <a:latin typeface="Tahoma"/>
              <a:cs typeface="Tahoma"/>
            </a:endParaRPr>
          </a:p>
          <a:p>
            <a:pPr marL="346710" marR="5080">
              <a:lnSpc>
                <a:spcPct val="174900"/>
              </a:lnSpc>
              <a:spcBef>
                <a:spcPts val="1250"/>
              </a:spcBef>
            </a:pPr>
            <a:r>
              <a:rPr dirty="0" sz="2100" spc="125">
                <a:solidFill>
                  <a:srgbClr val="F7FAFB"/>
                </a:solidFill>
                <a:latin typeface="Tahoma"/>
                <a:cs typeface="Tahoma"/>
              </a:rPr>
              <a:t>What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challenges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do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historical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linguists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10">
                <a:solidFill>
                  <a:srgbClr val="F7FAFB"/>
                </a:solidFill>
                <a:latin typeface="Tahoma"/>
                <a:cs typeface="Tahoma"/>
              </a:rPr>
              <a:t>face?</a:t>
            </a:r>
            <a:r>
              <a:rPr dirty="0" sz="2100" spc="130">
                <a:solidFill>
                  <a:srgbClr val="F7FAFB"/>
                </a:solidFill>
                <a:latin typeface="Tahoma"/>
                <a:cs typeface="Tahoma"/>
              </a:rPr>
              <a:t> How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0">
                <a:solidFill>
                  <a:srgbClr val="F7FAFB"/>
                </a:solidFill>
                <a:latin typeface="Tahoma"/>
                <a:cs typeface="Tahoma"/>
              </a:rPr>
              <a:t>does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text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5">
                <a:solidFill>
                  <a:srgbClr val="F7FAFB"/>
                </a:solidFill>
                <a:latin typeface="Tahoma"/>
                <a:cs typeface="Tahoma"/>
              </a:rPr>
              <a:t>quality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affect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research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45">
                <a:solidFill>
                  <a:srgbClr val="F7FAFB"/>
                </a:solidFill>
                <a:latin typeface="Tahoma"/>
                <a:cs typeface="Tahoma"/>
              </a:rPr>
              <a:t>outcomes? </a:t>
            </a:r>
            <a:r>
              <a:rPr dirty="0" sz="2100" spc="125">
                <a:solidFill>
                  <a:srgbClr val="F7FAFB"/>
                </a:solidFill>
                <a:latin typeface="Tahoma"/>
                <a:cs typeface="Tahoma"/>
              </a:rPr>
              <a:t>What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factors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0">
                <a:solidFill>
                  <a:srgbClr val="F7FAFB"/>
                </a:solidFill>
                <a:latin typeface="Tahoma"/>
                <a:cs typeface="Tahoma"/>
              </a:rPr>
              <a:t>must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be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controlled?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1086485"/>
          </a:xfrm>
          <a:custGeom>
            <a:avLst/>
            <a:gdLst/>
            <a:ahLst/>
            <a:cxnLst/>
            <a:rect l="l" t="t" r="r" b="b"/>
            <a:pathLst>
              <a:path w="50165" h="1086485">
                <a:moveTo>
                  <a:pt x="50125" y="1086053"/>
                </a:moveTo>
                <a:lnTo>
                  <a:pt x="0" y="1086053"/>
                </a:lnTo>
                <a:lnTo>
                  <a:pt x="0" y="0"/>
                </a:lnTo>
                <a:lnTo>
                  <a:pt x="50125" y="0"/>
                </a:lnTo>
                <a:lnTo>
                  <a:pt x="50125" y="1086053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801623" y="1444752"/>
            <a:ext cx="8580120" cy="457200"/>
          </a:xfrm>
          <a:custGeom>
            <a:avLst/>
            <a:gdLst/>
            <a:ahLst/>
            <a:cxnLst/>
            <a:rect l="l" t="t" r="r" b="b"/>
            <a:pathLst>
              <a:path w="8580120" h="457200">
                <a:moveTo>
                  <a:pt x="8580119" y="457199"/>
                </a:moveTo>
                <a:lnTo>
                  <a:pt x="0" y="457199"/>
                </a:lnTo>
                <a:lnTo>
                  <a:pt x="0" y="0"/>
                </a:lnTo>
                <a:lnTo>
                  <a:pt x="8580119" y="0"/>
                </a:lnTo>
                <a:lnTo>
                  <a:pt x="8580119" y="45719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05"/>
              <a:t>Introduction:</a:t>
            </a:r>
            <a:r>
              <a:rPr dirty="0" spc="-135"/>
              <a:t> </a:t>
            </a:r>
            <a:r>
              <a:rPr dirty="0" spc="-90"/>
              <a:t>The</a:t>
            </a:r>
            <a:r>
              <a:rPr dirty="0" spc="-130"/>
              <a:t> </a:t>
            </a:r>
            <a:r>
              <a:rPr dirty="0" spc="-75"/>
              <a:t>Need</a:t>
            </a:r>
            <a:r>
              <a:rPr dirty="0" spc="-130"/>
              <a:t> </a:t>
            </a:r>
            <a:r>
              <a:rPr dirty="0" spc="-20"/>
              <a:t>for</a:t>
            </a:r>
            <a:r>
              <a:rPr dirty="0" spc="-130"/>
              <a:t> </a:t>
            </a:r>
            <a:r>
              <a:rPr dirty="0" spc="-195"/>
              <a:t>a</a:t>
            </a:r>
            <a:r>
              <a:rPr dirty="0" spc="-130"/>
              <a:t> </a:t>
            </a:r>
            <a:r>
              <a:rPr dirty="0" spc="-55"/>
              <a:t>Comprehensive</a:t>
            </a:r>
          </a:p>
        </p:txBody>
      </p:sp>
      <p:sp>
        <p:nvSpPr>
          <p:cNvPr id="5" name="object 5" descr=""/>
          <p:cNvSpPr/>
          <p:nvPr/>
        </p:nvSpPr>
        <p:spPr>
          <a:xfrm>
            <a:off x="798575" y="1987295"/>
            <a:ext cx="2237740" cy="396240"/>
          </a:xfrm>
          <a:custGeom>
            <a:avLst/>
            <a:gdLst/>
            <a:ahLst/>
            <a:cxnLst/>
            <a:rect l="l" t="t" r="r" b="b"/>
            <a:pathLst>
              <a:path w="2237740" h="396239">
                <a:moveTo>
                  <a:pt x="2237231" y="396239"/>
                </a:moveTo>
                <a:lnTo>
                  <a:pt x="0" y="396239"/>
                </a:lnTo>
                <a:lnTo>
                  <a:pt x="0" y="0"/>
                </a:lnTo>
                <a:lnTo>
                  <a:pt x="2237231" y="0"/>
                </a:lnTo>
                <a:lnTo>
                  <a:pt x="2237231" y="39623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789308" y="1903358"/>
            <a:ext cx="2217420" cy="5067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150" spc="-65" b="1">
                <a:solidFill>
                  <a:srgbClr val="60A5FA"/>
                </a:solidFill>
                <a:latin typeface="Tahoma"/>
                <a:cs typeface="Tahoma"/>
              </a:rPr>
              <a:t>Foundation</a:t>
            </a:r>
            <a:endParaRPr sz="3150">
              <a:latin typeface="Tahoma"/>
              <a:cs typeface="Tahoma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3854245"/>
            <a:ext cx="91896" cy="9189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4413980"/>
            <a:ext cx="91896" cy="91896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4973716"/>
            <a:ext cx="91896" cy="91896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5541805"/>
            <a:ext cx="91896" cy="91896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572097" y="2458080"/>
            <a:ext cx="9479915" cy="44284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2284">
              <a:lnSpc>
                <a:spcPct val="133100"/>
              </a:lnSpc>
              <a:spcBef>
                <a:spcPts val="100"/>
              </a:spcBef>
            </a:pPr>
            <a:r>
              <a:rPr dirty="0" sz="2100" spc="105">
                <a:solidFill>
                  <a:srgbClr val="F7FAFB"/>
                </a:solidFill>
                <a:latin typeface="Tahoma"/>
                <a:cs typeface="Tahoma"/>
              </a:rPr>
              <a:t>Diachronic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linguistic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analysis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5">
                <a:solidFill>
                  <a:srgbClr val="F7FAFB"/>
                </a:solidFill>
                <a:latin typeface="Tahoma"/>
                <a:cs typeface="Tahoma"/>
              </a:rPr>
              <a:t>requires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careful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consideration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of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multiple </a:t>
            </a:r>
            <a:r>
              <a:rPr dirty="0" sz="2100" spc="45">
                <a:solidFill>
                  <a:srgbClr val="F7FAFB"/>
                </a:solidFill>
                <a:latin typeface="Tahoma"/>
                <a:cs typeface="Tahoma"/>
              </a:rPr>
              <a:t>elements:</a:t>
            </a:r>
            <a:endParaRPr sz="2100">
              <a:latin typeface="Tahoma"/>
              <a:cs typeface="Tahoma"/>
            </a:endParaRPr>
          </a:p>
          <a:p>
            <a:pPr marL="346710" marR="4760595">
              <a:lnSpc>
                <a:spcPct val="174900"/>
              </a:lnSpc>
              <a:spcBef>
                <a:spcPts val="1250"/>
              </a:spcBef>
            </a:pPr>
            <a:r>
              <a:rPr dirty="0" sz="2100" spc="-65" b="1">
                <a:solidFill>
                  <a:srgbClr val="FBD34D"/>
                </a:solidFill>
                <a:latin typeface="Tahoma"/>
                <a:cs typeface="Tahoma"/>
              </a:rPr>
              <a:t>Text</a:t>
            </a:r>
            <a:r>
              <a:rPr dirty="0" sz="2100" spc="-4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selection</a:t>
            </a:r>
            <a:r>
              <a:rPr dirty="0" sz="2100" spc="-4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and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preparation Assessment</a:t>
            </a:r>
            <a:r>
              <a:rPr dirty="0" sz="2100" spc="-114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of</a:t>
            </a:r>
            <a:r>
              <a:rPr dirty="0" sz="2100" spc="-114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historical</a:t>
            </a:r>
            <a:r>
              <a:rPr dirty="0" sz="2100" spc="-7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20" b="1">
                <a:solidFill>
                  <a:srgbClr val="FBD34D"/>
                </a:solidFill>
                <a:latin typeface="Tahoma"/>
                <a:cs typeface="Tahoma"/>
              </a:rPr>
              <a:t>evidence</a:t>
            </a:r>
            <a:endParaRPr sz="2100">
              <a:latin typeface="Tahoma"/>
              <a:cs typeface="Tahoma"/>
            </a:endParaRPr>
          </a:p>
          <a:p>
            <a:pPr marL="346710">
              <a:lnSpc>
                <a:spcPct val="100000"/>
              </a:lnSpc>
              <a:spcBef>
                <a:spcPts val="1885"/>
              </a:spcBef>
            </a:pP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Understanding</a:t>
            </a:r>
            <a:r>
              <a:rPr dirty="0" sz="2100" spc="-9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70" b="1">
                <a:solidFill>
                  <a:srgbClr val="FBD34D"/>
                </a:solidFill>
                <a:latin typeface="Tahoma"/>
                <a:cs typeface="Tahoma"/>
              </a:rPr>
              <a:t>language</a:t>
            </a:r>
            <a:r>
              <a:rPr dirty="0" sz="2100" spc="-5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35" b="1">
                <a:solidFill>
                  <a:srgbClr val="FBD34D"/>
                </a:solidFill>
                <a:latin typeface="Tahoma"/>
                <a:cs typeface="Tahoma"/>
              </a:rPr>
              <a:t>development</a:t>
            </a:r>
            <a:r>
              <a:rPr dirty="0" sz="2100" spc="-5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contexts</a:t>
            </a:r>
            <a:endParaRPr sz="2100">
              <a:latin typeface="Tahoma"/>
              <a:cs typeface="Tahoma"/>
            </a:endParaRPr>
          </a:p>
          <a:p>
            <a:pPr marL="346710">
              <a:lnSpc>
                <a:spcPct val="100000"/>
              </a:lnSpc>
              <a:spcBef>
                <a:spcPts val="1955"/>
              </a:spcBef>
            </a:pP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Recognition</a:t>
            </a:r>
            <a:r>
              <a:rPr dirty="0" sz="2100" spc="-9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of</a:t>
            </a:r>
            <a:r>
              <a:rPr dirty="0" sz="2100" spc="-9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20" b="1">
                <a:solidFill>
                  <a:srgbClr val="FBD34D"/>
                </a:solidFill>
                <a:latin typeface="Tahoma"/>
                <a:cs typeface="Tahoma"/>
              </a:rPr>
              <a:t>external</a:t>
            </a:r>
            <a:r>
              <a:rPr dirty="0" sz="2100" spc="-4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factors</a:t>
            </a:r>
            <a:r>
              <a:rPr dirty="0" sz="2100" spc="-5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influencing</a:t>
            </a:r>
            <a:r>
              <a:rPr dirty="0" sz="2100" spc="-9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linguistic</a:t>
            </a:r>
            <a:r>
              <a:rPr dirty="0" sz="2100" spc="-9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10">
                <a:solidFill>
                  <a:srgbClr val="F7FAFB"/>
                </a:solidFill>
                <a:latin typeface="Tahoma"/>
                <a:cs typeface="Tahoma"/>
              </a:rPr>
              <a:t>change</a:t>
            </a:r>
            <a:endParaRPr sz="2100">
              <a:latin typeface="Tahoma"/>
              <a:cs typeface="Tahoma"/>
            </a:endParaRPr>
          </a:p>
          <a:p>
            <a:pPr marL="12700" marR="5080">
              <a:lnSpc>
                <a:spcPct val="133100"/>
              </a:lnSpc>
              <a:spcBef>
                <a:spcPts val="2300"/>
              </a:spcBef>
              <a:tabLst>
                <a:tab pos="3797935" algn="l"/>
              </a:tabLst>
            </a:pP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Studying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 language change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over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millennia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demands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rigorous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methodology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40">
                <a:solidFill>
                  <a:srgbClr val="F7FAFB"/>
                </a:solidFill>
                <a:latin typeface="Tahoma"/>
                <a:cs typeface="Tahoma"/>
              </a:rPr>
              <a:t>in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selecting</a:t>
            </a:r>
            <a:r>
              <a:rPr dirty="0" sz="2100" spc="-3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and</a:t>
            </a:r>
            <a:r>
              <a:rPr dirty="0" sz="2100" spc="-2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preparing</a:t>
            </a:r>
            <a:r>
              <a:rPr dirty="0" sz="2100" spc="-2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texts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	</a:t>
            </a:r>
            <a:r>
              <a:rPr dirty="0" sz="2100" spc="50">
                <a:solidFill>
                  <a:srgbClr val="F7FAFB"/>
                </a:solidFill>
                <a:latin typeface="Tahoma"/>
                <a:cs typeface="Tahoma"/>
              </a:rPr>
              <a:t>The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10">
                <a:solidFill>
                  <a:srgbClr val="F7FAFB"/>
                </a:solidFill>
                <a:latin typeface="Tahoma"/>
                <a:cs typeface="Tahoma"/>
              </a:rPr>
              <a:t>CVL-</a:t>
            </a:r>
            <a:r>
              <a:rPr dirty="0" sz="2100" spc="195">
                <a:solidFill>
                  <a:srgbClr val="F7FAFB"/>
                </a:solidFill>
                <a:latin typeface="Tahoma"/>
                <a:cs typeface="Tahoma"/>
              </a:rPr>
              <a:t>CDSAML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corpus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addresses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this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1086485"/>
          </a:xfrm>
          <a:custGeom>
            <a:avLst/>
            <a:gdLst/>
            <a:ahLst/>
            <a:cxnLst/>
            <a:rect l="l" t="t" r="r" b="b"/>
            <a:pathLst>
              <a:path w="50165" h="1086485">
                <a:moveTo>
                  <a:pt x="50125" y="1086053"/>
                </a:moveTo>
                <a:lnTo>
                  <a:pt x="0" y="1086053"/>
                </a:lnTo>
                <a:lnTo>
                  <a:pt x="0" y="0"/>
                </a:lnTo>
                <a:lnTo>
                  <a:pt x="50125" y="0"/>
                </a:lnTo>
                <a:lnTo>
                  <a:pt x="50125" y="1086053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83336" y="1444752"/>
            <a:ext cx="8491855" cy="457200"/>
          </a:xfrm>
          <a:custGeom>
            <a:avLst/>
            <a:gdLst/>
            <a:ahLst/>
            <a:cxnLst/>
            <a:rect l="l" t="t" r="r" b="b"/>
            <a:pathLst>
              <a:path w="8491855" h="457200">
                <a:moveTo>
                  <a:pt x="8491727" y="457199"/>
                </a:moveTo>
                <a:lnTo>
                  <a:pt x="0" y="457199"/>
                </a:lnTo>
                <a:lnTo>
                  <a:pt x="0" y="0"/>
                </a:lnTo>
                <a:lnTo>
                  <a:pt x="8491727" y="0"/>
                </a:lnTo>
                <a:lnTo>
                  <a:pt x="8491727" y="45719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75"/>
              <a:t>Question:</a:t>
            </a:r>
            <a:r>
              <a:rPr dirty="0" spc="-135"/>
              <a:t> </a:t>
            </a:r>
            <a:r>
              <a:rPr dirty="0"/>
              <a:t>What</a:t>
            </a:r>
            <a:r>
              <a:rPr dirty="0" spc="-135"/>
              <a:t> </a:t>
            </a:r>
            <a:r>
              <a:rPr dirty="0" spc="-60"/>
              <a:t>exactly</a:t>
            </a:r>
            <a:r>
              <a:rPr dirty="0" spc="-135"/>
              <a:t> </a:t>
            </a:r>
            <a:r>
              <a:rPr dirty="0" spc="-120"/>
              <a:t>is</a:t>
            </a:r>
            <a:r>
              <a:rPr dirty="0" spc="-130"/>
              <a:t> </a:t>
            </a:r>
            <a:r>
              <a:rPr dirty="0" spc="-90"/>
              <a:t>the</a:t>
            </a:r>
            <a:r>
              <a:rPr dirty="0" spc="-135"/>
              <a:t> </a:t>
            </a:r>
            <a:r>
              <a:rPr dirty="0" spc="-45"/>
              <a:t>CVL-</a:t>
            </a:r>
            <a:r>
              <a:rPr dirty="0" spc="-10"/>
              <a:t>CDSAML</a:t>
            </a:r>
          </a:p>
        </p:txBody>
      </p:sp>
      <p:sp>
        <p:nvSpPr>
          <p:cNvPr id="5" name="object 5" descr=""/>
          <p:cNvSpPr/>
          <p:nvPr/>
        </p:nvSpPr>
        <p:spPr>
          <a:xfrm>
            <a:off x="780287" y="1993391"/>
            <a:ext cx="1621790" cy="451484"/>
          </a:xfrm>
          <a:custGeom>
            <a:avLst/>
            <a:gdLst/>
            <a:ahLst/>
            <a:cxnLst/>
            <a:rect l="l" t="t" r="r" b="b"/>
            <a:pathLst>
              <a:path w="1621789" h="451485">
                <a:moveTo>
                  <a:pt x="1621535" y="451103"/>
                </a:moveTo>
                <a:lnTo>
                  <a:pt x="0" y="451103"/>
                </a:lnTo>
                <a:lnTo>
                  <a:pt x="0" y="0"/>
                </a:lnTo>
                <a:lnTo>
                  <a:pt x="1621535" y="0"/>
                </a:lnTo>
                <a:lnTo>
                  <a:pt x="1621535" y="451103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789308" y="1903358"/>
            <a:ext cx="1567815" cy="5067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150" spc="-90" b="1">
                <a:solidFill>
                  <a:srgbClr val="60A5FA"/>
                </a:solidFill>
                <a:latin typeface="Tahoma"/>
                <a:cs typeface="Tahoma"/>
              </a:rPr>
              <a:t>Corpus?</a:t>
            </a:r>
            <a:endParaRPr sz="3150">
              <a:latin typeface="Tahoma"/>
              <a:cs typeface="Tahoma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3428178"/>
            <a:ext cx="91896" cy="9189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3987913"/>
            <a:ext cx="91896" cy="91896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4547649"/>
            <a:ext cx="91896" cy="91896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572097" y="2563344"/>
            <a:ext cx="4852035" cy="21844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Ask</a:t>
            </a:r>
            <a:r>
              <a:rPr dirty="0" sz="2100" spc="1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yourself:</a:t>
            </a:r>
            <a:endParaRPr sz="2100">
              <a:latin typeface="Tahoma"/>
              <a:cs typeface="Tahoma"/>
            </a:endParaRPr>
          </a:p>
          <a:p>
            <a:pPr marL="346710" marR="5080">
              <a:lnSpc>
                <a:spcPct val="174900"/>
              </a:lnSpc>
              <a:spcBef>
                <a:spcPts val="1250"/>
              </a:spcBef>
            </a:pPr>
            <a:r>
              <a:rPr dirty="0" sz="2100" spc="125">
                <a:solidFill>
                  <a:srgbClr val="F7FAFB"/>
                </a:solidFill>
                <a:latin typeface="Tahoma"/>
                <a:cs typeface="Tahoma"/>
              </a:rPr>
              <a:t>What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0">
                <a:solidFill>
                  <a:srgbClr val="F7FAFB"/>
                </a:solidFill>
                <a:latin typeface="Tahoma"/>
                <a:cs typeface="Tahoma"/>
              </a:rPr>
              <a:t>does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10">
                <a:solidFill>
                  <a:srgbClr val="F7FAFB"/>
                </a:solidFill>
                <a:latin typeface="Tahoma"/>
                <a:cs typeface="Tahoma"/>
              </a:rPr>
              <a:t>CVL-</a:t>
            </a:r>
            <a:r>
              <a:rPr dirty="0" sz="2100" spc="195">
                <a:solidFill>
                  <a:srgbClr val="F7FAFB"/>
                </a:solidFill>
                <a:latin typeface="Tahoma"/>
                <a:cs typeface="Tahoma"/>
              </a:rPr>
              <a:t>CDSAML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stand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35">
                <a:solidFill>
                  <a:srgbClr val="F7FAFB"/>
                </a:solidFill>
                <a:latin typeface="Tahoma"/>
                <a:cs typeface="Tahoma"/>
              </a:rPr>
              <a:t>for? </a:t>
            </a:r>
            <a:r>
              <a:rPr dirty="0" sz="2100" spc="130">
                <a:solidFill>
                  <a:srgbClr val="F7FAFB"/>
                </a:solidFill>
                <a:latin typeface="Tahoma"/>
                <a:cs typeface="Tahoma"/>
              </a:rPr>
              <a:t>How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many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texts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0">
                <a:solidFill>
                  <a:srgbClr val="F7FAFB"/>
                </a:solidFill>
                <a:latin typeface="Tahoma"/>
                <a:cs typeface="Tahoma"/>
              </a:rPr>
              <a:t>does</a:t>
            </a:r>
            <a:r>
              <a:rPr dirty="0" sz="2100" spc="-5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10">
                <a:solidFill>
                  <a:srgbClr val="F7FAFB"/>
                </a:solidFill>
                <a:latin typeface="Tahoma"/>
                <a:cs typeface="Tahoma"/>
              </a:rPr>
              <a:t>it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0">
                <a:solidFill>
                  <a:srgbClr val="F7FAFB"/>
                </a:solidFill>
                <a:latin typeface="Tahoma"/>
                <a:cs typeface="Tahoma"/>
              </a:rPr>
              <a:t>contain?</a:t>
            </a:r>
            <a:endParaRPr sz="2100">
              <a:latin typeface="Tahoma"/>
              <a:cs typeface="Tahoma"/>
            </a:endParaRPr>
          </a:p>
          <a:p>
            <a:pPr marL="346710">
              <a:lnSpc>
                <a:spcPct val="100000"/>
              </a:lnSpc>
              <a:spcBef>
                <a:spcPts val="1885"/>
              </a:spcBef>
            </a:pPr>
            <a:r>
              <a:rPr dirty="0" sz="2100" spc="125">
                <a:solidFill>
                  <a:srgbClr val="F7FAFB"/>
                </a:solidFill>
                <a:latin typeface="Tahoma"/>
                <a:cs typeface="Tahoma"/>
              </a:rPr>
              <a:t>What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time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period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0">
                <a:solidFill>
                  <a:srgbClr val="F7FAFB"/>
                </a:solidFill>
                <a:latin typeface="Tahoma"/>
                <a:cs typeface="Tahoma"/>
              </a:rPr>
              <a:t>does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10">
                <a:solidFill>
                  <a:srgbClr val="F7FAFB"/>
                </a:solidFill>
                <a:latin typeface="Tahoma"/>
                <a:cs typeface="Tahoma"/>
              </a:rPr>
              <a:t>it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10">
                <a:solidFill>
                  <a:srgbClr val="F7FAFB"/>
                </a:solidFill>
                <a:latin typeface="Tahoma"/>
                <a:cs typeface="Tahoma"/>
              </a:rPr>
              <a:t>cover?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543560"/>
          </a:xfrm>
          <a:custGeom>
            <a:avLst/>
            <a:gdLst/>
            <a:ahLst/>
            <a:cxnLst/>
            <a:rect l="l" t="t" r="r" b="b"/>
            <a:pathLst>
              <a:path w="50165" h="543560">
                <a:moveTo>
                  <a:pt x="50125" y="543026"/>
                </a:moveTo>
                <a:lnTo>
                  <a:pt x="0" y="543026"/>
                </a:lnTo>
                <a:lnTo>
                  <a:pt x="0" y="0"/>
                </a:lnTo>
                <a:lnTo>
                  <a:pt x="50125" y="0"/>
                </a:lnTo>
                <a:lnTo>
                  <a:pt x="50125" y="543026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74191" y="1444752"/>
            <a:ext cx="6659880" cy="457200"/>
          </a:xfrm>
          <a:custGeom>
            <a:avLst/>
            <a:gdLst/>
            <a:ahLst/>
            <a:cxnLst/>
            <a:rect l="l" t="t" r="r" b="b"/>
            <a:pathLst>
              <a:path w="6659880" h="457200">
                <a:moveTo>
                  <a:pt x="6659879" y="457199"/>
                </a:moveTo>
                <a:lnTo>
                  <a:pt x="0" y="457199"/>
                </a:lnTo>
                <a:lnTo>
                  <a:pt x="0" y="0"/>
                </a:lnTo>
                <a:lnTo>
                  <a:pt x="6659879" y="0"/>
                </a:lnTo>
                <a:lnTo>
                  <a:pt x="6659879" y="45719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89308" y="1360331"/>
            <a:ext cx="6599555" cy="5067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What</a:t>
            </a:r>
            <a:r>
              <a:rPr dirty="0" spc="-120"/>
              <a:t> is </a:t>
            </a:r>
            <a:r>
              <a:rPr dirty="0" spc="-90"/>
              <a:t>the</a:t>
            </a:r>
            <a:r>
              <a:rPr dirty="0" spc="-120"/>
              <a:t> </a:t>
            </a:r>
            <a:r>
              <a:rPr dirty="0" spc="-45"/>
              <a:t>CVL-</a:t>
            </a:r>
            <a:r>
              <a:rPr dirty="0"/>
              <a:t>CDSAML</a:t>
            </a:r>
            <a:r>
              <a:rPr dirty="0" spc="-120"/>
              <a:t> </a:t>
            </a:r>
            <a:r>
              <a:rPr dirty="0" spc="-65"/>
              <a:t>Corpus?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2375542"/>
            <a:ext cx="91896" cy="91896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2935277"/>
            <a:ext cx="91896" cy="9189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3979559"/>
            <a:ext cx="91896" cy="9189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4539295"/>
            <a:ext cx="91896" cy="91896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572097" y="2229174"/>
            <a:ext cx="9432290" cy="45739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46710">
              <a:lnSpc>
                <a:spcPct val="100000"/>
              </a:lnSpc>
              <a:spcBef>
                <a:spcPts val="105"/>
              </a:spcBef>
            </a:pPr>
            <a:r>
              <a:rPr dirty="0" sz="2100" spc="-35" b="1">
                <a:solidFill>
                  <a:srgbClr val="FBD34D"/>
                </a:solidFill>
                <a:latin typeface="Tahoma"/>
                <a:cs typeface="Tahoma"/>
              </a:rPr>
              <a:t>Purpose:</a:t>
            </a:r>
            <a:r>
              <a:rPr dirty="0" sz="2100" spc="-5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Foundation</a:t>
            </a:r>
            <a:r>
              <a:rPr dirty="0" sz="2100" spc="-9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for</a:t>
            </a:r>
            <a:r>
              <a:rPr dirty="0" sz="2100" spc="-9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a</a:t>
            </a:r>
            <a:r>
              <a:rPr dirty="0" sz="2100" spc="-9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diachronic</a:t>
            </a:r>
            <a:r>
              <a:rPr dirty="0" sz="2100" spc="-9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valency</a:t>
            </a:r>
            <a:r>
              <a:rPr dirty="0" sz="2100" spc="-9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lexicon</a:t>
            </a:r>
            <a:r>
              <a:rPr dirty="0" sz="2100" spc="-9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project</a:t>
            </a:r>
            <a:endParaRPr sz="2100">
              <a:latin typeface="Tahoma"/>
              <a:cs typeface="Tahoma"/>
            </a:endParaRPr>
          </a:p>
          <a:p>
            <a:pPr marL="346710" marR="139065">
              <a:lnSpc>
                <a:spcPct val="151400"/>
              </a:lnSpc>
              <a:spcBef>
                <a:spcPts val="590"/>
              </a:spcBef>
            </a:pPr>
            <a:r>
              <a:rPr dirty="0" sz="2100" spc="-65" b="1">
                <a:solidFill>
                  <a:srgbClr val="FBD34D"/>
                </a:solidFill>
                <a:latin typeface="Tahoma"/>
                <a:cs typeface="Tahoma"/>
              </a:rPr>
              <a:t>Scope:</a:t>
            </a:r>
            <a:r>
              <a:rPr dirty="0" sz="2100" spc="-5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120">
                <a:solidFill>
                  <a:srgbClr val="F7FAFB"/>
                </a:solidFill>
                <a:latin typeface="Tahoma"/>
                <a:cs typeface="Tahoma"/>
              </a:rPr>
              <a:t>338</a:t>
            </a:r>
            <a:r>
              <a:rPr dirty="0" sz="2100" spc="-9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historical</a:t>
            </a:r>
            <a:r>
              <a:rPr dirty="0" sz="2100" spc="-9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texts</a:t>
            </a:r>
            <a:r>
              <a:rPr dirty="0" sz="2100" spc="-9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covering</a:t>
            </a:r>
            <a:r>
              <a:rPr dirty="0" sz="2100" spc="-9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three</a:t>
            </a:r>
            <a:r>
              <a:rPr dirty="0" sz="2100" spc="-5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20" b="1">
                <a:solidFill>
                  <a:srgbClr val="FBD34D"/>
                </a:solidFill>
                <a:latin typeface="Tahoma"/>
                <a:cs typeface="Tahoma"/>
              </a:rPr>
              <a:t>millennia</a:t>
            </a:r>
            <a:r>
              <a:rPr dirty="0" sz="2100" spc="-4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of</a:t>
            </a:r>
            <a:r>
              <a:rPr dirty="0" sz="2100" spc="-9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14">
                <a:solidFill>
                  <a:srgbClr val="F7FAFB"/>
                </a:solidFill>
                <a:latin typeface="Tahoma"/>
                <a:cs typeface="Tahoma"/>
              </a:rPr>
              <a:t>Greek</a:t>
            </a:r>
            <a:r>
              <a:rPr dirty="0" sz="2100" spc="-9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10">
                <a:solidFill>
                  <a:srgbClr val="F7FAFB"/>
                </a:solidFill>
                <a:latin typeface="Tahoma"/>
                <a:cs typeface="Tahoma"/>
              </a:rPr>
              <a:t>language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development</a:t>
            </a:r>
            <a:endParaRPr sz="2100">
              <a:latin typeface="Tahoma"/>
              <a:cs typeface="Tahoma"/>
            </a:endParaRPr>
          </a:p>
          <a:p>
            <a:pPr marL="346710">
              <a:lnSpc>
                <a:spcPct val="100000"/>
              </a:lnSpc>
              <a:spcBef>
                <a:spcPts val="1890"/>
              </a:spcBef>
            </a:pPr>
            <a:r>
              <a:rPr dirty="0" sz="2100" spc="-60" b="1">
                <a:solidFill>
                  <a:srgbClr val="FBD34D"/>
                </a:solidFill>
                <a:latin typeface="Tahoma"/>
                <a:cs typeface="Tahoma"/>
              </a:rPr>
              <a:t>Inclusion:</a:t>
            </a:r>
            <a:r>
              <a:rPr dirty="0" sz="2100" spc="-4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95">
                <a:solidFill>
                  <a:srgbClr val="F7FAFB"/>
                </a:solidFill>
                <a:latin typeface="Tahoma"/>
                <a:cs typeface="Tahoma"/>
              </a:rPr>
              <a:t>Parallel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traditions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from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30" b="1">
                <a:solidFill>
                  <a:srgbClr val="FBD34D"/>
                </a:solidFill>
                <a:latin typeface="Tahoma"/>
                <a:cs typeface="Tahoma"/>
              </a:rPr>
              <a:t>Germanic</a:t>
            </a:r>
            <a:r>
              <a:rPr dirty="0" sz="2100" spc="-3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and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55" b="1">
                <a:solidFill>
                  <a:srgbClr val="FBD34D"/>
                </a:solidFill>
                <a:latin typeface="Tahoma"/>
                <a:cs typeface="Tahoma"/>
              </a:rPr>
              <a:t>Romance</a:t>
            </a:r>
            <a:r>
              <a:rPr dirty="0" sz="2100" spc="-3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>
                <a:solidFill>
                  <a:srgbClr val="F7FAFB"/>
                </a:solidFill>
                <a:latin typeface="Tahoma"/>
                <a:cs typeface="Tahoma"/>
              </a:rPr>
              <a:t>languages</a:t>
            </a:r>
            <a:endParaRPr sz="2100">
              <a:latin typeface="Tahoma"/>
              <a:cs typeface="Tahoma"/>
            </a:endParaRPr>
          </a:p>
          <a:p>
            <a:pPr marL="346710" marR="1035685">
              <a:lnSpc>
                <a:spcPct val="151400"/>
              </a:lnSpc>
              <a:spcBef>
                <a:spcPts val="590"/>
              </a:spcBef>
            </a:pPr>
            <a:r>
              <a:rPr dirty="0" sz="2100" spc="-20" b="1">
                <a:solidFill>
                  <a:srgbClr val="FBD34D"/>
                </a:solidFill>
                <a:latin typeface="Tahoma"/>
                <a:cs typeface="Tahoma"/>
              </a:rPr>
              <a:t>Approach: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Enables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study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of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both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5">
                <a:solidFill>
                  <a:srgbClr val="F7FAFB"/>
                </a:solidFill>
                <a:latin typeface="Tahoma"/>
                <a:cs typeface="Tahoma"/>
              </a:rPr>
              <a:t>internal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and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external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10">
                <a:solidFill>
                  <a:srgbClr val="F7FAFB"/>
                </a:solidFill>
                <a:latin typeface="Tahoma"/>
                <a:cs typeface="Tahoma"/>
              </a:rPr>
              <a:t>language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interactions</a:t>
            </a:r>
            <a:endParaRPr sz="2100">
              <a:latin typeface="Tahoma"/>
              <a:cs typeface="Tahoma"/>
            </a:endParaRPr>
          </a:p>
          <a:p>
            <a:pPr algn="just" marL="12700" marR="5080">
              <a:lnSpc>
                <a:spcPct val="134400"/>
              </a:lnSpc>
              <a:spcBef>
                <a:spcPts val="2270"/>
              </a:spcBef>
            </a:pPr>
            <a:r>
              <a:rPr dirty="0" sz="2100" spc="50">
                <a:solidFill>
                  <a:srgbClr val="F7FAFB"/>
                </a:solidFill>
                <a:latin typeface="Tahoma"/>
                <a:cs typeface="Tahoma"/>
              </a:rPr>
              <a:t>The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10">
                <a:solidFill>
                  <a:srgbClr val="F7FAFB"/>
                </a:solidFill>
                <a:latin typeface="Tahoma"/>
                <a:cs typeface="Tahoma"/>
              </a:rPr>
              <a:t>CVL-</a:t>
            </a:r>
            <a:r>
              <a:rPr dirty="0" sz="2100" spc="195">
                <a:solidFill>
                  <a:srgbClr val="F7FAFB"/>
                </a:solidFill>
                <a:latin typeface="Tahoma"/>
                <a:cs typeface="Tahoma"/>
              </a:rPr>
              <a:t>CDSAML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(Corpus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for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Valency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Lexicon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-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5">
                <a:solidFill>
                  <a:srgbClr val="F7FAFB"/>
                </a:solidFill>
                <a:latin typeface="Tahoma"/>
                <a:cs typeface="Tahoma"/>
              </a:rPr>
              <a:t>Corpus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of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5">
                <a:solidFill>
                  <a:srgbClr val="F7FAFB"/>
                </a:solidFill>
                <a:latin typeface="Tahoma"/>
                <a:cs typeface="Tahoma"/>
              </a:rPr>
              <a:t>Diachronic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25">
                <a:solidFill>
                  <a:srgbClr val="F7FAFB"/>
                </a:solidFill>
                <a:latin typeface="Tahoma"/>
                <a:cs typeface="Tahoma"/>
              </a:rPr>
              <a:t>and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Synchronic</a:t>
            </a:r>
            <a:r>
              <a:rPr dirty="0" sz="2100" spc="-5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Analyses</a:t>
            </a:r>
            <a:r>
              <a:rPr dirty="0" sz="2100" spc="-4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of</a:t>
            </a:r>
            <a:r>
              <a:rPr dirty="0" sz="2100" spc="-4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40">
                <a:solidFill>
                  <a:srgbClr val="F7FAFB"/>
                </a:solidFill>
                <a:latin typeface="Tahoma"/>
                <a:cs typeface="Tahoma"/>
              </a:rPr>
              <a:t>Multiple</a:t>
            </a:r>
            <a:r>
              <a:rPr dirty="0" sz="2100" spc="-4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Languages)</a:t>
            </a:r>
            <a:r>
              <a:rPr dirty="0" sz="2100" spc="-4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serves</a:t>
            </a:r>
            <a:r>
              <a:rPr dirty="0" sz="2100" spc="-4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as</a:t>
            </a:r>
            <a:r>
              <a:rPr dirty="0" sz="2100" spc="-4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the</a:t>
            </a:r>
            <a:r>
              <a:rPr dirty="0" sz="2100" spc="-4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textual</a:t>
            </a:r>
            <a:r>
              <a:rPr dirty="0" sz="2100" spc="-5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database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for</a:t>
            </a:r>
            <a:r>
              <a:rPr dirty="0" sz="2100" spc="-1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extracting</a:t>
            </a:r>
            <a:r>
              <a:rPr dirty="0" sz="2100" spc="-1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valency</a:t>
            </a:r>
            <a:r>
              <a:rPr dirty="0" sz="2100" spc="-1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5">
                <a:solidFill>
                  <a:srgbClr val="F7FAFB"/>
                </a:solidFill>
                <a:latin typeface="Tahoma"/>
                <a:cs typeface="Tahoma"/>
              </a:rPr>
              <a:t>information</a:t>
            </a:r>
            <a:r>
              <a:rPr dirty="0" sz="2100" spc="-1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across</a:t>
            </a:r>
            <a:r>
              <a:rPr dirty="0" sz="2100" spc="-1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languages</a:t>
            </a:r>
            <a:r>
              <a:rPr dirty="0" sz="2100" spc="-1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and</a:t>
            </a:r>
            <a:r>
              <a:rPr dirty="0" sz="2100" spc="-1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time</a:t>
            </a:r>
            <a:r>
              <a:rPr dirty="0" sz="2100" spc="-1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0">
                <a:solidFill>
                  <a:srgbClr val="F7FAFB"/>
                </a:solidFill>
                <a:latin typeface="Tahoma"/>
                <a:cs typeface="Tahoma"/>
              </a:rPr>
              <a:t>periods.</a:t>
            </a:r>
            <a:r>
              <a:rPr dirty="0" sz="2100" spc="-1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40">
                <a:solidFill>
                  <a:srgbClr val="F7FAFB"/>
                </a:solidFill>
                <a:latin typeface="Tahoma"/>
                <a:cs typeface="Tahoma"/>
              </a:rPr>
              <a:t>Each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1086485"/>
          </a:xfrm>
          <a:custGeom>
            <a:avLst/>
            <a:gdLst/>
            <a:ahLst/>
            <a:cxnLst/>
            <a:rect l="l" t="t" r="r" b="b"/>
            <a:pathLst>
              <a:path w="50165" h="1086485">
                <a:moveTo>
                  <a:pt x="50125" y="1086053"/>
                </a:moveTo>
                <a:lnTo>
                  <a:pt x="0" y="1086053"/>
                </a:lnTo>
                <a:lnTo>
                  <a:pt x="0" y="0"/>
                </a:lnTo>
                <a:lnTo>
                  <a:pt x="50125" y="0"/>
                </a:lnTo>
                <a:lnTo>
                  <a:pt x="50125" y="1086053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83336" y="1444752"/>
            <a:ext cx="8415655" cy="457200"/>
          </a:xfrm>
          <a:custGeom>
            <a:avLst/>
            <a:gdLst/>
            <a:ahLst/>
            <a:cxnLst/>
            <a:rect l="l" t="t" r="r" b="b"/>
            <a:pathLst>
              <a:path w="8415655" h="457200">
                <a:moveTo>
                  <a:pt x="8415527" y="457199"/>
                </a:moveTo>
                <a:lnTo>
                  <a:pt x="0" y="457199"/>
                </a:lnTo>
                <a:lnTo>
                  <a:pt x="0" y="0"/>
                </a:lnTo>
                <a:lnTo>
                  <a:pt x="8415527" y="0"/>
                </a:lnTo>
                <a:lnTo>
                  <a:pt x="8415527" y="45719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75"/>
              <a:t>Question:</a:t>
            </a:r>
            <a:r>
              <a:rPr dirty="0" spc="-125"/>
              <a:t> </a:t>
            </a:r>
            <a:r>
              <a:rPr dirty="0"/>
              <a:t>What</a:t>
            </a:r>
            <a:r>
              <a:rPr dirty="0" spc="-125"/>
              <a:t> </a:t>
            </a:r>
            <a:r>
              <a:rPr dirty="0" spc="-90"/>
              <a:t>research</a:t>
            </a:r>
            <a:r>
              <a:rPr dirty="0" spc="-125"/>
              <a:t> </a:t>
            </a:r>
            <a:r>
              <a:rPr dirty="0" spc="-100"/>
              <a:t>questions</a:t>
            </a:r>
            <a:r>
              <a:rPr dirty="0" spc="-120"/>
              <a:t> </a:t>
            </a:r>
            <a:r>
              <a:rPr dirty="0" spc="-130"/>
              <a:t>can</a:t>
            </a:r>
            <a:r>
              <a:rPr dirty="0" spc="-125"/>
              <a:t> </a:t>
            </a:r>
            <a:r>
              <a:rPr dirty="0" spc="-20"/>
              <a:t>this</a:t>
            </a:r>
          </a:p>
        </p:txBody>
      </p:sp>
      <p:sp>
        <p:nvSpPr>
          <p:cNvPr id="5" name="object 5" descr=""/>
          <p:cNvSpPr/>
          <p:nvPr/>
        </p:nvSpPr>
        <p:spPr>
          <a:xfrm>
            <a:off x="783336" y="1987295"/>
            <a:ext cx="3127375" cy="457200"/>
          </a:xfrm>
          <a:custGeom>
            <a:avLst/>
            <a:gdLst/>
            <a:ahLst/>
            <a:cxnLst/>
            <a:rect l="l" t="t" r="r" b="b"/>
            <a:pathLst>
              <a:path w="3127375" h="457200">
                <a:moveTo>
                  <a:pt x="3127247" y="457199"/>
                </a:moveTo>
                <a:lnTo>
                  <a:pt x="0" y="457199"/>
                </a:lnTo>
                <a:lnTo>
                  <a:pt x="0" y="0"/>
                </a:lnTo>
                <a:lnTo>
                  <a:pt x="3127247" y="0"/>
                </a:lnTo>
                <a:lnTo>
                  <a:pt x="3127247" y="45719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789308" y="1903358"/>
            <a:ext cx="3077845" cy="5067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150" spc="-100" b="1">
                <a:solidFill>
                  <a:srgbClr val="60A5FA"/>
                </a:solidFill>
                <a:latin typeface="Tahoma"/>
                <a:cs typeface="Tahoma"/>
              </a:rPr>
              <a:t>corpus</a:t>
            </a:r>
            <a:r>
              <a:rPr dirty="0" sz="3150" spc="-114" b="1">
                <a:solidFill>
                  <a:srgbClr val="60A5FA"/>
                </a:solidFill>
                <a:latin typeface="Tahoma"/>
                <a:cs typeface="Tahoma"/>
              </a:rPr>
              <a:t> address?</a:t>
            </a:r>
            <a:endParaRPr sz="3150">
              <a:latin typeface="Tahoma"/>
              <a:cs typeface="Tahoma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3428178"/>
            <a:ext cx="91896" cy="9189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3987913"/>
            <a:ext cx="91896" cy="91896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4547649"/>
            <a:ext cx="91896" cy="91896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572097" y="2563344"/>
            <a:ext cx="5784215" cy="21844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Think</a:t>
            </a:r>
            <a:r>
              <a:rPr dirty="0" sz="2100" spc="-12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about:</a:t>
            </a:r>
            <a:endParaRPr sz="2100">
              <a:latin typeface="Tahoma"/>
              <a:cs typeface="Tahoma"/>
            </a:endParaRPr>
          </a:p>
          <a:p>
            <a:pPr marL="346710" marR="5080">
              <a:lnSpc>
                <a:spcPct val="174900"/>
              </a:lnSpc>
              <a:spcBef>
                <a:spcPts val="1250"/>
              </a:spcBef>
            </a:pP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Internal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 vs.</a:t>
            </a:r>
            <a:r>
              <a:rPr dirty="0" sz="2100" spc="-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external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 language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development </a:t>
            </a:r>
            <a:r>
              <a:rPr dirty="0" sz="2100" spc="105">
                <a:solidFill>
                  <a:srgbClr val="F7FAFB"/>
                </a:solidFill>
                <a:latin typeface="Tahoma"/>
                <a:cs typeface="Tahoma"/>
              </a:rPr>
              <a:t>Genre</a:t>
            </a:r>
            <a:r>
              <a:rPr dirty="0" sz="2100" spc="-3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and</a:t>
            </a:r>
            <a:r>
              <a:rPr dirty="0" sz="2100" spc="-3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register</a:t>
            </a:r>
            <a:r>
              <a:rPr dirty="0" sz="2100" spc="-3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effects</a:t>
            </a:r>
            <a:endParaRPr sz="2100">
              <a:latin typeface="Tahoma"/>
              <a:cs typeface="Tahoma"/>
            </a:endParaRPr>
          </a:p>
          <a:p>
            <a:pPr marL="346710">
              <a:lnSpc>
                <a:spcPct val="100000"/>
              </a:lnSpc>
              <a:spcBef>
                <a:spcPts val="1885"/>
              </a:spcBef>
            </a:pPr>
            <a:r>
              <a:rPr dirty="0" sz="2100" spc="120">
                <a:solidFill>
                  <a:srgbClr val="F7FAFB"/>
                </a:solidFill>
                <a:latin typeface="Tahoma"/>
                <a:cs typeface="Tahoma"/>
              </a:rPr>
              <a:t>Historical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transmission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problems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543560"/>
          </a:xfrm>
          <a:custGeom>
            <a:avLst/>
            <a:gdLst/>
            <a:ahLst/>
            <a:cxnLst/>
            <a:rect l="l" t="t" r="r" b="b"/>
            <a:pathLst>
              <a:path w="50165" h="543560">
                <a:moveTo>
                  <a:pt x="50125" y="543026"/>
                </a:moveTo>
                <a:lnTo>
                  <a:pt x="0" y="543026"/>
                </a:lnTo>
                <a:lnTo>
                  <a:pt x="0" y="0"/>
                </a:lnTo>
                <a:lnTo>
                  <a:pt x="50125" y="0"/>
                </a:lnTo>
                <a:lnTo>
                  <a:pt x="50125" y="543026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98575" y="1444752"/>
            <a:ext cx="6525895" cy="463550"/>
          </a:xfrm>
          <a:custGeom>
            <a:avLst/>
            <a:gdLst/>
            <a:ahLst/>
            <a:cxnLst/>
            <a:rect l="l" t="t" r="r" b="b"/>
            <a:pathLst>
              <a:path w="6525895" h="463550">
                <a:moveTo>
                  <a:pt x="6525767" y="463295"/>
                </a:moveTo>
                <a:lnTo>
                  <a:pt x="0" y="463295"/>
                </a:lnTo>
                <a:lnTo>
                  <a:pt x="0" y="0"/>
                </a:lnTo>
                <a:lnTo>
                  <a:pt x="6525767" y="0"/>
                </a:lnTo>
                <a:lnTo>
                  <a:pt x="6525767" y="463295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10"/>
              <a:t>Research</a:t>
            </a:r>
            <a:r>
              <a:rPr dirty="0" spc="-135"/>
              <a:t> </a:t>
            </a:r>
            <a:r>
              <a:rPr dirty="0" spc="-50"/>
              <a:t>Context</a:t>
            </a:r>
            <a:r>
              <a:rPr dirty="0" spc="-130"/>
              <a:t> </a:t>
            </a:r>
            <a:r>
              <a:rPr dirty="0" spc="-204"/>
              <a:t>&amp;</a:t>
            </a:r>
            <a:r>
              <a:rPr dirty="0" spc="-130"/>
              <a:t> </a:t>
            </a:r>
            <a:r>
              <a:rPr dirty="0" spc="-20"/>
              <a:t>Methodology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2885151"/>
            <a:ext cx="91896" cy="91896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3444887"/>
            <a:ext cx="91896" cy="9189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4004622"/>
            <a:ext cx="91896" cy="9189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4572711"/>
            <a:ext cx="91896" cy="91896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5132447"/>
            <a:ext cx="91896" cy="91896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572097" y="2020317"/>
            <a:ext cx="9037955" cy="45485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 spc="50">
                <a:solidFill>
                  <a:srgbClr val="F7FAFB"/>
                </a:solidFill>
                <a:latin typeface="Tahoma"/>
                <a:cs typeface="Tahoma"/>
              </a:rPr>
              <a:t>The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corpus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allows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researchers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to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35">
                <a:solidFill>
                  <a:srgbClr val="F7FAFB"/>
                </a:solidFill>
                <a:latin typeface="Tahoma"/>
                <a:cs typeface="Tahoma"/>
              </a:rPr>
              <a:t>analyze:</a:t>
            </a:r>
            <a:endParaRPr sz="2100">
              <a:latin typeface="Tahoma"/>
              <a:cs typeface="Tahoma"/>
            </a:endParaRPr>
          </a:p>
          <a:p>
            <a:pPr marL="346710" marR="2567305">
              <a:lnSpc>
                <a:spcPct val="174900"/>
              </a:lnSpc>
              <a:spcBef>
                <a:spcPts val="1250"/>
              </a:spcBef>
            </a:pPr>
            <a:r>
              <a:rPr dirty="0" sz="2100" spc="-55" b="1">
                <a:solidFill>
                  <a:srgbClr val="FBD34D"/>
                </a:solidFill>
                <a:latin typeface="Tahoma"/>
                <a:cs typeface="Tahoma"/>
              </a:rPr>
              <a:t>Internal </a:t>
            </a:r>
            <a:r>
              <a:rPr dirty="0" sz="2100" spc="-70" b="1">
                <a:solidFill>
                  <a:srgbClr val="FBD34D"/>
                </a:solidFill>
                <a:latin typeface="Tahoma"/>
                <a:cs typeface="Tahoma"/>
              </a:rPr>
              <a:t>language</a:t>
            </a:r>
            <a:r>
              <a:rPr dirty="0" sz="2100" spc="-5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35" b="1">
                <a:solidFill>
                  <a:srgbClr val="FBD34D"/>
                </a:solidFill>
                <a:latin typeface="Tahoma"/>
                <a:cs typeface="Tahoma"/>
              </a:rPr>
              <a:t>development</a:t>
            </a:r>
            <a:r>
              <a:rPr dirty="0" sz="2100" spc="-5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patterns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External</a:t>
            </a:r>
            <a:r>
              <a:rPr dirty="0" sz="2100" spc="-8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70" b="1">
                <a:solidFill>
                  <a:srgbClr val="FBD34D"/>
                </a:solidFill>
                <a:latin typeface="Tahoma"/>
                <a:cs typeface="Tahoma"/>
              </a:rPr>
              <a:t>language</a:t>
            </a:r>
            <a:r>
              <a:rPr dirty="0" sz="2100" spc="-8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interactions</a:t>
            </a:r>
            <a:r>
              <a:rPr dirty="0" sz="2100" spc="-7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through</a:t>
            </a:r>
            <a:r>
              <a:rPr dirty="0" sz="2100" spc="-12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contact </a:t>
            </a:r>
            <a:r>
              <a:rPr dirty="0" sz="2100" spc="-20" b="1">
                <a:solidFill>
                  <a:srgbClr val="FBD34D"/>
                </a:solidFill>
                <a:latin typeface="Tahoma"/>
                <a:cs typeface="Tahoma"/>
              </a:rPr>
              <a:t>Genre</a:t>
            </a:r>
            <a:r>
              <a:rPr dirty="0" sz="2100" spc="-5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effects</a:t>
            </a:r>
            <a:r>
              <a:rPr dirty="0" sz="2100" spc="-4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on</a:t>
            </a:r>
            <a:r>
              <a:rPr dirty="0" sz="2100" spc="-9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linguistic</a:t>
            </a:r>
            <a:r>
              <a:rPr dirty="0" sz="2100" spc="-9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features</a:t>
            </a:r>
            <a:endParaRPr sz="2100">
              <a:latin typeface="Tahoma"/>
              <a:cs typeface="Tahoma"/>
            </a:endParaRPr>
          </a:p>
          <a:p>
            <a:pPr marL="346710">
              <a:lnSpc>
                <a:spcPct val="100000"/>
              </a:lnSpc>
              <a:spcBef>
                <a:spcPts val="1950"/>
              </a:spcBef>
            </a:pPr>
            <a:r>
              <a:rPr dirty="0" sz="2100" spc="-30" b="1">
                <a:solidFill>
                  <a:srgbClr val="FBD34D"/>
                </a:solidFill>
                <a:latin typeface="Tahoma"/>
                <a:cs typeface="Tahoma"/>
              </a:rPr>
              <a:t>Register</a:t>
            </a:r>
            <a:r>
              <a:rPr dirty="0" sz="2100" spc="-6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variations</a:t>
            </a:r>
            <a:r>
              <a:rPr dirty="0" sz="2100" spc="-6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across</a:t>
            </a:r>
            <a:r>
              <a:rPr dirty="0" sz="2100" spc="-10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time</a:t>
            </a:r>
            <a:r>
              <a:rPr dirty="0" sz="2100" spc="-10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periods</a:t>
            </a:r>
            <a:endParaRPr sz="2100">
              <a:latin typeface="Tahoma"/>
              <a:cs typeface="Tahoma"/>
            </a:endParaRPr>
          </a:p>
          <a:p>
            <a:pPr marL="346710">
              <a:lnSpc>
                <a:spcPct val="100000"/>
              </a:lnSpc>
              <a:spcBef>
                <a:spcPts val="1889"/>
              </a:spcBef>
            </a:pPr>
            <a:r>
              <a:rPr dirty="0" sz="2100" spc="-50" b="1">
                <a:solidFill>
                  <a:srgbClr val="FBD34D"/>
                </a:solidFill>
                <a:latin typeface="Tahoma"/>
                <a:cs typeface="Tahoma"/>
              </a:rPr>
              <a:t>Transmission</a:t>
            </a:r>
            <a:r>
              <a:rPr dirty="0" sz="2100" spc="-6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30" b="1">
                <a:solidFill>
                  <a:srgbClr val="FBD34D"/>
                </a:solidFill>
                <a:latin typeface="Tahoma"/>
                <a:cs typeface="Tahoma"/>
              </a:rPr>
              <a:t>problems</a:t>
            </a:r>
            <a:r>
              <a:rPr dirty="0" sz="2100" spc="-5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in</a:t>
            </a:r>
            <a:r>
              <a:rPr dirty="0" sz="2100" spc="-10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historical</a:t>
            </a:r>
            <a:r>
              <a:rPr dirty="0" sz="2100" spc="-10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linguistic</a:t>
            </a:r>
            <a:r>
              <a:rPr dirty="0" sz="2100" spc="-10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evidence</a:t>
            </a:r>
            <a:endParaRPr sz="2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50"/>
              </a:spcBef>
            </a:pPr>
            <a:endParaRPr sz="2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2150" spc="70" i="1">
                <a:solidFill>
                  <a:srgbClr val="A5F2FB"/>
                </a:solidFill>
                <a:latin typeface="Trebuchet MS"/>
                <a:cs typeface="Trebuchet MS"/>
              </a:rPr>
              <a:t>Based</a:t>
            </a:r>
            <a:r>
              <a:rPr dirty="0" sz="2150" spc="-30" i="1">
                <a:solidFill>
                  <a:srgbClr val="A5F2FB"/>
                </a:solidFill>
                <a:latin typeface="Trebuchet MS"/>
                <a:cs typeface="Trebuchet MS"/>
              </a:rPr>
              <a:t> </a:t>
            </a:r>
            <a:r>
              <a:rPr dirty="0" sz="2150" i="1">
                <a:solidFill>
                  <a:srgbClr val="A5F2FB"/>
                </a:solidFill>
                <a:latin typeface="Trebuchet MS"/>
                <a:cs typeface="Trebuchet MS"/>
              </a:rPr>
              <a:t>on</a:t>
            </a:r>
            <a:r>
              <a:rPr dirty="0" sz="2150" spc="-25" i="1">
                <a:solidFill>
                  <a:srgbClr val="A5F2FB"/>
                </a:solidFill>
                <a:latin typeface="Trebuchet MS"/>
                <a:cs typeface="Trebuchet MS"/>
              </a:rPr>
              <a:t> </a:t>
            </a:r>
            <a:r>
              <a:rPr dirty="0" sz="2150" i="1">
                <a:solidFill>
                  <a:srgbClr val="A5F2FB"/>
                </a:solidFill>
                <a:latin typeface="Trebuchet MS"/>
                <a:cs typeface="Trebuchet MS"/>
              </a:rPr>
              <a:t>Biber</a:t>
            </a:r>
            <a:r>
              <a:rPr dirty="0" sz="2150" spc="-30" i="1">
                <a:solidFill>
                  <a:srgbClr val="A5F2FB"/>
                </a:solidFill>
                <a:latin typeface="Trebuchet MS"/>
                <a:cs typeface="Trebuchet MS"/>
              </a:rPr>
              <a:t> </a:t>
            </a:r>
            <a:r>
              <a:rPr dirty="0" sz="2150" i="1">
                <a:solidFill>
                  <a:srgbClr val="A5F2FB"/>
                </a:solidFill>
                <a:latin typeface="Trebuchet MS"/>
                <a:cs typeface="Trebuchet MS"/>
              </a:rPr>
              <a:t>&amp;</a:t>
            </a:r>
            <a:r>
              <a:rPr dirty="0" sz="2150" spc="-25" i="1">
                <a:solidFill>
                  <a:srgbClr val="A5F2FB"/>
                </a:solidFill>
                <a:latin typeface="Trebuchet MS"/>
                <a:cs typeface="Trebuchet MS"/>
              </a:rPr>
              <a:t> </a:t>
            </a:r>
            <a:r>
              <a:rPr dirty="0" sz="2150" spc="55" i="1">
                <a:solidFill>
                  <a:srgbClr val="A5F2FB"/>
                </a:solidFill>
                <a:latin typeface="Trebuchet MS"/>
                <a:cs typeface="Trebuchet MS"/>
              </a:rPr>
              <a:t>Conrad</a:t>
            </a:r>
            <a:r>
              <a:rPr dirty="0" sz="2150" spc="-25" i="1">
                <a:solidFill>
                  <a:srgbClr val="A5F2FB"/>
                </a:solidFill>
                <a:latin typeface="Trebuchet MS"/>
                <a:cs typeface="Trebuchet MS"/>
              </a:rPr>
              <a:t> </a:t>
            </a:r>
            <a:r>
              <a:rPr dirty="0" sz="2150" spc="60" i="1">
                <a:solidFill>
                  <a:srgbClr val="A5F2FB"/>
                </a:solidFill>
                <a:latin typeface="Trebuchet MS"/>
                <a:cs typeface="Trebuchet MS"/>
              </a:rPr>
              <a:t>(2009)</a:t>
            </a:r>
            <a:endParaRPr sz="21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50"/>
              </a:spcBef>
            </a:pPr>
            <a:r>
              <a:rPr dirty="0" sz="2100" spc="135">
                <a:solidFill>
                  <a:srgbClr val="F7FAFB"/>
                </a:solidFill>
                <a:latin typeface="Tahoma"/>
                <a:cs typeface="Tahoma"/>
              </a:rPr>
              <a:t>Our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methodology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combines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variationist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sociolinguistics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5">
                <a:solidFill>
                  <a:srgbClr val="F7FAFB"/>
                </a:solidFill>
                <a:latin typeface="Tahoma"/>
                <a:cs typeface="Tahoma"/>
              </a:rPr>
              <a:t>with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diachronic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1086485"/>
          </a:xfrm>
          <a:custGeom>
            <a:avLst/>
            <a:gdLst/>
            <a:ahLst/>
            <a:cxnLst/>
            <a:rect l="l" t="t" r="r" b="b"/>
            <a:pathLst>
              <a:path w="50165" h="1086485">
                <a:moveTo>
                  <a:pt x="50125" y="1086053"/>
                </a:moveTo>
                <a:lnTo>
                  <a:pt x="0" y="1086053"/>
                </a:lnTo>
                <a:lnTo>
                  <a:pt x="0" y="0"/>
                </a:lnTo>
                <a:lnTo>
                  <a:pt x="50125" y="0"/>
                </a:lnTo>
                <a:lnTo>
                  <a:pt x="50125" y="1086053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83336" y="1444752"/>
            <a:ext cx="8964295" cy="445134"/>
          </a:xfrm>
          <a:custGeom>
            <a:avLst/>
            <a:gdLst/>
            <a:ahLst/>
            <a:cxnLst/>
            <a:rect l="l" t="t" r="r" b="b"/>
            <a:pathLst>
              <a:path w="8964295" h="445135">
                <a:moveTo>
                  <a:pt x="8964167" y="445007"/>
                </a:moveTo>
                <a:lnTo>
                  <a:pt x="0" y="445007"/>
                </a:lnTo>
                <a:lnTo>
                  <a:pt x="0" y="0"/>
                </a:lnTo>
                <a:lnTo>
                  <a:pt x="8964167" y="0"/>
                </a:lnTo>
                <a:lnTo>
                  <a:pt x="8964167" y="445007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75"/>
              <a:t>Question:</a:t>
            </a:r>
            <a:r>
              <a:rPr dirty="0" spc="-135"/>
              <a:t> </a:t>
            </a:r>
            <a:r>
              <a:rPr dirty="0"/>
              <a:t>Who</a:t>
            </a:r>
            <a:r>
              <a:rPr dirty="0" spc="-130"/>
              <a:t> </a:t>
            </a:r>
            <a:r>
              <a:rPr dirty="0" spc="-114"/>
              <a:t>funds</a:t>
            </a:r>
            <a:r>
              <a:rPr dirty="0" spc="-130"/>
              <a:t> </a:t>
            </a:r>
            <a:r>
              <a:rPr dirty="0" spc="-80"/>
              <a:t>this</a:t>
            </a:r>
            <a:r>
              <a:rPr dirty="0" spc="-130"/>
              <a:t> </a:t>
            </a:r>
            <a:r>
              <a:rPr dirty="0" spc="-90"/>
              <a:t>research</a:t>
            </a:r>
            <a:r>
              <a:rPr dirty="0" spc="-135"/>
              <a:t> and</a:t>
            </a:r>
            <a:r>
              <a:rPr dirty="0" spc="-130"/>
              <a:t> </a:t>
            </a:r>
            <a:r>
              <a:rPr dirty="0" spc="-120"/>
              <a:t>what</a:t>
            </a:r>
            <a:r>
              <a:rPr dirty="0" spc="-130"/>
              <a:t> </a:t>
            </a:r>
            <a:r>
              <a:rPr dirty="0" spc="-25"/>
              <a:t>is</a:t>
            </a:r>
          </a:p>
        </p:txBody>
      </p:sp>
      <p:sp>
        <p:nvSpPr>
          <p:cNvPr id="5" name="object 5" descr=""/>
          <p:cNvSpPr/>
          <p:nvPr/>
        </p:nvSpPr>
        <p:spPr>
          <a:xfrm>
            <a:off x="780287" y="1987295"/>
            <a:ext cx="2585085" cy="396240"/>
          </a:xfrm>
          <a:custGeom>
            <a:avLst/>
            <a:gdLst/>
            <a:ahLst/>
            <a:cxnLst/>
            <a:rect l="l" t="t" r="r" b="b"/>
            <a:pathLst>
              <a:path w="2585085" h="396239">
                <a:moveTo>
                  <a:pt x="2584703" y="396239"/>
                </a:moveTo>
                <a:lnTo>
                  <a:pt x="0" y="396239"/>
                </a:lnTo>
                <a:lnTo>
                  <a:pt x="0" y="0"/>
                </a:lnTo>
                <a:lnTo>
                  <a:pt x="2584703" y="0"/>
                </a:lnTo>
                <a:lnTo>
                  <a:pt x="2584703" y="39623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789308" y="1903358"/>
            <a:ext cx="2533650" cy="5067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150" spc="-90" b="1">
                <a:solidFill>
                  <a:srgbClr val="60A5FA"/>
                </a:solidFill>
                <a:latin typeface="Tahoma"/>
                <a:cs typeface="Tahoma"/>
              </a:rPr>
              <a:t>the</a:t>
            </a:r>
            <a:r>
              <a:rPr dirty="0" sz="3150" spc="-145" b="1">
                <a:solidFill>
                  <a:srgbClr val="60A5FA"/>
                </a:solidFill>
                <a:latin typeface="Tahoma"/>
                <a:cs typeface="Tahoma"/>
              </a:rPr>
              <a:t> </a:t>
            </a:r>
            <a:r>
              <a:rPr dirty="0" sz="3150" spc="-75" b="1">
                <a:solidFill>
                  <a:srgbClr val="60A5FA"/>
                </a:solidFill>
                <a:latin typeface="Tahoma"/>
                <a:cs typeface="Tahoma"/>
              </a:rPr>
              <a:t>timeline?</a:t>
            </a:r>
            <a:endParaRPr sz="3150">
              <a:latin typeface="Tahoma"/>
              <a:cs typeface="Tahoma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3428178"/>
            <a:ext cx="91896" cy="9189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3987913"/>
            <a:ext cx="91896" cy="91896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4547649"/>
            <a:ext cx="91896" cy="91896"/>
          </a:xfrm>
          <a:prstGeom prst="rect">
            <a:avLst/>
          </a:prstGeom>
        </p:spPr>
      </p:pic>
      <p:sp>
        <p:nvSpPr>
          <p:cNvPr id="10" name="object 10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Key</a:t>
            </a:r>
            <a:r>
              <a:rPr dirty="0" spc="-114"/>
              <a:t> </a:t>
            </a:r>
            <a:r>
              <a:rPr dirty="0" spc="-10"/>
              <a:t>questions:</a:t>
            </a:r>
          </a:p>
          <a:p>
            <a:pPr marL="346710" marR="5080">
              <a:lnSpc>
                <a:spcPct val="174900"/>
              </a:lnSpc>
              <a:spcBef>
                <a:spcPts val="1250"/>
              </a:spcBef>
            </a:pPr>
            <a:r>
              <a:rPr dirty="0" spc="114" b="0">
                <a:solidFill>
                  <a:srgbClr val="F7FAFB"/>
                </a:solidFill>
                <a:latin typeface="Tahoma"/>
                <a:cs typeface="Tahoma"/>
              </a:rPr>
              <a:t>Which</a:t>
            </a:r>
            <a:r>
              <a:rPr dirty="0" spc="-85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90" b="0">
                <a:solidFill>
                  <a:srgbClr val="F7FAFB"/>
                </a:solidFill>
                <a:latin typeface="Tahoma"/>
                <a:cs typeface="Tahoma"/>
              </a:rPr>
              <a:t>foundation</a:t>
            </a:r>
            <a:r>
              <a:rPr dirty="0" spc="-80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80" b="0">
                <a:solidFill>
                  <a:srgbClr val="F7FAFB"/>
                </a:solidFill>
                <a:latin typeface="Tahoma"/>
                <a:cs typeface="Tahoma"/>
              </a:rPr>
              <a:t>supports</a:t>
            </a:r>
            <a:r>
              <a:rPr dirty="0" spc="-80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75" b="0">
                <a:solidFill>
                  <a:srgbClr val="F7FAFB"/>
                </a:solidFill>
                <a:latin typeface="Tahoma"/>
                <a:cs typeface="Tahoma"/>
              </a:rPr>
              <a:t>the</a:t>
            </a:r>
            <a:r>
              <a:rPr dirty="0" spc="-80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50" b="0">
                <a:solidFill>
                  <a:srgbClr val="F7FAFB"/>
                </a:solidFill>
                <a:latin typeface="Tahoma"/>
                <a:cs typeface="Tahoma"/>
              </a:rPr>
              <a:t>project? </a:t>
            </a:r>
            <a:r>
              <a:rPr dirty="0" spc="125" b="0">
                <a:solidFill>
                  <a:srgbClr val="F7FAFB"/>
                </a:solidFill>
                <a:latin typeface="Tahoma"/>
                <a:cs typeface="Tahoma"/>
              </a:rPr>
              <a:t>What</a:t>
            </a:r>
            <a:r>
              <a:rPr dirty="0" spc="-85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55" b="0">
                <a:solidFill>
                  <a:srgbClr val="F7FAFB"/>
                </a:solidFill>
                <a:latin typeface="Tahoma"/>
                <a:cs typeface="Tahoma"/>
              </a:rPr>
              <a:t>is</a:t>
            </a:r>
            <a:r>
              <a:rPr dirty="0" spc="-80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75" b="0">
                <a:solidFill>
                  <a:srgbClr val="F7FAFB"/>
                </a:solidFill>
                <a:latin typeface="Tahoma"/>
                <a:cs typeface="Tahoma"/>
              </a:rPr>
              <a:t>the</a:t>
            </a:r>
            <a:r>
              <a:rPr dirty="0" spc="-80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65" b="0">
                <a:solidFill>
                  <a:srgbClr val="F7FAFB"/>
                </a:solidFill>
                <a:latin typeface="Tahoma"/>
                <a:cs typeface="Tahoma"/>
              </a:rPr>
              <a:t>funding</a:t>
            </a:r>
            <a:r>
              <a:rPr dirty="0" spc="-85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55" b="0">
                <a:solidFill>
                  <a:srgbClr val="F7FAFB"/>
                </a:solidFill>
                <a:latin typeface="Tahoma"/>
                <a:cs typeface="Tahoma"/>
              </a:rPr>
              <a:t>period?</a:t>
            </a:r>
          </a:p>
          <a:p>
            <a:pPr marL="346710">
              <a:lnSpc>
                <a:spcPct val="100000"/>
              </a:lnSpc>
              <a:spcBef>
                <a:spcPts val="1885"/>
              </a:spcBef>
            </a:pPr>
            <a:r>
              <a:rPr dirty="0" spc="125" b="0">
                <a:solidFill>
                  <a:srgbClr val="F7FAFB"/>
                </a:solidFill>
                <a:latin typeface="Tahoma"/>
                <a:cs typeface="Tahoma"/>
              </a:rPr>
              <a:t>What</a:t>
            </a:r>
            <a:r>
              <a:rPr dirty="0" spc="-35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b="0">
                <a:solidFill>
                  <a:srgbClr val="F7FAFB"/>
                </a:solidFill>
                <a:latin typeface="Tahoma"/>
                <a:cs typeface="Tahoma"/>
              </a:rPr>
              <a:t>makes</a:t>
            </a:r>
            <a:r>
              <a:rPr dirty="0" spc="-30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85" b="0">
                <a:solidFill>
                  <a:srgbClr val="F7FAFB"/>
                </a:solidFill>
                <a:latin typeface="Tahoma"/>
                <a:cs typeface="Tahoma"/>
              </a:rPr>
              <a:t>this</a:t>
            </a:r>
            <a:r>
              <a:rPr dirty="0" spc="-30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85" b="0">
                <a:solidFill>
                  <a:srgbClr val="F7FAFB"/>
                </a:solidFill>
                <a:latin typeface="Tahoma"/>
                <a:cs typeface="Tahoma"/>
              </a:rPr>
              <a:t>project</a:t>
            </a:r>
            <a:r>
              <a:rPr dirty="0" spc="-30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70" b="0">
                <a:solidFill>
                  <a:srgbClr val="F7FAFB"/>
                </a:solidFill>
                <a:latin typeface="Tahoma"/>
                <a:cs typeface="Tahoma"/>
              </a:rPr>
              <a:t>competitive?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543560"/>
          </a:xfrm>
          <a:custGeom>
            <a:avLst/>
            <a:gdLst/>
            <a:ahLst/>
            <a:cxnLst/>
            <a:rect l="l" t="t" r="r" b="b"/>
            <a:pathLst>
              <a:path w="50165" h="543560">
                <a:moveTo>
                  <a:pt x="50125" y="543026"/>
                </a:moveTo>
                <a:lnTo>
                  <a:pt x="0" y="543026"/>
                </a:lnTo>
                <a:lnTo>
                  <a:pt x="0" y="0"/>
                </a:lnTo>
                <a:lnTo>
                  <a:pt x="50125" y="0"/>
                </a:lnTo>
                <a:lnTo>
                  <a:pt x="50125" y="543026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77239" y="1444752"/>
            <a:ext cx="7004684" cy="463550"/>
          </a:xfrm>
          <a:custGeom>
            <a:avLst/>
            <a:gdLst/>
            <a:ahLst/>
            <a:cxnLst/>
            <a:rect l="l" t="t" r="r" b="b"/>
            <a:pathLst>
              <a:path w="7004684" h="463550">
                <a:moveTo>
                  <a:pt x="7004303" y="463295"/>
                </a:moveTo>
                <a:lnTo>
                  <a:pt x="0" y="463295"/>
                </a:lnTo>
                <a:lnTo>
                  <a:pt x="0" y="0"/>
                </a:lnTo>
                <a:lnTo>
                  <a:pt x="7004303" y="0"/>
                </a:lnTo>
                <a:lnTo>
                  <a:pt x="7004303" y="463295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90"/>
              <a:t>The</a:t>
            </a:r>
            <a:r>
              <a:rPr dirty="0" spc="-80"/>
              <a:t> </a:t>
            </a:r>
            <a:r>
              <a:rPr dirty="0" spc="-45"/>
              <a:t>CVL-</a:t>
            </a:r>
            <a:r>
              <a:rPr dirty="0"/>
              <a:t>CDSAML</a:t>
            </a:r>
            <a:r>
              <a:rPr dirty="0" spc="-75"/>
              <a:t> </a:t>
            </a:r>
            <a:r>
              <a:rPr dirty="0" spc="-60"/>
              <a:t>Project</a:t>
            </a:r>
            <a:r>
              <a:rPr dirty="0" spc="-80"/>
              <a:t> </a:t>
            </a:r>
            <a:r>
              <a:rPr dirty="0" spc="-10"/>
              <a:t>Overview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572097" y="1915054"/>
            <a:ext cx="9503410" cy="3952240"/>
          </a:xfrm>
          <a:prstGeom prst="rect">
            <a:avLst/>
          </a:prstGeom>
        </p:spPr>
        <p:txBody>
          <a:bodyPr wrap="square" lIns="0" tIns="1181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dirty="0" sz="2100" spc="-45" b="1">
                <a:solidFill>
                  <a:srgbClr val="FBD34D"/>
                </a:solidFill>
                <a:latin typeface="Tahoma"/>
                <a:cs typeface="Tahoma"/>
              </a:rPr>
              <a:t>Funded </a:t>
            </a:r>
            <a:r>
              <a:rPr dirty="0" sz="2100" spc="-55" b="1">
                <a:solidFill>
                  <a:srgbClr val="FBD34D"/>
                </a:solidFill>
                <a:latin typeface="Tahoma"/>
                <a:cs typeface="Tahoma"/>
              </a:rPr>
              <a:t>by:</a:t>
            </a:r>
            <a:r>
              <a:rPr dirty="0" sz="2100" spc="-4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110">
                <a:solidFill>
                  <a:srgbClr val="F7FAFB"/>
                </a:solidFill>
                <a:latin typeface="Tahoma"/>
                <a:cs typeface="Tahoma"/>
              </a:rPr>
              <a:t>Hellenic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Foundation</a:t>
            </a:r>
            <a:r>
              <a:rPr dirty="0" sz="2100" spc="-9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for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Research</a:t>
            </a:r>
            <a:r>
              <a:rPr dirty="0" sz="2100" spc="-9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&amp;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Innovation</a:t>
            </a:r>
            <a:r>
              <a:rPr dirty="0" sz="2100" spc="-9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10">
                <a:solidFill>
                  <a:srgbClr val="F7FAFB"/>
                </a:solidFill>
                <a:latin typeface="Tahoma"/>
                <a:cs typeface="Tahoma"/>
              </a:rPr>
              <a:t>(H.F.R.I.)</a:t>
            </a:r>
            <a:endParaRPr sz="2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35"/>
              </a:spcBef>
            </a:pPr>
            <a:r>
              <a:rPr dirty="0" sz="2100" spc="-50" b="1">
                <a:solidFill>
                  <a:srgbClr val="FBD34D"/>
                </a:solidFill>
                <a:latin typeface="Tahoma"/>
                <a:cs typeface="Tahoma"/>
              </a:rPr>
              <a:t>Program:</a:t>
            </a:r>
            <a:r>
              <a:rPr dirty="0" sz="2100" spc="-4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120">
                <a:solidFill>
                  <a:srgbClr val="F7FAFB"/>
                </a:solidFill>
                <a:latin typeface="Tahoma"/>
                <a:cs typeface="Tahoma"/>
              </a:rPr>
              <a:t>ELIDEK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Excellence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funding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program</a:t>
            </a:r>
            <a:endParaRPr sz="2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35"/>
              </a:spcBef>
            </a:pPr>
            <a:r>
              <a:rPr dirty="0" sz="2100" spc="-25" b="1">
                <a:solidFill>
                  <a:srgbClr val="FBD34D"/>
                </a:solidFill>
                <a:latin typeface="Tahoma"/>
                <a:cs typeface="Tahoma"/>
              </a:rPr>
              <a:t>Timeline:</a:t>
            </a:r>
            <a:r>
              <a:rPr dirty="0" sz="2100" spc="-6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125">
                <a:solidFill>
                  <a:srgbClr val="F7FAFB"/>
                </a:solidFill>
                <a:latin typeface="Tahoma"/>
                <a:cs typeface="Tahoma"/>
              </a:rPr>
              <a:t>2024-</a:t>
            </a:r>
            <a:r>
              <a:rPr dirty="0" sz="2100" spc="105">
                <a:solidFill>
                  <a:srgbClr val="F7FAFB"/>
                </a:solidFill>
                <a:latin typeface="Tahoma"/>
                <a:cs typeface="Tahoma"/>
              </a:rPr>
              <a:t>2025</a:t>
            </a:r>
            <a:endParaRPr sz="2100">
              <a:latin typeface="Tahoma"/>
              <a:cs typeface="Tahoma"/>
            </a:endParaRPr>
          </a:p>
          <a:p>
            <a:pPr marL="12700" marR="5080">
              <a:lnSpc>
                <a:spcPct val="133700"/>
              </a:lnSpc>
              <a:spcBef>
                <a:spcPts val="645"/>
              </a:spcBef>
            </a:pP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This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project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is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funded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through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the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5">
                <a:solidFill>
                  <a:srgbClr val="F7FAFB"/>
                </a:solidFill>
                <a:latin typeface="Tahoma"/>
                <a:cs typeface="Tahoma"/>
              </a:rPr>
              <a:t>competitive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20">
                <a:solidFill>
                  <a:srgbClr val="F7FAFB"/>
                </a:solidFill>
                <a:latin typeface="Tahoma"/>
                <a:cs typeface="Tahoma"/>
              </a:rPr>
              <a:t>ELIDEK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Excellence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10">
                <a:solidFill>
                  <a:srgbClr val="F7FAFB"/>
                </a:solidFill>
                <a:latin typeface="Tahoma"/>
                <a:cs typeface="Tahoma"/>
              </a:rPr>
              <a:t>program,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which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supports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0">
                <a:solidFill>
                  <a:srgbClr val="F7FAFB"/>
                </a:solidFill>
                <a:latin typeface="Tahoma"/>
                <a:cs typeface="Tahoma"/>
              </a:rPr>
              <a:t>high-</a:t>
            </a:r>
            <a:r>
              <a:rPr dirty="0" sz="2100" spc="95">
                <a:solidFill>
                  <a:srgbClr val="F7FAFB"/>
                </a:solidFill>
                <a:latin typeface="Tahoma"/>
                <a:cs typeface="Tahoma"/>
              </a:rPr>
              <a:t>quality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research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in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Greece.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0">
                <a:solidFill>
                  <a:srgbClr val="F7FAFB"/>
                </a:solidFill>
                <a:latin typeface="Tahoma"/>
                <a:cs typeface="Tahoma"/>
              </a:rPr>
              <a:t>The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25">
                <a:solidFill>
                  <a:srgbClr val="F7FAFB"/>
                </a:solidFill>
                <a:latin typeface="Tahoma"/>
                <a:cs typeface="Tahoma"/>
              </a:rPr>
              <a:t>2024-2025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funding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period</a:t>
            </a:r>
            <a:r>
              <a:rPr dirty="0" sz="2100" spc="-5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focuses</a:t>
            </a:r>
            <a:r>
              <a:rPr dirty="0" sz="2100" spc="-5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on</a:t>
            </a:r>
            <a:r>
              <a:rPr dirty="0" sz="2100" spc="-4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completing</a:t>
            </a:r>
            <a:r>
              <a:rPr dirty="0" sz="2100" spc="-5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the</a:t>
            </a:r>
            <a:r>
              <a:rPr dirty="0" sz="2100" spc="-5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core</a:t>
            </a:r>
            <a:r>
              <a:rPr dirty="0" sz="2100" spc="-4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corpus</a:t>
            </a:r>
            <a:r>
              <a:rPr dirty="0" sz="2100" spc="-5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5">
                <a:solidFill>
                  <a:srgbClr val="F7FAFB"/>
                </a:solidFill>
                <a:latin typeface="Tahoma"/>
                <a:cs typeface="Tahoma"/>
              </a:rPr>
              <a:t>construction</a:t>
            </a:r>
            <a:r>
              <a:rPr dirty="0" sz="2100" spc="-5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and</a:t>
            </a:r>
            <a:r>
              <a:rPr dirty="0" sz="2100" spc="-4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releasing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the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5">
                <a:solidFill>
                  <a:srgbClr val="F7FAFB"/>
                </a:solidFill>
                <a:latin typeface="Tahoma"/>
                <a:cs typeface="Tahoma"/>
              </a:rPr>
              <a:t>initial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version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of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the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valency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lexicon.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0">
                <a:solidFill>
                  <a:srgbClr val="F7FAFB"/>
                </a:solidFill>
                <a:latin typeface="Tahoma"/>
                <a:cs typeface="Tahoma"/>
              </a:rPr>
              <a:t>The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project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employs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a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0">
                <a:solidFill>
                  <a:srgbClr val="F7FAFB"/>
                </a:solidFill>
                <a:latin typeface="Tahoma"/>
                <a:cs typeface="Tahoma"/>
              </a:rPr>
              <a:t>team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45">
                <a:solidFill>
                  <a:srgbClr val="F7FAFB"/>
                </a:solidFill>
                <a:latin typeface="Tahoma"/>
                <a:cs typeface="Tahoma"/>
              </a:rPr>
              <a:t>of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philologists,</a:t>
            </a:r>
            <a:r>
              <a:rPr dirty="0" sz="2100" spc="-4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computational</a:t>
            </a:r>
            <a:r>
              <a:rPr dirty="0" sz="2100" spc="-4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0">
                <a:solidFill>
                  <a:srgbClr val="F7FAFB"/>
                </a:solidFill>
                <a:latin typeface="Tahoma"/>
                <a:cs typeface="Tahoma"/>
              </a:rPr>
              <a:t>linguists,</a:t>
            </a:r>
            <a:r>
              <a:rPr dirty="0" sz="2100" spc="-4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and</a:t>
            </a:r>
            <a:r>
              <a:rPr dirty="0" sz="2100" spc="-4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5">
                <a:solidFill>
                  <a:srgbClr val="F7FAFB"/>
                </a:solidFill>
                <a:latin typeface="Tahoma"/>
                <a:cs typeface="Tahoma"/>
              </a:rPr>
              <a:t>software</a:t>
            </a:r>
            <a:r>
              <a:rPr dirty="0" sz="2100" spc="-4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engineers</a:t>
            </a:r>
            <a:r>
              <a:rPr dirty="0" sz="2100" spc="-4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working </a:t>
            </a:r>
            <a:r>
              <a:rPr dirty="0" sz="2100" spc="95">
                <a:solidFill>
                  <a:srgbClr val="F7FAFB"/>
                </a:solidFill>
                <a:latin typeface="Tahoma"/>
                <a:cs typeface="Tahoma"/>
              </a:rPr>
              <a:t>collaboratively</a:t>
            </a:r>
            <a:r>
              <a:rPr dirty="0" sz="2100" spc="-4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on</a:t>
            </a:r>
            <a:r>
              <a:rPr dirty="0" sz="2100" spc="-4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text</a:t>
            </a:r>
            <a:r>
              <a:rPr dirty="0" sz="2100" spc="-4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digitization,</a:t>
            </a:r>
            <a:r>
              <a:rPr dirty="0" sz="2100" spc="-4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annotation,</a:t>
            </a:r>
            <a:r>
              <a:rPr dirty="0" sz="2100" spc="-4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and</a:t>
            </a:r>
            <a:r>
              <a:rPr dirty="0" sz="2100" spc="-4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lexicon</a:t>
            </a:r>
            <a:r>
              <a:rPr dirty="0" sz="2100" spc="-4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0">
                <a:solidFill>
                  <a:srgbClr val="F7FAFB"/>
                </a:solidFill>
                <a:latin typeface="Tahoma"/>
                <a:cs typeface="Tahoma"/>
              </a:rPr>
              <a:t>development.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1086485"/>
          </a:xfrm>
          <a:custGeom>
            <a:avLst/>
            <a:gdLst/>
            <a:ahLst/>
            <a:cxnLst/>
            <a:rect l="l" t="t" r="r" b="b"/>
            <a:pathLst>
              <a:path w="50165" h="1086485">
                <a:moveTo>
                  <a:pt x="50125" y="1086053"/>
                </a:moveTo>
                <a:lnTo>
                  <a:pt x="0" y="1086053"/>
                </a:lnTo>
                <a:lnTo>
                  <a:pt x="0" y="0"/>
                </a:lnTo>
                <a:lnTo>
                  <a:pt x="50125" y="0"/>
                </a:lnTo>
                <a:lnTo>
                  <a:pt x="50125" y="1086053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83336" y="1444752"/>
            <a:ext cx="9351645" cy="445134"/>
          </a:xfrm>
          <a:custGeom>
            <a:avLst/>
            <a:gdLst/>
            <a:ahLst/>
            <a:cxnLst/>
            <a:rect l="l" t="t" r="r" b="b"/>
            <a:pathLst>
              <a:path w="9351645" h="445135">
                <a:moveTo>
                  <a:pt x="9351263" y="445007"/>
                </a:moveTo>
                <a:lnTo>
                  <a:pt x="0" y="445007"/>
                </a:lnTo>
                <a:lnTo>
                  <a:pt x="0" y="0"/>
                </a:lnTo>
                <a:lnTo>
                  <a:pt x="9351263" y="0"/>
                </a:lnTo>
                <a:lnTo>
                  <a:pt x="9351263" y="445007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75"/>
              <a:t>Question:</a:t>
            </a:r>
            <a:r>
              <a:rPr dirty="0" spc="-145"/>
              <a:t> </a:t>
            </a:r>
            <a:r>
              <a:rPr dirty="0"/>
              <a:t>What</a:t>
            </a:r>
            <a:r>
              <a:rPr dirty="0" spc="-145"/>
              <a:t> </a:t>
            </a:r>
            <a:r>
              <a:rPr dirty="0" spc="-90"/>
              <a:t>are</a:t>
            </a:r>
            <a:r>
              <a:rPr dirty="0" spc="-140"/>
              <a:t> </a:t>
            </a:r>
            <a:r>
              <a:rPr dirty="0" spc="-90"/>
              <a:t>the</a:t>
            </a:r>
            <a:r>
              <a:rPr dirty="0" spc="-145"/>
              <a:t> </a:t>
            </a:r>
            <a:r>
              <a:rPr dirty="0" spc="-135"/>
              <a:t>main</a:t>
            </a:r>
            <a:r>
              <a:rPr dirty="0" spc="-145"/>
              <a:t> </a:t>
            </a:r>
            <a:r>
              <a:rPr dirty="0" spc="-70"/>
              <a:t>deliverables</a:t>
            </a:r>
            <a:r>
              <a:rPr dirty="0" spc="-140"/>
              <a:t> </a:t>
            </a:r>
            <a:r>
              <a:rPr dirty="0" spc="-45"/>
              <a:t>of</a:t>
            </a:r>
            <a:r>
              <a:rPr dirty="0" spc="-145"/>
              <a:t> </a:t>
            </a:r>
            <a:r>
              <a:rPr dirty="0" spc="-20"/>
              <a:t>this</a:t>
            </a:r>
          </a:p>
        </p:txBody>
      </p:sp>
      <p:sp>
        <p:nvSpPr>
          <p:cNvPr id="5" name="object 5" descr=""/>
          <p:cNvSpPr/>
          <p:nvPr/>
        </p:nvSpPr>
        <p:spPr>
          <a:xfrm>
            <a:off x="798575" y="1987295"/>
            <a:ext cx="1628139" cy="463550"/>
          </a:xfrm>
          <a:custGeom>
            <a:avLst/>
            <a:gdLst/>
            <a:ahLst/>
            <a:cxnLst/>
            <a:rect l="l" t="t" r="r" b="b"/>
            <a:pathLst>
              <a:path w="1628139" h="463550">
                <a:moveTo>
                  <a:pt x="1627631" y="463295"/>
                </a:moveTo>
                <a:lnTo>
                  <a:pt x="0" y="463295"/>
                </a:lnTo>
                <a:lnTo>
                  <a:pt x="0" y="0"/>
                </a:lnTo>
                <a:lnTo>
                  <a:pt x="1627631" y="0"/>
                </a:lnTo>
                <a:lnTo>
                  <a:pt x="1627631" y="463295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789308" y="1903358"/>
            <a:ext cx="1592580" cy="5067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150" spc="-95" b="1">
                <a:solidFill>
                  <a:srgbClr val="60A5FA"/>
                </a:solidFill>
                <a:latin typeface="Tahoma"/>
                <a:cs typeface="Tahoma"/>
              </a:rPr>
              <a:t>project?</a:t>
            </a:r>
            <a:endParaRPr sz="3150">
              <a:latin typeface="Tahoma"/>
              <a:cs typeface="Tahoma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3428178"/>
            <a:ext cx="91896" cy="9189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3987913"/>
            <a:ext cx="91896" cy="91896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4547649"/>
            <a:ext cx="91896" cy="91896"/>
          </a:xfrm>
          <a:prstGeom prst="rect">
            <a:avLst/>
          </a:prstGeom>
        </p:spPr>
      </p:pic>
      <p:sp>
        <p:nvSpPr>
          <p:cNvPr id="10" name="object 10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95"/>
              <a:t>Two</a:t>
            </a:r>
            <a:r>
              <a:rPr dirty="0" spc="-60"/>
              <a:t> major </a:t>
            </a:r>
            <a:r>
              <a:rPr dirty="0" spc="-10"/>
              <a:t>outputs:</a:t>
            </a:r>
          </a:p>
          <a:p>
            <a:pPr marL="346710" marR="5080">
              <a:lnSpc>
                <a:spcPct val="174900"/>
              </a:lnSpc>
              <a:spcBef>
                <a:spcPts val="1250"/>
              </a:spcBef>
            </a:pPr>
            <a:r>
              <a:rPr dirty="0" spc="125" b="0">
                <a:solidFill>
                  <a:srgbClr val="F7FAFB"/>
                </a:solidFill>
                <a:latin typeface="Tahoma"/>
                <a:cs typeface="Tahoma"/>
              </a:rPr>
              <a:t>What</a:t>
            </a:r>
            <a:r>
              <a:rPr dirty="0" spc="-70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85" b="0">
                <a:solidFill>
                  <a:srgbClr val="F7FAFB"/>
                </a:solidFill>
                <a:latin typeface="Tahoma"/>
                <a:cs typeface="Tahoma"/>
              </a:rPr>
              <a:t>kind</a:t>
            </a:r>
            <a:r>
              <a:rPr dirty="0" spc="-65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70" b="0">
                <a:solidFill>
                  <a:srgbClr val="F7FAFB"/>
                </a:solidFill>
                <a:latin typeface="Tahoma"/>
                <a:cs typeface="Tahoma"/>
              </a:rPr>
              <a:t>of</a:t>
            </a:r>
            <a:r>
              <a:rPr dirty="0" spc="-70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75" b="0">
                <a:solidFill>
                  <a:srgbClr val="F7FAFB"/>
                </a:solidFill>
                <a:latin typeface="Tahoma"/>
                <a:cs typeface="Tahoma"/>
              </a:rPr>
              <a:t>corpus</a:t>
            </a:r>
            <a:r>
              <a:rPr dirty="0" spc="-65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114" b="0">
                <a:solidFill>
                  <a:srgbClr val="F7FAFB"/>
                </a:solidFill>
                <a:latin typeface="Tahoma"/>
                <a:cs typeface="Tahoma"/>
              </a:rPr>
              <a:t>will</a:t>
            </a:r>
            <a:r>
              <a:rPr dirty="0" spc="-65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b="0">
                <a:solidFill>
                  <a:srgbClr val="F7FAFB"/>
                </a:solidFill>
                <a:latin typeface="Tahoma"/>
                <a:cs typeface="Tahoma"/>
              </a:rPr>
              <a:t>be</a:t>
            </a:r>
            <a:r>
              <a:rPr dirty="0" spc="-70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50" b="0">
                <a:solidFill>
                  <a:srgbClr val="F7FAFB"/>
                </a:solidFill>
                <a:latin typeface="Tahoma"/>
                <a:cs typeface="Tahoma"/>
              </a:rPr>
              <a:t>produced? </a:t>
            </a:r>
            <a:r>
              <a:rPr dirty="0" spc="125" b="0">
                <a:solidFill>
                  <a:srgbClr val="F7FAFB"/>
                </a:solidFill>
                <a:latin typeface="Tahoma"/>
                <a:cs typeface="Tahoma"/>
              </a:rPr>
              <a:t>What</a:t>
            </a:r>
            <a:r>
              <a:rPr dirty="0" spc="-70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85" b="0">
                <a:solidFill>
                  <a:srgbClr val="F7FAFB"/>
                </a:solidFill>
                <a:latin typeface="Tahoma"/>
                <a:cs typeface="Tahoma"/>
              </a:rPr>
              <a:t>kind</a:t>
            </a:r>
            <a:r>
              <a:rPr dirty="0" spc="-65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70" b="0">
                <a:solidFill>
                  <a:srgbClr val="F7FAFB"/>
                </a:solidFill>
                <a:latin typeface="Tahoma"/>
                <a:cs typeface="Tahoma"/>
              </a:rPr>
              <a:t>of</a:t>
            </a:r>
            <a:r>
              <a:rPr dirty="0" spc="-65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80" b="0">
                <a:solidFill>
                  <a:srgbClr val="F7FAFB"/>
                </a:solidFill>
                <a:latin typeface="Tahoma"/>
                <a:cs typeface="Tahoma"/>
              </a:rPr>
              <a:t>lexicon</a:t>
            </a:r>
            <a:r>
              <a:rPr dirty="0" spc="-65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114" b="0">
                <a:solidFill>
                  <a:srgbClr val="F7FAFB"/>
                </a:solidFill>
                <a:latin typeface="Tahoma"/>
                <a:cs typeface="Tahoma"/>
              </a:rPr>
              <a:t>will</a:t>
            </a:r>
            <a:r>
              <a:rPr dirty="0" spc="-65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b="0">
                <a:solidFill>
                  <a:srgbClr val="F7FAFB"/>
                </a:solidFill>
                <a:latin typeface="Tahoma"/>
                <a:cs typeface="Tahoma"/>
              </a:rPr>
              <a:t>be</a:t>
            </a:r>
            <a:r>
              <a:rPr dirty="0" spc="-70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55" b="0">
                <a:solidFill>
                  <a:srgbClr val="F7FAFB"/>
                </a:solidFill>
                <a:latin typeface="Tahoma"/>
                <a:cs typeface="Tahoma"/>
              </a:rPr>
              <a:t>created?</a:t>
            </a:r>
          </a:p>
          <a:p>
            <a:pPr marL="346710">
              <a:lnSpc>
                <a:spcPct val="100000"/>
              </a:lnSpc>
              <a:spcBef>
                <a:spcPts val="1885"/>
              </a:spcBef>
            </a:pPr>
            <a:r>
              <a:rPr dirty="0" spc="130" b="0">
                <a:solidFill>
                  <a:srgbClr val="F7FAFB"/>
                </a:solidFill>
                <a:latin typeface="Tahoma"/>
                <a:cs typeface="Tahoma"/>
              </a:rPr>
              <a:t>How</a:t>
            </a:r>
            <a:r>
              <a:rPr dirty="0" spc="-85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55" b="0">
                <a:solidFill>
                  <a:srgbClr val="F7FAFB"/>
                </a:solidFill>
                <a:latin typeface="Tahoma"/>
                <a:cs typeface="Tahoma"/>
              </a:rPr>
              <a:t>do</a:t>
            </a:r>
            <a:r>
              <a:rPr dirty="0" spc="-80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70" b="0">
                <a:solidFill>
                  <a:srgbClr val="F7FAFB"/>
                </a:solidFill>
                <a:latin typeface="Tahoma"/>
                <a:cs typeface="Tahoma"/>
              </a:rPr>
              <a:t>these</a:t>
            </a:r>
            <a:r>
              <a:rPr dirty="0" spc="-80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95" b="0">
                <a:solidFill>
                  <a:srgbClr val="F7FAFB"/>
                </a:solidFill>
                <a:latin typeface="Tahoma"/>
                <a:cs typeface="Tahoma"/>
              </a:rPr>
              <a:t>tools</a:t>
            </a:r>
            <a:r>
              <a:rPr dirty="0" spc="-85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110" b="0">
                <a:solidFill>
                  <a:srgbClr val="F7FAFB"/>
                </a:solidFill>
                <a:latin typeface="Tahoma"/>
                <a:cs typeface="Tahoma"/>
              </a:rPr>
              <a:t>work</a:t>
            </a:r>
            <a:r>
              <a:rPr dirty="0" spc="-80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60" b="0">
                <a:solidFill>
                  <a:srgbClr val="F7FAFB"/>
                </a:solidFill>
                <a:latin typeface="Tahoma"/>
                <a:cs typeface="Tahoma"/>
              </a:rPr>
              <a:t>together?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543560"/>
          </a:xfrm>
          <a:custGeom>
            <a:avLst/>
            <a:gdLst/>
            <a:ahLst/>
            <a:cxnLst/>
            <a:rect l="l" t="t" r="r" b="b"/>
            <a:pathLst>
              <a:path w="50165" h="543560">
                <a:moveTo>
                  <a:pt x="50125" y="543026"/>
                </a:moveTo>
                <a:lnTo>
                  <a:pt x="0" y="543026"/>
                </a:lnTo>
                <a:lnTo>
                  <a:pt x="0" y="0"/>
                </a:lnTo>
                <a:lnTo>
                  <a:pt x="50125" y="0"/>
                </a:lnTo>
                <a:lnTo>
                  <a:pt x="50125" y="543026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98575" y="1444752"/>
            <a:ext cx="5520055" cy="463550"/>
          </a:xfrm>
          <a:custGeom>
            <a:avLst/>
            <a:gdLst/>
            <a:ahLst/>
            <a:cxnLst/>
            <a:rect l="l" t="t" r="r" b="b"/>
            <a:pathLst>
              <a:path w="5520055" h="463550">
                <a:moveTo>
                  <a:pt x="5519927" y="463295"/>
                </a:moveTo>
                <a:lnTo>
                  <a:pt x="0" y="463295"/>
                </a:lnTo>
                <a:lnTo>
                  <a:pt x="0" y="0"/>
                </a:lnTo>
                <a:lnTo>
                  <a:pt x="5519927" y="0"/>
                </a:lnTo>
                <a:lnTo>
                  <a:pt x="5519927" y="463295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60"/>
              <a:t>Project</a:t>
            </a:r>
            <a:r>
              <a:rPr dirty="0" spc="-130"/>
              <a:t> </a:t>
            </a:r>
            <a:r>
              <a:rPr dirty="0" spc="-90"/>
              <a:t>Goals</a:t>
            </a:r>
            <a:r>
              <a:rPr dirty="0" spc="-130"/>
              <a:t> </a:t>
            </a:r>
            <a:r>
              <a:rPr dirty="0" spc="-204"/>
              <a:t>&amp;</a:t>
            </a:r>
            <a:r>
              <a:rPr dirty="0" spc="-130"/>
              <a:t> </a:t>
            </a:r>
            <a:r>
              <a:rPr dirty="0" spc="-40"/>
              <a:t>Deliverables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5042" y="3415647"/>
            <a:ext cx="100251" cy="100251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5042" y="3975382"/>
            <a:ext cx="100251" cy="100251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15042" y="5153332"/>
            <a:ext cx="100251" cy="100251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15042" y="5713067"/>
            <a:ext cx="100251" cy="100251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572097" y="2020317"/>
            <a:ext cx="9427845" cy="46158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 spc="-95" b="1">
                <a:solidFill>
                  <a:srgbClr val="FBD34D"/>
                </a:solidFill>
                <a:latin typeface="Tahoma"/>
                <a:cs typeface="Tahoma"/>
              </a:rPr>
              <a:t>Two</a:t>
            </a:r>
            <a:r>
              <a:rPr dirty="0" sz="2100" spc="-6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Major</a:t>
            </a:r>
            <a:r>
              <a:rPr dirty="0" sz="2100" spc="-7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25" b="1">
                <a:solidFill>
                  <a:srgbClr val="FBD34D"/>
                </a:solidFill>
                <a:latin typeface="Tahoma"/>
                <a:cs typeface="Tahoma"/>
              </a:rPr>
              <a:t>Linguistic</a:t>
            </a:r>
            <a:r>
              <a:rPr dirty="0" sz="2100" spc="-7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Tools:</a:t>
            </a:r>
            <a:endParaRPr sz="2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sz="2100">
              <a:latin typeface="Tahoma"/>
              <a:cs typeface="Tahoma"/>
            </a:endParaRPr>
          </a:p>
          <a:p>
            <a:pPr marL="346710" indent="-294640">
              <a:lnSpc>
                <a:spcPct val="100000"/>
              </a:lnSpc>
              <a:buClr>
                <a:srgbClr val="F7FAFB"/>
              </a:buClr>
              <a:buFont typeface="Tahoma"/>
              <a:buAutoNum type="arabicPeriod"/>
              <a:tabLst>
                <a:tab pos="346710" algn="l"/>
              </a:tabLst>
            </a:pP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Parallel</a:t>
            </a:r>
            <a:r>
              <a:rPr dirty="0" sz="2100" spc="-12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Diachronic</a:t>
            </a:r>
            <a:r>
              <a:rPr dirty="0" sz="2100" spc="-114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Corpus</a:t>
            </a:r>
            <a:endParaRPr sz="2100">
              <a:latin typeface="Tahoma"/>
              <a:cs typeface="Tahoma"/>
            </a:endParaRPr>
          </a:p>
          <a:p>
            <a:pPr marL="680720" marR="1927225">
              <a:lnSpc>
                <a:spcPts val="4410"/>
              </a:lnSpc>
              <a:spcBef>
                <a:spcPts val="265"/>
              </a:spcBef>
            </a:pPr>
            <a:r>
              <a:rPr dirty="0" sz="2100" spc="114">
                <a:solidFill>
                  <a:srgbClr val="F7FAFB"/>
                </a:solidFill>
                <a:latin typeface="Tahoma"/>
                <a:cs typeface="Tahoma"/>
              </a:rPr>
              <a:t>Bible</a:t>
            </a:r>
            <a:r>
              <a:rPr dirty="0" sz="2100" spc="-1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texts</a:t>
            </a:r>
            <a:r>
              <a:rPr dirty="0" sz="2100" spc="-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across</a:t>
            </a:r>
            <a:r>
              <a:rPr dirty="0" sz="2100" spc="-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5">
                <a:solidFill>
                  <a:srgbClr val="F7FAFB"/>
                </a:solidFill>
                <a:latin typeface="Tahoma"/>
                <a:cs typeface="Tahoma"/>
              </a:rPr>
              <a:t>multiple</a:t>
            </a:r>
            <a:r>
              <a:rPr dirty="0" sz="2100" spc="-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languages</a:t>
            </a:r>
            <a:r>
              <a:rPr dirty="0" sz="2100" spc="-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and</a:t>
            </a:r>
            <a:r>
              <a:rPr dirty="0" sz="2100" spc="-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time</a:t>
            </a:r>
            <a:r>
              <a:rPr dirty="0" sz="2100" spc="-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periods </a:t>
            </a:r>
            <a:r>
              <a:rPr dirty="0" sz="2100" spc="130">
                <a:solidFill>
                  <a:srgbClr val="F7FAFB"/>
                </a:solidFill>
                <a:latin typeface="Tahoma"/>
                <a:cs typeface="Tahoma"/>
              </a:rPr>
              <a:t>Other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significant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historical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texts</a:t>
            </a:r>
            <a:endParaRPr sz="2100">
              <a:latin typeface="Tahoma"/>
              <a:cs typeface="Tahoma"/>
            </a:endParaRPr>
          </a:p>
          <a:p>
            <a:pPr marL="346710" indent="-294640">
              <a:lnSpc>
                <a:spcPct val="100000"/>
              </a:lnSpc>
              <a:spcBef>
                <a:spcPts val="2080"/>
              </a:spcBef>
              <a:buClr>
                <a:srgbClr val="F7FAFB"/>
              </a:buClr>
              <a:buFont typeface="Tahoma"/>
              <a:buAutoNum type="arabicPeriod" startAt="2"/>
              <a:tabLst>
                <a:tab pos="346710" algn="l"/>
              </a:tabLst>
            </a:pP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Diachronic</a:t>
            </a:r>
            <a:r>
              <a:rPr dirty="0" sz="2100" spc="-114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Valency</a:t>
            </a:r>
            <a:r>
              <a:rPr dirty="0" sz="2100" spc="-114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Lexicon</a:t>
            </a:r>
            <a:endParaRPr sz="2100">
              <a:latin typeface="Tahoma"/>
              <a:cs typeface="Tahoma"/>
            </a:endParaRPr>
          </a:p>
          <a:p>
            <a:pPr marL="680720" marR="3569335">
              <a:lnSpc>
                <a:spcPts val="4410"/>
              </a:lnSpc>
              <a:spcBef>
                <a:spcPts val="260"/>
              </a:spcBef>
            </a:pPr>
            <a:r>
              <a:rPr dirty="0" sz="2100" spc="95">
                <a:solidFill>
                  <a:srgbClr val="F7FAFB"/>
                </a:solidFill>
                <a:latin typeface="Tahoma"/>
                <a:cs typeface="Tahoma"/>
              </a:rPr>
              <a:t>Extracted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systematically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from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the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corpus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Tracks</a:t>
            </a:r>
            <a:r>
              <a:rPr dirty="0" sz="2100" spc="-1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valency</a:t>
            </a:r>
            <a:r>
              <a:rPr dirty="0" sz="2100" spc="-1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patterns</a:t>
            </a:r>
            <a:r>
              <a:rPr dirty="0" sz="2100" spc="-1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across</a:t>
            </a:r>
            <a:r>
              <a:rPr dirty="0" sz="2100" spc="-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time</a:t>
            </a:r>
            <a:endParaRPr sz="2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2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100" spc="50">
                <a:solidFill>
                  <a:srgbClr val="F7FAFB"/>
                </a:solidFill>
                <a:latin typeface="Tahoma"/>
                <a:cs typeface="Tahoma"/>
              </a:rPr>
              <a:t>The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parallel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corpus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allows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5">
                <a:solidFill>
                  <a:srgbClr val="F7FAFB"/>
                </a:solidFill>
                <a:latin typeface="Tahoma"/>
                <a:cs typeface="Tahoma"/>
              </a:rPr>
              <a:t>direct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comparison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of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translations,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revealing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45">
                <a:solidFill>
                  <a:srgbClr val="F7FAFB"/>
                </a:solidFill>
                <a:latin typeface="Tahoma"/>
                <a:cs typeface="Tahoma"/>
              </a:rPr>
              <a:t>how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1086485"/>
          </a:xfrm>
          <a:custGeom>
            <a:avLst/>
            <a:gdLst/>
            <a:ahLst/>
            <a:cxnLst/>
            <a:rect l="l" t="t" r="r" b="b"/>
            <a:pathLst>
              <a:path w="50165" h="1086485">
                <a:moveTo>
                  <a:pt x="50125" y="1086053"/>
                </a:moveTo>
                <a:lnTo>
                  <a:pt x="0" y="1086053"/>
                </a:lnTo>
                <a:lnTo>
                  <a:pt x="0" y="0"/>
                </a:lnTo>
                <a:lnTo>
                  <a:pt x="50125" y="0"/>
                </a:lnTo>
                <a:lnTo>
                  <a:pt x="50125" y="1086053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83336" y="1444752"/>
            <a:ext cx="9010015" cy="463550"/>
          </a:xfrm>
          <a:custGeom>
            <a:avLst/>
            <a:gdLst/>
            <a:ahLst/>
            <a:cxnLst/>
            <a:rect l="l" t="t" r="r" b="b"/>
            <a:pathLst>
              <a:path w="9010015" h="463550">
                <a:moveTo>
                  <a:pt x="9009887" y="463295"/>
                </a:moveTo>
                <a:lnTo>
                  <a:pt x="0" y="463295"/>
                </a:lnTo>
                <a:lnTo>
                  <a:pt x="0" y="0"/>
                </a:lnTo>
                <a:lnTo>
                  <a:pt x="9009887" y="0"/>
                </a:lnTo>
                <a:lnTo>
                  <a:pt x="9009887" y="463295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75"/>
              <a:t>Question:</a:t>
            </a:r>
            <a:r>
              <a:rPr dirty="0" spc="-130"/>
              <a:t> </a:t>
            </a:r>
            <a:r>
              <a:rPr dirty="0" spc="-95"/>
              <a:t>How</a:t>
            </a:r>
            <a:r>
              <a:rPr dirty="0" spc="-125"/>
              <a:t> </a:t>
            </a:r>
            <a:r>
              <a:rPr dirty="0" spc="-105"/>
              <a:t>large</a:t>
            </a:r>
            <a:r>
              <a:rPr dirty="0" spc="-125"/>
              <a:t> </a:t>
            </a:r>
            <a:r>
              <a:rPr dirty="0" spc="-120"/>
              <a:t>is</a:t>
            </a:r>
            <a:r>
              <a:rPr dirty="0" spc="-125"/>
              <a:t> </a:t>
            </a:r>
            <a:r>
              <a:rPr dirty="0" spc="-90"/>
              <a:t>the</a:t>
            </a:r>
            <a:r>
              <a:rPr dirty="0" spc="-125"/>
              <a:t> </a:t>
            </a:r>
            <a:r>
              <a:rPr dirty="0" spc="-100"/>
              <a:t>corpus</a:t>
            </a:r>
            <a:r>
              <a:rPr dirty="0" spc="-130"/>
              <a:t> </a:t>
            </a:r>
            <a:r>
              <a:rPr dirty="0" spc="-135"/>
              <a:t>and</a:t>
            </a:r>
            <a:r>
              <a:rPr dirty="0" spc="-120"/>
              <a:t> </a:t>
            </a:r>
            <a:r>
              <a:rPr dirty="0" spc="-150"/>
              <a:t>how</a:t>
            </a:r>
            <a:r>
              <a:rPr dirty="0" spc="-130"/>
              <a:t> </a:t>
            </a:r>
            <a:r>
              <a:rPr dirty="0" spc="-120"/>
              <a:t>is</a:t>
            </a:r>
            <a:r>
              <a:rPr dirty="0" spc="-125"/>
              <a:t> </a:t>
            </a:r>
            <a:r>
              <a:rPr dirty="0" spc="-25"/>
              <a:t>it</a:t>
            </a:r>
          </a:p>
        </p:txBody>
      </p:sp>
      <p:sp>
        <p:nvSpPr>
          <p:cNvPr id="5" name="object 5" descr=""/>
          <p:cNvSpPr/>
          <p:nvPr/>
        </p:nvSpPr>
        <p:spPr>
          <a:xfrm>
            <a:off x="783336" y="1987295"/>
            <a:ext cx="2158365" cy="463550"/>
          </a:xfrm>
          <a:custGeom>
            <a:avLst/>
            <a:gdLst/>
            <a:ahLst/>
            <a:cxnLst/>
            <a:rect l="l" t="t" r="r" b="b"/>
            <a:pathLst>
              <a:path w="2158365" h="463550">
                <a:moveTo>
                  <a:pt x="2157983" y="463295"/>
                </a:moveTo>
                <a:lnTo>
                  <a:pt x="0" y="463295"/>
                </a:lnTo>
                <a:lnTo>
                  <a:pt x="0" y="0"/>
                </a:lnTo>
                <a:lnTo>
                  <a:pt x="2157983" y="0"/>
                </a:lnTo>
                <a:lnTo>
                  <a:pt x="2157983" y="463295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789308" y="1903358"/>
            <a:ext cx="2109470" cy="5067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150" spc="-110" b="1">
                <a:solidFill>
                  <a:srgbClr val="60A5FA"/>
                </a:solidFill>
                <a:latin typeface="Tahoma"/>
                <a:cs typeface="Tahoma"/>
              </a:rPr>
              <a:t>organized?</a:t>
            </a:r>
            <a:endParaRPr sz="3150">
              <a:latin typeface="Tahoma"/>
              <a:cs typeface="Tahoma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3428178"/>
            <a:ext cx="91896" cy="9189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3987913"/>
            <a:ext cx="91896" cy="91896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4547649"/>
            <a:ext cx="91896" cy="91896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572097" y="2563344"/>
            <a:ext cx="4768215" cy="21844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 spc="-45" b="1">
                <a:solidFill>
                  <a:srgbClr val="FBD34D"/>
                </a:solidFill>
                <a:latin typeface="Tahoma"/>
                <a:cs typeface="Tahoma"/>
              </a:rPr>
              <a:t>Scale</a:t>
            </a:r>
            <a:r>
              <a:rPr dirty="0" sz="2100" spc="-8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questions:</a:t>
            </a:r>
            <a:endParaRPr sz="2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sz="2100">
              <a:latin typeface="Tahoma"/>
              <a:cs typeface="Tahoma"/>
            </a:endParaRPr>
          </a:p>
          <a:p>
            <a:pPr marL="346710">
              <a:lnSpc>
                <a:spcPct val="100000"/>
              </a:lnSpc>
            </a:pPr>
            <a:r>
              <a:rPr dirty="0" sz="2100" spc="130">
                <a:solidFill>
                  <a:srgbClr val="F7FAFB"/>
                </a:solidFill>
                <a:latin typeface="Tahoma"/>
                <a:cs typeface="Tahoma"/>
              </a:rPr>
              <a:t>How</a:t>
            </a:r>
            <a:r>
              <a:rPr dirty="0" sz="2100" spc="-3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many</a:t>
            </a:r>
            <a:r>
              <a:rPr dirty="0" sz="2100" spc="-3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texts</a:t>
            </a:r>
            <a:r>
              <a:rPr dirty="0" sz="2100" spc="-3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0">
                <a:solidFill>
                  <a:srgbClr val="F7FAFB"/>
                </a:solidFill>
                <a:latin typeface="Tahoma"/>
                <a:cs typeface="Tahoma"/>
              </a:rPr>
              <a:t>total?</a:t>
            </a:r>
            <a:endParaRPr sz="2100">
              <a:latin typeface="Tahoma"/>
              <a:cs typeface="Tahoma"/>
            </a:endParaRPr>
          </a:p>
          <a:p>
            <a:pPr marL="346710">
              <a:lnSpc>
                <a:spcPct val="100000"/>
              </a:lnSpc>
              <a:spcBef>
                <a:spcPts val="1890"/>
              </a:spcBef>
            </a:pPr>
            <a:r>
              <a:rPr dirty="0" sz="2100" spc="130">
                <a:solidFill>
                  <a:srgbClr val="F7FAFB"/>
                </a:solidFill>
                <a:latin typeface="Tahoma"/>
                <a:cs typeface="Tahoma"/>
              </a:rPr>
              <a:t>How</a:t>
            </a:r>
            <a:r>
              <a:rPr dirty="0" sz="2100" spc="-5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many</a:t>
            </a:r>
            <a:r>
              <a:rPr dirty="0" sz="2100" spc="-4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years</a:t>
            </a:r>
            <a:r>
              <a:rPr dirty="0" sz="2100" spc="-5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of</a:t>
            </a:r>
            <a:r>
              <a:rPr dirty="0" sz="2100" spc="-4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history?</a:t>
            </a:r>
            <a:endParaRPr sz="2100">
              <a:latin typeface="Tahoma"/>
              <a:cs typeface="Tahoma"/>
            </a:endParaRPr>
          </a:p>
          <a:p>
            <a:pPr marL="346710">
              <a:lnSpc>
                <a:spcPct val="100000"/>
              </a:lnSpc>
              <a:spcBef>
                <a:spcPts val="1885"/>
              </a:spcBef>
            </a:pPr>
            <a:r>
              <a:rPr dirty="0" sz="2100" spc="130">
                <a:solidFill>
                  <a:srgbClr val="F7FAFB"/>
                </a:solidFill>
                <a:latin typeface="Tahoma"/>
                <a:cs typeface="Tahoma"/>
              </a:rPr>
              <a:t>How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is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10">
                <a:solidFill>
                  <a:srgbClr val="F7FAFB"/>
                </a:solidFill>
                <a:latin typeface="Tahoma"/>
                <a:cs typeface="Tahoma"/>
              </a:rPr>
              <a:t>it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structured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hierarchically?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543560"/>
          </a:xfrm>
          <a:custGeom>
            <a:avLst/>
            <a:gdLst/>
            <a:ahLst/>
            <a:cxnLst/>
            <a:rect l="l" t="t" r="r" b="b"/>
            <a:pathLst>
              <a:path w="50165" h="543560">
                <a:moveTo>
                  <a:pt x="50125" y="543026"/>
                </a:moveTo>
                <a:lnTo>
                  <a:pt x="0" y="543026"/>
                </a:lnTo>
                <a:lnTo>
                  <a:pt x="0" y="0"/>
                </a:lnTo>
                <a:lnTo>
                  <a:pt x="50125" y="0"/>
                </a:lnTo>
                <a:lnTo>
                  <a:pt x="50125" y="543026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98575" y="1444752"/>
            <a:ext cx="4182110" cy="463550"/>
          </a:xfrm>
          <a:custGeom>
            <a:avLst/>
            <a:gdLst/>
            <a:ahLst/>
            <a:cxnLst/>
            <a:rect l="l" t="t" r="r" b="b"/>
            <a:pathLst>
              <a:path w="4182110" h="463550">
                <a:moveTo>
                  <a:pt x="4181855" y="463295"/>
                </a:moveTo>
                <a:lnTo>
                  <a:pt x="0" y="463295"/>
                </a:lnTo>
                <a:lnTo>
                  <a:pt x="0" y="0"/>
                </a:lnTo>
                <a:lnTo>
                  <a:pt x="4181855" y="0"/>
                </a:lnTo>
                <a:lnTo>
                  <a:pt x="4181855" y="463295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60"/>
              <a:t>Project</a:t>
            </a:r>
            <a:r>
              <a:rPr dirty="0" spc="-130"/>
              <a:t> </a:t>
            </a:r>
            <a:r>
              <a:rPr dirty="0" spc="-125"/>
              <a:t>Scope</a:t>
            </a:r>
            <a:r>
              <a:rPr dirty="0" spc="-130"/>
              <a:t> </a:t>
            </a:r>
            <a:r>
              <a:rPr dirty="0" spc="-204"/>
              <a:t>&amp;</a:t>
            </a:r>
            <a:r>
              <a:rPr dirty="0" spc="-130"/>
              <a:t> </a:t>
            </a:r>
            <a:r>
              <a:rPr dirty="0" spc="-65"/>
              <a:t>Scale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2375542"/>
            <a:ext cx="91896" cy="91896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2935277"/>
            <a:ext cx="91896" cy="9189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3495012"/>
            <a:ext cx="91896" cy="9189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4054747"/>
            <a:ext cx="91896" cy="91896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572097" y="2229174"/>
            <a:ext cx="9367520" cy="36048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46710">
              <a:lnSpc>
                <a:spcPct val="100000"/>
              </a:lnSpc>
              <a:spcBef>
                <a:spcPts val="105"/>
              </a:spcBef>
            </a:pPr>
            <a:r>
              <a:rPr dirty="0" sz="2100" spc="-50" b="1">
                <a:solidFill>
                  <a:srgbClr val="FBD34D"/>
                </a:solidFill>
                <a:latin typeface="Tahoma"/>
                <a:cs typeface="Tahoma"/>
              </a:rPr>
              <a:t>338</a:t>
            </a:r>
            <a:r>
              <a:rPr dirty="0" sz="2100" spc="-6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historical</a:t>
            </a:r>
            <a:r>
              <a:rPr dirty="0" sz="2100" spc="-6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20" b="1">
                <a:solidFill>
                  <a:srgbClr val="FBD34D"/>
                </a:solidFill>
                <a:latin typeface="Tahoma"/>
                <a:cs typeface="Tahoma"/>
              </a:rPr>
              <a:t>texts</a:t>
            </a:r>
            <a:r>
              <a:rPr dirty="0" sz="2100" spc="-6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to</a:t>
            </a:r>
            <a:r>
              <a:rPr dirty="0" sz="2100" spc="-10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be</a:t>
            </a:r>
            <a:r>
              <a:rPr dirty="0" sz="2100" spc="-10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processed</a:t>
            </a:r>
            <a:r>
              <a:rPr dirty="0" sz="2100" spc="-10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systematically</a:t>
            </a:r>
            <a:endParaRPr sz="2100">
              <a:latin typeface="Tahoma"/>
              <a:cs typeface="Tahoma"/>
            </a:endParaRPr>
          </a:p>
          <a:p>
            <a:pPr marL="346710">
              <a:lnSpc>
                <a:spcPct val="100000"/>
              </a:lnSpc>
              <a:spcBef>
                <a:spcPts val="1885"/>
              </a:spcBef>
            </a:pP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Over</a:t>
            </a:r>
            <a:r>
              <a:rPr dirty="0" sz="2100" spc="-5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20" b="1">
                <a:solidFill>
                  <a:srgbClr val="FBD34D"/>
                </a:solidFill>
                <a:latin typeface="Tahoma"/>
                <a:cs typeface="Tahoma"/>
              </a:rPr>
              <a:t>two</a:t>
            </a:r>
            <a:r>
              <a:rPr dirty="0" sz="2100" spc="-4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20" b="1">
                <a:solidFill>
                  <a:srgbClr val="FBD34D"/>
                </a:solidFill>
                <a:latin typeface="Tahoma"/>
                <a:cs typeface="Tahoma"/>
              </a:rPr>
              <a:t>millennia</a:t>
            </a:r>
            <a:r>
              <a:rPr dirty="0" sz="2100" spc="-5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of</a:t>
            </a:r>
            <a:r>
              <a:rPr dirty="0" sz="2100" spc="-9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documented</a:t>
            </a:r>
            <a:r>
              <a:rPr dirty="0" sz="2100" spc="-9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linguistic</a:t>
            </a:r>
            <a:r>
              <a:rPr dirty="0" sz="2100" spc="-9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development</a:t>
            </a:r>
            <a:endParaRPr sz="2100">
              <a:latin typeface="Tahoma"/>
              <a:cs typeface="Tahoma"/>
            </a:endParaRPr>
          </a:p>
          <a:p>
            <a:pPr marL="346710">
              <a:lnSpc>
                <a:spcPct val="100000"/>
              </a:lnSpc>
              <a:spcBef>
                <a:spcPts val="1890"/>
              </a:spcBef>
            </a:pP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Multiple</a:t>
            </a:r>
            <a:r>
              <a:rPr dirty="0" sz="2100" spc="-2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70" b="1">
                <a:solidFill>
                  <a:srgbClr val="FBD34D"/>
                </a:solidFill>
                <a:latin typeface="Tahoma"/>
                <a:cs typeface="Tahoma"/>
              </a:rPr>
              <a:t>language</a:t>
            </a:r>
            <a:r>
              <a:rPr dirty="0" sz="2100" spc="-20" b="1">
                <a:solidFill>
                  <a:srgbClr val="FBD34D"/>
                </a:solidFill>
                <a:latin typeface="Tahoma"/>
                <a:cs typeface="Tahoma"/>
              </a:rPr>
              <a:t> families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represented</a:t>
            </a:r>
            <a:endParaRPr sz="2100">
              <a:latin typeface="Tahoma"/>
              <a:cs typeface="Tahoma"/>
            </a:endParaRPr>
          </a:p>
          <a:p>
            <a:pPr marL="346710">
              <a:lnSpc>
                <a:spcPct val="100000"/>
              </a:lnSpc>
              <a:spcBef>
                <a:spcPts val="1885"/>
              </a:spcBef>
            </a:pPr>
            <a:r>
              <a:rPr dirty="0" sz="2100" spc="-30" b="1">
                <a:solidFill>
                  <a:srgbClr val="FBD34D"/>
                </a:solidFill>
                <a:latin typeface="Tahoma"/>
                <a:cs typeface="Tahoma"/>
              </a:rPr>
              <a:t>Comprehensive </a:t>
            </a:r>
            <a:r>
              <a:rPr dirty="0" sz="2100" spc="-45" b="1">
                <a:solidFill>
                  <a:srgbClr val="FBD34D"/>
                </a:solidFill>
                <a:latin typeface="Tahoma"/>
                <a:cs typeface="Tahoma"/>
              </a:rPr>
              <a:t>coverage</a:t>
            </a:r>
            <a:r>
              <a:rPr dirty="0" sz="2100" spc="-3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of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0">
                <a:solidFill>
                  <a:srgbClr val="F7FAFB"/>
                </a:solidFill>
                <a:latin typeface="Tahoma"/>
                <a:cs typeface="Tahoma"/>
              </a:rPr>
              <a:t>major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periods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and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45">
                <a:solidFill>
                  <a:srgbClr val="F7FAFB"/>
                </a:solidFill>
                <a:latin typeface="Tahoma"/>
                <a:cs typeface="Tahoma"/>
              </a:rPr>
              <a:t>genres</a:t>
            </a:r>
            <a:endParaRPr sz="2100">
              <a:latin typeface="Tahoma"/>
              <a:cs typeface="Tahoma"/>
            </a:endParaRPr>
          </a:p>
          <a:p>
            <a:pPr marL="12700" marR="5080">
              <a:lnSpc>
                <a:spcPct val="133100"/>
              </a:lnSpc>
              <a:spcBef>
                <a:spcPts val="2370"/>
              </a:spcBef>
            </a:pPr>
            <a:r>
              <a:rPr dirty="0" sz="2100" spc="50">
                <a:solidFill>
                  <a:srgbClr val="F7FAFB"/>
                </a:solidFill>
                <a:latin typeface="Tahoma"/>
                <a:cs typeface="Tahoma"/>
              </a:rPr>
              <a:t>The</a:t>
            </a:r>
            <a:r>
              <a:rPr dirty="0" sz="2100" spc="-4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corpus</a:t>
            </a:r>
            <a:r>
              <a:rPr dirty="0" sz="2100" spc="-4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is</a:t>
            </a:r>
            <a:r>
              <a:rPr dirty="0" sz="2100" spc="-4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organized</a:t>
            </a:r>
            <a:r>
              <a:rPr dirty="0" sz="2100" spc="-4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hierarchically:</a:t>
            </a:r>
            <a:r>
              <a:rPr dirty="0" sz="2100" spc="-4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at</a:t>
            </a:r>
            <a:r>
              <a:rPr dirty="0" sz="2100" spc="-4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the</a:t>
            </a:r>
            <a:r>
              <a:rPr dirty="0" sz="2100" spc="-4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top</a:t>
            </a:r>
            <a:r>
              <a:rPr dirty="0" sz="2100" spc="-4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level</a:t>
            </a:r>
            <a:r>
              <a:rPr dirty="0" sz="2100" spc="-4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by</a:t>
            </a:r>
            <a:r>
              <a:rPr dirty="0" sz="2100" spc="-4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language</a:t>
            </a:r>
            <a:r>
              <a:rPr dirty="0" sz="2100" spc="-4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family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(Hellenic,</a:t>
            </a:r>
            <a:r>
              <a:rPr dirty="0" sz="2100" spc="-4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Germanic,</a:t>
            </a:r>
            <a:r>
              <a:rPr dirty="0" sz="2100" spc="-4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Romance),</a:t>
            </a:r>
            <a:r>
              <a:rPr dirty="0" sz="2100" spc="-4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then</a:t>
            </a:r>
            <a:r>
              <a:rPr dirty="0" sz="2100" spc="-4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by</a:t>
            </a:r>
            <a:r>
              <a:rPr dirty="0" sz="2100" spc="-4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historical</a:t>
            </a:r>
            <a:r>
              <a:rPr dirty="0" sz="2100" spc="-4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period,</a:t>
            </a:r>
            <a:r>
              <a:rPr dirty="0" sz="2100" spc="-4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then</a:t>
            </a:r>
            <a:r>
              <a:rPr dirty="0" sz="2100" spc="-4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by</a:t>
            </a:r>
            <a:r>
              <a:rPr dirty="0" sz="2100" spc="-4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text</a:t>
            </a:r>
            <a:r>
              <a:rPr dirty="0" sz="2100" spc="-4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0">
                <a:solidFill>
                  <a:srgbClr val="F7FAFB"/>
                </a:solidFill>
                <a:latin typeface="Tahoma"/>
                <a:cs typeface="Tahoma"/>
              </a:rPr>
              <a:t>type 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(biblical,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historical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prose,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etc.).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0">
                <a:solidFill>
                  <a:srgbClr val="F7FAFB"/>
                </a:solidFill>
                <a:latin typeface="Tahoma"/>
                <a:cs typeface="Tahoma"/>
              </a:rPr>
              <a:t>Each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text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is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0">
                <a:solidFill>
                  <a:srgbClr val="F7FAFB"/>
                </a:solidFill>
                <a:latin typeface="Tahoma"/>
                <a:cs typeface="Tahoma"/>
              </a:rPr>
              <a:t>assigned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a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unique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identifier</a:t>
            </a:r>
            <a:endParaRPr sz="2100">
              <a:latin typeface="Tahoma"/>
              <a:cs typeface="Tahom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72097" y="5921755"/>
            <a:ext cx="600710" cy="3467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(e.g.,</a:t>
            </a:r>
            <a:endParaRPr sz="2100">
              <a:latin typeface="Tahoma"/>
              <a:cs typeface="Tahoma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1265669" y="5913570"/>
            <a:ext cx="2331085" cy="409575"/>
          </a:xfrm>
          <a:custGeom>
            <a:avLst/>
            <a:gdLst/>
            <a:ahLst/>
            <a:cxnLst/>
            <a:rect l="l" t="t" r="r" b="b"/>
            <a:pathLst>
              <a:path w="2331085" h="409575">
                <a:moveTo>
                  <a:pt x="2305474" y="409358"/>
                </a:moveTo>
                <a:lnTo>
                  <a:pt x="25362" y="409358"/>
                </a:lnTo>
                <a:lnTo>
                  <a:pt x="21632" y="408616"/>
                </a:lnTo>
                <a:lnTo>
                  <a:pt x="0" y="383995"/>
                </a:lnTo>
                <a:lnTo>
                  <a:pt x="0" y="380118"/>
                </a:lnTo>
                <a:lnTo>
                  <a:pt x="0" y="25362"/>
                </a:lnTo>
                <a:lnTo>
                  <a:pt x="25362" y="0"/>
                </a:lnTo>
                <a:lnTo>
                  <a:pt x="2305474" y="0"/>
                </a:lnTo>
                <a:lnTo>
                  <a:pt x="2330837" y="25362"/>
                </a:lnTo>
                <a:lnTo>
                  <a:pt x="2330837" y="383995"/>
                </a:lnTo>
                <a:lnTo>
                  <a:pt x="2309204" y="408616"/>
                </a:lnTo>
                <a:lnTo>
                  <a:pt x="2305474" y="409358"/>
                </a:lnTo>
                <a:close/>
              </a:path>
            </a:pathLst>
          </a:custGeom>
          <a:solidFill>
            <a:srgbClr val="1D293B">
              <a:alpha val="7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1265669" y="5913570"/>
            <a:ext cx="2331085" cy="409575"/>
          </a:xfrm>
          <a:prstGeom prst="rect">
            <a:avLst/>
          </a:prstGeom>
          <a:ln w="14177">
            <a:solidFill>
              <a:srgbClr val="0FB981"/>
            </a:solidFill>
          </a:ln>
        </p:spPr>
        <p:txBody>
          <a:bodyPr wrap="square" lIns="0" tIns="78740" rIns="0" bIns="0" rtlCol="0" vert="horz">
            <a:spAutoFit/>
          </a:bodyPr>
          <a:lstStyle/>
          <a:p>
            <a:pPr marL="73660">
              <a:lnSpc>
                <a:spcPct val="100000"/>
              </a:lnSpc>
              <a:spcBef>
                <a:spcPts val="620"/>
              </a:spcBef>
            </a:pPr>
            <a:r>
              <a:rPr dirty="0" sz="1650">
                <a:solidFill>
                  <a:srgbClr val="86EFAB"/>
                </a:solidFill>
                <a:latin typeface="Courier New"/>
                <a:cs typeface="Courier New"/>
              </a:rPr>
              <a:t>GRK-KOINE-NT-</a:t>
            </a:r>
            <a:r>
              <a:rPr dirty="0" sz="1650" spc="-20">
                <a:solidFill>
                  <a:srgbClr val="86EFAB"/>
                </a:solidFill>
                <a:latin typeface="Courier New"/>
                <a:cs typeface="Courier New"/>
              </a:rPr>
              <a:t>JOHN</a:t>
            </a:r>
            <a:endParaRPr sz="1650">
              <a:latin typeface="Courier New"/>
              <a:cs typeface="Courier New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3677827" y="5921755"/>
            <a:ext cx="5494655" cy="3467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for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the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5">
                <a:solidFill>
                  <a:srgbClr val="F7FAFB"/>
                </a:solidFill>
                <a:latin typeface="Tahoma"/>
                <a:cs typeface="Tahoma"/>
              </a:rPr>
              <a:t>Gospel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of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John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in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5">
                <a:solidFill>
                  <a:srgbClr val="F7FAFB"/>
                </a:solidFill>
                <a:latin typeface="Tahoma"/>
                <a:cs typeface="Tahoma"/>
              </a:rPr>
              <a:t>Koine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Greek).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45">
                <a:solidFill>
                  <a:srgbClr val="F7FAFB"/>
                </a:solidFill>
                <a:latin typeface="Tahoma"/>
                <a:cs typeface="Tahoma"/>
              </a:rPr>
              <a:t>This</a:t>
            </a:r>
            <a:endParaRPr sz="2100">
              <a:latin typeface="Tahoma"/>
              <a:cs typeface="Tahoma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572097" y="6347823"/>
            <a:ext cx="9308465" cy="3467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systematic</a:t>
            </a:r>
            <a:r>
              <a:rPr dirty="0" sz="2100" spc="-4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organization</a:t>
            </a:r>
            <a:r>
              <a:rPr dirty="0" sz="2100" spc="-4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enables</a:t>
            </a:r>
            <a:r>
              <a:rPr dirty="0" sz="2100" spc="-4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efficient</a:t>
            </a:r>
            <a:r>
              <a:rPr dirty="0" sz="2100" spc="-4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querying</a:t>
            </a:r>
            <a:r>
              <a:rPr dirty="0" sz="2100" spc="-4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and</a:t>
            </a:r>
            <a:r>
              <a:rPr dirty="0" sz="2100" spc="-4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comparison</a:t>
            </a:r>
            <a:r>
              <a:rPr dirty="0" sz="2100" spc="-4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across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1086485"/>
          </a:xfrm>
          <a:custGeom>
            <a:avLst/>
            <a:gdLst/>
            <a:ahLst/>
            <a:cxnLst/>
            <a:rect l="l" t="t" r="r" b="b"/>
            <a:pathLst>
              <a:path w="50165" h="1086485">
                <a:moveTo>
                  <a:pt x="50125" y="1086053"/>
                </a:moveTo>
                <a:lnTo>
                  <a:pt x="0" y="1086053"/>
                </a:lnTo>
                <a:lnTo>
                  <a:pt x="0" y="0"/>
                </a:lnTo>
                <a:lnTo>
                  <a:pt x="50125" y="0"/>
                </a:lnTo>
                <a:lnTo>
                  <a:pt x="50125" y="1086053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83336" y="1444752"/>
            <a:ext cx="9107805" cy="457200"/>
          </a:xfrm>
          <a:custGeom>
            <a:avLst/>
            <a:gdLst/>
            <a:ahLst/>
            <a:cxnLst/>
            <a:rect l="l" t="t" r="r" b="b"/>
            <a:pathLst>
              <a:path w="9107805" h="457200">
                <a:moveTo>
                  <a:pt x="9107423" y="457199"/>
                </a:moveTo>
                <a:lnTo>
                  <a:pt x="0" y="457199"/>
                </a:lnTo>
                <a:lnTo>
                  <a:pt x="0" y="0"/>
                </a:lnTo>
                <a:lnTo>
                  <a:pt x="9107423" y="0"/>
                </a:lnTo>
                <a:lnTo>
                  <a:pt x="9107423" y="45719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75"/>
              <a:t>Question:</a:t>
            </a:r>
            <a:r>
              <a:rPr dirty="0" spc="-125"/>
              <a:t> </a:t>
            </a:r>
            <a:r>
              <a:rPr dirty="0" spc="-100"/>
              <a:t>Can</a:t>
            </a:r>
            <a:r>
              <a:rPr dirty="0" spc="-125"/>
              <a:t> </a:t>
            </a:r>
            <a:r>
              <a:rPr dirty="0" spc="-110"/>
              <a:t>you</a:t>
            </a:r>
            <a:r>
              <a:rPr dirty="0" spc="-125"/>
              <a:t> </a:t>
            </a:r>
            <a:r>
              <a:rPr dirty="0" spc="-155"/>
              <a:t>show</a:t>
            </a:r>
            <a:r>
              <a:rPr dirty="0" spc="-120"/>
              <a:t> </a:t>
            </a:r>
            <a:r>
              <a:rPr dirty="0" spc="-190"/>
              <a:t>us</a:t>
            </a:r>
            <a:r>
              <a:rPr dirty="0" spc="-125"/>
              <a:t> </a:t>
            </a:r>
            <a:r>
              <a:rPr dirty="0" spc="-90"/>
              <a:t>the</a:t>
            </a:r>
            <a:r>
              <a:rPr dirty="0" spc="-125"/>
              <a:t> </a:t>
            </a:r>
            <a:r>
              <a:rPr dirty="0" spc="-75"/>
              <a:t>actual</a:t>
            </a:r>
            <a:r>
              <a:rPr dirty="0" spc="-125"/>
              <a:t> </a:t>
            </a:r>
            <a:r>
              <a:rPr dirty="0" spc="-10"/>
              <a:t>directory</a:t>
            </a:r>
          </a:p>
        </p:txBody>
      </p:sp>
      <p:sp>
        <p:nvSpPr>
          <p:cNvPr id="5" name="object 5" descr=""/>
          <p:cNvSpPr/>
          <p:nvPr/>
        </p:nvSpPr>
        <p:spPr>
          <a:xfrm>
            <a:off x="777239" y="1993391"/>
            <a:ext cx="2057400" cy="390525"/>
          </a:xfrm>
          <a:custGeom>
            <a:avLst/>
            <a:gdLst/>
            <a:ahLst/>
            <a:cxnLst/>
            <a:rect l="l" t="t" r="r" b="b"/>
            <a:pathLst>
              <a:path w="2057400" h="390525">
                <a:moveTo>
                  <a:pt x="2057399" y="390143"/>
                </a:moveTo>
                <a:lnTo>
                  <a:pt x="0" y="390143"/>
                </a:lnTo>
                <a:lnTo>
                  <a:pt x="0" y="0"/>
                </a:lnTo>
                <a:lnTo>
                  <a:pt x="2057399" y="0"/>
                </a:lnTo>
                <a:lnTo>
                  <a:pt x="2057399" y="390143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789308" y="1903358"/>
            <a:ext cx="2003425" cy="5067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150" spc="-70" b="1">
                <a:solidFill>
                  <a:srgbClr val="60A5FA"/>
                </a:solidFill>
                <a:latin typeface="Tahoma"/>
                <a:cs typeface="Tahoma"/>
              </a:rPr>
              <a:t>structure?</a:t>
            </a:r>
            <a:endParaRPr sz="3150">
              <a:latin typeface="Tahoma"/>
              <a:cs typeface="Tahoma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3428178"/>
            <a:ext cx="91896" cy="9189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3987913"/>
            <a:ext cx="91896" cy="91896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4547649"/>
            <a:ext cx="91896" cy="91896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572097" y="2563344"/>
            <a:ext cx="5462905" cy="21844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 spc="-20" b="1">
                <a:solidFill>
                  <a:srgbClr val="FBD34D"/>
                </a:solidFill>
                <a:latin typeface="Tahoma"/>
                <a:cs typeface="Tahoma"/>
              </a:rPr>
              <a:t>Structure</a:t>
            </a:r>
            <a:r>
              <a:rPr dirty="0" sz="2100" spc="-5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details:</a:t>
            </a:r>
            <a:endParaRPr sz="2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sz="2100">
              <a:latin typeface="Tahoma"/>
              <a:cs typeface="Tahoma"/>
            </a:endParaRPr>
          </a:p>
          <a:p>
            <a:pPr marL="346710">
              <a:lnSpc>
                <a:spcPct val="100000"/>
              </a:lnSpc>
            </a:pPr>
            <a:r>
              <a:rPr dirty="0" sz="2100" spc="130">
                <a:solidFill>
                  <a:srgbClr val="F7FAFB"/>
                </a:solidFill>
                <a:latin typeface="Tahoma"/>
                <a:cs typeface="Tahoma"/>
              </a:rPr>
              <a:t>How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are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files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0">
                <a:solidFill>
                  <a:srgbClr val="F7FAFB"/>
                </a:solidFill>
                <a:latin typeface="Tahoma"/>
                <a:cs typeface="Tahoma"/>
              </a:rPr>
              <a:t>organized?</a:t>
            </a:r>
            <a:endParaRPr sz="2100">
              <a:latin typeface="Tahoma"/>
              <a:cs typeface="Tahoma"/>
            </a:endParaRPr>
          </a:p>
          <a:p>
            <a:pPr marL="346710" marR="5080">
              <a:lnSpc>
                <a:spcPct val="174900"/>
              </a:lnSpc>
            </a:pPr>
            <a:r>
              <a:rPr dirty="0" sz="2100" spc="125">
                <a:solidFill>
                  <a:srgbClr val="F7FAFB"/>
                </a:solidFill>
                <a:latin typeface="Tahoma"/>
                <a:cs typeface="Tahoma"/>
              </a:rPr>
              <a:t>What</a:t>
            </a:r>
            <a:r>
              <a:rPr dirty="0" sz="2100" spc="-2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naming</a:t>
            </a:r>
            <a:r>
              <a:rPr dirty="0" sz="2100" spc="-2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conventions</a:t>
            </a:r>
            <a:r>
              <a:rPr dirty="0" sz="2100" spc="-1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are</a:t>
            </a:r>
            <a:r>
              <a:rPr dirty="0" sz="2100" spc="-2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10">
                <a:solidFill>
                  <a:srgbClr val="F7FAFB"/>
                </a:solidFill>
                <a:latin typeface="Tahoma"/>
                <a:cs typeface="Tahoma"/>
              </a:rPr>
              <a:t>used?</a:t>
            </a:r>
            <a:r>
              <a:rPr dirty="0" sz="2100" spc="130">
                <a:solidFill>
                  <a:srgbClr val="F7FAFB"/>
                </a:solidFill>
                <a:latin typeface="Tahoma"/>
                <a:cs typeface="Tahoma"/>
              </a:rPr>
              <a:t> How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0">
                <a:solidFill>
                  <a:srgbClr val="F7FAFB"/>
                </a:solidFill>
                <a:latin typeface="Tahoma"/>
                <a:cs typeface="Tahoma"/>
              </a:rPr>
              <a:t>does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this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enable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efficient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45">
                <a:solidFill>
                  <a:srgbClr val="F7FAFB"/>
                </a:solidFill>
                <a:latin typeface="Tahoma"/>
                <a:cs typeface="Tahoma"/>
              </a:rPr>
              <a:t>querying?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1086485"/>
          </a:xfrm>
          <a:custGeom>
            <a:avLst/>
            <a:gdLst/>
            <a:ahLst/>
            <a:cxnLst/>
            <a:rect l="l" t="t" r="r" b="b"/>
            <a:pathLst>
              <a:path w="50165" h="1086485">
                <a:moveTo>
                  <a:pt x="50125" y="1086053"/>
                </a:moveTo>
                <a:lnTo>
                  <a:pt x="0" y="1086053"/>
                </a:lnTo>
                <a:lnTo>
                  <a:pt x="0" y="0"/>
                </a:lnTo>
                <a:lnTo>
                  <a:pt x="50125" y="0"/>
                </a:lnTo>
                <a:lnTo>
                  <a:pt x="50125" y="1086053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584797" y="2709712"/>
            <a:ext cx="9524365" cy="1253490"/>
          </a:xfrm>
          <a:custGeom>
            <a:avLst/>
            <a:gdLst/>
            <a:ahLst/>
            <a:cxnLst/>
            <a:rect l="l" t="t" r="r" b="b"/>
            <a:pathLst>
              <a:path w="9524365" h="1253489">
                <a:moveTo>
                  <a:pt x="9523853" y="1253138"/>
                </a:moveTo>
                <a:lnTo>
                  <a:pt x="0" y="1253138"/>
                </a:lnTo>
                <a:lnTo>
                  <a:pt x="0" y="0"/>
                </a:lnTo>
                <a:lnTo>
                  <a:pt x="9523853" y="0"/>
                </a:lnTo>
                <a:lnTo>
                  <a:pt x="9523853" y="1253138"/>
                </a:lnTo>
                <a:close/>
              </a:path>
            </a:pathLst>
          </a:custGeom>
          <a:solidFill>
            <a:srgbClr val="4559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780287" y="1444752"/>
            <a:ext cx="7665720" cy="457200"/>
          </a:xfrm>
          <a:custGeom>
            <a:avLst/>
            <a:gdLst/>
            <a:ahLst/>
            <a:cxnLst/>
            <a:rect l="l" t="t" r="r" b="b"/>
            <a:pathLst>
              <a:path w="7665720" h="457200">
                <a:moveTo>
                  <a:pt x="7665719" y="457199"/>
                </a:moveTo>
                <a:lnTo>
                  <a:pt x="0" y="457199"/>
                </a:lnTo>
                <a:lnTo>
                  <a:pt x="0" y="0"/>
                </a:lnTo>
                <a:lnTo>
                  <a:pt x="7665719" y="0"/>
                </a:lnTo>
                <a:lnTo>
                  <a:pt x="7665719" y="45719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80"/>
              <a:t>Corpus</a:t>
            </a:r>
            <a:r>
              <a:rPr dirty="0" spc="-110"/>
              <a:t> </a:t>
            </a:r>
            <a:r>
              <a:rPr dirty="0" spc="-75"/>
              <a:t>Structure</a:t>
            </a:r>
            <a:r>
              <a:rPr dirty="0" spc="-105"/>
              <a:t> </a:t>
            </a:r>
            <a:r>
              <a:rPr dirty="0" spc="-114"/>
              <a:t>Example:</a:t>
            </a:r>
            <a:r>
              <a:rPr dirty="0" spc="-110"/>
              <a:t> </a:t>
            </a:r>
            <a:r>
              <a:rPr dirty="0" spc="-10"/>
              <a:t>Hierarchical</a:t>
            </a:r>
          </a:p>
        </p:txBody>
      </p:sp>
      <p:sp>
        <p:nvSpPr>
          <p:cNvPr id="6" name="object 6" descr=""/>
          <p:cNvSpPr/>
          <p:nvPr/>
        </p:nvSpPr>
        <p:spPr>
          <a:xfrm>
            <a:off x="783336" y="1987295"/>
            <a:ext cx="2581910" cy="463550"/>
          </a:xfrm>
          <a:custGeom>
            <a:avLst/>
            <a:gdLst/>
            <a:ahLst/>
            <a:cxnLst/>
            <a:rect l="l" t="t" r="r" b="b"/>
            <a:pathLst>
              <a:path w="2581910" h="463550">
                <a:moveTo>
                  <a:pt x="2581655" y="463295"/>
                </a:moveTo>
                <a:lnTo>
                  <a:pt x="0" y="463295"/>
                </a:lnTo>
                <a:lnTo>
                  <a:pt x="0" y="0"/>
                </a:lnTo>
                <a:lnTo>
                  <a:pt x="2581655" y="0"/>
                </a:lnTo>
                <a:lnTo>
                  <a:pt x="2581655" y="463295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789308" y="1903358"/>
            <a:ext cx="2546985" cy="5067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150" spc="-50" b="1">
                <a:solidFill>
                  <a:srgbClr val="60A5FA"/>
                </a:solidFill>
                <a:latin typeface="Tahoma"/>
                <a:cs typeface="Tahoma"/>
              </a:rPr>
              <a:t>Organization</a:t>
            </a:r>
            <a:endParaRPr sz="3150">
              <a:latin typeface="Tahoma"/>
              <a:cs typeface="Tahom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72097" y="3978555"/>
            <a:ext cx="8953500" cy="17297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3100"/>
              </a:lnSpc>
              <a:spcBef>
                <a:spcPts val="100"/>
              </a:spcBef>
            </a:pP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This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hierarchical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structure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allows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researchers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to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query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specific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periods 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(e.g.,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0">
                <a:solidFill>
                  <a:srgbClr val="F7FAFB"/>
                </a:solidFill>
                <a:latin typeface="Tahoma"/>
                <a:cs typeface="Tahoma"/>
              </a:rPr>
              <a:t>"all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5">
                <a:solidFill>
                  <a:srgbClr val="F7FAFB"/>
                </a:solidFill>
                <a:latin typeface="Tahoma"/>
                <a:cs typeface="Tahoma"/>
              </a:rPr>
              <a:t>Koine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texts")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or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track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5">
                <a:solidFill>
                  <a:srgbClr val="F7FAFB"/>
                </a:solidFill>
                <a:latin typeface="Tahoma"/>
                <a:cs typeface="Tahoma"/>
              </a:rPr>
              <a:t>individual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texts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across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translations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10">
                <a:solidFill>
                  <a:srgbClr val="F7FAFB"/>
                </a:solidFill>
                <a:latin typeface="Tahoma"/>
                <a:cs typeface="Tahoma"/>
              </a:rPr>
              <a:t>(e.g.,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"Genesis</a:t>
            </a:r>
            <a:r>
              <a:rPr dirty="0" sz="2100" spc="-4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in</a:t>
            </a:r>
            <a:r>
              <a:rPr dirty="0" sz="2100" spc="-4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all</a:t>
            </a:r>
            <a:r>
              <a:rPr dirty="0" sz="2100" spc="-4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14">
                <a:solidFill>
                  <a:srgbClr val="F7FAFB"/>
                </a:solidFill>
                <a:latin typeface="Tahoma"/>
                <a:cs typeface="Tahoma"/>
              </a:rPr>
              <a:t>Greek</a:t>
            </a:r>
            <a:r>
              <a:rPr dirty="0" sz="2100" spc="-4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45">
                <a:solidFill>
                  <a:srgbClr val="F7FAFB"/>
                </a:solidFill>
                <a:latin typeface="Tahoma"/>
                <a:cs typeface="Tahoma"/>
              </a:rPr>
              <a:t>periods").</a:t>
            </a:r>
            <a:r>
              <a:rPr dirty="0" sz="2100" spc="-4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0">
                <a:solidFill>
                  <a:srgbClr val="F7FAFB"/>
                </a:solidFill>
                <a:latin typeface="Tahoma"/>
                <a:cs typeface="Tahoma"/>
              </a:rPr>
              <a:t>The</a:t>
            </a:r>
            <a:r>
              <a:rPr dirty="0" sz="2100" spc="-4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file</a:t>
            </a:r>
            <a:r>
              <a:rPr dirty="0" sz="2100" spc="-4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naming</a:t>
            </a:r>
            <a:r>
              <a:rPr dirty="0" sz="2100" spc="-4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convention</a:t>
            </a:r>
            <a:r>
              <a:rPr dirty="0" sz="2100" spc="-4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includes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language</a:t>
            </a:r>
            <a:r>
              <a:rPr dirty="0" sz="2100" spc="2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code,</a:t>
            </a:r>
            <a:r>
              <a:rPr dirty="0" sz="2100" spc="2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period,</a:t>
            </a:r>
            <a:r>
              <a:rPr dirty="0" sz="2100" spc="2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text</a:t>
            </a:r>
            <a:r>
              <a:rPr dirty="0" sz="2100" spc="2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type,</a:t>
            </a:r>
            <a:r>
              <a:rPr dirty="0" sz="2100" spc="2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and</a:t>
            </a:r>
            <a:r>
              <a:rPr dirty="0" sz="2100" spc="2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specific</a:t>
            </a:r>
            <a:r>
              <a:rPr dirty="0" sz="2100" spc="2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10">
                <a:solidFill>
                  <a:srgbClr val="F7FAFB"/>
                </a:solidFill>
                <a:latin typeface="Tahoma"/>
                <a:cs typeface="Tahoma"/>
              </a:rPr>
              <a:t>work</a:t>
            </a:r>
            <a:r>
              <a:rPr dirty="0" sz="2100" spc="2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identifier.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1086485"/>
          </a:xfrm>
          <a:custGeom>
            <a:avLst/>
            <a:gdLst/>
            <a:ahLst/>
            <a:cxnLst/>
            <a:rect l="l" t="t" r="r" b="b"/>
            <a:pathLst>
              <a:path w="50165" h="1086485">
                <a:moveTo>
                  <a:pt x="50125" y="1086053"/>
                </a:moveTo>
                <a:lnTo>
                  <a:pt x="0" y="1086053"/>
                </a:lnTo>
                <a:lnTo>
                  <a:pt x="0" y="0"/>
                </a:lnTo>
                <a:lnTo>
                  <a:pt x="50125" y="0"/>
                </a:lnTo>
                <a:lnTo>
                  <a:pt x="50125" y="1086053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83336" y="1444752"/>
            <a:ext cx="8101965" cy="445134"/>
          </a:xfrm>
          <a:custGeom>
            <a:avLst/>
            <a:gdLst/>
            <a:ahLst/>
            <a:cxnLst/>
            <a:rect l="l" t="t" r="r" b="b"/>
            <a:pathLst>
              <a:path w="8101965" h="445135">
                <a:moveTo>
                  <a:pt x="8101583" y="445007"/>
                </a:moveTo>
                <a:lnTo>
                  <a:pt x="0" y="445007"/>
                </a:lnTo>
                <a:lnTo>
                  <a:pt x="0" y="0"/>
                </a:lnTo>
                <a:lnTo>
                  <a:pt x="8101583" y="0"/>
                </a:lnTo>
                <a:lnTo>
                  <a:pt x="8101583" y="445007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75"/>
              <a:t>Question:</a:t>
            </a:r>
            <a:r>
              <a:rPr dirty="0" spc="-150"/>
              <a:t> </a:t>
            </a:r>
            <a:r>
              <a:rPr dirty="0"/>
              <a:t>What</a:t>
            </a:r>
            <a:r>
              <a:rPr dirty="0" spc="-145"/>
              <a:t> </a:t>
            </a:r>
            <a:r>
              <a:rPr dirty="0" spc="-160"/>
              <a:t>makes</a:t>
            </a:r>
            <a:r>
              <a:rPr dirty="0" spc="-140"/>
              <a:t> </a:t>
            </a:r>
            <a:r>
              <a:rPr dirty="0" spc="-195"/>
              <a:t>a</a:t>
            </a:r>
            <a:r>
              <a:rPr dirty="0" spc="-150"/>
              <a:t> </a:t>
            </a:r>
            <a:r>
              <a:rPr dirty="0" spc="-55"/>
              <a:t>text</a:t>
            </a:r>
            <a:r>
              <a:rPr dirty="0" spc="-145"/>
              <a:t> </a:t>
            </a:r>
            <a:r>
              <a:rPr dirty="0" spc="-20"/>
              <a:t>"influential"</a:t>
            </a:r>
          </a:p>
        </p:txBody>
      </p:sp>
      <p:sp>
        <p:nvSpPr>
          <p:cNvPr id="5" name="object 5" descr=""/>
          <p:cNvSpPr/>
          <p:nvPr/>
        </p:nvSpPr>
        <p:spPr>
          <a:xfrm>
            <a:off x="783336" y="1987295"/>
            <a:ext cx="3676015" cy="463550"/>
          </a:xfrm>
          <a:custGeom>
            <a:avLst/>
            <a:gdLst/>
            <a:ahLst/>
            <a:cxnLst/>
            <a:rect l="l" t="t" r="r" b="b"/>
            <a:pathLst>
              <a:path w="3676015" h="463550">
                <a:moveTo>
                  <a:pt x="3675887" y="463295"/>
                </a:moveTo>
                <a:lnTo>
                  <a:pt x="0" y="463295"/>
                </a:lnTo>
                <a:lnTo>
                  <a:pt x="0" y="0"/>
                </a:lnTo>
                <a:lnTo>
                  <a:pt x="3675887" y="0"/>
                </a:lnTo>
                <a:lnTo>
                  <a:pt x="3675887" y="463295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789308" y="1903358"/>
            <a:ext cx="3625215" cy="5067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150" spc="-150" b="1">
                <a:solidFill>
                  <a:srgbClr val="60A5FA"/>
                </a:solidFill>
                <a:latin typeface="Tahoma"/>
                <a:cs typeface="Tahoma"/>
              </a:rPr>
              <a:t>enough </a:t>
            </a:r>
            <a:r>
              <a:rPr dirty="0" sz="3150" spc="-30" b="1">
                <a:solidFill>
                  <a:srgbClr val="60A5FA"/>
                </a:solidFill>
                <a:latin typeface="Tahoma"/>
                <a:cs typeface="Tahoma"/>
              </a:rPr>
              <a:t>to</a:t>
            </a:r>
            <a:r>
              <a:rPr dirty="0" sz="3150" spc="-150" b="1">
                <a:solidFill>
                  <a:srgbClr val="60A5FA"/>
                </a:solidFill>
                <a:latin typeface="Tahoma"/>
                <a:cs typeface="Tahoma"/>
              </a:rPr>
              <a:t> </a:t>
            </a:r>
            <a:r>
              <a:rPr dirty="0" sz="3150" spc="-75" b="1">
                <a:solidFill>
                  <a:srgbClr val="60A5FA"/>
                </a:solidFill>
                <a:latin typeface="Tahoma"/>
                <a:cs typeface="Tahoma"/>
              </a:rPr>
              <a:t>include?</a:t>
            </a:r>
            <a:endParaRPr sz="3150">
              <a:latin typeface="Tahoma"/>
              <a:cs typeface="Tahoma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3428178"/>
            <a:ext cx="91896" cy="9189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3987913"/>
            <a:ext cx="91896" cy="91896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4547649"/>
            <a:ext cx="91896" cy="91896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572097" y="2563344"/>
            <a:ext cx="5553710" cy="21844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 spc="-20" b="1">
                <a:solidFill>
                  <a:srgbClr val="FBD34D"/>
                </a:solidFill>
                <a:latin typeface="Tahoma"/>
                <a:cs typeface="Tahoma"/>
              </a:rPr>
              <a:t>Selection</a:t>
            </a:r>
            <a:r>
              <a:rPr dirty="0" sz="2100" spc="-7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criteria:</a:t>
            </a:r>
            <a:endParaRPr sz="2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sz="2100">
              <a:latin typeface="Tahoma"/>
              <a:cs typeface="Tahoma"/>
            </a:endParaRPr>
          </a:p>
          <a:p>
            <a:pPr marL="346710">
              <a:lnSpc>
                <a:spcPct val="100000"/>
              </a:lnSpc>
            </a:pPr>
            <a:r>
              <a:rPr dirty="0" sz="2100" spc="125">
                <a:solidFill>
                  <a:srgbClr val="F7FAFB"/>
                </a:solidFill>
                <a:latin typeface="Tahoma"/>
                <a:cs typeface="Tahoma"/>
              </a:rPr>
              <a:t>What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defines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cultural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0">
                <a:solidFill>
                  <a:srgbClr val="F7FAFB"/>
                </a:solidFill>
                <a:latin typeface="Tahoma"/>
                <a:cs typeface="Tahoma"/>
              </a:rPr>
              <a:t>significance?</a:t>
            </a:r>
            <a:endParaRPr sz="2100">
              <a:latin typeface="Tahoma"/>
              <a:cs typeface="Tahoma"/>
            </a:endParaRPr>
          </a:p>
          <a:p>
            <a:pPr marL="346710" marR="5080">
              <a:lnSpc>
                <a:spcPct val="174900"/>
              </a:lnSpc>
            </a:pPr>
            <a:r>
              <a:rPr dirty="0" sz="2100" spc="120">
                <a:solidFill>
                  <a:srgbClr val="F7FAFB"/>
                </a:solidFill>
                <a:latin typeface="Tahoma"/>
                <a:cs typeface="Tahoma"/>
              </a:rPr>
              <a:t>Why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is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translation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5">
                <a:solidFill>
                  <a:srgbClr val="F7FAFB"/>
                </a:solidFill>
                <a:latin typeface="Tahoma"/>
                <a:cs typeface="Tahoma"/>
              </a:rPr>
              <a:t>availability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important? </a:t>
            </a:r>
            <a:r>
              <a:rPr dirty="0" sz="2100" spc="130">
                <a:solidFill>
                  <a:srgbClr val="F7FAFB"/>
                </a:solidFill>
                <a:latin typeface="Tahoma"/>
                <a:cs typeface="Tahoma"/>
              </a:rPr>
              <a:t>How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do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these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10">
                <a:solidFill>
                  <a:srgbClr val="F7FAFB"/>
                </a:solidFill>
                <a:latin typeface="Tahoma"/>
                <a:cs typeface="Tahoma"/>
              </a:rPr>
              <a:t>criteria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10">
                <a:solidFill>
                  <a:srgbClr val="F7FAFB"/>
                </a:solidFill>
                <a:latin typeface="Tahoma"/>
                <a:cs typeface="Tahoma"/>
              </a:rPr>
              <a:t>work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0">
                <a:solidFill>
                  <a:srgbClr val="F7FAFB"/>
                </a:solidFill>
                <a:latin typeface="Tahoma"/>
                <a:cs typeface="Tahoma"/>
              </a:rPr>
              <a:t>together?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543560"/>
          </a:xfrm>
          <a:custGeom>
            <a:avLst/>
            <a:gdLst/>
            <a:ahLst/>
            <a:cxnLst/>
            <a:rect l="l" t="t" r="r" b="b"/>
            <a:pathLst>
              <a:path w="50165" h="543560">
                <a:moveTo>
                  <a:pt x="50125" y="543026"/>
                </a:moveTo>
                <a:lnTo>
                  <a:pt x="0" y="543026"/>
                </a:lnTo>
                <a:lnTo>
                  <a:pt x="0" y="0"/>
                </a:lnTo>
                <a:lnTo>
                  <a:pt x="50125" y="0"/>
                </a:lnTo>
                <a:lnTo>
                  <a:pt x="50125" y="543026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98575" y="1444752"/>
            <a:ext cx="6617334" cy="463550"/>
          </a:xfrm>
          <a:custGeom>
            <a:avLst/>
            <a:gdLst/>
            <a:ahLst/>
            <a:cxnLst/>
            <a:rect l="l" t="t" r="r" b="b"/>
            <a:pathLst>
              <a:path w="6617334" h="463550">
                <a:moveTo>
                  <a:pt x="6617207" y="463295"/>
                </a:moveTo>
                <a:lnTo>
                  <a:pt x="0" y="463295"/>
                </a:lnTo>
                <a:lnTo>
                  <a:pt x="0" y="0"/>
                </a:lnTo>
                <a:lnTo>
                  <a:pt x="6617207" y="0"/>
                </a:lnTo>
                <a:lnTo>
                  <a:pt x="6617207" y="463295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89308" y="1360331"/>
            <a:ext cx="6597650" cy="5067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70"/>
              <a:t>Defining</a:t>
            </a:r>
            <a:r>
              <a:rPr dirty="0" spc="-135"/>
              <a:t> </a:t>
            </a:r>
            <a:r>
              <a:rPr dirty="0" spc="-90"/>
              <a:t>Influential</a:t>
            </a:r>
            <a:r>
              <a:rPr dirty="0" spc="-135"/>
              <a:t> </a:t>
            </a:r>
            <a:r>
              <a:rPr dirty="0" spc="-155"/>
              <a:t>Texts:</a:t>
            </a:r>
            <a:r>
              <a:rPr dirty="0" spc="-135"/>
              <a:t> </a:t>
            </a:r>
            <a:r>
              <a:rPr dirty="0" spc="-10"/>
              <a:t>Criteria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572097" y="1831511"/>
            <a:ext cx="9516745" cy="4712335"/>
          </a:xfrm>
          <a:prstGeom prst="rect">
            <a:avLst/>
          </a:prstGeom>
        </p:spPr>
        <p:txBody>
          <a:bodyPr wrap="square" lIns="0" tIns="2019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90"/>
              </a:spcBef>
            </a:pPr>
            <a:r>
              <a:rPr dirty="0" sz="2100" spc="-95" b="1">
                <a:solidFill>
                  <a:srgbClr val="FBD34D"/>
                </a:solidFill>
                <a:latin typeface="Tahoma"/>
                <a:cs typeface="Tahoma"/>
              </a:rPr>
              <a:t>Two</a:t>
            </a:r>
            <a:r>
              <a:rPr dirty="0" sz="2100" spc="-6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25" b="1">
                <a:solidFill>
                  <a:srgbClr val="FBD34D"/>
                </a:solidFill>
                <a:latin typeface="Tahoma"/>
                <a:cs typeface="Tahoma"/>
              </a:rPr>
              <a:t>Essential</a:t>
            </a:r>
            <a:r>
              <a:rPr dirty="0" sz="2100" spc="-8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Conditions</a:t>
            </a:r>
            <a:r>
              <a:rPr dirty="0" sz="2100" spc="-7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for</a:t>
            </a:r>
            <a:r>
              <a:rPr dirty="0" sz="2100" spc="-7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65" b="1">
                <a:solidFill>
                  <a:srgbClr val="FBD34D"/>
                </a:solidFill>
                <a:latin typeface="Tahoma"/>
                <a:cs typeface="Tahoma"/>
              </a:rPr>
              <a:t>Text</a:t>
            </a:r>
            <a:r>
              <a:rPr dirty="0" sz="2100" spc="-7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Selection:</a:t>
            </a:r>
            <a:endParaRPr sz="2100">
              <a:latin typeface="Tahoma"/>
              <a:cs typeface="Tahoma"/>
            </a:endParaRPr>
          </a:p>
          <a:p>
            <a:pPr marL="12700" marR="1132840" indent="-6350">
              <a:lnSpc>
                <a:spcPct val="133100"/>
              </a:lnSpc>
              <a:spcBef>
                <a:spcPts val="660"/>
              </a:spcBef>
              <a:buClr>
                <a:srgbClr val="FBD34D"/>
              </a:buClr>
              <a:buSzPct val="97619"/>
              <a:buFont typeface="Tahoma"/>
              <a:buAutoNum type="alphaLcParenBoth"/>
              <a:tabLst>
                <a:tab pos="409575" algn="l"/>
              </a:tabLst>
            </a:pPr>
            <a:r>
              <a:rPr dirty="0" sz="2100" spc="50">
                <a:solidFill>
                  <a:srgbClr val="F7FAFB"/>
                </a:solidFill>
                <a:latin typeface="Tahoma"/>
                <a:cs typeface="Tahoma"/>
              </a:rPr>
              <a:t>	</a:t>
            </a:r>
            <a:r>
              <a:rPr dirty="0" sz="2100" spc="50">
                <a:solidFill>
                  <a:srgbClr val="F7FAFB"/>
                </a:solidFill>
                <a:latin typeface="Tahoma"/>
                <a:cs typeface="Tahoma"/>
              </a:rPr>
              <a:t>The</a:t>
            </a:r>
            <a:r>
              <a:rPr dirty="0" sz="2100" spc="-10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text</a:t>
            </a:r>
            <a:r>
              <a:rPr dirty="0" sz="2100" spc="-10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holds</a:t>
            </a:r>
            <a:r>
              <a:rPr dirty="0" sz="2100" spc="-9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cultural</a:t>
            </a:r>
            <a:r>
              <a:rPr dirty="0" sz="2100" spc="-5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65" b="1">
                <a:solidFill>
                  <a:srgbClr val="FBD34D"/>
                </a:solidFill>
                <a:latin typeface="Tahoma"/>
                <a:cs typeface="Tahoma"/>
              </a:rPr>
              <a:t>and</a:t>
            </a:r>
            <a:r>
              <a:rPr dirty="0" sz="2100" spc="-5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20" b="1">
                <a:solidFill>
                  <a:srgbClr val="FBD34D"/>
                </a:solidFill>
                <a:latin typeface="Tahoma"/>
                <a:cs typeface="Tahoma"/>
              </a:rPr>
              <a:t>linguistic</a:t>
            </a:r>
            <a:r>
              <a:rPr dirty="0" sz="2100" spc="-5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30" b="1">
                <a:solidFill>
                  <a:srgbClr val="FBD34D"/>
                </a:solidFill>
                <a:latin typeface="Tahoma"/>
                <a:cs typeface="Tahoma"/>
              </a:rPr>
              <a:t>significance</a:t>
            </a:r>
            <a:r>
              <a:rPr dirty="0" sz="2100" spc="-5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according</a:t>
            </a:r>
            <a:r>
              <a:rPr dirty="0" sz="2100" spc="-10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to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historical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documentation</a:t>
            </a:r>
            <a:endParaRPr sz="2100">
              <a:latin typeface="Tahoma"/>
              <a:cs typeface="Tahoma"/>
            </a:endParaRPr>
          </a:p>
          <a:p>
            <a:pPr marL="12700" marR="594995" indent="-10160">
              <a:lnSpc>
                <a:spcPct val="135700"/>
              </a:lnSpc>
              <a:spcBef>
                <a:spcPts val="590"/>
              </a:spcBef>
              <a:buClr>
                <a:srgbClr val="FBD34D"/>
              </a:buClr>
              <a:buSzPct val="97619"/>
              <a:buFont typeface="Tahoma"/>
              <a:buAutoNum type="alphaLcParenBoth"/>
              <a:tabLst>
                <a:tab pos="415290" algn="l"/>
              </a:tabLst>
            </a:pPr>
            <a:r>
              <a:rPr dirty="0" sz="2100" spc="50">
                <a:solidFill>
                  <a:srgbClr val="F7FAFB"/>
                </a:solidFill>
                <a:latin typeface="Tahoma"/>
                <a:cs typeface="Tahoma"/>
              </a:rPr>
              <a:t>	</a:t>
            </a:r>
            <a:r>
              <a:rPr dirty="0" sz="2100" spc="50">
                <a:solidFill>
                  <a:srgbClr val="F7FAFB"/>
                </a:solidFill>
                <a:latin typeface="Tahoma"/>
                <a:cs typeface="Tahoma"/>
              </a:rPr>
              <a:t>The</a:t>
            </a:r>
            <a:r>
              <a:rPr dirty="0" sz="2100" spc="-10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text</a:t>
            </a:r>
            <a:r>
              <a:rPr dirty="0" sz="2100" spc="-9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exists</a:t>
            </a:r>
            <a:r>
              <a:rPr dirty="0" sz="2100" spc="-9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in</a:t>
            </a:r>
            <a:r>
              <a:rPr dirty="0" sz="2100" spc="-9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multiple</a:t>
            </a:r>
            <a:r>
              <a:rPr dirty="0" sz="2100" spc="-5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20" b="1">
                <a:solidFill>
                  <a:srgbClr val="FBD34D"/>
                </a:solidFill>
                <a:latin typeface="Tahoma"/>
                <a:cs typeface="Tahoma"/>
              </a:rPr>
              <a:t>translations</a:t>
            </a:r>
            <a:r>
              <a:rPr dirty="0" sz="2100" spc="-5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across</a:t>
            </a:r>
            <a:r>
              <a:rPr dirty="0" sz="2100" spc="-9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various</a:t>
            </a:r>
            <a:r>
              <a:rPr dirty="0" sz="2100" spc="-9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geographical </a:t>
            </a:r>
            <a:r>
              <a:rPr dirty="0" sz="2100" spc="60">
                <a:solidFill>
                  <a:srgbClr val="F7FAFB"/>
                </a:solidFill>
                <a:latin typeface="Tahoma"/>
                <a:cs typeface="Tahoma"/>
              </a:rPr>
              <a:t>areas</a:t>
            </a:r>
            <a:r>
              <a:rPr dirty="0" sz="2100" spc="-4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and</a:t>
            </a:r>
            <a:r>
              <a:rPr dirty="0" sz="2100" spc="-4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time</a:t>
            </a:r>
            <a:r>
              <a:rPr dirty="0" sz="2100" spc="-4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periods</a:t>
            </a:r>
            <a:endParaRPr sz="2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445"/>
              </a:spcBef>
            </a:pPr>
            <a:r>
              <a:rPr dirty="0" sz="2150" i="1">
                <a:solidFill>
                  <a:srgbClr val="A5F2FB"/>
                </a:solidFill>
                <a:latin typeface="Trebuchet MS"/>
                <a:cs typeface="Trebuchet MS"/>
              </a:rPr>
              <a:t>(Lavidas</a:t>
            </a:r>
            <a:r>
              <a:rPr dirty="0" sz="2150" spc="-10" i="1">
                <a:solidFill>
                  <a:srgbClr val="A5F2FB"/>
                </a:solidFill>
                <a:latin typeface="Trebuchet MS"/>
                <a:cs typeface="Trebuchet MS"/>
              </a:rPr>
              <a:t> </a:t>
            </a:r>
            <a:r>
              <a:rPr dirty="0" sz="2150" spc="80" i="1">
                <a:solidFill>
                  <a:srgbClr val="A5F2FB"/>
                </a:solidFill>
                <a:latin typeface="Trebuchet MS"/>
                <a:cs typeface="Trebuchet MS"/>
              </a:rPr>
              <a:t>2021:</a:t>
            </a:r>
            <a:r>
              <a:rPr dirty="0" sz="2150" spc="-5" i="1">
                <a:solidFill>
                  <a:srgbClr val="A5F2FB"/>
                </a:solidFill>
                <a:latin typeface="Trebuchet MS"/>
                <a:cs typeface="Trebuchet MS"/>
              </a:rPr>
              <a:t> </a:t>
            </a:r>
            <a:r>
              <a:rPr dirty="0" sz="2150" spc="65" i="1">
                <a:solidFill>
                  <a:srgbClr val="A5F2FB"/>
                </a:solidFill>
                <a:latin typeface="Trebuchet MS"/>
                <a:cs typeface="Trebuchet MS"/>
              </a:rPr>
              <a:t>283)</a:t>
            </a:r>
            <a:endParaRPr sz="2150">
              <a:latin typeface="Trebuchet MS"/>
              <a:cs typeface="Trebuchet MS"/>
            </a:endParaRPr>
          </a:p>
          <a:p>
            <a:pPr marL="12700" marR="5080">
              <a:lnSpc>
                <a:spcPct val="133100"/>
              </a:lnSpc>
              <a:spcBef>
                <a:spcPts val="650"/>
              </a:spcBef>
            </a:pP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These</a:t>
            </a:r>
            <a:r>
              <a:rPr dirty="0" sz="2100" spc="-3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10">
                <a:solidFill>
                  <a:srgbClr val="F7FAFB"/>
                </a:solidFill>
                <a:latin typeface="Tahoma"/>
                <a:cs typeface="Tahoma"/>
              </a:rPr>
              <a:t>criteria</a:t>
            </a:r>
            <a:r>
              <a:rPr dirty="0" sz="2100" spc="-3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ensure</a:t>
            </a:r>
            <a:r>
              <a:rPr dirty="0" sz="2100" spc="-3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that</a:t>
            </a:r>
            <a:r>
              <a:rPr dirty="0" sz="2100" spc="-3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included</a:t>
            </a:r>
            <a:r>
              <a:rPr dirty="0" sz="2100" spc="-3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texts</a:t>
            </a:r>
            <a:r>
              <a:rPr dirty="0" sz="2100" spc="-3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have</a:t>
            </a:r>
            <a:r>
              <a:rPr dirty="0" sz="2100" spc="-3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both</a:t>
            </a:r>
            <a:r>
              <a:rPr dirty="0" sz="2100" spc="-3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influenced</a:t>
            </a:r>
            <a:r>
              <a:rPr dirty="0" sz="2100" spc="-3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language</a:t>
            </a:r>
            <a:r>
              <a:rPr dirty="0" sz="2100" spc="-3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25">
                <a:solidFill>
                  <a:srgbClr val="F7FAFB"/>
                </a:solidFill>
                <a:latin typeface="Tahoma"/>
                <a:cs typeface="Tahoma"/>
              </a:rPr>
              <a:t>use </a:t>
            </a:r>
            <a:r>
              <a:rPr dirty="0" sz="2100" spc="105">
                <a:solidFill>
                  <a:srgbClr val="F7FAFB"/>
                </a:solidFill>
                <a:latin typeface="Tahoma"/>
                <a:cs typeface="Tahoma"/>
              </a:rPr>
              <a:t>historically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and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are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available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in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5">
                <a:solidFill>
                  <a:srgbClr val="F7FAFB"/>
                </a:solidFill>
                <a:latin typeface="Tahoma"/>
                <a:cs typeface="Tahoma"/>
              </a:rPr>
              <a:t>sufficient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translations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for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comparative </a:t>
            </a:r>
            <a:r>
              <a:rPr dirty="0" sz="2100" spc="50">
                <a:solidFill>
                  <a:srgbClr val="F7FAFB"/>
                </a:solidFill>
                <a:latin typeface="Tahoma"/>
                <a:cs typeface="Tahoma"/>
              </a:rPr>
              <a:t>analysis.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For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example,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the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14">
                <a:solidFill>
                  <a:srgbClr val="F7FAFB"/>
                </a:solidFill>
                <a:latin typeface="Tahoma"/>
                <a:cs typeface="Tahoma"/>
              </a:rPr>
              <a:t>Book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of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Psalms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meets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both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criteria: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10">
                <a:solidFill>
                  <a:srgbClr val="F7FAFB"/>
                </a:solidFill>
                <a:latin typeface="Tahoma"/>
                <a:cs typeface="Tahoma"/>
              </a:rPr>
              <a:t>it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40">
                <a:solidFill>
                  <a:srgbClr val="F7FAFB"/>
                </a:solidFill>
                <a:latin typeface="Tahoma"/>
                <a:cs typeface="Tahoma"/>
              </a:rPr>
              <a:t>shaped </a:t>
            </a:r>
            <a:r>
              <a:rPr dirty="0" sz="2100" spc="95">
                <a:solidFill>
                  <a:srgbClr val="F7FAFB"/>
                </a:solidFill>
                <a:latin typeface="Tahoma"/>
                <a:cs typeface="Tahoma"/>
              </a:rPr>
              <a:t>liturgical</a:t>
            </a:r>
            <a:r>
              <a:rPr dirty="0" sz="2100" spc="-2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language</a:t>
            </a:r>
            <a:r>
              <a:rPr dirty="0" sz="2100" spc="-1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across</a:t>
            </a:r>
            <a:r>
              <a:rPr dirty="0" sz="2100" spc="-1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centuries</a:t>
            </a:r>
            <a:r>
              <a:rPr dirty="0" sz="2100" spc="-2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and</a:t>
            </a:r>
            <a:r>
              <a:rPr dirty="0" sz="2100" spc="-1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exists</a:t>
            </a:r>
            <a:r>
              <a:rPr dirty="0" sz="2100" spc="-1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in</a:t>
            </a:r>
            <a:r>
              <a:rPr dirty="0" sz="2100" spc="-1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numerous</a:t>
            </a:r>
            <a:r>
              <a:rPr dirty="0" sz="2100" spc="-2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translations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1086485"/>
          </a:xfrm>
          <a:custGeom>
            <a:avLst/>
            <a:gdLst/>
            <a:ahLst/>
            <a:cxnLst/>
            <a:rect l="l" t="t" r="r" b="b"/>
            <a:pathLst>
              <a:path w="50165" h="1086485">
                <a:moveTo>
                  <a:pt x="50125" y="1086053"/>
                </a:moveTo>
                <a:lnTo>
                  <a:pt x="0" y="1086053"/>
                </a:lnTo>
                <a:lnTo>
                  <a:pt x="0" y="0"/>
                </a:lnTo>
                <a:lnTo>
                  <a:pt x="50125" y="0"/>
                </a:lnTo>
                <a:lnTo>
                  <a:pt x="50125" y="1086053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83336" y="1444752"/>
            <a:ext cx="7617459" cy="457200"/>
          </a:xfrm>
          <a:custGeom>
            <a:avLst/>
            <a:gdLst/>
            <a:ahLst/>
            <a:cxnLst/>
            <a:rect l="l" t="t" r="r" b="b"/>
            <a:pathLst>
              <a:path w="7617459" h="457200">
                <a:moveTo>
                  <a:pt x="7616951" y="457199"/>
                </a:moveTo>
                <a:lnTo>
                  <a:pt x="0" y="457199"/>
                </a:lnTo>
                <a:lnTo>
                  <a:pt x="0" y="0"/>
                </a:lnTo>
                <a:lnTo>
                  <a:pt x="7616951" y="0"/>
                </a:lnTo>
                <a:lnTo>
                  <a:pt x="7616951" y="45719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89308" y="1360331"/>
            <a:ext cx="7573009" cy="5067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75"/>
              <a:t>Question:</a:t>
            </a:r>
            <a:r>
              <a:rPr dirty="0" spc="-125"/>
              <a:t> </a:t>
            </a:r>
            <a:r>
              <a:rPr dirty="0" spc="-95"/>
              <a:t>How</a:t>
            </a:r>
            <a:r>
              <a:rPr dirty="0" spc="-120"/>
              <a:t> </a:t>
            </a:r>
            <a:r>
              <a:rPr dirty="0" spc="-125"/>
              <a:t>does</a:t>
            </a:r>
            <a:r>
              <a:rPr dirty="0" spc="-120"/>
              <a:t> </a:t>
            </a:r>
            <a:r>
              <a:rPr dirty="0" spc="-90"/>
              <a:t>the</a:t>
            </a:r>
            <a:r>
              <a:rPr dirty="0" spc="-120"/>
              <a:t> </a:t>
            </a:r>
            <a:r>
              <a:rPr dirty="0" spc="-100"/>
              <a:t>corpus</a:t>
            </a:r>
            <a:r>
              <a:rPr dirty="0" spc="-120"/>
              <a:t> </a:t>
            </a:r>
            <a:r>
              <a:rPr dirty="0" spc="-10"/>
              <a:t>capture</a:t>
            </a:r>
          </a:p>
        </p:txBody>
      </p:sp>
      <p:sp>
        <p:nvSpPr>
          <p:cNvPr id="5" name="object 5" descr=""/>
          <p:cNvSpPr/>
          <p:nvPr/>
        </p:nvSpPr>
        <p:spPr>
          <a:xfrm>
            <a:off x="798575" y="1987295"/>
            <a:ext cx="4940935" cy="463550"/>
          </a:xfrm>
          <a:custGeom>
            <a:avLst/>
            <a:gdLst/>
            <a:ahLst/>
            <a:cxnLst/>
            <a:rect l="l" t="t" r="r" b="b"/>
            <a:pathLst>
              <a:path w="4940935" h="463550">
                <a:moveTo>
                  <a:pt x="4940807" y="463295"/>
                </a:moveTo>
                <a:lnTo>
                  <a:pt x="0" y="463295"/>
                </a:lnTo>
                <a:lnTo>
                  <a:pt x="0" y="0"/>
                </a:lnTo>
                <a:lnTo>
                  <a:pt x="4940807" y="0"/>
                </a:lnTo>
                <a:lnTo>
                  <a:pt x="4940807" y="463295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789308" y="1903358"/>
            <a:ext cx="4907280" cy="5067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150" spc="-150" b="1">
                <a:solidFill>
                  <a:srgbClr val="60A5FA"/>
                </a:solidFill>
                <a:latin typeface="Tahoma"/>
                <a:cs typeface="Tahoma"/>
              </a:rPr>
              <a:t>language</a:t>
            </a:r>
            <a:r>
              <a:rPr dirty="0" sz="3150" spc="-95" b="1">
                <a:solidFill>
                  <a:srgbClr val="60A5FA"/>
                </a:solidFill>
                <a:latin typeface="Tahoma"/>
                <a:cs typeface="Tahoma"/>
              </a:rPr>
              <a:t> </a:t>
            </a:r>
            <a:r>
              <a:rPr dirty="0" sz="3150" spc="-65" b="1">
                <a:solidFill>
                  <a:srgbClr val="60A5FA"/>
                </a:solidFill>
                <a:latin typeface="Tahoma"/>
                <a:cs typeface="Tahoma"/>
              </a:rPr>
              <a:t>contact</a:t>
            </a:r>
            <a:r>
              <a:rPr dirty="0" sz="3150" spc="-90" b="1">
                <a:solidFill>
                  <a:srgbClr val="60A5FA"/>
                </a:solidFill>
                <a:latin typeface="Tahoma"/>
                <a:cs typeface="Tahoma"/>
              </a:rPr>
              <a:t> </a:t>
            </a:r>
            <a:r>
              <a:rPr dirty="0" sz="3150" spc="-65" b="1">
                <a:solidFill>
                  <a:srgbClr val="60A5FA"/>
                </a:solidFill>
                <a:latin typeface="Tahoma"/>
                <a:cs typeface="Tahoma"/>
              </a:rPr>
              <a:t>effects?</a:t>
            </a:r>
            <a:endParaRPr sz="3150">
              <a:latin typeface="Tahoma"/>
              <a:cs typeface="Tahoma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3428178"/>
            <a:ext cx="91896" cy="9189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3987913"/>
            <a:ext cx="91896" cy="91896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4547649"/>
            <a:ext cx="91896" cy="91896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572097" y="2563344"/>
            <a:ext cx="4953000" cy="21844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Contact</a:t>
            </a:r>
            <a:r>
              <a:rPr dirty="0" sz="2100" spc="-13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linguistics:</a:t>
            </a:r>
            <a:endParaRPr sz="2100">
              <a:latin typeface="Tahoma"/>
              <a:cs typeface="Tahoma"/>
            </a:endParaRPr>
          </a:p>
          <a:p>
            <a:pPr marL="346710" marR="5080">
              <a:lnSpc>
                <a:spcPct val="174900"/>
              </a:lnSpc>
              <a:spcBef>
                <a:spcPts val="1250"/>
              </a:spcBef>
            </a:pPr>
            <a:r>
              <a:rPr dirty="0" sz="2100" spc="125">
                <a:solidFill>
                  <a:srgbClr val="F7FAFB"/>
                </a:solidFill>
                <a:latin typeface="Tahoma"/>
                <a:cs typeface="Tahoma"/>
              </a:rPr>
              <a:t>What</a:t>
            </a:r>
            <a:r>
              <a:rPr dirty="0" sz="2100" spc="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is</a:t>
            </a:r>
            <a:r>
              <a:rPr dirty="0" sz="2100" spc="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14">
                <a:solidFill>
                  <a:srgbClr val="F7FAFB"/>
                </a:solidFill>
                <a:latin typeface="Tahoma"/>
                <a:cs typeface="Tahoma"/>
              </a:rPr>
              <a:t>written</a:t>
            </a:r>
            <a:r>
              <a:rPr dirty="0" sz="2100" spc="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language</a:t>
            </a:r>
            <a:r>
              <a:rPr dirty="0" sz="2100" spc="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contact? </a:t>
            </a:r>
            <a:r>
              <a:rPr dirty="0" sz="2100" spc="130">
                <a:solidFill>
                  <a:srgbClr val="F7FAFB"/>
                </a:solidFill>
                <a:latin typeface="Tahoma"/>
                <a:cs typeface="Tahoma"/>
              </a:rPr>
              <a:t>How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do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translations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create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contact? </a:t>
            </a:r>
            <a:r>
              <a:rPr dirty="0" sz="2100" spc="125">
                <a:solidFill>
                  <a:srgbClr val="F7FAFB"/>
                </a:solidFill>
                <a:latin typeface="Tahoma"/>
                <a:cs typeface="Tahoma"/>
              </a:rPr>
              <a:t>What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types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of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contact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can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0">
                <a:solidFill>
                  <a:srgbClr val="F7FAFB"/>
                </a:solidFill>
                <a:latin typeface="Tahoma"/>
                <a:cs typeface="Tahoma"/>
              </a:rPr>
              <a:t>we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40">
                <a:solidFill>
                  <a:srgbClr val="F7FAFB"/>
                </a:solidFill>
                <a:latin typeface="Tahoma"/>
                <a:cs typeface="Tahoma"/>
              </a:rPr>
              <a:t>study?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543560"/>
          </a:xfrm>
          <a:custGeom>
            <a:avLst/>
            <a:gdLst/>
            <a:ahLst/>
            <a:cxnLst/>
            <a:rect l="l" t="t" r="r" b="b"/>
            <a:pathLst>
              <a:path w="50165" h="543560">
                <a:moveTo>
                  <a:pt x="50125" y="543026"/>
                </a:moveTo>
                <a:lnTo>
                  <a:pt x="0" y="543026"/>
                </a:lnTo>
                <a:lnTo>
                  <a:pt x="0" y="0"/>
                </a:lnTo>
                <a:lnTo>
                  <a:pt x="50125" y="0"/>
                </a:lnTo>
                <a:lnTo>
                  <a:pt x="50125" y="543026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74191" y="1444752"/>
            <a:ext cx="7690484" cy="463550"/>
          </a:xfrm>
          <a:custGeom>
            <a:avLst/>
            <a:gdLst/>
            <a:ahLst/>
            <a:cxnLst/>
            <a:rect l="l" t="t" r="r" b="b"/>
            <a:pathLst>
              <a:path w="7690484" h="463550">
                <a:moveTo>
                  <a:pt x="7690103" y="463295"/>
                </a:moveTo>
                <a:lnTo>
                  <a:pt x="0" y="463295"/>
                </a:lnTo>
                <a:lnTo>
                  <a:pt x="0" y="0"/>
                </a:lnTo>
                <a:lnTo>
                  <a:pt x="7690103" y="0"/>
                </a:lnTo>
                <a:lnTo>
                  <a:pt x="7690103" y="463295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89308" y="1360331"/>
            <a:ext cx="7635240" cy="5067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Written</a:t>
            </a:r>
            <a:r>
              <a:rPr dirty="0" spc="-150"/>
              <a:t> </a:t>
            </a:r>
            <a:r>
              <a:rPr dirty="0" spc="-160"/>
              <a:t>Language</a:t>
            </a:r>
            <a:r>
              <a:rPr dirty="0" spc="-145"/>
              <a:t> </a:t>
            </a:r>
            <a:r>
              <a:rPr dirty="0" spc="-65"/>
              <a:t>Contact:</a:t>
            </a:r>
            <a:r>
              <a:rPr dirty="0" spc="-145"/>
              <a:t> </a:t>
            </a:r>
            <a:r>
              <a:rPr dirty="0" spc="150"/>
              <a:t>A</a:t>
            </a:r>
            <a:r>
              <a:rPr dirty="0" spc="-145"/>
              <a:t> </a:t>
            </a:r>
            <a:r>
              <a:rPr dirty="0" spc="-45"/>
              <a:t>Key</a:t>
            </a:r>
            <a:r>
              <a:rPr dirty="0" spc="-145"/>
              <a:t> </a:t>
            </a:r>
            <a:r>
              <a:rPr dirty="0" spc="-40"/>
              <a:t>Focus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2885151"/>
            <a:ext cx="91896" cy="91896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3444887"/>
            <a:ext cx="91896" cy="9189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4004622"/>
            <a:ext cx="91896" cy="91896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572097" y="2020317"/>
            <a:ext cx="9466580" cy="4624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 spc="50">
                <a:solidFill>
                  <a:srgbClr val="F7FAFB"/>
                </a:solidFill>
                <a:latin typeface="Tahoma"/>
                <a:cs typeface="Tahoma"/>
              </a:rPr>
              <a:t>The</a:t>
            </a:r>
            <a:r>
              <a:rPr dirty="0" sz="2100" spc="-10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corpus</a:t>
            </a:r>
            <a:r>
              <a:rPr dirty="0" sz="2100" spc="-10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is</a:t>
            </a:r>
            <a:r>
              <a:rPr dirty="0" sz="2100" spc="-10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0">
                <a:solidFill>
                  <a:srgbClr val="F7FAFB"/>
                </a:solidFill>
                <a:latin typeface="Tahoma"/>
                <a:cs typeface="Tahoma"/>
              </a:rPr>
              <a:t>designed</a:t>
            </a:r>
            <a:r>
              <a:rPr dirty="0" sz="2100" spc="-10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to</a:t>
            </a:r>
            <a:r>
              <a:rPr dirty="0" sz="2100" spc="-10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analyze</a:t>
            </a:r>
            <a:r>
              <a:rPr dirty="0" sz="2100" spc="-10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written</a:t>
            </a:r>
            <a:r>
              <a:rPr dirty="0" sz="2100" spc="-5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70" b="1">
                <a:solidFill>
                  <a:srgbClr val="FBD34D"/>
                </a:solidFill>
                <a:latin typeface="Tahoma"/>
                <a:cs typeface="Tahoma"/>
              </a:rPr>
              <a:t>language</a:t>
            </a:r>
            <a:r>
              <a:rPr dirty="0" sz="2100" spc="-6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contact</a:t>
            </a:r>
            <a:r>
              <a:rPr dirty="0" sz="2100" spc="-6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40">
                <a:solidFill>
                  <a:srgbClr val="F7FAFB"/>
                </a:solidFill>
                <a:latin typeface="Tahoma"/>
                <a:cs typeface="Tahoma"/>
              </a:rPr>
              <a:t>through:</a:t>
            </a:r>
            <a:endParaRPr sz="2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sz="2100">
              <a:latin typeface="Tahoma"/>
              <a:cs typeface="Tahoma"/>
            </a:endParaRPr>
          </a:p>
          <a:p>
            <a:pPr marL="346710">
              <a:lnSpc>
                <a:spcPct val="100000"/>
              </a:lnSpc>
            </a:pPr>
            <a:r>
              <a:rPr dirty="0" sz="2100" spc="-35" b="1">
                <a:solidFill>
                  <a:srgbClr val="FBD34D"/>
                </a:solidFill>
                <a:latin typeface="Tahoma"/>
                <a:cs typeface="Tahoma"/>
              </a:rPr>
              <a:t>Translation-</a:t>
            </a:r>
            <a:r>
              <a:rPr dirty="0" sz="2100" spc="-55" b="1">
                <a:solidFill>
                  <a:srgbClr val="FBD34D"/>
                </a:solidFill>
                <a:latin typeface="Tahoma"/>
                <a:cs typeface="Tahoma"/>
              </a:rPr>
              <a:t>based</a:t>
            </a:r>
            <a:r>
              <a:rPr dirty="0" sz="2100" spc="1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interactions</a:t>
            </a:r>
            <a:endParaRPr sz="2100">
              <a:latin typeface="Tahoma"/>
              <a:cs typeface="Tahoma"/>
            </a:endParaRPr>
          </a:p>
          <a:p>
            <a:pPr marL="346710">
              <a:lnSpc>
                <a:spcPct val="100000"/>
              </a:lnSpc>
              <a:spcBef>
                <a:spcPts val="1890"/>
              </a:spcBef>
            </a:pPr>
            <a:r>
              <a:rPr dirty="0" sz="2100" spc="-45" b="1">
                <a:solidFill>
                  <a:srgbClr val="FBD34D"/>
                </a:solidFill>
                <a:latin typeface="Tahoma"/>
                <a:cs typeface="Tahoma"/>
              </a:rPr>
              <a:t>Interlingual</a:t>
            </a:r>
            <a:r>
              <a:rPr dirty="0" sz="2100" spc="-5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contact</a:t>
            </a:r>
            <a:r>
              <a:rPr dirty="0" sz="2100" spc="-5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60">
                <a:solidFill>
                  <a:srgbClr val="F7FAFB"/>
                </a:solidFill>
                <a:latin typeface="Tahoma"/>
                <a:cs typeface="Tahoma"/>
              </a:rPr>
              <a:t>(between</a:t>
            </a:r>
            <a:r>
              <a:rPr dirty="0" sz="2100" spc="-10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5">
                <a:solidFill>
                  <a:srgbClr val="F7FAFB"/>
                </a:solidFill>
                <a:latin typeface="Tahoma"/>
                <a:cs typeface="Tahoma"/>
              </a:rPr>
              <a:t>different</a:t>
            </a:r>
            <a:r>
              <a:rPr dirty="0" sz="2100" spc="-9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10">
                <a:solidFill>
                  <a:srgbClr val="F7FAFB"/>
                </a:solidFill>
                <a:latin typeface="Tahoma"/>
                <a:cs typeface="Tahoma"/>
              </a:rPr>
              <a:t>languages)</a:t>
            </a:r>
            <a:endParaRPr sz="2100">
              <a:latin typeface="Tahoma"/>
              <a:cs typeface="Tahoma"/>
            </a:endParaRPr>
          </a:p>
          <a:p>
            <a:pPr marL="346710">
              <a:lnSpc>
                <a:spcPct val="100000"/>
              </a:lnSpc>
              <a:spcBef>
                <a:spcPts val="1885"/>
              </a:spcBef>
            </a:pPr>
            <a:r>
              <a:rPr dirty="0" sz="2100" spc="-50" b="1">
                <a:solidFill>
                  <a:srgbClr val="FBD34D"/>
                </a:solidFill>
                <a:latin typeface="Tahoma"/>
                <a:cs typeface="Tahoma"/>
              </a:rPr>
              <a:t>Intralingual</a:t>
            </a:r>
            <a:r>
              <a:rPr dirty="0" sz="2100" spc="1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contact</a:t>
            </a:r>
            <a:r>
              <a:rPr dirty="0" sz="2100" spc="2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(within</a:t>
            </a:r>
            <a:r>
              <a:rPr dirty="0" sz="2100" spc="-3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the</a:t>
            </a:r>
            <a:r>
              <a:rPr dirty="0" sz="2100" spc="-2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same</a:t>
            </a:r>
            <a:r>
              <a:rPr dirty="0" sz="2100" spc="-2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language</a:t>
            </a:r>
            <a:r>
              <a:rPr dirty="0" sz="2100" spc="-3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over</a:t>
            </a:r>
            <a:r>
              <a:rPr dirty="0" sz="2100" spc="-2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10">
                <a:solidFill>
                  <a:srgbClr val="F7FAFB"/>
                </a:solidFill>
                <a:latin typeface="Tahoma"/>
                <a:cs typeface="Tahoma"/>
              </a:rPr>
              <a:t>time)</a:t>
            </a:r>
            <a:endParaRPr sz="2100">
              <a:latin typeface="Tahoma"/>
              <a:cs typeface="Tahoma"/>
            </a:endParaRPr>
          </a:p>
          <a:p>
            <a:pPr marL="12700" marR="5080">
              <a:lnSpc>
                <a:spcPct val="133800"/>
              </a:lnSpc>
              <a:spcBef>
                <a:spcPts val="2350"/>
              </a:spcBef>
            </a:pPr>
            <a:r>
              <a:rPr dirty="0" sz="2100" spc="140">
                <a:solidFill>
                  <a:srgbClr val="F7FAFB"/>
                </a:solidFill>
                <a:latin typeface="Tahoma"/>
                <a:cs typeface="Tahoma"/>
              </a:rPr>
              <a:t>Written</a:t>
            </a:r>
            <a:r>
              <a:rPr dirty="0" sz="2100" spc="-3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language</a:t>
            </a:r>
            <a:r>
              <a:rPr dirty="0" sz="2100" spc="-3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contact</a:t>
            </a:r>
            <a:r>
              <a:rPr dirty="0" sz="2100" spc="-3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occurs</a:t>
            </a:r>
            <a:r>
              <a:rPr dirty="0" sz="2100" spc="-3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when</a:t>
            </a:r>
            <a:r>
              <a:rPr dirty="0" sz="2100" spc="-3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5">
                <a:solidFill>
                  <a:srgbClr val="F7FAFB"/>
                </a:solidFill>
                <a:latin typeface="Tahoma"/>
                <a:cs typeface="Tahoma"/>
              </a:rPr>
              <a:t>translators</a:t>
            </a:r>
            <a:r>
              <a:rPr dirty="0" sz="2100" spc="-3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transfer</a:t>
            </a:r>
            <a:r>
              <a:rPr dirty="0" sz="2100" spc="-3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5">
                <a:solidFill>
                  <a:srgbClr val="F7FAFB"/>
                </a:solidFill>
                <a:latin typeface="Tahoma"/>
                <a:cs typeface="Tahoma"/>
              </a:rPr>
              <a:t>structures</a:t>
            </a:r>
            <a:r>
              <a:rPr dirty="0" sz="2100" spc="-3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from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source</a:t>
            </a:r>
            <a:r>
              <a:rPr dirty="0" sz="2100" spc="-4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to</a:t>
            </a:r>
            <a:r>
              <a:rPr dirty="0" sz="2100" spc="-4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target</a:t>
            </a:r>
            <a:r>
              <a:rPr dirty="0" sz="2100" spc="-4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languages,</a:t>
            </a:r>
            <a:r>
              <a:rPr dirty="0" sz="2100" spc="-4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creating</a:t>
            </a:r>
            <a:r>
              <a:rPr dirty="0" sz="2100" spc="-4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non-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native</a:t>
            </a:r>
            <a:r>
              <a:rPr dirty="0" sz="2100" spc="-4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patterns.</a:t>
            </a:r>
            <a:r>
              <a:rPr dirty="0" sz="2100" spc="-4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0">
                <a:solidFill>
                  <a:srgbClr val="F7FAFB"/>
                </a:solidFill>
                <a:latin typeface="Tahoma"/>
                <a:cs typeface="Tahoma"/>
              </a:rPr>
              <a:t>The</a:t>
            </a:r>
            <a:r>
              <a:rPr dirty="0" sz="2100" spc="-4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corpus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structure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captures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these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effects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by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0">
                <a:solidFill>
                  <a:srgbClr val="F7FAFB"/>
                </a:solidFill>
                <a:latin typeface="Tahoma"/>
                <a:cs typeface="Tahoma"/>
              </a:rPr>
              <a:t>aligning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parallel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texts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5">
                <a:solidFill>
                  <a:srgbClr val="F7FAFB"/>
                </a:solidFill>
                <a:latin typeface="Tahoma"/>
                <a:cs typeface="Tahoma"/>
              </a:rPr>
              <a:t>with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metadata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indicating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translation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direction.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For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instance,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in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the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45">
                <a:solidFill>
                  <a:srgbClr val="F7FAFB"/>
                </a:solidFill>
                <a:latin typeface="Tahoma"/>
                <a:cs typeface="Tahoma"/>
              </a:rPr>
              <a:t>corpus,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the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0">
                <a:solidFill>
                  <a:srgbClr val="F7FAFB"/>
                </a:solidFill>
                <a:latin typeface="Tahoma"/>
                <a:cs typeface="Tahoma"/>
              </a:rPr>
              <a:t>Septuagint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(Hebrew</a:t>
            </a:r>
            <a:r>
              <a:rPr dirty="0" sz="2100" spc="90">
                <a:solidFill>
                  <a:srgbClr val="F7FAFB"/>
                </a:solidFill>
                <a:latin typeface="Segoe UI"/>
                <a:cs typeface="Segoe UI"/>
              </a:rPr>
              <a:t>→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Greek)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0">
                <a:solidFill>
                  <a:srgbClr val="F7FAFB"/>
                </a:solidFill>
                <a:latin typeface="Tahoma"/>
                <a:cs typeface="Tahoma"/>
              </a:rPr>
              <a:t>shows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5">
                <a:solidFill>
                  <a:srgbClr val="F7FAFB"/>
                </a:solidFill>
                <a:latin typeface="Tahoma"/>
                <a:cs typeface="Tahoma"/>
              </a:rPr>
              <a:t>different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contact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effects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than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Byzantine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5">
                <a:solidFill>
                  <a:srgbClr val="F7FAFB"/>
                </a:solidFill>
                <a:latin typeface="Tahoma"/>
                <a:cs typeface="Tahoma"/>
              </a:rPr>
              <a:t>Greek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1086485"/>
          </a:xfrm>
          <a:custGeom>
            <a:avLst/>
            <a:gdLst/>
            <a:ahLst/>
            <a:cxnLst/>
            <a:rect l="l" t="t" r="r" b="b"/>
            <a:pathLst>
              <a:path w="50165" h="1086485">
                <a:moveTo>
                  <a:pt x="50125" y="1086053"/>
                </a:moveTo>
                <a:lnTo>
                  <a:pt x="0" y="1086053"/>
                </a:lnTo>
                <a:lnTo>
                  <a:pt x="0" y="0"/>
                </a:lnTo>
                <a:lnTo>
                  <a:pt x="50125" y="0"/>
                </a:lnTo>
                <a:lnTo>
                  <a:pt x="50125" y="1086053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83336" y="1444752"/>
            <a:ext cx="8644255" cy="445134"/>
          </a:xfrm>
          <a:custGeom>
            <a:avLst/>
            <a:gdLst/>
            <a:ahLst/>
            <a:cxnLst/>
            <a:rect l="l" t="t" r="r" b="b"/>
            <a:pathLst>
              <a:path w="8644255" h="445135">
                <a:moveTo>
                  <a:pt x="8644127" y="445007"/>
                </a:moveTo>
                <a:lnTo>
                  <a:pt x="0" y="445007"/>
                </a:lnTo>
                <a:lnTo>
                  <a:pt x="0" y="0"/>
                </a:lnTo>
                <a:lnTo>
                  <a:pt x="8644127" y="0"/>
                </a:lnTo>
                <a:lnTo>
                  <a:pt x="8644127" y="445007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75"/>
              <a:t>Question:</a:t>
            </a:r>
            <a:r>
              <a:rPr dirty="0" spc="-135"/>
              <a:t> </a:t>
            </a:r>
            <a:r>
              <a:rPr dirty="0"/>
              <a:t>What</a:t>
            </a:r>
            <a:r>
              <a:rPr dirty="0" spc="-130"/>
              <a:t> </a:t>
            </a:r>
            <a:r>
              <a:rPr dirty="0" spc="-100"/>
              <a:t>metadata</a:t>
            </a:r>
            <a:r>
              <a:rPr dirty="0" spc="-135"/>
              <a:t> </a:t>
            </a:r>
            <a:r>
              <a:rPr dirty="0" spc="-125"/>
              <a:t>does</a:t>
            </a:r>
            <a:r>
              <a:rPr dirty="0" spc="-130"/>
              <a:t> </a:t>
            </a:r>
            <a:r>
              <a:rPr dirty="0" spc="-120"/>
              <a:t>each</a:t>
            </a:r>
            <a:r>
              <a:rPr dirty="0" spc="-130"/>
              <a:t> </a:t>
            </a:r>
            <a:r>
              <a:rPr dirty="0" spc="-55"/>
              <a:t>text</a:t>
            </a:r>
            <a:r>
              <a:rPr dirty="0" spc="-135"/>
              <a:t> </a:t>
            </a:r>
            <a:r>
              <a:rPr dirty="0" spc="-20"/>
              <a:t>file</a:t>
            </a:r>
          </a:p>
        </p:txBody>
      </p:sp>
      <p:sp>
        <p:nvSpPr>
          <p:cNvPr id="5" name="object 5" descr=""/>
          <p:cNvSpPr/>
          <p:nvPr/>
        </p:nvSpPr>
        <p:spPr>
          <a:xfrm>
            <a:off x="783336" y="1987295"/>
            <a:ext cx="1710055" cy="396240"/>
          </a:xfrm>
          <a:custGeom>
            <a:avLst/>
            <a:gdLst/>
            <a:ahLst/>
            <a:cxnLst/>
            <a:rect l="l" t="t" r="r" b="b"/>
            <a:pathLst>
              <a:path w="1710055" h="396239">
                <a:moveTo>
                  <a:pt x="1709927" y="396239"/>
                </a:moveTo>
                <a:lnTo>
                  <a:pt x="0" y="396239"/>
                </a:lnTo>
                <a:lnTo>
                  <a:pt x="0" y="0"/>
                </a:lnTo>
                <a:lnTo>
                  <a:pt x="1709927" y="0"/>
                </a:lnTo>
                <a:lnTo>
                  <a:pt x="1709927" y="39623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789308" y="1903358"/>
            <a:ext cx="1659255" cy="5067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150" spc="-90" b="1">
                <a:solidFill>
                  <a:srgbClr val="60A5FA"/>
                </a:solidFill>
                <a:latin typeface="Tahoma"/>
                <a:cs typeface="Tahoma"/>
              </a:rPr>
              <a:t>contain?</a:t>
            </a:r>
            <a:endParaRPr sz="3150">
              <a:latin typeface="Tahoma"/>
              <a:cs typeface="Tahoma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3428178"/>
            <a:ext cx="91896" cy="9189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3987913"/>
            <a:ext cx="91896" cy="91896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4547649"/>
            <a:ext cx="91896" cy="91896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572097" y="2563344"/>
            <a:ext cx="5117465" cy="21844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Metadata</a:t>
            </a:r>
            <a:r>
              <a:rPr dirty="0" sz="2100" spc="-10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questions:</a:t>
            </a:r>
            <a:endParaRPr sz="2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sz="2100">
              <a:latin typeface="Tahoma"/>
              <a:cs typeface="Tahoma"/>
            </a:endParaRPr>
          </a:p>
          <a:p>
            <a:pPr marL="346710">
              <a:lnSpc>
                <a:spcPct val="100000"/>
              </a:lnSpc>
            </a:pPr>
            <a:r>
              <a:rPr dirty="0" sz="2100" spc="125">
                <a:solidFill>
                  <a:srgbClr val="F7FAFB"/>
                </a:solidFill>
                <a:latin typeface="Tahoma"/>
                <a:cs typeface="Tahoma"/>
              </a:rPr>
              <a:t>What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5">
                <a:solidFill>
                  <a:srgbClr val="F7FAFB"/>
                </a:solidFill>
                <a:latin typeface="Tahoma"/>
                <a:cs typeface="Tahoma"/>
              </a:rPr>
              <a:t>information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is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0">
                <a:solidFill>
                  <a:srgbClr val="F7FAFB"/>
                </a:solidFill>
                <a:latin typeface="Tahoma"/>
                <a:cs typeface="Tahoma"/>
              </a:rPr>
              <a:t>tracked?</a:t>
            </a:r>
            <a:endParaRPr sz="2100">
              <a:latin typeface="Tahoma"/>
              <a:cs typeface="Tahoma"/>
            </a:endParaRPr>
          </a:p>
          <a:p>
            <a:pPr marL="346710" marR="5080">
              <a:lnSpc>
                <a:spcPct val="174900"/>
              </a:lnSpc>
            </a:pPr>
            <a:r>
              <a:rPr dirty="0" sz="2100" spc="130">
                <a:solidFill>
                  <a:srgbClr val="F7FAFB"/>
                </a:solidFill>
                <a:latin typeface="Tahoma"/>
                <a:cs typeface="Tahoma"/>
              </a:rPr>
              <a:t>How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is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translation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5">
                <a:solidFill>
                  <a:srgbClr val="F7FAFB"/>
                </a:solidFill>
                <a:latin typeface="Tahoma"/>
                <a:cs typeface="Tahoma"/>
              </a:rPr>
              <a:t>direction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40">
                <a:solidFill>
                  <a:srgbClr val="F7FAFB"/>
                </a:solidFill>
                <a:latin typeface="Tahoma"/>
                <a:cs typeface="Tahoma"/>
              </a:rPr>
              <a:t>encoded? </a:t>
            </a:r>
            <a:r>
              <a:rPr dirty="0" sz="2100" spc="120">
                <a:solidFill>
                  <a:srgbClr val="F7FAFB"/>
                </a:solidFill>
                <a:latin typeface="Tahoma"/>
                <a:cs typeface="Tahoma"/>
              </a:rPr>
              <a:t>Why</a:t>
            </a:r>
            <a:r>
              <a:rPr dirty="0" sz="2100" spc="-9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is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this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metadata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crucial?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543560"/>
          </a:xfrm>
          <a:custGeom>
            <a:avLst/>
            <a:gdLst/>
            <a:ahLst/>
            <a:cxnLst/>
            <a:rect l="l" t="t" r="r" b="b"/>
            <a:pathLst>
              <a:path w="50165" h="543560">
                <a:moveTo>
                  <a:pt x="50125" y="543026"/>
                </a:moveTo>
                <a:lnTo>
                  <a:pt x="0" y="543026"/>
                </a:lnTo>
                <a:lnTo>
                  <a:pt x="0" y="0"/>
                </a:lnTo>
                <a:lnTo>
                  <a:pt x="50125" y="0"/>
                </a:lnTo>
                <a:lnTo>
                  <a:pt x="50125" y="543026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584797" y="2166685"/>
            <a:ext cx="9524365" cy="1253490"/>
          </a:xfrm>
          <a:custGeom>
            <a:avLst/>
            <a:gdLst/>
            <a:ahLst/>
            <a:cxnLst/>
            <a:rect l="l" t="t" r="r" b="b"/>
            <a:pathLst>
              <a:path w="9524365" h="1253489">
                <a:moveTo>
                  <a:pt x="9523853" y="1253138"/>
                </a:moveTo>
                <a:lnTo>
                  <a:pt x="0" y="1253138"/>
                </a:lnTo>
                <a:lnTo>
                  <a:pt x="0" y="0"/>
                </a:lnTo>
                <a:lnTo>
                  <a:pt x="9523853" y="0"/>
                </a:lnTo>
                <a:lnTo>
                  <a:pt x="9523853" y="1253138"/>
                </a:lnTo>
                <a:close/>
              </a:path>
            </a:pathLst>
          </a:custGeom>
          <a:solidFill>
            <a:srgbClr val="4559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780287" y="1444752"/>
            <a:ext cx="7068820" cy="457200"/>
          </a:xfrm>
          <a:custGeom>
            <a:avLst/>
            <a:gdLst/>
            <a:ahLst/>
            <a:cxnLst/>
            <a:rect l="l" t="t" r="r" b="b"/>
            <a:pathLst>
              <a:path w="7068820" h="457200">
                <a:moveTo>
                  <a:pt x="7068311" y="457199"/>
                </a:moveTo>
                <a:lnTo>
                  <a:pt x="0" y="457199"/>
                </a:lnTo>
                <a:lnTo>
                  <a:pt x="0" y="0"/>
                </a:lnTo>
                <a:lnTo>
                  <a:pt x="7068311" y="0"/>
                </a:lnTo>
                <a:lnTo>
                  <a:pt x="7068311" y="45719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89308" y="1360331"/>
            <a:ext cx="7020559" cy="5067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80"/>
              <a:t>Corpus</a:t>
            </a:r>
            <a:r>
              <a:rPr dirty="0" spc="-130"/>
              <a:t> </a:t>
            </a:r>
            <a:r>
              <a:rPr dirty="0" spc="-35"/>
              <a:t>Metadata</a:t>
            </a:r>
            <a:r>
              <a:rPr dirty="0" spc="-130"/>
              <a:t> </a:t>
            </a:r>
            <a:r>
              <a:rPr dirty="0" spc="-75"/>
              <a:t>Structure</a:t>
            </a:r>
            <a:r>
              <a:rPr dirty="0" spc="-130"/>
              <a:t> </a:t>
            </a:r>
            <a:r>
              <a:rPr dirty="0" spc="-45"/>
              <a:t>Example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572097" y="3435529"/>
            <a:ext cx="8606155" cy="2164715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12700" marR="5080">
              <a:lnSpc>
                <a:spcPct val="133800"/>
              </a:lnSpc>
              <a:spcBef>
                <a:spcPts val="80"/>
              </a:spcBef>
            </a:pPr>
            <a:r>
              <a:rPr dirty="0" sz="2100" spc="60">
                <a:solidFill>
                  <a:srgbClr val="F7FAFB"/>
                </a:solidFill>
                <a:latin typeface="Tahoma"/>
                <a:cs typeface="Tahoma"/>
              </a:rPr>
              <a:t>Each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text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file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includes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comprehensive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metadata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enabling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filtering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25">
                <a:solidFill>
                  <a:srgbClr val="F7FAFB"/>
                </a:solidFill>
                <a:latin typeface="Tahoma"/>
                <a:cs typeface="Tahoma"/>
              </a:rPr>
              <a:t>by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translation</a:t>
            </a:r>
            <a:r>
              <a:rPr dirty="0" sz="2100" spc="1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type,</a:t>
            </a:r>
            <a:r>
              <a:rPr dirty="0" sz="2100" spc="2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date,</a:t>
            </a:r>
            <a:r>
              <a:rPr dirty="0" sz="2100" spc="1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register,</a:t>
            </a:r>
            <a:r>
              <a:rPr dirty="0" sz="2100" spc="2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and</a:t>
            </a:r>
            <a:r>
              <a:rPr dirty="0" sz="2100" spc="1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source</a:t>
            </a:r>
            <a:r>
              <a:rPr dirty="0" sz="2100" spc="2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language.</a:t>
            </a:r>
            <a:r>
              <a:rPr dirty="0" sz="2100" spc="2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This</a:t>
            </a:r>
            <a:r>
              <a:rPr dirty="0" sz="2100" spc="1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metadata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structure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is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crucial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for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distinguishing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genuine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 language change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from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translation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0">
                <a:solidFill>
                  <a:srgbClr val="F7FAFB"/>
                </a:solidFill>
                <a:latin typeface="Tahoma"/>
                <a:cs typeface="Tahoma"/>
              </a:rPr>
              <a:t>effects.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Researchers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can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query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the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corpus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to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0">
                <a:solidFill>
                  <a:srgbClr val="F7FAFB"/>
                </a:solidFill>
                <a:latin typeface="Tahoma"/>
                <a:cs typeface="Tahoma"/>
              </a:rPr>
              <a:t>exclude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translations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or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specifically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target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them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for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contact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45">
                <a:solidFill>
                  <a:srgbClr val="F7FAFB"/>
                </a:solidFill>
                <a:latin typeface="Tahoma"/>
                <a:cs typeface="Tahoma"/>
              </a:rPr>
              <a:t>studies.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1086485"/>
          </a:xfrm>
          <a:custGeom>
            <a:avLst/>
            <a:gdLst/>
            <a:ahLst/>
            <a:cxnLst/>
            <a:rect l="l" t="t" r="r" b="b"/>
            <a:pathLst>
              <a:path w="50165" h="1086485">
                <a:moveTo>
                  <a:pt x="50125" y="1086053"/>
                </a:moveTo>
                <a:lnTo>
                  <a:pt x="0" y="1086053"/>
                </a:lnTo>
                <a:lnTo>
                  <a:pt x="0" y="0"/>
                </a:lnTo>
                <a:lnTo>
                  <a:pt x="50125" y="0"/>
                </a:lnTo>
                <a:lnTo>
                  <a:pt x="50125" y="1086053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83336" y="1444752"/>
            <a:ext cx="8918575" cy="457200"/>
          </a:xfrm>
          <a:custGeom>
            <a:avLst/>
            <a:gdLst/>
            <a:ahLst/>
            <a:cxnLst/>
            <a:rect l="l" t="t" r="r" b="b"/>
            <a:pathLst>
              <a:path w="8918575" h="457200">
                <a:moveTo>
                  <a:pt x="8918447" y="457199"/>
                </a:moveTo>
                <a:lnTo>
                  <a:pt x="0" y="457199"/>
                </a:lnTo>
                <a:lnTo>
                  <a:pt x="0" y="0"/>
                </a:lnTo>
                <a:lnTo>
                  <a:pt x="8918447" y="0"/>
                </a:lnTo>
                <a:lnTo>
                  <a:pt x="8918447" y="45719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75"/>
              <a:t>Question:</a:t>
            </a:r>
            <a:r>
              <a:rPr dirty="0" spc="-150"/>
              <a:t> </a:t>
            </a:r>
            <a:r>
              <a:rPr dirty="0"/>
              <a:t>What</a:t>
            </a:r>
            <a:r>
              <a:rPr dirty="0" spc="-145"/>
              <a:t> </a:t>
            </a:r>
            <a:r>
              <a:rPr dirty="0" spc="-90"/>
              <a:t>are</a:t>
            </a:r>
            <a:r>
              <a:rPr dirty="0" spc="-145"/>
              <a:t> </a:t>
            </a:r>
            <a:r>
              <a:rPr dirty="0" spc="-65"/>
              <a:t>retranslations</a:t>
            </a:r>
            <a:r>
              <a:rPr dirty="0" spc="-150"/>
              <a:t> </a:t>
            </a:r>
            <a:r>
              <a:rPr dirty="0" spc="-135"/>
              <a:t>and</a:t>
            </a:r>
            <a:r>
              <a:rPr dirty="0" spc="-145"/>
              <a:t> </a:t>
            </a:r>
            <a:r>
              <a:rPr dirty="0" spc="-150"/>
              <a:t>why</a:t>
            </a:r>
            <a:r>
              <a:rPr dirty="0" spc="-145"/>
              <a:t> </a:t>
            </a:r>
            <a:r>
              <a:rPr dirty="0" spc="-25"/>
              <a:t>do</a:t>
            </a:r>
          </a:p>
        </p:txBody>
      </p:sp>
      <p:sp>
        <p:nvSpPr>
          <p:cNvPr id="5" name="object 5" descr=""/>
          <p:cNvSpPr/>
          <p:nvPr/>
        </p:nvSpPr>
        <p:spPr>
          <a:xfrm>
            <a:off x="780287" y="1987295"/>
            <a:ext cx="2539365" cy="457200"/>
          </a:xfrm>
          <a:custGeom>
            <a:avLst/>
            <a:gdLst/>
            <a:ahLst/>
            <a:cxnLst/>
            <a:rect l="l" t="t" r="r" b="b"/>
            <a:pathLst>
              <a:path w="2539365" h="457200">
                <a:moveTo>
                  <a:pt x="2538983" y="457199"/>
                </a:moveTo>
                <a:lnTo>
                  <a:pt x="0" y="457199"/>
                </a:lnTo>
                <a:lnTo>
                  <a:pt x="0" y="0"/>
                </a:lnTo>
                <a:lnTo>
                  <a:pt x="2538983" y="0"/>
                </a:lnTo>
                <a:lnTo>
                  <a:pt x="2538983" y="45719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789308" y="1903358"/>
            <a:ext cx="2485390" cy="5067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150" spc="-80" b="1">
                <a:solidFill>
                  <a:srgbClr val="60A5FA"/>
                </a:solidFill>
                <a:latin typeface="Tahoma"/>
                <a:cs typeface="Tahoma"/>
              </a:rPr>
              <a:t>they</a:t>
            </a:r>
            <a:r>
              <a:rPr dirty="0" sz="3150" spc="-160" b="1">
                <a:solidFill>
                  <a:srgbClr val="60A5FA"/>
                </a:solidFill>
                <a:latin typeface="Tahoma"/>
                <a:cs typeface="Tahoma"/>
              </a:rPr>
              <a:t> </a:t>
            </a:r>
            <a:r>
              <a:rPr dirty="0" sz="3150" spc="-90" b="1">
                <a:solidFill>
                  <a:srgbClr val="60A5FA"/>
                </a:solidFill>
                <a:latin typeface="Tahoma"/>
                <a:cs typeface="Tahoma"/>
              </a:rPr>
              <a:t>matter?</a:t>
            </a:r>
            <a:endParaRPr sz="3150">
              <a:latin typeface="Tahoma"/>
              <a:cs typeface="Tahoma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3428178"/>
            <a:ext cx="91896" cy="9189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3987913"/>
            <a:ext cx="91896" cy="91896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4547649"/>
            <a:ext cx="91896" cy="91896"/>
          </a:xfrm>
          <a:prstGeom prst="rect">
            <a:avLst/>
          </a:prstGeom>
        </p:spPr>
      </p:pic>
      <p:sp>
        <p:nvSpPr>
          <p:cNvPr id="10" name="object 10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20"/>
              <a:t>Retranslation</a:t>
            </a:r>
            <a:r>
              <a:rPr dirty="0" spc="-80"/>
              <a:t> </a:t>
            </a:r>
            <a:r>
              <a:rPr dirty="0" spc="-10"/>
              <a:t>concepts:</a:t>
            </a:r>
          </a:p>
          <a:p>
            <a:pPr marL="346710" marR="1819910">
              <a:lnSpc>
                <a:spcPct val="174900"/>
              </a:lnSpc>
              <a:spcBef>
                <a:spcPts val="1250"/>
              </a:spcBef>
            </a:pPr>
            <a:r>
              <a:rPr dirty="0" spc="130" b="0">
                <a:solidFill>
                  <a:srgbClr val="F7FAFB"/>
                </a:solidFill>
                <a:latin typeface="Tahoma"/>
                <a:cs typeface="Tahoma"/>
              </a:rPr>
              <a:t>How</a:t>
            </a:r>
            <a:r>
              <a:rPr dirty="0" spc="-90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70" b="0">
                <a:solidFill>
                  <a:srgbClr val="F7FAFB"/>
                </a:solidFill>
                <a:latin typeface="Tahoma"/>
                <a:cs typeface="Tahoma"/>
              </a:rPr>
              <a:t>are</a:t>
            </a:r>
            <a:r>
              <a:rPr dirty="0" spc="-85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75" b="0">
                <a:solidFill>
                  <a:srgbClr val="F7FAFB"/>
                </a:solidFill>
                <a:latin typeface="Tahoma"/>
                <a:cs typeface="Tahoma"/>
              </a:rPr>
              <a:t>they</a:t>
            </a:r>
            <a:r>
              <a:rPr dirty="0" spc="-85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50" b="0">
                <a:solidFill>
                  <a:srgbClr val="F7FAFB"/>
                </a:solidFill>
                <a:latin typeface="Tahoma"/>
                <a:cs typeface="Tahoma"/>
              </a:rPr>
              <a:t>defined? </a:t>
            </a:r>
            <a:r>
              <a:rPr dirty="0" spc="125" b="0">
                <a:solidFill>
                  <a:srgbClr val="F7FAFB"/>
                </a:solidFill>
                <a:latin typeface="Tahoma"/>
                <a:cs typeface="Tahoma"/>
              </a:rPr>
              <a:t>What</a:t>
            </a:r>
            <a:r>
              <a:rPr dirty="0" spc="-85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75" b="0">
                <a:solidFill>
                  <a:srgbClr val="F7FAFB"/>
                </a:solidFill>
                <a:latin typeface="Tahoma"/>
                <a:cs typeface="Tahoma"/>
              </a:rPr>
              <a:t>types</a:t>
            </a:r>
            <a:r>
              <a:rPr dirty="0" spc="-80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40" b="0">
                <a:solidFill>
                  <a:srgbClr val="F7FAFB"/>
                </a:solidFill>
                <a:latin typeface="Tahoma"/>
                <a:cs typeface="Tahoma"/>
              </a:rPr>
              <a:t>exist?</a:t>
            </a:r>
          </a:p>
          <a:p>
            <a:pPr marL="346710">
              <a:lnSpc>
                <a:spcPct val="100000"/>
              </a:lnSpc>
              <a:spcBef>
                <a:spcPts val="1885"/>
              </a:spcBef>
            </a:pPr>
            <a:r>
              <a:rPr dirty="0" spc="130" b="0">
                <a:solidFill>
                  <a:srgbClr val="F7FAFB"/>
                </a:solidFill>
                <a:latin typeface="Tahoma"/>
                <a:cs typeface="Tahoma"/>
              </a:rPr>
              <a:t>How</a:t>
            </a:r>
            <a:r>
              <a:rPr dirty="0" spc="-85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70" b="0">
                <a:solidFill>
                  <a:srgbClr val="F7FAFB"/>
                </a:solidFill>
                <a:latin typeface="Tahoma"/>
                <a:cs typeface="Tahoma"/>
              </a:rPr>
              <a:t>are</a:t>
            </a:r>
            <a:r>
              <a:rPr dirty="0" spc="-85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75" b="0">
                <a:solidFill>
                  <a:srgbClr val="F7FAFB"/>
                </a:solidFill>
                <a:latin typeface="Tahoma"/>
                <a:cs typeface="Tahoma"/>
              </a:rPr>
              <a:t>they</a:t>
            </a:r>
            <a:r>
              <a:rPr dirty="0" spc="-80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70" b="0">
                <a:solidFill>
                  <a:srgbClr val="F7FAFB"/>
                </a:solidFill>
                <a:latin typeface="Tahoma"/>
                <a:cs typeface="Tahoma"/>
              </a:rPr>
              <a:t>encoded</a:t>
            </a:r>
            <a:r>
              <a:rPr dirty="0" spc="-85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65" b="0">
                <a:solidFill>
                  <a:srgbClr val="F7FAFB"/>
                </a:solidFill>
                <a:latin typeface="Tahoma"/>
                <a:cs typeface="Tahoma"/>
              </a:rPr>
              <a:t>in</a:t>
            </a:r>
            <a:r>
              <a:rPr dirty="0" spc="-80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75" b="0">
                <a:solidFill>
                  <a:srgbClr val="F7FAFB"/>
                </a:solidFill>
                <a:latin typeface="Tahoma"/>
                <a:cs typeface="Tahoma"/>
              </a:rPr>
              <a:t>the</a:t>
            </a:r>
            <a:r>
              <a:rPr dirty="0" spc="-85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40" b="0">
                <a:solidFill>
                  <a:srgbClr val="F7FAFB"/>
                </a:solidFill>
                <a:latin typeface="Tahoma"/>
                <a:cs typeface="Tahoma"/>
              </a:rPr>
              <a:t>corpus?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543560"/>
          </a:xfrm>
          <a:custGeom>
            <a:avLst/>
            <a:gdLst/>
            <a:ahLst/>
            <a:cxnLst/>
            <a:rect l="l" t="t" r="r" b="b"/>
            <a:pathLst>
              <a:path w="50165" h="543560">
                <a:moveTo>
                  <a:pt x="50125" y="543026"/>
                </a:moveTo>
                <a:lnTo>
                  <a:pt x="0" y="543026"/>
                </a:lnTo>
                <a:lnTo>
                  <a:pt x="0" y="0"/>
                </a:lnTo>
                <a:lnTo>
                  <a:pt x="50125" y="0"/>
                </a:lnTo>
                <a:lnTo>
                  <a:pt x="50125" y="543026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92479" y="1444752"/>
            <a:ext cx="5815965" cy="463550"/>
          </a:xfrm>
          <a:custGeom>
            <a:avLst/>
            <a:gdLst/>
            <a:ahLst/>
            <a:cxnLst/>
            <a:rect l="l" t="t" r="r" b="b"/>
            <a:pathLst>
              <a:path w="5815965" h="463550">
                <a:moveTo>
                  <a:pt x="5815583" y="463295"/>
                </a:moveTo>
                <a:lnTo>
                  <a:pt x="0" y="463295"/>
                </a:lnTo>
                <a:lnTo>
                  <a:pt x="0" y="0"/>
                </a:lnTo>
                <a:lnTo>
                  <a:pt x="5815583" y="0"/>
                </a:lnTo>
                <a:lnTo>
                  <a:pt x="5815583" y="463295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90"/>
              <a:t>Understanding</a:t>
            </a:r>
            <a:r>
              <a:rPr dirty="0" spc="-105"/>
              <a:t> </a:t>
            </a:r>
            <a:r>
              <a:rPr dirty="0" spc="-55"/>
              <a:t>Retranslations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572097" y="1915054"/>
            <a:ext cx="9378950" cy="43364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3100"/>
              </a:lnSpc>
              <a:spcBef>
                <a:spcPts val="100"/>
              </a:spcBef>
            </a:pP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Definition:</a:t>
            </a:r>
            <a:r>
              <a:rPr dirty="0" sz="2100" spc="1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Translations</a:t>
            </a:r>
            <a:r>
              <a:rPr dirty="0" sz="2100" spc="-3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of</a:t>
            </a:r>
            <a:r>
              <a:rPr dirty="0" sz="2100" spc="-3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the</a:t>
            </a:r>
            <a:r>
              <a:rPr dirty="0" sz="2100" spc="-3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same</a:t>
            </a:r>
            <a:r>
              <a:rPr dirty="0" sz="2100" spc="-3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source</a:t>
            </a:r>
            <a:r>
              <a:rPr dirty="0" sz="2100" spc="-3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text</a:t>
            </a:r>
            <a:r>
              <a:rPr dirty="0" sz="2100" spc="-3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in</a:t>
            </a:r>
            <a:r>
              <a:rPr dirty="0" sz="2100" spc="-3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the</a:t>
            </a:r>
            <a:r>
              <a:rPr dirty="0" sz="2100" spc="-3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same</a:t>
            </a:r>
            <a:r>
              <a:rPr dirty="0" sz="2100" spc="-3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language</a:t>
            </a:r>
            <a:r>
              <a:rPr dirty="0" sz="2100" spc="-3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over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time</a:t>
            </a:r>
            <a:endParaRPr sz="2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490"/>
              </a:spcBef>
            </a:pPr>
            <a:r>
              <a:rPr dirty="0" sz="2100" spc="-95" b="1">
                <a:solidFill>
                  <a:srgbClr val="FBD34D"/>
                </a:solidFill>
                <a:latin typeface="Tahoma"/>
                <a:cs typeface="Tahoma"/>
              </a:rPr>
              <a:t>Two</a:t>
            </a:r>
            <a:r>
              <a:rPr dirty="0" sz="2100" spc="-5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Types:</a:t>
            </a:r>
            <a:endParaRPr sz="2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sz="2100">
              <a:latin typeface="Tahoma"/>
              <a:cs typeface="Tahoma"/>
            </a:endParaRPr>
          </a:p>
          <a:p>
            <a:pPr marL="346710" indent="-294640">
              <a:lnSpc>
                <a:spcPct val="100000"/>
              </a:lnSpc>
              <a:spcBef>
                <a:spcPts val="5"/>
              </a:spcBef>
              <a:buClr>
                <a:srgbClr val="F7FAFB"/>
              </a:buClr>
              <a:buFont typeface="Tahoma"/>
              <a:buAutoNum type="arabicPeriod"/>
              <a:tabLst>
                <a:tab pos="346710" algn="l"/>
              </a:tabLst>
            </a:pPr>
            <a:r>
              <a:rPr dirty="0" sz="2100" spc="-35" b="1">
                <a:solidFill>
                  <a:srgbClr val="FBD34D"/>
                </a:solidFill>
                <a:latin typeface="Tahoma"/>
                <a:cs typeface="Tahoma"/>
              </a:rPr>
              <a:t>Passive</a:t>
            </a:r>
            <a:r>
              <a:rPr dirty="0" sz="2100" spc="-10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Retranslation</a:t>
            </a:r>
            <a:endParaRPr sz="2100">
              <a:latin typeface="Tahoma"/>
              <a:cs typeface="Tahoma"/>
            </a:endParaRPr>
          </a:p>
          <a:p>
            <a:pPr marL="346710" indent="-294640">
              <a:lnSpc>
                <a:spcPct val="100000"/>
              </a:lnSpc>
              <a:spcBef>
                <a:spcPts val="1950"/>
              </a:spcBef>
              <a:buClr>
                <a:srgbClr val="F7FAFB"/>
              </a:buClr>
              <a:buFont typeface="Tahoma"/>
              <a:buAutoNum type="arabicPeriod"/>
              <a:tabLst>
                <a:tab pos="346710" algn="l"/>
              </a:tabLst>
            </a:pP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Active</a:t>
            </a:r>
            <a:r>
              <a:rPr dirty="0" sz="2100" spc="8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Retranslation</a:t>
            </a:r>
            <a:endParaRPr sz="2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55"/>
              </a:spcBef>
            </a:pPr>
            <a:endParaRPr sz="2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2150" i="1">
                <a:solidFill>
                  <a:srgbClr val="A5F2FB"/>
                </a:solidFill>
                <a:latin typeface="Trebuchet MS"/>
                <a:cs typeface="Trebuchet MS"/>
              </a:rPr>
              <a:t>(Pym</a:t>
            </a:r>
            <a:r>
              <a:rPr dirty="0" sz="2150" spc="55" i="1">
                <a:solidFill>
                  <a:srgbClr val="A5F2FB"/>
                </a:solidFill>
                <a:latin typeface="Trebuchet MS"/>
                <a:cs typeface="Trebuchet MS"/>
              </a:rPr>
              <a:t> </a:t>
            </a:r>
            <a:r>
              <a:rPr dirty="0" sz="2150" spc="90" i="1">
                <a:solidFill>
                  <a:srgbClr val="A5F2FB"/>
                </a:solidFill>
                <a:latin typeface="Trebuchet MS"/>
                <a:cs typeface="Trebuchet MS"/>
              </a:rPr>
              <a:t>1998)</a:t>
            </a:r>
            <a:endParaRPr sz="2150">
              <a:latin typeface="Trebuchet MS"/>
              <a:cs typeface="Trebuchet MS"/>
            </a:endParaRPr>
          </a:p>
          <a:p>
            <a:pPr marL="12700" marR="71120">
              <a:lnSpc>
                <a:spcPct val="135700"/>
              </a:lnSpc>
              <a:spcBef>
                <a:spcPts val="580"/>
              </a:spcBef>
            </a:pP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Retranslations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are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encoded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in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the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corpus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5">
                <a:solidFill>
                  <a:srgbClr val="F7FAFB"/>
                </a:solidFill>
                <a:latin typeface="Tahoma"/>
                <a:cs typeface="Tahoma"/>
              </a:rPr>
              <a:t>with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version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numbers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and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10">
                <a:solidFill>
                  <a:srgbClr val="F7FAFB"/>
                </a:solidFill>
                <a:latin typeface="Tahoma"/>
                <a:cs typeface="Tahoma"/>
              </a:rPr>
              <a:t>dates,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allowing</a:t>
            </a:r>
            <a:r>
              <a:rPr dirty="0" sz="2100" spc="-4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tracking</a:t>
            </a:r>
            <a:r>
              <a:rPr dirty="0" sz="2100" spc="-3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of</a:t>
            </a:r>
            <a:r>
              <a:rPr dirty="0" sz="2100" spc="-3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how</a:t>
            </a:r>
            <a:r>
              <a:rPr dirty="0" sz="2100" spc="-3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translation</a:t>
            </a:r>
            <a:r>
              <a:rPr dirty="0" sz="2100" spc="-3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practices</a:t>
            </a:r>
            <a:r>
              <a:rPr dirty="0" sz="2100" spc="-3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45">
                <a:solidFill>
                  <a:srgbClr val="F7FAFB"/>
                </a:solidFill>
                <a:latin typeface="Tahoma"/>
                <a:cs typeface="Tahoma"/>
              </a:rPr>
              <a:t>evolve.</a:t>
            </a:r>
            <a:r>
              <a:rPr dirty="0" sz="2100" spc="-3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For</a:t>
            </a:r>
            <a:r>
              <a:rPr dirty="0" sz="2100" spc="-3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example,</a:t>
            </a:r>
            <a:r>
              <a:rPr dirty="0" sz="2100" spc="-3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0">
                <a:solidFill>
                  <a:srgbClr val="F7FAFB"/>
                </a:solidFill>
                <a:latin typeface="Tahoma"/>
                <a:cs typeface="Tahoma"/>
              </a:rPr>
              <a:t>the</a:t>
            </a:r>
            <a:endParaRPr sz="2100">
              <a:latin typeface="Tahoma"/>
              <a:cs typeface="Tahoma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2673094" y="6318483"/>
            <a:ext cx="2715895" cy="426720"/>
            <a:chOff x="2673094" y="6318483"/>
            <a:chExt cx="2715895" cy="426720"/>
          </a:xfrm>
        </p:grpSpPr>
        <p:sp>
          <p:nvSpPr>
            <p:cNvPr id="7" name="object 7" descr=""/>
            <p:cNvSpPr/>
            <p:nvPr/>
          </p:nvSpPr>
          <p:spPr>
            <a:xfrm>
              <a:off x="2677539" y="6322928"/>
              <a:ext cx="2707005" cy="417830"/>
            </a:xfrm>
            <a:custGeom>
              <a:avLst/>
              <a:gdLst/>
              <a:ahLst/>
              <a:cxnLst/>
              <a:rect l="l" t="t" r="r" b="b"/>
              <a:pathLst>
                <a:path w="2707004" h="417829">
                  <a:moveTo>
                    <a:pt x="2681416" y="417712"/>
                  </a:moveTo>
                  <a:lnTo>
                    <a:pt x="25362" y="417712"/>
                  </a:lnTo>
                  <a:lnTo>
                    <a:pt x="21632" y="416969"/>
                  </a:lnTo>
                  <a:lnTo>
                    <a:pt x="0" y="392350"/>
                  </a:lnTo>
                  <a:lnTo>
                    <a:pt x="0" y="388472"/>
                  </a:lnTo>
                  <a:lnTo>
                    <a:pt x="0" y="25362"/>
                  </a:lnTo>
                  <a:lnTo>
                    <a:pt x="25362" y="0"/>
                  </a:lnTo>
                  <a:lnTo>
                    <a:pt x="2681416" y="0"/>
                  </a:lnTo>
                  <a:lnTo>
                    <a:pt x="2706779" y="25362"/>
                  </a:lnTo>
                  <a:lnTo>
                    <a:pt x="2706779" y="392350"/>
                  </a:lnTo>
                  <a:lnTo>
                    <a:pt x="2685146" y="416969"/>
                  </a:lnTo>
                  <a:lnTo>
                    <a:pt x="2681416" y="417712"/>
                  </a:lnTo>
                  <a:close/>
                </a:path>
              </a:pathLst>
            </a:custGeom>
            <a:solidFill>
              <a:srgbClr val="1D293B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2677539" y="6322928"/>
              <a:ext cx="2707005" cy="417830"/>
            </a:xfrm>
            <a:custGeom>
              <a:avLst/>
              <a:gdLst/>
              <a:ahLst/>
              <a:cxnLst/>
              <a:rect l="l" t="t" r="r" b="b"/>
              <a:pathLst>
                <a:path w="2707004" h="417829">
                  <a:moveTo>
                    <a:pt x="0" y="388472"/>
                  </a:moveTo>
                  <a:lnTo>
                    <a:pt x="0" y="29239"/>
                  </a:lnTo>
                  <a:lnTo>
                    <a:pt x="0" y="25362"/>
                  </a:lnTo>
                  <a:lnTo>
                    <a:pt x="741" y="21631"/>
                  </a:lnTo>
                  <a:lnTo>
                    <a:pt x="2225" y="18049"/>
                  </a:lnTo>
                  <a:lnTo>
                    <a:pt x="3709" y="14466"/>
                  </a:lnTo>
                  <a:lnTo>
                    <a:pt x="5822" y="11305"/>
                  </a:lnTo>
                  <a:lnTo>
                    <a:pt x="8564" y="8563"/>
                  </a:lnTo>
                  <a:lnTo>
                    <a:pt x="11305" y="5822"/>
                  </a:lnTo>
                  <a:lnTo>
                    <a:pt x="14467" y="3709"/>
                  </a:lnTo>
                  <a:lnTo>
                    <a:pt x="18050" y="2225"/>
                  </a:lnTo>
                  <a:lnTo>
                    <a:pt x="21632" y="741"/>
                  </a:lnTo>
                  <a:lnTo>
                    <a:pt x="25362" y="0"/>
                  </a:lnTo>
                  <a:lnTo>
                    <a:pt x="29240" y="0"/>
                  </a:lnTo>
                  <a:lnTo>
                    <a:pt x="2677539" y="0"/>
                  </a:lnTo>
                  <a:lnTo>
                    <a:pt x="2681416" y="0"/>
                  </a:lnTo>
                  <a:lnTo>
                    <a:pt x="2685146" y="741"/>
                  </a:lnTo>
                  <a:lnTo>
                    <a:pt x="2688728" y="2225"/>
                  </a:lnTo>
                  <a:lnTo>
                    <a:pt x="2692310" y="3709"/>
                  </a:lnTo>
                  <a:lnTo>
                    <a:pt x="2695472" y="5822"/>
                  </a:lnTo>
                  <a:lnTo>
                    <a:pt x="2698215" y="8563"/>
                  </a:lnTo>
                  <a:lnTo>
                    <a:pt x="2700956" y="11305"/>
                  </a:lnTo>
                  <a:lnTo>
                    <a:pt x="2703069" y="14466"/>
                  </a:lnTo>
                  <a:lnTo>
                    <a:pt x="2704553" y="18049"/>
                  </a:lnTo>
                  <a:lnTo>
                    <a:pt x="2706037" y="21631"/>
                  </a:lnTo>
                  <a:lnTo>
                    <a:pt x="2706779" y="25362"/>
                  </a:lnTo>
                  <a:lnTo>
                    <a:pt x="2706779" y="29239"/>
                  </a:lnTo>
                  <a:lnTo>
                    <a:pt x="2706779" y="388472"/>
                  </a:lnTo>
                  <a:lnTo>
                    <a:pt x="2706779" y="392350"/>
                  </a:lnTo>
                  <a:lnTo>
                    <a:pt x="2706037" y="396079"/>
                  </a:lnTo>
                  <a:lnTo>
                    <a:pt x="2704553" y="399661"/>
                  </a:lnTo>
                  <a:lnTo>
                    <a:pt x="2703069" y="403244"/>
                  </a:lnTo>
                  <a:lnTo>
                    <a:pt x="2677539" y="417712"/>
                  </a:lnTo>
                  <a:lnTo>
                    <a:pt x="29240" y="417712"/>
                  </a:lnTo>
                  <a:lnTo>
                    <a:pt x="8564" y="409148"/>
                  </a:lnTo>
                  <a:lnTo>
                    <a:pt x="5822" y="406406"/>
                  </a:lnTo>
                  <a:lnTo>
                    <a:pt x="3709" y="403244"/>
                  </a:lnTo>
                  <a:lnTo>
                    <a:pt x="2225" y="399661"/>
                  </a:lnTo>
                  <a:lnTo>
                    <a:pt x="741" y="396079"/>
                  </a:lnTo>
                  <a:lnTo>
                    <a:pt x="0" y="392350"/>
                  </a:lnTo>
                  <a:lnTo>
                    <a:pt x="0" y="388472"/>
                  </a:lnTo>
                  <a:close/>
                </a:path>
              </a:pathLst>
            </a:custGeom>
            <a:ln w="8354">
              <a:solidFill>
                <a:srgbClr val="0FB98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2684627" y="6384581"/>
            <a:ext cx="2693035" cy="2825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60960">
              <a:lnSpc>
                <a:spcPct val="100000"/>
              </a:lnSpc>
              <a:spcBef>
                <a:spcPts val="135"/>
              </a:spcBef>
            </a:pPr>
            <a:r>
              <a:rPr dirty="0" sz="1650">
                <a:solidFill>
                  <a:srgbClr val="86EFAB"/>
                </a:solidFill>
                <a:latin typeface="Courier New"/>
                <a:cs typeface="Courier New"/>
              </a:rPr>
              <a:t>GRK-MOD-NT-JOHN-</a:t>
            </a:r>
            <a:r>
              <a:rPr dirty="0" sz="1650" spc="-20">
                <a:solidFill>
                  <a:srgbClr val="86EFAB"/>
                </a:solidFill>
                <a:latin typeface="Courier New"/>
                <a:cs typeface="Courier New"/>
              </a:rPr>
              <a:t>1904</a:t>
            </a:r>
            <a:endParaRPr sz="1650">
              <a:latin typeface="Courier New"/>
              <a:cs typeface="Courier New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72097" y="6331114"/>
            <a:ext cx="4918075" cy="3467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847590" algn="l"/>
              </a:tabLst>
            </a:pP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corpus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contains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	</a:t>
            </a:r>
            <a:r>
              <a:rPr dirty="0" sz="2100" spc="-140">
                <a:solidFill>
                  <a:srgbClr val="F7FAFB"/>
                </a:solidFill>
                <a:latin typeface="Tahoma"/>
                <a:cs typeface="Tahoma"/>
              </a:rPr>
              <a:t>,</a:t>
            </a:r>
            <a:endParaRPr sz="2100">
              <a:latin typeface="Tahoma"/>
              <a:cs typeface="Tahoma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5584820" y="6322928"/>
            <a:ext cx="2707005" cy="417830"/>
          </a:xfrm>
          <a:custGeom>
            <a:avLst/>
            <a:gdLst/>
            <a:ahLst/>
            <a:cxnLst/>
            <a:rect l="l" t="t" r="r" b="b"/>
            <a:pathLst>
              <a:path w="2707004" h="417829">
                <a:moveTo>
                  <a:pt x="2681416" y="417712"/>
                </a:moveTo>
                <a:lnTo>
                  <a:pt x="25362" y="417712"/>
                </a:lnTo>
                <a:lnTo>
                  <a:pt x="21631" y="416969"/>
                </a:lnTo>
                <a:lnTo>
                  <a:pt x="0" y="392350"/>
                </a:lnTo>
                <a:lnTo>
                  <a:pt x="0" y="388472"/>
                </a:lnTo>
                <a:lnTo>
                  <a:pt x="0" y="25362"/>
                </a:lnTo>
                <a:lnTo>
                  <a:pt x="25362" y="0"/>
                </a:lnTo>
                <a:lnTo>
                  <a:pt x="2681416" y="0"/>
                </a:lnTo>
                <a:lnTo>
                  <a:pt x="2706778" y="25362"/>
                </a:lnTo>
                <a:lnTo>
                  <a:pt x="2706778" y="392350"/>
                </a:lnTo>
                <a:lnTo>
                  <a:pt x="2685145" y="416969"/>
                </a:lnTo>
                <a:lnTo>
                  <a:pt x="2681416" y="417712"/>
                </a:lnTo>
                <a:close/>
              </a:path>
            </a:pathLst>
          </a:custGeom>
          <a:solidFill>
            <a:srgbClr val="1D293B">
              <a:alpha val="7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5584820" y="6322928"/>
            <a:ext cx="2707005" cy="417830"/>
          </a:xfrm>
          <a:prstGeom prst="rect">
            <a:avLst/>
          </a:prstGeom>
          <a:ln w="14177">
            <a:solidFill>
              <a:srgbClr val="0FB981"/>
            </a:solidFill>
          </a:ln>
        </p:spPr>
        <p:txBody>
          <a:bodyPr wrap="square" lIns="0" tIns="78740" rIns="0" bIns="0" rtlCol="0" vert="horz">
            <a:spAutoFit/>
          </a:bodyPr>
          <a:lstStyle/>
          <a:p>
            <a:pPr marL="71755">
              <a:lnSpc>
                <a:spcPct val="100000"/>
              </a:lnSpc>
              <a:spcBef>
                <a:spcPts val="620"/>
              </a:spcBef>
            </a:pPr>
            <a:r>
              <a:rPr dirty="0" sz="1650">
                <a:solidFill>
                  <a:srgbClr val="86EFAB"/>
                </a:solidFill>
                <a:latin typeface="Courier New"/>
                <a:cs typeface="Courier New"/>
              </a:rPr>
              <a:t>GRK-MOD-NT-JOHN-</a:t>
            </a:r>
            <a:r>
              <a:rPr dirty="0" sz="1650" spc="-20">
                <a:solidFill>
                  <a:srgbClr val="86EFAB"/>
                </a:solidFill>
                <a:latin typeface="Courier New"/>
                <a:cs typeface="Courier New"/>
              </a:rPr>
              <a:t>1985</a:t>
            </a:r>
            <a:endParaRPr sz="1650">
              <a:latin typeface="Courier New"/>
              <a:cs typeface="Courier New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8317930" y="6331114"/>
            <a:ext cx="609600" cy="3467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 spc="-200">
                <a:solidFill>
                  <a:srgbClr val="F7FAFB"/>
                </a:solidFill>
                <a:latin typeface="Tahoma"/>
                <a:cs typeface="Tahoma"/>
              </a:rPr>
              <a:t>,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25">
                <a:solidFill>
                  <a:srgbClr val="F7FAFB"/>
                </a:solidFill>
                <a:latin typeface="Tahoma"/>
                <a:cs typeface="Tahoma"/>
              </a:rPr>
              <a:t>and</a:t>
            </a:r>
            <a:endParaRPr sz="2100">
              <a:latin typeface="Tahoma"/>
              <a:cs typeface="Tahoma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618214" y="6744818"/>
            <a:ext cx="2715260" cy="46355"/>
            <a:chOff x="618214" y="6744818"/>
            <a:chExt cx="2715260" cy="46355"/>
          </a:xfrm>
        </p:grpSpPr>
        <p:sp>
          <p:nvSpPr>
            <p:cNvPr id="15" name="object 15" descr=""/>
            <p:cNvSpPr/>
            <p:nvPr/>
          </p:nvSpPr>
          <p:spPr>
            <a:xfrm>
              <a:off x="622392" y="6748995"/>
              <a:ext cx="2707005" cy="38100"/>
            </a:xfrm>
            <a:custGeom>
              <a:avLst/>
              <a:gdLst/>
              <a:ahLst/>
              <a:cxnLst/>
              <a:rect l="l" t="t" r="r" b="b"/>
              <a:pathLst>
                <a:path w="2707004" h="38100">
                  <a:moveTo>
                    <a:pt x="2706779" y="37566"/>
                  </a:moveTo>
                  <a:lnTo>
                    <a:pt x="0" y="37566"/>
                  </a:lnTo>
                  <a:lnTo>
                    <a:pt x="0" y="25362"/>
                  </a:lnTo>
                  <a:lnTo>
                    <a:pt x="25362" y="0"/>
                  </a:lnTo>
                  <a:lnTo>
                    <a:pt x="2681416" y="0"/>
                  </a:lnTo>
                  <a:lnTo>
                    <a:pt x="2706779" y="37566"/>
                  </a:lnTo>
                  <a:close/>
                </a:path>
              </a:pathLst>
            </a:custGeom>
            <a:solidFill>
              <a:srgbClr val="1D293B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622392" y="6748995"/>
              <a:ext cx="2707005" cy="38100"/>
            </a:xfrm>
            <a:custGeom>
              <a:avLst/>
              <a:gdLst/>
              <a:ahLst/>
              <a:cxnLst/>
              <a:rect l="l" t="t" r="r" b="b"/>
              <a:pathLst>
                <a:path w="2707004" h="38100">
                  <a:moveTo>
                    <a:pt x="0" y="37566"/>
                  </a:moveTo>
                  <a:lnTo>
                    <a:pt x="0" y="29239"/>
                  </a:lnTo>
                  <a:lnTo>
                    <a:pt x="0" y="25362"/>
                  </a:lnTo>
                  <a:lnTo>
                    <a:pt x="741" y="21631"/>
                  </a:lnTo>
                  <a:lnTo>
                    <a:pt x="2225" y="18049"/>
                  </a:lnTo>
                  <a:lnTo>
                    <a:pt x="3709" y="14467"/>
                  </a:lnTo>
                  <a:lnTo>
                    <a:pt x="5822" y="11305"/>
                  </a:lnTo>
                  <a:lnTo>
                    <a:pt x="8564" y="8563"/>
                  </a:lnTo>
                  <a:lnTo>
                    <a:pt x="11305" y="5822"/>
                  </a:lnTo>
                  <a:lnTo>
                    <a:pt x="14467" y="3709"/>
                  </a:lnTo>
                  <a:lnTo>
                    <a:pt x="18050" y="2225"/>
                  </a:lnTo>
                  <a:lnTo>
                    <a:pt x="21632" y="741"/>
                  </a:lnTo>
                  <a:lnTo>
                    <a:pt x="25362" y="0"/>
                  </a:lnTo>
                  <a:lnTo>
                    <a:pt x="29239" y="0"/>
                  </a:lnTo>
                  <a:lnTo>
                    <a:pt x="2677539" y="0"/>
                  </a:lnTo>
                  <a:lnTo>
                    <a:pt x="2681416" y="0"/>
                  </a:lnTo>
                  <a:lnTo>
                    <a:pt x="2685146" y="741"/>
                  </a:lnTo>
                  <a:lnTo>
                    <a:pt x="2704553" y="18049"/>
                  </a:lnTo>
                  <a:lnTo>
                    <a:pt x="2706037" y="21631"/>
                  </a:lnTo>
                  <a:lnTo>
                    <a:pt x="2706779" y="25362"/>
                  </a:lnTo>
                  <a:lnTo>
                    <a:pt x="2706779" y="29239"/>
                  </a:lnTo>
                  <a:lnTo>
                    <a:pt x="2706779" y="37566"/>
                  </a:lnTo>
                </a:path>
              </a:pathLst>
            </a:custGeom>
            <a:ln w="8354">
              <a:solidFill>
                <a:srgbClr val="0FB98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543560"/>
          </a:xfrm>
          <a:custGeom>
            <a:avLst/>
            <a:gdLst/>
            <a:ahLst/>
            <a:cxnLst/>
            <a:rect l="l" t="t" r="r" b="b"/>
            <a:pathLst>
              <a:path w="50165" h="543560">
                <a:moveTo>
                  <a:pt x="50125" y="543026"/>
                </a:moveTo>
                <a:lnTo>
                  <a:pt x="0" y="543026"/>
                </a:lnTo>
                <a:lnTo>
                  <a:pt x="0" y="0"/>
                </a:lnTo>
                <a:lnTo>
                  <a:pt x="50125" y="0"/>
                </a:lnTo>
                <a:lnTo>
                  <a:pt x="50125" y="543026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98575" y="1444752"/>
            <a:ext cx="6190615" cy="457200"/>
          </a:xfrm>
          <a:custGeom>
            <a:avLst/>
            <a:gdLst/>
            <a:ahLst/>
            <a:cxnLst/>
            <a:rect l="l" t="t" r="r" b="b"/>
            <a:pathLst>
              <a:path w="6190615" h="457200">
                <a:moveTo>
                  <a:pt x="6190487" y="457199"/>
                </a:moveTo>
                <a:lnTo>
                  <a:pt x="0" y="457199"/>
                </a:lnTo>
                <a:lnTo>
                  <a:pt x="0" y="0"/>
                </a:lnTo>
                <a:lnTo>
                  <a:pt x="6190487" y="0"/>
                </a:lnTo>
                <a:lnTo>
                  <a:pt x="6190487" y="45719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10"/>
              <a:t>Passive</a:t>
            </a:r>
            <a:r>
              <a:rPr dirty="0" spc="-120"/>
              <a:t> </a:t>
            </a:r>
            <a:r>
              <a:rPr dirty="0" spc="-70"/>
              <a:t>Retranslation</a:t>
            </a:r>
            <a:r>
              <a:rPr dirty="0" spc="-114"/>
              <a:t> </a:t>
            </a:r>
            <a:r>
              <a:rPr dirty="0" spc="-35"/>
              <a:t>Explained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3820828"/>
            <a:ext cx="91896" cy="91896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4865110"/>
            <a:ext cx="91896" cy="91896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572097" y="1915054"/>
            <a:ext cx="9486900" cy="3150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3100"/>
              </a:lnSpc>
              <a:spcBef>
                <a:spcPts val="100"/>
              </a:spcBef>
            </a:pP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Occurs</a:t>
            </a:r>
            <a:r>
              <a:rPr dirty="0" sz="2100" spc="-4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80" b="1">
                <a:solidFill>
                  <a:srgbClr val="FBD34D"/>
                </a:solidFill>
                <a:latin typeface="Tahoma"/>
                <a:cs typeface="Tahoma"/>
              </a:rPr>
              <a:t>when:</a:t>
            </a:r>
            <a:r>
              <a:rPr dirty="0" sz="2100" spc="-4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160">
                <a:solidFill>
                  <a:srgbClr val="F7FAFB"/>
                </a:solidFill>
                <a:latin typeface="Tahoma"/>
                <a:cs typeface="Tahoma"/>
              </a:rPr>
              <a:t>A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previous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translation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0">
                <a:solidFill>
                  <a:srgbClr val="F7FAFB"/>
                </a:solidFill>
                <a:latin typeface="Tahoma"/>
                <a:cs typeface="Tahoma"/>
              </a:rPr>
              <a:t>becomes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inaccessible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or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unintelligible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to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contemporary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speakers</a:t>
            </a:r>
            <a:endParaRPr sz="2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490"/>
              </a:spcBef>
            </a:pPr>
            <a:r>
              <a:rPr dirty="0" sz="2100" spc="-45" b="1">
                <a:solidFill>
                  <a:srgbClr val="FBD34D"/>
                </a:solidFill>
                <a:latin typeface="Tahoma"/>
                <a:cs typeface="Tahoma"/>
              </a:rPr>
              <a:t>Example:</a:t>
            </a:r>
            <a:r>
              <a:rPr dirty="0" sz="2100" spc="-8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Modern</a:t>
            </a:r>
            <a:r>
              <a:rPr dirty="0" sz="2100" spc="-7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Greek</a:t>
            </a:r>
            <a:r>
              <a:rPr dirty="0" sz="2100" spc="-7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35" b="1">
                <a:solidFill>
                  <a:srgbClr val="FBD34D"/>
                </a:solidFill>
                <a:latin typeface="Tahoma"/>
                <a:cs typeface="Tahoma"/>
              </a:rPr>
              <a:t>Translations</a:t>
            </a:r>
            <a:r>
              <a:rPr dirty="0" sz="2100" spc="-7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of</a:t>
            </a:r>
            <a:r>
              <a:rPr dirty="0" sz="2100" spc="-7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the</a:t>
            </a:r>
            <a:r>
              <a:rPr dirty="0" sz="2100" spc="-7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Old</a:t>
            </a:r>
            <a:r>
              <a:rPr dirty="0" sz="2100" spc="-8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Testament</a:t>
            </a:r>
            <a:endParaRPr sz="2100">
              <a:latin typeface="Tahoma"/>
              <a:cs typeface="Tahoma"/>
            </a:endParaRPr>
          </a:p>
          <a:p>
            <a:pPr marL="346710" marR="554990">
              <a:lnSpc>
                <a:spcPct val="151400"/>
              </a:lnSpc>
              <a:spcBef>
                <a:spcPts val="1845"/>
              </a:spcBef>
            </a:pPr>
            <a:r>
              <a:rPr dirty="0" sz="2100" spc="50">
                <a:solidFill>
                  <a:srgbClr val="F7FAFB"/>
                </a:solidFill>
                <a:latin typeface="Tahoma"/>
                <a:cs typeface="Tahoma"/>
              </a:rPr>
              <a:t>The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Septuagint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90">
                <a:solidFill>
                  <a:srgbClr val="F7FAFB"/>
                </a:solidFill>
                <a:latin typeface="Tahoma"/>
                <a:cs typeface="Tahoma"/>
              </a:rPr>
              <a:t>(c.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20">
                <a:solidFill>
                  <a:srgbClr val="F7FAFB"/>
                </a:solidFill>
                <a:latin typeface="Tahoma"/>
                <a:cs typeface="Tahoma"/>
              </a:rPr>
              <a:t>150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BCE)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became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no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longer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intelligible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to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modern 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speakers</a:t>
            </a:r>
            <a:endParaRPr sz="2100">
              <a:latin typeface="Tahoma"/>
              <a:cs typeface="Tahoma"/>
            </a:endParaRPr>
          </a:p>
          <a:p>
            <a:pPr marL="346710">
              <a:lnSpc>
                <a:spcPct val="100000"/>
              </a:lnSpc>
              <a:spcBef>
                <a:spcPts val="1885"/>
              </a:spcBef>
            </a:pP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This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necessitated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new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translation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10">
                <a:solidFill>
                  <a:srgbClr val="F7FAFB"/>
                </a:solidFill>
                <a:latin typeface="Tahoma"/>
                <a:cs typeface="Tahoma"/>
              </a:rPr>
              <a:t>work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for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contemporary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audiences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543560"/>
          </a:xfrm>
          <a:custGeom>
            <a:avLst/>
            <a:gdLst/>
            <a:ahLst/>
            <a:cxnLst/>
            <a:rect l="l" t="t" r="r" b="b"/>
            <a:pathLst>
              <a:path w="50165" h="543560">
                <a:moveTo>
                  <a:pt x="50125" y="543026"/>
                </a:moveTo>
                <a:lnTo>
                  <a:pt x="0" y="543026"/>
                </a:lnTo>
                <a:lnTo>
                  <a:pt x="0" y="0"/>
                </a:lnTo>
                <a:lnTo>
                  <a:pt x="50125" y="0"/>
                </a:lnTo>
                <a:lnTo>
                  <a:pt x="50125" y="543026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74191" y="1444752"/>
            <a:ext cx="6038215" cy="457200"/>
          </a:xfrm>
          <a:custGeom>
            <a:avLst/>
            <a:gdLst/>
            <a:ahLst/>
            <a:cxnLst/>
            <a:rect l="l" t="t" r="r" b="b"/>
            <a:pathLst>
              <a:path w="6038215" h="457200">
                <a:moveTo>
                  <a:pt x="6038087" y="457199"/>
                </a:moveTo>
                <a:lnTo>
                  <a:pt x="0" y="457199"/>
                </a:lnTo>
                <a:lnTo>
                  <a:pt x="0" y="0"/>
                </a:lnTo>
                <a:lnTo>
                  <a:pt x="6038087" y="0"/>
                </a:lnTo>
                <a:lnTo>
                  <a:pt x="6038087" y="45719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Active</a:t>
            </a:r>
            <a:r>
              <a:rPr dirty="0" spc="-150"/>
              <a:t> </a:t>
            </a:r>
            <a:r>
              <a:rPr dirty="0" spc="-70"/>
              <a:t>Retranslation</a:t>
            </a:r>
            <a:r>
              <a:rPr dirty="0" spc="-150"/>
              <a:t> </a:t>
            </a:r>
            <a:r>
              <a:rPr dirty="0" spc="-35"/>
              <a:t>Explained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3820828"/>
            <a:ext cx="91896" cy="91896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4388918"/>
            <a:ext cx="91896" cy="9189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4948653"/>
            <a:ext cx="91896" cy="91896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572097" y="1915054"/>
            <a:ext cx="8946515" cy="3234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3100"/>
              </a:lnSpc>
              <a:spcBef>
                <a:spcPts val="100"/>
              </a:spcBef>
            </a:pP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Occurs</a:t>
            </a:r>
            <a:r>
              <a:rPr dirty="0" sz="2100" spc="-4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80" b="1">
                <a:solidFill>
                  <a:srgbClr val="FBD34D"/>
                </a:solidFill>
                <a:latin typeface="Tahoma"/>
                <a:cs typeface="Tahoma"/>
              </a:rPr>
              <a:t>when:</a:t>
            </a:r>
            <a:r>
              <a:rPr dirty="0" sz="2100" spc="-4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125">
                <a:solidFill>
                  <a:srgbClr val="F7FAFB"/>
                </a:solidFill>
                <a:latin typeface="Tahoma"/>
                <a:cs typeface="Tahoma"/>
              </a:rPr>
              <a:t>New</a:t>
            </a:r>
            <a:r>
              <a:rPr dirty="0" sz="2100" spc="-9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translations</a:t>
            </a:r>
            <a:r>
              <a:rPr dirty="0" sz="2100" spc="-9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offer</a:t>
            </a:r>
            <a:r>
              <a:rPr dirty="0" sz="2100" spc="-9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competing</a:t>
            </a:r>
            <a:r>
              <a:rPr dirty="0" sz="2100" spc="-9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perspectives</a:t>
            </a:r>
            <a:r>
              <a:rPr dirty="0" sz="2100" spc="-9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based</a:t>
            </a:r>
            <a:r>
              <a:rPr dirty="0" sz="2100" spc="-9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25">
                <a:solidFill>
                  <a:srgbClr val="F7FAFB"/>
                </a:solidFill>
                <a:latin typeface="Tahoma"/>
                <a:cs typeface="Tahoma"/>
              </a:rPr>
              <a:t>on </a:t>
            </a:r>
            <a:r>
              <a:rPr dirty="0" sz="2100" spc="105">
                <a:solidFill>
                  <a:srgbClr val="F7FAFB"/>
                </a:solidFill>
                <a:latin typeface="Tahoma"/>
                <a:cs typeface="Tahoma"/>
              </a:rPr>
              <a:t>different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theological,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doctrinal,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or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5">
                <a:solidFill>
                  <a:srgbClr val="F7FAFB"/>
                </a:solidFill>
                <a:latin typeface="Tahoma"/>
                <a:cs typeface="Tahoma"/>
              </a:rPr>
              <a:t>interpretive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preferences</a:t>
            </a:r>
            <a:endParaRPr sz="2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490"/>
              </a:spcBef>
            </a:pPr>
            <a:r>
              <a:rPr dirty="0" sz="2100" spc="-45" b="1">
                <a:solidFill>
                  <a:srgbClr val="FBD34D"/>
                </a:solidFill>
                <a:latin typeface="Tahoma"/>
                <a:cs typeface="Tahoma"/>
              </a:rPr>
              <a:t>Example:</a:t>
            </a:r>
            <a:r>
              <a:rPr dirty="0" sz="2100" spc="-9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40" b="1">
                <a:solidFill>
                  <a:srgbClr val="FBD34D"/>
                </a:solidFill>
                <a:latin typeface="Tahoma"/>
                <a:cs typeface="Tahoma"/>
              </a:rPr>
              <a:t>English</a:t>
            </a:r>
            <a:r>
              <a:rPr dirty="0" sz="2100" spc="-8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Bible</a:t>
            </a:r>
            <a:r>
              <a:rPr dirty="0" sz="2100" spc="-8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35" b="1">
                <a:solidFill>
                  <a:srgbClr val="FBD34D"/>
                </a:solidFill>
                <a:latin typeface="Tahoma"/>
                <a:cs typeface="Tahoma"/>
              </a:rPr>
              <a:t>Translations</a:t>
            </a:r>
            <a:r>
              <a:rPr dirty="0" sz="2100" spc="-8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70" b="1">
                <a:solidFill>
                  <a:srgbClr val="FBD34D"/>
                </a:solidFill>
                <a:latin typeface="Tahoma"/>
                <a:cs typeface="Tahoma"/>
              </a:rPr>
              <a:t>(19th-</a:t>
            </a:r>
            <a:r>
              <a:rPr dirty="0" sz="2100" spc="-25" b="1">
                <a:solidFill>
                  <a:srgbClr val="FBD34D"/>
                </a:solidFill>
                <a:latin typeface="Tahoma"/>
                <a:cs typeface="Tahoma"/>
              </a:rPr>
              <a:t>20th</a:t>
            </a:r>
            <a:r>
              <a:rPr dirty="0" sz="2100" spc="-9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centuries)</a:t>
            </a:r>
            <a:endParaRPr sz="2100">
              <a:latin typeface="Tahoma"/>
              <a:cs typeface="Tahoma"/>
            </a:endParaRPr>
          </a:p>
          <a:p>
            <a:pPr marL="346710" marR="6113780">
              <a:lnSpc>
                <a:spcPct val="177500"/>
              </a:lnSpc>
              <a:spcBef>
                <a:spcPts val="1185"/>
              </a:spcBef>
            </a:pPr>
            <a:r>
              <a:rPr dirty="0" sz="2100" spc="110">
                <a:solidFill>
                  <a:srgbClr val="F7FAFB"/>
                </a:solidFill>
                <a:latin typeface="Tahoma"/>
                <a:cs typeface="Tahoma"/>
              </a:rPr>
              <a:t>Protestant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versions </a:t>
            </a:r>
            <a:r>
              <a:rPr dirty="0" sz="2100" spc="114">
                <a:solidFill>
                  <a:srgbClr val="F7FAFB"/>
                </a:solidFill>
                <a:latin typeface="Tahoma"/>
                <a:cs typeface="Tahoma"/>
              </a:rPr>
              <a:t>Catholic</a:t>
            </a:r>
            <a:r>
              <a:rPr dirty="0" sz="2100" spc="-9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versions</a:t>
            </a:r>
            <a:endParaRPr sz="2100">
              <a:latin typeface="Tahoma"/>
              <a:cs typeface="Tahoma"/>
            </a:endParaRPr>
          </a:p>
          <a:p>
            <a:pPr marL="346710">
              <a:lnSpc>
                <a:spcPct val="100000"/>
              </a:lnSpc>
              <a:spcBef>
                <a:spcPts val="1885"/>
              </a:spcBef>
            </a:pPr>
            <a:r>
              <a:rPr dirty="0" sz="2100" spc="60">
                <a:solidFill>
                  <a:srgbClr val="F7FAFB"/>
                </a:solidFill>
                <a:latin typeface="Tahoma"/>
                <a:cs typeface="Tahoma"/>
              </a:rPr>
              <a:t>Each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5">
                <a:solidFill>
                  <a:srgbClr val="F7FAFB"/>
                </a:solidFill>
                <a:latin typeface="Tahoma"/>
                <a:cs typeface="Tahoma"/>
              </a:rPr>
              <a:t>reflecting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5">
                <a:solidFill>
                  <a:srgbClr val="F7FAFB"/>
                </a:solidFill>
                <a:latin typeface="Tahoma"/>
                <a:cs typeface="Tahoma"/>
              </a:rPr>
              <a:t>different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theological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and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doctrinal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preferences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60"/>
              <a:t>Language</a:t>
            </a:r>
            <a:r>
              <a:rPr dirty="0" spc="-125"/>
              <a:t> </a:t>
            </a:r>
            <a:r>
              <a:rPr dirty="0" spc="-80"/>
              <a:t>Families</a:t>
            </a:r>
            <a:r>
              <a:rPr dirty="0" spc="-120"/>
              <a:t> </a:t>
            </a:r>
            <a:r>
              <a:rPr dirty="0" spc="-90"/>
              <a:t>in</a:t>
            </a:r>
            <a:r>
              <a:rPr dirty="0" spc="-120"/>
              <a:t> </a:t>
            </a:r>
            <a:r>
              <a:rPr dirty="0" spc="-90"/>
              <a:t>the</a:t>
            </a:r>
            <a:r>
              <a:rPr dirty="0" spc="-120"/>
              <a:t> </a:t>
            </a:r>
            <a:r>
              <a:rPr dirty="0" spc="-25"/>
              <a:t>Corpus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72097" y="1915054"/>
            <a:ext cx="8509635" cy="87756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3100"/>
              </a:lnSpc>
              <a:spcBef>
                <a:spcPts val="100"/>
              </a:spcBef>
            </a:pPr>
            <a:r>
              <a:rPr dirty="0" sz="2100" spc="50">
                <a:solidFill>
                  <a:srgbClr val="F7FAFB"/>
                </a:solidFill>
                <a:latin typeface="Tahoma"/>
                <a:cs typeface="Tahoma"/>
              </a:rPr>
              <a:t>The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10">
                <a:solidFill>
                  <a:srgbClr val="F7FAFB"/>
                </a:solidFill>
                <a:latin typeface="Tahoma"/>
                <a:cs typeface="Tahoma"/>
              </a:rPr>
              <a:t>CVL-</a:t>
            </a:r>
            <a:r>
              <a:rPr dirty="0" sz="2100" spc="195">
                <a:solidFill>
                  <a:srgbClr val="F7FAFB"/>
                </a:solidFill>
                <a:latin typeface="Tahoma"/>
                <a:cs typeface="Tahoma"/>
              </a:rPr>
              <a:t>CDSAML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corpus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includes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texts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from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three</a:t>
            </a:r>
            <a:r>
              <a:rPr dirty="0" sz="2100" spc="-3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90" b="1">
                <a:solidFill>
                  <a:srgbClr val="FBD34D"/>
                </a:solidFill>
                <a:latin typeface="Tahoma"/>
                <a:cs typeface="Tahoma"/>
              </a:rPr>
              <a:t>Indo-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European </a:t>
            </a:r>
            <a:r>
              <a:rPr dirty="0" sz="2100" spc="-70" b="1">
                <a:solidFill>
                  <a:srgbClr val="FBD34D"/>
                </a:solidFill>
                <a:latin typeface="Tahoma"/>
                <a:cs typeface="Tahoma"/>
              </a:rPr>
              <a:t>language</a:t>
            </a:r>
            <a:r>
              <a:rPr dirty="0" sz="2100" spc="-7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families: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543560"/>
          </a:xfrm>
          <a:custGeom>
            <a:avLst/>
            <a:gdLst/>
            <a:ahLst/>
            <a:cxnLst/>
            <a:rect l="l" t="t" r="r" b="b"/>
            <a:pathLst>
              <a:path w="50165" h="543560">
                <a:moveTo>
                  <a:pt x="50125" y="543026"/>
                </a:moveTo>
                <a:lnTo>
                  <a:pt x="0" y="543026"/>
                </a:lnTo>
                <a:lnTo>
                  <a:pt x="0" y="0"/>
                </a:lnTo>
                <a:lnTo>
                  <a:pt x="50125" y="0"/>
                </a:lnTo>
                <a:lnTo>
                  <a:pt x="50125" y="543026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77239" y="1444752"/>
            <a:ext cx="5611495" cy="463550"/>
          </a:xfrm>
          <a:custGeom>
            <a:avLst/>
            <a:gdLst/>
            <a:ahLst/>
            <a:cxnLst/>
            <a:rect l="l" t="t" r="r" b="b"/>
            <a:pathLst>
              <a:path w="5611495" h="463550">
                <a:moveTo>
                  <a:pt x="5611367" y="463295"/>
                </a:moveTo>
                <a:lnTo>
                  <a:pt x="0" y="463295"/>
                </a:lnTo>
                <a:lnTo>
                  <a:pt x="0" y="0"/>
                </a:lnTo>
                <a:lnTo>
                  <a:pt x="5611367" y="0"/>
                </a:lnTo>
                <a:lnTo>
                  <a:pt x="5611367" y="463295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90"/>
              <a:t>The</a:t>
            </a:r>
            <a:r>
              <a:rPr dirty="0" spc="-130"/>
              <a:t> </a:t>
            </a:r>
            <a:r>
              <a:rPr dirty="0" spc="-65"/>
              <a:t>Three</a:t>
            </a:r>
            <a:r>
              <a:rPr dirty="0" spc="-125"/>
              <a:t> </a:t>
            </a:r>
            <a:r>
              <a:rPr dirty="0" spc="-160"/>
              <a:t>Language</a:t>
            </a:r>
            <a:r>
              <a:rPr dirty="0" spc="-125"/>
              <a:t> </a:t>
            </a:r>
            <a:r>
              <a:rPr dirty="0" spc="-40"/>
              <a:t>Families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5042" y="2906037"/>
            <a:ext cx="100251" cy="100251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5042" y="4075633"/>
            <a:ext cx="100251" cy="100251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15042" y="5253583"/>
            <a:ext cx="100251" cy="100251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15042" y="5813319"/>
            <a:ext cx="100251" cy="100251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611519" y="2229174"/>
            <a:ext cx="5107305" cy="3788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07340" indent="-294640">
              <a:lnSpc>
                <a:spcPct val="100000"/>
              </a:lnSpc>
              <a:spcBef>
                <a:spcPts val="105"/>
              </a:spcBef>
              <a:buClr>
                <a:srgbClr val="F7FAFB"/>
              </a:buClr>
              <a:buFont typeface="Tahoma"/>
              <a:buAutoNum type="arabicPeriod"/>
              <a:tabLst>
                <a:tab pos="307340" algn="l"/>
              </a:tabLst>
            </a:pP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Hellenic</a:t>
            </a:r>
            <a:endParaRPr sz="2100">
              <a:latin typeface="Tahoma"/>
              <a:cs typeface="Tahoma"/>
            </a:endParaRPr>
          </a:p>
          <a:p>
            <a:pPr marL="641350">
              <a:lnSpc>
                <a:spcPct val="100000"/>
              </a:lnSpc>
              <a:spcBef>
                <a:spcPts val="1689"/>
              </a:spcBef>
            </a:pPr>
            <a:r>
              <a:rPr dirty="0" sz="2100" spc="114">
                <a:solidFill>
                  <a:srgbClr val="F7FAFB"/>
                </a:solidFill>
                <a:latin typeface="Tahoma"/>
                <a:cs typeface="Tahoma"/>
              </a:rPr>
              <a:t>Greek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45">
                <a:solidFill>
                  <a:srgbClr val="F7FAFB"/>
                </a:solidFill>
                <a:latin typeface="Tahoma"/>
                <a:cs typeface="Tahoma"/>
              </a:rPr>
              <a:t>(across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all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historical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periods)</a:t>
            </a:r>
            <a:endParaRPr sz="2100">
              <a:latin typeface="Tahoma"/>
              <a:cs typeface="Tahoma"/>
            </a:endParaRPr>
          </a:p>
          <a:p>
            <a:pPr marL="307340" indent="-294640">
              <a:lnSpc>
                <a:spcPct val="100000"/>
              </a:lnSpc>
              <a:spcBef>
                <a:spcPts val="2480"/>
              </a:spcBef>
              <a:buClr>
                <a:srgbClr val="F7FAFB"/>
              </a:buClr>
              <a:buFont typeface="Tahoma"/>
              <a:buAutoNum type="arabicPeriod" startAt="2"/>
              <a:tabLst>
                <a:tab pos="307340" algn="l"/>
              </a:tabLst>
            </a:pP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Germanic</a:t>
            </a:r>
            <a:endParaRPr sz="2100">
              <a:latin typeface="Tahoma"/>
              <a:cs typeface="Tahoma"/>
            </a:endParaRPr>
          </a:p>
          <a:p>
            <a:pPr marL="641350">
              <a:lnSpc>
                <a:spcPct val="100000"/>
              </a:lnSpc>
              <a:spcBef>
                <a:spcPts val="1690"/>
              </a:spcBef>
            </a:pP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English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0">
                <a:solidFill>
                  <a:srgbClr val="F7FAFB"/>
                </a:solidFill>
                <a:latin typeface="Tahoma"/>
                <a:cs typeface="Tahoma"/>
              </a:rPr>
              <a:t>(various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historical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10">
                <a:solidFill>
                  <a:srgbClr val="F7FAFB"/>
                </a:solidFill>
                <a:latin typeface="Tahoma"/>
                <a:cs typeface="Tahoma"/>
              </a:rPr>
              <a:t>stages)</a:t>
            </a:r>
            <a:endParaRPr sz="2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100">
              <a:latin typeface="Tahoma"/>
              <a:cs typeface="Tahoma"/>
            </a:endParaRPr>
          </a:p>
          <a:p>
            <a:pPr marL="307340" indent="-294640">
              <a:lnSpc>
                <a:spcPct val="100000"/>
              </a:lnSpc>
              <a:spcBef>
                <a:spcPts val="5"/>
              </a:spcBef>
              <a:buClr>
                <a:srgbClr val="F7FAFB"/>
              </a:buClr>
              <a:buFont typeface="Tahoma"/>
              <a:buAutoNum type="arabicPeriod" startAt="3"/>
              <a:tabLst>
                <a:tab pos="307340" algn="l"/>
              </a:tabLst>
            </a:pP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Romance</a:t>
            </a:r>
            <a:endParaRPr sz="2100">
              <a:latin typeface="Tahoma"/>
              <a:cs typeface="Tahoma"/>
            </a:endParaRPr>
          </a:p>
          <a:p>
            <a:pPr marL="641350" marR="3591560">
              <a:lnSpc>
                <a:spcPts val="4410"/>
              </a:lnSpc>
              <a:spcBef>
                <a:spcPts val="60"/>
              </a:spcBef>
            </a:pP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Latin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French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543560"/>
          </a:xfrm>
          <a:custGeom>
            <a:avLst/>
            <a:gdLst/>
            <a:ahLst/>
            <a:cxnLst/>
            <a:rect l="l" t="t" r="r" b="b"/>
            <a:pathLst>
              <a:path w="50165" h="543560">
                <a:moveTo>
                  <a:pt x="50125" y="543026"/>
                </a:moveTo>
                <a:lnTo>
                  <a:pt x="0" y="543026"/>
                </a:lnTo>
                <a:lnTo>
                  <a:pt x="0" y="0"/>
                </a:lnTo>
                <a:lnTo>
                  <a:pt x="50125" y="0"/>
                </a:lnTo>
                <a:lnTo>
                  <a:pt x="50125" y="543026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74191" y="1444752"/>
            <a:ext cx="4495800" cy="463550"/>
          </a:xfrm>
          <a:custGeom>
            <a:avLst/>
            <a:gdLst/>
            <a:ahLst/>
            <a:cxnLst/>
            <a:rect l="l" t="t" r="r" b="b"/>
            <a:pathLst>
              <a:path w="4495800" h="463550">
                <a:moveTo>
                  <a:pt x="4495799" y="463295"/>
                </a:moveTo>
                <a:lnTo>
                  <a:pt x="0" y="463295"/>
                </a:lnTo>
                <a:lnTo>
                  <a:pt x="0" y="0"/>
                </a:lnTo>
                <a:lnTo>
                  <a:pt x="4495799" y="0"/>
                </a:lnTo>
                <a:lnTo>
                  <a:pt x="4495799" y="463295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Why</a:t>
            </a:r>
            <a:r>
              <a:rPr dirty="0" spc="-180"/>
              <a:t> </a:t>
            </a:r>
            <a:r>
              <a:rPr dirty="0" spc="-105"/>
              <a:t>These</a:t>
            </a:r>
            <a:r>
              <a:rPr dirty="0" spc="-150"/>
              <a:t> </a:t>
            </a:r>
            <a:r>
              <a:rPr dirty="0" spc="-155"/>
              <a:t>Languages?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2885151"/>
            <a:ext cx="91896" cy="91896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3444887"/>
            <a:ext cx="91896" cy="9189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4004622"/>
            <a:ext cx="91896" cy="9189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4572711"/>
            <a:ext cx="91896" cy="91896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572097" y="2020317"/>
            <a:ext cx="6216650" cy="27527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 spc="-30" b="1">
                <a:solidFill>
                  <a:srgbClr val="FBD34D"/>
                </a:solidFill>
                <a:latin typeface="Tahoma"/>
                <a:cs typeface="Tahoma"/>
              </a:rPr>
              <a:t>Strategic</a:t>
            </a:r>
            <a:r>
              <a:rPr dirty="0" sz="2100" spc="-9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20" b="1">
                <a:solidFill>
                  <a:srgbClr val="FBD34D"/>
                </a:solidFill>
                <a:latin typeface="Tahoma"/>
                <a:cs typeface="Tahoma"/>
              </a:rPr>
              <a:t>Selection</a:t>
            </a:r>
            <a:r>
              <a:rPr dirty="0" sz="2100" spc="-8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35" b="1">
                <a:solidFill>
                  <a:srgbClr val="FBD34D"/>
                </a:solidFill>
                <a:latin typeface="Tahoma"/>
                <a:cs typeface="Tahoma"/>
              </a:rPr>
              <a:t>Based</a:t>
            </a:r>
            <a:r>
              <a:rPr dirty="0" sz="2100" spc="-8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25" b="1">
                <a:solidFill>
                  <a:srgbClr val="FBD34D"/>
                </a:solidFill>
                <a:latin typeface="Tahoma"/>
                <a:cs typeface="Tahoma"/>
              </a:rPr>
              <a:t>On:</a:t>
            </a:r>
            <a:endParaRPr sz="2100">
              <a:latin typeface="Tahoma"/>
              <a:cs typeface="Tahoma"/>
            </a:endParaRPr>
          </a:p>
          <a:p>
            <a:pPr marL="346710" marR="5080">
              <a:lnSpc>
                <a:spcPct val="174900"/>
              </a:lnSpc>
              <a:spcBef>
                <a:spcPts val="1250"/>
              </a:spcBef>
            </a:pP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Significant</a:t>
            </a:r>
            <a:r>
              <a:rPr dirty="0" sz="2100" spc="-11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attested</a:t>
            </a:r>
            <a:r>
              <a:rPr dirty="0" sz="2100" spc="-6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history</a:t>
            </a:r>
            <a:r>
              <a:rPr dirty="0" sz="2100" spc="-6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of</a:t>
            </a:r>
            <a:r>
              <a:rPr dirty="0" sz="2100" spc="-11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14">
                <a:solidFill>
                  <a:srgbClr val="F7FAFB"/>
                </a:solidFill>
                <a:latin typeface="Tahoma"/>
                <a:cs typeface="Tahoma"/>
              </a:rPr>
              <a:t>written</a:t>
            </a:r>
            <a:r>
              <a:rPr dirty="0" sz="2100" spc="-11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contact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Long</a:t>
            </a:r>
            <a:r>
              <a:rPr dirty="0" sz="2100" spc="-2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40" b="1">
                <a:solidFill>
                  <a:srgbClr val="FBD34D"/>
                </a:solidFill>
                <a:latin typeface="Tahoma"/>
                <a:cs typeface="Tahoma"/>
              </a:rPr>
              <a:t>documented</a:t>
            </a:r>
            <a:r>
              <a:rPr dirty="0" sz="2100" spc="2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traditions</a:t>
            </a:r>
            <a:endParaRPr sz="2100">
              <a:latin typeface="Tahoma"/>
              <a:cs typeface="Tahoma"/>
            </a:endParaRPr>
          </a:p>
          <a:p>
            <a:pPr marL="346710">
              <a:lnSpc>
                <a:spcPct val="100000"/>
              </a:lnSpc>
              <a:spcBef>
                <a:spcPts val="1885"/>
              </a:spcBef>
            </a:pP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Rich</a:t>
            </a:r>
            <a:r>
              <a:rPr dirty="0" sz="2100" spc="-13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translation</a:t>
            </a:r>
            <a:r>
              <a:rPr dirty="0" sz="2100" spc="-9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practices</a:t>
            </a:r>
            <a:endParaRPr sz="2100">
              <a:latin typeface="Tahoma"/>
              <a:cs typeface="Tahoma"/>
            </a:endParaRPr>
          </a:p>
          <a:p>
            <a:pPr marL="346710">
              <a:lnSpc>
                <a:spcPct val="100000"/>
              </a:lnSpc>
              <a:spcBef>
                <a:spcPts val="1955"/>
              </a:spcBef>
            </a:pP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Extensive</a:t>
            </a:r>
            <a:r>
              <a:rPr dirty="0" sz="2100" spc="-114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historical</a:t>
            </a:r>
            <a:r>
              <a:rPr dirty="0" sz="2100" spc="-7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records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543560"/>
          </a:xfrm>
          <a:custGeom>
            <a:avLst/>
            <a:gdLst/>
            <a:ahLst/>
            <a:cxnLst/>
            <a:rect l="l" t="t" r="r" b="b"/>
            <a:pathLst>
              <a:path w="50165" h="543560">
                <a:moveTo>
                  <a:pt x="50125" y="543026"/>
                </a:moveTo>
                <a:lnTo>
                  <a:pt x="0" y="543026"/>
                </a:lnTo>
                <a:lnTo>
                  <a:pt x="0" y="0"/>
                </a:lnTo>
                <a:lnTo>
                  <a:pt x="50125" y="0"/>
                </a:lnTo>
                <a:lnTo>
                  <a:pt x="50125" y="543026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77239" y="1444752"/>
            <a:ext cx="5008245" cy="463550"/>
          </a:xfrm>
          <a:custGeom>
            <a:avLst/>
            <a:gdLst/>
            <a:ahLst/>
            <a:cxnLst/>
            <a:rect l="l" t="t" r="r" b="b"/>
            <a:pathLst>
              <a:path w="5008245" h="463550">
                <a:moveTo>
                  <a:pt x="5007863" y="463295"/>
                </a:moveTo>
                <a:lnTo>
                  <a:pt x="0" y="463295"/>
                </a:lnTo>
                <a:lnTo>
                  <a:pt x="0" y="0"/>
                </a:lnTo>
                <a:lnTo>
                  <a:pt x="5007863" y="0"/>
                </a:lnTo>
                <a:lnTo>
                  <a:pt x="5007863" y="463295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89308" y="1360331"/>
            <a:ext cx="4957445" cy="5067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90"/>
              <a:t>The</a:t>
            </a:r>
            <a:r>
              <a:rPr dirty="0" spc="-150"/>
              <a:t> </a:t>
            </a:r>
            <a:r>
              <a:rPr dirty="0" spc="-85"/>
              <a:t>Role</a:t>
            </a:r>
            <a:r>
              <a:rPr dirty="0" spc="-150"/>
              <a:t> </a:t>
            </a:r>
            <a:r>
              <a:rPr dirty="0" spc="-45"/>
              <a:t>of</a:t>
            </a:r>
            <a:r>
              <a:rPr dirty="0" spc="-170"/>
              <a:t> </a:t>
            </a:r>
            <a:r>
              <a:rPr dirty="0" spc="-35"/>
              <a:t>Original</a:t>
            </a:r>
            <a:r>
              <a:rPr dirty="0" spc="-155"/>
              <a:t> </a:t>
            </a:r>
            <a:r>
              <a:rPr dirty="0" spc="-85"/>
              <a:t>Texts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2885151"/>
            <a:ext cx="91896" cy="91896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3444887"/>
            <a:ext cx="91896" cy="9189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15042" y="4000445"/>
            <a:ext cx="100251" cy="100251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15042" y="4568534"/>
            <a:ext cx="100251" cy="100251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15042" y="5128269"/>
            <a:ext cx="100251" cy="100251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572097" y="2020317"/>
            <a:ext cx="5425440" cy="40322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Original</a:t>
            </a:r>
            <a:r>
              <a:rPr dirty="0" sz="2100" spc="-11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influential</a:t>
            </a:r>
            <a:r>
              <a:rPr dirty="0" sz="2100" spc="-10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20" b="1">
                <a:solidFill>
                  <a:srgbClr val="FBD34D"/>
                </a:solidFill>
                <a:latin typeface="Tahoma"/>
                <a:cs typeface="Tahoma"/>
              </a:rPr>
              <a:t>texts</a:t>
            </a:r>
            <a:r>
              <a:rPr dirty="0" sz="2100" spc="-10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20" b="1">
                <a:solidFill>
                  <a:srgbClr val="FBD34D"/>
                </a:solidFill>
                <a:latin typeface="Tahoma"/>
                <a:cs typeface="Tahoma"/>
              </a:rPr>
              <a:t>are</a:t>
            </a:r>
            <a:r>
              <a:rPr dirty="0" sz="2100" spc="-10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20" b="1">
                <a:solidFill>
                  <a:srgbClr val="FBD34D"/>
                </a:solidFill>
                <a:latin typeface="Tahoma"/>
                <a:cs typeface="Tahoma"/>
              </a:rPr>
              <a:t>included</a:t>
            </a:r>
            <a:r>
              <a:rPr dirty="0" sz="2100" spc="-10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25" b="1">
                <a:solidFill>
                  <a:srgbClr val="FBD34D"/>
                </a:solidFill>
                <a:latin typeface="Tahoma"/>
                <a:cs typeface="Tahoma"/>
              </a:rPr>
              <a:t>as:</a:t>
            </a:r>
            <a:endParaRPr sz="2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sz="2100">
              <a:latin typeface="Tahoma"/>
              <a:cs typeface="Tahoma"/>
            </a:endParaRPr>
          </a:p>
          <a:p>
            <a:pPr marL="346710">
              <a:lnSpc>
                <a:spcPct val="100000"/>
              </a:lnSpc>
            </a:pPr>
            <a:r>
              <a:rPr dirty="0" sz="2100" spc="-35" b="1">
                <a:solidFill>
                  <a:srgbClr val="FBD34D"/>
                </a:solidFill>
                <a:latin typeface="Tahoma"/>
                <a:cs typeface="Tahoma"/>
              </a:rPr>
              <a:t>Source</a:t>
            </a:r>
            <a:r>
              <a:rPr dirty="0" sz="2100" spc="-6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20" b="1">
                <a:solidFill>
                  <a:srgbClr val="FBD34D"/>
                </a:solidFill>
                <a:latin typeface="Tahoma"/>
                <a:cs typeface="Tahoma"/>
              </a:rPr>
              <a:t>texts</a:t>
            </a:r>
            <a:r>
              <a:rPr dirty="0" sz="2100" spc="-6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for</a:t>
            </a:r>
            <a:r>
              <a:rPr dirty="0" sz="2100" spc="-10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translation</a:t>
            </a:r>
            <a:r>
              <a:rPr dirty="0" sz="2100" spc="-10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0">
                <a:solidFill>
                  <a:srgbClr val="F7FAFB"/>
                </a:solidFill>
                <a:latin typeface="Tahoma"/>
                <a:cs typeface="Tahoma"/>
              </a:rPr>
              <a:t>analysis</a:t>
            </a:r>
            <a:endParaRPr sz="2100">
              <a:latin typeface="Tahoma"/>
              <a:cs typeface="Tahoma"/>
            </a:endParaRPr>
          </a:p>
          <a:p>
            <a:pPr marL="680720" marR="561340" indent="-334645">
              <a:lnSpc>
                <a:spcPct val="174900"/>
              </a:lnSpc>
            </a:pP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Control</a:t>
            </a:r>
            <a:r>
              <a:rPr dirty="0" sz="2100" spc="-1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55" b="1">
                <a:solidFill>
                  <a:srgbClr val="FBD34D"/>
                </a:solidFill>
                <a:latin typeface="Tahoma"/>
                <a:cs typeface="Tahoma"/>
              </a:rPr>
              <a:t>group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to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identify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and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filter: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Source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language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influences</a:t>
            </a:r>
            <a:endParaRPr sz="2100">
              <a:latin typeface="Tahoma"/>
              <a:cs typeface="Tahoma"/>
            </a:endParaRPr>
          </a:p>
          <a:p>
            <a:pPr marL="680720" marR="5080">
              <a:lnSpc>
                <a:spcPct val="174900"/>
              </a:lnSpc>
              <a:spcBef>
                <a:spcPts val="65"/>
              </a:spcBef>
            </a:pP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Unique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characteristics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of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translations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"Translationese"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0">
                <a:solidFill>
                  <a:srgbClr val="F7FAFB"/>
                </a:solidFill>
                <a:latin typeface="Tahoma"/>
                <a:cs typeface="Tahoma"/>
              </a:rPr>
              <a:t>phenomena</a:t>
            </a:r>
            <a:endParaRPr sz="2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55"/>
              </a:spcBef>
            </a:pPr>
            <a:endParaRPr sz="2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2150" i="1">
                <a:solidFill>
                  <a:srgbClr val="A5F2FB"/>
                </a:solidFill>
                <a:latin typeface="Trebuchet MS"/>
                <a:cs typeface="Trebuchet MS"/>
              </a:rPr>
              <a:t>(Toury</a:t>
            </a:r>
            <a:r>
              <a:rPr dirty="0" sz="2150" spc="-140" i="1">
                <a:solidFill>
                  <a:srgbClr val="A5F2FB"/>
                </a:solidFill>
                <a:latin typeface="Trebuchet MS"/>
                <a:cs typeface="Trebuchet MS"/>
              </a:rPr>
              <a:t> </a:t>
            </a:r>
            <a:r>
              <a:rPr dirty="0" sz="2150" spc="90" i="1">
                <a:solidFill>
                  <a:srgbClr val="A5F2FB"/>
                </a:solidFill>
                <a:latin typeface="Trebuchet MS"/>
                <a:cs typeface="Trebuchet MS"/>
              </a:rPr>
              <a:t>1995)</a:t>
            </a:r>
            <a:endParaRPr sz="21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543560"/>
          </a:xfrm>
          <a:custGeom>
            <a:avLst/>
            <a:gdLst/>
            <a:ahLst/>
            <a:cxnLst/>
            <a:rect l="l" t="t" r="r" b="b"/>
            <a:pathLst>
              <a:path w="50165" h="543560">
                <a:moveTo>
                  <a:pt x="50125" y="543026"/>
                </a:moveTo>
                <a:lnTo>
                  <a:pt x="0" y="543026"/>
                </a:lnTo>
                <a:lnTo>
                  <a:pt x="0" y="0"/>
                </a:lnTo>
                <a:lnTo>
                  <a:pt x="50125" y="0"/>
                </a:lnTo>
                <a:lnTo>
                  <a:pt x="50125" y="543026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77239" y="1444752"/>
            <a:ext cx="5325110" cy="396240"/>
          </a:xfrm>
          <a:custGeom>
            <a:avLst/>
            <a:gdLst/>
            <a:ahLst/>
            <a:cxnLst/>
            <a:rect l="l" t="t" r="r" b="b"/>
            <a:pathLst>
              <a:path w="5325110" h="396239">
                <a:moveTo>
                  <a:pt x="5324855" y="396239"/>
                </a:moveTo>
                <a:lnTo>
                  <a:pt x="0" y="396239"/>
                </a:lnTo>
                <a:lnTo>
                  <a:pt x="0" y="0"/>
                </a:lnTo>
                <a:lnTo>
                  <a:pt x="5324855" y="0"/>
                </a:lnTo>
                <a:lnTo>
                  <a:pt x="5324855" y="39623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90"/>
              <a:t>The</a:t>
            </a:r>
            <a:r>
              <a:rPr dirty="0" spc="-150"/>
              <a:t> </a:t>
            </a:r>
            <a:r>
              <a:rPr dirty="0" spc="-40"/>
              <a:t>Core</a:t>
            </a:r>
            <a:r>
              <a:rPr dirty="0" spc="-155"/>
              <a:t> </a:t>
            </a:r>
            <a:r>
              <a:rPr dirty="0" spc="-40"/>
              <a:t>Hellenic</a:t>
            </a:r>
            <a:r>
              <a:rPr dirty="0" spc="-150"/>
              <a:t> </a:t>
            </a:r>
            <a:r>
              <a:rPr dirty="0" spc="-35"/>
              <a:t>Tradition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2885151"/>
            <a:ext cx="91896" cy="91896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3444887"/>
            <a:ext cx="91896" cy="9189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4004622"/>
            <a:ext cx="91896" cy="91896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572097" y="2020317"/>
            <a:ext cx="7417434" cy="21844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 spc="-20" b="1">
                <a:solidFill>
                  <a:srgbClr val="FBD34D"/>
                </a:solidFill>
                <a:latin typeface="Tahoma"/>
                <a:cs typeface="Tahoma"/>
              </a:rPr>
              <a:t>Greek:</a:t>
            </a:r>
            <a:r>
              <a:rPr dirty="0" sz="2100" spc="-8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The</a:t>
            </a:r>
            <a:r>
              <a:rPr dirty="0" sz="2100" spc="-7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60" b="1">
                <a:solidFill>
                  <a:srgbClr val="FBD34D"/>
                </a:solidFill>
                <a:latin typeface="Tahoma"/>
                <a:cs typeface="Tahoma"/>
              </a:rPr>
              <a:t>Longest</a:t>
            </a:r>
            <a:r>
              <a:rPr dirty="0" sz="2100" spc="-8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Historical</a:t>
            </a:r>
            <a:r>
              <a:rPr dirty="0" sz="2100" spc="-7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Record</a:t>
            </a:r>
            <a:endParaRPr sz="2100">
              <a:latin typeface="Tahoma"/>
              <a:cs typeface="Tahoma"/>
            </a:endParaRPr>
          </a:p>
          <a:p>
            <a:pPr marL="346710" marR="5080">
              <a:lnSpc>
                <a:spcPct val="174900"/>
              </a:lnSpc>
              <a:spcBef>
                <a:spcPts val="1250"/>
              </a:spcBef>
            </a:pPr>
            <a:r>
              <a:rPr dirty="0" sz="2100" spc="140">
                <a:solidFill>
                  <a:srgbClr val="F7FAFB"/>
                </a:solidFill>
                <a:latin typeface="Tahoma"/>
                <a:cs typeface="Tahoma"/>
              </a:rPr>
              <a:t>Written</a:t>
            </a:r>
            <a:r>
              <a:rPr dirty="0" sz="2100" spc="-9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documents</a:t>
            </a:r>
            <a:r>
              <a:rPr dirty="0" sz="2100" spc="-9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from</a:t>
            </a:r>
            <a:r>
              <a:rPr dirty="0" sz="2100" spc="-9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20" b="1">
                <a:solidFill>
                  <a:srgbClr val="FBD34D"/>
                </a:solidFill>
                <a:latin typeface="Tahoma"/>
                <a:cs typeface="Tahoma"/>
              </a:rPr>
              <a:t>Mycenaean</a:t>
            </a:r>
            <a:r>
              <a:rPr dirty="0" sz="2100" spc="-5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25" b="1">
                <a:solidFill>
                  <a:srgbClr val="FBD34D"/>
                </a:solidFill>
                <a:latin typeface="Tahoma"/>
                <a:cs typeface="Tahoma"/>
              </a:rPr>
              <a:t>era</a:t>
            </a:r>
            <a:r>
              <a:rPr dirty="0" sz="2100" spc="-5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to</a:t>
            </a:r>
            <a:r>
              <a:rPr dirty="0" sz="2100" spc="-9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present</a:t>
            </a:r>
            <a:r>
              <a:rPr dirty="0" sz="2100" spc="-9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25">
                <a:solidFill>
                  <a:srgbClr val="F7FAFB"/>
                </a:solidFill>
                <a:latin typeface="Tahoma"/>
                <a:cs typeface="Tahoma"/>
              </a:rPr>
              <a:t>day </a:t>
            </a:r>
            <a:r>
              <a:rPr dirty="0" sz="2100" spc="95">
                <a:solidFill>
                  <a:srgbClr val="F7FAFB"/>
                </a:solidFill>
                <a:latin typeface="Tahoma"/>
                <a:cs typeface="Tahoma"/>
              </a:rPr>
              <a:t>Unparalleled</a:t>
            </a:r>
            <a:r>
              <a:rPr dirty="0" sz="2100" spc="-10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continuity</a:t>
            </a:r>
            <a:r>
              <a:rPr dirty="0" sz="2100" spc="-5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of</a:t>
            </a:r>
            <a:r>
              <a:rPr dirty="0" sz="2100" spc="-9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documentation</a:t>
            </a:r>
            <a:endParaRPr sz="2100">
              <a:latin typeface="Tahoma"/>
              <a:cs typeface="Tahoma"/>
            </a:endParaRPr>
          </a:p>
          <a:p>
            <a:pPr marL="346710">
              <a:lnSpc>
                <a:spcPct val="100000"/>
              </a:lnSpc>
              <a:spcBef>
                <a:spcPts val="1885"/>
              </a:spcBef>
            </a:pPr>
            <a:r>
              <a:rPr dirty="0" sz="2100" spc="130">
                <a:solidFill>
                  <a:srgbClr val="F7FAFB"/>
                </a:solidFill>
                <a:latin typeface="Tahoma"/>
                <a:cs typeface="Tahoma"/>
              </a:rPr>
              <a:t>Critical</a:t>
            </a:r>
            <a:r>
              <a:rPr dirty="0" sz="2100" spc="-9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for</a:t>
            </a:r>
            <a:r>
              <a:rPr dirty="0" sz="2100" spc="-9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understanding</a:t>
            </a:r>
            <a:r>
              <a:rPr dirty="0" sz="2100" spc="-9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50" b="1">
                <a:solidFill>
                  <a:srgbClr val="FBD34D"/>
                </a:solidFill>
                <a:latin typeface="Tahoma"/>
                <a:cs typeface="Tahoma"/>
              </a:rPr>
              <a:t>long-</a:t>
            </a:r>
            <a:r>
              <a:rPr dirty="0" sz="2100" spc="-20" b="1">
                <a:solidFill>
                  <a:srgbClr val="FBD34D"/>
                </a:solidFill>
                <a:latin typeface="Tahoma"/>
                <a:cs typeface="Tahoma"/>
              </a:rPr>
              <a:t>term</a:t>
            </a:r>
            <a:r>
              <a:rPr dirty="0" sz="2100" spc="-4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70" b="1">
                <a:solidFill>
                  <a:srgbClr val="FBD34D"/>
                </a:solidFill>
                <a:latin typeface="Tahoma"/>
                <a:cs typeface="Tahoma"/>
              </a:rPr>
              <a:t>language</a:t>
            </a:r>
            <a:r>
              <a:rPr dirty="0" sz="2100" spc="-4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change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543560"/>
          </a:xfrm>
          <a:custGeom>
            <a:avLst/>
            <a:gdLst/>
            <a:ahLst/>
            <a:cxnLst/>
            <a:rect l="l" t="t" r="r" b="b"/>
            <a:pathLst>
              <a:path w="50165" h="543560">
                <a:moveTo>
                  <a:pt x="50125" y="543026"/>
                </a:moveTo>
                <a:lnTo>
                  <a:pt x="0" y="543026"/>
                </a:lnTo>
                <a:lnTo>
                  <a:pt x="0" y="0"/>
                </a:lnTo>
                <a:lnTo>
                  <a:pt x="50125" y="0"/>
                </a:lnTo>
                <a:lnTo>
                  <a:pt x="50125" y="543026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98575" y="1444752"/>
            <a:ext cx="7190740" cy="457200"/>
          </a:xfrm>
          <a:custGeom>
            <a:avLst/>
            <a:gdLst/>
            <a:ahLst/>
            <a:cxnLst/>
            <a:rect l="l" t="t" r="r" b="b"/>
            <a:pathLst>
              <a:path w="7190740" h="457200">
                <a:moveTo>
                  <a:pt x="7190231" y="457199"/>
                </a:moveTo>
                <a:lnTo>
                  <a:pt x="0" y="457199"/>
                </a:lnTo>
                <a:lnTo>
                  <a:pt x="0" y="0"/>
                </a:lnTo>
                <a:lnTo>
                  <a:pt x="7190231" y="0"/>
                </a:lnTo>
                <a:lnTo>
                  <a:pt x="7190231" y="45719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20"/>
              <a:t>Focus</a:t>
            </a:r>
            <a:r>
              <a:rPr dirty="0" spc="-105"/>
              <a:t> </a:t>
            </a:r>
            <a:r>
              <a:rPr dirty="0" spc="-135"/>
              <a:t>on</a:t>
            </a:r>
            <a:r>
              <a:rPr dirty="0" spc="-110"/>
              <a:t> </a:t>
            </a:r>
            <a:r>
              <a:rPr dirty="0" spc="-75"/>
              <a:t>Post-</a:t>
            </a:r>
            <a:r>
              <a:rPr dirty="0" spc="-70"/>
              <a:t>Classical</a:t>
            </a:r>
            <a:r>
              <a:rPr dirty="0" spc="-105"/>
              <a:t> </a:t>
            </a:r>
            <a:r>
              <a:rPr dirty="0" spc="-50"/>
              <a:t>Development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2885151"/>
            <a:ext cx="91896" cy="91896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3444887"/>
            <a:ext cx="91896" cy="9189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4004622"/>
            <a:ext cx="91896" cy="91896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572097" y="2020317"/>
            <a:ext cx="9043670" cy="33375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 spc="50">
                <a:solidFill>
                  <a:srgbClr val="F7FAFB"/>
                </a:solidFill>
                <a:latin typeface="Tahoma"/>
                <a:cs typeface="Tahoma"/>
              </a:rPr>
              <a:t>The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10">
                <a:solidFill>
                  <a:srgbClr val="F7FAFB"/>
                </a:solidFill>
                <a:latin typeface="Tahoma"/>
                <a:cs typeface="Tahoma"/>
              </a:rPr>
              <a:t>CVL-</a:t>
            </a:r>
            <a:r>
              <a:rPr dirty="0" sz="2100" spc="195">
                <a:solidFill>
                  <a:srgbClr val="F7FAFB"/>
                </a:solidFill>
                <a:latin typeface="Tahoma"/>
                <a:cs typeface="Tahoma"/>
              </a:rPr>
              <a:t>CDSAML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corpus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10">
                <a:solidFill>
                  <a:srgbClr val="F7FAFB"/>
                </a:solidFill>
                <a:latin typeface="Tahoma"/>
                <a:cs typeface="Tahoma"/>
              </a:rPr>
              <a:t>examines:</a:t>
            </a:r>
            <a:endParaRPr sz="2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sz="2100">
              <a:latin typeface="Tahoma"/>
              <a:cs typeface="Tahoma"/>
            </a:endParaRPr>
          </a:p>
          <a:p>
            <a:pPr marL="346710">
              <a:lnSpc>
                <a:spcPct val="100000"/>
              </a:lnSpc>
            </a:pP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Koine</a:t>
            </a:r>
            <a:r>
              <a:rPr dirty="0" sz="2100" spc="-4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Greek</a:t>
            </a:r>
            <a:r>
              <a:rPr dirty="0" sz="2100" spc="-4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95">
                <a:solidFill>
                  <a:srgbClr val="F7FAFB"/>
                </a:solidFill>
                <a:latin typeface="Tahoma"/>
                <a:cs typeface="Tahoma"/>
              </a:rPr>
              <a:t>(Hellenistic</a:t>
            </a:r>
            <a:r>
              <a:rPr dirty="0" sz="2100" spc="-9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and</a:t>
            </a:r>
            <a:r>
              <a:rPr dirty="0" sz="2100" spc="-9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0">
                <a:solidFill>
                  <a:srgbClr val="F7FAFB"/>
                </a:solidFill>
                <a:latin typeface="Tahoma"/>
                <a:cs typeface="Tahoma"/>
              </a:rPr>
              <a:t>Roman</a:t>
            </a:r>
            <a:r>
              <a:rPr dirty="0" sz="2100" spc="-9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periods)</a:t>
            </a:r>
            <a:endParaRPr sz="2100">
              <a:latin typeface="Tahoma"/>
              <a:cs typeface="Tahoma"/>
            </a:endParaRPr>
          </a:p>
          <a:p>
            <a:pPr marL="346710">
              <a:lnSpc>
                <a:spcPct val="100000"/>
              </a:lnSpc>
              <a:spcBef>
                <a:spcPts val="1890"/>
              </a:spcBef>
            </a:pP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Byzantine</a:t>
            </a:r>
            <a:r>
              <a:rPr dirty="0" sz="2100" spc="-9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Greek</a:t>
            </a:r>
            <a:r>
              <a:rPr dirty="0" sz="2100" spc="-8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95">
                <a:solidFill>
                  <a:srgbClr val="F7FAFB"/>
                </a:solidFill>
                <a:latin typeface="Tahoma"/>
                <a:cs typeface="Tahoma"/>
              </a:rPr>
              <a:t>(Medieval</a:t>
            </a:r>
            <a:r>
              <a:rPr dirty="0" sz="2100" spc="-13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period)</a:t>
            </a:r>
            <a:endParaRPr sz="2100">
              <a:latin typeface="Tahoma"/>
              <a:cs typeface="Tahoma"/>
            </a:endParaRPr>
          </a:p>
          <a:p>
            <a:pPr marL="346710">
              <a:lnSpc>
                <a:spcPct val="100000"/>
              </a:lnSpc>
              <a:spcBef>
                <a:spcPts val="1885"/>
              </a:spcBef>
            </a:pP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Modern</a:t>
            </a:r>
            <a:r>
              <a:rPr dirty="0" sz="2100" spc="-8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Greek</a:t>
            </a:r>
            <a:r>
              <a:rPr dirty="0" sz="2100" spc="-8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varieties</a:t>
            </a:r>
            <a:endParaRPr sz="2100">
              <a:latin typeface="Tahoma"/>
              <a:cs typeface="Tahoma"/>
            </a:endParaRPr>
          </a:p>
          <a:p>
            <a:pPr marL="12700" marR="5080">
              <a:lnSpc>
                <a:spcPct val="133100"/>
              </a:lnSpc>
              <a:spcBef>
                <a:spcPts val="2370"/>
              </a:spcBef>
            </a:pPr>
            <a:r>
              <a:rPr dirty="0" sz="2100" spc="-20" b="1">
                <a:solidFill>
                  <a:srgbClr val="FBD34D"/>
                </a:solidFill>
                <a:latin typeface="Tahoma"/>
                <a:cs typeface="Tahoma"/>
              </a:rPr>
              <a:t>Why?</a:t>
            </a:r>
            <a:r>
              <a:rPr dirty="0" sz="2100" spc="-4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This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period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represents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a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crucial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time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for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studying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14">
                <a:solidFill>
                  <a:srgbClr val="F7FAFB"/>
                </a:solidFill>
                <a:latin typeface="Tahoma"/>
                <a:cs typeface="Tahoma"/>
              </a:rPr>
              <a:t>Greek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40">
                <a:solidFill>
                  <a:srgbClr val="F7FAFB"/>
                </a:solidFill>
                <a:latin typeface="Tahoma"/>
                <a:cs typeface="Tahoma"/>
              </a:rPr>
              <a:t>grammar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shift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543560"/>
          </a:xfrm>
          <a:custGeom>
            <a:avLst/>
            <a:gdLst/>
            <a:ahLst/>
            <a:cxnLst/>
            <a:rect l="l" t="t" r="r" b="b"/>
            <a:pathLst>
              <a:path w="50165" h="543560">
                <a:moveTo>
                  <a:pt x="50125" y="543026"/>
                </a:moveTo>
                <a:lnTo>
                  <a:pt x="0" y="543026"/>
                </a:lnTo>
                <a:lnTo>
                  <a:pt x="0" y="0"/>
                </a:lnTo>
                <a:lnTo>
                  <a:pt x="50125" y="0"/>
                </a:lnTo>
                <a:lnTo>
                  <a:pt x="50125" y="543026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80287" y="1444752"/>
            <a:ext cx="7842884" cy="457200"/>
          </a:xfrm>
          <a:custGeom>
            <a:avLst/>
            <a:gdLst/>
            <a:ahLst/>
            <a:cxnLst/>
            <a:rect l="l" t="t" r="r" b="b"/>
            <a:pathLst>
              <a:path w="7842884" h="457200">
                <a:moveTo>
                  <a:pt x="7842503" y="457199"/>
                </a:moveTo>
                <a:lnTo>
                  <a:pt x="0" y="457199"/>
                </a:lnTo>
                <a:lnTo>
                  <a:pt x="0" y="0"/>
                </a:lnTo>
                <a:lnTo>
                  <a:pt x="7842503" y="0"/>
                </a:lnTo>
                <a:lnTo>
                  <a:pt x="7842503" y="45719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90"/>
              <a:t>Grammatical</a:t>
            </a:r>
            <a:r>
              <a:rPr dirty="0" spc="-130"/>
              <a:t> </a:t>
            </a:r>
            <a:r>
              <a:rPr dirty="0" spc="-100"/>
              <a:t>Shift:</a:t>
            </a:r>
            <a:r>
              <a:rPr dirty="0" spc="-130"/>
              <a:t> </a:t>
            </a:r>
            <a:r>
              <a:rPr dirty="0" spc="-65"/>
              <a:t>Synthetic</a:t>
            </a:r>
            <a:r>
              <a:rPr dirty="0" spc="-125"/>
              <a:t> </a:t>
            </a:r>
            <a:r>
              <a:rPr dirty="0" spc="-30"/>
              <a:t>to</a:t>
            </a:r>
            <a:r>
              <a:rPr dirty="0" spc="-130"/>
              <a:t> </a:t>
            </a:r>
            <a:r>
              <a:rPr dirty="0" spc="-10"/>
              <a:t>Analytic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2885151"/>
            <a:ext cx="91896" cy="91896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3444887"/>
            <a:ext cx="91896" cy="91896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572097" y="2020317"/>
            <a:ext cx="7586980" cy="286258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Major</a:t>
            </a:r>
            <a:r>
              <a:rPr dirty="0" sz="2100" spc="-9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30" b="1">
                <a:solidFill>
                  <a:srgbClr val="FBD34D"/>
                </a:solidFill>
                <a:latin typeface="Tahoma"/>
                <a:cs typeface="Tahoma"/>
              </a:rPr>
              <a:t>Transition</a:t>
            </a:r>
            <a:r>
              <a:rPr dirty="0" sz="2100" spc="-9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in</a:t>
            </a:r>
            <a:r>
              <a:rPr dirty="0" sz="2100" spc="-9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Greek:</a:t>
            </a:r>
            <a:endParaRPr sz="2100">
              <a:latin typeface="Tahoma"/>
              <a:cs typeface="Tahoma"/>
            </a:endParaRPr>
          </a:p>
          <a:p>
            <a:pPr marL="346710" marR="474980">
              <a:lnSpc>
                <a:spcPct val="174900"/>
              </a:lnSpc>
              <a:spcBef>
                <a:spcPts val="1250"/>
              </a:spcBef>
            </a:pP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From</a:t>
            </a:r>
            <a:r>
              <a:rPr dirty="0" sz="2100" spc="-9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synthetic</a:t>
            </a:r>
            <a:r>
              <a:rPr dirty="0" sz="2100" spc="-5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20" b="1">
                <a:solidFill>
                  <a:srgbClr val="FBD34D"/>
                </a:solidFill>
                <a:latin typeface="Tahoma"/>
                <a:cs typeface="Tahoma"/>
              </a:rPr>
              <a:t>structures</a:t>
            </a:r>
            <a:r>
              <a:rPr dirty="0" sz="2100" spc="-4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(morphologically</a:t>
            </a:r>
            <a:r>
              <a:rPr dirty="0" sz="2100" spc="-9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35">
                <a:solidFill>
                  <a:srgbClr val="F7FAFB"/>
                </a:solidFill>
                <a:latin typeface="Tahoma"/>
                <a:cs typeface="Tahoma"/>
              </a:rPr>
              <a:t>complex) </a:t>
            </a:r>
            <a:r>
              <a:rPr dirty="0" sz="2100" spc="-30">
                <a:solidFill>
                  <a:srgbClr val="F7FAFB"/>
                </a:solidFill>
                <a:latin typeface="Tahoma"/>
                <a:cs typeface="Tahoma"/>
              </a:rPr>
              <a:t>To</a:t>
            </a:r>
            <a:r>
              <a:rPr dirty="0" sz="2100" spc="-10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analytic</a:t>
            </a:r>
            <a:r>
              <a:rPr dirty="0" sz="2100" spc="-6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20" b="1">
                <a:solidFill>
                  <a:srgbClr val="FBD34D"/>
                </a:solidFill>
                <a:latin typeface="Tahoma"/>
                <a:cs typeface="Tahoma"/>
              </a:rPr>
              <a:t>structures</a:t>
            </a:r>
            <a:r>
              <a:rPr dirty="0" sz="2100" spc="-6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(syntactically</a:t>
            </a:r>
            <a:r>
              <a:rPr dirty="0" sz="2100" spc="-10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35">
                <a:solidFill>
                  <a:srgbClr val="F7FAFB"/>
                </a:solidFill>
                <a:latin typeface="Tahoma"/>
                <a:cs typeface="Tahoma"/>
              </a:rPr>
              <a:t>complex)</a:t>
            </a:r>
            <a:endParaRPr sz="2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2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Key</a:t>
            </a:r>
            <a:r>
              <a:rPr dirty="0" sz="2100" spc="-5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40" b="1">
                <a:solidFill>
                  <a:srgbClr val="FBD34D"/>
                </a:solidFill>
                <a:latin typeface="Tahoma"/>
                <a:cs typeface="Tahoma"/>
              </a:rPr>
              <a:t>Research</a:t>
            </a:r>
            <a:r>
              <a:rPr dirty="0" sz="2100" spc="-5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Question:</a:t>
            </a:r>
            <a:r>
              <a:rPr dirty="0" sz="2100" spc="-5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130">
                <a:solidFill>
                  <a:srgbClr val="F7FAFB"/>
                </a:solidFill>
                <a:latin typeface="Tahoma"/>
                <a:cs typeface="Tahoma"/>
              </a:rPr>
              <a:t>How</a:t>
            </a:r>
            <a:r>
              <a:rPr dirty="0" sz="2100" spc="-9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and</a:t>
            </a:r>
            <a:r>
              <a:rPr dirty="0" sz="2100" spc="-9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when</a:t>
            </a:r>
            <a:r>
              <a:rPr dirty="0" sz="2100" spc="-9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did</a:t>
            </a:r>
            <a:r>
              <a:rPr dirty="0" sz="2100" spc="-9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this</a:t>
            </a:r>
            <a:r>
              <a:rPr dirty="0" sz="2100" spc="-9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shift</a:t>
            </a:r>
            <a:r>
              <a:rPr dirty="0" sz="2100" spc="-9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40">
                <a:solidFill>
                  <a:srgbClr val="F7FAFB"/>
                </a:solidFill>
                <a:latin typeface="Tahoma"/>
                <a:cs typeface="Tahoma"/>
              </a:rPr>
              <a:t>occur?</a:t>
            </a:r>
            <a:endParaRPr sz="2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445"/>
              </a:spcBef>
            </a:pPr>
            <a:r>
              <a:rPr dirty="0" sz="2150" spc="45" i="1">
                <a:solidFill>
                  <a:srgbClr val="A5F2FB"/>
                </a:solidFill>
                <a:latin typeface="Trebuchet MS"/>
                <a:cs typeface="Trebuchet MS"/>
              </a:rPr>
              <a:t>(Browning</a:t>
            </a:r>
            <a:r>
              <a:rPr dirty="0" sz="2150" spc="-65" i="1">
                <a:solidFill>
                  <a:srgbClr val="A5F2FB"/>
                </a:solidFill>
                <a:latin typeface="Trebuchet MS"/>
                <a:cs typeface="Trebuchet MS"/>
              </a:rPr>
              <a:t> </a:t>
            </a:r>
            <a:r>
              <a:rPr dirty="0" sz="2150" spc="80" i="1">
                <a:solidFill>
                  <a:srgbClr val="A5F2FB"/>
                </a:solidFill>
                <a:latin typeface="Trebuchet MS"/>
                <a:cs typeface="Trebuchet MS"/>
              </a:rPr>
              <a:t>1983;</a:t>
            </a:r>
            <a:r>
              <a:rPr dirty="0" sz="2150" spc="-65" i="1">
                <a:solidFill>
                  <a:srgbClr val="A5F2FB"/>
                </a:solidFill>
                <a:latin typeface="Trebuchet MS"/>
                <a:cs typeface="Trebuchet MS"/>
              </a:rPr>
              <a:t> </a:t>
            </a:r>
            <a:r>
              <a:rPr dirty="0" sz="2150" spc="85" i="1">
                <a:solidFill>
                  <a:srgbClr val="A5F2FB"/>
                </a:solidFill>
                <a:latin typeface="Trebuchet MS"/>
                <a:cs typeface="Trebuchet MS"/>
              </a:rPr>
              <a:t>Horrocks</a:t>
            </a:r>
            <a:r>
              <a:rPr dirty="0" sz="2150" spc="-60" i="1">
                <a:solidFill>
                  <a:srgbClr val="A5F2FB"/>
                </a:solidFill>
                <a:latin typeface="Trebuchet MS"/>
                <a:cs typeface="Trebuchet MS"/>
              </a:rPr>
              <a:t> </a:t>
            </a:r>
            <a:r>
              <a:rPr dirty="0" sz="2150" spc="90" i="1">
                <a:solidFill>
                  <a:srgbClr val="A5F2FB"/>
                </a:solidFill>
                <a:latin typeface="Trebuchet MS"/>
                <a:cs typeface="Trebuchet MS"/>
              </a:rPr>
              <a:t>2010)</a:t>
            </a:r>
            <a:endParaRPr sz="21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543560"/>
          </a:xfrm>
          <a:custGeom>
            <a:avLst/>
            <a:gdLst/>
            <a:ahLst/>
            <a:cxnLst/>
            <a:rect l="l" t="t" r="r" b="b"/>
            <a:pathLst>
              <a:path w="50165" h="543560">
                <a:moveTo>
                  <a:pt x="50125" y="543026"/>
                </a:moveTo>
                <a:lnTo>
                  <a:pt x="0" y="543026"/>
                </a:lnTo>
                <a:lnTo>
                  <a:pt x="0" y="0"/>
                </a:lnTo>
                <a:lnTo>
                  <a:pt x="50125" y="0"/>
                </a:lnTo>
                <a:lnTo>
                  <a:pt x="50125" y="543026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98575" y="1444752"/>
            <a:ext cx="5577840" cy="463550"/>
          </a:xfrm>
          <a:custGeom>
            <a:avLst/>
            <a:gdLst/>
            <a:ahLst/>
            <a:cxnLst/>
            <a:rect l="l" t="t" r="r" b="b"/>
            <a:pathLst>
              <a:path w="5577840" h="463550">
                <a:moveTo>
                  <a:pt x="5577839" y="463295"/>
                </a:moveTo>
                <a:lnTo>
                  <a:pt x="0" y="463295"/>
                </a:lnTo>
                <a:lnTo>
                  <a:pt x="0" y="0"/>
                </a:lnTo>
                <a:lnTo>
                  <a:pt x="5577839" y="0"/>
                </a:lnTo>
                <a:lnTo>
                  <a:pt x="5577839" y="463295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60"/>
              <a:t>Dual</a:t>
            </a:r>
            <a:r>
              <a:rPr dirty="0" spc="-170"/>
              <a:t> </a:t>
            </a:r>
            <a:r>
              <a:rPr dirty="0" spc="-45"/>
              <a:t>Methodology</a:t>
            </a:r>
            <a:r>
              <a:rPr dirty="0" spc="-170"/>
              <a:t> </a:t>
            </a:r>
            <a:r>
              <a:rPr dirty="0" spc="-10"/>
              <a:t>Approach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2885151"/>
            <a:ext cx="91896" cy="91896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3444887"/>
            <a:ext cx="91896" cy="9189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4004622"/>
            <a:ext cx="91896" cy="9189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5959518"/>
            <a:ext cx="91896" cy="91896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6527607"/>
            <a:ext cx="91896" cy="91896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572097" y="2020317"/>
            <a:ext cx="4089400" cy="47072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Philological</a:t>
            </a:r>
            <a:r>
              <a:rPr dirty="0" sz="2100" spc="-6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Curation:</a:t>
            </a:r>
            <a:endParaRPr sz="2100">
              <a:latin typeface="Tahoma"/>
              <a:cs typeface="Tahoma"/>
            </a:endParaRPr>
          </a:p>
          <a:p>
            <a:pPr marL="346710" marR="532130">
              <a:lnSpc>
                <a:spcPct val="174900"/>
              </a:lnSpc>
              <a:spcBef>
                <a:spcPts val="1250"/>
              </a:spcBef>
            </a:pP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Expert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text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selection </a:t>
            </a:r>
            <a:r>
              <a:rPr dirty="0" sz="2100" spc="130">
                <a:solidFill>
                  <a:srgbClr val="F7FAFB"/>
                </a:solidFill>
                <a:latin typeface="Tahoma"/>
                <a:cs typeface="Tahoma"/>
              </a:rPr>
              <a:t>Critical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edition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standards </a:t>
            </a:r>
            <a:r>
              <a:rPr dirty="0" sz="2100" spc="120">
                <a:solidFill>
                  <a:srgbClr val="F7FAFB"/>
                </a:solidFill>
                <a:latin typeface="Tahoma"/>
                <a:cs typeface="Tahoma"/>
              </a:rPr>
              <a:t>Historical</a:t>
            </a:r>
            <a:r>
              <a:rPr dirty="0" sz="2100" spc="-9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authenticity</a:t>
            </a:r>
            <a:endParaRPr sz="2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2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2100" spc="-550" b="1">
                <a:solidFill>
                  <a:srgbClr val="FBD34D"/>
                </a:solidFill>
                <a:latin typeface="Tahoma"/>
                <a:cs typeface="Tahoma"/>
              </a:rPr>
              <a:t>+</a:t>
            </a:r>
            <a:endParaRPr sz="2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495"/>
              </a:spcBef>
            </a:pPr>
            <a:r>
              <a:rPr dirty="0" sz="2100" spc="-20" b="1">
                <a:solidFill>
                  <a:srgbClr val="FBD34D"/>
                </a:solidFill>
                <a:latin typeface="Tahoma"/>
                <a:cs typeface="Tahoma"/>
              </a:rPr>
              <a:t>Computational</a:t>
            </a:r>
            <a:r>
              <a:rPr dirty="0" sz="2100" spc="-5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Processing:</a:t>
            </a:r>
            <a:endParaRPr sz="2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sz="2100">
              <a:latin typeface="Tahoma"/>
              <a:cs typeface="Tahoma"/>
            </a:endParaRPr>
          </a:p>
          <a:p>
            <a:pPr marL="346710">
              <a:lnSpc>
                <a:spcPct val="100000"/>
              </a:lnSpc>
            </a:pP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Systematic</a:t>
            </a:r>
            <a:r>
              <a:rPr dirty="0" sz="2100" spc="-9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0">
                <a:solidFill>
                  <a:srgbClr val="F7FAFB"/>
                </a:solidFill>
                <a:latin typeface="Tahoma"/>
                <a:cs typeface="Tahoma"/>
              </a:rPr>
              <a:t>analysis</a:t>
            </a:r>
            <a:endParaRPr sz="2100">
              <a:latin typeface="Tahoma"/>
              <a:cs typeface="Tahoma"/>
            </a:endParaRPr>
          </a:p>
          <a:p>
            <a:pPr marL="346710">
              <a:lnSpc>
                <a:spcPct val="100000"/>
              </a:lnSpc>
              <a:spcBef>
                <a:spcPts val="1955"/>
              </a:spcBef>
            </a:pP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Large-</a:t>
            </a:r>
            <a:r>
              <a:rPr dirty="0" sz="2100" spc="60">
                <a:solidFill>
                  <a:srgbClr val="F7FAFB"/>
                </a:solidFill>
                <a:latin typeface="Tahoma"/>
                <a:cs typeface="Tahoma"/>
              </a:rPr>
              <a:t>scale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5">
                <a:solidFill>
                  <a:srgbClr val="F7FAFB"/>
                </a:solidFill>
                <a:latin typeface="Tahoma"/>
                <a:cs typeface="Tahoma"/>
              </a:rPr>
              <a:t>pattern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detection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543560"/>
          </a:xfrm>
          <a:custGeom>
            <a:avLst/>
            <a:gdLst/>
            <a:ahLst/>
            <a:cxnLst/>
            <a:rect l="l" t="t" r="r" b="b"/>
            <a:pathLst>
              <a:path w="50165" h="543560">
                <a:moveTo>
                  <a:pt x="50125" y="543026"/>
                </a:moveTo>
                <a:lnTo>
                  <a:pt x="0" y="543026"/>
                </a:lnTo>
                <a:lnTo>
                  <a:pt x="0" y="0"/>
                </a:lnTo>
                <a:lnTo>
                  <a:pt x="50125" y="0"/>
                </a:lnTo>
                <a:lnTo>
                  <a:pt x="50125" y="543026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80287" y="1444752"/>
            <a:ext cx="4724400" cy="396240"/>
          </a:xfrm>
          <a:custGeom>
            <a:avLst/>
            <a:gdLst/>
            <a:ahLst/>
            <a:cxnLst/>
            <a:rect l="l" t="t" r="r" b="b"/>
            <a:pathLst>
              <a:path w="4724400" h="396239">
                <a:moveTo>
                  <a:pt x="4724399" y="396239"/>
                </a:moveTo>
                <a:lnTo>
                  <a:pt x="0" y="396239"/>
                </a:lnTo>
                <a:lnTo>
                  <a:pt x="0" y="0"/>
                </a:lnTo>
                <a:lnTo>
                  <a:pt x="4724399" y="0"/>
                </a:lnTo>
                <a:lnTo>
                  <a:pt x="4724399" y="39623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70"/>
              <a:t>Classical</a:t>
            </a:r>
            <a:r>
              <a:rPr dirty="0" spc="-120"/>
              <a:t> </a:t>
            </a:r>
            <a:r>
              <a:rPr dirty="0" spc="-60"/>
              <a:t>Greek</a:t>
            </a:r>
            <a:r>
              <a:rPr dirty="0" spc="-120"/>
              <a:t> </a:t>
            </a:r>
            <a:r>
              <a:rPr dirty="0" spc="-50"/>
              <a:t>Baseline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2885151"/>
            <a:ext cx="91896" cy="91896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3444887"/>
            <a:ext cx="91896" cy="9189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4004622"/>
            <a:ext cx="91896" cy="91896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572097" y="2012090"/>
            <a:ext cx="6617334" cy="292100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Herodotus'</a:t>
            </a:r>
            <a:r>
              <a:rPr dirty="0" sz="2100" spc="1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50" b="1" i="1">
                <a:solidFill>
                  <a:srgbClr val="A5F2FB"/>
                </a:solidFill>
                <a:latin typeface="Trebuchet MS"/>
                <a:cs typeface="Trebuchet MS"/>
              </a:rPr>
              <a:t>Histories</a:t>
            </a:r>
            <a:r>
              <a:rPr dirty="0" sz="2150" spc="-20" b="1" i="1">
                <a:solidFill>
                  <a:srgbClr val="A5F2FB"/>
                </a:solidFill>
                <a:latin typeface="Trebuchet MS"/>
                <a:cs typeface="Trebuchet MS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provides:</a:t>
            </a:r>
            <a:endParaRPr sz="2100">
              <a:latin typeface="Tahoma"/>
              <a:cs typeface="Tahoma"/>
            </a:endParaRPr>
          </a:p>
          <a:p>
            <a:pPr marL="346710" marR="5080">
              <a:lnSpc>
                <a:spcPct val="174900"/>
              </a:lnSpc>
              <a:spcBef>
                <a:spcPts val="1240"/>
              </a:spcBef>
            </a:pP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Evidence</a:t>
            </a:r>
            <a:r>
              <a:rPr dirty="0" sz="2100" spc="-10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for</a:t>
            </a:r>
            <a:r>
              <a:rPr dirty="0" sz="2100" spc="-10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20" b="1">
                <a:solidFill>
                  <a:srgbClr val="FBD34D"/>
                </a:solidFill>
                <a:latin typeface="Tahoma"/>
                <a:cs typeface="Tahoma"/>
              </a:rPr>
              <a:t>register</a:t>
            </a:r>
            <a:r>
              <a:rPr dirty="0" sz="2100" spc="-5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variation</a:t>
            </a:r>
            <a:r>
              <a:rPr dirty="0" sz="2100" spc="-5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in</a:t>
            </a:r>
            <a:r>
              <a:rPr dirty="0" sz="2100" spc="-10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5">
                <a:solidFill>
                  <a:srgbClr val="F7FAFB"/>
                </a:solidFill>
                <a:latin typeface="Tahoma"/>
                <a:cs typeface="Tahoma"/>
              </a:rPr>
              <a:t>Classical</a:t>
            </a:r>
            <a:r>
              <a:rPr dirty="0" sz="2100" spc="-10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5">
                <a:solidFill>
                  <a:srgbClr val="F7FAFB"/>
                </a:solidFill>
                <a:latin typeface="Tahoma"/>
                <a:cs typeface="Tahoma"/>
              </a:rPr>
              <a:t>Greek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Contextual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baseline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for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later</a:t>
            </a:r>
            <a:r>
              <a:rPr dirty="0" sz="2100" spc="-4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developments </a:t>
            </a:r>
            <a:r>
              <a:rPr dirty="0" sz="2100" spc="95">
                <a:solidFill>
                  <a:srgbClr val="F7FAFB"/>
                </a:solidFill>
                <a:latin typeface="Tahoma"/>
                <a:cs typeface="Tahoma"/>
              </a:rPr>
              <a:t>Comparison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point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for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20" b="1">
                <a:solidFill>
                  <a:srgbClr val="FBD34D"/>
                </a:solidFill>
                <a:latin typeface="Tahoma"/>
                <a:cs typeface="Tahoma"/>
              </a:rPr>
              <a:t>linguistic</a:t>
            </a:r>
            <a:r>
              <a:rPr dirty="0" sz="2100" spc="-3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change</a:t>
            </a:r>
            <a:endParaRPr sz="2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15"/>
              </a:spcBef>
            </a:pPr>
            <a:endParaRPr sz="2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2150" i="1">
                <a:solidFill>
                  <a:srgbClr val="A5F2FB"/>
                </a:solidFill>
                <a:latin typeface="Trebuchet MS"/>
                <a:cs typeface="Trebuchet MS"/>
              </a:rPr>
              <a:t>(Biber</a:t>
            </a:r>
            <a:r>
              <a:rPr dirty="0" sz="2150" spc="-45" i="1">
                <a:solidFill>
                  <a:srgbClr val="A5F2FB"/>
                </a:solidFill>
                <a:latin typeface="Trebuchet MS"/>
                <a:cs typeface="Trebuchet MS"/>
              </a:rPr>
              <a:t> </a:t>
            </a:r>
            <a:r>
              <a:rPr dirty="0" sz="2150" i="1">
                <a:solidFill>
                  <a:srgbClr val="A5F2FB"/>
                </a:solidFill>
                <a:latin typeface="Trebuchet MS"/>
                <a:cs typeface="Trebuchet MS"/>
              </a:rPr>
              <a:t>&amp;</a:t>
            </a:r>
            <a:r>
              <a:rPr dirty="0" sz="2150" spc="-45" i="1">
                <a:solidFill>
                  <a:srgbClr val="A5F2FB"/>
                </a:solidFill>
                <a:latin typeface="Trebuchet MS"/>
                <a:cs typeface="Trebuchet MS"/>
              </a:rPr>
              <a:t> </a:t>
            </a:r>
            <a:r>
              <a:rPr dirty="0" sz="2150" spc="55" i="1">
                <a:solidFill>
                  <a:srgbClr val="A5F2FB"/>
                </a:solidFill>
                <a:latin typeface="Trebuchet MS"/>
                <a:cs typeface="Trebuchet MS"/>
              </a:rPr>
              <a:t>Conrad</a:t>
            </a:r>
            <a:r>
              <a:rPr dirty="0" sz="2150" spc="-45" i="1">
                <a:solidFill>
                  <a:srgbClr val="A5F2FB"/>
                </a:solidFill>
                <a:latin typeface="Trebuchet MS"/>
                <a:cs typeface="Trebuchet MS"/>
              </a:rPr>
              <a:t> </a:t>
            </a:r>
            <a:r>
              <a:rPr dirty="0" sz="2150" spc="90" i="1">
                <a:solidFill>
                  <a:srgbClr val="A5F2FB"/>
                </a:solidFill>
                <a:latin typeface="Trebuchet MS"/>
                <a:cs typeface="Trebuchet MS"/>
              </a:rPr>
              <a:t>2009)</a:t>
            </a:r>
            <a:endParaRPr sz="21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543560"/>
          </a:xfrm>
          <a:custGeom>
            <a:avLst/>
            <a:gdLst/>
            <a:ahLst/>
            <a:cxnLst/>
            <a:rect l="l" t="t" r="r" b="b"/>
            <a:pathLst>
              <a:path w="50165" h="543560">
                <a:moveTo>
                  <a:pt x="50125" y="543026"/>
                </a:moveTo>
                <a:lnTo>
                  <a:pt x="0" y="543026"/>
                </a:lnTo>
                <a:lnTo>
                  <a:pt x="0" y="0"/>
                </a:lnTo>
                <a:lnTo>
                  <a:pt x="50125" y="0"/>
                </a:lnTo>
                <a:lnTo>
                  <a:pt x="50125" y="543026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77239" y="1444752"/>
            <a:ext cx="4270375" cy="396240"/>
          </a:xfrm>
          <a:custGeom>
            <a:avLst/>
            <a:gdLst/>
            <a:ahLst/>
            <a:cxnLst/>
            <a:rect l="l" t="t" r="r" b="b"/>
            <a:pathLst>
              <a:path w="4270375" h="396239">
                <a:moveTo>
                  <a:pt x="4270247" y="396239"/>
                </a:moveTo>
                <a:lnTo>
                  <a:pt x="0" y="396239"/>
                </a:lnTo>
                <a:lnTo>
                  <a:pt x="0" y="0"/>
                </a:lnTo>
                <a:lnTo>
                  <a:pt x="4270247" y="0"/>
                </a:lnTo>
                <a:lnTo>
                  <a:pt x="4270247" y="39623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90"/>
              <a:t>The</a:t>
            </a:r>
            <a:r>
              <a:rPr dirty="0" spc="-150"/>
              <a:t> </a:t>
            </a:r>
            <a:r>
              <a:rPr dirty="0" spc="-45"/>
              <a:t>Koine</a:t>
            </a:r>
            <a:r>
              <a:rPr dirty="0" spc="-160"/>
              <a:t> </a:t>
            </a:r>
            <a:r>
              <a:rPr dirty="0" spc="-60"/>
              <a:t>Greek</a:t>
            </a:r>
            <a:r>
              <a:rPr dirty="0" spc="-150"/>
              <a:t> </a:t>
            </a:r>
            <a:r>
              <a:rPr dirty="0" spc="-20"/>
              <a:t>Core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2885151"/>
            <a:ext cx="91896" cy="91896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3444887"/>
            <a:ext cx="91896" cy="9189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4004622"/>
            <a:ext cx="91896" cy="91896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572097" y="2020317"/>
            <a:ext cx="7814309" cy="21844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 spc="-30" b="1">
                <a:solidFill>
                  <a:srgbClr val="FBD34D"/>
                </a:solidFill>
                <a:latin typeface="Tahoma"/>
                <a:cs typeface="Tahoma"/>
              </a:rPr>
              <a:t>Foundation</a:t>
            </a:r>
            <a:r>
              <a:rPr dirty="0" sz="2100" spc="-10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of</a:t>
            </a:r>
            <a:r>
              <a:rPr dirty="0" sz="2100" spc="-9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the</a:t>
            </a:r>
            <a:r>
              <a:rPr dirty="0" sz="2100" spc="-10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Early</a:t>
            </a:r>
            <a:r>
              <a:rPr dirty="0" sz="2100" spc="-9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Corpus:</a:t>
            </a:r>
            <a:endParaRPr sz="2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sz="2100">
              <a:latin typeface="Tahoma"/>
              <a:cs typeface="Tahoma"/>
            </a:endParaRPr>
          </a:p>
          <a:p>
            <a:pPr marL="346710">
              <a:lnSpc>
                <a:spcPct val="100000"/>
              </a:lnSpc>
            </a:pPr>
            <a:r>
              <a:rPr dirty="0" sz="2100" spc="-40" b="1">
                <a:solidFill>
                  <a:srgbClr val="FBD34D"/>
                </a:solidFill>
                <a:latin typeface="Tahoma"/>
                <a:cs typeface="Tahoma"/>
              </a:rPr>
              <a:t>Septuagint</a:t>
            </a:r>
            <a:r>
              <a:rPr dirty="0" sz="2100" spc="1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(Greek</a:t>
            </a:r>
            <a:r>
              <a:rPr dirty="0" sz="2100" spc="-3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35">
                <a:solidFill>
                  <a:srgbClr val="F7FAFB"/>
                </a:solidFill>
                <a:latin typeface="Tahoma"/>
                <a:cs typeface="Tahoma"/>
              </a:rPr>
              <a:t>Old</a:t>
            </a:r>
            <a:r>
              <a:rPr dirty="0" sz="2100" spc="-3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Testament,</a:t>
            </a:r>
            <a:r>
              <a:rPr dirty="0" sz="2100" spc="-3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45">
                <a:solidFill>
                  <a:srgbClr val="F7FAFB"/>
                </a:solidFill>
                <a:latin typeface="Tahoma"/>
                <a:cs typeface="Tahoma"/>
              </a:rPr>
              <a:t>c.</a:t>
            </a:r>
            <a:r>
              <a:rPr dirty="0" sz="2100" spc="-3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20">
                <a:solidFill>
                  <a:srgbClr val="F7FAFB"/>
                </a:solidFill>
                <a:latin typeface="Tahoma"/>
                <a:cs typeface="Tahoma"/>
              </a:rPr>
              <a:t>150</a:t>
            </a:r>
            <a:r>
              <a:rPr dirty="0" sz="2100" spc="-3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BCE)</a:t>
            </a:r>
            <a:endParaRPr sz="2100">
              <a:latin typeface="Tahoma"/>
              <a:cs typeface="Tahoma"/>
            </a:endParaRPr>
          </a:p>
          <a:p>
            <a:pPr marL="346710">
              <a:lnSpc>
                <a:spcPct val="100000"/>
              </a:lnSpc>
              <a:spcBef>
                <a:spcPts val="1890"/>
              </a:spcBef>
            </a:pPr>
            <a:r>
              <a:rPr dirty="0" sz="2100" spc="-30" b="1">
                <a:solidFill>
                  <a:srgbClr val="FBD34D"/>
                </a:solidFill>
                <a:latin typeface="Tahoma"/>
                <a:cs typeface="Tahoma"/>
              </a:rPr>
              <a:t>New</a:t>
            </a:r>
            <a:r>
              <a:rPr dirty="0" sz="2100" spc="-6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55" b="1">
                <a:solidFill>
                  <a:srgbClr val="FBD34D"/>
                </a:solidFill>
                <a:latin typeface="Tahoma"/>
                <a:cs typeface="Tahoma"/>
              </a:rPr>
              <a:t>Testament</a:t>
            </a:r>
            <a:r>
              <a:rPr dirty="0" sz="2100" spc="-6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60">
                <a:solidFill>
                  <a:srgbClr val="F7FAFB"/>
                </a:solidFill>
                <a:latin typeface="Tahoma"/>
                <a:cs typeface="Tahoma"/>
              </a:rPr>
              <a:t>(1st-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2nd</a:t>
            </a:r>
            <a:r>
              <a:rPr dirty="0" sz="2100" spc="-10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century</a:t>
            </a:r>
            <a:r>
              <a:rPr dirty="0" sz="2100" spc="-11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40">
                <a:solidFill>
                  <a:srgbClr val="F7FAFB"/>
                </a:solidFill>
                <a:latin typeface="Tahoma"/>
                <a:cs typeface="Tahoma"/>
              </a:rPr>
              <a:t>CE)</a:t>
            </a:r>
            <a:endParaRPr sz="2100">
              <a:latin typeface="Tahoma"/>
              <a:cs typeface="Tahoma"/>
            </a:endParaRPr>
          </a:p>
          <a:p>
            <a:pPr marL="346710">
              <a:lnSpc>
                <a:spcPct val="100000"/>
              </a:lnSpc>
              <a:spcBef>
                <a:spcPts val="1885"/>
              </a:spcBef>
            </a:pPr>
            <a:r>
              <a:rPr dirty="0" sz="2100" spc="130">
                <a:solidFill>
                  <a:srgbClr val="F7FAFB"/>
                </a:solidFill>
                <a:latin typeface="Tahoma"/>
                <a:cs typeface="Tahoma"/>
              </a:rPr>
              <a:t>Other</a:t>
            </a:r>
            <a:r>
              <a:rPr dirty="0" sz="2100" spc="-9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5">
                <a:solidFill>
                  <a:srgbClr val="F7FAFB"/>
                </a:solidFill>
                <a:latin typeface="Tahoma"/>
                <a:cs typeface="Tahoma"/>
              </a:rPr>
              <a:t>Koine</a:t>
            </a:r>
            <a:r>
              <a:rPr dirty="0" sz="2100" spc="-9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texts</a:t>
            </a:r>
            <a:r>
              <a:rPr dirty="0" sz="2100" spc="-9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from</a:t>
            </a:r>
            <a:r>
              <a:rPr dirty="0" sz="2100" spc="-9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the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Hellenistic</a:t>
            </a:r>
            <a:r>
              <a:rPr dirty="0" sz="2100" spc="-4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65" b="1">
                <a:solidFill>
                  <a:srgbClr val="FBD34D"/>
                </a:solidFill>
                <a:latin typeface="Tahoma"/>
                <a:cs typeface="Tahoma"/>
              </a:rPr>
              <a:t>and</a:t>
            </a:r>
            <a:r>
              <a:rPr dirty="0" sz="2100" spc="-5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70" b="1">
                <a:solidFill>
                  <a:srgbClr val="FBD34D"/>
                </a:solidFill>
                <a:latin typeface="Tahoma"/>
                <a:cs typeface="Tahoma"/>
              </a:rPr>
              <a:t>Roman</a:t>
            </a:r>
            <a:r>
              <a:rPr dirty="0" sz="2100" spc="-4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periods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543560"/>
          </a:xfrm>
          <a:custGeom>
            <a:avLst/>
            <a:gdLst/>
            <a:ahLst/>
            <a:cxnLst/>
            <a:rect l="l" t="t" r="r" b="b"/>
            <a:pathLst>
              <a:path w="50165" h="543560">
                <a:moveTo>
                  <a:pt x="50125" y="543026"/>
                </a:moveTo>
                <a:lnTo>
                  <a:pt x="0" y="543026"/>
                </a:lnTo>
                <a:lnTo>
                  <a:pt x="0" y="0"/>
                </a:lnTo>
                <a:lnTo>
                  <a:pt x="50125" y="0"/>
                </a:lnTo>
                <a:lnTo>
                  <a:pt x="50125" y="543026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77239" y="1444752"/>
            <a:ext cx="5364480" cy="463550"/>
          </a:xfrm>
          <a:custGeom>
            <a:avLst/>
            <a:gdLst/>
            <a:ahLst/>
            <a:cxnLst/>
            <a:rect l="l" t="t" r="r" b="b"/>
            <a:pathLst>
              <a:path w="5364480" h="463550">
                <a:moveTo>
                  <a:pt x="5364479" y="463295"/>
                </a:moveTo>
                <a:lnTo>
                  <a:pt x="0" y="463295"/>
                </a:lnTo>
                <a:lnTo>
                  <a:pt x="0" y="0"/>
                </a:lnTo>
                <a:lnTo>
                  <a:pt x="5364479" y="0"/>
                </a:lnTo>
                <a:lnTo>
                  <a:pt x="5364479" y="463295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85"/>
              <a:t>Significance</a:t>
            </a:r>
            <a:r>
              <a:rPr dirty="0" spc="-150"/>
              <a:t> </a:t>
            </a:r>
            <a:r>
              <a:rPr dirty="0" spc="-45"/>
              <a:t>of</a:t>
            </a:r>
            <a:r>
              <a:rPr dirty="0" spc="-190"/>
              <a:t> </a:t>
            </a:r>
            <a:r>
              <a:rPr dirty="0" spc="-45"/>
              <a:t>Koine</a:t>
            </a:r>
            <a:r>
              <a:rPr dirty="0" spc="-165"/>
              <a:t> </a:t>
            </a:r>
            <a:r>
              <a:rPr dirty="0" spc="-10"/>
              <a:t>Greek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2885151"/>
            <a:ext cx="91896" cy="91896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3444887"/>
            <a:ext cx="91896" cy="9189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4004622"/>
            <a:ext cx="91896" cy="9189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4572711"/>
            <a:ext cx="91896" cy="91896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5132447"/>
            <a:ext cx="91896" cy="91896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572097" y="2020317"/>
            <a:ext cx="7436484" cy="33121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Why</a:t>
            </a:r>
            <a:r>
              <a:rPr dirty="0" sz="2100" spc="-9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Koine</a:t>
            </a:r>
            <a:r>
              <a:rPr dirty="0" sz="2100" spc="-9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is</a:t>
            </a:r>
            <a:r>
              <a:rPr dirty="0" sz="2100" spc="-9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Central:</a:t>
            </a:r>
            <a:endParaRPr sz="2100">
              <a:latin typeface="Tahoma"/>
              <a:cs typeface="Tahoma"/>
            </a:endParaRPr>
          </a:p>
          <a:p>
            <a:pPr marL="346710" marR="5080">
              <a:lnSpc>
                <a:spcPct val="174900"/>
              </a:lnSpc>
              <a:spcBef>
                <a:spcPts val="1250"/>
              </a:spcBef>
            </a:pP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Transition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period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between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5">
                <a:solidFill>
                  <a:srgbClr val="F7FAFB"/>
                </a:solidFill>
                <a:latin typeface="Tahoma"/>
                <a:cs typeface="Tahoma"/>
              </a:rPr>
              <a:t>Classical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and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20">
                <a:solidFill>
                  <a:srgbClr val="F7FAFB"/>
                </a:solidFill>
                <a:latin typeface="Tahoma"/>
                <a:cs typeface="Tahoma"/>
              </a:rPr>
              <a:t>Medieval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5">
                <a:solidFill>
                  <a:srgbClr val="F7FAFB"/>
                </a:solidFill>
                <a:latin typeface="Tahoma"/>
                <a:cs typeface="Tahoma"/>
              </a:rPr>
              <a:t>Greek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Extensive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translation</a:t>
            </a:r>
            <a:r>
              <a:rPr dirty="0" sz="2100" spc="-3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activity</a:t>
            </a:r>
            <a:r>
              <a:rPr dirty="0" sz="2100" spc="-3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(Hebrew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Segoe UI"/>
                <a:cs typeface="Segoe UI"/>
              </a:rPr>
              <a:t>→</a:t>
            </a:r>
            <a:r>
              <a:rPr dirty="0" sz="2100" spc="5">
                <a:solidFill>
                  <a:srgbClr val="F7FAFB"/>
                </a:solidFill>
                <a:latin typeface="Segoe UI"/>
                <a:cs typeface="Segoe UI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Greek)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Widespread</a:t>
            </a:r>
            <a:r>
              <a:rPr dirty="0" sz="2100" spc="-5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65" b="1">
                <a:solidFill>
                  <a:srgbClr val="FBD34D"/>
                </a:solidFill>
                <a:latin typeface="Tahoma"/>
                <a:cs typeface="Tahoma"/>
              </a:rPr>
              <a:t>use</a:t>
            </a:r>
            <a:r>
              <a:rPr dirty="0" sz="2100" spc="-5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across</a:t>
            </a:r>
            <a:r>
              <a:rPr dirty="0" sz="2100" spc="-9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the</a:t>
            </a:r>
            <a:r>
              <a:rPr dirty="0" sz="2100" spc="-10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Mediterranean</a:t>
            </a:r>
            <a:endParaRPr sz="2100">
              <a:latin typeface="Tahoma"/>
              <a:cs typeface="Tahoma"/>
            </a:endParaRPr>
          </a:p>
          <a:p>
            <a:pPr marL="346710" marR="1063625">
              <a:lnSpc>
                <a:spcPct val="174900"/>
              </a:lnSpc>
              <a:spcBef>
                <a:spcPts val="65"/>
              </a:spcBef>
            </a:pP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Rich</a:t>
            </a:r>
            <a:r>
              <a:rPr dirty="0" sz="2100" spc="-11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evidence</a:t>
            </a:r>
            <a:r>
              <a:rPr dirty="0" sz="2100" spc="-10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for</a:t>
            </a:r>
            <a:r>
              <a:rPr dirty="0" sz="2100" spc="-11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70" b="1">
                <a:solidFill>
                  <a:srgbClr val="FBD34D"/>
                </a:solidFill>
                <a:latin typeface="Tahoma"/>
                <a:cs typeface="Tahoma"/>
              </a:rPr>
              <a:t>language</a:t>
            </a:r>
            <a:r>
              <a:rPr dirty="0" sz="2100" spc="-6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contact</a:t>
            </a:r>
            <a:r>
              <a:rPr dirty="0" sz="2100" spc="-6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50">
                <a:solidFill>
                  <a:srgbClr val="F7FAFB"/>
                </a:solidFill>
                <a:latin typeface="Tahoma"/>
                <a:cs typeface="Tahoma"/>
              </a:rPr>
              <a:t>phenomena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Foundation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for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Byzantine</a:t>
            </a:r>
            <a:r>
              <a:rPr dirty="0" sz="2100" spc="-3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and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Modern</a:t>
            </a:r>
            <a:r>
              <a:rPr dirty="0" sz="2100" spc="-2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Greek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543560"/>
          </a:xfrm>
          <a:custGeom>
            <a:avLst/>
            <a:gdLst/>
            <a:ahLst/>
            <a:cxnLst/>
            <a:rect l="l" t="t" r="r" b="b"/>
            <a:pathLst>
              <a:path w="50165" h="543560">
                <a:moveTo>
                  <a:pt x="50125" y="543026"/>
                </a:moveTo>
                <a:lnTo>
                  <a:pt x="0" y="543026"/>
                </a:lnTo>
                <a:lnTo>
                  <a:pt x="0" y="0"/>
                </a:lnTo>
                <a:lnTo>
                  <a:pt x="50125" y="0"/>
                </a:lnTo>
                <a:lnTo>
                  <a:pt x="50125" y="543026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77239" y="1444752"/>
            <a:ext cx="7360920" cy="457200"/>
          </a:xfrm>
          <a:custGeom>
            <a:avLst/>
            <a:gdLst/>
            <a:ahLst/>
            <a:cxnLst/>
            <a:rect l="l" t="t" r="r" b="b"/>
            <a:pathLst>
              <a:path w="7360920" h="457200">
                <a:moveTo>
                  <a:pt x="7360919" y="457199"/>
                </a:moveTo>
                <a:lnTo>
                  <a:pt x="0" y="457199"/>
                </a:lnTo>
                <a:lnTo>
                  <a:pt x="0" y="0"/>
                </a:lnTo>
                <a:lnTo>
                  <a:pt x="7360919" y="0"/>
                </a:lnTo>
                <a:lnTo>
                  <a:pt x="7360919" y="45719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50"/>
              <a:t>Summary:</a:t>
            </a:r>
            <a:r>
              <a:rPr dirty="0" spc="-125"/>
              <a:t> </a:t>
            </a:r>
            <a:r>
              <a:rPr dirty="0" spc="150"/>
              <a:t>A</a:t>
            </a:r>
            <a:r>
              <a:rPr dirty="0" spc="-125"/>
              <a:t> </a:t>
            </a:r>
            <a:r>
              <a:rPr dirty="0" spc="-90"/>
              <a:t>Comprehensive</a:t>
            </a:r>
            <a:r>
              <a:rPr dirty="0" spc="-120"/>
              <a:t> </a:t>
            </a:r>
            <a:r>
              <a:rPr dirty="0" spc="-40"/>
              <a:t>Resource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2885151"/>
            <a:ext cx="91896" cy="91896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3444887"/>
            <a:ext cx="91896" cy="9189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4004622"/>
            <a:ext cx="91896" cy="9189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4572711"/>
            <a:ext cx="91896" cy="91896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5132447"/>
            <a:ext cx="91896" cy="91896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572097" y="2020317"/>
            <a:ext cx="8394065" cy="33121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 spc="50">
                <a:solidFill>
                  <a:srgbClr val="F7FAFB"/>
                </a:solidFill>
                <a:latin typeface="Tahoma"/>
                <a:cs typeface="Tahoma"/>
              </a:rPr>
              <a:t>The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10">
                <a:solidFill>
                  <a:srgbClr val="F7FAFB"/>
                </a:solidFill>
                <a:latin typeface="Tahoma"/>
                <a:cs typeface="Tahoma"/>
              </a:rPr>
              <a:t>CVL-</a:t>
            </a:r>
            <a:r>
              <a:rPr dirty="0" sz="2100" spc="195">
                <a:solidFill>
                  <a:srgbClr val="F7FAFB"/>
                </a:solidFill>
                <a:latin typeface="Tahoma"/>
                <a:cs typeface="Tahoma"/>
              </a:rPr>
              <a:t>CDSAML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corpus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0">
                <a:solidFill>
                  <a:srgbClr val="F7FAFB"/>
                </a:solidFill>
                <a:latin typeface="Tahoma"/>
                <a:cs typeface="Tahoma"/>
              </a:rPr>
              <a:t>provides:</a:t>
            </a:r>
            <a:endParaRPr sz="2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sz="2100">
              <a:latin typeface="Tahoma"/>
              <a:cs typeface="Tahoma"/>
            </a:endParaRPr>
          </a:p>
          <a:p>
            <a:pPr marL="346710">
              <a:lnSpc>
                <a:spcPct val="100000"/>
              </a:lnSpc>
            </a:pPr>
            <a:r>
              <a:rPr dirty="0" sz="2100" spc="-50" b="1">
                <a:solidFill>
                  <a:srgbClr val="FBD34D"/>
                </a:solidFill>
                <a:latin typeface="Tahoma"/>
                <a:cs typeface="Tahoma"/>
              </a:rPr>
              <a:t>338</a:t>
            </a:r>
            <a:r>
              <a:rPr dirty="0" sz="2100" spc="-6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20" b="1">
                <a:solidFill>
                  <a:srgbClr val="FBD34D"/>
                </a:solidFill>
                <a:latin typeface="Tahoma"/>
                <a:cs typeface="Tahoma"/>
              </a:rPr>
              <a:t>texts</a:t>
            </a:r>
            <a:r>
              <a:rPr dirty="0" sz="2100" spc="-6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across</a:t>
            </a:r>
            <a:r>
              <a:rPr dirty="0" sz="2100" spc="-11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5">
                <a:solidFill>
                  <a:srgbClr val="F7FAFB"/>
                </a:solidFill>
                <a:latin typeface="Tahoma"/>
                <a:cs typeface="Tahoma"/>
              </a:rPr>
              <a:t>multiple</a:t>
            </a:r>
            <a:r>
              <a:rPr dirty="0" sz="2100" spc="-10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10">
                <a:solidFill>
                  <a:srgbClr val="F7FAFB"/>
                </a:solidFill>
                <a:latin typeface="Tahoma"/>
                <a:cs typeface="Tahoma"/>
              </a:rPr>
              <a:t>languages</a:t>
            </a:r>
            <a:endParaRPr sz="2100">
              <a:latin typeface="Tahoma"/>
              <a:cs typeface="Tahoma"/>
            </a:endParaRPr>
          </a:p>
          <a:p>
            <a:pPr marL="346710">
              <a:lnSpc>
                <a:spcPct val="100000"/>
              </a:lnSpc>
              <a:spcBef>
                <a:spcPts val="1890"/>
              </a:spcBef>
            </a:pP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Three</a:t>
            </a:r>
            <a:r>
              <a:rPr dirty="0" sz="2100" spc="1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20" b="1">
                <a:solidFill>
                  <a:srgbClr val="FBD34D"/>
                </a:solidFill>
                <a:latin typeface="Tahoma"/>
                <a:cs typeface="Tahoma"/>
              </a:rPr>
              <a:t>millennia</a:t>
            </a:r>
            <a:r>
              <a:rPr dirty="0" sz="2100" spc="1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of</a:t>
            </a:r>
            <a:r>
              <a:rPr dirty="0" sz="2100" spc="-3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language</a:t>
            </a:r>
            <a:r>
              <a:rPr dirty="0" sz="2100" spc="-3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history</a:t>
            </a:r>
            <a:endParaRPr sz="2100">
              <a:latin typeface="Tahoma"/>
              <a:cs typeface="Tahoma"/>
            </a:endParaRPr>
          </a:p>
          <a:p>
            <a:pPr marL="346710">
              <a:lnSpc>
                <a:spcPct val="100000"/>
              </a:lnSpc>
              <a:spcBef>
                <a:spcPts val="1885"/>
              </a:spcBef>
            </a:pPr>
            <a:r>
              <a:rPr dirty="0" sz="2100" spc="-30" b="1">
                <a:solidFill>
                  <a:srgbClr val="FBD34D"/>
                </a:solidFill>
                <a:latin typeface="Tahoma"/>
                <a:cs typeface="Tahoma"/>
              </a:rPr>
              <a:t>Systematic methodology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combining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philology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and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computation</a:t>
            </a:r>
            <a:endParaRPr sz="2100">
              <a:latin typeface="Tahoma"/>
              <a:cs typeface="Tahoma"/>
            </a:endParaRPr>
          </a:p>
          <a:p>
            <a:pPr marL="346710" marR="1892935">
              <a:lnSpc>
                <a:spcPct val="174900"/>
              </a:lnSpc>
              <a:spcBef>
                <a:spcPts val="65"/>
              </a:spcBef>
            </a:pPr>
            <a:r>
              <a:rPr dirty="0" sz="2100" spc="-35" b="1">
                <a:solidFill>
                  <a:srgbClr val="FBD34D"/>
                </a:solidFill>
                <a:latin typeface="Tahoma"/>
                <a:cs typeface="Tahoma"/>
              </a:rPr>
              <a:t>Translation-</a:t>
            </a:r>
            <a:r>
              <a:rPr dirty="0" sz="2100" spc="-55" b="1">
                <a:solidFill>
                  <a:srgbClr val="FBD34D"/>
                </a:solidFill>
                <a:latin typeface="Tahoma"/>
                <a:cs typeface="Tahoma"/>
              </a:rPr>
              <a:t>based</a:t>
            </a:r>
            <a:r>
              <a:rPr dirty="0" sz="2100" spc="5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approach</a:t>
            </a:r>
            <a:r>
              <a:rPr dirty="0" sz="2100" spc="1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to</a:t>
            </a:r>
            <a:r>
              <a:rPr dirty="0" sz="2100" spc="1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language</a:t>
            </a:r>
            <a:r>
              <a:rPr dirty="0" sz="2100" spc="1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contact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Foundation</a:t>
            </a:r>
            <a:r>
              <a:rPr dirty="0" sz="2100" spc="-10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for</a:t>
            </a:r>
            <a:r>
              <a:rPr dirty="0" sz="2100" spc="-9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20" b="1">
                <a:solidFill>
                  <a:srgbClr val="FBD34D"/>
                </a:solidFill>
                <a:latin typeface="Tahoma"/>
                <a:cs typeface="Tahoma"/>
              </a:rPr>
              <a:t>diachronic</a:t>
            </a:r>
            <a:r>
              <a:rPr dirty="0" sz="2100" spc="-6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valency</a:t>
            </a:r>
            <a:r>
              <a:rPr dirty="0" sz="2100" spc="-5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research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1086485"/>
          </a:xfrm>
          <a:custGeom>
            <a:avLst/>
            <a:gdLst/>
            <a:ahLst/>
            <a:cxnLst/>
            <a:rect l="l" t="t" r="r" b="b"/>
            <a:pathLst>
              <a:path w="50165" h="1086485">
                <a:moveTo>
                  <a:pt x="50125" y="1086053"/>
                </a:moveTo>
                <a:lnTo>
                  <a:pt x="0" y="1086053"/>
                </a:lnTo>
                <a:lnTo>
                  <a:pt x="0" y="0"/>
                </a:lnTo>
                <a:lnTo>
                  <a:pt x="50125" y="0"/>
                </a:lnTo>
                <a:lnTo>
                  <a:pt x="50125" y="1086053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98575" y="1444752"/>
            <a:ext cx="7367270" cy="463550"/>
          </a:xfrm>
          <a:custGeom>
            <a:avLst/>
            <a:gdLst/>
            <a:ahLst/>
            <a:cxnLst/>
            <a:rect l="l" t="t" r="r" b="b"/>
            <a:pathLst>
              <a:path w="7367270" h="463550">
                <a:moveTo>
                  <a:pt x="7367015" y="463295"/>
                </a:moveTo>
                <a:lnTo>
                  <a:pt x="0" y="463295"/>
                </a:lnTo>
                <a:lnTo>
                  <a:pt x="0" y="0"/>
                </a:lnTo>
                <a:lnTo>
                  <a:pt x="7367015" y="0"/>
                </a:lnTo>
                <a:lnTo>
                  <a:pt x="7367015" y="463295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40"/>
              <a:t>Detailed</a:t>
            </a:r>
            <a:r>
              <a:rPr dirty="0" spc="-120"/>
              <a:t> </a:t>
            </a:r>
            <a:r>
              <a:rPr dirty="0" spc="-114"/>
              <a:t>Example:</a:t>
            </a:r>
            <a:r>
              <a:rPr dirty="0" spc="-120"/>
              <a:t> </a:t>
            </a:r>
            <a:r>
              <a:rPr dirty="0" spc="-90"/>
              <a:t>The</a:t>
            </a:r>
            <a:r>
              <a:rPr dirty="0" spc="-125"/>
              <a:t> </a:t>
            </a:r>
            <a:r>
              <a:rPr dirty="0" spc="-110"/>
              <a:t>Septuagint</a:t>
            </a:r>
            <a:r>
              <a:rPr dirty="0" spc="-120"/>
              <a:t> </a:t>
            </a:r>
            <a:r>
              <a:rPr dirty="0" spc="-185"/>
              <a:t>as</a:t>
            </a:r>
            <a:r>
              <a:rPr dirty="0" spc="-120"/>
              <a:t> </a:t>
            </a:r>
            <a:r>
              <a:rPr dirty="0" spc="-50"/>
              <a:t>a</a:t>
            </a:r>
          </a:p>
        </p:txBody>
      </p:sp>
      <p:sp>
        <p:nvSpPr>
          <p:cNvPr id="5" name="object 5" descr=""/>
          <p:cNvSpPr/>
          <p:nvPr/>
        </p:nvSpPr>
        <p:spPr>
          <a:xfrm>
            <a:off x="777239" y="1987295"/>
            <a:ext cx="3700779" cy="457200"/>
          </a:xfrm>
          <a:custGeom>
            <a:avLst/>
            <a:gdLst/>
            <a:ahLst/>
            <a:cxnLst/>
            <a:rect l="l" t="t" r="r" b="b"/>
            <a:pathLst>
              <a:path w="3700779" h="457200">
                <a:moveTo>
                  <a:pt x="3700271" y="457199"/>
                </a:moveTo>
                <a:lnTo>
                  <a:pt x="0" y="457199"/>
                </a:lnTo>
                <a:lnTo>
                  <a:pt x="0" y="0"/>
                </a:lnTo>
                <a:lnTo>
                  <a:pt x="3700271" y="0"/>
                </a:lnTo>
                <a:lnTo>
                  <a:pt x="3700271" y="45719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789308" y="1903358"/>
            <a:ext cx="3648075" cy="5067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150" spc="-85" b="1">
                <a:solidFill>
                  <a:srgbClr val="60A5FA"/>
                </a:solidFill>
                <a:latin typeface="Tahoma"/>
                <a:cs typeface="Tahoma"/>
              </a:rPr>
              <a:t>Translation</a:t>
            </a:r>
            <a:r>
              <a:rPr dirty="0" sz="3150" spc="-135" b="1">
                <a:solidFill>
                  <a:srgbClr val="60A5FA"/>
                </a:solidFill>
                <a:latin typeface="Tahoma"/>
                <a:cs typeface="Tahoma"/>
              </a:rPr>
              <a:t> </a:t>
            </a:r>
            <a:r>
              <a:rPr dirty="0" sz="3150" spc="-40" b="1">
                <a:solidFill>
                  <a:srgbClr val="60A5FA"/>
                </a:solidFill>
                <a:latin typeface="Tahoma"/>
                <a:cs typeface="Tahoma"/>
              </a:rPr>
              <a:t>Corpus</a:t>
            </a:r>
            <a:endParaRPr sz="3150">
              <a:latin typeface="Tahoma"/>
              <a:cs typeface="Tahoma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3428178"/>
            <a:ext cx="91896" cy="9189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3987913"/>
            <a:ext cx="91896" cy="91896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4547649"/>
            <a:ext cx="91896" cy="91896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5992935"/>
            <a:ext cx="91896" cy="91896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6552670"/>
            <a:ext cx="91896" cy="91896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572097" y="2563344"/>
            <a:ext cx="7193280" cy="41897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Historical</a:t>
            </a:r>
            <a:r>
              <a:rPr dirty="0" sz="2100" spc="-2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Context:</a:t>
            </a:r>
            <a:endParaRPr sz="2100">
              <a:latin typeface="Tahoma"/>
              <a:cs typeface="Tahoma"/>
            </a:endParaRPr>
          </a:p>
          <a:p>
            <a:pPr marL="346710" marR="5080">
              <a:lnSpc>
                <a:spcPct val="174900"/>
              </a:lnSpc>
              <a:spcBef>
                <a:spcPts val="1250"/>
              </a:spcBef>
            </a:pP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Translated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in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Alexandria,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Egypt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(3rd-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2nd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century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BCE) </a:t>
            </a:r>
            <a:r>
              <a:rPr dirty="0" sz="2100" spc="114">
                <a:solidFill>
                  <a:srgbClr val="F7FAFB"/>
                </a:solidFill>
                <a:latin typeface="Tahoma"/>
                <a:cs typeface="Tahoma"/>
              </a:rPr>
              <a:t>Hebrew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14">
                <a:solidFill>
                  <a:srgbClr val="F7FAFB"/>
                </a:solidFill>
                <a:latin typeface="Tahoma"/>
                <a:cs typeface="Tahoma"/>
              </a:rPr>
              <a:t>Bible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Segoe UI"/>
                <a:cs typeface="Segoe UI"/>
              </a:rPr>
              <a:t>→</a:t>
            </a:r>
            <a:r>
              <a:rPr dirty="0" sz="2100" spc="5">
                <a:solidFill>
                  <a:srgbClr val="F7FAFB"/>
                </a:solidFill>
                <a:latin typeface="Segoe UI"/>
                <a:cs typeface="Segoe UI"/>
              </a:rPr>
              <a:t> </a:t>
            </a:r>
            <a:r>
              <a:rPr dirty="0" sz="2100" spc="105">
                <a:solidFill>
                  <a:srgbClr val="F7FAFB"/>
                </a:solidFill>
                <a:latin typeface="Tahoma"/>
                <a:cs typeface="Tahoma"/>
              </a:rPr>
              <a:t>Koine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5">
                <a:solidFill>
                  <a:srgbClr val="F7FAFB"/>
                </a:solidFill>
                <a:latin typeface="Tahoma"/>
                <a:cs typeface="Tahoma"/>
              </a:rPr>
              <a:t>Greek</a:t>
            </a:r>
            <a:endParaRPr sz="2100">
              <a:latin typeface="Tahoma"/>
              <a:cs typeface="Tahoma"/>
            </a:endParaRPr>
          </a:p>
          <a:p>
            <a:pPr marL="346710">
              <a:lnSpc>
                <a:spcPct val="100000"/>
              </a:lnSpc>
              <a:spcBef>
                <a:spcPts val="1885"/>
              </a:spcBef>
            </a:pPr>
            <a:r>
              <a:rPr dirty="0" sz="2100" spc="130">
                <a:solidFill>
                  <a:srgbClr val="F7FAFB"/>
                </a:solidFill>
                <a:latin typeface="Tahoma"/>
                <a:cs typeface="Tahoma"/>
              </a:rPr>
              <a:t>Major</a:t>
            </a:r>
            <a:r>
              <a:rPr dirty="0" sz="2100" spc="-4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cultural</a:t>
            </a:r>
            <a:r>
              <a:rPr dirty="0" sz="2100" spc="-4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and</a:t>
            </a:r>
            <a:r>
              <a:rPr dirty="0" sz="2100" spc="-4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linguistic</a:t>
            </a:r>
            <a:r>
              <a:rPr dirty="0" sz="2100" spc="-4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bridge</a:t>
            </a:r>
            <a:endParaRPr sz="2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endParaRPr sz="2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2100" spc="-40" b="1">
                <a:solidFill>
                  <a:srgbClr val="FBD34D"/>
                </a:solidFill>
                <a:latin typeface="Tahoma"/>
                <a:cs typeface="Tahoma"/>
              </a:rPr>
              <a:t>Research</a:t>
            </a:r>
            <a:r>
              <a:rPr dirty="0" sz="2100" spc="-10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Value:</a:t>
            </a:r>
            <a:endParaRPr sz="2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sz="2100">
              <a:latin typeface="Tahoma"/>
              <a:cs typeface="Tahoma"/>
            </a:endParaRPr>
          </a:p>
          <a:p>
            <a:pPr marL="346710">
              <a:lnSpc>
                <a:spcPct val="100000"/>
              </a:lnSpc>
            </a:pP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Evidence</a:t>
            </a:r>
            <a:r>
              <a:rPr dirty="0" sz="2100" spc="-10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of</a:t>
            </a:r>
            <a:r>
              <a:rPr dirty="0" sz="2100" spc="-9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25" b="1">
                <a:solidFill>
                  <a:srgbClr val="FBD34D"/>
                </a:solidFill>
                <a:latin typeface="Tahoma"/>
                <a:cs typeface="Tahoma"/>
              </a:rPr>
              <a:t>Hebrew-</a:t>
            </a: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Greek</a:t>
            </a:r>
            <a:r>
              <a:rPr dirty="0" sz="2100" spc="-5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70" b="1">
                <a:solidFill>
                  <a:srgbClr val="FBD34D"/>
                </a:solidFill>
                <a:latin typeface="Tahoma"/>
                <a:cs typeface="Tahoma"/>
              </a:rPr>
              <a:t>language</a:t>
            </a:r>
            <a:r>
              <a:rPr dirty="0" sz="2100" spc="-5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contact</a:t>
            </a:r>
            <a:endParaRPr sz="2100">
              <a:latin typeface="Tahoma"/>
              <a:cs typeface="Tahoma"/>
            </a:endParaRPr>
          </a:p>
          <a:p>
            <a:pPr marL="346710">
              <a:lnSpc>
                <a:spcPct val="100000"/>
              </a:lnSpc>
              <a:spcBef>
                <a:spcPts val="1889"/>
              </a:spcBef>
            </a:pP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Translation</a:t>
            </a:r>
            <a:r>
              <a:rPr dirty="0" sz="2100" spc="-3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strategies</a:t>
            </a:r>
            <a:r>
              <a:rPr dirty="0" sz="2100" spc="-3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and</a:t>
            </a:r>
            <a:r>
              <a:rPr dirty="0" sz="2100" spc="-3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techniques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543560"/>
          </a:xfrm>
          <a:custGeom>
            <a:avLst/>
            <a:gdLst/>
            <a:ahLst/>
            <a:cxnLst/>
            <a:rect l="l" t="t" r="r" b="b"/>
            <a:pathLst>
              <a:path w="50165" h="543560">
                <a:moveTo>
                  <a:pt x="50125" y="543026"/>
                </a:moveTo>
                <a:lnTo>
                  <a:pt x="0" y="543026"/>
                </a:lnTo>
                <a:lnTo>
                  <a:pt x="0" y="0"/>
                </a:lnTo>
                <a:lnTo>
                  <a:pt x="50125" y="0"/>
                </a:lnTo>
                <a:lnTo>
                  <a:pt x="50125" y="543026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584797" y="2676295"/>
            <a:ext cx="9524365" cy="1253490"/>
          </a:xfrm>
          <a:custGeom>
            <a:avLst/>
            <a:gdLst/>
            <a:ahLst/>
            <a:cxnLst/>
            <a:rect l="l" t="t" r="r" b="b"/>
            <a:pathLst>
              <a:path w="9524365" h="1253489">
                <a:moveTo>
                  <a:pt x="9523853" y="1253138"/>
                </a:moveTo>
                <a:lnTo>
                  <a:pt x="0" y="1253138"/>
                </a:lnTo>
                <a:lnTo>
                  <a:pt x="0" y="0"/>
                </a:lnTo>
                <a:lnTo>
                  <a:pt x="9523853" y="0"/>
                </a:lnTo>
                <a:lnTo>
                  <a:pt x="9523853" y="1253138"/>
                </a:lnTo>
                <a:close/>
              </a:path>
            </a:pathLst>
          </a:custGeom>
          <a:solidFill>
            <a:srgbClr val="4559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798575" y="1444752"/>
            <a:ext cx="8022590" cy="463550"/>
          </a:xfrm>
          <a:custGeom>
            <a:avLst/>
            <a:gdLst/>
            <a:ahLst/>
            <a:cxnLst/>
            <a:rect l="l" t="t" r="r" b="b"/>
            <a:pathLst>
              <a:path w="8022590" h="463550">
                <a:moveTo>
                  <a:pt x="8022335" y="463295"/>
                </a:moveTo>
                <a:lnTo>
                  <a:pt x="0" y="463295"/>
                </a:lnTo>
                <a:lnTo>
                  <a:pt x="0" y="0"/>
                </a:lnTo>
                <a:lnTo>
                  <a:pt x="8022335" y="0"/>
                </a:lnTo>
                <a:lnTo>
                  <a:pt x="8022335" y="463295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14"/>
              <a:t>Example:</a:t>
            </a:r>
            <a:r>
              <a:rPr dirty="0" spc="-100"/>
              <a:t> </a:t>
            </a:r>
            <a:r>
              <a:rPr dirty="0" spc="-110"/>
              <a:t>Septuagint</a:t>
            </a:r>
            <a:r>
              <a:rPr dirty="0" spc="-105"/>
              <a:t> </a:t>
            </a:r>
            <a:r>
              <a:rPr dirty="0" spc="-85"/>
              <a:t>Translation</a:t>
            </a:r>
            <a:r>
              <a:rPr dirty="0" spc="-100"/>
              <a:t> </a:t>
            </a:r>
            <a:r>
              <a:rPr dirty="0" spc="-20"/>
              <a:t>Patterns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572097" y="2020317"/>
            <a:ext cx="3403600" cy="3467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 spc="-20" b="1">
                <a:solidFill>
                  <a:srgbClr val="FBD34D"/>
                </a:solidFill>
                <a:latin typeface="Tahoma"/>
                <a:cs typeface="Tahoma"/>
              </a:rPr>
              <a:t>Hebrew</a:t>
            </a:r>
            <a:r>
              <a:rPr dirty="0" sz="2100" spc="-9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35" b="1">
                <a:solidFill>
                  <a:srgbClr val="FBD34D"/>
                </a:solidFill>
                <a:latin typeface="Tahoma"/>
                <a:cs typeface="Tahoma"/>
              </a:rPr>
              <a:t>Source</a:t>
            </a:r>
            <a:r>
              <a:rPr dirty="0" sz="2100" spc="-9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45" b="1">
                <a:solidFill>
                  <a:srgbClr val="FBD34D"/>
                </a:solidFill>
                <a:latin typeface="Tahoma"/>
                <a:cs typeface="Tahoma"/>
              </a:rPr>
              <a:t>Influence:</a:t>
            </a:r>
            <a:endParaRPr sz="2100">
              <a:latin typeface="Tahoma"/>
              <a:cs typeface="Tahoma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4915236"/>
            <a:ext cx="91896" cy="9189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5474971"/>
            <a:ext cx="91896" cy="91896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6043061"/>
            <a:ext cx="91896" cy="91896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572097" y="4050402"/>
            <a:ext cx="5829935" cy="21926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 spc="-35" b="1">
                <a:solidFill>
                  <a:srgbClr val="FBD34D"/>
                </a:solidFill>
                <a:latin typeface="Tahoma"/>
                <a:cs typeface="Tahoma"/>
              </a:rPr>
              <a:t>Translationese</a:t>
            </a:r>
            <a:r>
              <a:rPr dirty="0" sz="2100" spc="-7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Features:</a:t>
            </a:r>
            <a:endParaRPr sz="2100">
              <a:latin typeface="Tahoma"/>
              <a:cs typeface="Tahoma"/>
            </a:endParaRPr>
          </a:p>
          <a:p>
            <a:pPr marL="346710" marR="5080">
              <a:lnSpc>
                <a:spcPct val="176200"/>
              </a:lnSpc>
              <a:spcBef>
                <a:spcPts val="1215"/>
              </a:spcBef>
            </a:pPr>
            <a:r>
              <a:rPr dirty="0" sz="2100" spc="130">
                <a:solidFill>
                  <a:srgbClr val="F7FAFB"/>
                </a:solidFill>
                <a:latin typeface="Tahoma"/>
                <a:cs typeface="Tahoma"/>
              </a:rPr>
              <a:t>Word-</a:t>
            </a:r>
            <a:r>
              <a:rPr dirty="0" sz="2100" spc="105">
                <a:solidFill>
                  <a:srgbClr val="F7FAFB"/>
                </a:solidFill>
                <a:latin typeface="Tahoma"/>
                <a:cs typeface="Tahoma"/>
              </a:rPr>
              <a:t>for-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word</a:t>
            </a:r>
            <a:r>
              <a:rPr dirty="0" sz="2100" spc="-4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translation</a:t>
            </a:r>
            <a:r>
              <a:rPr dirty="0" sz="2100" spc="-4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0">
                <a:solidFill>
                  <a:srgbClr val="F7FAFB"/>
                </a:solidFill>
                <a:latin typeface="Tahoma"/>
                <a:cs typeface="Tahoma"/>
              </a:rPr>
              <a:t>approach </a:t>
            </a:r>
            <a:r>
              <a:rPr dirty="0" sz="2100" spc="105">
                <a:solidFill>
                  <a:srgbClr val="F7FAFB"/>
                </a:solidFill>
                <a:latin typeface="Tahoma"/>
                <a:cs typeface="Tahoma"/>
              </a:rPr>
              <a:t>Preservation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of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14">
                <a:solidFill>
                  <a:srgbClr val="F7FAFB"/>
                </a:solidFill>
                <a:latin typeface="Tahoma"/>
                <a:cs typeface="Tahoma"/>
              </a:rPr>
              <a:t>Hebrew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syntax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patterns </a:t>
            </a:r>
            <a:r>
              <a:rPr dirty="0" sz="2100" spc="114">
                <a:solidFill>
                  <a:srgbClr val="F7FAFB"/>
                </a:solidFill>
                <a:latin typeface="Tahoma"/>
                <a:cs typeface="Tahoma"/>
              </a:rPr>
              <a:t>Creation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of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new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14">
                <a:solidFill>
                  <a:srgbClr val="F7FAFB"/>
                </a:solidFill>
                <a:latin typeface="Tahoma"/>
                <a:cs typeface="Tahoma"/>
              </a:rPr>
              <a:t>Greek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semantic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extensions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543560"/>
          </a:xfrm>
          <a:custGeom>
            <a:avLst/>
            <a:gdLst/>
            <a:ahLst/>
            <a:cxnLst/>
            <a:rect l="l" t="t" r="r" b="b"/>
            <a:pathLst>
              <a:path w="50165" h="543560">
                <a:moveTo>
                  <a:pt x="50125" y="543026"/>
                </a:moveTo>
                <a:lnTo>
                  <a:pt x="0" y="543026"/>
                </a:lnTo>
                <a:lnTo>
                  <a:pt x="0" y="0"/>
                </a:lnTo>
                <a:lnTo>
                  <a:pt x="50125" y="0"/>
                </a:lnTo>
                <a:lnTo>
                  <a:pt x="50125" y="543026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98575" y="1444752"/>
            <a:ext cx="8239125" cy="457200"/>
          </a:xfrm>
          <a:custGeom>
            <a:avLst/>
            <a:gdLst/>
            <a:ahLst/>
            <a:cxnLst/>
            <a:rect l="l" t="t" r="r" b="b"/>
            <a:pathLst>
              <a:path w="8239125" h="457200">
                <a:moveTo>
                  <a:pt x="8238743" y="457199"/>
                </a:moveTo>
                <a:lnTo>
                  <a:pt x="0" y="457199"/>
                </a:lnTo>
                <a:lnTo>
                  <a:pt x="0" y="0"/>
                </a:lnTo>
                <a:lnTo>
                  <a:pt x="8238743" y="0"/>
                </a:lnTo>
                <a:lnTo>
                  <a:pt x="8238743" y="45719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89308" y="1360331"/>
            <a:ext cx="8199120" cy="5067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10"/>
              <a:t>New</a:t>
            </a:r>
            <a:r>
              <a:rPr dirty="0" spc="-145"/>
              <a:t> </a:t>
            </a:r>
            <a:r>
              <a:rPr dirty="0" spc="-130"/>
              <a:t>Testament:</a:t>
            </a:r>
            <a:r>
              <a:rPr dirty="0" spc="-145"/>
              <a:t> </a:t>
            </a:r>
            <a:r>
              <a:rPr dirty="0" spc="150"/>
              <a:t>A</a:t>
            </a:r>
            <a:r>
              <a:rPr dirty="0" spc="-145"/>
              <a:t> </a:t>
            </a:r>
            <a:r>
              <a:rPr dirty="0" spc="-45"/>
              <a:t>Koine</a:t>
            </a:r>
            <a:r>
              <a:rPr dirty="0" spc="-145"/>
              <a:t> </a:t>
            </a:r>
            <a:r>
              <a:rPr dirty="0" spc="-60"/>
              <a:t>Greek</a:t>
            </a:r>
            <a:r>
              <a:rPr dirty="0" spc="-145"/>
              <a:t> </a:t>
            </a:r>
            <a:r>
              <a:rPr dirty="0" spc="-110"/>
              <a:t>Case</a:t>
            </a:r>
            <a:r>
              <a:rPr dirty="0" spc="-145"/>
              <a:t> </a:t>
            </a:r>
            <a:r>
              <a:rPr dirty="0" spc="-10"/>
              <a:t>Study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2885151"/>
            <a:ext cx="91896" cy="91896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3444887"/>
            <a:ext cx="91896" cy="9189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4004622"/>
            <a:ext cx="91896" cy="9189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5449908"/>
            <a:ext cx="91896" cy="91896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6009644"/>
            <a:ext cx="91896" cy="91896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6577733"/>
            <a:ext cx="91896" cy="91896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572097" y="2020317"/>
            <a:ext cx="7028180" cy="475742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 spc="-20" b="1">
                <a:solidFill>
                  <a:srgbClr val="FBD34D"/>
                </a:solidFill>
                <a:latin typeface="Tahoma"/>
                <a:cs typeface="Tahoma"/>
              </a:rPr>
              <a:t>Corpus</a:t>
            </a:r>
            <a:r>
              <a:rPr dirty="0" sz="2100" spc="-9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Characteristics:</a:t>
            </a:r>
            <a:endParaRPr sz="2100">
              <a:latin typeface="Tahoma"/>
              <a:cs typeface="Tahoma"/>
            </a:endParaRPr>
          </a:p>
          <a:p>
            <a:pPr marL="346710" marR="5080">
              <a:lnSpc>
                <a:spcPct val="174900"/>
              </a:lnSpc>
              <a:spcBef>
                <a:spcPts val="1250"/>
              </a:spcBef>
            </a:pPr>
            <a:r>
              <a:rPr dirty="0" sz="2100" spc="140">
                <a:solidFill>
                  <a:srgbClr val="F7FAFB"/>
                </a:solidFill>
                <a:latin typeface="Tahoma"/>
                <a:cs typeface="Tahoma"/>
              </a:rPr>
              <a:t>Written</a:t>
            </a:r>
            <a:r>
              <a:rPr dirty="0" sz="2100" spc="-11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in</a:t>
            </a:r>
            <a:r>
              <a:rPr dirty="0" sz="2100" spc="-10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Koine</a:t>
            </a:r>
            <a:r>
              <a:rPr dirty="0" sz="2100" spc="-6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Greek</a:t>
            </a:r>
            <a:r>
              <a:rPr dirty="0" sz="2100" spc="-6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60">
                <a:solidFill>
                  <a:srgbClr val="F7FAFB"/>
                </a:solidFill>
                <a:latin typeface="Tahoma"/>
                <a:cs typeface="Tahoma"/>
              </a:rPr>
              <a:t>(1st-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2nd</a:t>
            </a:r>
            <a:r>
              <a:rPr dirty="0" sz="2100" spc="-10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century</a:t>
            </a:r>
            <a:r>
              <a:rPr dirty="0" sz="2100" spc="-11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40">
                <a:solidFill>
                  <a:srgbClr val="F7FAFB"/>
                </a:solidFill>
                <a:latin typeface="Tahoma"/>
                <a:cs typeface="Tahoma"/>
              </a:rPr>
              <a:t>CE) </a:t>
            </a:r>
            <a:r>
              <a:rPr dirty="0" sz="2100" spc="140">
                <a:solidFill>
                  <a:srgbClr val="F7FAFB"/>
                </a:solidFill>
                <a:latin typeface="Tahoma"/>
                <a:cs typeface="Tahoma"/>
              </a:rPr>
              <a:t>Multiple</a:t>
            </a:r>
            <a:r>
              <a:rPr dirty="0" sz="2100" spc="-9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30" b="1">
                <a:solidFill>
                  <a:srgbClr val="FBD34D"/>
                </a:solidFill>
                <a:latin typeface="Tahoma"/>
                <a:cs typeface="Tahoma"/>
              </a:rPr>
              <a:t>authors</a:t>
            </a:r>
            <a:r>
              <a:rPr dirty="0" sz="2100" spc="-5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105">
                <a:solidFill>
                  <a:srgbClr val="F7FAFB"/>
                </a:solidFill>
                <a:latin typeface="Tahoma"/>
                <a:cs typeface="Tahoma"/>
              </a:rPr>
              <a:t>with</a:t>
            </a:r>
            <a:r>
              <a:rPr dirty="0" sz="2100" spc="-9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varying</a:t>
            </a:r>
            <a:r>
              <a:rPr dirty="0" sz="2100" spc="-9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linguistic</a:t>
            </a:r>
            <a:r>
              <a:rPr dirty="0" sz="2100" spc="-9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0">
                <a:solidFill>
                  <a:srgbClr val="F7FAFB"/>
                </a:solidFill>
                <a:latin typeface="Tahoma"/>
                <a:cs typeface="Tahoma"/>
              </a:rPr>
              <a:t>backgrounds </a:t>
            </a:r>
            <a:r>
              <a:rPr dirty="0" sz="2100" spc="120">
                <a:solidFill>
                  <a:srgbClr val="F7FAFB"/>
                </a:solidFill>
                <a:latin typeface="Tahoma"/>
                <a:cs typeface="Tahoma"/>
              </a:rPr>
              <a:t>Different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25" b="1">
                <a:solidFill>
                  <a:srgbClr val="FBD34D"/>
                </a:solidFill>
                <a:latin typeface="Tahoma"/>
                <a:cs typeface="Tahoma"/>
              </a:rPr>
              <a:t>registers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and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styles</a:t>
            </a:r>
            <a:endParaRPr sz="2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2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2100" spc="-25" b="1">
                <a:solidFill>
                  <a:srgbClr val="FBD34D"/>
                </a:solidFill>
                <a:latin typeface="Tahoma"/>
                <a:cs typeface="Tahoma"/>
              </a:rPr>
              <a:t>Linguistic</a:t>
            </a:r>
            <a:r>
              <a:rPr dirty="0" sz="2100" spc="-8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Features:</a:t>
            </a:r>
            <a:endParaRPr sz="2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05"/>
              </a:spcBef>
            </a:pPr>
            <a:endParaRPr sz="2100">
              <a:latin typeface="Tahoma"/>
              <a:cs typeface="Tahoma"/>
            </a:endParaRPr>
          </a:p>
          <a:p>
            <a:pPr marL="346710">
              <a:lnSpc>
                <a:spcPct val="100000"/>
              </a:lnSpc>
            </a:pP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Vernacular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5">
                <a:solidFill>
                  <a:srgbClr val="F7FAFB"/>
                </a:solidFill>
                <a:latin typeface="Tahoma"/>
                <a:cs typeface="Tahoma"/>
              </a:rPr>
              <a:t>Koine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40">
                <a:solidFill>
                  <a:srgbClr val="F7FAFB"/>
                </a:solidFill>
                <a:latin typeface="Tahoma"/>
                <a:cs typeface="Tahoma"/>
              </a:rPr>
              <a:t>grammar</a:t>
            </a:r>
            <a:endParaRPr sz="2100">
              <a:latin typeface="Tahoma"/>
              <a:cs typeface="Tahoma"/>
            </a:endParaRPr>
          </a:p>
          <a:p>
            <a:pPr marL="346710" marR="958850">
              <a:lnSpc>
                <a:spcPts val="4470"/>
              </a:lnSpc>
              <a:spcBef>
                <a:spcPts val="210"/>
              </a:spcBef>
            </a:pP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Semitic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influences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from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bilingual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authors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Range</a:t>
            </a:r>
            <a:r>
              <a:rPr dirty="0" sz="2100" spc="-3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from</a:t>
            </a:r>
            <a:r>
              <a:rPr dirty="0" sz="2100" spc="-2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"sophisticated"</a:t>
            </a:r>
            <a:r>
              <a:rPr dirty="0" sz="2100" spc="-2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to</a:t>
            </a:r>
            <a:r>
              <a:rPr dirty="0" sz="2100" spc="-3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0">
                <a:solidFill>
                  <a:srgbClr val="F7FAFB"/>
                </a:solidFill>
                <a:latin typeface="Tahoma"/>
                <a:cs typeface="Tahoma"/>
              </a:rPr>
              <a:t>"simple"</a:t>
            </a:r>
            <a:r>
              <a:rPr dirty="0" sz="2100" spc="-2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5">
                <a:solidFill>
                  <a:srgbClr val="F7FAFB"/>
                </a:solidFill>
                <a:latin typeface="Tahoma"/>
                <a:cs typeface="Tahoma"/>
              </a:rPr>
              <a:t>Greek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543560"/>
          </a:xfrm>
          <a:custGeom>
            <a:avLst/>
            <a:gdLst/>
            <a:ahLst/>
            <a:cxnLst/>
            <a:rect l="l" t="t" r="r" b="b"/>
            <a:pathLst>
              <a:path w="50165" h="543560">
                <a:moveTo>
                  <a:pt x="50125" y="543026"/>
                </a:moveTo>
                <a:lnTo>
                  <a:pt x="0" y="543026"/>
                </a:lnTo>
                <a:lnTo>
                  <a:pt x="0" y="0"/>
                </a:lnTo>
                <a:lnTo>
                  <a:pt x="50125" y="0"/>
                </a:lnTo>
                <a:lnTo>
                  <a:pt x="50125" y="543026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98575" y="1444752"/>
            <a:ext cx="7038340" cy="463550"/>
          </a:xfrm>
          <a:custGeom>
            <a:avLst/>
            <a:gdLst/>
            <a:ahLst/>
            <a:cxnLst/>
            <a:rect l="l" t="t" r="r" b="b"/>
            <a:pathLst>
              <a:path w="7038340" h="463550">
                <a:moveTo>
                  <a:pt x="7037831" y="463295"/>
                </a:moveTo>
                <a:lnTo>
                  <a:pt x="0" y="463295"/>
                </a:lnTo>
                <a:lnTo>
                  <a:pt x="0" y="0"/>
                </a:lnTo>
                <a:lnTo>
                  <a:pt x="7037831" y="0"/>
                </a:lnTo>
                <a:lnTo>
                  <a:pt x="7037831" y="463295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14"/>
              <a:t>Example:</a:t>
            </a:r>
            <a:r>
              <a:rPr dirty="0" spc="-105"/>
              <a:t> </a:t>
            </a:r>
            <a:r>
              <a:rPr dirty="0" spc="-90"/>
              <a:t>Gospel</a:t>
            </a:r>
            <a:r>
              <a:rPr dirty="0" spc="-105"/>
              <a:t> </a:t>
            </a:r>
            <a:r>
              <a:rPr dirty="0" spc="-160"/>
              <a:t>Language</a:t>
            </a:r>
            <a:r>
              <a:rPr dirty="0" spc="-100"/>
              <a:t> </a:t>
            </a:r>
            <a:r>
              <a:rPr dirty="0" spc="-10"/>
              <a:t>Variation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2885151"/>
            <a:ext cx="91896" cy="91896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3444887"/>
            <a:ext cx="91896" cy="9189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4004622"/>
            <a:ext cx="91896" cy="9189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5449908"/>
            <a:ext cx="91896" cy="91896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6009644"/>
            <a:ext cx="91896" cy="91896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6577733"/>
            <a:ext cx="91896" cy="91896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572097" y="2020317"/>
            <a:ext cx="3566795" cy="475742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 spc="-65" b="1">
                <a:solidFill>
                  <a:srgbClr val="FBD34D"/>
                </a:solidFill>
                <a:latin typeface="Tahoma"/>
                <a:cs typeface="Tahoma"/>
              </a:rPr>
              <a:t>Luke's</a:t>
            </a:r>
            <a:r>
              <a:rPr dirty="0" sz="2100" spc="-4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Gospel:</a:t>
            </a:r>
            <a:endParaRPr sz="2100">
              <a:latin typeface="Tahoma"/>
              <a:cs typeface="Tahoma"/>
            </a:endParaRPr>
          </a:p>
          <a:p>
            <a:pPr marL="346710" marR="5080">
              <a:lnSpc>
                <a:spcPct val="174900"/>
              </a:lnSpc>
              <a:spcBef>
                <a:spcPts val="1250"/>
              </a:spcBef>
            </a:pPr>
            <a:r>
              <a:rPr dirty="0" sz="2100" spc="165">
                <a:solidFill>
                  <a:srgbClr val="F7FAFB"/>
                </a:solidFill>
                <a:latin typeface="Tahoma"/>
                <a:cs typeface="Tahoma"/>
              </a:rPr>
              <a:t>More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literary</a:t>
            </a:r>
            <a:r>
              <a:rPr dirty="0" sz="2100" spc="-3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105">
                <a:solidFill>
                  <a:srgbClr val="F7FAFB"/>
                </a:solidFill>
                <a:latin typeface="Tahoma"/>
                <a:cs typeface="Tahoma"/>
              </a:rPr>
              <a:t>Koine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style </a:t>
            </a:r>
            <a:r>
              <a:rPr dirty="0" sz="2100" spc="95">
                <a:solidFill>
                  <a:srgbClr val="F7FAFB"/>
                </a:solidFill>
                <a:latin typeface="Tahoma"/>
                <a:cs typeface="Tahoma"/>
              </a:rPr>
              <a:t>Classical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influences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Sophisticated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vocabulary</a:t>
            </a:r>
            <a:endParaRPr sz="2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2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Mark's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Gospel:</a:t>
            </a:r>
            <a:endParaRPr sz="2100">
              <a:latin typeface="Tahoma"/>
              <a:cs typeface="Tahoma"/>
            </a:endParaRPr>
          </a:p>
          <a:p>
            <a:pPr marL="346710" marR="497205">
              <a:lnSpc>
                <a:spcPct val="174900"/>
              </a:lnSpc>
              <a:spcBef>
                <a:spcPts val="1250"/>
              </a:spcBef>
            </a:pPr>
            <a:r>
              <a:rPr dirty="0" sz="2100" spc="165">
                <a:solidFill>
                  <a:srgbClr val="F7FAFB"/>
                </a:solidFill>
                <a:latin typeface="Tahoma"/>
                <a:cs typeface="Tahoma"/>
              </a:rPr>
              <a:t>More</a:t>
            </a:r>
            <a:r>
              <a:rPr dirty="0" sz="2100" spc="-13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colloquial</a:t>
            </a:r>
            <a:r>
              <a:rPr dirty="0" sz="2100" spc="-9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style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Simpler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syntax</a:t>
            </a:r>
            <a:endParaRPr sz="2100">
              <a:latin typeface="Tahoma"/>
              <a:cs typeface="Tahoma"/>
            </a:endParaRPr>
          </a:p>
          <a:p>
            <a:pPr marL="346710">
              <a:lnSpc>
                <a:spcPct val="100000"/>
              </a:lnSpc>
              <a:spcBef>
                <a:spcPts val="1955"/>
              </a:spcBef>
            </a:pPr>
            <a:r>
              <a:rPr dirty="0" sz="2100" spc="120">
                <a:solidFill>
                  <a:srgbClr val="F7FAFB"/>
                </a:solidFill>
                <a:latin typeface="Tahoma"/>
                <a:cs typeface="Tahoma"/>
              </a:rPr>
              <a:t>Oral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narrative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features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543560"/>
          </a:xfrm>
          <a:custGeom>
            <a:avLst/>
            <a:gdLst/>
            <a:ahLst/>
            <a:cxnLst/>
            <a:rect l="l" t="t" r="r" b="b"/>
            <a:pathLst>
              <a:path w="50165" h="543560">
                <a:moveTo>
                  <a:pt x="50125" y="543026"/>
                </a:moveTo>
                <a:lnTo>
                  <a:pt x="0" y="543026"/>
                </a:lnTo>
                <a:lnTo>
                  <a:pt x="0" y="0"/>
                </a:lnTo>
                <a:lnTo>
                  <a:pt x="50125" y="0"/>
                </a:lnTo>
                <a:lnTo>
                  <a:pt x="50125" y="543026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98575" y="1444752"/>
            <a:ext cx="8086725" cy="457200"/>
          </a:xfrm>
          <a:custGeom>
            <a:avLst/>
            <a:gdLst/>
            <a:ahLst/>
            <a:cxnLst/>
            <a:rect l="l" t="t" r="r" b="b"/>
            <a:pathLst>
              <a:path w="8086725" h="457200">
                <a:moveTo>
                  <a:pt x="8086343" y="457199"/>
                </a:moveTo>
                <a:lnTo>
                  <a:pt x="0" y="457199"/>
                </a:lnTo>
                <a:lnTo>
                  <a:pt x="0" y="0"/>
                </a:lnTo>
                <a:lnTo>
                  <a:pt x="8086343" y="0"/>
                </a:lnTo>
                <a:lnTo>
                  <a:pt x="8086343" y="45719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89308" y="1360331"/>
            <a:ext cx="8065770" cy="5067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65"/>
              <a:t>Byzantine</a:t>
            </a:r>
            <a:r>
              <a:rPr dirty="0" spc="-140"/>
              <a:t> </a:t>
            </a:r>
            <a:r>
              <a:rPr dirty="0" spc="-90"/>
              <a:t>Greek:</a:t>
            </a:r>
            <a:r>
              <a:rPr dirty="0" spc="-140"/>
              <a:t> </a:t>
            </a:r>
            <a:r>
              <a:rPr dirty="0" spc="-90"/>
              <a:t>The</a:t>
            </a:r>
            <a:r>
              <a:rPr dirty="0" spc="-135"/>
              <a:t> </a:t>
            </a:r>
            <a:r>
              <a:rPr dirty="0" spc="-30"/>
              <a:t>Medieval</a:t>
            </a:r>
            <a:r>
              <a:rPr dirty="0" spc="-140"/>
              <a:t> </a:t>
            </a:r>
            <a:r>
              <a:rPr dirty="0" spc="-40"/>
              <a:t>Transition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3394761"/>
            <a:ext cx="91896" cy="91896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3954496"/>
            <a:ext cx="91896" cy="9189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4522586"/>
            <a:ext cx="91896" cy="91896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572097" y="1831511"/>
            <a:ext cx="7253605" cy="2891155"/>
          </a:xfrm>
          <a:prstGeom prst="rect">
            <a:avLst/>
          </a:prstGeom>
        </p:spPr>
        <p:txBody>
          <a:bodyPr wrap="square" lIns="0" tIns="2019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90"/>
              </a:spcBef>
            </a:pPr>
            <a:r>
              <a:rPr dirty="0" sz="2100" spc="-20" b="1">
                <a:solidFill>
                  <a:srgbClr val="FBD34D"/>
                </a:solidFill>
                <a:latin typeface="Tahoma"/>
                <a:cs typeface="Tahoma"/>
              </a:rPr>
              <a:t>Time</a:t>
            </a:r>
            <a:r>
              <a:rPr dirty="0" sz="2100" spc="-8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Period:</a:t>
            </a:r>
            <a:r>
              <a:rPr dirty="0" sz="2100" spc="-8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105">
                <a:solidFill>
                  <a:srgbClr val="F7FAFB"/>
                </a:solidFill>
                <a:latin typeface="Tahoma"/>
                <a:cs typeface="Tahoma"/>
              </a:rPr>
              <a:t>4th-</a:t>
            </a:r>
            <a:r>
              <a:rPr dirty="0" sz="2100" spc="110">
                <a:solidFill>
                  <a:srgbClr val="F7FAFB"/>
                </a:solidFill>
                <a:latin typeface="Tahoma"/>
                <a:cs typeface="Tahoma"/>
              </a:rPr>
              <a:t>15th</a:t>
            </a:r>
            <a:r>
              <a:rPr dirty="0" sz="2100" spc="-12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centuries</a:t>
            </a:r>
            <a:r>
              <a:rPr dirty="0" sz="2100" spc="-13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25">
                <a:solidFill>
                  <a:srgbClr val="F7FAFB"/>
                </a:solidFill>
                <a:latin typeface="Tahoma"/>
                <a:cs typeface="Tahoma"/>
              </a:rPr>
              <a:t>CE</a:t>
            </a:r>
            <a:endParaRPr sz="2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495"/>
              </a:spcBef>
            </a:pP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Key</a:t>
            </a:r>
            <a:r>
              <a:rPr dirty="0" sz="2100" spc="-114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Changes:</a:t>
            </a:r>
            <a:endParaRPr sz="2100">
              <a:latin typeface="Tahoma"/>
              <a:cs typeface="Tahoma"/>
            </a:endParaRPr>
          </a:p>
          <a:p>
            <a:pPr marL="346710" marR="5080">
              <a:lnSpc>
                <a:spcPct val="174900"/>
              </a:lnSpc>
              <a:spcBef>
                <a:spcPts val="1250"/>
              </a:spcBef>
            </a:pP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Loss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of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dative </a:t>
            </a:r>
            <a:r>
              <a:rPr dirty="0" sz="2100" spc="-55" b="1">
                <a:solidFill>
                  <a:srgbClr val="FBD34D"/>
                </a:solidFill>
                <a:latin typeface="Tahoma"/>
                <a:cs typeface="Tahoma"/>
              </a:rPr>
              <a:t>case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60">
                <a:solidFill>
                  <a:srgbClr val="F7FAFB"/>
                </a:solidFill>
                <a:latin typeface="Tahoma"/>
                <a:cs typeface="Tahoma"/>
              </a:rPr>
              <a:t>(replaced</a:t>
            </a:r>
            <a:r>
              <a:rPr dirty="0" sz="2100" spc="-5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by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5">
                <a:solidFill>
                  <a:srgbClr val="F7FAFB"/>
                </a:solidFill>
                <a:latin typeface="Tahoma"/>
                <a:cs typeface="Tahoma"/>
              </a:rPr>
              <a:t>prepositional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10">
                <a:solidFill>
                  <a:srgbClr val="F7FAFB"/>
                </a:solidFill>
                <a:latin typeface="Tahoma"/>
                <a:cs typeface="Tahoma"/>
              </a:rPr>
              <a:t>phrases) </a:t>
            </a:r>
            <a:r>
              <a:rPr dirty="0" sz="2100" spc="95">
                <a:solidFill>
                  <a:srgbClr val="F7FAFB"/>
                </a:solidFill>
                <a:latin typeface="Tahoma"/>
                <a:cs typeface="Tahoma"/>
              </a:rPr>
              <a:t>Simplification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of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infinitive</a:t>
            </a:r>
            <a:r>
              <a:rPr dirty="0" sz="2100" spc="-3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system</a:t>
            </a:r>
            <a:endParaRPr sz="2100">
              <a:latin typeface="Tahoma"/>
              <a:cs typeface="Tahoma"/>
            </a:endParaRPr>
          </a:p>
          <a:p>
            <a:pPr marL="346710">
              <a:lnSpc>
                <a:spcPct val="100000"/>
              </a:lnSpc>
              <a:spcBef>
                <a:spcPts val="1950"/>
              </a:spcBef>
            </a:pP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Development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of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20" b="1">
                <a:solidFill>
                  <a:srgbClr val="FBD34D"/>
                </a:solidFill>
                <a:latin typeface="Tahoma"/>
                <a:cs typeface="Tahoma"/>
              </a:rPr>
              <a:t>periphrastic</a:t>
            </a:r>
            <a:r>
              <a:rPr dirty="0" sz="2100" spc="-2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constructions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543560"/>
          </a:xfrm>
          <a:custGeom>
            <a:avLst/>
            <a:gdLst/>
            <a:ahLst/>
            <a:cxnLst/>
            <a:rect l="l" t="t" r="r" b="b"/>
            <a:pathLst>
              <a:path w="50165" h="543560">
                <a:moveTo>
                  <a:pt x="50125" y="543026"/>
                </a:moveTo>
                <a:lnTo>
                  <a:pt x="0" y="543026"/>
                </a:lnTo>
                <a:lnTo>
                  <a:pt x="0" y="0"/>
                </a:lnTo>
                <a:lnTo>
                  <a:pt x="50125" y="0"/>
                </a:lnTo>
                <a:lnTo>
                  <a:pt x="50125" y="543026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584797" y="2676295"/>
            <a:ext cx="9524365" cy="1253490"/>
          </a:xfrm>
          <a:custGeom>
            <a:avLst/>
            <a:gdLst/>
            <a:ahLst/>
            <a:cxnLst/>
            <a:rect l="l" t="t" r="r" b="b"/>
            <a:pathLst>
              <a:path w="9524365" h="1253489">
                <a:moveTo>
                  <a:pt x="9523853" y="1253138"/>
                </a:moveTo>
                <a:lnTo>
                  <a:pt x="0" y="1253138"/>
                </a:lnTo>
                <a:lnTo>
                  <a:pt x="0" y="0"/>
                </a:lnTo>
                <a:lnTo>
                  <a:pt x="9523853" y="0"/>
                </a:lnTo>
                <a:lnTo>
                  <a:pt x="9523853" y="1253138"/>
                </a:lnTo>
                <a:close/>
              </a:path>
            </a:pathLst>
          </a:custGeom>
          <a:solidFill>
            <a:srgbClr val="4559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584797" y="4706380"/>
            <a:ext cx="9524365" cy="1253490"/>
          </a:xfrm>
          <a:custGeom>
            <a:avLst/>
            <a:gdLst/>
            <a:ahLst/>
            <a:cxnLst/>
            <a:rect l="l" t="t" r="r" b="b"/>
            <a:pathLst>
              <a:path w="9524365" h="1253489">
                <a:moveTo>
                  <a:pt x="9523853" y="1253138"/>
                </a:moveTo>
                <a:lnTo>
                  <a:pt x="0" y="1253138"/>
                </a:lnTo>
                <a:lnTo>
                  <a:pt x="0" y="0"/>
                </a:lnTo>
                <a:lnTo>
                  <a:pt x="9523853" y="0"/>
                </a:lnTo>
                <a:lnTo>
                  <a:pt x="9523853" y="1253138"/>
                </a:lnTo>
                <a:close/>
              </a:path>
            </a:pathLst>
          </a:custGeom>
          <a:solidFill>
            <a:srgbClr val="4559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798575" y="1444752"/>
            <a:ext cx="6821805" cy="457200"/>
          </a:xfrm>
          <a:custGeom>
            <a:avLst/>
            <a:gdLst/>
            <a:ahLst/>
            <a:cxnLst/>
            <a:rect l="l" t="t" r="r" b="b"/>
            <a:pathLst>
              <a:path w="6821805" h="457200">
                <a:moveTo>
                  <a:pt x="6821423" y="457199"/>
                </a:moveTo>
                <a:lnTo>
                  <a:pt x="0" y="457199"/>
                </a:lnTo>
                <a:lnTo>
                  <a:pt x="0" y="0"/>
                </a:lnTo>
                <a:lnTo>
                  <a:pt x="6821423" y="0"/>
                </a:lnTo>
                <a:lnTo>
                  <a:pt x="6821423" y="45719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14"/>
              <a:t>Example:</a:t>
            </a:r>
            <a:r>
              <a:rPr dirty="0" spc="-135"/>
              <a:t> </a:t>
            </a:r>
            <a:r>
              <a:rPr dirty="0" spc="-40"/>
              <a:t>Dative</a:t>
            </a:r>
            <a:r>
              <a:rPr dirty="0" spc="-130"/>
              <a:t> </a:t>
            </a:r>
            <a:r>
              <a:rPr dirty="0" spc="-110"/>
              <a:t>Case</a:t>
            </a:r>
            <a:r>
              <a:rPr dirty="0" spc="-135"/>
              <a:t> </a:t>
            </a:r>
            <a:r>
              <a:rPr dirty="0" spc="-65"/>
              <a:t>Replacement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572097" y="2020317"/>
            <a:ext cx="2996565" cy="3467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 spc="-30" b="1">
                <a:solidFill>
                  <a:srgbClr val="FBD34D"/>
                </a:solidFill>
                <a:latin typeface="Tahoma"/>
                <a:cs typeface="Tahoma"/>
              </a:rPr>
              <a:t>Classical/Koine</a:t>
            </a:r>
            <a:r>
              <a:rPr dirty="0" sz="2100" spc="-7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Greek:</a:t>
            </a:r>
            <a:endParaRPr sz="2100">
              <a:latin typeface="Tahoma"/>
              <a:cs typeface="Tahom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72097" y="4050402"/>
            <a:ext cx="3439160" cy="3467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 spc="-25" b="1">
                <a:solidFill>
                  <a:srgbClr val="FBD34D"/>
                </a:solidFill>
                <a:latin typeface="Tahoma"/>
                <a:cs typeface="Tahoma"/>
              </a:rPr>
              <a:t>Byzantine/Modern</a:t>
            </a:r>
            <a:r>
              <a:rPr dirty="0" sz="2100" spc="-2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Greek: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543560"/>
          </a:xfrm>
          <a:custGeom>
            <a:avLst/>
            <a:gdLst/>
            <a:ahLst/>
            <a:cxnLst/>
            <a:rect l="l" t="t" r="r" b="b"/>
            <a:pathLst>
              <a:path w="50165" h="543560">
                <a:moveTo>
                  <a:pt x="50125" y="543026"/>
                </a:moveTo>
                <a:lnTo>
                  <a:pt x="0" y="543026"/>
                </a:lnTo>
                <a:lnTo>
                  <a:pt x="0" y="0"/>
                </a:lnTo>
                <a:lnTo>
                  <a:pt x="50125" y="0"/>
                </a:lnTo>
                <a:lnTo>
                  <a:pt x="50125" y="543026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98575" y="1444752"/>
            <a:ext cx="5462270" cy="457200"/>
          </a:xfrm>
          <a:custGeom>
            <a:avLst/>
            <a:gdLst/>
            <a:ahLst/>
            <a:cxnLst/>
            <a:rect l="l" t="t" r="r" b="b"/>
            <a:pathLst>
              <a:path w="5462270" h="457200">
                <a:moveTo>
                  <a:pt x="5462015" y="457199"/>
                </a:moveTo>
                <a:lnTo>
                  <a:pt x="0" y="457199"/>
                </a:lnTo>
                <a:lnTo>
                  <a:pt x="0" y="0"/>
                </a:lnTo>
                <a:lnTo>
                  <a:pt x="5462015" y="0"/>
                </a:lnTo>
                <a:lnTo>
                  <a:pt x="5462015" y="45719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25"/>
              <a:t>Modern</a:t>
            </a:r>
            <a:r>
              <a:rPr dirty="0" spc="-175"/>
              <a:t> </a:t>
            </a:r>
            <a:r>
              <a:rPr dirty="0" spc="-60"/>
              <a:t>Greek</a:t>
            </a:r>
            <a:r>
              <a:rPr dirty="0" spc="-160"/>
              <a:t> </a:t>
            </a:r>
            <a:r>
              <a:rPr dirty="0" spc="-90"/>
              <a:t>in</a:t>
            </a:r>
            <a:r>
              <a:rPr dirty="0" spc="-150"/>
              <a:t> </a:t>
            </a:r>
            <a:r>
              <a:rPr dirty="0" spc="-90"/>
              <a:t>the</a:t>
            </a:r>
            <a:r>
              <a:rPr dirty="0" spc="-150"/>
              <a:t> </a:t>
            </a:r>
            <a:r>
              <a:rPr dirty="0" spc="-25"/>
              <a:t>Corpus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2885151"/>
            <a:ext cx="91896" cy="91896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3444887"/>
            <a:ext cx="91896" cy="9189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4004622"/>
            <a:ext cx="91896" cy="9189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5449908"/>
            <a:ext cx="91896" cy="91896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6009644"/>
            <a:ext cx="91896" cy="91896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6577733"/>
            <a:ext cx="91896" cy="91896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572097" y="2020317"/>
            <a:ext cx="5748655" cy="475742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Varieties</a:t>
            </a:r>
            <a:r>
              <a:rPr dirty="0" sz="2100" spc="-8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Included:</a:t>
            </a:r>
            <a:endParaRPr sz="2100">
              <a:latin typeface="Tahoma"/>
              <a:cs typeface="Tahoma"/>
            </a:endParaRPr>
          </a:p>
          <a:p>
            <a:pPr marL="346710" marR="806450">
              <a:lnSpc>
                <a:spcPct val="174900"/>
              </a:lnSpc>
              <a:spcBef>
                <a:spcPts val="1250"/>
              </a:spcBef>
            </a:pPr>
            <a:r>
              <a:rPr dirty="0" sz="2100" spc="-25" b="1">
                <a:solidFill>
                  <a:srgbClr val="FBD34D"/>
                </a:solidFill>
                <a:latin typeface="Tahoma"/>
                <a:cs typeface="Tahoma"/>
              </a:rPr>
              <a:t>Katharevousa</a:t>
            </a:r>
            <a:r>
              <a:rPr dirty="0" sz="2100" spc="10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(formal,</a:t>
            </a:r>
            <a:r>
              <a:rPr dirty="0" sz="2100" spc="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45">
                <a:solidFill>
                  <a:srgbClr val="F7FAFB"/>
                </a:solidFill>
                <a:latin typeface="Tahoma"/>
                <a:cs typeface="Tahoma"/>
              </a:rPr>
              <a:t>archaic) </a:t>
            </a: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Dimotiki</a:t>
            </a:r>
            <a:r>
              <a:rPr dirty="0" sz="2100" spc="22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(vernacular,</a:t>
            </a:r>
            <a:r>
              <a:rPr dirty="0" sz="2100" spc="1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10">
                <a:solidFill>
                  <a:srgbClr val="F7FAFB"/>
                </a:solidFill>
                <a:latin typeface="Tahoma"/>
                <a:cs typeface="Tahoma"/>
              </a:rPr>
              <a:t>spoken) </a:t>
            </a:r>
            <a:r>
              <a:rPr dirty="0" sz="2100" spc="135">
                <a:solidFill>
                  <a:srgbClr val="F7FAFB"/>
                </a:solidFill>
                <a:latin typeface="Tahoma"/>
                <a:cs typeface="Tahoma"/>
              </a:rPr>
              <a:t>Modern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translations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of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ancient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texts</a:t>
            </a:r>
            <a:endParaRPr sz="2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2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2100" spc="-40" b="1">
                <a:solidFill>
                  <a:srgbClr val="FBD34D"/>
                </a:solidFill>
                <a:latin typeface="Tahoma"/>
                <a:cs typeface="Tahoma"/>
              </a:rPr>
              <a:t>Research</a:t>
            </a:r>
            <a:r>
              <a:rPr dirty="0" sz="2100" spc="-10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Focus:</a:t>
            </a:r>
            <a:endParaRPr sz="2100">
              <a:latin typeface="Tahoma"/>
              <a:cs typeface="Tahoma"/>
            </a:endParaRPr>
          </a:p>
          <a:p>
            <a:pPr marL="346710" marR="5080">
              <a:lnSpc>
                <a:spcPct val="174900"/>
              </a:lnSpc>
              <a:spcBef>
                <a:spcPts val="1250"/>
              </a:spcBef>
            </a:pPr>
            <a:r>
              <a:rPr dirty="0" sz="2100" spc="105">
                <a:solidFill>
                  <a:srgbClr val="F7FAFB"/>
                </a:solidFill>
                <a:latin typeface="Tahoma"/>
                <a:cs typeface="Tahoma"/>
              </a:rPr>
              <a:t>Completion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of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the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5">
                <a:solidFill>
                  <a:srgbClr val="F7FAFB"/>
                </a:solidFill>
                <a:latin typeface="Tahoma"/>
                <a:cs typeface="Tahoma"/>
              </a:rPr>
              <a:t>synthetic</a:t>
            </a:r>
            <a:r>
              <a:rPr dirty="0" sz="2100" spc="95">
                <a:solidFill>
                  <a:srgbClr val="F7FAFB"/>
                </a:solidFill>
                <a:latin typeface="Segoe UI"/>
                <a:cs typeface="Segoe UI"/>
              </a:rPr>
              <a:t>→</a:t>
            </a:r>
            <a:r>
              <a:rPr dirty="0" sz="2100" spc="95">
                <a:solidFill>
                  <a:srgbClr val="F7FAFB"/>
                </a:solidFill>
                <a:latin typeface="Tahoma"/>
                <a:cs typeface="Tahoma"/>
              </a:rPr>
              <a:t>analytic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shift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Standardization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0">
                <a:solidFill>
                  <a:srgbClr val="F7FAFB"/>
                </a:solidFill>
                <a:latin typeface="Tahoma"/>
                <a:cs typeface="Tahoma"/>
              </a:rPr>
              <a:t>processes</a:t>
            </a:r>
            <a:endParaRPr sz="2100">
              <a:latin typeface="Tahoma"/>
              <a:cs typeface="Tahoma"/>
            </a:endParaRPr>
          </a:p>
          <a:p>
            <a:pPr marL="346710">
              <a:lnSpc>
                <a:spcPct val="100000"/>
              </a:lnSpc>
              <a:spcBef>
                <a:spcPts val="1955"/>
              </a:spcBef>
            </a:pP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Contemporary</a:t>
            </a:r>
            <a:r>
              <a:rPr dirty="0" sz="2100" spc="-4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translation</a:t>
            </a:r>
            <a:r>
              <a:rPr dirty="0" sz="2100" spc="-4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practices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543560"/>
          </a:xfrm>
          <a:custGeom>
            <a:avLst/>
            <a:gdLst/>
            <a:ahLst/>
            <a:cxnLst/>
            <a:rect l="l" t="t" r="r" b="b"/>
            <a:pathLst>
              <a:path w="50165" h="543560">
                <a:moveTo>
                  <a:pt x="50125" y="543026"/>
                </a:moveTo>
                <a:lnTo>
                  <a:pt x="0" y="543026"/>
                </a:lnTo>
                <a:lnTo>
                  <a:pt x="0" y="0"/>
                </a:lnTo>
                <a:lnTo>
                  <a:pt x="50125" y="0"/>
                </a:lnTo>
                <a:lnTo>
                  <a:pt x="50125" y="543026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98575" y="1444752"/>
            <a:ext cx="9330055" cy="457200"/>
          </a:xfrm>
          <a:custGeom>
            <a:avLst/>
            <a:gdLst/>
            <a:ahLst/>
            <a:cxnLst/>
            <a:rect l="l" t="t" r="r" b="b"/>
            <a:pathLst>
              <a:path w="9330055" h="457200">
                <a:moveTo>
                  <a:pt x="9329927" y="457199"/>
                </a:moveTo>
                <a:lnTo>
                  <a:pt x="0" y="457199"/>
                </a:lnTo>
                <a:lnTo>
                  <a:pt x="0" y="0"/>
                </a:lnTo>
                <a:lnTo>
                  <a:pt x="9329927" y="0"/>
                </a:lnTo>
                <a:lnTo>
                  <a:pt x="9329927" y="45719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89308" y="1360331"/>
            <a:ext cx="9315450" cy="5067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14"/>
              <a:t>Example:</a:t>
            </a:r>
            <a:r>
              <a:rPr dirty="0" spc="-130"/>
              <a:t> </a:t>
            </a:r>
            <a:r>
              <a:rPr dirty="0"/>
              <a:t>Multiple</a:t>
            </a:r>
            <a:r>
              <a:rPr dirty="0" spc="-125"/>
              <a:t> </a:t>
            </a:r>
            <a:r>
              <a:rPr dirty="0" spc="-60"/>
              <a:t>Greek</a:t>
            </a:r>
            <a:r>
              <a:rPr dirty="0" spc="-125"/>
              <a:t> </a:t>
            </a:r>
            <a:r>
              <a:rPr dirty="0" spc="-100"/>
              <a:t>Translations</a:t>
            </a:r>
            <a:r>
              <a:rPr dirty="0" spc="-125"/>
              <a:t> </a:t>
            </a:r>
            <a:r>
              <a:rPr dirty="0" spc="-25"/>
              <a:t>Compared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572097" y="1831511"/>
            <a:ext cx="7997825" cy="2414905"/>
          </a:xfrm>
          <a:prstGeom prst="rect">
            <a:avLst/>
          </a:prstGeom>
        </p:spPr>
        <p:txBody>
          <a:bodyPr wrap="square" lIns="0" tIns="2019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90"/>
              </a:spcBef>
            </a:pPr>
            <a:r>
              <a:rPr dirty="0" sz="2100" spc="-45" b="1">
                <a:solidFill>
                  <a:srgbClr val="FBD34D"/>
                </a:solidFill>
                <a:latin typeface="Tahoma"/>
                <a:cs typeface="Tahoma"/>
              </a:rPr>
              <a:t>Source:</a:t>
            </a:r>
            <a:r>
              <a:rPr dirty="0" sz="2100" spc="-5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135">
                <a:solidFill>
                  <a:srgbClr val="F7FAFB"/>
                </a:solidFill>
                <a:latin typeface="Tahoma"/>
                <a:cs typeface="Tahoma"/>
              </a:rPr>
              <a:t>Old</a:t>
            </a:r>
            <a:r>
              <a:rPr dirty="0" sz="2100" spc="-9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0">
                <a:solidFill>
                  <a:srgbClr val="F7FAFB"/>
                </a:solidFill>
                <a:latin typeface="Tahoma"/>
                <a:cs typeface="Tahoma"/>
              </a:rPr>
              <a:t>Testament</a:t>
            </a:r>
            <a:r>
              <a:rPr dirty="0" sz="2100" spc="-9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10">
                <a:solidFill>
                  <a:srgbClr val="F7FAFB"/>
                </a:solidFill>
                <a:latin typeface="Tahoma"/>
                <a:cs typeface="Tahoma"/>
              </a:rPr>
              <a:t>passage</a:t>
            </a:r>
            <a:endParaRPr sz="2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495"/>
              </a:spcBef>
            </a:pPr>
            <a:r>
              <a:rPr dirty="0" sz="2100" spc="-40" b="1">
                <a:solidFill>
                  <a:srgbClr val="FBD34D"/>
                </a:solidFill>
                <a:latin typeface="Tahoma"/>
                <a:cs typeface="Tahoma"/>
              </a:rPr>
              <a:t>Septuagint</a:t>
            </a:r>
            <a:r>
              <a:rPr dirty="0" sz="2100" spc="-4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(150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BCE):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Literal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from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5">
                <a:solidFill>
                  <a:srgbClr val="F7FAFB"/>
                </a:solidFill>
                <a:latin typeface="Tahoma"/>
                <a:cs typeface="Tahoma"/>
              </a:rPr>
              <a:t>Hebrew</a:t>
            </a:r>
            <a:endParaRPr sz="2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35"/>
              </a:spcBef>
            </a:pP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Byzantine</a:t>
            </a:r>
            <a:r>
              <a:rPr dirty="0" sz="2100" spc="-7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translation</a:t>
            </a:r>
            <a:r>
              <a:rPr dirty="0" sz="2100" spc="-7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(10th</a:t>
            </a:r>
            <a:r>
              <a:rPr dirty="0" sz="2100" spc="-114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45">
                <a:solidFill>
                  <a:srgbClr val="F7FAFB"/>
                </a:solidFill>
                <a:latin typeface="Tahoma"/>
                <a:cs typeface="Tahoma"/>
              </a:rPr>
              <a:t>century):</a:t>
            </a:r>
            <a:r>
              <a:rPr dirty="0" sz="2100" spc="-12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Simplified</a:t>
            </a:r>
            <a:r>
              <a:rPr dirty="0" sz="2100" spc="-114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syntax</a:t>
            </a:r>
            <a:endParaRPr sz="2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35"/>
              </a:spcBef>
            </a:pP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Modern</a:t>
            </a:r>
            <a:r>
              <a:rPr dirty="0" sz="2100" spc="-5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translation</a:t>
            </a:r>
            <a:r>
              <a:rPr dirty="0" sz="2100" spc="-5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(20th</a:t>
            </a:r>
            <a:r>
              <a:rPr dirty="0" sz="2100" spc="-9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45">
                <a:solidFill>
                  <a:srgbClr val="F7FAFB"/>
                </a:solidFill>
                <a:latin typeface="Tahoma"/>
                <a:cs typeface="Tahoma"/>
              </a:rPr>
              <a:t>century):</a:t>
            </a:r>
            <a:r>
              <a:rPr dirty="0" sz="2100" spc="-9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Contemporary</a:t>
            </a:r>
            <a:r>
              <a:rPr dirty="0" sz="2100" spc="-9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idiom</a:t>
            </a:r>
            <a:endParaRPr sz="2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555"/>
              </a:spcBef>
            </a:pP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Analysis:</a:t>
            </a:r>
            <a:r>
              <a:rPr dirty="0" sz="2100" spc="-1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130">
                <a:solidFill>
                  <a:srgbClr val="F7FAFB"/>
                </a:solidFill>
                <a:latin typeface="Tahoma"/>
                <a:cs typeface="Tahoma"/>
              </a:rPr>
              <a:t>How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do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valency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patterns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change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across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2000+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10">
                <a:solidFill>
                  <a:srgbClr val="F7FAFB"/>
                </a:solidFill>
                <a:latin typeface="Tahoma"/>
                <a:cs typeface="Tahoma"/>
              </a:rPr>
              <a:t>years?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543560"/>
          </a:xfrm>
          <a:custGeom>
            <a:avLst/>
            <a:gdLst/>
            <a:ahLst/>
            <a:cxnLst/>
            <a:rect l="l" t="t" r="r" b="b"/>
            <a:pathLst>
              <a:path w="50165" h="543560">
                <a:moveTo>
                  <a:pt x="50125" y="543026"/>
                </a:moveTo>
                <a:lnTo>
                  <a:pt x="0" y="543026"/>
                </a:lnTo>
                <a:lnTo>
                  <a:pt x="0" y="0"/>
                </a:lnTo>
                <a:lnTo>
                  <a:pt x="50125" y="0"/>
                </a:lnTo>
                <a:lnTo>
                  <a:pt x="50125" y="543026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80287" y="1444752"/>
            <a:ext cx="8260080" cy="463550"/>
          </a:xfrm>
          <a:custGeom>
            <a:avLst/>
            <a:gdLst/>
            <a:ahLst/>
            <a:cxnLst/>
            <a:rect l="l" t="t" r="r" b="b"/>
            <a:pathLst>
              <a:path w="8260080" h="463550">
                <a:moveTo>
                  <a:pt x="8260079" y="463295"/>
                </a:moveTo>
                <a:lnTo>
                  <a:pt x="0" y="463295"/>
                </a:lnTo>
                <a:lnTo>
                  <a:pt x="0" y="0"/>
                </a:lnTo>
                <a:lnTo>
                  <a:pt x="8260079" y="0"/>
                </a:lnTo>
                <a:lnTo>
                  <a:pt x="8260079" y="463295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90"/>
              <a:t>Germanic</a:t>
            </a:r>
            <a:r>
              <a:rPr dirty="0" spc="-100"/>
              <a:t> </a:t>
            </a:r>
            <a:r>
              <a:rPr dirty="0" spc="-160"/>
              <a:t>Language</a:t>
            </a:r>
            <a:r>
              <a:rPr dirty="0" spc="-100"/>
              <a:t> </a:t>
            </a:r>
            <a:r>
              <a:rPr dirty="0" spc="-85"/>
              <a:t>Family:</a:t>
            </a:r>
            <a:r>
              <a:rPr dirty="0" spc="-100"/>
              <a:t> </a:t>
            </a:r>
            <a:r>
              <a:rPr dirty="0" spc="-120"/>
              <a:t>English</a:t>
            </a:r>
            <a:r>
              <a:rPr dirty="0" spc="-95"/>
              <a:t> </a:t>
            </a:r>
            <a:r>
              <a:rPr dirty="0" spc="-10"/>
              <a:t>Corpus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2885151"/>
            <a:ext cx="91896" cy="91896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3444887"/>
            <a:ext cx="91896" cy="9189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4004622"/>
            <a:ext cx="91896" cy="9189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4572711"/>
            <a:ext cx="91896" cy="91896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572097" y="2020317"/>
            <a:ext cx="6522084" cy="27527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Historical</a:t>
            </a:r>
            <a:r>
              <a:rPr dirty="0" sz="2100" spc="-3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75" b="1">
                <a:solidFill>
                  <a:srgbClr val="FBD34D"/>
                </a:solidFill>
                <a:latin typeface="Tahoma"/>
                <a:cs typeface="Tahoma"/>
              </a:rPr>
              <a:t>Stages</a:t>
            </a:r>
            <a:r>
              <a:rPr dirty="0" sz="2100" spc="-3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Included:</a:t>
            </a:r>
            <a:endParaRPr sz="2100">
              <a:latin typeface="Tahoma"/>
              <a:cs typeface="Tahoma"/>
            </a:endParaRPr>
          </a:p>
          <a:p>
            <a:pPr marL="346710" marR="5080">
              <a:lnSpc>
                <a:spcPct val="175800"/>
              </a:lnSpc>
              <a:spcBef>
                <a:spcPts val="1225"/>
              </a:spcBef>
            </a:pP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Old</a:t>
            </a:r>
            <a:r>
              <a:rPr dirty="0" sz="2100" spc="2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40" b="1">
                <a:solidFill>
                  <a:srgbClr val="FBD34D"/>
                </a:solidFill>
                <a:latin typeface="Tahoma"/>
                <a:cs typeface="Tahoma"/>
              </a:rPr>
              <a:t>English</a:t>
            </a:r>
            <a:r>
              <a:rPr dirty="0" sz="2100" spc="2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60">
                <a:solidFill>
                  <a:srgbClr val="F7FAFB"/>
                </a:solidFill>
                <a:latin typeface="Tahoma"/>
                <a:cs typeface="Tahoma"/>
              </a:rPr>
              <a:t>(Anglo-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Saxon</a:t>
            </a:r>
            <a:r>
              <a:rPr dirty="0" sz="2100" spc="-2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14">
                <a:solidFill>
                  <a:srgbClr val="F7FAFB"/>
                </a:solidFill>
                <a:latin typeface="Tahoma"/>
                <a:cs typeface="Tahoma"/>
              </a:rPr>
              <a:t>Bible</a:t>
            </a:r>
            <a:r>
              <a:rPr dirty="0" sz="2100" spc="-2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translations) </a:t>
            </a: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Middle</a:t>
            </a:r>
            <a:r>
              <a:rPr dirty="0" sz="2100" spc="-3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40" b="1">
                <a:solidFill>
                  <a:srgbClr val="FBD34D"/>
                </a:solidFill>
                <a:latin typeface="Tahoma"/>
                <a:cs typeface="Tahoma"/>
              </a:rPr>
              <a:t>English</a:t>
            </a:r>
            <a:r>
              <a:rPr dirty="0" sz="2100" spc="-2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95">
                <a:solidFill>
                  <a:srgbClr val="F7FAFB"/>
                </a:solidFill>
                <a:latin typeface="Tahoma"/>
                <a:cs typeface="Tahoma"/>
              </a:rPr>
              <a:t>(Wycliffe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Bible,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10">
                <a:solidFill>
                  <a:srgbClr val="F7FAFB"/>
                </a:solidFill>
                <a:latin typeface="Tahoma"/>
                <a:cs typeface="Tahoma"/>
              </a:rPr>
              <a:t>14th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century) </a:t>
            </a: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Early</a:t>
            </a:r>
            <a:r>
              <a:rPr dirty="0" sz="2100" spc="-6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Modern</a:t>
            </a:r>
            <a:r>
              <a:rPr dirty="0" sz="2100" spc="-6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40" b="1">
                <a:solidFill>
                  <a:srgbClr val="FBD34D"/>
                </a:solidFill>
                <a:latin typeface="Tahoma"/>
                <a:cs typeface="Tahoma"/>
              </a:rPr>
              <a:t>English</a:t>
            </a:r>
            <a:r>
              <a:rPr dirty="0" sz="2100" spc="-6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(King</a:t>
            </a:r>
            <a:r>
              <a:rPr dirty="0" sz="2100" spc="-10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James</a:t>
            </a:r>
            <a:r>
              <a:rPr dirty="0" sz="2100" spc="-10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Bible,</a:t>
            </a:r>
            <a:r>
              <a:rPr dirty="0" sz="2100" spc="-10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1611) </a:t>
            </a: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Modern</a:t>
            </a:r>
            <a:r>
              <a:rPr dirty="0" sz="2100" spc="-5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40" b="1">
                <a:solidFill>
                  <a:srgbClr val="FBD34D"/>
                </a:solidFill>
                <a:latin typeface="Tahoma"/>
                <a:cs typeface="Tahoma"/>
              </a:rPr>
              <a:t>English</a:t>
            </a:r>
            <a:r>
              <a:rPr dirty="0" sz="2100" spc="-4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(20th-</a:t>
            </a:r>
            <a:r>
              <a:rPr dirty="0" sz="2100" spc="105">
                <a:solidFill>
                  <a:srgbClr val="F7FAFB"/>
                </a:solidFill>
                <a:latin typeface="Tahoma"/>
                <a:cs typeface="Tahoma"/>
              </a:rPr>
              <a:t>21st</a:t>
            </a:r>
            <a:r>
              <a:rPr dirty="0" sz="2100" spc="-9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century</a:t>
            </a:r>
            <a:r>
              <a:rPr dirty="0" sz="2100" spc="-9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translations)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543560"/>
          </a:xfrm>
          <a:custGeom>
            <a:avLst/>
            <a:gdLst/>
            <a:ahLst/>
            <a:cxnLst/>
            <a:rect l="l" t="t" r="r" b="b"/>
            <a:pathLst>
              <a:path w="50165" h="543560">
                <a:moveTo>
                  <a:pt x="50125" y="543026"/>
                </a:moveTo>
                <a:lnTo>
                  <a:pt x="0" y="543026"/>
                </a:lnTo>
                <a:lnTo>
                  <a:pt x="0" y="0"/>
                </a:lnTo>
                <a:lnTo>
                  <a:pt x="50125" y="0"/>
                </a:lnTo>
                <a:lnTo>
                  <a:pt x="50125" y="543026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98575" y="1444752"/>
            <a:ext cx="8571230" cy="463550"/>
          </a:xfrm>
          <a:custGeom>
            <a:avLst/>
            <a:gdLst/>
            <a:ahLst/>
            <a:cxnLst/>
            <a:rect l="l" t="t" r="r" b="b"/>
            <a:pathLst>
              <a:path w="8571230" h="463550">
                <a:moveTo>
                  <a:pt x="8570975" y="463295"/>
                </a:moveTo>
                <a:lnTo>
                  <a:pt x="0" y="463295"/>
                </a:lnTo>
                <a:lnTo>
                  <a:pt x="0" y="0"/>
                </a:lnTo>
                <a:lnTo>
                  <a:pt x="8570975" y="0"/>
                </a:lnTo>
                <a:lnTo>
                  <a:pt x="8570975" y="463295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89308" y="1360331"/>
            <a:ext cx="8550275" cy="5067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14"/>
              <a:t>Example:</a:t>
            </a:r>
            <a:r>
              <a:rPr dirty="0" spc="-120"/>
              <a:t> English </a:t>
            </a:r>
            <a:r>
              <a:rPr dirty="0" spc="-45"/>
              <a:t>Bible</a:t>
            </a:r>
            <a:r>
              <a:rPr dirty="0" spc="-114"/>
              <a:t> </a:t>
            </a:r>
            <a:r>
              <a:rPr dirty="0" spc="-85"/>
              <a:t>Translation</a:t>
            </a:r>
            <a:r>
              <a:rPr dirty="0" spc="-120"/>
              <a:t> </a:t>
            </a:r>
            <a:r>
              <a:rPr dirty="0" spc="-10"/>
              <a:t>Evolution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572097" y="1831511"/>
            <a:ext cx="7223759" cy="3352165"/>
          </a:xfrm>
          <a:prstGeom prst="rect">
            <a:avLst/>
          </a:prstGeom>
        </p:spPr>
        <p:txBody>
          <a:bodyPr wrap="square" lIns="0" tIns="2019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90"/>
              </a:spcBef>
            </a:pPr>
            <a:r>
              <a:rPr dirty="0" sz="2100" spc="-105" b="1">
                <a:solidFill>
                  <a:srgbClr val="FBD34D"/>
                </a:solidFill>
                <a:latin typeface="Tahoma"/>
                <a:cs typeface="Tahoma"/>
              </a:rPr>
              <a:t>Same</a:t>
            </a:r>
            <a:r>
              <a:rPr dirty="0" sz="2100" spc="-5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Verse</a:t>
            </a:r>
            <a:r>
              <a:rPr dirty="0" sz="2100" spc="-9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Across</a:t>
            </a:r>
            <a:r>
              <a:rPr dirty="0" sz="2100" spc="-7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Time:</a:t>
            </a:r>
            <a:endParaRPr sz="2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495"/>
              </a:spcBef>
            </a:pP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Wycliffe</a:t>
            </a:r>
            <a:r>
              <a:rPr dirty="0" sz="2100" spc="14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(1382):</a:t>
            </a:r>
            <a:endParaRPr sz="2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dirty="0" sz="2150" spc="105" i="1">
                <a:solidFill>
                  <a:srgbClr val="A5F2FB"/>
                </a:solidFill>
                <a:latin typeface="Trebuchet MS"/>
                <a:cs typeface="Trebuchet MS"/>
              </a:rPr>
              <a:t>"In</a:t>
            </a:r>
            <a:r>
              <a:rPr dirty="0" sz="2150" spc="-45" i="1">
                <a:solidFill>
                  <a:srgbClr val="A5F2FB"/>
                </a:solidFill>
                <a:latin typeface="Trebuchet MS"/>
                <a:cs typeface="Trebuchet MS"/>
              </a:rPr>
              <a:t> </a:t>
            </a:r>
            <a:r>
              <a:rPr dirty="0" sz="2150" i="1">
                <a:solidFill>
                  <a:srgbClr val="A5F2FB"/>
                </a:solidFill>
                <a:latin typeface="Trebuchet MS"/>
                <a:cs typeface="Trebuchet MS"/>
              </a:rPr>
              <a:t>the</a:t>
            </a:r>
            <a:r>
              <a:rPr dirty="0" sz="2150" spc="-45" i="1">
                <a:solidFill>
                  <a:srgbClr val="A5F2FB"/>
                </a:solidFill>
                <a:latin typeface="Trebuchet MS"/>
                <a:cs typeface="Trebuchet MS"/>
              </a:rPr>
              <a:t> </a:t>
            </a:r>
            <a:r>
              <a:rPr dirty="0" sz="2150" spc="45" i="1">
                <a:solidFill>
                  <a:srgbClr val="A5F2FB"/>
                </a:solidFill>
                <a:latin typeface="Trebuchet MS"/>
                <a:cs typeface="Trebuchet MS"/>
              </a:rPr>
              <a:t>bigynnyng</a:t>
            </a:r>
            <a:r>
              <a:rPr dirty="0" sz="2150" spc="-40" i="1">
                <a:solidFill>
                  <a:srgbClr val="A5F2FB"/>
                </a:solidFill>
                <a:latin typeface="Trebuchet MS"/>
                <a:cs typeface="Trebuchet MS"/>
              </a:rPr>
              <a:t> </a:t>
            </a:r>
            <a:r>
              <a:rPr dirty="0" sz="2150" spc="75" i="1">
                <a:solidFill>
                  <a:srgbClr val="A5F2FB"/>
                </a:solidFill>
                <a:latin typeface="Trebuchet MS"/>
                <a:cs typeface="Trebuchet MS"/>
              </a:rPr>
              <a:t>God</a:t>
            </a:r>
            <a:r>
              <a:rPr dirty="0" sz="2150" spc="-45" i="1">
                <a:solidFill>
                  <a:srgbClr val="A5F2FB"/>
                </a:solidFill>
                <a:latin typeface="Trebuchet MS"/>
                <a:cs typeface="Trebuchet MS"/>
              </a:rPr>
              <a:t> </a:t>
            </a:r>
            <a:r>
              <a:rPr dirty="0" sz="2150" i="1">
                <a:solidFill>
                  <a:srgbClr val="A5F2FB"/>
                </a:solidFill>
                <a:latin typeface="Trebuchet MS"/>
                <a:cs typeface="Trebuchet MS"/>
              </a:rPr>
              <a:t>made</a:t>
            </a:r>
            <a:r>
              <a:rPr dirty="0" sz="2150" spc="-40" i="1">
                <a:solidFill>
                  <a:srgbClr val="A5F2FB"/>
                </a:solidFill>
                <a:latin typeface="Trebuchet MS"/>
                <a:cs typeface="Trebuchet MS"/>
              </a:rPr>
              <a:t> </a:t>
            </a:r>
            <a:r>
              <a:rPr dirty="0" sz="2150" i="1">
                <a:solidFill>
                  <a:srgbClr val="A5F2FB"/>
                </a:solidFill>
                <a:latin typeface="Trebuchet MS"/>
                <a:cs typeface="Trebuchet MS"/>
              </a:rPr>
              <a:t>of</a:t>
            </a:r>
            <a:r>
              <a:rPr dirty="0" sz="2150" spc="-45" i="1">
                <a:solidFill>
                  <a:srgbClr val="A5F2FB"/>
                </a:solidFill>
                <a:latin typeface="Trebuchet MS"/>
                <a:cs typeface="Trebuchet MS"/>
              </a:rPr>
              <a:t> </a:t>
            </a:r>
            <a:r>
              <a:rPr dirty="0" sz="2150" i="1">
                <a:solidFill>
                  <a:srgbClr val="A5F2FB"/>
                </a:solidFill>
                <a:latin typeface="Trebuchet MS"/>
                <a:cs typeface="Trebuchet MS"/>
              </a:rPr>
              <a:t>nouyt</a:t>
            </a:r>
            <a:r>
              <a:rPr dirty="0" sz="2150" spc="-40" i="1">
                <a:solidFill>
                  <a:srgbClr val="A5F2FB"/>
                </a:solidFill>
                <a:latin typeface="Trebuchet MS"/>
                <a:cs typeface="Trebuchet MS"/>
              </a:rPr>
              <a:t> </a:t>
            </a:r>
            <a:r>
              <a:rPr dirty="0" sz="2150" i="1">
                <a:solidFill>
                  <a:srgbClr val="A5F2FB"/>
                </a:solidFill>
                <a:latin typeface="Trebuchet MS"/>
                <a:cs typeface="Trebuchet MS"/>
              </a:rPr>
              <a:t>heuene</a:t>
            </a:r>
            <a:r>
              <a:rPr dirty="0" sz="2150" spc="-45" i="1">
                <a:solidFill>
                  <a:srgbClr val="A5F2FB"/>
                </a:solidFill>
                <a:latin typeface="Trebuchet MS"/>
                <a:cs typeface="Trebuchet MS"/>
              </a:rPr>
              <a:t> </a:t>
            </a:r>
            <a:r>
              <a:rPr dirty="0" sz="2150" i="1">
                <a:solidFill>
                  <a:srgbClr val="A5F2FB"/>
                </a:solidFill>
                <a:latin typeface="Trebuchet MS"/>
                <a:cs typeface="Trebuchet MS"/>
              </a:rPr>
              <a:t>and</a:t>
            </a:r>
            <a:r>
              <a:rPr dirty="0" sz="2150" spc="-40" i="1">
                <a:solidFill>
                  <a:srgbClr val="A5F2FB"/>
                </a:solidFill>
                <a:latin typeface="Trebuchet MS"/>
                <a:cs typeface="Trebuchet MS"/>
              </a:rPr>
              <a:t> </a:t>
            </a:r>
            <a:r>
              <a:rPr dirty="0" sz="2150" spc="-10" i="1">
                <a:solidFill>
                  <a:srgbClr val="A5F2FB"/>
                </a:solidFill>
                <a:latin typeface="Trebuchet MS"/>
                <a:cs typeface="Trebuchet MS"/>
              </a:rPr>
              <a:t>erthe"</a:t>
            </a:r>
            <a:endParaRPr sz="21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480"/>
              </a:spcBef>
            </a:pP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King</a:t>
            </a:r>
            <a:r>
              <a:rPr dirty="0" sz="2100" spc="-114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85" b="1">
                <a:solidFill>
                  <a:srgbClr val="FBD34D"/>
                </a:solidFill>
                <a:latin typeface="Tahoma"/>
                <a:cs typeface="Tahoma"/>
              </a:rPr>
              <a:t>James</a:t>
            </a:r>
            <a:r>
              <a:rPr dirty="0" sz="2100" spc="-7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(1611):</a:t>
            </a:r>
            <a:endParaRPr sz="2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dirty="0" sz="2150" spc="105" i="1">
                <a:solidFill>
                  <a:srgbClr val="A5F2FB"/>
                </a:solidFill>
                <a:latin typeface="Trebuchet MS"/>
                <a:cs typeface="Trebuchet MS"/>
              </a:rPr>
              <a:t>"In</a:t>
            </a:r>
            <a:r>
              <a:rPr dirty="0" sz="2150" spc="-35" i="1">
                <a:solidFill>
                  <a:srgbClr val="A5F2FB"/>
                </a:solidFill>
                <a:latin typeface="Trebuchet MS"/>
                <a:cs typeface="Trebuchet MS"/>
              </a:rPr>
              <a:t> </a:t>
            </a:r>
            <a:r>
              <a:rPr dirty="0" sz="2150" i="1">
                <a:solidFill>
                  <a:srgbClr val="A5F2FB"/>
                </a:solidFill>
                <a:latin typeface="Trebuchet MS"/>
                <a:cs typeface="Trebuchet MS"/>
              </a:rPr>
              <a:t>the</a:t>
            </a:r>
            <a:r>
              <a:rPr dirty="0" sz="2150" spc="-35" i="1">
                <a:solidFill>
                  <a:srgbClr val="A5F2FB"/>
                </a:solidFill>
                <a:latin typeface="Trebuchet MS"/>
                <a:cs typeface="Trebuchet MS"/>
              </a:rPr>
              <a:t> </a:t>
            </a:r>
            <a:r>
              <a:rPr dirty="0" sz="2150" i="1">
                <a:solidFill>
                  <a:srgbClr val="A5F2FB"/>
                </a:solidFill>
                <a:latin typeface="Trebuchet MS"/>
                <a:cs typeface="Trebuchet MS"/>
              </a:rPr>
              <a:t>beginning</a:t>
            </a:r>
            <a:r>
              <a:rPr dirty="0" sz="2150" spc="-35" i="1">
                <a:solidFill>
                  <a:srgbClr val="A5F2FB"/>
                </a:solidFill>
                <a:latin typeface="Trebuchet MS"/>
                <a:cs typeface="Trebuchet MS"/>
              </a:rPr>
              <a:t> </a:t>
            </a:r>
            <a:r>
              <a:rPr dirty="0" sz="2150" spc="75" i="1">
                <a:solidFill>
                  <a:srgbClr val="A5F2FB"/>
                </a:solidFill>
                <a:latin typeface="Trebuchet MS"/>
                <a:cs typeface="Trebuchet MS"/>
              </a:rPr>
              <a:t>God</a:t>
            </a:r>
            <a:r>
              <a:rPr dirty="0" sz="2150" spc="-35" i="1">
                <a:solidFill>
                  <a:srgbClr val="A5F2FB"/>
                </a:solidFill>
                <a:latin typeface="Trebuchet MS"/>
                <a:cs typeface="Trebuchet MS"/>
              </a:rPr>
              <a:t> </a:t>
            </a:r>
            <a:r>
              <a:rPr dirty="0" sz="2150" i="1">
                <a:solidFill>
                  <a:srgbClr val="A5F2FB"/>
                </a:solidFill>
                <a:latin typeface="Trebuchet MS"/>
                <a:cs typeface="Trebuchet MS"/>
              </a:rPr>
              <a:t>created</a:t>
            </a:r>
            <a:r>
              <a:rPr dirty="0" sz="2150" spc="-35" i="1">
                <a:solidFill>
                  <a:srgbClr val="A5F2FB"/>
                </a:solidFill>
                <a:latin typeface="Trebuchet MS"/>
                <a:cs typeface="Trebuchet MS"/>
              </a:rPr>
              <a:t> </a:t>
            </a:r>
            <a:r>
              <a:rPr dirty="0" sz="2150" i="1">
                <a:solidFill>
                  <a:srgbClr val="A5F2FB"/>
                </a:solidFill>
                <a:latin typeface="Trebuchet MS"/>
                <a:cs typeface="Trebuchet MS"/>
              </a:rPr>
              <a:t>the</a:t>
            </a:r>
            <a:r>
              <a:rPr dirty="0" sz="2150" spc="-30" i="1">
                <a:solidFill>
                  <a:srgbClr val="A5F2FB"/>
                </a:solidFill>
                <a:latin typeface="Trebuchet MS"/>
                <a:cs typeface="Trebuchet MS"/>
              </a:rPr>
              <a:t> </a:t>
            </a:r>
            <a:r>
              <a:rPr dirty="0" sz="2150" i="1">
                <a:solidFill>
                  <a:srgbClr val="A5F2FB"/>
                </a:solidFill>
                <a:latin typeface="Trebuchet MS"/>
                <a:cs typeface="Trebuchet MS"/>
              </a:rPr>
              <a:t>heaven</a:t>
            </a:r>
            <a:r>
              <a:rPr dirty="0" sz="2150" spc="-35" i="1">
                <a:solidFill>
                  <a:srgbClr val="A5F2FB"/>
                </a:solidFill>
                <a:latin typeface="Trebuchet MS"/>
                <a:cs typeface="Trebuchet MS"/>
              </a:rPr>
              <a:t> </a:t>
            </a:r>
            <a:r>
              <a:rPr dirty="0" sz="2150" i="1">
                <a:solidFill>
                  <a:srgbClr val="A5F2FB"/>
                </a:solidFill>
                <a:latin typeface="Trebuchet MS"/>
                <a:cs typeface="Trebuchet MS"/>
              </a:rPr>
              <a:t>and</a:t>
            </a:r>
            <a:r>
              <a:rPr dirty="0" sz="2150" spc="-35" i="1">
                <a:solidFill>
                  <a:srgbClr val="A5F2FB"/>
                </a:solidFill>
                <a:latin typeface="Trebuchet MS"/>
                <a:cs typeface="Trebuchet MS"/>
              </a:rPr>
              <a:t> </a:t>
            </a:r>
            <a:r>
              <a:rPr dirty="0" sz="2150" i="1">
                <a:solidFill>
                  <a:srgbClr val="A5F2FB"/>
                </a:solidFill>
                <a:latin typeface="Trebuchet MS"/>
                <a:cs typeface="Trebuchet MS"/>
              </a:rPr>
              <a:t>the</a:t>
            </a:r>
            <a:r>
              <a:rPr dirty="0" sz="2150" spc="-35" i="1">
                <a:solidFill>
                  <a:srgbClr val="A5F2FB"/>
                </a:solidFill>
                <a:latin typeface="Trebuchet MS"/>
                <a:cs typeface="Trebuchet MS"/>
              </a:rPr>
              <a:t> </a:t>
            </a:r>
            <a:r>
              <a:rPr dirty="0" sz="2150" spc="-10" i="1">
                <a:solidFill>
                  <a:srgbClr val="A5F2FB"/>
                </a:solidFill>
                <a:latin typeface="Trebuchet MS"/>
                <a:cs typeface="Trebuchet MS"/>
              </a:rPr>
              <a:t>earth"</a:t>
            </a:r>
            <a:endParaRPr sz="21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485"/>
              </a:spcBef>
            </a:pP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NIV</a:t>
            </a:r>
            <a:r>
              <a:rPr dirty="0" sz="2100" spc="-13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(1978):</a:t>
            </a:r>
            <a:endParaRPr sz="2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dirty="0" sz="2150" spc="105" i="1">
                <a:solidFill>
                  <a:srgbClr val="A5F2FB"/>
                </a:solidFill>
                <a:latin typeface="Trebuchet MS"/>
                <a:cs typeface="Trebuchet MS"/>
              </a:rPr>
              <a:t>"In</a:t>
            </a:r>
            <a:r>
              <a:rPr dirty="0" sz="2150" spc="-25" i="1">
                <a:solidFill>
                  <a:srgbClr val="A5F2FB"/>
                </a:solidFill>
                <a:latin typeface="Trebuchet MS"/>
                <a:cs typeface="Trebuchet MS"/>
              </a:rPr>
              <a:t> </a:t>
            </a:r>
            <a:r>
              <a:rPr dirty="0" sz="2150" i="1">
                <a:solidFill>
                  <a:srgbClr val="A5F2FB"/>
                </a:solidFill>
                <a:latin typeface="Trebuchet MS"/>
                <a:cs typeface="Trebuchet MS"/>
              </a:rPr>
              <a:t>the</a:t>
            </a:r>
            <a:r>
              <a:rPr dirty="0" sz="2150" spc="-20" i="1">
                <a:solidFill>
                  <a:srgbClr val="A5F2FB"/>
                </a:solidFill>
                <a:latin typeface="Trebuchet MS"/>
                <a:cs typeface="Trebuchet MS"/>
              </a:rPr>
              <a:t> </a:t>
            </a:r>
            <a:r>
              <a:rPr dirty="0" sz="2150" i="1">
                <a:solidFill>
                  <a:srgbClr val="A5F2FB"/>
                </a:solidFill>
                <a:latin typeface="Trebuchet MS"/>
                <a:cs typeface="Trebuchet MS"/>
              </a:rPr>
              <a:t>beginning</a:t>
            </a:r>
            <a:r>
              <a:rPr dirty="0" sz="2150" spc="-20" i="1">
                <a:solidFill>
                  <a:srgbClr val="A5F2FB"/>
                </a:solidFill>
                <a:latin typeface="Trebuchet MS"/>
                <a:cs typeface="Trebuchet MS"/>
              </a:rPr>
              <a:t> </a:t>
            </a:r>
            <a:r>
              <a:rPr dirty="0" sz="2150" spc="75" i="1">
                <a:solidFill>
                  <a:srgbClr val="A5F2FB"/>
                </a:solidFill>
                <a:latin typeface="Trebuchet MS"/>
                <a:cs typeface="Trebuchet MS"/>
              </a:rPr>
              <a:t>God</a:t>
            </a:r>
            <a:r>
              <a:rPr dirty="0" sz="2150" spc="-25" i="1">
                <a:solidFill>
                  <a:srgbClr val="A5F2FB"/>
                </a:solidFill>
                <a:latin typeface="Trebuchet MS"/>
                <a:cs typeface="Trebuchet MS"/>
              </a:rPr>
              <a:t> </a:t>
            </a:r>
            <a:r>
              <a:rPr dirty="0" sz="2150" i="1">
                <a:solidFill>
                  <a:srgbClr val="A5F2FB"/>
                </a:solidFill>
                <a:latin typeface="Trebuchet MS"/>
                <a:cs typeface="Trebuchet MS"/>
              </a:rPr>
              <a:t>created</a:t>
            </a:r>
            <a:r>
              <a:rPr dirty="0" sz="2150" spc="-20" i="1">
                <a:solidFill>
                  <a:srgbClr val="A5F2FB"/>
                </a:solidFill>
                <a:latin typeface="Trebuchet MS"/>
                <a:cs typeface="Trebuchet MS"/>
              </a:rPr>
              <a:t> </a:t>
            </a:r>
            <a:r>
              <a:rPr dirty="0" sz="2150" i="1">
                <a:solidFill>
                  <a:srgbClr val="A5F2FB"/>
                </a:solidFill>
                <a:latin typeface="Trebuchet MS"/>
                <a:cs typeface="Trebuchet MS"/>
              </a:rPr>
              <a:t>the</a:t>
            </a:r>
            <a:r>
              <a:rPr dirty="0" sz="2150" spc="-20" i="1">
                <a:solidFill>
                  <a:srgbClr val="A5F2FB"/>
                </a:solidFill>
                <a:latin typeface="Trebuchet MS"/>
                <a:cs typeface="Trebuchet MS"/>
              </a:rPr>
              <a:t> </a:t>
            </a:r>
            <a:r>
              <a:rPr dirty="0" sz="2150" i="1">
                <a:solidFill>
                  <a:srgbClr val="A5F2FB"/>
                </a:solidFill>
                <a:latin typeface="Trebuchet MS"/>
                <a:cs typeface="Trebuchet MS"/>
              </a:rPr>
              <a:t>heavens</a:t>
            </a:r>
            <a:r>
              <a:rPr dirty="0" sz="2150" spc="-20" i="1">
                <a:solidFill>
                  <a:srgbClr val="A5F2FB"/>
                </a:solidFill>
                <a:latin typeface="Trebuchet MS"/>
                <a:cs typeface="Trebuchet MS"/>
              </a:rPr>
              <a:t> </a:t>
            </a:r>
            <a:r>
              <a:rPr dirty="0" sz="2150" i="1">
                <a:solidFill>
                  <a:srgbClr val="A5F2FB"/>
                </a:solidFill>
                <a:latin typeface="Trebuchet MS"/>
                <a:cs typeface="Trebuchet MS"/>
              </a:rPr>
              <a:t>and</a:t>
            </a:r>
            <a:r>
              <a:rPr dirty="0" sz="2150" spc="-25" i="1">
                <a:solidFill>
                  <a:srgbClr val="A5F2FB"/>
                </a:solidFill>
                <a:latin typeface="Trebuchet MS"/>
                <a:cs typeface="Trebuchet MS"/>
              </a:rPr>
              <a:t> </a:t>
            </a:r>
            <a:r>
              <a:rPr dirty="0" sz="2150" i="1">
                <a:solidFill>
                  <a:srgbClr val="A5F2FB"/>
                </a:solidFill>
                <a:latin typeface="Trebuchet MS"/>
                <a:cs typeface="Trebuchet MS"/>
              </a:rPr>
              <a:t>the</a:t>
            </a:r>
            <a:r>
              <a:rPr dirty="0" sz="2150" spc="-20" i="1">
                <a:solidFill>
                  <a:srgbClr val="A5F2FB"/>
                </a:solidFill>
                <a:latin typeface="Trebuchet MS"/>
                <a:cs typeface="Trebuchet MS"/>
              </a:rPr>
              <a:t> </a:t>
            </a:r>
            <a:r>
              <a:rPr dirty="0" sz="2150" spc="-10" i="1">
                <a:solidFill>
                  <a:srgbClr val="A5F2FB"/>
                </a:solidFill>
                <a:latin typeface="Trebuchet MS"/>
                <a:cs typeface="Trebuchet MS"/>
              </a:rPr>
              <a:t>earth"</a:t>
            </a:r>
            <a:endParaRPr sz="21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543560"/>
          </a:xfrm>
          <a:custGeom>
            <a:avLst/>
            <a:gdLst/>
            <a:ahLst/>
            <a:cxnLst/>
            <a:rect l="l" t="t" r="r" b="b"/>
            <a:pathLst>
              <a:path w="50165" h="543560">
                <a:moveTo>
                  <a:pt x="50125" y="543026"/>
                </a:moveTo>
                <a:lnTo>
                  <a:pt x="0" y="543026"/>
                </a:lnTo>
                <a:lnTo>
                  <a:pt x="0" y="0"/>
                </a:lnTo>
                <a:lnTo>
                  <a:pt x="50125" y="0"/>
                </a:lnTo>
                <a:lnTo>
                  <a:pt x="50125" y="543026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98575" y="1444752"/>
            <a:ext cx="7397750" cy="463550"/>
          </a:xfrm>
          <a:custGeom>
            <a:avLst/>
            <a:gdLst/>
            <a:ahLst/>
            <a:cxnLst/>
            <a:rect l="l" t="t" r="r" b="b"/>
            <a:pathLst>
              <a:path w="7397750" h="463550">
                <a:moveTo>
                  <a:pt x="7397495" y="463295"/>
                </a:moveTo>
                <a:lnTo>
                  <a:pt x="0" y="463295"/>
                </a:lnTo>
                <a:lnTo>
                  <a:pt x="0" y="0"/>
                </a:lnTo>
                <a:lnTo>
                  <a:pt x="7397495" y="0"/>
                </a:lnTo>
                <a:lnTo>
                  <a:pt x="7397495" y="463295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30"/>
              <a:t>Romance </a:t>
            </a:r>
            <a:r>
              <a:rPr dirty="0" spc="-160"/>
              <a:t>Languages:</a:t>
            </a:r>
            <a:r>
              <a:rPr dirty="0" spc="-130"/>
              <a:t> </a:t>
            </a:r>
            <a:r>
              <a:rPr dirty="0" spc="-70"/>
              <a:t>Latin</a:t>
            </a:r>
            <a:r>
              <a:rPr dirty="0" spc="-125"/>
              <a:t> </a:t>
            </a:r>
            <a:r>
              <a:rPr dirty="0" spc="-40"/>
              <a:t>Foundation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2885151"/>
            <a:ext cx="91896" cy="91896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3444887"/>
            <a:ext cx="91896" cy="9189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4004622"/>
            <a:ext cx="91896" cy="9189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5449908"/>
            <a:ext cx="91896" cy="91896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6009644"/>
            <a:ext cx="91896" cy="91896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6577733"/>
            <a:ext cx="91896" cy="91896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572097" y="2020317"/>
            <a:ext cx="6183630" cy="475742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Latin</a:t>
            </a:r>
            <a:r>
              <a:rPr dirty="0" sz="2100" spc="-114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20" b="1">
                <a:solidFill>
                  <a:srgbClr val="FBD34D"/>
                </a:solidFill>
                <a:latin typeface="Tahoma"/>
                <a:cs typeface="Tahoma"/>
              </a:rPr>
              <a:t>Corpus</a:t>
            </a:r>
            <a:r>
              <a:rPr dirty="0" sz="2100" spc="-11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Components:</a:t>
            </a:r>
            <a:endParaRPr sz="2100">
              <a:latin typeface="Tahoma"/>
              <a:cs typeface="Tahoma"/>
            </a:endParaRPr>
          </a:p>
          <a:p>
            <a:pPr marL="346710" marR="5080">
              <a:lnSpc>
                <a:spcPct val="174900"/>
              </a:lnSpc>
              <a:spcBef>
                <a:spcPts val="1250"/>
              </a:spcBef>
            </a:pPr>
            <a:r>
              <a:rPr dirty="0" sz="2100" spc="-20" b="1">
                <a:solidFill>
                  <a:srgbClr val="FBD34D"/>
                </a:solidFill>
                <a:latin typeface="Tahoma"/>
                <a:cs typeface="Tahoma"/>
              </a:rPr>
              <a:t>Vulgate</a:t>
            </a:r>
            <a:r>
              <a:rPr dirty="0" sz="2100" spc="-5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(Jerome's</a:t>
            </a:r>
            <a:r>
              <a:rPr dirty="0" sz="2100" spc="-9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Latin</a:t>
            </a:r>
            <a:r>
              <a:rPr dirty="0" sz="2100" spc="-9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Bible,</a:t>
            </a:r>
            <a:r>
              <a:rPr dirty="0" sz="2100" spc="-9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4th</a:t>
            </a:r>
            <a:r>
              <a:rPr dirty="0" sz="2100" spc="-9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century</a:t>
            </a:r>
            <a:r>
              <a:rPr dirty="0" sz="2100" spc="-9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40">
                <a:solidFill>
                  <a:srgbClr val="F7FAFB"/>
                </a:solidFill>
                <a:latin typeface="Tahoma"/>
                <a:cs typeface="Tahoma"/>
              </a:rPr>
              <a:t>CE) </a:t>
            </a:r>
            <a:r>
              <a:rPr dirty="0" sz="2100" spc="120">
                <a:solidFill>
                  <a:srgbClr val="F7FAFB"/>
                </a:solidFill>
                <a:latin typeface="Tahoma"/>
                <a:cs typeface="Tahoma"/>
              </a:rPr>
              <a:t>Medieval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Latin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texts</a:t>
            </a:r>
            <a:endParaRPr sz="2100">
              <a:latin typeface="Tahoma"/>
              <a:cs typeface="Tahoma"/>
            </a:endParaRPr>
          </a:p>
          <a:p>
            <a:pPr marL="346710">
              <a:lnSpc>
                <a:spcPct val="100000"/>
              </a:lnSpc>
              <a:spcBef>
                <a:spcPts val="1885"/>
              </a:spcBef>
            </a:pPr>
            <a:r>
              <a:rPr dirty="0" sz="2100" spc="105">
                <a:solidFill>
                  <a:srgbClr val="F7FAFB"/>
                </a:solidFill>
                <a:latin typeface="Tahoma"/>
                <a:cs typeface="Tahoma"/>
              </a:rPr>
              <a:t>Original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Latin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5">
                <a:solidFill>
                  <a:srgbClr val="F7FAFB"/>
                </a:solidFill>
                <a:latin typeface="Tahoma"/>
                <a:cs typeface="Tahoma"/>
              </a:rPr>
              <a:t>works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for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comparison</a:t>
            </a:r>
            <a:endParaRPr sz="2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endParaRPr sz="2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Why</a:t>
            </a:r>
            <a:r>
              <a:rPr dirty="0" sz="2100" spc="-2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Latin?</a:t>
            </a:r>
            <a:endParaRPr sz="2100">
              <a:latin typeface="Tahoma"/>
              <a:cs typeface="Tahoma"/>
            </a:endParaRPr>
          </a:p>
          <a:p>
            <a:pPr marL="346710" marR="529590">
              <a:lnSpc>
                <a:spcPct val="176200"/>
              </a:lnSpc>
              <a:spcBef>
                <a:spcPts val="1215"/>
              </a:spcBef>
            </a:pP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Source</a:t>
            </a:r>
            <a:r>
              <a:rPr dirty="0" sz="2100" spc="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language</a:t>
            </a:r>
            <a:r>
              <a:rPr dirty="0" sz="2100" spc="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for</a:t>
            </a:r>
            <a:r>
              <a:rPr dirty="0" sz="2100" spc="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Romance</a:t>
            </a:r>
            <a:r>
              <a:rPr dirty="0" sz="2100" spc="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translations </a:t>
            </a:r>
            <a:r>
              <a:rPr dirty="0" sz="2100" spc="130">
                <a:solidFill>
                  <a:srgbClr val="F7FAFB"/>
                </a:solidFill>
                <a:latin typeface="Tahoma"/>
                <a:cs typeface="Tahoma"/>
              </a:rPr>
              <a:t>Direct</a:t>
            </a:r>
            <a:r>
              <a:rPr dirty="0" sz="2100" spc="-5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influence</a:t>
            </a:r>
            <a:r>
              <a:rPr dirty="0" sz="2100" spc="-5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on</a:t>
            </a:r>
            <a:r>
              <a:rPr dirty="0" sz="2100" spc="-5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ecclesiastical</a:t>
            </a:r>
            <a:r>
              <a:rPr dirty="0" sz="2100" spc="-4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5">
                <a:solidFill>
                  <a:srgbClr val="F7FAFB"/>
                </a:solidFill>
                <a:latin typeface="Tahoma"/>
                <a:cs typeface="Tahoma"/>
              </a:rPr>
              <a:t>Greek </a:t>
            </a:r>
            <a:r>
              <a:rPr dirty="0" sz="2100" spc="130">
                <a:solidFill>
                  <a:srgbClr val="F7FAFB"/>
                </a:solidFill>
                <a:latin typeface="Tahoma"/>
                <a:cs typeface="Tahoma"/>
              </a:rPr>
              <a:t>Control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for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translation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directionality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543560"/>
          </a:xfrm>
          <a:custGeom>
            <a:avLst/>
            <a:gdLst/>
            <a:ahLst/>
            <a:cxnLst/>
            <a:rect l="l" t="t" r="r" b="b"/>
            <a:pathLst>
              <a:path w="50165" h="543560">
                <a:moveTo>
                  <a:pt x="50125" y="543026"/>
                </a:moveTo>
                <a:lnTo>
                  <a:pt x="0" y="543026"/>
                </a:lnTo>
                <a:lnTo>
                  <a:pt x="0" y="0"/>
                </a:lnTo>
                <a:lnTo>
                  <a:pt x="50125" y="0"/>
                </a:lnTo>
                <a:lnTo>
                  <a:pt x="50125" y="543026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584797" y="2676295"/>
            <a:ext cx="9524365" cy="1253490"/>
          </a:xfrm>
          <a:custGeom>
            <a:avLst/>
            <a:gdLst/>
            <a:ahLst/>
            <a:cxnLst/>
            <a:rect l="l" t="t" r="r" b="b"/>
            <a:pathLst>
              <a:path w="9524365" h="1253489">
                <a:moveTo>
                  <a:pt x="9523853" y="1253138"/>
                </a:moveTo>
                <a:lnTo>
                  <a:pt x="0" y="1253138"/>
                </a:lnTo>
                <a:lnTo>
                  <a:pt x="0" y="0"/>
                </a:lnTo>
                <a:lnTo>
                  <a:pt x="9523853" y="0"/>
                </a:lnTo>
                <a:lnTo>
                  <a:pt x="9523853" y="1253138"/>
                </a:lnTo>
                <a:close/>
              </a:path>
            </a:pathLst>
          </a:custGeom>
          <a:solidFill>
            <a:srgbClr val="4559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798575" y="1444752"/>
            <a:ext cx="6376670" cy="463550"/>
          </a:xfrm>
          <a:custGeom>
            <a:avLst/>
            <a:gdLst/>
            <a:ahLst/>
            <a:cxnLst/>
            <a:rect l="l" t="t" r="r" b="b"/>
            <a:pathLst>
              <a:path w="6376670" h="463550">
                <a:moveTo>
                  <a:pt x="6376415" y="463295"/>
                </a:moveTo>
                <a:lnTo>
                  <a:pt x="0" y="463295"/>
                </a:lnTo>
                <a:lnTo>
                  <a:pt x="0" y="0"/>
                </a:lnTo>
                <a:lnTo>
                  <a:pt x="6376415" y="0"/>
                </a:lnTo>
                <a:lnTo>
                  <a:pt x="6376415" y="463295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14"/>
              <a:t>Example: </a:t>
            </a:r>
            <a:r>
              <a:rPr dirty="0" spc="-70"/>
              <a:t>Latin</a:t>
            </a:r>
            <a:r>
              <a:rPr dirty="0" spc="-114"/>
              <a:t> </a:t>
            </a:r>
            <a:r>
              <a:rPr dirty="0" spc="-80"/>
              <a:t>Vulgate</a:t>
            </a:r>
            <a:r>
              <a:rPr dirty="0" spc="-114"/>
              <a:t> </a:t>
            </a:r>
            <a:r>
              <a:rPr dirty="0" spc="-85"/>
              <a:t>Influence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572097" y="2020317"/>
            <a:ext cx="1858010" cy="3467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 spc="-20" b="1">
                <a:solidFill>
                  <a:srgbClr val="FBD34D"/>
                </a:solidFill>
                <a:latin typeface="Tahoma"/>
                <a:cs typeface="Tahoma"/>
              </a:rPr>
              <a:t>Vulgate</a:t>
            </a:r>
            <a:r>
              <a:rPr dirty="0" sz="2100" spc="-10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25" b="1">
                <a:solidFill>
                  <a:srgbClr val="FBD34D"/>
                </a:solidFill>
                <a:latin typeface="Tahoma"/>
                <a:cs typeface="Tahoma"/>
              </a:rPr>
              <a:t>Latin:</a:t>
            </a:r>
            <a:endParaRPr sz="2100">
              <a:latin typeface="Tahoma"/>
              <a:cs typeface="Tahoma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4915236"/>
            <a:ext cx="91896" cy="9189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5474971"/>
            <a:ext cx="91896" cy="91896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6043061"/>
            <a:ext cx="91896" cy="91896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572097" y="4050402"/>
            <a:ext cx="3977004" cy="21926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 spc="-50" b="1">
                <a:solidFill>
                  <a:srgbClr val="FBD34D"/>
                </a:solidFill>
                <a:latin typeface="Tahoma"/>
                <a:cs typeface="Tahoma"/>
              </a:rPr>
              <a:t>Influenced</a:t>
            </a:r>
            <a:r>
              <a:rPr dirty="0" sz="2100" spc="-8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20" b="1">
                <a:solidFill>
                  <a:srgbClr val="FBD34D"/>
                </a:solidFill>
                <a:latin typeface="Tahoma"/>
                <a:cs typeface="Tahoma"/>
              </a:rPr>
              <a:t>translations</a:t>
            </a:r>
            <a:r>
              <a:rPr dirty="0" sz="2100" spc="-8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25" b="1">
                <a:solidFill>
                  <a:srgbClr val="FBD34D"/>
                </a:solidFill>
                <a:latin typeface="Tahoma"/>
                <a:cs typeface="Tahoma"/>
              </a:rPr>
              <a:t>in:</a:t>
            </a:r>
            <a:endParaRPr sz="2100">
              <a:latin typeface="Tahoma"/>
              <a:cs typeface="Tahoma"/>
            </a:endParaRPr>
          </a:p>
          <a:p>
            <a:pPr marL="346710" marR="5080">
              <a:lnSpc>
                <a:spcPct val="174900"/>
              </a:lnSpc>
              <a:spcBef>
                <a:spcPts val="1250"/>
              </a:spcBef>
            </a:pPr>
            <a:r>
              <a:rPr dirty="0" sz="2100" spc="45">
                <a:solidFill>
                  <a:srgbClr val="F7FAFB"/>
                </a:solidFill>
                <a:latin typeface="Tahoma"/>
                <a:cs typeface="Tahoma"/>
              </a:rPr>
              <a:t>French: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"Que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0">
                <a:solidFill>
                  <a:srgbClr val="F7FAFB"/>
                </a:solidFill>
                <a:latin typeface="Tahoma"/>
                <a:cs typeface="Tahoma"/>
              </a:rPr>
              <a:t>la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lumière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soit"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Italian: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"Sia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0">
                <a:solidFill>
                  <a:srgbClr val="F7FAFB"/>
                </a:solidFill>
                <a:latin typeface="Tahoma"/>
                <a:cs typeface="Tahoma"/>
              </a:rPr>
              <a:t>la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30">
                <a:solidFill>
                  <a:srgbClr val="F7FAFB"/>
                </a:solidFill>
                <a:latin typeface="Tahoma"/>
                <a:cs typeface="Tahoma"/>
              </a:rPr>
              <a:t>luce"</a:t>
            </a:r>
            <a:endParaRPr sz="2100">
              <a:latin typeface="Tahoma"/>
              <a:cs typeface="Tahoma"/>
            </a:endParaRPr>
          </a:p>
          <a:p>
            <a:pPr marL="346710">
              <a:lnSpc>
                <a:spcPct val="100000"/>
              </a:lnSpc>
              <a:spcBef>
                <a:spcPts val="1950"/>
              </a:spcBef>
            </a:pP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Spanish: </a:t>
            </a:r>
            <a:r>
              <a:rPr dirty="0" sz="2100" spc="60">
                <a:solidFill>
                  <a:srgbClr val="F7FAFB"/>
                </a:solidFill>
                <a:latin typeface="Tahoma"/>
                <a:cs typeface="Tahoma"/>
              </a:rPr>
              <a:t>"Hágase</a:t>
            </a:r>
            <a:r>
              <a:rPr dirty="0" sz="2100" spc="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0">
                <a:solidFill>
                  <a:srgbClr val="F7FAFB"/>
                </a:solidFill>
                <a:latin typeface="Tahoma"/>
                <a:cs typeface="Tahoma"/>
              </a:rPr>
              <a:t>la</a:t>
            </a:r>
            <a:r>
              <a:rPr dirty="0" sz="2100" spc="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luz"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543560"/>
          </a:xfrm>
          <a:custGeom>
            <a:avLst/>
            <a:gdLst/>
            <a:ahLst/>
            <a:cxnLst/>
            <a:rect l="l" t="t" r="r" b="b"/>
            <a:pathLst>
              <a:path w="50165" h="543560">
                <a:moveTo>
                  <a:pt x="50125" y="543026"/>
                </a:moveTo>
                <a:lnTo>
                  <a:pt x="0" y="543026"/>
                </a:lnTo>
                <a:lnTo>
                  <a:pt x="0" y="0"/>
                </a:lnTo>
                <a:lnTo>
                  <a:pt x="50125" y="0"/>
                </a:lnTo>
                <a:lnTo>
                  <a:pt x="50125" y="543026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98575" y="1444752"/>
            <a:ext cx="4002404" cy="457200"/>
          </a:xfrm>
          <a:custGeom>
            <a:avLst/>
            <a:gdLst/>
            <a:ahLst/>
            <a:cxnLst/>
            <a:rect l="l" t="t" r="r" b="b"/>
            <a:pathLst>
              <a:path w="4002404" h="457200">
                <a:moveTo>
                  <a:pt x="4002023" y="457199"/>
                </a:moveTo>
                <a:lnTo>
                  <a:pt x="0" y="457199"/>
                </a:lnTo>
                <a:lnTo>
                  <a:pt x="0" y="0"/>
                </a:lnTo>
                <a:lnTo>
                  <a:pt x="4002023" y="0"/>
                </a:lnTo>
                <a:lnTo>
                  <a:pt x="4002023" y="45719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89308" y="1360331"/>
            <a:ext cx="3971925" cy="5067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95"/>
              <a:t>French</a:t>
            </a:r>
            <a:r>
              <a:rPr dirty="0" spc="-140"/>
              <a:t> </a:t>
            </a:r>
            <a:r>
              <a:rPr dirty="0" spc="-90"/>
              <a:t>in</a:t>
            </a:r>
            <a:r>
              <a:rPr dirty="0" spc="-135"/>
              <a:t> </a:t>
            </a:r>
            <a:r>
              <a:rPr dirty="0" spc="-90"/>
              <a:t>the</a:t>
            </a:r>
            <a:r>
              <a:rPr dirty="0" spc="-140"/>
              <a:t> </a:t>
            </a:r>
            <a:r>
              <a:rPr dirty="0" spc="-35"/>
              <a:t>Corpus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2885151"/>
            <a:ext cx="91896" cy="91896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3444887"/>
            <a:ext cx="91896" cy="9189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4004622"/>
            <a:ext cx="91896" cy="9189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5449908"/>
            <a:ext cx="91896" cy="91896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6009644"/>
            <a:ext cx="91896" cy="91896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572097" y="2020317"/>
            <a:ext cx="6552565" cy="41897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 spc="-75" b="1">
                <a:solidFill>
                  <a:srgbClr val="FBD34D"/>
                </a:solidFill>
                <a:latin typeface="Tahoma"/>
                <a:cs typeface="Tahoma"/>
              </a:rPr>
              <a:t>Stages</a:t>
            </a:r>
            <a:r>
              <a:rPr dirty="0" sz="2100" spc="-4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Represented:</a:t>
            </a:r>
            <a:endParaRPr sz="2100">
              <a:latin typeface="Tahoma"/>
              <a:cs typeface="Tahoma"/>
            </a:endParaRPr>
          </a:p>
          <a:p>
            <a:pPr marL="346710" marR="2480945">
              <a:lnSpc>
                <a:spcPct val="174900"/>
              </a:lnSpc>
              <a:spcBef>
                <a:spcPts val="1250"/>
              </a:spcBef>
            </a:pP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Old</a:t>
            </a:r>
            <a:r>
              <a:rPr dirty="0" sz="2100" spc="-4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30" b="1">
                <a:solidFill>
                  <a:srgbClr val="FBD34D"/>
                </a:solidFill>
                <a:latin typeface="Tahoma"/>
                <a:cs typeface="Tahoma"/>
              </a:rPr>
              <a:t>French</a:t>
            </a:r>
            <a:r>
              <a:rPr dirty="0" sz="2100" spc="-4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114">
                <a:solidFill>
                  <a:srgbClr val="F7FAFB"/>
                </a:solidFill>
                <a:latin typeface="Tahoma"/>
                <a:cs typeface="Tahoma"/>
              </a:rPr>
              <a:t>Bible</a:t>
            </a:r>
            <a:r>
              <a:rPr dirty="0" sz="2100" spc="-9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translations </a:t>
            </a: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Middle</a:t>
            </a:r>
            <a:r>
              <a:rPr dirty="0" sz="2100" spc="-4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30" b="1">
                <a:solidFill>
                  <a:srgbClr val="FBD34D"/>
                </a:solidFill>
                <a:latin typeface="Tahoma"/>
                <a:cs typeface="Tahoma"/>
              </a:rPr>
              <a:t>French</a:t>
            </a:r>
            <a:r>
              <a:rPr dirty="0" sz="2100" spc="-3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versions </a:t>
            </a: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Modern</a:t>
            </a:r>
            <a:r>
              <a:rPr dirty="0" sz="2100" spc="-8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30" b="1">
                <a:solidFill>
                  <a:srgbClr val="FBD34D"/>
                </a:solidFill>
                <a:latin typeface="Tahoma"/>
                <a:cs typeface="Tahoma"/>
              </a:rPr>
              <a:t>French</a:t>
            </a:r>
            <a:r>
              <a:rPr dirty="0" sz="2100" spc="-8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translations</a:t>
            </a:r>
            <a:endParaRPr sz="2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2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2100" spc="-40" b="1">
                <a:solidFill>
                  <a:srgbClr val="FBD34D"/>
                </a:solidFill>
                <a:latin typeface="Tahoma"/>
                <a:cs typeface="Tahoma"/>
              </a:rPr>
              <a:t>Research</a:t>
            </a:r>
            <a:r>
              <a:rPr dirty="0" sz="2100" spc="-10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Questions:</a:t>
            </a:r>
            <a:endParaRPr sz="2100">
              <a:latin typeface="Tahoma"/>
              <a:cs typeface="Tahoma"/>
            </a:endParaRPr>
          </a:p>
          <a:p>
            <a:pPr marL="346710" marR="5080">
              <a:lnSpc>
                <a:spcPct val="174900"/>
              </a:lnSpc>
              <a:spcBef>
                <a:spcPts val="1250"/>
              </a:spcBef>
            </a:pPr>
            <a:r>
              <a:rPr dirty="0" sz="2100" spc="130">
                <a:solidFill>
                  <a:srgbClr val="F7FAFB"/>
                </a:solidFill>
                <a:latin typeface="Tahoma"/>
                <a:cs typeface="Tahoma"/>
              </a:rPr>
              <a:t>How</a:t>
            </a:r>
            <a:r>
              <a:rPr dirty="0" sz="2100" spc="-9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did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French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develop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its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analytical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structures? </a:t>
            </a:r>
            <a:r>
              <a:rPr dirty="0" sz="2100" spc="125">
                <a:solidFill>
                  <a:srgbClr val="F7FAFB"/>
                </a:solidFill>
                <a:latin typeface="Tahoma"/>
                <a:cs typeface="Tahoma"/>
              </a:rPr>
              <a:t>What</a:t>
            </a:r>
            <a:r>
              <a:rPr dirty="0" sz="2100" spc="-9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role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did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Latin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0">
                <a:solidFill>
                  <a:srgbClr val="F7FAFB"/>
                </a:solidFill>
                <a:latin typeface="Tahoma"/>
                <a:cs typeface="Tahoma"/>
              </a:rPr>
              <a:t>play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in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French</a:t>
            </a:r>
            <a:r>
              <a:rPr dirty="0" sz="2100" spc="-9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40">
                <a:solidFill>
                  <a:srgbClr val="F7FAFB"/>
                </a:solidFill>
                <a:latin typeface="Tahoma"/>
                <a:cs typeface="Tahoma"/>
              </a:rPr>
              <a:t>syntax?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543560"/>
          </a:xfrm>
          <a:custGeom>
            <a:avLst/>
            <a:gdLst/>
            <a:ahLst/>
            <a:cxnLst/>
            <a:rect l="l" t="t" r="r" b="b"/>
            <a:pathLst>
              <a:path w="50165" h="543560">
                <a:moveTo>
                  <a:pt x="50125" y="543026"/>
                </a:moveTo>
                <a:lnTo>
                  <a:pt x="0" y="543026"/>
                </a:lnTo>
                <a:lnTo>
                  <a:pt x="0" y="0"/>
                </a:lnTo>
                <a:lnTo>
                  <a:pt x="50125" y="0"/>
                </a:lnTo>
                <a:lnTo>
                  <a:pt x="50125" y="543026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80287" y="1444752"/>
            <a:ext cx="6791325" cy="463550"/>
          </a:xfrm>
          <a:custGeom>
            <a:avLst/>
            <a:gdLst/>
            <a:ahLst/>
            <a:cxnLst/>
            <a:rect l="l" t="t" r="r" b="b"/>
            <a:pathLst>
              <a:path w="6791325" h="463550">
                <a:moveTo>
                  <a:pt x="6790943" y="463295"/>
                </a:moveTo>
                <a:lnTo>
                  <a:pt x="0" y="463295"/>
                </a:lnTo>
                <a:lnTo>
                  <a:pt x="0" y="0"/>
                </a:lnTo>
                <a:lnTo>
                  <a:pt x="6790943" y="0"/>
                </a:lnTo>
                <a:lnTo>
                  <a:pt x="6790943" y="463295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65"/>
              <a:t>Computational</a:t>
            </a:r>
            <a:r>
              <a:rPr dirty="0" spc="-140"/>
              <a:t> </a:t>
            </a:r>
            <a:r>
              <a:rPr dirty="0" spc="-95"/>
              <a:t>Processing</a:t>
            </a:r>
            <a:r>
              <a:rPr dirty="0" spc="-135"/>
              <a:t> </a:t>
            </a:r>
            <a:r>
              <a:rPr dirty="0" spc="-10"/>
              <a:t>Pipeline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2885151"/>
            <a:ext cx="91896" cy="91896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3444887"/>
            <a:ext cx="91896" cy="9189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4004622"/>
            <a:ext cx="91896" cy="91896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572097" y="2020317"/>
            <a:ext cx="9463405" cy="4624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 spc="-70" b="1">
                <a:solidFill>
                  <a:srgbClr val="FBD34D"/>
                </a:solidFill>
                <a:latin typeface="Tahoma"/>
                <a:cs typeface="Tahoma"/>
              </a:rPr>
              <a:t>Stage</a:t>
            </a:r>
            <a:r>
              <a:rPr dirty="0" sz="2100" spc="-8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20" b="1">
                <a:solidFill>
                  <a:srgbClr val="FBD34D"/>
                </a:solidFill>
                <a:latin typeface="Tahoma"/>
                <a:cs typeface="Tahoma"/>
              </a:rPr>
              <a:t>1:</a:t>
            </a:r>
            <a:r>
              <a:rPr dirty="0" sz="2100" spc="-4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65" b="1">
                <a:solidFill>
                  <a:srgbClr val="FBD34D"/>
                </a:solidFill>
                <a:latin typeface="Tahoma"/>
                <a:cs typeface="Tahoma"/>
              </a:rPr>
              <a:t>Text</a:t>
            </a:r>
            <a:r>
              <a:rPr dirty="0" sz="2100" spc="-6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Digitization</a:t>
            </a:r>
            <a:endParaRPr sz="2100">
              <a:latin typeface="Tahoma"/>
              <a:cs typeface="Tahoma"/>
            </a:endParaRPr>
          </a:p>
          <a:p>
            <a:pPr marL="346710" marR="660400">
              <a:lnSpc>
                <a:spcPct val="174900"/>
              </a:lnSpc>
              <a:spcBef>
                <a:spcPts val="1250"/>
              </a:spcBef>
            </a:pPr>
            <a:r>
              <a:rPr dirty="0" sz="2100" spc="185">
                <a:solidFill>
                  <a:srgbClr val="F7FAFB"/>
                </a:solidFill>
                <a:latin typeface="Tahoma"/>
                <a:cs typeface="Tahoma"/>
              </a:rPr>
              <a:t>OCR</a:t>
            </a:r>
            <a:r>
              <a:rPr dirty="0" sz="2100" spc="-2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for</a:t>
            </a:r>
            <a:r>
              <a:rPr dirty="0" sz="2100" spc="-2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5">
                <a:solidFill>
                  <a:srgbClr val="F7FAFB"/>
                </a:solidFill>
                <a:latin typeface="Tahoma"/>
                <a:cs typeface="Tahoma"/>
              </a:rPr>
              <a:t>printed</a:t>
            </a:r>
            <a:r>
              <a:rPr dirty="0" sz="2100" spc="-2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sources</a:t>
            </a:r>
            <a:r>
              <a:rPr dirty="0" sz="2100" spc="-2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(Tesseract</a:t>
            </a:r>
            <a:r>
              <a:rPr dirty="0" sz="2100" spc="-2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5">
                <a:solidFill>
                  <a:srgbClr val="F7FAFB"/>
                </a:solidFill>
                <a:latin typeface="Tahoma"/>
                <a:cs typeface="Tahoma"/>
              </a:rPr>
              <a:t>with</a:t>
            </a:r>
            <a:r>
              <a:rPr dirty="0" sz="2100" spc="-2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0">
                <a:solidFill>
                  <a:srgbClr val="F7FAFB"/>
                </a:solidFill>
                <a:latin typeface="Tahoma"/>
                <a:cs typeface="Tahoma"/>
              </a:rPr>
              <a:t>language-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specific</a:t>
            </a:r>
            <a:r>
              <a:rPr dirty="0" sz="2100" spc="-2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0">
                <a:solidFill>
                  <a:srgbClr val="F7FAFB"/>
                </a:solidFill>
                <a:latin typeface="Tahoma"/>
                <a:cs typeface="Tahoma"/>
              </a:rPr>
              <a:t>training) </a:t>
            </a:r>
            <a:r>
              <a:rPr dirty="0" sz="2100" spc="114">
                <a:solidFill>
                  <a:srgbClr val="F7FAFB"/>
                </a:solidFill>
                <a:latin typeface="Tahoma"/>
                <a:cs typeface="Tahoma"/>
              </a:rPr>
              <a:t>Manual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transcription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for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manuscripts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0">
                <a:solidFill>
                  <a:srgbClr val="F7FAFB"/>
                </a:solidFill>
                <a:latin typeface="Tahoma"/>
                <a:cs typeface="Tahoma"/>
              </a:rPr>
              <a:t>(paleographic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expertise) </a:t>
            </a:r>
            <a:r>
              <a:rPr dirty="0" sz="2100" spc="120">
                <a:solidFill>
                  <a:srgbClr val="F7FAFB"/>
                </a:solidFill>
                <a:latin typeface="Tahoma"/>
                <a:cs typeface="Tahoma"/>
              </a:rPr>
              <a:t>Quality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verification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0">
                <a:solidFill>
                  <a:srgbClr val="F7FAFB"/>
                </a:solidFill>
                <a:latin typeface="Tahoma"/>
                <a:cs typeface="Tahoma"/>
              </a:rPr>
              <a:t>(double-</a:t>
            </a:r>
            <a:r>
              <a:rPr dirty="0" sz="2100" spc="45">
                <a:solidFill>
                  <a:srgbClr val="F7FAFB"/>
                </a:solidFill>
                <a:latin typeface="Tahoma"/>
                <a:cs typeface="Tahoma"/>
              </a:rPr>
              <a:t>checking,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14">
                <a:solidFill>
                  <a:srgbClr val="F7FAFB"/>
                </a:solidFill>
                <a:latin typeface="Tahoma"/>
                <a:cs typeface="Tahoma"/>
              </a:rPr>
              <a:t>error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correction)</a:t>
            </a:r>
            <a:endParaRPr sz="2100">
              <a:latin typeface="Tahoma"/>
              <a:cs typeface="Tahoma"/>
            </a:endParaRPr>
          </a:p>
          <a:p>
            <a:pPr marL="12700" marR="5080">
              <a:lnSpc>
                <a:spcPct val="133800"/>
              </a:lnSpc>
              <a:spcBef>
                <a:spcPts val="2350"/>
              </a:spcBef>
            </a:pPr>
            <a:r>
              <a:rPr dirty="0" sz="2100" spc="110">
                <a:solidFill>
                  <a:srgbClr val="F7FAFB"/>
                </a:solidFill>
                <a:latin typeface="Tahoma"/>
                <a:cs typeface="Tahoma"/>
              </a:rPr>
              <a:t>Digitization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is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the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foundation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of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the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entire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project: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physical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texts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0">
                <a:solidFill>
                  <a:srgbClr val="F7FAFB"/>
                </a:solidFill>
                <a:latin typeface="Tahoma"/>
                <a:cs typeface="Tahoma"/>
              </a:rPr>
              <a:t>must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25">
                <a:solidFill>
                  <a:srgbClr val="F7FAFB"/>
                </a:solidFill>
                <a:latin typeface="Tahoma"/>
                <a:cs typeface="Tahoma"/>
              </a:rPr>
              <a:t>be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converted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to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machine-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readable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format.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For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5">
                <a:solidFill>
                  <a:srgbClr val="F7FAFB"/>
                </a:solidFill>
                <a:latin typeface="Tahoma"/>
                <a:cs typeface="Tahoma"/>
              </a:rPr>
              <a:t>printed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texts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(19th-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21st </a:t>
            </a:r>
            <a:r>
              <a:rPr dirty="0" sz="2100" spc="45">
                <a:solidFill>
                  <a:srgbClr val="F7FAFB"/>
                </a:solidFill>
                <a:latin typeface="Tahoma"/>
                <a:cs typeface="Tahoma"/>
              </a:rPr>
              <a:t>century),</a:t>
            </a:r>
            <a:r>
              <a:rPr dirty="0" sz="2100" spc="-3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0">
                <a:solidFill>
                  <a:srgbClr val="F7FAFB"/>
                </a:solidFill>
                <a:latin typeface="Tahoma"/>
                <a:cs typeface="Tahoma"/>
              </a:rPr>
              <a:t>we</a:t>
            </a:r>
            <a:r>
              <a:rPr dirty="0" sz="2100" spc="-3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use</a:t>
            </a:r>
            <a:r>
              <a:rPr dirty="0" sz="2100" spc="-3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85">
                <a:solidFill>
                  <a:srgbClr val="F7FAFB"/>
                </a:solidFill>
                <a:latin typeface="Tahoma"/>
                <a:cs typeface="Tahoma"/>
              </a:rPr>
              <a:t>OCR</a:t>
            </a:r>
            <a:r>
              <a:rPr dirty="0" sz="2100" spc="-3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technology</a:t>
            </a:r>
            <a:r>
              <a:rPr dirty="0" sz="2100" spc="-3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trained</a:t>
            </a:r>
            <a:r>
              <a:rPr dirty="0" sz="2100" spc="-3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on</a:t>
            </a:r>
            <a:r>
              <a:rPr dirty="0" sz="2100" spc="-3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historical</a:t>
            </a:r>
            <a:r>
              <a:rPr dirty="0" sz="2100" spc="-3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fonts;</a:t>
            </a:r>
            <a:r>
              <a:rPr dirty="0" sz="2100" spc="-3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85">
                <a:solidFill>
                  <a:srgbClr val="F7FAFB"/>
                </a:solidFill>
                <a:latin typeface="Tahoma"/>
                <a:cs typeface="Tahoma"/>
              </a:rPr>
              <a:t>OCR</a:t>
            </a:r>
            <a:r>
              <a:rPr dirty="0" sz="2100" spc="-3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output</a:t>
            </a:r>
            <a:r>
              <a:rPr dirty="0" sz="2100" spc="-3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30">
                <a:solidFill>
                  <a:srgbClr val="F7FAFB"/>
                </a:solidFill>
                <a:latin typeface="Tahoma"/>
                <a:cs typeface="Tahoma"/>
              </a:rPr>
              <a:t>is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manually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verified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for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accuracy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exceeding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25">
                <a:solidFill>
                  <a:srgbClr val="F7FAFB"/>
                </a:solidFill>
                <a:latin typeface="Tahoma"/>
                <a:cs typeface="Tahoma"/>
              </a:rPr>
              <a:t>99.5%.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For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manuscripts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and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early </a:t>
            </a:r>
            <a:r>
              <a:rPr dirty="0" sz="2100" spc="95">
                <a:solidFill>
                  <a:srgbClr val="F7FAFB"/>
                </a:solidFill>
                <a:latin typeface="Tahoma"/>
                <a:cs typeface="Tahoma"/>
              </a:rPr>
              <a:t>printed</a:t>
            </a:r>
            <a:r>
              <a:rPr dirty="0" sz="2100" spc="-3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books,</a:t>
            </a:r>
            <a:r>
              <a:rPr dirty="0" sz="2100" spc="-3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expert</a:t>
            </a:r>
            <a:r>
              <a:rPr dirty="0" sz="2100" spc="-3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5">
                <a:solidFill>
                  <a:srgbClr val="F7FAFB"/>
                </a:solidFill>
                <a:latin typeface="Tahoma"/>
                <a:cs typeface="Tahoma"/>
              </a:rPr>
              <a:t>transcribers</a:t>
            </a:r>
            <a:r>
              <a:rPr dirty="0" sz="2100" spc="-3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create</a:t>
            </a:r>
            <a:r>
              <a:rPr dirty="0" sz="2100" spc="-3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diplomatic</a:t>
            </a:r>
            <a:r>
              <a:rPr dirty="0" sz="2100" spc="-3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5">
                <a:solidFill>
                  <a:srgbClr val="F7FAFB"/>
                </a:solidFill>
                <a:latin typeface="Tahoma"/>
                <a:cs typeface="Tahoma"/>
              </a:rPr>
              <a:t>editions</a:t>
            </a:r>
            <a:r>
              <a:rPr dirty="0" sz="2100" spc="-3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preserving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1086485"/>
          </a:xfrm>
          <a:custGeom>
            <a:avLst/>
            <a:gdLst/>
            <a:ahLst/>
            <a:cxnLst/>
            <a:rect l="l" t="t" r="r" b="b"/>
            <a:pathLst>
              <a:path w="50165" h="1086485">
                <a:moveTo>
                  <a:pt x="50125" y="1086053"/>
                </a:moveTo>
                <a:lnTo>
                  <a:pt x="0" y="1086053"/>
                </a:lnTo>
                <a:lnTo>
                  <a:pt x="0" y="0"/>
                </a:lnTo>
                <a:lnTo>
                  <a:pt x="50125" y="0"/>
                </a:lnTo>
                <a:lnTo>
                  <a:pt x="50125" y="1086053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83336" y="1444752"/>
            <a:ext cx="7050405" cy="463550"/>
          </a:xfrm>
          <a:custGeom>
            <a:avLst/>
            <a:gdLst/>
            <a:ahLst/>
            <a:cxnLst/>
            <a:rect l="l" t="t" r="r" b="b"/>
            <a:pathLst>
              <a:path w="7050405" h="463550">
                <a:moveTo>
                  <a:pt x="7050023" y="463295"/>
                </a:moveTo>
                <a:lnTo>
                  <a:pt x="0" y="463295"/>
                </a:lnTo>
                <a:lnTo>
                  <a:pt x="0" y="0"/>
                </a:lnTo>
                <a:lnTo>
                  <a:pt x="7050023" y="0"/>
                </a:lnTo>
                <a:lnTo>
                  <a:pt x="7050023" y="463295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75"/>
              <a:t>Question:</a:t>
            </a:r>
            <a:r>
              <a:rPr dirty="0" spc="-130"/>
              <a:t> </a:t>
            </a:r>
            <a:r>
              <a:rPr dirty="0"/>
              <a:t>What</a:t>
            </a:r>
            <a:r>
              <a:rPr dirty="0" spc="-130"/>
              <a:t> </a:t>
            </a:r>
            <a:r>
              <a:rPr dirty="0" spc="-135"/>
              <a:t>happens</a:t>
            </a:r>
            <a:r>
              <a:rPr dirty="0" spc="-125"/>
              <a:t> </a:t>
            </a:r>
            <a:r>
              <a:rPr dirty="0" spc="-110"/>
              <a:t>during</a:t>
            </a:r>
            <a:r>
              <a:rPr dirty="0" spc="-130"/>
              <a:t> </a:t>
            </a:r>
            <a:r>
              <a:rPr dirty="0" spc="-20"/>
              <a:t>text</a:t>
            </a:r>
          </a:p>
        </p:txBody>
      </p:sp>
      <p:sp>
        <p:nvSpPr>
          <p:cNvPr id="5" name="object 5" descr=""/>
          <p:cNvSpPr/>
          <p:nvPr/>
        </p:nvSpPr>
        <p:spPr>
          <a:xfrm>
            <a:off x="783336" y="1987295"/>
            <a:ext cx="2468880" cy="463550"/>
          </a:xfrm>
          <a:custGeom>
            <a:avLst/>
            <a:gdLst/>
            <a:ahLst/>
            <a:cxnLst/>
            <a:rect l="l" t="t" r="r" b="b"/>
            <a:pathLst>
              <a:path w="2468879" h="463550">
                <a:moveTo>
                  <a:pt x="2468879" y="463295"/>
                </a:moveTo>
                <a:lnTo>
                  <a:pt x="0" y="463295"/>
                </a:lnTo>
                <a:lnTo>
                  <a:pt x="0" y="0"/>
                </a:lnTo>
                <a:lnTo>
                  <a:pt x="2468879" y="0"/>
                </a:lnTo>
                <a:lnTo>
                  <a:pt x="2468879" y="463295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789308" y="1903358"/>
            <a:ext cx="2420620" cy="5067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150" spc="-70" b="1">
                <a:solidFill>
                  <a:srgbClr val="60A5FA"/>
                </a:solidFill>
                <a:latin typeface="Tahoma"/>
                <a:cs typeface="Tahoma"/>
              </a:rPr>
              <a:t>digitization?</a:t>
            </a:r>
            <a:endParaRPr sz="3150">
              <a:latin typeface="Tahoma"/>
              <a:cs typeface="Tahoma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3428178"/>
            <a:ext cx="91896" cy="9189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3987913"/>
            <a:ext cx="91896" cy="91896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4547649"/>
            <a:ext cx="91896" cy="91896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572097" y="2563344"/>
            <a:ext cx="5864860" cy="21844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Digitization</a:t>
            </a:r>
            <a:r>
              <a:rPr dirty="0" sz="2100" spc="-11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process:</a:t>
            </a:r>
            <a:endParaRPr sz="2100">
              <a:latin typeface="Tahoma"/>
              <a:cs typeface="Tahoma"/>
            </a:endParaRPr>
          </a:p>
          <a:p>
            <a:pPr marL="346710" marR="1210945">
              <a:lnSpc>
                <a:spcPct val="174900"/>
              </a:lnSpc>
              <a:spcBef>
                <a:spcPts val="1250"/>
              </a:spcBef>
            </a:pPr>
            <a:r>
              <a:rPr dirty="0" sz="2100" spc="130">
                <a:solidFill>
                  <a:srgbClr val="F7FAFB"/>
                </a:solidFill>
                <a:latin typeface="Tahoma"/>
                <a:cs typeface="Tahoma"/>
              </a:rPr>
              <a:t>How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are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5">
                <a:solidFill>
                  <a:srgbClr val="F7FAFB"/>
                </a:solidFill>
                <a:latin typeface="Tahoma"/>
                <a:cs typeface="Tahoma"/>
              </a:rPr>
              <a:t>printed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texts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digitized? </a:t>
            </a:r>
            <a:r>
              <a:rPr dirty="0" sz="2100" spc="130">
                <a:solidFill>
                  <a:srgbClr val="F7FAFB"/>
                </a:solidFill>
                <a:latin typeface="Tahoma"/>
                <a:cs typeface="Tahoma"/>
              </a:rPr>
              <a:t>How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are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manuscripts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transcribed?</a:t>
            </a:r>
            <a:endParaRPr sz="2100">
              <a:latin typeface="Tahoma"/>
              <a:cs typeface="Tahoma"/>
            </a:endParaRPr>
          </a:p>
          <a:p>
            <a:pPr marL="346710">
              <a:lnSpc>
                <a:spcPct val="100000"/>
              </a:lnSpc>
              <a:spcBef>
                <a:spcPts val="1885"/>
              </a:spcBef>
            </a:pPr>
            <a:r>
              <a:rPr dirty="0" sz="2100" spc="125">
                <a:solidFill>
                  <a:srgbClr val="F7FAFB"/>
                </a:solidFill>
                <a:latin typeface="Tahoma"/>
                <a:cs typeface="Tahoma"/>
              </a:rPr>
              <a:t>What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5">
                <a:solidFill>
                  <a:srgbClr val="F7FAFB"/>
                </a:solidFill>
                <a:latin typeface="Tahoma"/>
                <a:cs typeface="Tahoma"/>
              </a:rPr>
              <a:t>quality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5">
                <a:solidFill>
                  <a:srgbClr val="F7FAFB"/>
                </a:solidFill>
                <a:latin typeface="Tahoma"/>
                <a:cs typeface="Tahoma"/>
              </a:rPr>
              <a:t>control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0">
                <a:solidFill>
                  <a:srgbClr val="F7FAFB"/>
                </a:solidFill>
                <a:latin typeface="Tahoma"/>
                <a:cs typeface="Tahoma"/>
              </a:rPr>
              <a:t>measures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are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in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10">
                <a:solidFill>
                  <a:srgbClr val="F7FAFB"/>
                </a:solidFill>
                <a:latin typeface="Tahoma"/>
                <a:cs typeface="Tahoma"/>
              </a:rPr>
              <a:t>place?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543560"/>
          </a:xfrm>
          <a:custGeom>
            <a:avLst/>
            <a:gdLst/>
            <a:ahLst/>
            <a:cxnLst/>
            <a:rect l="l" t="t" r="r" b="b"/>
            <a:pathLst>
              <a:path w="50165" h="543560">
                <a:moveTo>
                  <a:pt x="50125" y="543026"/>
                </a:moveTo>
                <a:lnTo>
                  <a:pt x="0" y="543026"/>
                </a:lnTo>
                <a:lnTo>
                  <a:pt x="0" y="0"/>
                </a:lnTo>
                <a:lnTo>
                  <a:pt x="50125" y="0"/>
                </a:lnTo>
                <a:lnTo>
                  <a:pt x="50125" y="543026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80287" y="1426463"/>
            <a:ext cx="7379334" cy="481965"/>
          </a:xfrm>
          <a:custGeom>
            <a:avLst/>
            <a:gdLst/>
            <a:ahLst/>
            <a:cxnLst/>
            <a:rect l="l" t="t" r="r" b="b"/>
            <a:pathLst>
              <a:path w="7379334" h="481964">
                <a:moveTo>
                  <a:pt x="7379207" y="481583"/>
                </a:moveTo>
                <a:lnTo>
                  <a:pt x="0" y="481583"/>
                </a:lnTo>
                <a:lnTo>
                  <a:pt x="0" y="0"/>
                </a:lnTo>
                <a:lnTo>
                  <a:pt x="7379207" y="0"/>
                </a:lnTo>
                <a:lnTo>
                  <a:pt x="7379207" y="481583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65"/>
              <a:t>Computational</a:t>
            </a:r>
            <a:r>
              <a:rPr dirty="0" spc="-155"/>
              <a:t> </a:t>
            </a:r>
            <a:r>
              <a:rPr dirty="0" spc="-95"/>
              <a:t>Processing</a:t>
            </a:r>
            <a:r>
              <a:rPr dirty="0" spc="-150"/>
              <a:t> </a:t>
            </a:r>
            <a:r>
              <a:rPr dirty="0" spc="-45"/>
              <a:t>Pipeline</a:t>
            </a:r>
            <a:r>
              <a:rPr dirty="0" spc="-150"/>
              <a:t> </a:t>
            </a:r>
            <a:r>
              <a:rPr dirty="0" spc="-355"/>
              <a:t>(2)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2885151"/>
            <a:ext cx="91896" cy="91896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3444887"/>
            <a:ext cx="91896" cy="9189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4004622"/>
            <a:ext cx="91896" cy="9189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4572711"/>
            <a:ext cx="91896" cy="91896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572097" y="2020317"/>
            <a:ext cx="9432925" cy="48075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 spc="-70" b="1">
                <a:solidFill>
                  <a:srgbClr val="FBD34D"/>
                </a:solidFill>
                <a:latin typeface="Tahoma"/>
                <a:cs typeface="Tahoma"/>
              </a:rPr>
              <a:t>Stage</a:t>
            </a:r>
            <a:r>
              <a:rPr dirty="0" sz="2100" spc="-7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20" b="1">
                <a:solidFill>
                  <a:srgbClr val="FBD34D"/>
                </a:solidFill>
                <a:latin typeface="Tahoma"/>
                <a:cs typeface="Tahoma"/>
              </a:rPr>
              <a:t>2:</a:t>
            </a:r>
            <a:r>
              <a:rPr dirty="0" sz="2100" spc="-4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25" b="1">
                <a:solidFill>
                  <a:srgbClr val="FBD34D"/>
                </a:solidFill>
                <a:latin typeface="Tahoma"/>
                <a:cs typeface="Tahoma"/>
              </a:rPr>
              <a:t>Linguistic</a:t>
            </a:r>
            <a:r>
              <a:rPr dirty="0" sz="2100" spc="-6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Annotation</a:t>
            </a:r>
            <a:endParaRPr sz="2100">
              <a:latin typeface="Tahoma"/>
              <a:cs typeface="Tahoma"/>
            </a:endParaRPr>
          </a:p>
          <a:p>
            <a:pPr marL="346710" marR="5080">
              <a:lnSpc>
                <a:spcPct val="174900"/>
              </a:lnSpc>
              <a:spcBef>
                <a:spcPts val="1250"/>
              </a:spcBef>
            </a:pPr>
            <a:r>
              <a:rPr dirty="0" sz="2100" spc="-30" b="1">
                <a:solidFill>
                  <a:srgbClr val="FBD34D"/>
                </a:solidFill>
                <a:latin typeface="Tahoma"/>
                <a:cs typeface="Tahoma"/>
              </a:rPr>
              <a:t>Tokenization</a:t>
            </a:r>
            <a:r>
              <a:rPr dirty="0" sz="2100" spc="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60">
                <a:solidFill>
                  <a:srgbClr val="F7FAFB"/>
                </a:solidFill>
                <a:latin typeface="Tahoma"/>
                <a:cs typeface="Tahoma"/>
              </a:rPr>
              <a:t>(word</a:t>
            </a:r>
            <a:r>
              <a:rPr dirty="0" sz="2100" spc="-4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segmentation</a:t>
            </a:r>
            <a:r>
              <a:rPr dirty="0" sz="2100" spc="-4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using</a:t>
            </a:r>
            <a:r>
              <a:rPr dirty="0" sz="2100" spc="-4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0">
                <a:solidFill>
                  <a:srgbClr val="F7FAFB"/>
                </a:solidFill>
                <a:latin typeface="Tahoma"/>
                <a:cs typeface="Tahoma"/>
              </a:rPr>
              <a:t>language-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specific</a:t>
            </a:r>
            <a:r>
              <a:rPr dirty="0" sz="2100" spc="-3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45">
                <a:solidFill>
                  <a:srgbClr val="F7FAFB"/>
                </a:solidFill>
                <a:latin typeface="Tahoma"/>
                <a:cs typeface="Tahoma"/>
              </a:rPr>
              <a:t>rules) </a:t>
            </a:r>
            <a:r>
              <a:rPr dirty="0" sz="2100" spc="-35" b="1">
                <a:solidFill>
                  <a:srgbClr val="FBD34D"/>
                </a:solidFill>
                <a:latin typeface="Tahoma"/>
                <a:cs typeface="Tahoma"/>
              </a:rPr>
              <a:t>Lemmatization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(dictionary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form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5">
                <a:solidFill>
                  <a:srgbClr val="F7FAFB"/>
                </a:solidFill>
                <a:latin typeface="Tahoma"/>
                <a:cs typeface="Tahoma"/>
              </a:rPr>
              <a:t>identification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via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lookup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45">
                <a:solidFill>
                  <a:srgbClr val="F7FAFB"/>
                </a:solidFill>
                <a:latin typeface="Tahoma"/>
                <a:cs typeface="Tahoma"/>
              </a:rPr>
              <a:t>tables) </a:t>
            </a: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Morphological</a:t>
            </a:r>
            <a:r>
              <a:rPr dirty="0" sz="2100" spc="2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80" b="1">
                <a:solidFill>
                  <a:srgbClr val="FBD34D"/>
                </a:solidFill>
                <a:latin typeface="Tahoma"/>
                <a:cs typeface="Tahoma"/>
              </a:rPr>
              <a:t>tagging</a:t>
            </a:r>
            <a:r>
              <a:rPr dirty="0" sz="2100" spc="2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(grammatical</a:t>
            </a:r>
            <a:r>
              <a:rPr dirty="0" sz="2100" spc="-2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0">
                <a:solidFill>
                  <a:srgbClr val="F7FAFB"/>
                </a:solidFill>
                <a:latin typeface="Tahoma"/>
                <a:cs typeface="Tahoma"/>
              </a:rPr>
              <a:t>features:</a:t>
            </a:r>
            <a:r>
              <a:rPr dirty="0" sz="2100" spc="-2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case,</a:t>
            </a:r>
            <a:r>
              <a:rPr dirty="0" sz="2100" spc="-2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tense,</a:t>
            </a:r>
            <a:r>
              <a:rPr dirty="0" sz="2100" spc="-2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number,</a:t>
            </a:r>
            <a:r>
              <a:rPr dirty="0" sz="2100" spc="-2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10">
                <a:solidFill>
                  <a:srgbClr val="F7FAFB"/>
                </a:solidFill>
                <a:latin typeface="Tahoma"/>
                <a:cs typeface="Tahoma"/>
              </a:rPr>
              <a:t>etc.)</a:t>
            </a:r>
            <a:endParaRPr sz="2100">
              <a:latin typeface="Tahoma"/>
              <a:cs typeface="Tahoma"/>
            </a:endParaRPr>
          </a:p>
          <a:p>
            <a:pPr marL="346710" marR="746760">
              <a:lnSpc>
                <a:spcPct val="148800"/>
              </a:lnSpc>
              <a:spcBef>
                <a:spcPts val="720"/>
              </a:spcBef>
            </a:pP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Syntactic</a:t>
            </a:r>
            <a:r>
              <a:rPr dirty="0" sz="2100" spc="-6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45" b="1">
                <a:solidFill>
                  <a:srgbClr val="FBD34D"/>
                </a:solidFill>
                <a:latin typeface="Tahoma"/>
                <a:cs typeface="Tahoma"/>
              </a:rPr>
              <a:t>parsing</a:t>
            </a:r>
            <a:r>
              <a:rPr dirty="0" sz="2100" spc="-5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(sentence</a:t>
            </a:r>
            <a:r>
              <a:rPr dirty="0" sz="2100" spc="-10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structure:</a:t>
            </a:r>
            <a:r>
              <a:rPr dirty="0" sz="2100" spc="-10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dependency</a:t>
            </a:r>
            <a:r>
              <a:rPr dirty="0" sz="2100" spc="-10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or</a:t>
            </a:r>
            <a:r>
              <a:rPr dirty="0" sz="2100" spc="-10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constituent </a:t>
            </a:r>
            <a:r>
              <a:rPr dirty="0" sz="2100" spc="40">
                <a:solidFill>
                  <a:srgbClr val="F7FAFB"/>
                </a:solidFill>
                <a:latin typeface="Tahoma"/>
                <a:cs typeface="Tahoma"/>
              </a:rPr>
              <a:t>analysis)</a:t>
            </a:r>
            <a:endParaRPr sz="2100">
              <a:latin typeface="Tahoma"/>
              <a:cs typeface="Tahoma"/>
            </a:endParaRPr>
          </a:p>
          <a:p>
            <a:pPr marL="12700" marR="359410">
              <a:lnSpc>
                <a:spcPct val="133100"/>
              </a:lnSpc>
              <a:spcBef>
                <a:spcPts val="2370"/>
              </a:spcBef>
            </a:pP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Linguistic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annotation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0">
                <a:solidFill>
                  <a:srgbClr val="F7FAFB"/>
                </a:solidFill>
                <a:latin typeface="Tahoma"/>
                <a:cs typeface="Tahoma"/>
              </a:rPr>
              <a:t>adds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layers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of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linguistic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5">
                <a:solidFill>
                  <a:srgbClr val="F7FAFB"/>
                </a:solidFill>
                <a:latin typeface="Tahoma"/>
                <a:cs typeface="Tahoma"/>
              </a:rPr>
              <a:t>information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to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raw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40">
                <a:solidFill>
                  <a:srgbClr val="F7FAFB"/>
                </a:solidFill>
                <a:latin typeface="Tahoma"/>
                <a:cs typeface="Tahoma"/>
              </a:rPr>
              <a:t>text.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Tokenization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segments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text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5">
                <a:solidFill>
                  <a:srgbClr val="F7FAFB"/>
                </a:solidFill>
                <a:latin typeface="Tahoma"/>
                <a:cs typeface="Tahoma"/>
              </a:rPr>
              <a:t>into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words,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handling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clitics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and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contractions </a:t>
            </a:r>
            <a:r>
              <a:rPr dirty="0" sz="2100" spc="95">
                <a:solidFill>
                  <a:srgbClr val="F7FAFB"/>
                </a:solidFill>
                <a:latin typeface="Tahoma"/>
                <a:cs typeface="Tahoma"/>
              </a:rPr>
              <a:t>appropriately</a:t>
            </a:r>
            <a:r>
              <a:rPr dirty="0" sz="2100" spc="-2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for</a:t>
            </a:r>
            <a:r>
              <a:rPr dirty="0" sz="2100" spc="-1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each</a:t>
            </a:r>
            <a:r>
              <a:rPr dirty="0" sz="2100" spc="-2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language.</a:t>
            </a:r>
            <a:r>
              <a:rPr dirty="0" sz="2100" spc="-1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Lemmatization</a:t>
            </a:r>
            <a:r>
              <a:rPr dirty="0" sz="2100" spc="-2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links</a:t>
            </a:r>
            <a:r>
              <a:rPr dirty="0" sz="2100" spc="-1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5">
                <a:solidFill>
                  <a:srgbClr val="F7FAFB"/>
                </a:solidFill>
                <a:latin typeface="Tahoma"/>
                <a:cs typeface="Tahoma"/>
              </a:rPr>
              <a:t>inflected</a:t>
            </a:r>
            <a:r>
              <a:rPr dirty="0" sz="2100" spc="-2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forms</a:t>
            </a:r>
            <a:r>
              <a:rPr dirty="0" sz="2100" spc="-1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to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1086485"/>
          </a:xfrm>
          <a:custGeom>
            <a:avLst/>
            <a:gdLst/>
            <a:ahLst/>
            <a:cxnLst/>
            <a:rect l="l" t="t" r="r" b="b"/>
            <a:pathLst>
              <a:path w="50165" h="1086485">
                <a:moveTo>
                  <a:pt x="50125" y="1086053"/>
                </a:moveTo>
                <a:lnTo>
                  <a:pt x="0" y="1086053"/>
                </a:lnTo>
                <a:lnTo>
                  <a:pt x="0" y="0"/>
                </a:lnTo>
                <a:lnTo>
                  <a:pt x="50125" y="0"/>
                </a:lnTo>
                <a:lnTo>
                  <a:pt x="50125" y="1086053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83336" y="1444752"/>
            <a:ext cx="8022590" cy="463550"/>
          </a:xfrm>
          <a:custGeom>
            <a:avLst/>
            <a:gdLst/>
            <a:ahLst/>
            <a:cxnLst/>
            <a:rect l="l" t="t" r="r" b="b"/>
            <a:pathLst>
              <a:path w="8022590" h="463550">
                <a:moveTo>
                  <a:pt x="8022335" y="463295"/>
                </a:moveTo>
                <a:lnTo>
                  <a:pt x="0" y="463295"/>
                </a:lnTo>
                <a:lnTo>
                  <a:pt x="0" y="0"/>
                </a:lnTo>
                <a:lnTo>
                  <a:pt x="8022335" y="0"/>
                </a:lnTo>
                <a:lnTo>
                  <a:pt x="8022335" y="463295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75"/>
              <a:t>Question:</a:t>
            </a:r>
            <a:r>
              <a:rPr dirty="0" spc="-130"/>
              <a:t> </a:t>
            </a:r>
            <a:r>
              <a:rPr dirty="0"/>
              <a:t>What</a:t>
            </a:r>
            <a:r>
              <a:rPr dirty="0" spc="-130"/>
              <a:t> </a:t>
            </a:r>
            <a:r>
              <a:rPr dirty="0" spc="-135"/>
              <a:t>happens</a:t>
            </a:r>
            <a:r>
              <a:rPr dirty="0" spc="-125"/>
              <a:t> </a:t>
            </a:r>
            <a:r>
              <a:rPr dirty="0" spc="-110"/>
              <a:t>during</a:t>
            </a:r>
            <a:r>
              <a:rPr dirty="0" spc="-130"/>
              <a:t> </a:t>
            </a:r>
            <a:r>
              <a:rPr dirty="0" spc="-25"/>
              <a:t>linguistic</a:t>
            </a:r>
          </a:p>
        </p:txBody>
      </p:sp>
      <p:sp>
        <p:nvSpPr>
          <p:cNvPr id="5" name="object 5" descr=""/>
          <p:cNvSpPr/>
          <p:nvPr/>
        </p:nvSpPr>
        <p:spPr>
          <a:xfrm>
            <a:off x="786383" y="1987295"/>
            <a:ext cx="2383790" cy="396240"/>
          </a:xfrm>
          <a:custGeom>
            <a:avLst/>
            <a:gdLst/>
            <a:ahLst/>
            <a:cxnLst/>
            <a:rect l="l" t="t" r="r" b="b"/>
            <a:pathLst>
              <a:path w="2383790" h="396239">
                <a:moveTo>
                  <a:pt x="2383535" y="396239"/>
                </a:moveTo>
                <a:lnTo>
                  <a:pt x="0" y="396239"/>
                </a:lnTo>
                <a:lnTo>
                  <a:pt x="0" y="0"/>
                </a:lnTo>
                <a:lnTo>
                  <a:pt x="2383535" y="0"/>
                </a:lnTo>
                <a:lnTo>
                  <a:pt x="2383535" y="39623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789308" y="1903358"/>
            <a:ext cx="2337435" cy="5067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150" spc="-80" b="1">
                <a:solidFill>
                  <a:srgbClr val="60A5FA"/>
                </a:solidFill>
                <a:latin typeface="Tahoma"/>
                <a:cs typeface="Tahoma"/>
              </a:rPr>
              <a:t>annotation?</a:t>
            </a:r>
            <a:endParaRPr sz="3150">
              <a:latin typeface="Tahoma"/>
              <a:cs typeface="Tahoma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3428178"/>
            <a:ext cx="91896" cy="9189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3987913"/>
            <a:ext cx="91896" cy="91896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4547649"/>
            <a:ext cx="91896" cy="91896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572097" y="2563344"/>
            <a:ext cx="3843020" cy="21844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5"/>
              </a:spcBef>
            </a:pP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Annotation</a:t>
            </a:r>
            <a:r>
              <a:rPr dirty="0" sz="2100" spc="-6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layers:</a:t>
            </a:r>
            <a:endParaRPr sz="2100">
              <a:latin typeface="Tahoma"/>
              <a:cs typeface="Tahoma"/>
            </a:endParaRPr>
          </a:p>
          <a:p>
            <a:pPr algn="just" marL="346710" marR="5080">
              <a:lnSpc>
                <a:spcPct val="174900"/>
              </a:lnSpc>
              <a:spcBef>
                <a:spcPts val="1250"/>
              </a:spcBef>
            </a:pPr>
            <a:r>
              <a:rPr dirty="0" sz="2100" spc="130">
                <a:solidFill>
                  <a:srgbClr val="F7FAFB"/>
                </a:solidFill>
                <a:latin typeface="Tahoma"/>
                <a:cs typeface="Tahoma"/>
              </a:rPr>
              <a:t>How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are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words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35">
                <a:solidFill>
                  <a:srgbClr val="F7FAFB"/>
                </a:solidFill>
                <a:latin typeface="Tahoma"/>
                <a:cs typeface="Tahoma"/>
              </a:rPr>
              <a:t>segmented? </a:t>
            </a:r>
            <a:r>
              <a:rPr dirty="0" sz="2100" spc="130">
                <a:solidFill>
                  <a:srgbClr val="F7FAFB"/>
                </a:solidFill>
                <a:latin typeface="Tahoma"/>
                <a:cs typeface="Tahoma"/>
              </a:rPr>
              <a:t>How</a:t>
            </a:r>
            <a:r>
              <a:rPr dirty="0" sz="2100" spc="-9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are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lemmas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identified? </a:t>
            </a:r>
            <a:r>
              <a:rPr dirty="0" sz="2100" spc="130">
                <a:solidFill>
                  <a:srgbClr val="F7FAFB"/>
                </a:solidFill>
                <a:latin typeface="Tahoma"/>
                <a:cs typeface="Tahoma"/>
              </a:rPr>
              <a:t>How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is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morphology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10">
                <a:solidFill>
                  <a:srgbClr val="F7FAFB"/>
                </a:solidFill>
                <a:latin typeface="Tahoma"/>
                <a:cs typeface="Tahoma"/>
              </a:rPr>
              <a:t>tagged?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543560"/>
          </a:xfrm>
          <a:custGeom>
            <a:avLst/>
            <a:gdLst/>
            <a:ahLst/>
            <a:cxnLst/>
            <a:rect l="l" t="t" r="r" b="b"/>
            <a:pathLst>
              <a:path w="50165" h="543560">
                <a:moveTo>
                  <a:pt x="50125" y="543026"/>
                </a:moveTo>
                <a:lnTo>
                  <a:pt x="0" y="543026"/>
                </a:lnTo>
                <a:lnTo>
                  <a:pt x="0" y="0"/>
                </a:lnTo>
                <a:lnTo>
                  <a:pt x="50125" y="0"/>
                </a:lnTo>
                <a:lnTo>
                  <a:pt x="50125" y="543026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80287" y="1426463"/>
            <a:ext cx="7379334" cy="481965"/>
          </a:xfrm>
          <a:custGeom>
            <a:avLst/>
            <a:gdLst/>
            <a:ahLst/>
            <a:cxnLst/>
            <a:rect l="l" t="t" r="r" b="b"/>
            <a:pathLst>
              <a:path w="7379334" h="481964">
                <a:moveTo>
                  <a:pt x="7379207" y="481583"/>
                </a:moveTo>
                <a:lnTo>
                  <a:pt x="0" y="481583"/>
                </a:lnTo>
                <a:lnTo>
                  <a:pt x="0" y="0"/>
                </a:lnTo>
                <a:lnTo>
                  <a:pt x="7379207" y="0"/>
                </a:lnTo>
                <a:lnTo>
                  <a:pt x="7379207" y="481583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65"/>
              <a:t>Computational</a:t>
            </a:r>
            <a:r>
              <a:rPr dirty="0" spc="-155"/>
              <a:t> </a:t>
            </a:r>
            <a:r>
              <a:rPr dirty="0" spc="-95"/>
              <a:t>Processing</a:t>
            </a:r>
            <a:r>
              <a:rPr dirty="0" spc="-150"/>
              <a:t> </a:t>
            </a:r>
            <a:r>
              <a:rPr dirty="0" spc="-45"/>
              <a:t>Pipeline</a:t>
            </a:r>
            <a:r>
              <a:rPr dirty="0" spc="-150"/>
              <a:t> </a:t>
            </a:r>
            <a:r>
              <a:rPr dirty="0" spc="-355"/>
              <a:t>(3)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2885151"/>
            <a:ext cx="91896" cy="91896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3444887"/>
            <a:ext cx="91896" cy="9189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4004622"/>
            <a:ext cx="91896" cy="9189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4572711"/>
            <a:ext cx="91896" cy="91896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572097" y="2020317"/>
            <a:ext cx="9436100" cy="475742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 spc="-70" b="1">
                <a:solidFill>
                  <a:srgbClr val="FBD34D"/>
                </a:solidFill>
                <a:latin typeface="Tahoma"/>
                <a:cs typeface="Tahoma"/>
              </a:rPr>
              <a:t>Stage</a:t>
            </a:r>
            <a:r>
              <a:rPr dirty="0" sz="2100" spc="-8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20" b="1">
                <a:solidFill>
                  <a:srgbClr val="FBD34D"/>
                </a:solidFill>
                <a:latin typeface="Tahoma"/>
                <a:cs typeface="Tahoma"/>
              </a:rPr>
              <a:t>3:</a:t>
            </a:r>
            <a:r>
              <a:rPr dirty="0" sz="2100" spc="-4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Valency</a:t>
            </a:r>
            <a:r>
              <a:rPr dirty="0" sz="2100" spc="-12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Extraction</a:t>
            </a:r>
            <a:endParaRPr sz="2100">
              <a:latin typeface="Tahoma"/>
              <a:cs typeface="Tahoma"/>
            </a:endParaRPr>
          </a:p>
          <a:p>
            <a:pPr marL="346710" marR="688340">
              <a:lnSpc>
                <a:spcPct val="175800"/>
              </a:lnSpc>
              <a:spcBef>
                <a:spcPts val="1225"/>
              </a:spcBef>
            </a:pP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Identify</a:t>
            </a:r>
            <a:r>
              <a:rPr dirty="0" sz="2100" spc="-4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predicates</a:t>
            </a:r>
            <a:r>
              <a:rPr dirty="0" sz="2100" spc="-4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(verbs,</a:t>
            </a:r>
            <a:r>
              <a:rPr dirty="0" sz="2100" spc="-4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adjectives,</a:t>
            </a:r>
            <a:r>
              <a:rPr dirty="0" sz="2100" spc="-4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nouns</a:t>
            </a:r>
            <a:r>
              <a:rPr dirty="0" sz="2100" spc="-4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requiring</a:t>
            </a:r>
            <a:r>
              <a:rPr dirty="0" sz="2100" spc="-4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35">
                <a:solidFill>
                  <a:srgbClr val="F7FAFB"/>
                </a:solidFill>
                <a:latin typeface="Tahoma"/>
                <a:cs typeface="Tahoma"/>
              </a:rPr>
              <a:t>arguments)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Extract</a:t>
            </a:r>
            <a:r>
              <a:rPr dirty="0" sz="2100" spc="-3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60" b="1">
                <a:solidFill>
                  <a:srgbClr val="FBD34D"/>
                </a:solidFill>
                <a:latin typeface="Tahoma"/>
                <a:cs typeface="Tahoma"/>
              </a:rPr>
              <a:t>argument</a:t>
            </a:r>
            <a:r>
              <a:rPr dirty="0" sz="2100" spc="1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20" b="1">
                <a:solidFill>
                  <a:srgbClr val="FBD34D"/>
                </a:solidFill>
                <a:latin typeface="Tahoma"/>
                <a:cs typeface="Tahoma"/>
              </a:rPr>
              <a:t>structures</a:t>
            </a:r>
            <a:r>
              <a:rPr dirty="0" sz="2100" spc="1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(what</a:t>
            </a:r>
            <a:r>
              <a:rPr dirty="0" sz="2100" spc="-4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0">
                <a:solidFill>
                  <a:srgbClr val="F7FAFB"/>
                </a:solidFill>
                <a:latin typeface="Tahoma"/>
                <a:cs typeface="Tahoma"/>
              </a:rPr>
              <a:t>depends</a:t>
            </a:r>
            <a:r>
              <a:rPr dirty="0" sz="2100" spc="-3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on</a:t>
            </a:r>
            <a:r>
              <a:rPr dirty="0" sz="2100" spc="-3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the</a:t>
            </a:r>
            <a:r>
              <a:rPr dirty="0" sz="2100" spc="-4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0">
                <a:solidFill>
                  <a:srgbClr val="F7FAFB"/>
                </a:solidFill>
                <a:latin typeface="Tahoma"/>
                <a:cs typeface="Tahoma"/>
              </a:rPr>
              <a:t>predicate) </a:t>
            </a:r>
            <a:r>
              <a:rPr dirty="0" sz="2100" spc="110">
                <a:solidFill>
                  <a:srgbClr val="F7FAFB"/>
                </a:solidFill>
                <a:latin typeface="Tahoma"/>
                <a:cs typeface="Tahoma"/>
              </a:rPr>
              <a:t>Code</a:t>
            </a:r>
            <a:r>
              <a:rPr dirty="0" sz="2100" spc="-114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valency</a:t>
            </a:r>
            <a:r>
              <a:rPr dirty="0" sz="2100" spc="-6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40" b="1">
                <a:solidFill>
                  <a:srgbClr val="FBD34D"/>
                </a:solidFill>
                <a:latin typeface="Tahoma"/>
                <a:cs typeface="Tahoma"/>
              </a:rPr>
              <a:t>frames</a:t>
            </a:r>
            <a:r>
              <a:rPr dirty="0" sz="2100" spc="-6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(abstract</a:t>
            </a:r>
            <a:r>
              <a:rPr dirty="0" sz="2100" spc="-10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patterns,</a:t>
            </a:r>
            <a:r>
              <a:rPr dirty="0" sz="2100" spc="-10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e.g.,</a:t>
            </a:r>
            <a:r>
              <a:rPr dirty="0" sz="2100" spc="-10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5">
                <a:solidFill>
                  <a:srgbClr val="F7FAFB"/>
                </a:solidFill>
                <a:latin typeface="Tahoma"/>
                <a:cs typeface="Tahoma"/>
              </a:rPr>
              <a:t>NOM+ACC+DAT)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Track</a:t>
            </a:r>
            <a:r>
              <a:rPr dirty="0" sz="2100" spc="-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changes</a:t>
            </a:r>
            <a:r>
              <a:rPr dirty="0" sz="2100" spc="-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across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time</a:t>
            </a:r>
            <a:r>
              <a:rPr dirty="0" sz="2100" spc="-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periods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45">
                <a:solidFill>
                  <a:srgbClr val="F7FAFB"/>
                </a:solidFill>
                <a:latin typeface="Tahoma"/>
                <a:cs typeface="Tahoma"/>
              </a:rPr>
              <a:t>(compare</a:t>
            </a:r>
            <a:r>
              <a:rPr dirty="0" sz="2100" spc="-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frames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diachronically)</a:t>
            </a:r>
            <a:endParaRPr sz="2100">
              <a:latin typeface="Tahoma"/>
              <a:cs typeface="Tahoma"/>
            </a:endParaRPr>
          </a:p>
          <a:p>
            <a:pPr marL="12700" marR="5080">
              <a:lnSpc>
                <a:spcPct val="134000"/>
              </a:lnSpc>
              <a:spcBef>
                <a:spcPts val="2280"/>
              </a:spcBef>
            </a:pP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Valency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extraction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is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semi-</a:t>
            </a:r>
            <a:r>
              <a:rPr dirty="0" sz="2100" spc="60">
                <a:solidFill>
                  <a:srgbClr val="F7FAFB"/>
                </a:solidFill>
                <a:latin typeface="Tahoma"/>
                <a:cs typeface="Tahoma"/>
              </a:rPr>
              <a:t>automatic: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algorithms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identify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predicates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25">
                <a:solidFill>
                  <a:srgbClr val="F7FAFB"/>
                </a:solidFill>
                <a:latin typeface="Tahoma"/>
                <a:cs typeface="Tahoma"/>
              </a:rPr>
              <a:t>and </a:t>
            </a:r>
            <a:r>
              <a:rPr dirty="0" sz="2100" spc="105">
                <a:solidFill>
                  <a:srgbClr val="F7FAFB"/>
                </a:solidFill>
                <a:latin typeface="Tahoma"/>
                <a:cs typeface="Tahoma"/>
              </a:rPr>
              <a:t>their</a:t>
            </a:r>
            <a:r>
              <a:rPr dirty="0" sz="2100" spc="-4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dependents</a:t>
            </a:r>
            <a:r>
              <a:rPr dirty="0" sz="2100" spc="-4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from</a:t>
            </a:r>
            <a:r>
              <a:rPr dirty="0" sz="2100" spc="-3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syntactic</a:t>
            </a:r>
            <a:r>
              <a:rPr dirty="0" sz="2100" spc="-4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parses,</a:t>
            </a:r>
            <a:r>
              <a:rPr dirty="0" sz="2100" spc="-3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then</a:t>
            </a:r>
            <a:r>
              <a:rPr dirty="0" sz="2100" spc="-4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linguists</a:t>
            </a:r>
            <a:r>
              <a:rPr dirty="0" sz="2100" spc="-3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verify</a:t>
            </a:r>
            <a:r>
              <a:rPr dirty="0" sz="2100" spc="-4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and</a:t>
            </a:r>
            <a:r>
              <a:rPr dirty="0" sz="2100" spc="-3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classify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the</a:t>
            </a:r>
            <a:r>
              <a:rPr dirty="0" sz="2100" spc="-9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patterns.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0">
                <a:solidFill>
                  <a:srgbClr val="F7FAFB"/>
                </a:solidFill>
                <a:latin typeface="Tahoma"/>
                <a:cs typeface="Tahoma"/>
              </a:rPr>
              <a:t>Each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predicate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instance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is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checked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for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its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arguments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10">
                <a:solidFill>
                  <a:srgbClr val="F7FAFB"/>
                </a:solidFill>
                <a:latin typeface="Tahoma"/>
                <a:cs typeface="Tahoma"/>
              </a:rPr>
              <a:t>(subject, </a:t>
            </a:r>
            <a:r>
              <a:rPr dirty="0" sz="2100" spc="50">
                <a:solidFill>
                  <a:srgbClr val="F7FAFB"/>
                </a:solidFill>
                <a:latin typeface="Tahoma"/>
                <a:cs typeface="Tahoma"/>
              </a:rPr>
              <a:t>objects,</a:t>
            </a:r>
            <a:r>
              <a:rPr dirty="0" sz="2100" spc="-3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0">
                <a:solidFill>
                  <a:srgbClr val="F7FAFB"/>
                </a:solidFill>
                <a:latin typeface="Tahoma"/>
                <a:cs typeface="Tahoma"/>
              </a:rPr>
              <a:t>complements,</a:t>
            </a:r>
            <a:r>
              <a:rPr dirty="0" sz="2100" spc="-2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adjuncts),</a:t>
            </a:r>
            <a:r>
              <a:rPr dirty="0" sz="2100" spc="-3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and</a:t>
            </a:r>
            <a:r>
              <a:rPr dirty="0" sz="2100" spc="-2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these</a:t>
            </a:r>
            <a:r>
              <a:rPr dirty="0" sz="2100" spc="-3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are</a:t>
            </a:r>
            <a:r>
              <a:rPr dirty="0" sz="2100" spc="-2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abstracted</a:t>
            </a:r>
            <a:r>
              <a:rPr dirty="0" sz="2100" spc="-3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5">
                <a:solidFill>
                  <a:srgbClr val="F7FAFB"/>
                </a:solidFill>
                <a:latin typeface="Tahoma"/>
                <a:cs typeface="Tahoma"/>
              </a:rPr>
              <a:t>into</a:t>
            </a:r>
            <a:r>
              <a:rPr dirty="0" sz="2100" spc="-2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valency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543560"/>
          </a:xfrm>
          <a:custGeom>
            <a:avLst/>
            <a:gdLst/>
            <a:ahLst/>
            <a:cxnLst/>
            <a:rect l="l" t="t" r="r" b="b"/>
            <a:pathLst>
              <a:path w="50165" h="543560">
                <a:moveTo>
                  <a:pt x="50125" y="543026"/>
                </a:moveTo>
                <a:lnTo>
                  <a:pt x="0" y="543026"/>
                </a:lnTo>
                <a:lnTo>
                  <a:pt x="0" y="0"/>
                </a:lnTo>
                <a:lnTo>
                  <a:pt x="50125" y="0"/>
                </a:lnTo>
                <a:lnTo>
                  <a:pt x="50125" y="543026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98575" y="1444752"/>
            <a:ext cx="7120255" cy="457200"/>
          </a:xfrm>
          <a:custGeom>
            <a:avLst/>
            <a:gdLst/>
            <a:ahLst/>
            <a:cxnLst/>
            <a:rect l="l" t="t" r="r" b="b"/>
            <a:pathLst>
              <a:path w="7120255" h="457200">
                <a:moveTo>
                  <a:pt x="7120127" y="457199"/>
                </a:moveTo>
                <a:lnTo>
                  <a:pt x="0" y="457199"/>
                </a:lnTo>
                <a:lnTo>
                  <a:pt x="0" y="0"/>
                </a:lnTo>
                <a:lnTo>
                  <a:pt x="7120127" y="0"/>
                </a:lnTo>
                <a:lnTo>
                  <a:pt x="7120127" y="45719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89308" y="1360331"/>
            <a:ext cx="7101205" cy="5067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14"/>
              <a:t>Example:</a:t>
            </a:r>
            <a:r>
              <a:rPr dirty="0" spc="-125"/>
              <a:t> </a:t>
            </a:r>
            <a:r>
              <a:rPr dirty="0" spc="-55"/>
              <a:t>Valency</a:t>
            </a:r>
            <a:r>
              <a:rPr dirty="0" spc="-114"/>
              <a:t> </a:t>
            </a:r>
            <a:r>
              <a:rPr dirty="0" spc="-60"/>
              <a:t>Pattern</a:t>
            </a:r>
            <a:r>
              <a:rPr dirty="0" spc="-114"/>
              <a:t> </a:t>
            </a:r>
            <a:r>
              <a:rPr dirty="0" spc="-10"/>
              <a:t>Extraction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3394761"/>
            <a:ext cx="91896" cy="91896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3954496"/>
            <a:ext cx="91896" cy="9189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5399783"/>
            <a:ext cx="91896" cy="9189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5959518"/>
            <a:ext cx="91896" cy="91896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572097" y="1831511"/>
            <a:ext cx="7251700" cy="4330065"/>
          </a:xfrm>
          <a:prstGeom prst="rect">
            <a:avLst/>
          </a:prstGeom>
        </p:spPr>
        <p:txBody>
          <a:bodyPr wrap="square" lIns="0" tIns="2019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90"/>
              </a:spcBef>
            </a:pP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Predicate:</a:t>
            </a:r>
            <a:r>
              <a:rPr dirty="0" sz="2100" spc="1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60">
                <a:solidFill>
                  <a:srgbClr val="F7FAFB"/>
                </a:solidFill>
                <a:latin typeface="Trebuchet MS"/>
                <a:cs typeface="Trebuchet MS"/>
              </a:rPr>
              <a:t>δίδωμι</a:t>
            </a:r>
            <a:r>
              <a:rPr dirty="0" sz="2100" spc="-5">
                <a:solidFill>
                  <a:srgbClr val="F7FAFB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(did</a:t>
            </a:r>
            <a:r>
              <a:rPr dirty="0" sz="2100">
                <a:solidFill>
                  <a:srgbClr val="F7FAFB"/>
                </a:solidFill>
                <a:latin typeface="Trebuchet MS"/>
                <a:cs typeface="Trebuchet MS"/>
              </a:rPr>
              <a:t>ō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mi)</a:t>
            </a:r>
            <a:r>
              <a:rPr dirty="0" sz="2100" spc="-3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"to</a:t>
            </a:r>
            <a:r>
              <a:rPr dirty="0" sz="2100" spc="-3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10">
                <a:solidFill>
                  <a:srgbClr val="F7FAFB"/>
                </a:solidFill>
                <a:latin typeface="Tahoma"/>
                <a:cs typeface="Tahoma"/>
              </a:rPr>
              <a:t>give"</a:t>
            </a:r>
            <a:endParaRPr sz="2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495"/>
              </a:spcBef>
            </a:pP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Classical</a:t>
            </a:r>
            <a:r>
              <a:rPr dirty="0" sz="2100" spc="-13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Greek</a:t>
            </a:r>
            <a:r>
              <a:rPr dirty="0" sz="2100" spc="-13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Valency:</a:t>
            </a:r>
            <a:endParaRPr sz="2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sz="2100">
              <a:latin typeface="Tahoma"/>
              <a:cs typeface="Tahoma"/>
            </a:endParaRPr>
          </a:p>
          <a:p>
            <a:pPr marL="346710">
              <a:lnSpc>
                <a:spcPct val="100000"/>
              </a:lnSpc>
            </a:pPr>
            <a:r>
              <a:rPr dirty="0" sz="2100" spc="120">
                <a:solidFill>
                  <a:srgbClr val="F7FAFB"/>
                </a:solidFill>
                <a:latin typeface="Tahoma"/>
                <a:cs typeface="Tahoma"/>
              </a:rPr>
              <a:t>SUBJ</a:t>
            </a:r>
            <a:r>
              <a:rPr dirty="0" sz="2100" spc="-1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0">
                <a:solidFill>
                  <a:srgbClr val="F7FAFB"/>
                </a:solidFill>
                <a:latin typeface="Tahoma"/>
                <a:cs typeface="Tahoma"/>
              </a:rPr>
              <a:t>(nominative)</a:t>
            </a:r>
            <a:r>
              <a:rPr dirty="0" sz="2100" spc="-1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305">
                <a:solidFill>
                  <a:srgbClr val="F7FAFB"/>
                </a:solidFill>
                <a:latin typeface="Tahoma"/>
                <a:cs typeface="Tahoma"/>
              </a:rPr>
              <a:t>+</a:t>
            </a:r>
            <a:r>
              <a:rPr dirty="0" sz="2100" spc="-1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65">
                <a:solidFill>
                  <a:srgbClr val="F7FAFB"/>
                </a:solidFill>
                <a:latin typeface="Tahoma"/>
                <a:cs typeface="Tahoma"/>
              </a:rPr>
              <a:t>OBJ1</a:t>
            </a:r>
            <a:r>
              <a:rPr dirty="0" sz="2100" spc="-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(accusative)</a:t>
            </a:r>
            <a:r>
              <a:rPr dirty="0" sz="2100" spc="-1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305">
                <a:solidFill>
                  <a:srgbClr val="F7FAFB"/>
                </a:solidFill>
                <a:latin typeface="Tahoma"/>
                <a:cs typeface="Tahoma"/>
              </a:rPr>
              <a:t>+</a:t>
            </a:r>
            <a:r>
              <a:rPr dirty="0" sz="2100" spc="-1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65">
                <a:solidFill>
                  <a:srgbClr val="F7FAFB"/>
                </a:solidFill>
                <a:latin typeface="Tahoma"/>
                <a:cs typeface="Tahoma"/>
              </a:rPr>
              <a:t>OBJ2</a:t>
            </a:r>
            <a:r>
              <a:rPr dirty="0" sz="2100" spc="-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10">
                <a:solidFill>
                  <a:srgbClr val="F7FAFB"/>
                </a:solidFill>
                <a:latin typeface="Tahoma"/>
                <a:cs typeface="Tahoma"/>
              </a:rPr>
              <a:t>(dative)</a:t>
            </a:r>
            <a:endParaRPr sz="2100">
              <a:latin typeface="Tahoma"/>
              <a:cs typeface="Tahoma"/>
            </a:endParaRPr>
          </a:p>
          <a:p>
            <a:pPr marL="346710">
              <a:lnSpc>
                <a:spcPct val="100000"/>
              </a:lnSpc>
              <a:spcBef>
                <a:spcPts val="1840"/>
              </a:spcBef>
            </a:pPr>
            <a:r>
              <a:rPr dirty="0" sz="2150" spc="175" i="1">
                <a:solidFill>
                  <a:srgbClr val="A5F2FB"/>
                </a:solidFill>
                <a:latin typeface="Trebuchet MS"/>
                <a:cs typeface="Trebuchet MS"/>
              </a:rPr>
              <a:t>"X</a:t>
            </a:r>
            <a:r>
              <a:rPr dirty="0" sz="2150" spc="-45" i="1">
                <a:solidFill>
                  <a:srgbClr val="A5F2FB"/>
                </a:solidFill>
                <a:latin typeface="Trebuchet MS"/>
                <a:cs typeface="Trebuchet MS"/>
              </a:rPr>
              <a:t> </a:t>
            </a:r>
            <a:r>
              <a:rPr dirty="0" sz="2150" i="1">
                <a:solidFill>
                  <a:srgbClr val="A5F2FB"/>
                </a:solidFill>
                <a:latin typeface="Trebuchet MS"/>
                <a:cs typeface="Trebuchet MS"/>
              </a:rPr>
              <a:t>gives</a:t>
            </a:r>
            <a:r>
              <a:rPr dirty="0" sz="2150" spc="-45" i="1">
                <a:solidFill>
                  <a:srgbClr val="A5F2FB"/>
                </a:solidFill>
                <a:latin typeface="Trebuchet MS"/>
                <a:cs typeface="Trebuchet MS"/>
              </a:rPr>
              <a:t> </a:t>
            </a:r>
            <a:r>
              <a:rPr dirty="0" sz="2150" spc="95" i="1">
                <a:solidFill>
                  <a:srgbClr val="A5F2FB"/>
                </a:solidFill>
                <a:latin typeface="Trebuchet MS"/>
                <a:cs typeface="Trebuchet MS"/>
              </a:rPr>
              <a:t>Y</a:t>
            </a:r>
            <a:r>
              <a:rPr dirty="0" sz="2150" spc="-40" i="1">
                <a:solidFill>
                  <a:srgbClr val="A5F2FB"/>
                </a:solidFill>
                <a:latin typeface="Trebuchet MS"/>
                <a:cs typeface="Trebuchet MS"/>
              </a:rPr>
              <a:t> </a:t>
            </a:r>
            <a:r>
              <a:rPr dirty="0" sz="2150" i="1">
                <a:solidFill>
                  <a:srgbClr val="A5F2FB"/>
                </a:solidFill>
                <a:latin typeface="Trebuchet MS"/>
                <a:cs typeface="Trebuchet MS"/>
              </a:rPr>
              <a:t>to</a:t>
            </a:r>
            <a:r>
              <a:rPr dirty="0" sz="2150" spc="-45" i="1">
                <a:solidFill>
                  <a:srgbClr val="A5F2FB"/>
                </a:solidFill>
                <a:latin typeface="Trebuchet MS"/>
                <a:cs typeface="Trebuchet MS"/>
              </a:rPr>
              <a:t> </a:t>
            </a:r>
            <a:r>
              <a:rPr dirty="0" sz="2150" spc="140" i="1">
                <a:solidFill>
                  <a:srgbClr val="A5F2FB"/>
                </a:solidFill>
                <a:latin typeface="Trebuchet MS"/>
                <a:cs typeface="Trebuchet MS"/>
              </a:rPr>
              <a:t>Z"</a:t>
            </a:r>
            <a:endParaRPr sz="21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95"/>
              </a:spcBef>
            </a:pPr>
            <a:endParaRPr sz="21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Modern</a:t>
            </a:r>
            <a:r>
              <a:rPr dirty="0" sz="2100" spc="-8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Greek</a:t>
            </a:r>
            <a:r>
              <a:rPr dirty="0" sz="2100" spc="-8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Valency:</a:t>
            </a:r>
            <a:endParaRPr sz="2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sz="2100">
              <a:latin typeface="Tahoma"/>
              <a:cs typeface="Tahoma"/>
            </a:endParaRPr>
          </a:p>
          <a:p>
            <a:pPr marL="346710">
              <a:lnSpc>
                <a:spcPct val="100000"/>
              </a:lnSpc>
            </a:pPr>
            <a:r>
              <a:rPr dirty="0" sz="2100" spc="120">
                <a:solidFill>
                  <a:srgbClr val="F7FAFB"/>
                </a:solidFill>
                <a:latin typeface="Tahoma"/>
                <a:cs typeface="Tahoma"/>
              </a:rPr>
              <a:t>SUBJ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305">
                <a:solidFill>
                  <a:srgbClr val="F7FAFB"/>
                </a:solidFill>
                <a:latin typeface="Tahoma"/>
                <a:cs typeface="Tahoma"/>
              </a:rPr>
              <a:t>+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65">
                <a:solidFill>
                  <a:srgbClr val="F7FAFB"/>
                </a:solidFill>
                <a:latin typeface="Tahoma"/>
                <a:cs typeface="Tahoma"/>
              </a:rPr>
              <a:t>OBJ1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305">
                <a:solidFill>
                  <a:srgbClr val="F7FAFB"/>
                </a:solidFill>
                <a:latin typeface="Tahoma"/>
                <a:cs typeface="Tahoma"/>
              </a:rPr>
              <a:t>+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5">
                <a:solidFill>
                  <a:srgbClr val="F7FAFB"/>
                </a:solidFill>
                <a:latin typeface="Tahoma"/>
                <a:cs typeface="Tahoma"/>
              </a:rPr>
              <a:t>prepositional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phrase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(</a:t>
            </a:r>
            <a:r>
              <a:rPr dirty="0" sz="2100">
                <a:solidFill>
                  <a:srgbClr val="F7FAFB"/>
                </a:solidFill>
                <a:latin typeface="Trebuchet MS"/>
                <a:cs typeface="Trebuchet MS"/>
              </a:rPr>
              <a:t>σε</a:t>
            </a:r>
            <a:r>
              <a:rPr dirty="0" sz="2100" spc="-60">
                <a:solidFill>
                  <a:srgbClr val="F7FAFB"/>
                </a:solidFill>
                <a:latin typeface="Trebuchet MS"/>
                <a:cs typeface="Trebuchet MS"/>
              </a:rPr>
              <a:t> </a:t>
            </a:r>
            <a:r>
              <a:rPr dirty="0" sz="2100" spc="-305">
                <a:solidFill>
                  <a:srgbClr val="F7FAFB"/>
                </a:solidFill>
                <a:latin typeface="Tahoma"/>
                <a:cs typeface="Tahoma"/>
              </a:rPr>
              <a:t>+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45">
                <a:solidFill>
                  <a:srgbClr val="F7FAFB"/>
                </a:solidFill>
                <a:latin typeface="Tahoma"/>
                <a:cs typeface="Tahoma"/>
              </a:rPr>
              <a:t>accusative)</a:t>
            </a:r>
            <a:endParaRPr sz="2100">
              <a:latin typeface="Tahoma"/>
              <a:cs typeface="Tahoma"/>
            </a:endParaRPr>
          </a:p>
          <a:p>
            <a:pPr marL="346710">
              <a:lnSpc>
                <a:spcPct val="100000"/>
              </a:lnSpc>
              <a:spcBef>
                <a:spcPts val="1839"/>
              </a:spcBef>
            </a:pPr>
            <a:r>
              <a:rPr dirty="0" sz="2150" spc="175" i="1">
                <a:solidFill>
                  <a:srgbClr val="A5F2FB"/>
                </a:solidFill>
                <a:latin typeface="Trebuchet MS"/>
                <a:cs typeface="Trebuchet MS"/>
              </a:rPr>
              <a:t>"X</a:t>
            </a:r>
            <a:r>
              <a:rPr dirty="0" sz="2150" spc="-50" i="1">
                <a:solidFill>
                  <a:srgbClr val="A5F2FB"/>
                </a:solidFill>
                <a:latin typeface="Trebuchet MS"/>
                <a:cs typeface="Trebuchet MS"/>
              </a:rPr>
              <a:t> </a:t>
            </a:r>
            <a:r>
              <a:rPr dirty="0" sz="2150" i="1">
                <a:solidFill>
                  <a:srgbClr val="A5F2FB"/>
                </a:solidFill>
                <a:latin typeface="Trebuchet MS"/>
                <a:cs typeface="Trebuchet MS"/>
              </a:rPr>
              <a:t>gives</a:t>
            </a:r>
            <a:r>
              <a:rPr dirty="0" sz="2150" spc="-50" i="1">
                <a:solidFill>
                  <a:srgbClr val="A5F2FB"/>
                </a:solidFill>
                <a:latin typeface="Trebuchet MS"/>
                <a:cs typeface="Trebuchet MS"/>
              </a:rPr>
              <a:t> </a:t>
            </a:r>
            <a:r>
              <a:rPr dirty="0" sz="2150" spc="95" i="1">
                <a:solidFill>
                  <a:srgbClr val="A5F2FB"/>
                </a:solidFill>
                <a:latin typeface="Trebuchet MS"/>
                <a:cs typeface="Trebuchet MS"/>
              </a:rPr>
              <a:t>Y</a:t>
            </a:r>
            <a:r>
              <a:rPr dirty="0" sz="2150" spc="-50" i="1">
                <a:solidFill>
                  <a:srgbClr val="A5F2FB"/>
                </a:solidFill>
                <a:latin typeface="Trebuchet MS"/>
                <a:cs typeface="Trebuchet MS"/>
              </a:rPr>
              <a:t> </a:t>
            </a:r>
            <a:r>
              <a:rPr dirty="0" sz="2150" i="1">
                <a:solidFill>
                  <a:srgbClr val="A5F2FB"/>
                </a:solidFill>
                <a:latin typeface="Trebuchet MS"/>
                <a:cs typeface="Trebuchet MS"/>
              </a:rPr>
              <a:t>to</a:t>
            </a:r>
            <a:r>
              <a:rPr dirty="0" sz="2150" spc="-50" i="1">
                <a:solidFill>
                  <a:srgbClr val="A5F2FB"/>
                </a:solidFill>
                <a:latin typeface="Trebuchet MS"/>
                <a:cs typeface="Trebuchet MS"/>
              </a:rPr>
              <a:t> </a:t>
            </a:r>
            <a:r>
              <a:rPr dirty="0" sz="2150" spc="165" i="1">
                <a:solidFill>
                  <a:srgbClr val="A5F2FB"/>
                </a:solidFill>
                <a:latin typeface="Trebuchet MS"/>
                <a:cs typeface="Trebuchet MS"/>
              </a:rPr>
              <a:t>Z"</a:t>
            </a:r>
            <a:r>
              <a:rPr dirty="0" sz="2150" spc="-50" i="1">
                <a:solidFill>
                  <a:srgbClr val="A5F2FB"/>
                </a:solidFill>
                <a:latin typeface="Trebuchet MS"/>
                <a:cs typeface="Trebuchet MS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(different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realization)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1086485"/>
          </a:xfrm>
          <a:custGeom>
            <a:avLst/>
            <a:gdLst/>
            <a:ahLst/>
            <a:cxnLst/>
            <a:rect l="l" t="t" r="r" b="b"/>
            <a:pathLst>
              <a:path w="50165" h="1086485">
                <a:moveTo>
                  <a:pt x="50125" y="1086053"/>
                </a:moveTo>
                <a:lnTo>
                  <a:pt x="0" y="1086053"/>
                </a:lnTo>
                <a:lnTo>
                  <a:pt x="0" y="0"/>
                </a:lnTo>
                <a:lnTo>
                  <a:pt x="50125" y="0"/>
                </a:lnTo>
                <a:lnTo>
                  <a:pt x="50125" y="1086053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83336" y="1444752"/>
            <a:ext cx="7120255" cy="457200"/>
          </a:xfrm>
          <a:custGeom>
            <a:avLst/>
            <a:gdLst/>
            <a:ahLst/>
            <a:cxnLst/>
            <a:rect l="l" t="t" r="r" b="b"/>
            <a:pathLst>
              <a:path w="7120255" h="457200">
                <a:moveTo>
                  <a:pt x="7120127" y="457199"/>
                </a:moveTo>
                <a:lnTo>
                  <a:pt x="0" y="457199"/>
                </a:lnTo>
                <a:lnTo>
                  <a:pt x="0" y="0"/>
                </a:lnTo>
                <a:lnTo>
                  <a:pt x="7120127" y="0"/>
                </a:lnTo>
                <a:lnTo>
                  <a:pt x="7120127" y="45719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75"/>
              <a:t>Question:</a:t>
            </a:r>
            <a:r>
              <a:rPr dirty="0" spc="-135"/>
              <a:t> </a:t>
            </a:r>
            <a:r>
              <a:rPr dirty="0" spc="-95"/>
              <a:t>How</a:t>
            </a:r>
            <a:r>
              <a:rPr dirty="0" spc="-135"/>
              <a:t> </a:t>
            </a:r>
            <a:r>
              <a:rPr dirty="0" spc="-120"/>
              <a:t>is</a:t>
            </a:r>
            <a:r>
              <a:rPr dirty="0" spc="-130"/>
              <a:t> </a:t>
            </a:r>
            <a:r>
              <a:rPr dirty="0" spc="-90"/>
              <a:t>the</a:t>
            </a:r>
            <a:r>
              <a:rPr dirty="0" spc="-135"/>
              <a:t> </a:t>
            </a:r>
            <a:r>
              <a:rPr dirty="0" spc="-60"/>
              <a:t>valency</a:t>
            </a:r>
            <a:r>
              <a:rPr dirty="0" spc="-130"/>
              <a:t> </a:t>
            </a:r>
            <a:r>
              <a:rPr dirty="0" spc="-10"/>
              <a:t>lexicon</a:t>
            </a:r>
          </a:p>
        </p:txBody>
      </p:sp>
      <p:sp>
        <p:nvSpPr>
          <p:cNvPr id="5" name="object 5" descr=""/>
          <p:cNvSpPr/>
          <p:nvPr/>
        </p:nvSpPr>
        <p:spPr>
          <a:xfrm>
            <a:off x="777239" y="1987295"/>
            <a:ext cx="2301240" cy="396240"/>
          </a:xfrm>
          <a:custGeom>
            <a:avLst/>
            <a:gdLst/>
            <a:ahLst/>
            <a:cxnLst/>
            <a:rect l="l" t="t" r="r" b="b"/>
            <a:pathLst>
              <a:path w="2301240" h="396239">
                <a:moveTo>
                  <a:pt x="2301239" y="396239"/>
                </a:moveTo>
                <a:lnTo>
                  <a:pt x="0" y="396239"/>
                </a:lnTo>
                <a:lnTo>
                  <a:pt x="0" y="0"/>
                </a:lnTo>
                <a:lnTo>
                  <a:pt x="2301239" y="0"/>
                </a:lnTo>
                <a:lnTo>
                  <a:pt x="2301239" y="39623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789308" y="1903358"/>
            <a:ext cx="2245995" cy="5067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150" spc="-80" b="1">
                <a:solidFill>
                  <a:srgbClr val="60A5FA"/>
                </a:solidFill>
                <a:latin typeface="Tahoma"/>
                <a:cs typeface="Tahoma"/>
              </a:rPr>
              <a:t>structured?</a:t>
            </a:r>
            <a:endParaRPr sz="3150">
              <a:latin typeface="Tahoma"/>
              <a:cs typeface="Tahoma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3428178"/>
            <a:ext cx="91896" cy="9189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3987913"/>
            <a:ext cx="91896" cy="91896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4547649"/>
            <a:ext cx="91896" cy="91896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572097" y="2563344"/>
            <a:ext cx="5793105" cy="21844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 spc="-35" b="1">
                <a:solidFill>
                  <a:srgbClr val="FBD34D"/>
                </a:solidFill>
                <a:latin typeface="Tahoma"/>
                <a:cs typeface="Tahoma"/>
              </a:rPr>
              <a:t>Lexicon</a:t>
            </a:r>
            <a:r>
              <a:rPr dirty="0" sz="2100" spc="-9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design:</a:t>
            </a:r>
            <a:endParaRPr sz="2100">
              <a:latin typeface="Tahoma"/>
              <a:cs typeface="Tahoma"/>
            </a:endParaRPr>
          </a:p>
          <a:p>
            <a:pPr marL="346710" marR="5080">
              <a:lnSpc>
                <a:spcPct val="174900"/>
              </a:lnSpc>
              <a:spcBef>
                <a:spcPts val="1250"/>
              </a:spcBef>
            </a:pPr>
            <a:r>
              <a:rPr dirty="0" sz="2100" spc="125">
                <a:solidFill>
                  <a:srgbClr val="F7FAFB"/>
                </a:solidFill>
                <a:latin typeface="Tahoma"/>
                <a:cs typeface="Tahoma"/>
              </a:rPr>
              <a:t>What</a:t>
            </a:r>
            <a:r>
              <a:rPr dirty="0" sz="2100" spc="-3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5">
                <a:solidFill>
                  <a:srgbClr val="F7FAFB"/>
                </a:solidFill>
                <a:latin typeface="Tahoma"/>
                <a:cs typeface="Tahoma"/>
              </a:rPr>
              <a:t>information</a:t>
            </a:r>
            <a:r>
              <a:rPr dirty="0" sz="2100" spc="-3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0">
                <a:solidFill>
                  <a:srgbClr val="F7FAFB"/>
                </a:solidFill>
                <a:latin typeface="Tahoma"/>
                <a:cs typeface="Tahoma"/>
              </a:rPr>
              <a:t>does</a:t>
            </a:r>
            <a:r>
              <a:rPr dirty="0" sz="2100" spc="-3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each</a:t>
            </a:r>
            <a:r>
              <a:rPr dirty="0" sz="2100" spc="-3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5">
                <a:solidFill>
                  <a:srgbClr val="F7FAFB"/>
                </a:solidFill>
                <a:latin typeface="Tahoma"/>
                <a:cs typeface="Tahoma"/>
              </a:rPr>
              <a:t>entry</a:t>
            </a:r>
            <a:r>
              <a:rPr dirty="0" sz="2100" spc="-3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0">
                <a:solidFill>
                  <a:srgbClr val="F7FAFB"/>
                </a:solidFill>
                <a:latin typeface="Tahoma"/>
                <a:cs typeface="Tahoma"/>
              </a:rPr>
              <a:t>contain? </a:t>
            </a:r>
            <a:r>
              <a:rPr dirty="0" sz="2100" spc="130">
                <a:solidFill>
                  <a:srgbClr val="F7FAFB"/>
                </a:solidFill>
                <a:latin typeface="Tahoma"/>
                <a:cs typeface="Tahoma"/>
              </a:rPr>
              <a:t>How</a:t>
            </a:r>
            <a:r>
              <a:rPr dirty="0" sz="2100" spc="-9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are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frames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linked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to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10">
                <a:solidFill>
                  <a:srgbClr val="F7FAFB"/>
                </a:solidFill>
                <a:latin typeface="Tahoma"/>
                <a:cs typeface="Tahoma"/>
              </a:rPr>
              <a:t>examples?</a:t>
            </a:r>
            <a:endParaRPr sz="2100">
              <a:latin typeface="Tahoma"/>
              <a:cs typeface="Tahoma"/>
            </a:endParaRPr>
          </a:p>
          <a:p>
            <a:pPr marL="346710">
              <a:lnSpc>
                <a:spcPct val="100000"/>
              </a:lnSpc>
              <a:spcBef>
                <a:spcPts val="1885"/>
              </a:spcBef>
            </a:pPr>
            <a:r>
              <a:rPr dirty="0" sz="2100" spc="125">
                <a:solidFill>
                  <a:srgbClr val="F7FAFB"/>
                </a:solidFill>
                <a:latin typeface="Tahoma"/>
                <a:cs typeface="Tahoma"/>
              </a:rPr>
              <a:t>What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enables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complex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0">
                <a:solidFill>
                  <a:srgbClr val="F7FAFB"/>
                </a:solidFill>
                <a:latin typeface="Tahoma"/>
                <a:cs typeface="Tahoma"/>
              </a:rPr>
              <a:t>queries?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543560"/>
          </a:xfrm>
          <a:custGeom>
            <a:avLst/>
            <a:gdLst/>
            <a:ahLst/>
            <a:cxnLst/>
            <a:rect l="l" t="t" r="r" b="b"/>
            <a:pathLst>
              <a:path w="50165" h="543560">
                <a:moveTo>
                  <a:pt x="50125" y="543026"/>
                </a:moveTo>
                <a:lnTo>
                  <a:pt x="0" y="543026"/>
                </a:lnTo>
                <a:lnTo>
                  <a:pt x="0" y="0"/>
                </a:lnTo>
                <a:lnTo>
                  <a:pt x="50125" y="0"/>
                </a:lnTo>
                <a:lnTo>
                  <a:pt x="50125" y="543026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74191" y="1444752"/>
            <a:ext cx="5108575" cy="457200"/>
          </a:xfrm>
          <a:custGeom>
            <a:avLst/>
            <a:gdLst/>
            <a:ahLst/>
            <a:cxnLst/>
            <a:rect l="l" t="t" r="r" b="b"/>
            <a:pathLst>
              <a:path w="5108575" h="457200">
                <a:moveTo>
                  <a:pt x="5108447" y="457199"/>
                </a:moveTo>
                <a:lnTo>
                  <a:pt x="0" y="457199"/>
                </a:lnTo>
                <a:lnTo>
                  <a:pt x="0" y="0"/>
                </a:lnTo>
                <a:lnTo>
                  <a:pt x="5108447" y="0"/>
                </a:lnTo>
                <a:lnTo>
                  <a:pt x="5108447" y="45719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5"/>
              <a:t>Valency</a:t>
            </a:r>
            <a:r>
              <a:rPr dirty="0" spc="-120"/>
              <a:t> </a:t>
            </a:r>
            <a:r>
              <a:rPr dirty="0" spc="-95"/>
              <a:t>Lexicon</a:t>
            </a:r>
            <a:r>
              <a:rPr dirty="0" spc="-120"/>
              <a:t> </a:t>
            </a:r>
            <a:r>
              <a:rPr dirty="0" spc="-40"/>
              <a:t>Structure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2885151"/>
            <a:ext cx="91896" cy="91896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3444887"/>
            <a:ext cx="91896" cy="9189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4004622"/>
            <a:ext cx="91896" cy="9189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4572711"/>
            <a:ext cx="91896" cy="91896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5132447"/>
            <a:ext cx="91896" cy="91896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5692182"/>
            <a:ext cx="91896" cy="91896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572097" y="2020317"/>
            <a:ext cx="8702675" cy="45986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 spc="-50" b="1">
                <a:solidFill>
                  <a:srgbClr val="FBD34D"/>
                </a:solidFill>
                <a:latin typeface="Tahoma"/>
                <a:cs typeface="Tahoma"/>
              </a:rPr>
              <a:t>Each</a:t>
            </a:r>
            <a:r>
              <a:rPr dirty="0" sz="2100" spc="-9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Entry</a:t>
            </a:r>
            <a:r>
              <a:rPr dirty="0" sz="2100" spc="-8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Contains:</a:t>
            </a:r>
            <a:endParaRPr sz="2100">
              <a:latin typeface="Tahoma"/>
              <a:cs typeface="Tahoma"/>
            </a:endParaRPr>
          </a:p>
          <a:p>
            <a:pPr marL="346710" marR="5953125">
              <a:lnSpc>
                <a:spcPct val="175400"/>
              </a:lnSpc>
              <a:spcBef>
                <a:spcPts val="1235"/>
              </a:spcBef>
            </a:pP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Lemma</a:t>
            </a:r>
            <a:r>
              <a:rPr dirty="0" sz="2100" spc="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(base</a:t>
            </a:r>
            <a:r>
              <a:rPr dirty="0" sz="2100" spc="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30">
                <a:solidFill>
                  <a:srgbClr val="F7FAFB"/>
                </a:solidFill>
                <a:latin typeface="Tahoma"/>
                <a:cs typeface="Tahoma"/>
              </a:rPr>
              <a:t>form)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Time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period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Source</a:t>
            </a:r>
            <a:r>
              <a:rPr dirty="0" sz="2100" spc="-9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text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Valency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10">
                <a:solidFill>
                  <a:srgbClr val="F7FAFB"/>
                </a:solidFill>
                <a:latin typeface="Tahoma"/>
                <a:cs typeface="Tahoma"/>
              </a:rPr>
              <a:t>frame(s)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Example</a:t>
            </a:r>
            <a:r>
              <a:rPr dirty="0" sz="2100" spc="-9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0">
                <a:solidFill>
                  <a:srgbClr val="F7FAFB"/>
                </a:solidFill>
                <a:latin typeface="Tahoma"/>
                <a:cs typeface="Tahoma"/>
              </a:rPr>
              <a:t>sentences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Frequency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45">
                <a:solidFill>
                  <a:srgbClr val="F7FAFB"/>
                </a:solidFill>
                <a:latin typeface="Tahoma"/>
                <a:cs typeface="Tahoma"/>
              </a:rPr>
              <a:t>data</a:t>
            </a:r>
            <a:endParaRPr sz="2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endParaRPr sz="2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2100" spc="50">
                <a:solidFill>
                  <a:srgbClr val="F7FAFB"/>
                </a:solidFill>
                <a:latin typeface="Tahoma"/>
                <a:cs typeface="Tahoma"/>
              </a:rPr>
              <a:t>The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valency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lexicon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is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structured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as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a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relational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database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where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20">
                <a:solidFill>
                  <a:srgbClr val="F7FAFB"/>
                </a:solidFill>
                <a:latin typeface="Tahoma"/>
                <a:cs typeface="Tahoma"/>
              </a:rPr>
              <a:t>each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1086485"/>
          </a:xfrm>
          <a:custGeom>
            <a:avLst/>
            <a:gdLst/>
            <a:ahLst/>
            <a:cxnLst/>
            <a:rect l="l" t="t" r="r" b="b"/>
            <a:pathLst>
              <a:path w="50165" h="1086485">
                <a:moveTo>
                  <a:pt x="50125" y="1086053"/>
                </a:moveTo>
                <a:lnTo>
                  <a:pt x="0" y="1086053"/>
                </a:lnTo>
                <a:lnTo>
                  <a:pt x="0" y="0"/>
                </a:lnTo>
                <a:lnTo>
                  <a:pt x="50125" y="0"/>
                </a:lnTo>
                <a:lnTo>
                  <a:pt x="50125" y="1086053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83336" y="1444752"/>
            <a:ext cx="9162415" cy="445134"/>
          </a:xfrm>
          <a:custGeom>
            <a:avLst/>
            <a:gdLst/>
            <a:ahLst/>
            <a:cxnLst/>
            <a:rect l="l" t="t" r="r" b="b"/>
            <a:pathLst>
              <a:path w="9162415" h="445135">
                <a:moveTo>
                  <a:pt x="9162287" y="445007"/>
                </a:moveTo>
                <a:lnTo>
                  <a:pt x="0" y="445007"/>
                </a:lnTo>
                <a:lnTo>
                  <a:pt x="0" y="0"/>
                </a:lnTo>
                <a:lnTo>
                  <a:pt x="9162287" y="0"/>
                </a:lnTo>
                <a:lnTo>
                  <a:pt x="9162287" y="445007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75"/>
              <a:t>Question:</a:t>
            </a:r>
            <a:r>
              <a:rPr dirty="0" spc="-135"/>
              <a:t> </a:t>
            </a:r>
            <a:r>
              <a:rPr dirty="0"/>
              <a:t>What</a:t>
            </a:r>
            <a:r>
              <a:rPr dirty="0" spc="-130"/>
              <a:t> </a:t>
            </a:r>
            <a:r>
              <a:rPr dirty="0" spc="-125"/>
              <a:t>does</a:t>
            </a:r>
            <a:r>
              <a:rPr dirty="0" spc="-130"/>
              <a:t> </a:t>
            </a:r>
            <a:r>
              <a:rPr dirty="0" spc="-90"/>
              <a:t>the</a:t>
            </a:r>
            <a:r>
              <a:rPr dirty="0" spc="-130"/>
              <a:t> </a:t>
            </a:r>
            <a:r>
              <a:rPr dirty="0" spc="-105"/>
              <a:t>database</a:t>
            </a:r>
            <a:r>
              <a:rPr dirty="0" spc="-130"/>
              <a:t> </a:t>
            </a:r>
            <a:r>
              <a:rPr dirty="0" spc="-145"/>
              <a:t>schema</a:t>
            </a:r>
            <a:r>
              <a:rPr dirty="0" spc="-130"/>
              <a:t> </a:t>
            </a:r>
            <a:r>
              <a:rPr dirty="0" spc="-20"/>
              <a:t>look</a:t>
            </a:r>
          </a:p>
        </p:txBody>
      </p:sp>
      <p:sp>
        <p:nvSpPr>
          <p:cNvPr id="5" name="object 5" descr=""/>
          <p:cNvSpPr/>
          <p:nvPr/>
        </p:nvSpPr>
        <p:spPr>
          <a:xfrm>
            <a:off x="798575" y="1987295"/>
            <a:ext cx="944880" cy="396240"/>
          </a:xfrm>
          <a:custGeom>
            <a:avLst/>
            <a:gdLst/>
            <a:ahLst/>
            <a:cxnLst/>
            <a:rect l="l" t="t" r="r" b="b"/>
            <a:pathLst>
              <a:path w="944880" h="396239">
                <a:moveTo>
                  <a:pt x="944879" y="396239"/>
                </a:moveTo>
                <a:lnTo>
                  <a:pt x="0" y="396239"/>
                </a:lnTo>
                <a:lnTo>
                  <a:pt x="0" y="0"/>
                </a:lnTo>
                <a:lnTo>
                  <a:pt x="944879" y="0"/>
                </a:lnTo>
                <a:lnTo>
                  <a:pt x="944879" y="39623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789308" y="1903358"/>
            <a:ext cx="909955" cy="5067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150" spc="-95" b="1">
                <a:solidFill>
                  <a:srgbClr val="60A5FA"/>
                </a:solidFill>
                <a:latin typeface="Tahoma"/>
                <a:cs typeface="Tahoma"/>
              </a:rPr>
              <a:t>like?</a:t>
            </a:r>
            <a:endParaRPr sz="3150">
              <a:latin typeface="Tahoma"/>
              <a:cs typeface="Tahoma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3428178"/>
            <a:ext cx="91896" cy="9189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3987913"/>
            <a:ext cx="91896" cy="91896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4547649"/>
            <a:ext cx="91896" cy="91896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572097" y="2563344"/>
            <a:ext cx="3747135" cy="21844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 spc="-40" b="1">
                <a:solidFill>
                  <a:srgbClr val="FBD34D"/>
                </a:solidFill>
                <a:latin typeface="Tahoma"/>
                <a:cs typeface="Tahoma"/>
              </a:rPr>
              <a:t>Technical</a:t>
            </a:r>
            <a:r>
              <a:rPr dirty="0" sz="2100" spc="-9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structure:</a:t>
            </a:r>
            <a:endParaRPr sz="2100">
              <a:latin typeface="Tahoma"/>
              <a:cs typeface="Tahoma"/>
            </a:endParaRPr>
          </a:p>
          <a:p>
            <a:pPr marL="346710" marR="619760">
              <a:lnSpc>
                <a:spcPct val="174900"/>
              </a:lnSpc>
              <a:spcBef>
                <a:spcPts val="1250"/>
              </a:spcBef>
            </a:pPr>
            <a:r>
              <a:rPr dirty="0" sz="2100" spc="125">
                <a:solidFill>
                  <a:srgbClr val="F7FAFB"/>
                </a:solidFill>
                <a:latin typeface="Tahoma"/>
                <a:cs typeface="Tahoma"/>
              </a:rPr>
              <a:t>What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tables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40">
                <a:solidFill>
                  <a:srgbClr val="F7FAFB"/>
                </a:solidFill>
                <a:latin typeface="Tahoma"/>
                <a:cs typeface="Tahoma"/>
              </a:rPr>
              <a:t>exist? </a:t>
            </a:r>
            <a:r>
              <a:rPr dirty="0" sz="2100" spc="130">
                <a:solidFill>
                  <a:srgbClr val="F7FAFB"/>
                </a:solidFill>
                <a:latin typeface="Tahoma"/>
                <a:cs typeface="Tahoma"/>
              </a:rPr>
              <a:t>How</a:t>
            </a:r>
            <a:r>
              <a:rPr dirty="0" sz="2100" spc="-9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are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they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0">
                <a:solidFill>
                  <a:srgbClr val="F7FAFB"/>
                </a:solidFill>
                <a:latin typeface="Tahoma"/>
                <a:cs typeface="Tahoma"/>
              </a:rPr>
              <a:t>related?</a:t>
            </a:r>
            <a:endParaRPr sz="2100">
              <a:latin typeface="Tahoma"/>
              <a:cs typeface="Tahoma"/>
            </a:endParaRPr>
          </a:p>
          <a:p>
            <a:pPr marL="346710">
              <a:lnSpc>
                <a:spcPct val="100000"/>
              </a:lnSpc>
              <a:spcBef>
                <a:spcPts val="1885"/>
              </a:spcBef>
            </a:pPr>
            <a:r>
              <a:rPr dirty="0" sz="2100" spc="125">
                <a:solidFill>
                  <a:srgbClr val="F7FAFB"/>
                </a:solidFill>
                <a:latin typeface="Tahoma"/>
                <a:cs typeface="Tahoma"/>
              </a:rPr>
              <a:t>What</a:t>
            </a:r>
            <a:r>
              <a:rPr dirty="0" sz="2100" spc="-9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queries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are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0">
                <a:solidFill>
                  <a:srgbClr val="F7FAFB"/>
                </a:solidFill>
                <a:latin typeface="Tahoma"/>
                <a:cs typeface="Tahoma"/>
              </a:rPr>
              <a:t>possible?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543560"/>
          </a:xfrm>
          <a:custGeom>
            <a:avLst/>
            <a:gdLst/>
            <a:ahLst/>
            <a:cxnLst/>
            <a:rect l="l" t="t" r="r" b="b"/>
            <a:pathLst>
              <a:path w="50165" h="543560">
                <a:moveTo>
                  <a:pt x="50125" y="543026"/>
                </a:moveTo>
                <a:lnTo>
                  <a:pt x="0" y="543026"/>
                </a:lnTo>
                <a:lnTo>
                  <a:pt x="0" y="0"/>
                </a:lnTo>
                <a:lnTo>
                  <a:pt x="50125" y="0"/>
                </a:lnTo>
                <a:lnTo>
                  <a:pt x="50125" y="543026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584797" y="2166685"/>
            <a:ext cx="9524365" cy="1253490"/>
          </a:xfrm>
          <a:custGeom>
            <a:avLst/>
            <a:gdLst/>
            <a:ahLst/>
            <a:cxnLst/>
            <a:rect l="l" t="t" r="r" b="b"/>
            <a:pathLst>
              <a:path w="9524365" h="1253489">
                <a:moveTo>
                  <a:pt x="9523853" y="1253138"/>
                </a:moveTo>
                <a:lnTo>
                  <a:pt x="0" y="1253138"/>
                </a:lnTo>
                <a:lnTo>
                  <a:pt x="0" y="0"/>
                </a:lnTo>
                <a:lnTo>
                  <a:pt x="9523853" y="0"/>
                </a:lnTo>
                <a:lnTo>
                  <a:pt x="9523853" y="1253138"/>
                </a:lnTo>
                <a:close/>
              </a:path>
            </a:pathLst>
          </a:custGeom>
          <a:solidFill>
            <a:srgbClr val="4559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774191" y="1444752"/>
            <a:ext cx="6772909" cy="457200"/>
          </a:xfrm>
          <a:custGeom>
            <a:avLst/>
            <a:gdLst/>
            <a:ahLst/>
            <a:cxnLst/>
            <a:rect l="l" t="t" r="r" b="b"/>
            <a:pathLst>
              <a:path w="6772909" h="457200">
                <a:moveTo>
                  <a:pt x="6772655" y="457199"/>
                </a:moveTo>
                <a:lnTo>
                  <a:pt x="0" y="457199"/>
                </a:lnTo>
                <a:lnTo>
                  <a:pt x="0" y="0"/>
                </a:lnTo>
                <a:lnTo>
                  <a:pt x="6772655" y="0"/>
                </a:lnTo>
                <a:lnTo>
                  <a:pt x="6772655" y="45719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89308" y="1360331"/>
            <a:ext cx="6727825" cy="5067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5"/>
              <a:t>Valency</a:t>
            </a:r>
            <a:r>
              <a:rPr dirty="0" spc="-100"/>
              <a:t> </a:t>
            </a:r>
            <a:r>
              <a:rPr dirty="0" spc="-114"/>
              <a:t>Lexicon:</a:t>
            </a:r>
            <a:r>
              <a:rPr dirty="0" spc="-100"/>
              <a:t> </a:t>
            </a:r>
            <a:r>
              <a:rPr dirty="0" spc="-90"/>
              <a:t>Database</a:t>
            </a:r>
            <a:r>
              <a:rPr dirty="0" spc="-100"/>
              <a:t> </a:t>
            </a:r>
            <a:r>
              <a:rPr dirty="0" spc="-95"/>
              <a:t>Schema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572097" y="3435529"/>
            <a:ext cx="9233535" cy="259016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>
              <a:lnSpc>
                <a:spcPct val="133700"/>
              </a:lnSpc>
              <a:spcBef>
                <a:spcPts val="85"/>
              </a:spcBef>
            </a:pP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This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relational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structure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allows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efficient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querying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across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time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0">
                <a:solidFill>
                  <a:srgbClr val="F7FAFB"/>
                </a:solidFill>
                <a:latin typeface="Tahoma"/>
                <a:cs typeface="Tahoma"/>
              </a:rPr>
              <a:t>periods,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languages,</a:t>
            </a:r>
            <a:r>
              <a:rPr dirty="0" sz="2100" spc="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and</a:t>
            </a:r>
            <a:r>
              <a:rPr dirty="0" sz="2100" spc="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semantic</a:t>
            </a:r>
            <a:r>
              <a:rPr dirty="0" sz="2100" spc="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classes.</a:t>
            </a:r>
            <a:r>
              <a:rPr dirty="0" sz="2100" spc="1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Researchers</a:t>
            </a:r>
            <a:r>
              <a:rPr dirty="0" sz="2100" spc="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can</a:t>
            </a:r>
            <a:r>
              <a:rPr dirty="0" sz="2100" spc="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extract</a:t>
            </a:r>
            <a:r>
              <a:rPr dirty="0" sz="2100" spc="1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all</a:t>
            </a:r>
            <a:r>
              <a:rPr dirty="0" sz="2100" spc="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frames</a:t>
            </a:r>
            <a:r>
              <a:rPr dirty="0" sz="2100" spc="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for</a:t>
            </a:r>
            <a:r>
              <a:rPr dirty="0" sz="2100" spc="1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50">
                <a:solidFill>
                  <a:srgbClr val="F7FAFB"/>
                </a:solidFill>
                <a:latin typeface="Tahoma"/>
                <a:cs typeface="Tahoma"/>
              </a:rPr>
              <a:t>a </a:t>
            </a:r>
            <a:r>
              <a:rPr dirty="0" sz="2100" spc="50">
                <a:solidFill>
                  <a:srgbClr val="F7FAFB"/>
                </a:solidFill>
                <a:latin typeface="Tahoma"/>
                <a:cs typeface="Tahoma"/>
              </a:rPr>
              <a:t>given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predicate,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all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predicates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5">
                <a:solidFill>
                  <a:srgbClr val="F7FAFB"/>
                </a:solidFill>
                <a:latin typeface="Tahoma"/>
                <a:cs typeface="Tahoma"/>
              </a:rPr>
              <a:t>with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a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specific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frame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type,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or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all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10">
                <a:solidFill>
                  <a:srgbClr val="F7FAFB"/>
                </a:solidFill>
                <a:latin typeface="Tahoma"/>
                <a:cs typeface="Tahoma"/>
              </a:rPr>
              <a:t>changes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between</a:t>
            </a:r>
            <a:r>
              <a:rPr dirty="0" sz="2100" spc="-4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0">
                <a:solidFill>
                  <a:srgbClr val="F7FAFB"/>
                </a:solidFill>
                <a:latin typeface="Tahoma"/>
                <a:cs typeface="Tahoma"/>
              </a:rPr>
              <a:t>periods.</a:t>
            </a:r>
            <a:r>
              <a:rPr dirty="0" sz="2100" spc="-3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0">
                <a:solidFill>
                  <a:srgbClr val="F7FAFB"/>
                </a:solidFill>
                <a:latin typeface="Tahoma"/>
                <a:cs typeface="Tahoma"/>
              </a:rPr>
              <a:t>The</a:t>
            </a:r>
            <a:r>
              <a:rPr dirty="0" sz="2100" spc="-4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schema</a:t>
            </a:r>
            <a:r>
              <a:rPr dirty="0" sz="2100" spc="-3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separates</a:t>
            </a:r>
            <a:r>
              <a:rPr dirty="0" sz="2100" spc="-4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abstract</a:t>
            </a:r>
            <a:r>
              <a:rPr dirty="0" sz="2100" spc="-3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frame</a:t>
            </a:r>
            <a:r>
              <a:rPr dirty="0" sz="2100" spc="-3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descriptions</a:t>
            </a:r>
            <a:r>
              <a:rPr dirty="0" sz="2100" spc="-4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from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concrete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corpus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attestations,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enabling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statistical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analysis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of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frame </a:t>
            </a:r>
            <a:r>
              <a:rPr dirty="0" sz="2100" spc="60">
                <a:solidFill>
                  <a:srgbClr val="F7FAFB"/>
                </a:solidFill>
                <a:latin typeface="Tahoma"/>
                <a:cs typeface="Tahoma"/>
              </a:rPr>
              <a:t>frequencies.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1086485"/>
          </a:xfrm>
          <a:custGeom>
            <a:avLst/>
            <a:gdLst/>
            <a:ahLst/>
            <a:cxnLst/>
            <a:rect l="l" t="t" r="r" b="b"/>
            <a:pathLst>
              <a:path w="50165" h="1086485">
                <a:moveTo>
                  <a:pt x="50125" y="1086053"/>
                </a:moveTo>
                <a:lnTo>
                  <a:pt x="0" y="1086053"/>
                </a:lnTo>
                <a:lnTo>
                  <a:pt x="0" y="0"/>
                </a:lnTo>
                <a:lnTo>
                  <a:pt x="50125" y="0"/>
                </a:lnTo>
                <a:lnTo>
                  <a:pt x="50125" y="1086053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83336" y="1444752"/>
            <a:ext cx="8357870" cy="457200"/>
          </a:xfrm>
          <a:custGeom>
            <a:avLst/>
            <a:gdLst/>
            <a:ahLst/>
            <a:cxnLst/>
            <a:rect l="l" t="t" r="r" b="b"/>
            <a:pathLst>
              <a:path w="8357870" h="457200">
                <a:moveTo>
                  <a:pt x="8357615" y="457199"/>
                </a:moveTo>
                <a:lnTo>
                  <a:pt x="0" y="457199"/>
                </a:lnTo>
                <a:lnTo>
                  <a:pt x="0" y="0"/>
                </a:lnTo>
                <a:lnTo>
                  <a:pt x="8357615" y="0"/>
                </a:lnTo>
                <a:lnTo>
                  <a:pt x="8357615" y="45719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75"/>
              <a:t>Question:</a:t>
            </a:r>
            <a:r>
              <a:rPr dirty="0" spc="-120"/>
              <a:t> </a:t>
            </a:r>
            <a:r>
              <a:rPr dirty="0" spc="-100"/>
              <a:t>Can</a:t>
            </a:r>
            <a:r>
              <a:rPr dirty="0" spc="-120"/>
              <a:t> </a:t>
            </a:r>
            <a:r>
              <a:rPr dirty="0" spc="-110"/>
              <a:t>you</a:t>
            </a:r>
            <a:r>
              <a:rPr dirty="0" spc="-120"/>
              <a:t> </a:t>
            </a:r>
            <a:r>
              <a:rPr dirty="0" spc="-155"/>
              <a:t>show</a:t>
            </a:r>
            <a:r>
              <a:rPr dirty="0" spc="-120"/>
              <a:t> </a:t>
            </a:r>
            <a:r>
              <a:rPr dirty="0" spc="-195"/>
              <a:t>a</a:t>
            </a:r>
            <a:r>
              <a:rPr dirty="0" spc="-120"/>
              <a:t> </a:t>
            </a:r>
            <a:r>
              <a:rPr dirty="0" spc="-85"/>
              <a:t>complete</a:t>
            </a:r>
            <a:r>
              <a:rPr dirty="0" spc="-120"/>
              <a:t> </a:t>
            </a:r>
            <a:r>
              <a:rPr dirty="0" spc="-10"/>
              <a:t>lexicon</a:t>
            </a:r>
          </a:p>
        </p:txBody>
      </p:sp>
      <p:sp>
        <p:nvSpPr>
          <p:cNvPr id="5" name="object 5" descr=""/>
          <p:cNvSpPr/>
          <p:nvPr/>
        </p:nvSpPr>
        <p:spPr>
          <a:xfrm>
            <a:off x="783336" y="1987295"/>
            <a:ext cx="3023870" cy="457200"/>
          </a:xfrm>
          <a:custGeom>
            <a:avLst/>
            <a:gdLst/>
            <a:ahLst/>
            <a:cxnLst/>
            <a:rect l="l" t="t" r="r" b="b"/>
            <a:pathLst>
              <a:path w="3023870" h="457200">
                <a:moveTo>
                  <a:pt x="3023615" y="457199"/>
                </a:moveTo>
                <a:lnTo>
                  <a:pt x="0" y="457199"/>
                </a:lnTo>
                <a:lnTo>
                  <a:pt x="0" y="0"/>
                </a:lnTo>
                <a:lnTo>
                  <a:pt x="3023615" y="0"/>
                </a:lnTo>
                <a:lnTo>
                  <a:pt x="3023615" y="45719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789308" y="1903358"/>
            <a:ext cx="2975610" cy="5067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150" spc="-50" b="1">
                <a:solidFill>
                  <a:srgbClr val="60A5FA"/>
                </a:solidFill>
                <a:latin typeface="Tahoma"/>
                <a:cs typeface="Tahoma"/>
              </a:rPr>
              <a:t>entry</a:t>
            </a:r>
            <a:r>
              <a:rPr dirty="0" sz="3150" spc="-145" b="1">
                <a:solidFill>
                  <a:srgbClr val="60A5FA"/>
                </a:solidFill>
                <a:latin typeface="Tahoma"/>
                <a:cs typeface="Tahoma"/>
              </a:rPr>
              <a:t> </a:t>
            </a:r>
            <a:r>
              <a:rPr dirty="0" sz="3150" spc="-120" b="1">
                <a:solidFill>
                  <a:srgbClr val="60A5FA"/>
                </a:solidFill>
                <a:latin typeface="Tahoma"/>
                <a:cs typeface="Tahoma"/>
              </a:rPr>
              <a:t>example?</a:t>
            </a:r>
            <a:endParaRPr sz="3150">
              <a:latin typeface="Tahoma"/>
              <a:cs typeface="Tahoma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3428178"/>
            <a:ext cx="91896" cy="9189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3987913"/>
            <a:ext cx="91896" cy="91896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4547649"/>
            <a:ext cx="91896" cy="91896"/>
          </a:xfrm>
          <a:prstGeom prst="rect">
            <a:avLst/>
          </a:prstGeom>
        </p:spPr>
      </p:pic>
      <p:sp>
        <p:nvSpPr>
          <p:cNvPr id="10" name="object 10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Entry</a:t>
            </a:r>
            <a:r>
              <a:rPr dirty="0" spc="-95"/>
              <a:t> </a:t>
            </a:r>
            <a:r>
              <a:rPr dirty="0" spc="-10"/>
              <a:t>structure:</a:t>
            </a:r>
          </a:p>
          <a:p>
            <a:pPr marL="346710" marR="5080">
              <a:lnSpc>
                <a:spcPct val="174900"/>
              </a:lnSpc>
              <a:spcBef>
                <a:spcPts val="1250"/>
              </a:spcBef>
            </a:pPr>
            <a:r>
              <a:rPr dirty="0" spc="125" b="0">
                <a:solidFill>
                  <a:srgbClr val="F7FAFB"/>
                </a:solidFill>
                <a:latin typeface="Tahoma"/>
                <a:cs typeface="Tahoma"/>
              </a:rPr>
              <a:t>What</a:t>
            </a:r>
            <a:r>
              <a:rPr dirty="0" spc="-85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60" b="0">
                <a:solidFill>
                  <a:srgbClr val="F7FAFB"/>
                </a:solidFill>
                <a:latin typeface="Tahoma"/>
                <a:cs typeface="Tahoma"/>
              </a:rPr>
              <a:t>does</a:t>
            </a:r>
            <a:r>
              <a:rPr dirty="0" spc="-85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b="0">
                <a:solidFill>
                  <a:srgbClr val="F7FAFB"/>
                </a:solidFill>
                <a:latin typeface="Tahoma"/>
                <a:cs typeface="Tahoma"/>
              </a:rPr>
              <a:t>a</a:t>
            </a:r>
            <a:r>
              <a:rPr dirty="0" spc="-85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95" b="0">
                <a:solidFill>
                  <a:srgbClr val="F7FAFB"/>
                </a:solidFill>
                <a:latin typeface="Tahoma"/>
                <a:cs typeface="Tahoma"/>
              </a:rPr>
              <a:t>full</a:t>
            </a:r>
            <a:r>
              <a:rPr dirty="0" spc="-85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145" b="0">
                <a:solidFill>
                  <a:srgbClr val="F7FAFB"/>
                </a:solidFill>
                <a:latin typeface="Tahoma"/>
                <a:cs typeface="Tahoma"/>
              </a:rPr>
              <a:t>JSON</a:t>
            </a:r>
            <a:r>
              <a:rPr dirty="0" spc="-80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95" b="0">
                <a:solidFill>
                  <a:srgbClr val="F7FAFB"/>
                </a:solidFill>
                <a:latin typeface="Tahoma"/>
                <a:cs typeface="Tahoma"/>
              </a:rPr>
              <a:t>entry</a:t>
            </a:r>
            <a:r>
              <a:rPr dirty="0" spc="-85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95" b="0">
                <a:solidFill>
                  <a:srgbClr val="F7FAFB"/>
                </a:solidFill>
                <a:latin typeface="Tahoma"/>
                <a:cs typeface="Tahoma"/>
              </a:rPr>
              <a:t>look</a:t>
            </a:r>
            <a:r>
              <a:rPr dirty="0" spc="-85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40" b="0">
                <a:solidFill>
                  <a:srgbClr val="F7FAFB"/>
                </a:solidFill>
                <a:latin typeface="Tahoma"/>
                <a:cs typeface="Tahoma"/>
              </a:rPr>
              <a:t>like? </a:t>
            </a:r>
            <a:r>
              <a:rPr dirty="0" spc="130" b="0">
                <a:solidFill>
                  <a:srgbClr val="F7FAFB"/>
                </a:solidFill>
                <a:latin typeface="Tahoma"/>
                <a:cs typeface="Tahoma"/>
              </a:rPr>
              <a:t>How</a:t>
            </a:r>
            <a:r>
              <a:rPr dirty="0" spc="-25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55" b="0">
                <a:solidFill>
                  <a:srgbClr val="F7FAFB"/>
                </a:solidFill>
                <a:latin typeface="Tahoma"/>
                <a:cs typeface="Tahoma"/>
              </a:rPr>
              <a:t>is</a:t>
            </a:r>
            <a:r>
              <a:rPr dirty="0" spc="-25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90" b="0">
                <a:solidFill>
                  <a:srgbClr val="F7FAFB"/>
                </a:solidFill>
                <a:latin typeface="Tahoma"/>
                <a:cs typeface="Tahoma"/>
              </a:rPr>
              <a:t>diachronic</a:t>
            </a:r>
            <a:r>
              <a:rPr dirty="0" spc="-20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b="0">
                <a:solidFill>
                  <a:srgbClr val="F7FAFB"/>
                </a:solidFill>
                <a:latin typeface="Tahoma"/>
                <a:cs typeface="Tahoma"/>
              </a:rPr>
              <a:t>change</a:t>
            </a:r>
            <a:r>
              <a:rPr dirty="0" spc="-25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65" b="0">
                <a:solidFill>
                  <a:srgbClr val="F7FAFB"/>
                </a:solidFill>
                <a:latin typeface="Tahoma"/>
                <a:cs typeface="Tahoma"/>
              </a:rPr>
              <a:t>represented? </a:t>
            </a:r>
            <a:r>
              <a:rPr dirty="0" spc="125" b="0">
                <a:solidFill>
                  <a:srgbClr val="F7FAFB"/>
                </a:solidFill>
                <a:latin typeface="Tahoma"/>
                <a:cs typeface="Tahoma"/>
              </a:rPr>
              <a:t>What</a:t>
            </a:r>
            <a:r>
              <a:rPr dirty="0" spc="-85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85" b="0">
                <a:solidFill>
                  <a:srgbClr val="F7FAFB"/>
                </a:solidFill>
                <a:latin typeface="Tahoma"/>
                <a:cs typeface="Tahoma"/>
              </a:rPr>
              <a:t>frequency</a:t>
            </a:r>
            <a:r>
              <a:rPr dirty="0" spc="-80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65" b="0">
                <a:solidFill>
                  <a:srgbClr val="F7FAFB"/>
                </a:solidFill>
                <a:latin typeface="Tahoma"/>
                <a:cs typeface="Tahoma"/>
              </a:rPr>
              <a:t>data</a:t>
            </a:r>
            <a:r>
              <a:rPr dirty="0" spc="-80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55" b="0">
                <a:solidFill>
                  <a:srgbClr val="F7FAFB"/>
                </a:solidFill>
                <a:latin typeface="Tahoma"/>
                <a:cs typeface="Tahoma"/>
              </a:rPr>
              <a:t>is</a:t>
            </a:r>
            <a:r>
              <a:rPr dirty="0" spc="-85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55" b="0">
                <a:solidFill>
                  <a:srgbClr val="F7FAFB"/>
                </a:solidFill>
                <a:latin typeface="Tahoma"/>
                <a:cs typeface="Tahoma"/>
              </a:rPr>
              <a:t>included?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543560"/>
          </a:xfrm>
          <a:custGeom>
            <a:avLst/>
            <a:gdLst/>
            <a:ahLst/>
            <a:cxnLst/>
            <a:rect l="l" t="t" r="r" b="b"/>
            <a:pathLst>
              <a:path w="50165" h="543560">
                <a:moveTo>
                  <a:pt x="50125" y="543026"/>
                </a:moveTo>
                <a:lnTo>
                  <a:pt x="0" y="543026"/>
                </a:lnTo>
                <a:lnTo>
                  <a:pt x="0" y="0"/>
                </a:lnTo>
                <a:lnTo>
                  <a:pt x="50125" y="0"/>
                </a:lnTo>
                <a:lnTo>
                  <a:pt x="50125" y="543026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584797" y="2166685"/>
            <a:ext cx="9524365" cy="1253490"/>
          </a:xfrm>
          <a:custGeom>
            <a:avLst/>
            <a:gdLst/>
            <a:ahLst/>
            <a:cxnLst/>
            <a:rect l="l" t="t" r="r" b="b"/>
            <a:pathLst>
              <a:path w="9524365" h="1253489">
                <a:moveTo>
                  <a:pt x="9523853" y="1253138"/>
                </a:moveTo>
                <a:lnTo>
                  <a:pt x="0" y="1253138"/>
                </a:lnTo>
                <a:lnTo>
                  <a:pt x="0" y="0"/>
                </a:lnTo>
                <a:lnTo>
                  <a:pt x="9523853" y="0"/>
                </a:lnTo>
                <a:lnTo>
                  <a:pt x="9523853" y="1253138"/>
                </a:lnTo>
                <a:close/>
              </a:path>
            </a:pathLst>
          </a:custGeom>
          <a:solidFill>
            <a:srgbClr val="4559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774191" y="1444752"/>
            <a:ext cx="7998459" cy="457200"/>
          </a:xfrm>
          <a:custGeom>
            <a:avLst/>
            <a:gdLst/>
            <a:ahLst/>
            <a:cxnLst/>
            <a:rect l="l" t="t" r="r" b="b"/>
            <a:pathLst>
              <a:path w="7998459" h="457200">
                <a:moveTo>
                  <a:pt x="7997951" y="457199"/>
                </a:moveTo>
                <a:lnTo>
                  <a:pt x="0" y="457199"/>
                </a:lnTo>
                <a:lnTo>
                  <a:pt x="0" y="0"/>
                </a:lnTo>
                <a:lnTo>
                  <a:pt x="7997951" y="0"/>
                </a:lnTo>
                <a:lnTo>
                  <a:pt x="7997951" y="45719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5"/>
              <a:t>Valency</a:t>
            </a:r>
            <a:r>
              <a:rPr dirty="0" spc="-120"/>
              <a:t> </a:t>
            </a:r>
            <a:r>
              <a:rPr dirty="0" spc="-95"/>
              <a:t>Lexicon</a:t>
            </a:r>
            <a:r>
              <a:rPr dirty="0" spc="-120"/>
              <a:t> </a:t>
            </a:r>
            <a:r>
              <a:rPr dirty="0" spc="-45"/>
              <a:t>Entry</a:t>
            </a:r>
            <a:r>
              <a:rPr dirty="0" spc="-114"/>
              <a:t> </a:t>
            </a:r>
            <a:r>
              <a:rPr dirty="0" spc="-75"/>
              <a:t>Structure</a:t>
            </a:r>
            <a:r>
              <a:rPr dirty="0" spc="-120"/>
              <a:t> </a:t>
            </a:r>
            <a:r>
              <a:rPr dirty="0" spc="-40"/>
              <a:t>Example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572097" y="3435529"/>
            <a:ext cx="9447530" cy="301625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>
              <a:lnSpc>
                <a:spcPct val="133600"/>
              </a:lnSpc>
              <a:spcBef>
                <a:spcPts val="85"/>
              </a:spcBef>
            </a:pP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This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45">
                <a:solidFill>
                  <a:srgbClr val="F7FAFB"/>
                </a:solidFill>
                <a:latin typeface="Tahoma"/>
                <a:cs typeface="Tahoma"/>
              </a:rPr>
              <a:t>JSON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structure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0">
                <a:solidFill>
                  <a:srgbClr val="F7FAFB"/>
                </a:solidFill>
                <a:latin typeface="Tahoma"/>
                <a:cs typeface="Tahoma"/>
              </a:rPr>
              <a:t>shows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how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a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single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predicate's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valency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evolves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across </a:t>
            </a:r>
            <a:r>
              <a:rPr dirty="0" sz="2100" spc="95">
                <a:solidFill>
                  <a:srgbClr val="F7FAFB"/>
                </a:solidFill>
                <a:latin typeface="Tahoma"/>
                <a:cs typeface="Tahoma"/>
              </a:rPr>
              <a:t>four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historical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0">
                <a:solidFill>
                  <a:srgbClr val="F7FAFB"/>
                </a:solidFill>
                <a:latin typeface="Tahoma"/>
                <a:cs typeface="Tahoma"/>
              </a:rPr>
              <a:t>periods.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25">
                <a:solidFill>
                  <a:srgbClr val="F7FAFB"/>
                </a:solidFill>
                <a:latin typeface="Tahoma"/>
                <a:cs typeface="Tahoma"/>
              </a:rPr>
              <a:t>Notice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how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the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basic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ditransitive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structure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0">
                <a:solidFill>
                  <a:srgbClr val="F7FAFB"/>
                </a:solidFill>
                <a:latin typeface="Tahoma"/>
                <a:cs typeface="Tahoma"/>
              </a:rPr>
              <a:t>(three </a:t>
            </a:r>
            <a:r>
              <a:rPr dirty="0" sz="2100" spc="45">
                <a:solidFill>
                  <a:srgbClr val="F7FAFB"/>
                </a:solidFill>
                <a:latin typeface="Tahoma"/>
                <a:cs typeface="Tahoma"/>
              </a:rPr>
              <a:t>arguments)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remains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0">
                <a:solidFill>
                  <a:srgbClr val="F7FAFB"/>
                </a:solidFill>
                <a:latin typeface="Tahoma"/>
                <a:cs typeface="Tahoma"/>
              </a:rPr>
              <a:t>constant,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but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the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morphosyntactic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realization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of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0">
                <a:solidFill>
                  <a:srgbClr val="F7FAFB"/>
                </a:solidFill>
                <a:latin typeface="Tahoma"/>
                <a:cs typeface="Tahoma"/>
              </a:rPr>
              <a:t>the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recipient</a:t>
            </a:r>
            <a:r>
              <a:rPr dirty="0" sz="2100" spc="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changes</a:t>
            </a:r>
            <a:r>
              <a:rPr dirty="0" sz="2100" spc="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from</a:t>
            </a:r>
            <a:r>
              <a:rPr dirty="0" sz="2100" spc="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dative</a:t>
            </a:r>
            <a:r>
              <a:rPr dirty="0" sz="2100" spc="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case</a:t>
            </a:r>
            <a:r>
              <a:rPr dirty="0" sz="2100" spc="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to</a:t>
            </a:r>
            <a:r>
              <a:rPr dirty="0" sz="2100" spc="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5">
                <a:solidFill>
                  <a:srgbClr val="F7FAFB"/>
                </a:solidFill>
                <a:latin typeface="Tahoma"/>
                <a:cs typeface="Tahoma"/>
              </a:rPr>
              <a:t>prepositional</a:t>
            </a:r>
            <a:r>
              <a:rPr dirty="0" sz="2100" spc="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phrases.</a:t>
            </a:r>
            <a:r>
              <a:rPr dirty="0" sz="2100" spc="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0">
                <a:solidFill>
                  <a:srgbClr val="F7FAFB"/>
                </a:solidFill>
                <a:latin typeface="Tahoma"/>
                <a:cs typeface="Tahoma"/>
              </a:rPr>
              <a:t>The</a:t>
            </a:r>
            <a:r>
              <a:rPr dirty="0" sz="2100" spc="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frequency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data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reveals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that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the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newer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5">
                <a:solidFill>
                  <a:srgbClr val="F7FAFB"/>
                </a:solidFill>
                <a:latin typeface="Tahoma"/>
                <a:cs typeface="Tahoma"/>
              </a:rPr>
              <a:t>prepositional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5">
                <a:solidFill>
                  <a:srgbClr val="F7FAFB"/>
                </a:solidFill>
                <a:latin typeface="Tahoma"/>
                <a:cs typeface="Tahoma"/>
              </a:rPr>
              <a:t>construction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0">
                <a:solidFill>
                  <a:srgbClr val="F7FAFB"/>
                </a:solidFill>
                <a:latin typeface="Tahoma"/>
                <a:cs typeface="Tahoma"/>
              </a:rPr>
              <a:t>becomes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more </a:t>
            </a:r>
            <a:r>
              <a:rPr dirty="0" sz="2100" spc="60">
                <a:solidFill>
                  <a:srgbClr val="F7FAFB"/>
                </a:solidFill>
                <a:latin typeface="Tahoma"/>
                <a:cs typeface="Tahoma"/>
              </a:rPr>
              <a:t>common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over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time,</a:t>
            </a:r>
            <a:r>
              <a:rPr dirty="0" sz="2100" spc="-5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5">
                <a:solidFill>
                  <a:srgbClr val="F7FAFB"/>
                </a:solidFill>
                <a:latin typeface="Tahoma"/>
                <a:cs typeface="Tahoma"/>
              </a:rPr>
              <a:t>reflecting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the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broader</a:t>
            </a:r>
            <a:r>
              <a:rPr dirty="0" sz="2100" spc="-5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shift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from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synthetic</a:t>
            </a:r>
            <a:r>
              <a:rPr dirty="0" sz="2100" spc="-5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to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analytic </a:t>
            </a:r>
            <a:r>
              <a:rPr dirty="0" sz="2100" spc="95">
                <a:solidFill>
                  <a:srgbClr val="F7FAFB"/>
                </a:solidFill>
                <a:latin typeface="Tahoma"/>
                <a:cs typeface="Tahoma"/>
              </a:rPr>
              <a:t>structures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in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Greek.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1086485"/>
          </a:xfrm>
          <a:custGeom>
            <a:avLst/>
            <a:gdLst/>
            <a:ahLst/>
            <a:cxnLst/>
            <a:rect l="l" t="t" r="r" b="b"/>
            <a:pathLst>
              <a:path w="50165" h="1086485">
                <a:moveTo>
                  <a:pt x="50125" y="1086053"/>
                </a:moveTo>
                <a:lnTo>
                  <a:pt x="0" y="1086053"/>
                </a:lnTo>
                <a:lnTo>
                  <a:pt x="0" y="0"/>
                </a:lnTo>
                <a:lnTo>
                  <a:pt x="50125" y="0"/>
                </a:lnTo>
                <a:lnTo>
                  <a:pt x="50125" y="1086053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795527" y="1426463"/>
          <a:ext cx="8223884" cy="9563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71930"/>
                <a:gridCol w="3081020"/>
                <a:gridCol w="1759585"/>
                <a:gridCol w="1832610"/>
              </a:tblGrid>
              <a:tr h="496570">
                <a:tc gridSpan="2">
                  <a:txBody>
                    <a:bodyPr/>
                    <a:lstStyle/>
                    <a:p>
                      <a:pPr marL="6350">
                        <a:lnSpc>
                          <a:spcPts val="3365"/>
                        </a:lnSpc>
                      </a:pPr>
                      <a:r>
                        <a:rPr dirty="0" sz="3150" spc="-100" b="1">
                          <a:solidFill>
                            <a:srgbClr val="60A5FA"/>
                          </a:solidFill>
                          <a:latin typeface="Tahoma"/>
                          <a:cs typeface="Tahoma"/>
                        </a:rPr>
                        <a:t>Example</a:t>
                      </a:r>
                      <a:r>
                        <a:rPr dirty="0" sz="3150" spc="-120" b="1">
                          <a:solidFill>
                            <a:srgbClr val="60A5FA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3150" spc="-95" b="1">
                          <a:solidFill>
                            <a:srgbClr val="60A5FA"/>
                          </a:solidFill>
                          <a:latin typeface="Tahoma"/>
                          <a:cs typeface="Tahoma"/>
                        </a:rPr>
                        <a:t>Lexicon</a:t>
                      </a:r>
                      <a:r>
                        <a:rPr dirty="0" sz="3150" spc="-114" b="1">
                          <a:solidFill>
                            <a:srgbClr val="60A5FA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3150" spc="-10" b="1">
                          <a:solidFill>
                            <a:srgbClr val="60A5FA"/>
                          </a:solidFill>
                          <a:latin typeface="Tahoma"/>
                          <a:cs typeface="Tahoma"/>
                        </a:rPr>
                        <a:t>Entry:</a:t>
                      </a:r>
                      <a:endParaRPr sz="315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R w="57150">
                      <a:solidFill>
                        <a:srgbClr val="FFFFFF"/>
                      </a:solidFill>
                      <a:prstDash val="solid"/>
                    </a:lnR>
                    <a:lnB w="85343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39999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4925">
                        <a:lnSpc>
                          <a:spcPts val="3365"/>
                        </a:lnSpc>
                      </a:pPr>
                      <a:r>
                        <a:rPr dirty="0" sz="3150" spc="55" b="1">
                          <a:solidFill>
                            <a:srgbClr val="60A5FA"/>
                          </a:solidFill>
                          <a:latin typeface="Trebuchet MS"/>
                          <a:cs typeface="Trebuchet MS"/>
                        </a:rPr>
                        <a:t>διδάσκω</a:t>
                      </a:r>
                      <a:endParaRPr sz="3150">
                        <a:latin typeface="Trebuchet MS"/>
                        <a:cs typeface="Trebuchet MS"/>
                      </a:endParaRPr>
                    </a:p>
                  </a:txBody>
                  <a:tcPr marL="0" marR="0" marB="0" marT="0">
                    <a:lnL w="57150">
                      <a:solidFill>
                        <a:srgbClr val="FFFFFF"/>
                      </a:solidFill>
                      <a:prstDash val="solid"/>
                    </a:lnL>
                    <a:lnR w="57150">
                      <a:solidFill>
                        <a:srgbClr val="FFFFFF"/>
                      </a:solidFill>
                      <a:prstDash val="solid"/>
                    </a:lnR>
                    <a:lnB w="85343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3365"/>
                        </a:lnSpc>
                      </a:pPr>
                      <a:r>
                        <a:rPr dirty="0" sz="3150" spc="-100" b="1">
                          <a:solidFill>
                            <a:srgbClr val="60A5FA"/>
                          </a:solidFill>
                          <a:latin typeface="Tahoma"/>
                          <a:cs typeface="Tahoma"/>
                        </a:rPr>
                        <a:t>(didask</a:t>
                      </a:r>
                      <a:r>
                        <a:rPr dirty="0" sz="3150" spc="-100" b="1">
                          <a:solidFill>
                            <a:srgbClr val="60A5FA"/>
                          </a:solidFill>
                          <a:latin typeface="Trebuchet MS"/>
                          <a:cs typeface="Trebuchet MS"/>
                        </a:rPr>
                        <a:t>ō</a:t>
                      </a:r>
                      <a:r>
                        <a:rPr dirty="0" sz="3150" spc="-100" b="1">
                          <a:solidFill>
                            <a:srgbClr val="60A5FA"/>
                          </a:solidFill>
                          <a:latin typeface="Tahoma"/>
                          <a:cs typeface="Tahoma"/>
                        </a:rPr>
                        <a:t>)</a:t>
                      </a:r>
                      <a:endParaRPr sz="315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57150">
                      <a:solidFill>
                        <a:srgbClr val="FFFFFF"/>
                      </a:solidFill>
                      <a:prstDash val="solid"/>
                    </a:lnL>
                    <a:lnB w="85343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39999"/>
                      </a:srgbClr>
                    </a:solidFill>
                  </a:tcPr>
                </a:tc>
              </a:tr>
              <a:tr h="459740">
                <a:tc>
                  <a:txBody>
                    <a:bodyPr/>
                    <a:lstStyle/>
                    <a:p>
                      <a:pPr marL="6350">
                        <a:lnSpc>
                          <a:spcPts val="3525"/>
                        </a:lnSpc>
                      </a:pPr>
                      <a:r>
                        <a:rPr dirty="0" sz="3150" spc="-55" b="1">
                          <a:solidFill>
                            <a:srgbClr val="60A5FA"/>
                          </a:solidFill>
                          <a:latin typeface="Tahoma"/>
                          <a:cs typeface="Tahoma"/>
                        </a:rPr>
                        <a:t>"teach"</a:t>
                      </a:r>
                      <a:endParaRPr sz="315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T w="85343">
                      <a:solidFill>
                        <a:srgbClr val="FFFFFF"/>
                      </a:solidFill>
                      <a:prstDash val="solid"/>
                    </a:lnT>
                    <a:solidFill>
                      <a:srgbClr val="000000">
                        <a:alpha val="39999"/>
                      </a:srgbClr>
                    </a:solidFill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85343">
                      <a:solidFill>
                        <a:srgbClr val="FFFFFF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72097" y="2563344"/>
            <a:ext cx="3877310" cy="34671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>
                <a:solidFill>
                  <a:srgbClr val="FBD34D"/>
                </a:solidFill>
              </a:rPr>
              <a:t>Koine</a:t>
            </a:r>
            <a:r>
              <a:rPr dirty="0" sz="2100" spc="-150">
                <a:solidFill>
                  <a:srgbClr val="FBD34D"/>
                </a:solidFill>
              </a:rPr>
              <a:t> </a:t>
            </a:r>
            <a:r>
              <a:rPr dirty="0" sz="2100">
                <a:solidFill>
                  <a:srgbClr val="FBD34D"/>
                </a:solidFill>
              </a:rPr>
              <a:t>Greek</a:t>
            </a:r>
            <a:r>
              <a:rPr dirty="0" sz="2100" spc="-105">
                <a:solidFill>
                  <a:srgbClr val="FBD34D"/>
                </a:solidFill>
              </a:rPr>
              <a:t> </a:t>
            </a:r>
            <a:r>
              <a:rPr dirty="0" sz="2100" spc="-95">
                <a:solidFill>
                  <a:srgbClr val="FBD34D"/>
                </a:solidFill>
              </a:rPr>
              <a:t>(1st</a:t>
            </a:r>
            <a:r>
              <a:rPr dirty="0" sz="2100" spc="-55">
                <a:solidFill>
                  <a:srgbClr val="FBD34D"/>
                </a:solidFill>
              </a:rPr>
              <a:t> </a:t>
            </a:r>
            <a:r>
              <a:rPr dirty="0" sz="2100" spc="-10">
                <a:solidFill>
                  <a:srgbClr val="FBD34D"/>
                </a:solidFill>
              </a:rPr>
              <a:t>century</a:t>
            </a:r>
            <a:r>
              <a:rPr dirty="0" sz="2100" spc="-105">
                <a:solidFill>
                  <a:srgbClr val="FBD34D"/>
                </a:solidFill>
              </a:rPr>
              <a:t> </a:t>
            </a:r>
            <a:r>
              <a:rPr dirty="0" sz="2100" spc="-45">
                <a:solidFill>
                  <a:srgbClr val="FBD34D"/>
                </a:solidFill>
              </a:rPr>
              <a:t>CE):</a:t>
            </a:r>
            <a:endParaRPr sz="2100"/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3428178"/>
            <a:ext cx="91896" cy="91896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4472460"/>
            <a:ext cx="91896" cy="9189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5909393"/>
            <a:ext cx="91896" cy="9189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6477482"/>
            <a:ext cx="91896" cy="91896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572097" y="3128067"/>
            <a:ext cx="8989060" cy="3550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46710" marR="586105">
              <a:lnSpc>
                <a:spcPct val="145300"/>
              </a:lnSpc>
              <a:spcBef>
                <a:spcPts val="95"/>
              </a:spcBef>
            </a:pPr>
            <a:r>
              <a:rPr dirty="0" sz="2100" spc="60">
                <a:solidFill>
                  <a:srgbClr val="F7FAFB"/>
                </a:solidFill>
                <a:latin typeface="Tahoma"/>
                <a:cs typeface="Tahoma"/>
              </a:rPr>
              <a:t>Frame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1: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45">
                <a:solidFill>
                  <a:srgbClr val="F7FAFB"/>
                </a:solidFill>
                <a:latin typeface="Tahoma"/>
                <a:cs typeface="Tahoma"/>
              </a:rPr>
              <a:t>NP-</a:t>
            </a:r>
            <a:r>
              <a:rPr dirty="0" sz="2100" spc="210">
                <a:solidFill>
                  <a:srgbClr val="F7FAFB"/>
                </a:solidFill>
                <a:latin typeface="Tahoma"/>
                <a:cs typeface="Tahoma"/>
              </a:rPr>
              <a:t>ACC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(what)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305">
                <a:solidFill>
                  <a:srgbClr val="F7FAFB"/>
                </a:solidFill>
                <a:latin typeface="Tahoma"/>
                <a:cs typeface="Tahoma"/>
              </a:rPr>
              <a:t>+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45">
                <a:solidFill>
                  <a:srgbClr val="F7FAFB"/>
                </a:solidFill>
                <a:latin typeface="Tahoma"/>
                <a:cs typeface="Tahoma"/>
              </a:rPr>
              <a:t>NP-</a:t>
            </a:r>
            <a:r>
              <a:rPr dirty="0" sz="2100" spc="210">
                <a:solidFill>
                  <a:srgbClr val="F7FAFB"/>
                </a:solidFill>
                <a:latin typeface="Tahoma"/>
                <a:cs typeface="Tahoma"/>
              </a:rPr>
              <a:t>ACC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(whom)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200">
                <a:solidFill>
                  <a:srgbClr val="F7FAFB"/>
                </a:solidFill>
                <a:latin typeface="Tahoma"/>
                <a:cs typeface="Tahoma"/>
              </a:rPr>
              <a:t>—</a:t>
            </a:r>
            <a:r>
              <a:rPr dirty="0" sz="2100" spc="-5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50" i="1">
                <a:solidFill>
                  <a:srgbClr val="A5F2FB"/>
                </a:solidFill>
                <a:latin typeface="Trebuchet MS"/>
                <a:cs typeface="Trebuchet MS"/>
              </a:rPr>
              <a:t>double</a:t>
            </a:r>
            <a:r>
              <a:rPr dirty="0" sz="2150" spc="-45" i="1">
                <a:solidFill>
                  <a:srgbClr val="A5F2FB"/>
                </a:solidFill>
                <a:latin typeface="Trebuchet MS"/>
                <a:cs typeface="Trebuchet MS"/>
              </a:rPr>
              <a:t> </a:t>
            </a:r>
            <a:r>
              <a:rPr dirty="0" sz="2150" spc="-10" i="1">
                <a:solidFill>
                  <a:srgbClr val="A5F2FB"/>
                </a:solidFill>
                <a:latin typeface="Trebuchet MS"/>
                <a:cs typeface="Trebuchet MS"/>
              </a:rPr>
              <a:t>accusative construction</a:t>
            </a:r>
            <a:endParaRPr sz="2150">
              <a:latin typeface="Trebuchet MS"/>
              <a:cs typeface="Trebuchet MS"/>
            </a:endParaRPr>
          </a:p>
          <a:p>
            <a:pPr marL="346710">
              <a:lnSpc>
                <a:spcPct val="100000"/>
              </a:lnSpc>
              <a:spcBef>
                <a:spcPts val="1895"/>
              </a:spcBef>
            </a:pPr>
            <a:r>
              <a:rPr dirty="0" sz="2100" spc="60">
                <a:solidFill>
                  <a:srgbClr val="F7FAFB"/>
                </a:solidFill>
                <a:latin typeface="Tahoma"/>
                <a:cs typeface="Tahoma"/>
              </a:rPr>
              <a:t>Frame</a:t>
            </a:r>
            <a:r>
              <a:rPr dirty="0" sz="2100" spc="-4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2:</a:t>
            </a:r>
            <a:r>
              <a:rPr dirty="0" sz="2100" spc="-4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45">
                <a:solidFill>
                  <a:srgbClr val="F7FAFB"/>
                </a:solidFill>
                <a:latin typeface="Tahoma"/>
                <a:cs typeface="Tahoma"/>
              </a:rPr>
              <a:t>NP-</a:t>
            </a:r>
            <a:r>
              <a:rPr dirty="0" sz="2100" spc="210">
                <a:solidFill>
                  <a:srgbClr val="F7FAFB"/>
                </a:solidFill>
                <a:latin typeface="Tahoma"/>
                <a:cs typeface="Tahoma"/>
              </a:rPr>
              <a:t>ACC</a:t>
            </a:r>
            <a:r>
              <a:rPr dirty="0" sz="2100" spc="-5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(whom)</a:t>
            </a:r>
            <a:r>
              <a:rPr dirty="0" sz="2100" spc="-4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305">
                <a:solidFill>
                  <a:srgbClr val="F7FAFB"/>
                </a:solidFill>
                <a:latin typeface="Tahoma"/>
                <a:cs typeface="Tahoma"/>
              </a:rPr>
              <a:t>+</a:t>
            </a:r>
            <a:r>
              <a:rPr dirty="0" sz="2100" spc="-4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5">
                <a:solidFill>
                  <a:srgbClr val="F7FAFB"/>
                </a:solidFill>
                <a:latin typeface="Tahoma"/>
                <a:cs typeface="Tahoma"/>
              </a:rPr>
              <a:t>infinitive</a:t>
            </a:r>
            <a:r>
              <a:rPr dirty="0" sz="2100" spc="-4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(what)</a:t>
            </a:r>
            <a:r>
              <a:rPr dirty="0" sz="2100" spc="-4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200">
                <a:solidFill>
                  <a:srgbClr val="F7FAFB"/>
                </a:solidFill>
                <a:latin typeface="Tahoma"/>
                <a:cs typeface="Tahoma"/>
              </a:rPr>
              <a:t>—</a:t>
            </a:r>
            <a:r>
              <a:rPr dirty="0" sz="2100" spc="-3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50" i="1">
                <a:solidFill>
                  <a:srgbClr val="A5F2FB"/>
                </a:solidFill>
                <a:latin typeface="Trebuchet MS"/>
                <a:cs typeface="Trebuchet MS"/>
              </a:rPr>
              <a:t>accusative</a:t>
            </a:r>
            <a:r>
              <a:rPr dirty="0" sz="2150" spc="-35" i="1">
                <a:solidFill>
                  <a:srgbClr val="A5F2FB"/>
                </a:solidFill>
                <a:latin typeface="Trebuchet MS"/>
                <a:cs typeface="Trebuchet MS"/>
              </a:rPr>
              <a:t> </a:t>
            </a:r>
            <a:r>
              <a:rPr dirty="0" sz="2150" spc="90" i="1">
                <a:solidFill>
                  <a:srgbClr val="A5F2FB"/>
                </a:solidFill>
                <a:latin typeface="Trebuchet MS"/>
                <a:cs typeface="Trebuchet MS"/>
              </a:rPr>
              <a:t>+</a:t>
            </a:r>
            <a:r>
              <a:rPr dirty="0" sz="2150" spc="-40" i="1">
                <a:solidFill>
                  <a:srgbClr val="A5F2FB"/>
                </a:solidFill>
                <a:latin typeface="Trebuchet MS"/>
                <a:cs typeface="Trebuchet MS"/>
              </a:rPr>
              <a:t> </a:t>
            </a:r>
            <a:r>
              <a:rPr dirty="0" sz="2150" spc="-10" i="1">
                <a:solidFill>
                  <a:srgbClr val="A5F2FB"/>
                </a:solidFill>
                <a:latin typeface="Trebuchet MS"/>
                <a:cs typeface="Trebuchet MS"/>
              </a:rPr>
              <a:t>infinitive</a:t>
            </a:r>
            <a:endParaRPr sz="21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85"/>
              </a:spcBef>
            </a:pPr>
            <a:endParaRPr sz="21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Byzantine</a:t>
            </a:r>
            <a:r>
              <a:rPr dirty="0" sz="2100" spc="-13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Greek</a:t>
            </a:r>
            <a:r>
              <a:rPr dirty="0" sz="2100" spc="-9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80" b="1">
                <a:solidFill>
                  <a:srgbClr val="FBD34D"/>
                </a:solidFill>
                <a:latin typeface="Tahoma"/>
                <a:cs typeface="Tahoma"/>
              </a:rPr>
              <a:t>(10th</a:t>
            </a:r>
            <a:r>
              <a:rPr dirty="0" sz="2100" spc="-7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century):</a:t>
            </a:r>
            <a:endParaRPr sz="2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55"/>
              </a:spcBef>
            </a:pPr>
            <a:endParaRPr sz="2100">
              <a:latin typeface="Tahoma"/>
              <a:cs typeface="Tahoma"/>
            </a:endParaRPr>
          </a:p>
          <a:p>
            <a:pPr marL="346710">
              <a:lnSpc>
                <a:spcPct val="100000"/>
              </a:lnSpc>
            </a:pPr>
            <a:r>
              <a:rPr dirty="0" sz="2100" spc="60">
                <a:solidFill>
                  <a:srgbClr val="F7FAFB"/>
                </a:solidFill>
                <a:latin typeface="Tahoma"/>
                <a:cs typeface="Tahoma"/>
              </a:rPr>
              <a:t>Frame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1:</a:t>
            </a:r>
            <a:r>
              <a:rPr dirty="0" sz="2100" spc="-5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45">
                <a:solidFill>
                  <a:srgbClr val="F7FAFB"/>
                </a:solidFill>
                <a:latin typeface="Tahoma"/>
                <a:cs typeface="Tahoma"/>
              </a:rPr>
              <a:t>NP-</a:t>
            </a:r>
            <a:r>
              <a:rPr dirty="0" sz="2100" spc="210">
                <a:solidFill>
                  <a:srgbClr val="F7FAFB"/>
                </a:solidFill>
                <a:latin typeface="Tahoma"/>
                <a:cs typeface="Tahoma"/>
              </a:rPr>
              <a:t>ACC</a:t>
            </a:r>
            <a:r>
              <a:rPr dirty="0" sz="2100" spc="-5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305">
                <a:solidFill>
                  <a:srgbClr val="F7FAFB"/>
                </a:solidFill>
                <a:latin typeface="Tahoma"/>
                <a:cs typeface="Tahoma"/>
              </a:rPr>
              <a:t>+</a:t>
            </a:r>
            <a:r>
              <a:rPr dirty="0" sz="2100" spc="-5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5">
                <a:solidFill>
                  <a:srgbClr val="F7FAFB"/>
                </a:solidFill>
                <a:latin typeface="Tahoma"/>
                <a:cs typeface="Tahoma"/>
              </a:rPr>
              <a:t>prepositional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phrase</a:t>
            </a:r>
            <a:r>
              <a:rPr dirty="0" sz="2100" spc="-5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200">
                <a:solidFill>
                  <a:srgbClr val="F7FAFB"/>
                </a:solidFill>
                <a:latin typeface="Tahoma"/>
                <a:cs typeface="Tahoma"/>
              </a:rPr>
              <a:t>—</a:t>
            </a:r>
            <a:r>
              <a:rPr dirty="0" sz="2100" spc="-5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50" i="1">
                <a:solidFill>
                  <a:srgbClr val="A5F2FB"/>
                </a:solidFill>
                <a:latin typeface="Trebuchet MS"/>
                <a:cs typeface="Trebuchet MS"/>
              </a:rPr>
              <a:t>one</a:t>
            </a:r>
            <a:r>
              <a:rPr dirty="0" sz="2150" spc="-40" i="1">
                <a:solidFill>
                  <a:srgbClr val="A5F2FB"/>
                </a:solidFill>
                <a:latin typeface="Trebuchet MS"/>
                <a:cs typeface="Trebuchet MS"/>
              </a:rPr>
              <a:t> </a:t>
            </a:r>
            <a:r>
              <a:rPr dirty="0" sz="2150" i="1">
                <a:solidFill>
                  <a:srgbClr val="A5F2FB"/>
                </a:solidFill>
                <a:latin typeface="Trebuchet MS"/>
                <a:cs typeface="Trebuchet MS"/>
              </a:rPr>
              <a:t>accusative</a:t>
            </a:r>
            <a:r>
              <a:rPr dirty="0" sz="2150" spc="-40" i="1">
                <a:solidFill>
                  <a:srgbClr val="A5F2FB"/>
                </a:solidFill>
                <a:latin typeface="Trebuchet MS"/>
                <a:cs typeface="Trebuchet MS"/>
              </a:rPr>
              <a:t> </a:t>
            </a:r>
            <a:r>
              <a:rPr dirty="0" sz="2150" spc="90" i="1">
                <a:solidFill>
                  <a:srgbClr val="A5F2FB"/>
                </a:solidFill>
                <a:latin typeface="Trebuchet MS"/>
                <a:cs typeface="Trebuchet MS"/>
              </a:rPr>
              <a:t>+</a:t>
            </a:r>
            <a:r>
              <a:rPr dirty="0" sz="2150" spc="-45" i="1">
                <a:solidFill>
                  <a:srgbClr val="A5F2FB"/>
                </a:solidFill>
                <a:latin typeface="Trebuchet MS"/>
                <a:cs typeface="Trebuchet MS"/>
              </a:rPr>
              <a:t> </a:t>
            </a:r>
            <a:r>
              <a:rPr dirty="0" sz="2150" spc="130" i="1">
                <a:solidFill>
                  <a:srgbClr val="A5F2FB"/>
                </a:solidFill>
                <a:latin typeface="Trebuchet MS"/>
                <a:cs typeface="Trebuchet MS"/>
              </a:rPr>
              <a:t>PP</a:t>
            </a:r>
            <a:endParaRPr sz="2150">
              <a:latin typeface="Trebuchet MS"/>
              <a:cs typeface="Trebuchet MS"/>
            </a:endParaRPr>
          </a:p>
          <a:p>
            <a:pPr marL="346710">
              <a:lnSpc>
                <a:spcPct val="100000"/>
              </a:lnSpc>
              <a:spcBef>
                <a:spcPts val="1895"/>
              </a:spcBef>
            </a:pPr>
            <a:r>
              <a:rPr dirty="0" sz="2100" spc="60">
                <a:solidFill>
                  <a:srgbClr val="F7FAFB"/>
                </a:solidFill>
                <a:latin typeface="Tahoma"/>
                <a:cs typeface="Tahoma"/>
              </a:rPr>
              <a:t>Frame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2: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45">
                <a:solidFill>
                  <a:srgbClr val="F7FAFB"/>
                </a:solidFill>
                <a:latin typeface="Tahoma"/>
                <a:cs typeface="Tahoma"/>
              </a:rPr>
              <a:t>NP-</a:t>
            </a:r>
            <a:r>
              <a:rPr dirty="0" sz="2100" spc="210">
                <a:solidFill>
                  <a:srgbClr val="F7FAFB"/>
                </a:solidFill>
                <a:latin typeface="Tahoma"/>
                <a:cs typeface="Tahoma"/>
              </a:rPr>
              <a:t>ACC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305">
                <a:solidFill>
                  <a:srgbClr val="F7FAFB"/>
                </a:solidFill>
                <a:latin typeface="Tahoma"/>
                <a:cs typeface="Tahoma"/>
              </a:rPr>
              <a:t>+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subordinate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0">
                <a:solidFill>
                  <a:srgbClr val="F7FAFB"/>
                </a:solidFill>
                <a:latin typeface="Tahoma"/>
                <a:cs typeface="Tahoma"/>
              </a:rPr>
              <a:t>clause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200">
                <a:solidFill>
                  <a:srgbClr val="F7FAFB"/>
                </a:solidFill>
                <a:latin typeface="Tahoma"/>
                <a:cs typeface="Tahoma"/>
              </a:rPr>
              <a:t>—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50" i="1">
                <a:solidFill>
                  <a:srgbClr val="A5F2FB"/>
                </a:solidFill>
                <a:latin typeface="Trebuchet MS"/>
                <a:cs typeface="Trebuchet MS"/>
              </a:rPr>
              <a:t>accusative</a:t>
            </a:r>
            <a:r>
              <a:rPr dirty="0" sz="2150" spc="-60" i="1">
                <a:solidFill>
                  <a:srgbClr val="A5F2FB"/>
                </a:solidFill>
                <a:latin typeface="Trebuchet MS"/>
                <a:cs typeface="Trebuchet MS"/>
              </a:rPr>
              <a:t> </a:t>
            </a:r>
            <a:r>
              <a:rPr dirty="0" sz="2150" spc="90" i="1">
                <a:solidFill>
                  <a:srgbClr val="A5F2FB"/>
                </a:solidFill>
                <a:latin typeface="Trebuchet MS"/>
                <a:cs typeface="Trebuchet MS"/>
              </a:rPr>
              <a:t>+</a:t>
            </a:r>
            <a:r>
              <a:rPr dirty="0" sz="2150" spc="-55" i="1">
                <a:solidFill>
                  <a:srgbClr val="A5F2FB"/>
                </a:solidFill>
                <a:latin typeface="Trebuchet MS"/>
                <a:cs typeface="Trebuchet MS"/>
              </a:rPr>
              <a:t> </a:t>
            </a:r>
            <a:r>
              <a:rPr dirty="0" sz="2150" spc="-25" i="1">
                <a:solidFill>
                  <a:srgbClr val="A5F2FB"/>
                </a:solidFill>
                <a:latin typeface="Trebuchet MS"/>
                <a:cs typeface="Trebuchet MS"/>
              </a:rPr>
              <a:t>finite</a:t>
            </a:r>
            <a:r>
              <a:rPr dirty="0" sz="2150" spc="-60" i="1">
                <a:solidFill>
                  <a:srgbClr val="A5F2FB"/>
                </a:solidFill>
                <a:latin typeface="Trebuchet MS"/>
                <a:cs typeface="Trebuchet MS"/>
              </a:rPr>
              <a:t> </a:t>
            </a:r>
            <a:r>
              <a:rPr dirty="0" sz="2150" spc="-10" i="1">
                <a:solidFill>
                  <a:srgbClr val="A5F2FB"/>
                </a:solidFill>
                <a:latin typeface="Trebuchet MS"/>
                <a:cs typeface="Trebuchet MS"/>
              </a:rPr>
              <a:t>clause</a:t>
            </a:r>
            <a:endParaRPr sz="21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1086485"/>
          </a:xfrm>
          <a:custGeom>
            <a:avLst/>
            <a:gdLst/>
            <a:ahLst/>
            <a:cxnLst/>
            <a:rect l="l" t="t" r="r" b="b"/>
            <a:pathLst>
              <a:path w="50165" h="1086485">
                <a:moveTo>
                  <a:pt x="50125" y="1086053"/>
                </a:moveTo>
                <a:lnTo>
                  <a:pt x="0" y="1086053"/>
                </a:lnTo>
                <a:lnTo>
                  <a:pt x="0" y="0"/>
                </a:lnTo>
                <a:lnTo>
                  <a:pt x="50125" y="0"/>
                </a:lnTo>
                <a:lnTo>
                  <a:pt x="50125" y="1086053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83336" y="1444752"/>
            <a:ext cx="8586470" cy="457200"/>
          </a:xfrm>
          <a:custGeom>
            <a:avLst/>
            <a:gdLst/>
            <a:ahLst/>
            <a:cxnLst/>
            <a:rect l="l" t="t" r="r" b="b"/>
            <a:pathLst>
              <a:path w="8586470" h="457200">
                <a:moveTo>
                  <a:pt x="8586215" y="457199"/>
                </a:moveTo>
                <a:lnTo>
                  <a:pt x="0" y="457199"/>
                </a:lnTo>
                <a:lnTo>
                  <a:pt x="0" y="0"/>
                </a:lnTo>
                <a:lnTo>
                  <a:pt x="8586215" y="0"/>
                </a:lnTo>
                <a:lnTo>
                  <a:pt x="8586215" y="45719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75"/>
              <a:t>Question:</a:t>
            </a:r>
            <a:r>
              <a:rPr dirty="0" spc="-130"/>
              <a:t> </a:t>
            </a:r>
            <a:r>
              <a:rPr dirty="0" spc="-95"/>
              <a:t>How</a:t>
            </a:r>
            <a:r>
              <a:rPr dirty="0" spc="-125"/>
              <a:t> </a:t>
            </a:r>
            <a:r>
              <a:rPr dirty="0" spc="-114"/>
              <a:t>do</a:t>
            </a:r>
            <a:r>
              <a:rPr dirty="0" spc="-125"/>
              <a:t> </a:t>
            </a:r>
            <a:r>
              <a:rPr dirty="0" spc="-60"/>
              <a:t>valency</a:t>
            </a:r>
            <a:r>
              <a:rPr dirty="0" spc="-125"/>
              <a:t> </a:t>
            </a:r>
            <a:r>
              <a:rPr dirty="0" spc="-80"/>
              <a:t>patterns</a:t>
            </a:r>
            <a:r>
              <a:rPr dirty="0" spc="-130"/>
              <a:t> </a:t>
            </a:r>
            <a:r>
              <a:rPr dirty="0" spc="-35"/>
              <a:t>compare</a:t>
            </a:r>
          </a:p>
        </p:txBody>
      </p:sp>
      <p:sp>
        <p:nvSpPr>
          <p:cNvPr id="5" name="object 5" descr=""/>
          <p:cNvSpPr/>
          <p:nvPr/>
        </p:nvSpPr>
        <p:spPr>
          <a:xfrm>
            <a:off x="786383" y="1987295"/>
            <a:ext cx="3481070" cy="463550"/>
          </a:xfrm>
          <a:custGeom>
            <a:avLst/>
            <a:gdLst/>
            <a:ahLst/>
            <a:cxnLst/>
            <a:rect l="l" t="t" r="r" b="b"/>
            <a:pathLst>
              <a:path w="3481070" h="463550">
                <a:moveTo>
                  <a:pt x="3480815" y="463295"/>
                </a:moveTo>
                <a:lnTo>
                  <a:pt x="0" y="463295"/>
                </a:lnTo>
                <a:lnTo>
                  <a:pt x="0" y="0"/>
                </a:lnTo>
                <a:lnTo>
                  <a:pt x="3480815" y="0"/>
                </a:lnTo>
                <a:lnTo>
                  <a:pt x="3480815" y="463295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789308" y="1903358"/>
            <a:ext cx="3434715" cy="5067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150" spc="-110" b="1">
                <a:solidFill>
                  <a:srgbClr val="60A5FA"/>
                </a:solidFill>
                <a:latin typeface="Tahoma"/>
                <a:cs typeface="Tahoma"/>
              </a:rPr>
              <a:t>across</a:t>
            </a:r>
            <a:r>
              <a:rPr dirty="0" sz="3150" spc="-105" b="1">
                <a:solidFill>
                  <a:srgbClr val="60A5FA"/>
                </a:solidFill>
                <a:latin typeface="Tahoma"/>
                <a:cs typeface="Tahoma"/>
              </a:rPr>
              <a:t> </a:t>
            </a:r>
            <a:r>
              <a:rPr dirty="0" sz="3150" spc="-145" b="1">
                <a:solidFill>
                  <a:srgbClr val="60A5FA"/>
                </a:solidFill>
                <a:latin typeface="Tahoma"/>
                <a:cs typeface="Tahoma"/>
              </a:rPr>
              <a:t>languages?</a:t>
            </a:r>
            <a:endParaRPr sz="3150">
              <a:latin typeface="Tahoma"/>
              <a:cs typeface="Tahoma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3428178"/>
            <a:ext cx="91896" cy="9189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3987913"/>
            <a:ext cx="91896" cy="91896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4547649"/>
            <a:ext cx="91896" cy="91896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572097" y="2563344"/>
            <a:ext cx="5044440" cy="21844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 spc="-25" b="1">
                <a:solidFill>
                  <a:srgbClr val="FBD34D"/>
                </a:solidFill>
                <a:latin typeface="Tahoma"/>
                <a:cs typeface="Tahoma"/>
              </a:rPr>
              <a:t>Cross-</a:t>
            </a:r>
            <a:r>
              <a:rPr dirty="0" sz="2100" spc="-20" b="1">
                <a:solidFill>
                  <a:srgbClr val="FBD34D"/>
                </a:solidFill>
                <a:latin typeface="Tahoma"/>
                <a:cs typeface="Tahoma"/>
              </a:rPr>
              <a:t>linguistic</a:t>
            </a:r>
            <a:r>
              <a:rPr dirty="0" sz="2100" spc="-2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perspective:</a:t>
            </a:r>
            <a:endParaRPr sz="2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sz="2100">
              <a:latin typeface="Tahoma"/>
              <a:cs typeface="Tahoma"/>
            </a:endParaRPr>
          </a:p>
          <a:p>
            <a:pPr marL="346710">
              <a:lnSpc>
                <a:spcPct val="100000"/>
              </a:lnSpc>
            </a:pPr>
            <a:r>
              <a:rPr dirty="0" sz="2100" spc="125">
                <a:solidFill>
                  <a:srgbClr val="F7FAFB"/>
                </a:solidFill>
                <a:latin typeface="Tahoma"/>
                <a:cs typeface="Tahoma"/>
              </a:rPr>
              <a:t>What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patterns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are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universal?</a:t>
            </a:r>
            <a:endParaRPr sz="2100">
              <a:latin typeface="Tahoma"/>
              <a:cs typeface="Tahoma"/>
            </a:endParaRPr>
          </a:p>
          <a:p>
            <a:pPr marL="346710" marR="5080">
              <a:lnSpc>
                <a:spcPct val="174900"/>
              </a:lnSpc>
            </a:pPr>
            <a:r>
              <a:rPr dirty="0" sz="2100" spc="125">
                <a:solidFill>
                  <a:srgbClr val="F7FAFB"/>
                </a:solidFill>
                <a:latin typeface="Tahoma"/>
                <a:cs typeface="Tahoma"/>
              </a:rPr>
              <a:t>What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patterns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are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0">
                <a:solidFill>
                  <a:srgbClr val="F7FAFB"/>
                </a:solidFill>
                <a:latin typeface="Tahoma"/>
                <a:cs typeface="Tahoma"/>
              </a:rPr>
              <a:t>language-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specific? </a:t>
            </a:r>
            <a:r>
              <a:rPr dirty="0" sz="2100" spc="130">
                <a:solidFill>
                  <a:srgbClr val="F7FAFB"/>
                </a:solidFill>
                <a:latin typeface="Tahoma"/>
                <a:cs typeface="Tahoma"/>
              </a:rPr>
              <a:t>How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do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diachronic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0">
                <a:solidFill>
                  <a:srgbClr val="F7FAFB"/>
                </a:solidFill>
                <a:latin typeface="Tahoma"/>
                <a:cs typeface="Tahoma"/>
              </a:rPr>
              <a:t>paths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differ?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543560"/>
          </a:xfrm>
          <a:custGeom>
            <a:avLst/>
            <a:gdLst/>
            <a:ahLst/>
            <a:cxnLst/>
            <a:rect l="l" t="t" r="r" b="b"/>
            <a:pathLst>
              <a:path w="50165" h="543560">
                <a:moveTo>
                  <a:pt x="50125" y="543026"/>
                </a:moveTo>
                <a:lnTo>
                  <a:pt x="0" y="543026"/>
                </a:lnTo>
                <a:lnTo>
                  <a:pt x="0" y="0"/>
                </a:lnTo>
                <a:lnTo>
                  <a:pt x="50125" y="0"/>
                </a:lnTo>
                <a:lnTo>
                  <a:pt x="50125" y="543026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584797" y="2166685"/>
            <a:ext cx="9524365" cy="1253490"/>
          </a:xfrm>
          <a:custGeom>
            <a:avLst/>
            <a:gdLst/>
            <a:ahLst/>
            <a:cxnLst/>
            <a:rect l="l" t="t" r="r" b="b"/>
            <a:pathLst>
              <a:path w="9524365" h="1253489">
                <a:moveTo>
                  <a:pt x="9523853" y="1253138"/>
                </a:moveTo>
                <a:lnTo>
                  <a:pt x="0" y="1253138"/>
                </a:lnTo>
                <a:lnTo>
                  <a:pt x="0" y="0"/>
                </a:lnTo>
                <a:lnTo>
                  <a:pt x="9523853" y="0"/>
                </a:lnTo>
                <a:lnTo>
                  <a:pt x="9523853" y="1253138"/>
                </a:lnTo>
                <a:close/>
              </a:path>
            </a:pathLst>
          </a:custGeom>
          <a:solidFill>
            <a:srgbClr val="4559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774191" y="1444752"/>
            <a:ext cx="9199245" cy="463550"/>
          </a:xfrm>
          <a:custGeom>
            <a:avLst/>
            <a:gdLst/>
            <a:ahLst/>
            <a:cxnLst/>
            <a:rect l="l" t="t" r="r" b="b"/>
            <a:pathLst>
              <a:path w="9199245" h="463550">
                <a:moveTo>
                  <a:pt x="9198863" y="463295"/>
                </a:moveTo>
                <a:lnTo>
                  <a:pt x="0" y="463295"/>
                </a:lnTo>
                <a:lnTo>
                  <a:pt x="0" y="0"/>
                </a:lnTo>
                <a:lnTo>
                  <a:pt x="9198863" y="0"/>
                </a:lnTo>
                <a:lnTo>
                  <a:pt x="9198863" y="463295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89308" y="1360331"/>
            <a:ext cx="9144635" cy="5067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5"/>
              <a:t>Valency</a:t>
            </a:r>
            <a:r>
              <a:rPr dirty="0" spc="-130"/>
              <a:t> </a:t>
            </a:r>
            <a:r>
              <a:rPr dirty="0" spc="-114"/>
              <a:t>Lexicon:</a:t>
            </a:r>
            <a:r>
              <a:rPr dirty="0" spc="-125"/>
              <a:t> </a:t>
            </a:r>
            <a:r>
              <a:rPr dirty="0" spc="-85"/>
              <a:t>Comparison</a:t>
            </a:r>
            <a:r>
              <a:rPr dirty="0" spc="-130"/>
              <a:t> </a:t>
            </a:r>
            <a:r>
              <a:rPr dirty="0" spc="-40"/>
              <a:t>Across</a:t>
            </a:r>
            <a:r>
              <a:rPr dirty="0" spc="-125"/>
              <a:t> </a:t>
            </a:r>
            <a:r>
              <a:rPr dirty="0" spc="-95"/>
              <a:t>Languages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572097" y="3435529"/>
            <a:ext cx="9283700" cy="301625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>
              <a:lnSpc>
                <a:spcPct val="133600"/>
              </a:lnSpc>
              <a:spcBef>
                <a:spcPts val="85"/>
              </a:spcBef>
            </a:pP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This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comparative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view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reveals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that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Greek,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Latin,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and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English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all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share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similar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valency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patterns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for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0">
                <a:solidFill>
                  <a:srgbClr val="F7FAFB"/>
                </a:solidFill>
                <a:latin typeface="Tahoma"/>
                <a:cs typeface="Tahoma"/>
              </a:rPr>
              <a:t>"teach"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but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5">
                <a:solidFill>
                  <a:srgbClr val="F7FAFB"/>
                </a:solidFill>
                <a:latin typeface="Tahoma"/>
                <a:cs typeface="Tahoma"/>
              </a:rPr>
              <a:t>differ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in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5">
                <a:solidFill>
                  <a:srgbClr val="F7FAFB"/>
                </a:solidFill>
                <a:latin typeface="Tahoma"/>
                <a:cs typeface="Tahoma"/>
              </a:rPr>
              <a:t>their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diachronic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trajectories.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14">
                <a:solidFill>
                  <a:srgbClr val="F7FAFB"/>
                </a:solidFill>
                <a:latin typeface="Tahoma"/>
                <a:cs typeface="Tahoma"/>
              </a:rPr>
              <a:t>Greek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loses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the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double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accusative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early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and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shifts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to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5">
                <a:solidFill>
                  <a:srgbClr val="F7FAFB"/>
                </a:solidFill>
                <a:latin typeface="Tahoma"/>
                <a:cs typeface="Tahoma"/>
              </a:rPr>
              <a:t>finite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clauses;</a:t>
            </a:r>
            <a:r>
              <a:rPr dirty="0" sz="2100" spc="-1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English</a:t>
            </a:r>
            <a:r>
              <a:rPr dirty="0" sz="2100" spc="-1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retains</a:t>
            </a:r>
            <a:r>
              <a:rPr dirty="0" sz="2100" spc="-1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the</a:t>
            </a:r>
            <a:r>
              <a:rPr dirty="0" sz="2100" spc="-1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double</a:t>
            </a:r>
            <a:r>
              <a:rPr dirty="0" sz="2100" spc="-1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object</a:t>
            </a:r>
            <a:r>
              <a:rPr dirty="0" sz="2100" spc="-1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but</a:t>
            </a:r>
            <a:r>
              <a:rPr dirty="0" sz="2100" spc="-1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changes</a:t>
            </a:r>
            <a:r>
              <a:rPr dirty="0" sz="2100" spc="-1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5">
                <a:solidFill>
                  <a:srgbClr val="F7FAFB"/>
                </a:solidFill>
                <a:latin typeface="Tahoma"/>
                <a:cs typeface="Tahoma"/>
              </a:rPr>
              <a:t>infinitive</a:t>
            </a:r>
            <a:r>
              <a:rPr dirty="0" sz="2100" spc="-1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35">
                <a:solidFill>
                  <a:srgbClr val="F7FAFB"/>
                </a:solidFill>
                <a:latin typeface="Tahoma"/>
                <a:cs typeface="Tahoma"/>
              </a:rPr>
              <a:t>marking;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Latin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maintains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5">
                <a:solidFill>
                  <a:srgbClr val="F7FAFB"/>
                </a:solidFill>
                <a:latin typeface="Tahoma"/>
                <a:cs typeface="Tahoma"/>
              </a:rPr>
              <a:t>structures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longer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0">
                <a:solidFill>
                  <a:srgbClr val="F7FAFB"/>
                </a:solidFill>
                <a:latin typeface="Tahoma"/>
                <a:cs typeface="Tahoma"/>
              </a:rPr>
              <a:t>due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to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its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status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as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a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5">
                <a:solidFill>
                  <a:srgbClr val="F7FAFB"/>
                </a:solidFill>
                <a:latin typeface="Tahoma"/>
                <a:cs typeface="Tahoma"/>
              </a:rPr>
              <a:t>liturgical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10">
                <a:solidFill>
                  <a:srgbClr val="F7FAFB"/>
                </a:solidFill>
                <a:latin typeface="Tahoma"/>
                <a:cs typeface="Tahoma"/>
              </a:rPr>
              <a:t>language. </a:t>
            </a:r>
            <a:r>
              <a:rPr dirty="0" sz="2100" spc="50">
                <a:solidFill>
                  <a:srgbClr val="F7FAFB"/>
                </a:solidFill>
                <a:latin typeface="Tahoma"/>
                <a:cs typeface="Tahoma"/>
              </a:rPr>
              <a:t>The</a:t>
            </a:r>
            <a:r>
              <a:rPr dirty="0" sz="2100" spc="-3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lexicon</a:t>
            </a:r>
            <a:r>
              <a:rPr dirty="0" sz="2100" spc="-3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structure</a:t>
            </a:r>
            <a:r>
              <a:rPr dirty="0" sz="2100" spc="-3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enables</a:t>
            </a:r>
            <a:r>
              <a:rPr dirty="0" sz="2100" spc="-3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such</a:t>
            </a:r>
            <a:r>
              <a:rPr dirty="0" sz="2100" spc="-3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cross-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linguistic</a:t>
            </a:r>
            <a:r>
              <a:rPr dirty="0" sz="2100" spc="-3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and</a:t>
            </a:r>
            <a:r>
              <a:rPr dirty="0" sz="2100" spc="-3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diachronic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comparisons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systematically.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543560"/>
          </a:xfrm>
          <a:custGeom>
            <a:avLst/>
            <a:gdLst/>
            <a:ahLst/>
            <a:cxnLst/>
            <a:rect l="l" t="t" r="r" b="b"/>
            <a:pathLst>
              <a:path w="50165" h="543560">
                <a:moveTo>
                  <a:pt x="50125" y="543026"/>
                </a:moveTo>
                <a:lnTo>
                  <a:pt x="0" y="543026"/>
                </a:lnTo>
                <a:lnTo>
                  <a:pt x="0" y="0"/>
                </a:lnTo>
                <a:lnTo>
                  <a:pt x="50125" y="0"/>
                </a:lnTo>
                <a:lnTo>
                  <a:pt x="50125" y="543026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80287" y="1444752"/>
            <a:ext cx="7790815" cy="463550"/>
          </a:xfrm>
          <a:custGeom>
            <a:avLst/>
            <a:gdLst/>
            <a:ahLst/>
            <a:cxnLst/>
            <a:rect l="l" t="t" r="r" b="b"/>
            <a:pathLst>
              <a:path w="7790815" h="463550">
                <a:moveTo>
                  <a:pt x="7790687" y="463295"/>
                </a:moveTo>
                <a:lnTo>
                  <a:pt x="0" y="463295"/>
                </a:lnTo>
                <a:lnTo>
                  <a:pt x="0" y="0"/>
                </a:lnTo>
                <a:lnTo>
                  <a:pt x="7790687" y="0"/>
                </a:lnTo>
                <a:lnTo>
                  <a:pt x="7790687" y="463295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85"/>
              <a:t>Cross-</a:t>
            </a:r>
            <a:r>
              <a:rPr dirty="0" spc="-80"/>
              <a:t>Linguistic</a:t>
            </a:r>
            <a:r>
              <a:rPr dirty="0" spc="-120"/>
              <a:t> </a:t>
            </a:r>
            <a:r>
              <a:rPr dirty="0" spc="-95"/>
              <a:t>Comparison:</a:t>
            </a:r>
            <a:r>
              <a:rPr dirty="0" spc="-114"/>
              <a:t> </a:t>
            </a:r>
            <a:r>
              <a:rPr dirty="0" spc="-165"/>
              <a:t>"To</a:t>
            </a:r>
            <a:r>
              <a:rPr dirty="0" spc="-114"/>
              <a:t> </a:t>
            </a:r>
            <a:r>
              <a:rPr dirty="0" spc="-10"/>
              <a:t>Know"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2885151"/>
            <a:ext cx="91896" cy="91896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4330438"/>
            <a:ext cx="91896" cy="9189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15042" y="4326261"/>
            <a:ext cx="100251" cy="100251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5775724"/>
            <a:ext cx="91896" cy="91896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15042" y="5771547"/>
            <a:ext cx="100251" cy="100251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572097" y="2020317"/>
            <a:ext cx="7038340" cy="46755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 spc="-20" b="1">
                <a:solidFill>
                  <a:srgbClr val="FBD34D"/>
                </a:solidFill>
                <a:latin typeface="Tahoma"/>
                <a:cs typeface="Tahoma"/>
              </a:rPr>
              <a:t>Greek:</a:t>
            </a:r>
            <a:r>
              <a:rPr dirty="0" sz="2100" spc="-6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F7FAFB"/>
                </a:solidFill>
                <a:latin typeface="Trebuchet MS"/>
                <a:cs typeface="Trebuchet MS"/>
              </a:rPr>
              <a:t>γινώσκω</a:t>
            </a:r>
            <a:r>
              <a:rPr dirty="0" sz="2100" spc="-85">
                <a:solidFill>
                  <a:srgbClr val="F7FAFB"/>
                </a:solidFill>
                <a:latin typeface="Trebuchet MS"/>
                <a:cs typeface="Trebuchet MS"/>
              </a:rPr>
              <a:t> </a:t>
            </a:r>
            <a:r>
              <a:rPr dirty="0" sz="2100" spc="-10">
                <a:solidFill>
                  <a:srgbClr val="F7FAFB"/>
                </a:solidFill>
                <a:latin typeface="Tahoma"/>
                <a:cs typeface="Tahoma"/>
              </a:rPr>
              <a:t>(gin</a:t>
            </a:r>
            <a:r>
              <a:rPr dirty="0" sz="2100" spc="-10">
                <a:solidFill>
                  <a:srgbClr val="F7FAFB"/>
                </a:solidFill>
                <a:latin typeface="Trebuchet MS"/>
                <a:cs typeface="Trebuchet MS"/>
              </a:rPr>
              <a:t>ō</a:t>
            </a:r>
            <a:r>
              <a:rPr dirty="0" sz="2100" spc="-10">
                <a:solidFill>
                  <a:srgbClr val="F7FAFB"/>
                </a:solidFill>
                <a:latin typeface="Tahoma"/>
                <a:cs typeface="Tahoma"/>
              </a:rPr>
              <a:t>sk</a:t>
            </a:r>
            <a:r>
              <a:rPr dirty="0" sz="2100" spc="-10">
                <a:solidFill>
                  <a:srgbClr val="F7FAFB"/>
                </a:solidFill>
                <a:latin typeface="Trebuchet MS"/>
                <a:cs typeface="Trebuchet MS"/>
              </a:rPr>
              <a:t>ō</a:t>
            </a:r>
            <a:r>
              <a:rPr dirty="0" sz="2100" spc="-10">
                <a:solidFill>
                  <a:srgbClr val="F7FAFB"/>
                </a:solidFill>
                <a:latin typeface="Tahoma"/>
                <a:cs typeface="Tahoma"/>
              </a:rPr>
              <a:t>)</a:t>
            </a:r>
            <a:endParaRPr sz="2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sz="2100">
              <a:latin typeface="Tahoma"/>
              <a:cs typeface="Tahoma"/>
            </a:endParaRPr>
          </a:p>
          <a:p>
            <a:pPr marL="346710">
              <a:lnSpc>
                <a:spcPct val="100000"/>
              </a:lnSpc>
            </a:pP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Koine:</a:t>
            </a:r>
            <a:r>
              <a:rPr dirty="0" sz="2100" spc="-9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305">
                <a:solidFill>
                  <a:srgbClr val="F7FAFB"/>
                </a:solidFill>
                <a:latin typeface="Tahoma"/>
                <a:cs typeface="Tahoma"/>
              </a:rPr>
              <a:t>+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210">
                <a:solidFill>
                  <a:srgbClr val="F7FAFB"/>
                </a:solidFill>
                <a:latin typeface="Tahoma"/>
                <a:cs typeface="Tahoma"/>
              </a:rPr>
              <a:t>ACC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/</a:t>
            </a:r>
            <a:r>
              <a:rPr dirty="0" sz="2100" spc="-9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305">
                <a:solidFill>
                  <a:srgbClr val="F7FAFB"/>
                </a:solidFill>
                <a:latin typeface="Tahoma"/>
                <a:cs typeface="Tahoma"/>
              </a:rPr>
              <a:t>+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Segoe UI"/>
                <a:cs typeface="Segoe UI"/>
              </a:rPr>
              <a:t>ὅ</a:t>
            </a:r>
            <a:r>
              <a:rPr dirty="0" sz="2100" spc="65">
                <a:solidFill>
                  <a:srgbClr val="F7FAFB"/>
                </a:solidFill>
                <a:latin typeface="Trebuchet MS"/>
                <a:cs typeface="Trebuchet MS"/>
              </a:rPr>
              <a:t>τι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-</a:t>
            </a:r>
            <a:r>
              <a:rPr dirty="0" sz="2100" spc="50">
                <a:solidFill>
                  <a:srgbClr val="F7FAFB"/>
                </a:solidFill>
                <a:latin typeface="Tahoma"/>
                <a:cs typeface="Tahoma"/>
              </a:rPr>
              <a:t>clause</a:t>
            </a:r>
            <a:endParaRPr sz="2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endParaRPr sz="2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2100" spc="-30" b="1">
                <a:solidFill>
                  <a:srgbClr val="FBD34D"/>
                </a:solidFill>
                <a:latin typeface="Tahoma"/>
                <a:cs typeface="Tahoma"/>
              </a:rPr>
              <a:t>Latin:</a:t>
            </a:r>
            <a:r>
              <a:rPr dirty="0" sz="2100" spc="-10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50">
                <a:solidFill>
                  <a:srgbClr val="F7FAFB"/>
                </a:solidFill>
                <a:latin typeface="Tahoma"/>
                <a:cs typeface="Tahoma"/>
              </a:rPr>
              <a:t>scio</a:t>
            </a:r>
            <a:endParaRPr sz="2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sz="2100">
              <a:latin typeface="Tahoma"/>
              <a:cs typeface="Tahoma"/>
            </a:endParaRPr>
          </a:p>
          <a:p>
            <a:pPr marL="680720">
              <a:lnSpc>
                <a:spcPct val="100000"/>
              </a:lnSpc>
            </a:pPr>
            <a:r>
              <a:rPr dirty="0" sz="2100" spc="210">
                <a:solidFill>
                  <a:srgbClr val="F7FAFB"/>
                </a:solidFill>
                <a:latin typeface="Tahoma"/>
                <a:cs typeface="Tahoma"/>
              </a:rPr>
              <a:t>ACC</a:t>
            </a:r>
            <a:r>
              <a:rPr dirty="0" sz="2100" spc="-9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/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305">
                <a:solidFill>
                  <a:srgbClr val="F7FAFB"/>
                </a:solidFill>
                <a:latin typeface="Tahoma"/>
                <a:cs typeface="Tahoma"/>
              </a:rPr>
              <a:t>+</a:t>
            </a:r>
            <a:r>
              <a:rPr dirty="0" sz="2100" spc="-9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quod-</a:t>
            </a:r>
            <a:r>
              <a:rPr dirty="0" sz="2100" spc="50">
                <a:solidFill>
                  <a:srgbClr val="F7FAFB"/>
                </a:solidFill>
                <a:latin typeface="Tahoma"/>
                <a:cs typeface="Tahoma"/>
              </a:rPr>
              <a:t>clause</a:t>
            </a:r>
            <a:endParaRPr sz="2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05"/>
              </a:spcBef>
            </a:pPr>
            <a:endParaRPr sz="2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2100" spc="-50" b="1">
                <a:solidFill>
                  <a:srgbClr val="FBD34D"/>
                </a:solidFill>
                <a:latin typeface="Tahoma"/>
                <a:cs typeface="Tahoma"/>
              </a:rPr>
              <a:t>English:</a:t>
            </a:r>
            <a:r>
              <a:rPr dirty="0" sz="2100" spc="-9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know</a:t>
            </a:r>
            <a:endParaRPr sz="2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2100">
              <a:latin typeface="Tahoma"/>
              <a:cs typeface="Tahoma"/>
            </a:endParaRPr>
          </a:p>
          <a:p>
            <a:pPr marL="680720">
              <a:lnSpc>
                <a:spcPct val="100000"/>
              </a:lnSpc>
            </a:pPr>
            <a:r>
              <a:rPr dirty="0" sz="2100" spc="185">
                <a:solidFill>
                  <a:srgbClr val="F7FAFB"/>
                </a:solidFill>
                <a:latin typeface="Tahoma"/>
                <a:cs typeface="Tahoma"/>
              </a:rPr>
              <a:t>NP</a:t>
            </a:r>
            <a:r>
              <a:rPr dirty="0" sz="2100" spc="-9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/</a:t>
            </a:r>
            <a:r>
              <a:rPr dirty="0" sz="2100" spc="-9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305">
                <a:solidFill>
                  <a:srgbClr val="F7FAFB"/>
                </a:solidFill>
                <a:latin typeface="Tahoma"/>
                <a:cs typeface="Tahoma"/>
              </a:rPr>
              <a:t>+</a:t>
            </a:r>
            <a:r>
              <a:rPr dirty="0" sz="2100" spc="-9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5">
                <a:solidFill>
                  <a:srgbClr val="F7FAFB"/>
                </a:solidFill>
                <a:latin typeface="Tahoma"/>
                <a:cs typeface="Tahoma"/>
              </a:rPr>
              <a:t>that-</a:t>
            </a:r>
            <a:r>
              <a:rPr dirty="0" sz="2100" spc="50">
                <a:solidFill>
                  <a:srgbClr val="F7FAFB"/>
                </a:solidFill>
                <a:latin typeface="Tahoma"/>
                <a:cs typeface="Tahoma"/>
              </a:rPr>
              <a:t>clause</a:t>
            </a:r>
            <a:endParaRPr sz="2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55"/>
              </a:spcBef>
            </a:pPr>
            <a:endParaRPr sz="2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2150" i="1">
                <a:solidFill>
                  <a:srgbClr val="A5F2FB"/>
                </a:solidFill>
                <a:latin typeface="Trebuchet MS"/>
                <a:cs typeface="Trebuchet MS"/>
              </a:rPr>
              <a:t>Similar</a:t>
            </a:r>
            <a:r>
              <a:rPr dirty="0" sz="2150" spc="10" i="1">
                <a:solidFill>
                  <a:srgbClr val="A5F2FB"/>
                </a:solidFill>
                <a:latin typeface="Trebuchet MS"/>
                <a:cs typeface="Trebuchet MS"/>
              </a:rPr>
              <a:t> </a:t>
            </a:r>
            <a:r>
              <a:rPr dirty="0" sz="2150" spc="-10" i="1">
                <a:solidFill>
                  <a:srgbClr val="A5F2FB"/>
                </a:solidFill>
                <a:latin typeface="Trebuchet MS"/>
                <a:cs typeface="Trebuchet MS"/>
              </a:rPr>
              <a:t>patterns,</a:t>
            </a:r>
            <a:r>
              <a:rPr dirty="0" sz="2150" spc="15" i="1">
                <a:solidFill>
                  <a:srgbClr val="A5F2FB"/>
                </a:solidFill>
                <a:latin typeface="Trebuchet MS"/>
                <a:cs typeface="Trebuchet MS"/>
              </a:rPr>
              <a:t> </a:t>
            </a:r>
            <a:r>
              <a:rPr dirty="0" sz="2150" spc="-10" i="1">
                <a:solidFill>
                  <a:srgbClr val="A5F2FB"/>
                </a:solidFill>
                <a:latin typeface="Trebuchet MS"/>
                <a:cs typeface="Trebuchet MS"/>
              </a:rPr>
              <a:t>different</a:t>
            </a:r>
            <a:r>
              <a:rPr dirty="0" sz="2150" spc="20" i="1">
                <a:solidFill>
                  <a:srgbClr val="A5F2FB"/>
                </a:solidFill>
                <a:latin typeface="Trebuchet MS"/>
                <a:cs typeface="Trebuchet MS"/>
              </a:rPr>
              <a:t> </a:t>
            </a:r>
            <a:r>
              <a:rPr dirty="0" sz="2150" i="1">
                <a:solidFill>
                  <a:srgbClr val="A5F2FB"/>
                </a:solidFill>
                <a:latin typeface="Trebuchet MS"/>
                <a:cs typeface="Trebuchet MS"/>
              </a:rPr>
              <a:t>morphosyntactic</a:t>
            </a:r>
            <a:r>
              <a:rPr dirty="0" sz="2150" spc="20" i="1">
                <a:solidFill>
                  <a:srgbClr val="A5F2FB"/>
                </a:solidFill>
                <a:latin typeface="Trebuchet MS"/>
                <a:cs typeface="Trebuchet MS"/>
              </a:rPr>
              <a:t> </a:t>
            </a:r>
            <a:r>
              <a:rPr dirty="0" sz="2150" spc="-10" i="1">
                <a:solidFill>
                  <a:srgbClr val="A5F2FB"/>
                </a:solidFill>
                <a:latin typeface="Trebuchet MS"/>
                <a:cs typeface="Trebuchet MS"/>
              </a:rPr>
              <a:t>realizations</a:t>
            </a:r>
            <a:endParaRPr sz="21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543560"/>
          </a:xfrm>
          <a:custGeom>
            <a:avLst/>
            <a:gdLst/>
            <a:ahLst/>
            <a:cxnLst/>
            <a:rect l="l" t="t" r="r" b="b"/>
            <a:pathLst>
              <a:path w="50165" h="543560">
                <a:moveTo>
                  <a:pt x="50125" y="543026"/>
                </a:moveTo>
                <a:lnTo>
                  <a:pt x="0" y="543026"/>
                </a:lnTo>
                <a:lnTo>
                  <a:pt x="0" y="0"/>
                </a:lnTo>
                <a:lnTo>
                  <a:pt x="50125" y="0"/>
                </a:lnTo>
                <a:lnTo>
                  <a:pt x="50125" y="543026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77239" y="1444752"/>
            <a:ext cx="5885815" cy="457200"/>
          </a:xfrm>
          <a:custGeom>
            <a:avLst/>
            <a:gdLst/>
            <a:ahLst/>
            <a:cxnLst/>
            <a:rect l="l" t="t" r="r" b="b"/>
            <a:pathLst>
              <a:path w="5885815" h="457200">
                <a:moveTo>
                  <a:pt x="5885687" y="457199"/>
                </a:moveTo>
                <a:lnTo>
                  <a:pt x="0" y="457199"/>
                </a:lnTo>
                <a:lnTo>
                  <a:pt x="0" y="0"/>
                </a:lnTo>
                <a:lnTo>
                  <a:pt x="5885687" y="0"/>
                </a:lnTo>
                <a:lnTo>
                  <a:pt x="5885687" y="45719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89308" y="1360331"/>
            <a:ext cx="5824855" cy="5067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85"/>
              <a:t>Translation</a:t>
            </a:r>
            <a:r>
              <a:rPr dirty="0" spc="-135"/>
              <a:t> </a:t>
            </a:r>
            <a:r>
              <a:rPr dirty="0" spc="-60"/>
              <a:t>Effects</a:t>
            </a:r>
            <a:r>
              <a:rPr dirty="0" spc="-130"/>
              <a:t> </a:t>
            </a:r>
            <a:r>
              <a:rPr dirty="0" spc="-135"/>
              <a:t>on</a:t>
            </a:r>
            <a:r>
              <a:rPr dirty="0" spc="-130"/>
              <a:t> </a:t>
            </a:r>
            <a:r>
              <a:rPr dirty="0" spc="-10"/>
              <a:t>Valency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3394761"/>
            <a:ext cx="91896" cy="91896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3954496"/>
            <a:ext cx="91896" cy="9189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4522586"/>
            <a:ext cx="91896" cy="91896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572097" y="1831511"/>
            <a:ext cx="7783830" cy="2891155"/>
          </a:xfrm>
          <a:prstGeom prst="rect">
            <a:avLst/>
          </a:prstGeom>
        </p:spPr>
        <p:txBody>
          <a:bodyPr wrap="square" lIns="0" tIns="2019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90"/>
              </a:spcBef>
            </a:pP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Question:</a:t>
            </a:r>
            <a:r>
              <a:rPr dirty="0" sz="2100" spc="-4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125">
                <a:solidFill>
                  <a:srgbClr val="F7FAFB"/>
                </a:solidFill>
                <a:latin typeface="Tahoma"/>
                <a:cs typeface="Tahoma"/>
              </a:rPr>
              <a:t>Do</a:t>
            </a:r>
            <a:r>
              <a:rPr dirty="0" sz="2100" spc="-9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translations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preserve</a:t>
            </a:r>
            <a:r>
              <a:rPr dirty="0" sz="2100" spc="-9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or</a:t>
            </a:r>
            <a:r>
              <a:rPr dirty="0" sz="2100" spc="-9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alter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valency</a:t>
            </a:r>
            <a:r>
              <a:rPr dirty="0" sz="2100" spc="-9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0">
                <a:solidFill>
                  <a:srgbClr val="F7FAFB"/>
                </a:solidFill>
                <a:latin typeface="Tahoma"/>
                <a:cs typeface="Tahoma"/>
              </a:rPr>
              <a:t>patterns?</a:t>
            </a:r>
            <a:endParaRPr sz="2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495"/>
              </a:spcBef>
            </a:pP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Findings:</a:t>
            </a:r>
            <a:endParaRPr sz="2100">
              <a:latin typeface="Tahoma"/>
              <a:cs typeface="Tahoma"/>
            </a:endParaRPr>
          </a:p>
          <a:p>
            <a:pPr marL="346710" marR="2524760">
              <a:lnSpc>
                <a:spcPct val="174900"/>
              </a:lnSpc>
              <a:spcBef>
                <a:spcPts val="1250"/>
              </a:spcBef>
            </a:pP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Source</a:t>
            </a:r>
            <a:r>
              <a:rPr dirty="0" sz="2100" spc="1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language</a:t>
            </a:r>
            <a:r>
              <a:rPr dirty="0" sz="2100" spc="2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interference</a:t>
            </a:r>
            <a:r>
              <a:rPr dirty="0" sz="2100" spc="6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50">
                <a:solidFill>
                  <a:srgbClr val="F7FAFB"/>
                </a:solidFill>
                <a:latin typeface="Tahoma"/>
                <a:cs typeface="Tahoma"/>
              </a:rPr>
              <a:t>common </a:t>
            </a:r>
            <a:r>
              <a:rPr dirty="0" sz="2100" spc="105">
                <a:solidFill>
                  <a:srgbClr val="F7FAFB"/>
                </a:solidFill>
                <a:latin typeface="Tahoma"/>
                <a:cs typeface="Tahoma"/>
              </a:rPr>
              <a:t>Creates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non-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native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valency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frames</a:t>
            </a:r>
            <a:endParaRPr sz="2100">
              <a:latin typeface="Tahoma"/>
              <a:cs typeface="Tahoma"/>
            </a:endParaRPr>
          </a:p>
          <a:p>
            <a:pPr marL="346710">
              <a:lnSpc>
                <a:spcPct val="100000"/>
              </a:lnSpc>
              <a:spcBef>
                <a:spcPts val="1950"/>
              </a:spcBef>
            </a:pPr>
            <a:r>
              <a:rPr dirty="0" sz="2100" spc="120">
                <a:solidFill>
                  <a:srgbClr val="F7FAFB"/>
                </a:solidFill>
                <a:latin typeface="Tahoma"/>
                <a:cs typeface="Tahoma"/>
              </a:rPr>
              <a:t>Over</a:t>
            </a:r>
            <a:r>
              <a:rPr dirty="0" sz="2100" spc="-3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time,</a:t>
            </a:r>
            <a:r>
              <a:rPr dirty="0" sz="2100" spc="-3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patterns</a:t>
            </a:r>
            <a:r>
              <a:rPr dirty="0" sz="2100" spc="-3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may</a:t>
            </a:r>
            <a:r>
              <a:rPr dirty="0" sz="2100" spc="-3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20" b="1">
                <a:solidFill>
                  <a:srgbClr val="FBD34D"/>
                </a:solidFill>
                <a:latin typeface="Tahoma"/>
                <a:cs typeface="Tahoma"/>
              </a:rPr>
              <a:t>naturalize</a:t>
            </a:r>
            <a:r>
              <a:rPr dirty="0" sz="2100" spc="1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or</a:t>
            </a:r>
            <a:r>
              <a:rPr dirty="0" sz="2100" spc="-3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be</a:t>
            </a:r>
            <a:r>
              <a:rPr dirty="0" sz="2100" spc="-3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corrected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543560"/>
          </a:xfrm>
          <a:custGeom>
            <a:avLst/>
            <a:gdLst/>
            <a:ahLst/>
            <a:cxnLst/>
            <a:rect l="l" t="t" r="r" b="b"/>
            <a:pathLst>
              <a:path w="50165" h="543560">
                <a:moveTo>
                  <a:pt x="50125" y="543026"/>
                </a:moveTo>
                <a:lnTo>
                  <a:pt x="0" y="543026"/>
                </a:lnTo>
                <a:lnTo>
                  <a:pt x="0" y="0"/>
                </a:lnTo>
                <a:lnTo>
                  <a:pt x="50125" y="0"/>
                </a:lnTo>
                <a:lnTo>
                  <a:pt x="50125" y="543026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584797" y="2676295"/>
            <a:ext cx="9524365" cy="1253490"/>
          </a:xfrm>
          <a:custGeom>
            <a:avLst/>
            <a:gdLst/>
            <a:ahLst/>
            <a:cxnLst/>
            <a:rect l="l" t="t" r="r" b="b"/>
            <a:pathLst>
              <a:path w="9524365" h="1253489">
                <a:moveTo>
                  <a:pt x="9523853" y="1253138"/>
                </a:moveTo>
                <a:lnTo>
                  <a:pt x="0" y="1253138"/>
                </a:lnTo>
                <a:lnTo>
                  <a:pt x="0" y="0"/>
                </a:lnTo>
                <a:lnTo>
                  <a:pt x="9523853" y="0"/>
                </a:lnTo>
                <a:lnTo>
                  <a:pt x="9523853" y="1253138"/>
                </a:lnTo>
                <a:close/>
              </a:path>
            </a:pathLst>
          </a:custGeom>
          <a:solidFill>
            <a:srgbClr val="4559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584797" y="4706380"/>
            <a:ext cx="9524365" cy="1253490"/>
          </a:xfrm>
          <a:custGeom>
            <a:avLst/>
            <a:gdLst/>
            <a:ahLst/>
            <a:cxnLst/>
            <a:rect l="l" t="t" r="r" b="b"/>
            <a:pathLst>
              <a:path w="9524365" h="1253489">
                <a:moveTo>
                  <a:pt x="9523853" y="1253138"/>
                </a:moveTo>
                <a:lnTo>
                  <a:pt x="0" y="1253138"/>
                </a:lnTo>
                <a:lnTo>
                  <a:pt x="0" y="0"/>
                </a:lnTo>
                <a:lnTo>
                  <a:pt x="9523853" y="0"/>
                </a:lnTo>
                <a:lnTo>
                  <a:pt x="9523853" y="1253138"/>
                </a:lnTo>
                <a:close/>
              </a:path>
            </a:pathLst>
          </a:custGeom>
          <a:solidFill>
            <a:srgbClr val="4559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584798" y="6736464"/>
            <a:ext cx="9524365" cy="50165"/>
          </a:xfrm>
          <a:custGeom>
            <a:avLst/>
            <a:gdLst/>
            <a:ahLst/>
            <a:cxnLst/>
            <a:rect l="l" t="t" r="r" b="b"/>
            <a:pathLst>
              <a:path w="9524365" h="50165">
                <a:moveTo>
                  <a:pt x="9523853" y="50097"/>
                </a:moveTo>
                <a:lnTo>
                  <a:pt x="0" y="50097"/>
                </a:lnTo>
                <a:lnTo>
                  <a:pt x="0" y="0"/>
                </a:lnTo>
                <a:lnTo>
                  <a:pt x="9523853" y="0"/>
                </a:lnTo>
                <a:lnTo>
                  <a:pt x="9523853" y="50097"/>
                </a:lnTo>
                <a:close/>
              </a:path>
            </a:pathLst>
          </a:custGeom>
          <a:solidFill>
            <a:srgbClr val="4559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798575" y="1444752"/>
            <a:ext cx="6598920" cy="457200"/>
          </a:xfrm>
          <a:custGeom>
            <a:avLst/>
            <a:gdLst/>
            <a:ahLst/>
            <a:cxnLst/>
            <a:rect l="l" t="t" r="r" b="b"/>
            <a:pathLst>
              <a:path w="6598920" h="457200">
                <a:moveTo>
                  <a:pt x="6598919" y="457199"/>
                </a:moveTo>
                <a:lnTo>
                  <a:pt x="0" y="457199"/>
                </a:lnTo>
                <a:lnTo>
                  <a:pt x="0" y="0"/>
                </a:lnTo>
                <a:lnTo>
                  <a:pt x="6598919" y="0"/>
                </a:lnTo>
                <a:lnTo>
                  <a:pt x="6598919" y="45719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14"/>
              <a:t>Example:</a:t>
            </a:r>
            <a:r>
              <a:rPr dirty="0" spc="-120"/>
              <a:t> </a:t>
            </a:r>
            <a:r>
              <a:rPr dirty="0" spc="-85"/>
              <a:t>Translation</a:t>
            </a:r>
            <a:r>
              <a:rPr dirty="0" spc="-114"/>
              <a:t> </a:t>
            </a:r>
            <a:r>
              <a:rPr dirty="0" spc="-65"/>
              <a:t>Interference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572097" y="2020317"/>
            <a:ext cx="2103120" cy="3467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 spc="-20" b="1">
                <a:solidFill>
                  <a:srgbClr val="FBD34D"/>
                </a:solidFill>
                <a:latin typeface="Tahoma"/>
                <a:cs typeface="Tahoma"/>
              </a:rPr>
              <a:t>Hebrew</a:t>
            </a:r>
            <a:r>
              <a:rPr dirty="0" sz="2100" spc="-9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30" b="1">
                <a:solidFill>
                  <a:srgbClr val="FBD34D"/>
                </a:solidFill>
                <a:latin typeface="Tahoma"/>
                <a:cs typeface="Tahoma"/>
              </a:rPr>
              <a:t>Source:</a:t>
            </a:r>
            <a:endParaRPr sz="2100">
              <a:latin typeface="Tahoma"/>
              <a:cs typeface="Tahom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72097" y="4050402"/>
            <a:ext cx="2451100" cy="3467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Greek</a:t>
            </a:r>
            <a:r>
              <a:rPr dirty="0" sz="2100" spc="-12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30" b="1">
                <a:solidFill>
                  <a:srgbClr val="FBD34D"/>
                </a:solidFill>
                <a:latin typeface="Tahoma"/>
                <a:cs typeface="Tahoma"/>
              </a:rPr>
              <a:t>Translation:</a:t>
            </a:r>
            <a:endParaRPr sz="2100">
              <a:latin typeface="Tahoma"/>
              <a:cs typeface="Tahom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72097" y="6080486"/>
            <a:ext cx="1838960" cy="3467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Native</a:t>
            </a:r>
            <a:r>
              <a:rPr dirty="0" sz="2100" spc="-9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Greek: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543560"/>
          </a:xfrm>
          <a:custGeom>
            <a:avLst/>
            <a:gdLst/>
            <a:ahLst/>
            <a:cxnLst/>
            <a:rect l="l" t="t" r="r" b="b"/>
            <a:pathLst>
              <a:path w="50165" h="543560">
                <a:moveTo>
                  <a:pt x="50125" y="543026"/>
                </a:moveTo>
                <a:lnTo>
                  <a:pt x="0" y="543026"/>
                </a:lnTo>
                <a:lnTo>
                  <a:pt x="0" y="0"/>
                </a:lnTo>
                <a:lnTo>
                  <a:pt x="50125" y="0"/>
                </a:lnTo>
                <a:lnTo>
                  <a:pt x="50125" y="543026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98575" y="1444752"/>
            <a:ext cx="5148580" cy="463550"/>
          </a:xfrm>
          <a:custGeom>
            <a:avLst/>
            <a:gdLst/>
            <a:ahLst/>
            <a:cxnLst/>
            <a:rect l="l" t="t" r="r" b="b"/>
            <a:pathLst>
              <a:path w="5148580" h="463550">
                <a:moveTo>
                  <a:pt x="5148071" y="463295"/>
                </a:moveTo>
                <a:lnTo>
                  <a:pt x="0" y="463295"/>
                </a:lnTo>
                <a:lnTo>
                  <a:pt x="0" y="0"/>
                </a:lnTo>
                <a:lnTo>
                  <a:pt x="5148071" y="0"/>
                </a:lnTo>
                <a:lnTo>
                  <a:pt x="5148071" y="463295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89308" y="1360331"/>
            <a:ext cx="5116195" cy="5067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00"/>
              <a:t>Register</a:t>
            </a:r>
            <a:r>
              <a:rPr dirty="0" spc="-120"/>
              <a:t> </a:t>
            </a:r>
            <a:r>
              <a:rPr dirty="0" spc="-135"/>
              <a:t>and</a:t>
            </a:r>
            <a:r>
              <a:rPr dirty="0" spc="-120"/>
              <a:t> </a:t>
            </a:r>
            <a:r>
              <a:rPr dirty="0" spc="-85"/>
              <a:t>Genre</a:t>
            </a:r>
            <a:r>
              <a:rPr dirty="0" spc="-120"/>
              <a:t> </a:t>
            </a:r>
            <a:r>
              <a:rPr dirty="0" spc="-20"/>
              <a:t>Effects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3394761"/>
            <a:ext cx="91896" cy="91896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3954496"/>
            <a:ext cx="91896" cy="9189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5399783"/>
            <a:ext cx="91896" cy="9189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5959518"/>
            <a:ext cx="91896" cy="91896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572097" y="1831511"/>
            <a:ext cx="5899150" cy="5055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9200"/>
              </a:lnSpc>
              <a:spcBef>
                <a:spcPts val="100"/>
              </a:spcBef>
            </a:pP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Different</a:t>
            </a:r>
            <a:r>
              <a:rPr dirty="0" sz="2100" spc="-8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text</a:t>
            </a:r>
            <a:r>
              <a:rPr dirty="0" sz="2100" spc="-8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types</a:t>
            </a:r>
            <a:r>
              <a:rPr dirty="0" sz="2100" spc="-8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70" b="1">
                <a:solidFill>
                  <a:srgbClr val="FBD34D"/>
                </a:solidFill>
                <a:latin typeface="Tahoma"/>
                <a:cs typeface="Tahoma"/>
              </a:rPr>
              <a:t>show</a:t>
            </a:r>
            <a:r>
              <a:rPr dirty="0" sz="2100" spc="-8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different</a:t>
            </a:r>
            <a:r>
              <a:rPr dirty="0" sz="2100" spc="-8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patterns: </a:t>
            </a: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Narrative</a:t>
            </a:r>
            <a:r>
              <a:rPr dirty="0" sz="2100" spc="-10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texts:</a:t>
            </a:r>
            <a:endParaRPr sz="2100">
              <a:latin typeface="Tahoma"/>
              <a:cs typeface="Tahoma"/>
            </a:endParaRPr>
          </a:p>
          <a:p>
            <a:pPr marL="346710" marR="2580640">
              <a:lnSpc>
                <a:spcPct val="174900"/>
              </a:lnSpc>
              <a:spcBef>
                <a:spcPts val="1250"/>
              </a:spcBef>
            </a:pP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Rich</a:t>
            </a:r>
            <a:r>
              <a:rPr dirty="0" sz="2100" spc="-9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verb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valency </a:t>
            </a:r>
            <a:r>
              <a:rPr dirty="0" sz="2100" spc="50">
                <a:solidFill>
                  <a:srgbClr val="F7FAFB"/>
                </a:solidFill>
                <a:latin typeface="Tahoma"/>
                <a:cs typeface="Tahoma"/>
              </a:rPr>
              <a:t>Temporal</a:t>
            </a:r>
            <a:r>
              <a:rPr dirty="0" sz="2100" spc="-9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constructions</a:t>
            </a:r>
            <a:endParaRPr sz="2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2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2100" spc="-65" b="1">
                <a:solidFill>
                  <a:srgbClr val="FBD34D"/>
                </a:solidFill>
                <a:latin typeface="Tahoma"/>
                <a:cs typeface="Tahoma"/>
              </a:rPr>
              <a:t>Legal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texts:</a:t>
            </a:r>
            <a:endParaRPr sz="2100">
              <a:latin typeface="Tahoma"/>
              <a:cs typeface="Tahoma"/>
            </a:endParaRPr>
          </a:p>
          <a:p>
            <a:pPr marL="346710" marR="2348230">
              <a:lnSpc>
                <a:spcPct val="174900"/>
              </a:lnSpc>
              <a:spcBef>
                <a:spcPts val="1250"/>
              </a:spcBef>
            </a:pP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Complex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nominal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valency </a:t>
            </a:r>
            <a:r>
              <a:rPr dirty="0" sz="2100" spc="110">
                <a:solidFill>
                  <a:srgbClr val="F7FAFB"/>
                </a:solidFill>
                <a:latin typeface="Tahoma"/>
                <a:cs typeface="Tahoma"/>
              </a:rPr>
              <a:t>Conditional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structures</a:t>
            </a:r>
            <a:endParaRPr sz="2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endParaRPr sz="2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Poetic</a:t>
            </a:r>
            <a:r>
              <a:rPr dirty="0" sz="2100" spc="-9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texts: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543560"/>
          </a:xfrm>
          <a:custGeom>
            <a:avLst/>
            <a:gdLst/>
            <a:ahLst/>
            <a:cxnLst/>
            <a:rect l="l" t="t" r="r" b="b"/>
            <a:pathLst>
              <a:path w="50165" h="543560">
                <a:moveTo>
                  <a:pt x="50125" y="543026"/>
                </a:moveTo>
                <a:lnTo>
                  <a:pt x="0" y="543026"/>
                </a:lnTo>
                <a:lnTo>
                  <a:pt x="0" y="0"/>
                </a:lnTo>
                <a:lnTo>
                  <a:pt x="50125" y="0"/>
                </a:lnTo>
                <a:lnTo>
                  <a:pt x="50125" y="543026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98575" y="1444752"/>
            <a:ext cx="6391910" cy="457200"/>
          </a:xfrm>
          <a:custGeom>
            <a:avLst/>
            <a:gdLst/>
            <a:ahLst/>
            <a:cxnLst/>
            <a:rect l="l" t="t" r="r" b="b"/>
            <a:pathLst>
              <a:path w="6391909" h="457200">
                <a:moveTo>
                  <a:pt x="6391655" y="457199"/>
                </a:moveTo>
                <a:lnTo>
                  <a:pt x="0" y="457199"/>
                </a:lnTo>
                <a:lnTo>
                  <a:pt x="0" y="0"/>
                </a:lnTo>
                <a:lnTo>
                  <a:pt x="6391655" y="0"/>
                </a:lnTo>
                <a:lnTo>
                  <a:pt x="6391655" y="45719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14"/>
              <a:t>Example: </a:t>
            </a:r>
            <a:r>
              <a:rPr dirty="0" spc="-80"/>
              <a:t>Genre-</a:t>
            </a:r>
            <a:r>
              <a:rPr dirty="0" spc="-65"/>
              <a:t>Specific</a:t>
            </a:r>
            <a:r>
              <a:rPr dirty="0" spc="-114"/>
              <a:t> </a:t>
            </a:r>
            <a:r>
              <a:rPr dirty="0" spc="-10"/>
              <a:t>Valency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2885151"/>
            <a:ext cx="91896" cy="91896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3444887"/>
            <a:ext cx="91896" cy="9189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4004622"/>
            <a:ext cx="91896" cy="9189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5449908"/>
            <a:ext cx="91896" cy="91896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6009644"/>
            <a:ext cx="91896" cy="91896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6577733"/>
            <a:ext cx="91896" cy="91896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572097" y="2020317"/>
            <a:ext cx="4726305" cy="475742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Herodotus</a:t>
            </a:r>
            <a:r>
              <a:rPr dirty="0" sz="2100" spc="-7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20" b="1">
                <a:solidFill>
                  <a:srgbClr val="FBD34D"/>
                </a:solidFill>
                <a:latin typeface="Tahoma"/>
                <a:cs typeface="Tahoma"/>
              </a:rPr>
              <a:t>(Historical</a:t>
            </a:r>
            <a:r>
              <a:rPr dirty="0" sz="2100" spc="-7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Narrative):</a:t>
            </a:r>
            <a:endParaRPr sz="2100">
              <a:latin typeface="Tahoma"/>
              <a:cs typeface="Tahoma"/>
            </a:endParaRPr>
          </a:p>
          <a:p>
            <a:pPr marL="346710" marR="5080">
              <a:lnSpc>
                <a:spcPct val="174900"/>
              </a:lnSpc>
              <a:spcBef>
                <a:spcPts val="1250"/>
              </a:spcBef>
            </a:pP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Complex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sentence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structures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Elaborate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participial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constructions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Rich</a:t>
            </a:r>
            <a:r>
              <a:rPr dirty="0" sz="2100" spc="-5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use</a:t>
            </a:r>
            <a:r>
              <a:rPr dirty="0" sz="2100" spc="-4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of</a:t>
            </a:r>
            <a:r>
              <a:rPr dirty="0" sz="2100" spc="-4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complementation</a:t>
            </a:r>
            <a:endParaRPr sz="2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2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2100" spc="-30" b="1">
                <a:solidFill>
                  <a:srgbClr val="FBD34D"/>
                </a:solidFill>
                <a:latin typeface="Tahoma"/>
                <a:cs typeface="Tahoma"/>
              </a:rPr>
              <a:t>New</a:t>
            </a:r>
            <a:r>
              <a:rPr dirty="0" sz="2100" spc="-9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55" b="1">
                <a:solidFill>
                  <a:srgbClr val="FBD34D"/>
                </a:solidFill>
                <a:latin typeface="Tahoma"/>
                <a:cs typeface="Tahoma"/>
              </a:rPr>
              <a:t>Testament</a:t>
            </a:r>
            <a:r>
              <a:rPr dirty="0" sz="2100" spc="-9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Epistles:</a:t>
            </a:r>
            <a:endParaRPr sz="2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05"/>
              </a:spcBef>
            </a:pPr>
            <a:endParaRPr sz="2100">
              <a:latin typeface="Tahoma"/>
              <a:cs typeface="Tahoma"/>
            </a:endParaRPr>
          </a:p>
          <a:p>
            <a:pPr marL="346710">
              <a:lnSpc>
                <a:spcPct val="100000"/>
              </a:lnSpc>
            </a:pP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Simpler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syntax</a:t>
            </a:r>
            <a:endParaRPr sz="2100">
              <a:latin typeface="Tahoma"/>
              <a:cs typeface="Tahoma"/>
            </a:endParaRPr>
          </a:p>
          <a:p>
            <a:pPr marL="346710" marR="1590040">
              <a:lnSpc>
                <a:spcPts val="4470"/>
              </a:lnSpc>
              <a:spcBef>
                <a:spcPts val="210"/>
              </a:spcBef>
            </a:pPr>
            <a:r>
              <a:rPr dirty="0" sz="2100" spc="130">
                <a:solidFill>
                  <a:srgbClr val="F7FAFB"/>
                </a:solidFill>
                <a:latin typeface="Tahoma"/>
                <a:cs typeface="Tahoma"/>
              </a:rPr>
              <a:t>Direct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argumentation </a:t>
            </a:r>
            <a:r>
              <a:rPr dirty="0" sz="2100" spc="95">
                <a:solidFill>
                  <a:srgbClr val="F7FAFB"/>
                </a:solidFill>
                <a:latin typeface="Tahoma"/>
                <a:cs typeface="Tahoma"/>
              </a:rPr>
              <a:t>Limited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subordination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1086485"/>
          </a:xfrm>
          <a:custGeom>
            <a:avLst/>
            <a:gdLst/>
            <a:ahLst/>
            <a:cxnLst/>
            <a:rect l="l" t="t" r="r" b="b"/>
            <a:pathLst>
              <a:path w="50165" h="1086485">
                <a:moveTo>
                  <a:pt x="50125" y="1086053"/>
                </a:moveTo>
                <a:lnTo>
                  <a:pt x="0" y="1086053"/>
                </a:lnTo>
                <a:lnTo>
                  <a:pt x="0" y="0"/>
                </a:lnTo>
                <a:lnTo>
                  <a:pt x="50125" y="0"/>
                </a:lnTo>
                <a:lnTo>
                  <a:pt x="50125" y="1086053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83336" y="1444752"/>
            <a:ext cx="8583295" cy="457200"/>
          </a:xfrm>
          <a:custGeom>
            <a:avLst/>
            <a:gdLst/>
            <a:ahLst/>
            <a:cxnLst/>
            <a:rect l="l" t="t" r="r" b="b"/>
            <a:pathLst>
              <a:path w="8583295" h="457200">
                <a:moveTo>
                  <a:pt x="8583167" y="457199"/>
                </a:moveTo>
                <a:lnTo>
                  <a:pt x="0" y="457199"/>
                </a:lnTo>
                <a:lnTo>
                  <a:pt x="0" y="0"/>
                </a:lnTo>
                <a:lnTo>
                  <a:pt x="8583167" y="0"/>
                </a:lnTo>
                <a:lnTo>
                  <a:pt x="8583167" y="45719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75"/>
              <a:t>Question:</a:t>
            </a:r>
            <a:r>
              <a:rPr dirty="0" spc="-145"/>
              <a:t> </a:t>
            </a:r>
            <a:r>
              <a:rPr dirty="0"/>
              <a:t>What</a:t>
            </a:r>
            <a:r>
              <a:rPr dirty="0" spc="-145"/>
              <a:t> </a:t>
            </a:r>
            <a:r>
              <a:rPr dirty="0" spc="-90"/>
              <a:t>are</a:t>
            </a:r>
            <a:r>
              <a:rPr dirty="0" spc="-145"/>
              <a:t> </a:t>
            </a:r>
            <a:r>
              <a:rPr dirty="0" spc="-90"/>
              <a:t>the</a:t>
            </a:r>
            <a:r>
              <a:rPr dirty="0" spc="-145"/>
              <a:t> </a:t>
            </a:r>
            <a:r>
              <a:rPr dirty="0" spc="-100"/>
              <a:t>corpus</a:t>
            </a:r>
            <a:r>
              <a:rPr dirty="0" spc="-140"/>
              <a:t> </a:t>
            </a:r>
            <a:r>
              <a:rPr dirty="0" spc="-60"/>
              <a:t>statistics</a:t>
            </a:r>
            <a:r>
              <a:rPr dirty="0" spc="-145"/>
              <a:t> </a:t>
            </a:r>
            <a:r>
              <a:rPr dirty="0" spc="-25"/>
              <a:t>and</a:t>
            </a:r>
          </a:p>
        </p:txBody>
      </p:sp>
      <p:sp>
        <p:nvSpPr>
          <p:cNvPr id="5" name="object 5" descr=""/>
          <p:cNvSpPr/>
          <p:nvPr/>
        </p:nvSpPr>
        <p:spPr>
          <a:xfrm>
            <a:off x="777239" y="1987295"/>
            <a:ext cx="1231900" cy="396240"/>
          </a:xfrm>
          <a:custGeom>
            <a:avLst/>
            <a:gdLst/>
            <a:ahLst/>
            <a:cxnLst/>
            <a:rect l="l" t="t" r="r" b="b"/>
            <a:pathLst>
              <a:path w="1231900" h="396239">
                <a:moveTo>
                  <a:pt x="1231391" y="396239"/>
                </a:moveTo>
                <a:lnTo>
                  <a:pt x="0" y="396239"/>
                </a:lnTo>
                <a:lnTo>
                  <a:pt x="0" y="0"/>
                </a:lnTo>
                <a:lnTo>
                  <a:pt x="1231391" y="0"/>
                </a:lnTo>
                <a:lnTo>
                  <a:pt x="1231391" y="39623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789308" y="1903358"/>
            <a:ext cx="1174750" cy="5067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150" spc="-120" b="1">
                <a:solidFill>
                  <a:srgbClr val="60A5FA"/>
                </a:solidFill>
                <a:latin typeface="Tahoma"/>
                <a:cs typeface="Tahoma"/>
              </a:rPr>
              <a:t>scale?</a:t>
            </a:r>
            <a:endParaRPr sz="3150">
              <a:latin typeface="Tahoma"/>
              <a:cs typeface="Tahoma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3428178"/>
            <a:ext cx="91896" cy="9189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3987913"/>
            <a:ext cx="91896" cy="91896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4547649"/>
            <a:ext cx="91896" cy="91896"/>
          </a:xfrm>
          <a:prstGeom prst="rect">
            <a:avLst/>
          </a:prstGeom>
        </p:spPr>
      </p:pic>
      <p:sp>
        <p:nvSpPr>
          <p:cNvPr id="10" name="object 10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30"/>
              <a:t>Size</a:t>
            </a:r>
            <a:r>
              <a:rPr dirty="0" spc="-105"/>
              <a:t> </a:t>
            </a:r>
            <a:r>
              <a:rPr dirty="0" spc="-65"/>
              <a:t>and</a:t>
            </a:r>
            <a:r>
              <a:rPr dirty="0" spc="-90"/>
              <a:t> </a:t>
            </a:r>
            <a:r>
              <a:rPr dirty="0" spc="-10"/>
              <a:t>scope: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</a:p>
          <a:p>
            <a:pPr marL="346710">
              <a:lnSpc>
                <a:spcPct val="100000"/>
              </a:lnSpc>
            </a:pPr>
            <a:r>
              <a:rPr dirty="0" spc="130" b="0">
                <a:solidFill>
                  <a:srgbClr val="F7FAFB"/>
                </a:solidFill>
                <a:latin typeface="Tahoma"/>
                <a:cs typeface="Tahoma"/>
              </a:rPr>
              <a:t>How</a:t>
            </a:r>
            <a:r>
              <a:rPr dirty="0" spc="-35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b="0">
                <a:solidFill>
                  <a:srgbClr val="F7FAFB"/>
                </a:solidFill>
                <a:latin typeface="Tahoma"/>
                <a:cs typeface="Tahoma"/>
              </a:rPr>
              <a:t>many</a:t>
            </a:r>
            <a:r>
              <a:rPr dirty="0" spc="-35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105" b="0">
                <a:solidFill>
                  <a:srgbClr val="F7FAFB"/>
                </a:solidFill>
                <a:latin typeface="Tahoma"/>
                <a:cs typeface="Tahoma"/>
              </a:rPr>
              <a:t>total</a:t>
            </a:r>
            <a:r>
              <a:rPr dirty="0" spc="-35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40" b="0">
                <a:solidFill>
                  <a:srgbClr val="F7FAFB"/>
                </a:solidFill>
                <a:latin typeface="Tahoma"/>
                <a:cs typeface="Tahoma"/>
              </a:rPr>
              <a:t>tokens?</a:t>
            </a:r>
          </a:p>
          <a:p>
            <a:pPr marL="346710">
              <a:lnSpc>
                <a:spcPct val="100000"/>
              </a:lnSpc>
              <a:spcBef>
                <a:spcPts val="1890"/>
              </a:spcBef>
            </a:pPr>
            <a:r>
              <a:rPr dirty="0" spc="130" b="0">
                <a:solidFill>
                  <a:srgbClr val="F7FAFB"/>
                </a:solidFill>
                <a:latin typeface="Tahoma"/>
                <a:cs typeface="Tahoma"/>
              </a:rPr>
              <a:t>How</a:t>
            </a:r>
            <a:r>
              <a:rPr dirty="0" spc="-30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b="0">
                <a:solidFill>
                  <a:srgbClr val="F7FAFB"/>
                </a:solidFill>
                <a:latin typeface="Tahoma"/>
                <a:cs typeface="Tahoma"/>
              </a:rPr>
              <a:t>many</a:t>
            </a:r>
            <a:r>
              <a:rPr dirty="0" spc="-25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85" b="0">
                <a:solidFill>
                  <a:srgbClr val="F7FAFB"/>
                </a:solidFill>
                <a:latin typeface="Tahoma"/>
                <a:cs typeface="Tahoma"/>
              </a:rPr>
              <a:t>predicates</a:t>
            </a:r>
            <a:r>
              <a:rPr dirty="0" spc="-25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45" b="0">
                <a:solidFill>
                  <a:srgbClr val="F7FAFB"/>
                </a:solidFill>
                <a:latin typeface="Tahoma"/>
                <a:cs typeface="Tahoma"/>
              </a:rPr>
              <a:t>analyzed?</a:t>
            </a:r>
          </a:p>
          <a:p>
            <a:pPr marL="346710">
              <a:lnSpc>
                <a:spcPct val="100000"/>
              </a:lnSpc>
              <a:spcBef>
                <a:spcPts val="1885"/>
              </a:spcBef>
            </a:pPr>
            <a:r>
              <a:rPr dirty="0" spc="130" b="0">
                <a:solidFill>
                  <a:srgbClr val="F7FAFB"/>
                </a:solidFill>
                <a:latin typeface="Tahoma"/>
                <a:cs typeface="Tahoma"/>
              </a:rPr>
              <a:t>How</a:t>
            </a:r>
            <a:r>
              <a:rPr dirty="0" spc="-50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b="0">
                <a:solidFill>
                  <a:srgbClr val="F7FAFB"/>
                </a:solidFill>
                <a:latin typeface="Tahoma"/>
                <a:cs typeface="Tahoma"/>
              </a:rPr>
              <a:t>many</a:t>
            </a:r>
            <a:r>
              <a:rPr dirty="0" spc="-45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75" b="0">
                <a:solidFill>
                  <a:srgbClr val="F7FAFB"/>
                </a:solidFill>
                <a:latin typeface="Tahoma"/>
                <a:cs typeface="Tahoma"/>
              </a:rPr>
              <a:t>valency</a:t>
            </a:r>
            <a:r>
              <a:rPr dirty="0" spc="-50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65" b="0">
                <a:solidFill>
                  <a:srgbClr val="F7FAFB"/>
                </a:solidFill>
                <a:latin typeface="Tahoma"/>
                <a:cs typeface="Tahoma"/>
              </a:rPr>
              <a:t>frames</a:t>
            </a:r>
            <a:r>
              <a:rPr dirty="0" spc="-45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50" b="0">
                <a:solidFill>
                  <a:srgbClr val="F7FAFB"/>
                </a:solidFill>
                <a:latin typeface="Tahoma"/>
                <a:cs typeface="Tahoma"/>
              </a:rPr>
              <a:t>documented?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543560"/>
          </a:xfrm>
          <a:custGeom>
            <a:avLst/>
            <a:gdLst/>
            <a:ahLst/>
            <a:cxnLst/>
            <a:rect l="l" t="t" r="r" b="b"/>
            <a:pathLst>
              <a:path w="50165" h="543560">
                <a:moveTo>
                  <a:pt x="50125" y="543026"/>
                </a:moveTo>
                <a:lnTo>
                  <a:pt x="0" y="543026"/>
                </a:lnTo>
                <a:lnTo>
                  <a:pt x="0" y="0"/>
                </a:lnTo>
                <a:lnTo>
                  <a:pt x="50125" y="0"/>
                </a:lnTo>
                <a:lnTo>
                  <a:pt x="50125" y="543026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80287" y="1444752"/>
            <a:ext cx="4983480" cy="457200"/>
          </a:xfrm>
          <a:custGeom>
            <a:avLst/>
            <a:gdLst/>
            <a:ahLst/>
            <a:cxnLst/>
            <a:rect l="l" t="t" r="r" b="b"/>
            <a:pathLst>
              <a:path w="4983480" h="457200">
                <a:moveTo>
                  <a:pt x="4983479" y="457199"/>
                </a:moveTo>
                <a:lnTo>
                  <a:pt x="0" y="457199"/>
                </a:lnTo>
                <a:lnTo>
                  <a:pt x="0" y="0"/>
                </a:lnTo>
                <a:lnTo>
                  <a:pt x="4983479" y="0"/>
                </a:lnTo>
                <a:lnTo>
                  <a:pt x="4983479" y="45719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80"/>
              <a:t>Corpus</a:t>
            </a:r>
            <a:r>
              <a:rPr dirty="0" spc="-135"/>
              <a:t> </a:t>
            </a:r>
            <a:r>
              <a:rPr dirty="0" spc="-120"/>
              <a:t>Size</a:t>
            </a:r>
            <a:r>
              <a:rPr dirty="0" spc="-130"/>
              <a:t> </a:t>
            </a:r>
            <a:r>
              <a:rPr dirty="0" spc="-135"/>
              <a:t>and </a:t>
            </a:r>
            <a:r>
              <a:rPr dirty="0" spc="-45"/>
              <a:t>Statistics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572097" y="1915054"/>
            <a:ext cx="9532620" cy="48126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4001135">
              <a:lnSpc>
                <a:spcPct val="133100"/>
              </a:lnSpc>
              <a:spcBef>
                <a:spcPts val="100"/>
              </a:spcBef>
            </a:pPr>
            <a:r>
              <a:rPr dirty="0" sz="2100" spc="-40" b="1">
                <a:solidFill>
                  <a:srgbClr val="FBD34D"/>
                </a:solidFill>
                <a:latin typeface="Tahoma"/>
                <a:cs typeface="Tahoma"/>
              </a:rPr>
              <a:t>Total</a:t>
            </a:r>
            <a:r>
              <a:rPr dirty="0" sz="2100" spc="-6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Word</a:t>
            </a:r>
            <a:r>
              <a:rPr dirty="0" sz="2100" spc="-6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25" b="1">
                <a:solidFill>
                  <a:srgbClr val="FBD34D"/>
                </a:solidFill>
                <a:latin typeface="Tahoma"/>
                <a:cs typeface="Tahoma"/>
              </a:rPr>
              <a:t>Count:</a:t>
            </a:r>
            <a:r>
              <a:rPr dirty="0" sz="2100" spc="-5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~10</a:t>
            </a:r>
            <a:r>
              <a:rPr dirty="0" sz="2100" spc="-10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million</a:t>
            </a:r>
            <a:r>
              <a:rPr dirty="0" sz="2100" spc="-10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tokens </a:t>
            </a:r>
            <a:r>
              <a:rPr dirty="0" sz="2100" spc="-90" b="1">
                <a:solidFill>
                  <a:srgbClr val="FBD34D"/>
                </a:solidFill>
                <a:latin typeface="Tahoma"/>
                <a:cs typeface="Tahoma"/>
              </a:rPr>
              <a:t>Languages:</a:t>
            </a:r>
            <a:r>
              <a:rPr dirty="0" sz="2100" spc="-1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4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45">
                <a:solidFill>
                  <a:srgbClr val="F7FAFB"/>
                </a:solidFill>
                <a:latin typeface="Tahoma"/>
                <a:cs typeface="Tahoma"/>
              </a:rPr>
              <a:t>(Greek,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45">
                <a:solidFill>
                  <a:srgbClr val="F7FAFB"/>
                </a:solidFill>
                <a:latin typeface="Tahoma"/>
                <a:cs typeface="Tahoma"/>
              </a:rPr>
              <a:t>English,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Latin,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45">
                <a:solidFill>
                  <a:srgbClr val="F7FAFB"/>
                </a:solidFill>
                <a:latin typeface="Tahoma"/>
                <a:cs typeface="Tahoma"/>
              </a:rPr>
              <a:t>French) </a:t>
            </a:r>
            <a:r>
              <a:rPr dirty="0" sz="2100" spc="-20" b="1">
                <a:solidFill>
                  <a:srgbClr val="FBD34D"/>
                </a:solidFill>
                <a:latin typeface="Tahoma"/>
                <a:cs typeface="Tahoma"/>
              </a:rPr>
              <a:t>Time</a:t>
            </a:r>
            <a:r>
              <a:rPr dirty="0" sz="2100" spc="-8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85" b="1">
                <a:solidFill>
                  <a:srgbClr val="FBD34D"/>
                </a:solidFill>
                <a:latin typeface="Tahoma"/>
                <a:cs typeface="Tahoma"/>
              </a:rPr>
              <a:t>Span:</a:t>
            </a:r>
            <a:r>
              <a:rPr dirty="0" sz="2100" spc="-7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3000+</a:t>
            </a:r>
            <a:r>
              <a:rPr dirty="0" sz="2100" spc="-11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45">
                <a:solidFill>
                  <a:srgbClr val="F7FAFB"/>
                </a:solidFill>
                <a:latin typeface="Tahoma"/>
                <a:cs typeface="Tahoma"/>
              </a:rPr>
              <a:t>years</a:t>
            </a:r>
            <a:endParaRPr sz="2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35"/>
              </a:spcBef>
            </a:pPr>
            <a:r>
              <a:rPr dirty="0" sz="2100" spc="-30" b="1">
                <a:solidFill>
                  <a:srgbClr val="FBD34D"/>
                </a:solidFill>
                <a:latin typeface="Tahoma"/>
                <a:cs typeface="Tahoma"/>
              </a:rPr>
              <a:t>Number</a:t>
            </a:r>
            <a:r>
              <a:rPr dirty="0" sz="2100" spc="-5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of</a:t>
            </a:r>
            <a:r>
              <a:rPr dirty="0" sz="2100" spc="-5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Predicates</a:t>
            </a:r>
            <a:r>
              <a:rPr dirty="0" sz="2100" spc="-4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Analyzed:</a:t>
            </a:r>
            <a:r>
              <a:rPr dirty="0" sz="2100" spc="-5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~5,000</a:t>
            </a:r>
            <a:r>
              <a:rPr dirty="0" sz="2100" spc="-9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45">
                <a:solidFill>
                  <a:srgbClr val="F7FAFB"/>
                </a:solidFill>
                <a:latin typeface="Tahoma"/>
                <a:cs typeface="Tahoma"/>
              </a:rPr>
              <a:t>lemmas</a:t>
            </a:r>
            <a:endParaRPr sz="2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Valency</a:t>
            </a:r>
            <a:r>
              <a:rPr dirty="0" sz="2100" spc="-8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65" b="1">
                <a:solidFill>
                  <a:srgbClr val="FBD34D"/>
                </a:solidFill>
                <a:latin typeface="Tahoma"/>
                <a:cs typeface="Tahoma"/>
              </a:rPr>
              <a:t>Frames</a:t>
            </a:r>
            <a:r>
              <a:rPr dirty="0" sz="2100" spc="-8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40" b="1">
                <a:solidFill>
                  <a:srgbClr val="FBD34D"/>
                </a:solidFill>
                <a:latin typeface="Tahoma"/>
                <a:cs typeface="Tahoma"/>
              </a:rPr>
              <a:t>Documented:</a:t>
            </a:r>
            <a:r>
              <a:rPr dirty="0" sz="2100" spc="-8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>
                <a:solidFill>
                  <a:srgbClr val="F7FAFB"/>
                </a:solidFill>
                <a:latin typeface="Tahoma"/>
                <a:cs typeface="Tahoma"/>
              </a:rPr>
              <a:t>~15,000+</a:t>
            </a:r>
            <a:endParaRPr sz="2100">
              <a:latin typeface="Tahoma"/>
              <a:cs typeface="Tahoma"/>
            </a:endParaRPr>
          </a:p>
          <a:p>
            <a:pPr marL="12700" marR="203200">
              <a:lnSpc>
                <a:spcPct val="133100"/>
              </a:lnSpc>
              <a:spcBef>
                <a:spcPts val="655"/>
              </a:spcBef>
            </a:pP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These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5">
                <a:solidFill>
                  <a:srgbClr val="F7FAFB"/>
                </a:solidFill>
                <a:latin typeface="Tahoma"/>
                <a:cs typeface="Tahoma"/>
              </a:rPr>
              <a:t>statistics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represent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the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completed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10">
                <a:solidFill>
                  <a:srgbClr val="F7FAFB"/>
                </a:solidFill>
                <a:latin typeface="Tahoma"/>
                <a:cs typeface="Tahoma"/>
              </a:rPr>
              <a:t>first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phase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of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the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0">
                <a:solidFill>
                  <a:srgbClr val="F7FAFB"/>
                </a:solidFill>
                <a:latin typeface="Tahoma"/>
                <a:cs typeface="Tahoma"/>
              </a:rPr>
              <a:t>project.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0">
                <a:solidFill>
                  <a:srgbClr val="F7FAFB"/>
                </a:solidFill>
                <a:latin typeface="Tahoma"/>
                <a:cs typeface="Tahoma"/>
              </a:rPr>
              <a:t>The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10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million</a:t>
            </a:r>
            <a:r>
              <a:rPr dirty="0" sz="2100" spc="-3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tokens</a:t>
            </a:r>
            <a:r>
              <a:rPr dirty="0" sz="2100" spc="-3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are</a:t>
            </a:r>
            <a:r>
              <a:rPr dirty="0" sz="2100" spc="-3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5">
                <a:solidFill>
                  <a:srgbClr val="F7FAFB"/>
                </a:solidFill>
                <a:latin typeface="Tahoma"/>
                <a:cs typeface="Tahoma"/>
              </a:rPr>
              <a:t>distributed</a:t>
            </a:r>
            <a:r>
              <a:rPr dirty="0" sz="2100" spc="-3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across</a:t>
            </a:r>
            <a:r>
              <a:rPr dirty="0" sz="2100" spc="-3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languages</a:t>
            </a:r>
            <a:r>
              <a:rPr dirty="0" sz="2100" spc="-3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5">
                <a:solidFill>
                  <a:srgbClr val="F7FAFB"/>
                </a:solidFill>
                <a:latin typeface="Tahoma"/>
                <a:cs typeface="Tahoma"/>
              </a:rPr>
              <a:t>with</a:t>
            </a:r>
            <a:r>
              <a:rPr dirty="0" sz="2100" spc="-3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14">
                <a:solidFill>
                  <a:srgbClr val="F7FAFB"/>
                </a:solidFill>
                <a:latin typeface="Tahoma"/>
                <a:cs typeface="Tahoma"/>
              </a:rPr>
              <a:t>Greek</a:t>
            </a:r>
            <a:r>
              <a:rPr dirty="0" sz="2100" spc="-3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contributing</a:t>
            </a:r>
            <a:endParaRPr sz="2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35"/>
              </a:spcBef>
            </a:pPr>
            <a:r>
              <a:rPr dirty="0" sz="2100" spc="-20">
                <a:solidFill>
                  <a:srgbClr val="F7FAFB"/>
                </a:solidFill>
                <a:latin typeface="Tahoma"/>
                <a:cs typeface="Tahoma"/>
              </a:rPr>
              <a:t>~4.5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million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(largest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0">
                <a:solidFill>
                  <a:srgbClr val="F7FAFB"/>
                </a:solidFill>
                <a:latin typeface="Tahoma"/>
                <a:cs typeface="Tahoma"/>
              </a:rPr>
              <a:t>due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to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0">
                <a:solidFill>
                  <a:srgbClr val="F7FAFB"/>
                </a:solidFill>
                <a:latin typeface="Tahoma"/>
                <a:cs typeface="Tahoma"/>
              </a:rPr>
              <a:t>spanning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25">
                <a:solidFill>
                  <a:srgbClr val="F7FAFB"/>
                </a:solidFill>
                <a:latin typeface="Tahoma"/>
                <a:cs typeface="Tahoma"/>
              </a:rPr>
              <a:t>3000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years),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English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20">
                <a:solidFill>
                  <a:srgbClr val="F7FAFB"/>
                </a:solidFill>
                <a:latin typeface="Tahoma"/>
                <a:cs typeface="Tahoma"/>
              </a:rPr>
              <a:t>~2.5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million,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Latin</a:t>
            </a:r>
            <a:endParaRPr sz="2100">
              <a:latin typeface="Tahoma"/>
              <a:cs typeface="Tahoma"/>
            </a:endParaRPr>
          </a:p>
          <a:p>
            <a:pPr marL="12700" marR="5080">
              <a:lnSpc>
                <a:spcPct val="133100"/>
              </a:lnSpc>
              <a:spcBef>
                <a:spcPts val="5"/>
              </a:spcBef>
            </a:pP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~2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million,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and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French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~1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million.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0">
                <a:solidFill>
                  <a:srgbClr val="F7FAFB"/>
                </a:solidFill>
                <a:latin typeface="Tahoma"/>
                <a:cs typeface="Tahoma"/>
              </a:rPr>
              <a:t>Each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predicate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45">
                <a:solidFill>
                  <a:srgbClr val="F7FAFB"/>
                </a:solidFill>
                <a:latin typeface="Tahoma"/>
                <a:cs typeface="Tahoma"/>
              </a:rPr>
              <a:t>averages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3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5">
                <a:solidFill>
                  <a:srgbClr val="F7FAFB"/>
                </a:solidFill>
                <a:latin typeface="Tahoma"/>
                <a:cs typeface="Tahoma"/>
              </a:rPr>
              <a:t>different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valency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frames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across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all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0">
                <a:solidFill>
                  <a:srgbClr val="F7FAFB"/>
                </a:solidFill>
                <a:latin typeface="Tahoma"/>
                <a:cs typeface="Tahoma"/>
              </a:rPr>
              <a:t>periods,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5">
                <a:solidFill>
                  <a:srgbClr val="F7FAFB"/>
                </a:solidFill>
                <a:latin typeface="Tahoma"/>
                <a:cs typeface="Tahoma"/>
              </a:rPr>
              <a:t>reflecting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genuine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linguistic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5">
                <a:solidFill>
                  <a:srgbClr val="F7FAFB"/>
                </a:solidFill>
                <a:latin typeface="Tahoma"/>
                <a:cs typeface="Tahoma"/>
              </a:rPr>
              <a:t>variation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25">
                <a:solidFill>
                  <a:srgbClr val="F7FAFB"/>
                </a:solidFill>
                <a:latin typeface="Tahoma"/>
                <a:cs typeface="Tahoma"/>
              </a:rPr>
              <a:t>and</a:t>
            </a:r>
            <a:endParaRPr sz="2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historical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change.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0">
                <a:solidFill>
                  <a:srgbClr val="F7FAFB"/>
                </a:solidFill>
                <a:latin typeface="Tahoma"/>
                <a:cs typeface="Tahoma"/>
              </a:rPr>
              <a:t>The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lexicon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contains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approximately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50,000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individual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1086485"/>
          </a:xfrm>
          <a:custGeom>
            <a:avLst/>
            <a:gdLst/>
            <a:ahLst/>
            <a:cxnLst/>
            <a:rect l="l" t="t" r="r" b="b"/>
            <a:pathLst>
              <a:path w="50165" h="1086485">
                <a:moveTo>
                  <a:pt x="50125" y="1086053"/>
                </a:moveTo>
                <a:lnTo>
                  <a:pt x="0" y="1086053"/>
                </a:lnTo>
                <a:lnTo>
                  <a:pt x="0" y="0"/>
                </a:lnTo>
                <a:lnTo>
                  <a:pt x="50125" y="0"/>
                </a:lnTo>
                <a:lnTo>
                  <a:pt x="50125" y="1086053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83336" y="1444752"/>
            <a:ext cx="8598535" cy="445134"/>
          </a:xfrm>
          <a:custGeom>
            <a:avLst/>
            <a:gdLst/>
            <a:ahLst/>
            <a:cxnLst/>
            <a:rect l="l" t="t" r="r" b="b"/>
            <a:pathLst>
              <a:path w="8598535" h="445135">
                <a:moveTo>
                  <a:pt x="8598407" y="445007"/>
                </a:moveTo>
                <a:lnTo>
                  <a:pt x="0" y="445007"/>
                </a:lnTo>
                <a:lnTo>
                  <a:pt x="0" y="0"/>
                </a:lnTo>
                <a:lnTo>
                  <a:pt x="8598407" y="0"/>
                </a:lnTo>
                <a:lnTo>
                  <a:pt x="8598407" y="445007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89308" y="1360331"/>
            <a:ext cx="8552815" cy="5067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75"/>
              <a:t>Question:</a:t>
            </a:r>
            <a:r>
              <a:rPr dirty="0" spc="-125"/>
              <a:t> </a:t>
            </a:r>
            <a:r>
              <a:rPr dirty="0" spc="-95"/>
              <a:t>How</a:t>
            </a:r>
            <a:r>
              <a:rPr dirty="0" spc="-120"/>
              <a:t> </a:t>
            </a:r>
            <a:r>
              <a:rPr dirty="0" spc="-90"/>
              <a:t>are</a:t>
            </a:r>
            <a:r>
              <a:rPr dirty="0" spc="-125"/>
              <a:t> </a:t>
            </a:r>
            <a:r>
              <a:rPr dirty="0" spc="-105"/>
              <a:t>tokens</a:t>
            </a:r>
            <a:r>
              <a:rPr dirty="0" spc="-120"/>
              <a:t> </a:t>
            </a:r>
            <a:r>
              <a:rPr dirty="0" spc="-55"/>
              <a:t>distributed</a:t>
            </a:r>
            <a:r>
              <a:rPr dirty="0" spc="-120"/>
              <a:t> </a:t>
            </a:r>
            <a:r>
              <a:rPr dirty="0" spc="-25"/>
              <a:t>across</a:t>
            </a:r>
          </a:p>
        </p:txBody>
      </p:sp>
      <p:sp>
        <p:nvSpPr>
          <p:cNvPr id="5" name="object 5" descr=""/>
          <p:cNvSpPr/>
          <p:nvPr/>
        </p:nvSpPr>
        <p:spPr>
          <a:xfrm>
            <a:off x="798575" y="1987295"/>
            <a:ext cx="2155190" cy="463550"/>
          </a:xfrm>
          <a:custGeom>
            <a:avLst/>
            <a:gdLst/>
            <a:ahLst/>
            <a:cxnLst/>
            <a:rect l="l" t="t" r="r" b="b"/>
            <a:pathLst>
              <a:path w="2155190" h="463550">
                <a:moveTo>
                  <a:pt x="2154935" y="463295"/>
                </a:moveTo>
                <a:lnTo>
                  <a:pt x="0" y="463295"/>
                </a:lnTo>
                <a:lnTo>
                  <a:pt x="0" y="0"/>
                </a:lnTo>
                <a:lnTo>
                  <a:pt x="2154935" y="0"/>
                </a:lnTo>
                <a:lnTo>
                  <a:pt x="2154935" y="463295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789308" y="1903358"/>
            <a:ext cx="2122170" cy="5067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150" spc="-155" b="1">
                <a:solidFill>
                  <a:srgbClr val="60A5FA"/>
                </a:solidFill>
                <a:latin typeface="Tahoma"/>
                <a:cs typeface="Tahoma"/>
              </a:rPr>
              <a:t>languages?</a:t>
            </a:r>
            <a:endParaRPr sz="3150">
              <a:latin typeface="Tahoma"/>
              <a:cs typeface="Tahoma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3428178"/>
            <a:ext cx="91896" cy="9189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3987913"/>
            <a:ext cx="91896" cy="91896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4547649"/>
            <a:ext cx="91896" cy="91896"/>
          </a:xfrm>
          <a:prstGeom prst="rect">
            <a:avLst/>
          </a:prstGeom>
        </p:spPr>
      </p:pic>
      <p:sp>
        <p:nvSpPr>
          <p:cNvPr id="10" name="object 10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Distribution</a:t>
            </a:r>
            <a:r>
              <a:rPr dirty="0" spc="-45"/>
              <a:t> </a:t>
            </a:r>
            <a:r>
              <a:rPr dirty="0" spc="-10"/>
              <a:t>questions:</a:t>
            </a:r>
          </a:p>
          <a:p>
            <a:pPr marL="346710" marR="5080">
              <a:lnSpc>
                <a:spcPct val="174900"/>
              </a:lnSpc>
              <a:spcBef>
                <a:spcPts val="1250"/>
              </a:spcBef>
            </a:pPr>
            <a:r>
              <a:rPr dirty="0" spc="114" b="0">
                <a:solidFill>
                  <a:srgbClr val="F7FAFB"/>
                </a:solidFill>
                <a:latin typeface="Tahoma"/>
                <a:cs typeface="Tahoma"/>
              </a:rPr>
              <a:t>Which</a:t>
            </a:r>
            <a:r>
              <a:rPr dirty="0" b="0">
                <a:solidFill>
                  <a:srgbClr val="F7FAFB"/>
                </a:solidFill>
                <a:latin typeface="Tahoma"/>
                <a:cs typeface="Tahoma"/>
              </a:rPr>
              <a:t> language has </a:t>
            </a:r>
            <a:r>
              <a:rPr dirty="0" spc="75" b="0">
                <a:solidFill>
                  <a:srgbClr val="F7FAFB"/>
                </a:solidFill>
                <a:latin typeface="Tahoma"/>
                <a:cs typeface="Tahoma"/>
              </a:rPr>
              <a:t>the</a:t>
            </a:r>
            <a:r>
              <a:rPr dirty="0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70" b="0">
                <a:solidFill>
                  <a:srgbClr val="F7FAFB"/>
                </a:solidFill>
                <a:latin typeface="Tahoma"/>
                <a:cs typeface="Tahoma"/>
              </a:rPr>
              <a:t>most</a:t>
            </a:r>
            <a:r>
              <a:rPr dirty="0" spc="5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40" b="0">
                <a:solidFill>
                  <a:srgbClr val="F7FAFB"/>
                </a:solidFill>
                <a:latin typeface="Tahoma"/>
                <a:cs typeface="Tahoma"/>
              </a:rPr>
              <a:t>tokens? </a:t>
            </a:r>
            <a:r>
              <a:rPr dirty="0" spc="130" b="0">
                <a:solidFill>
                  <a:srgbClr val="F7FAFB"/>
                </a:solidFill>
                <a:latin typeface="Tahoma"/>
                <a:cs typeface="Tahoma"/>
              </a:rPr>
              <a:t>How</a:t>
            </a:r>
            <a:r>
              <a:rPr dirty="0" spc="-80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70" b="0">
                <a:solidFill>
                  <a:srgbClr val="F7FAFB"/>
                </a:solidFill>
                <a:latin typeface="Tahoma"/>
                <a:cs typeface="Tahoma"/>
              </a:rPr>
              <a:t>are</a:t>
            </a:r>
            <a:r>
              <a:rPr dirty="0" spc="-80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85" b="0">
                <a:solidFill>
                  <a:srgbClr val="F7FAFB"/>
                </a:solidFill>
                <a:latin typeface="Tahoma"/>
                <a:cs typeface="Tahoma"/>
              </a:rPr>
              <a:t>periods</a:t>
            </a:r>
            <a:r>
              <a:rPr dirty="0" spc="-75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65" b="0">
                <a:solidFill>
                  <a:srgbClr val="F7FAFB"/>
                </a:solidFill>
                <a:latin typeface="Tahoma"/>
                <a:cs typeface="Tahoma"/>
              </a:rPr>
              <a:t>represented?</a:t>
            </a:r>
          </a:p>
          <a:p>
            <a:pPr marL="346710">
              <a:lnSpc>
                <a:spcPct val="100000"/>
              </a:lnSpc>
              <a:spcBef>
                <a:spcPts val="1885"/>
              </a:spcBef>
            </a:pPr>
            <a:r>
              <a:rPr dirty="0" spc="120" b="0">
                <a:solidFill>
                  <a:srgbClr val="F7FAFB"/>
                </a:solidFill>
                <a:latin typeface="Tahoma"/>
                <a:cs typeface="Tahoma"/>
              </a:rPr>
              <a:t>Why</a:t>
            </a:r>
            <a:r>
              <a:rPr dirty="0" spc="-85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70" b="0">
                <a:solidFill>
                  <a:srgbClr val="F7FAFB"/>
                </a:solidFill>
                <a:latin typeface="Tahoma"/>
                <a:cs typeface="Tahoma"/>
              </a:rPr>
              <a:t>these</a:t>
            </a:r>
            <a:r>
              <a:rPr dirty="0" spc="-80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85" b="0">
                <a:solidFill>
                  <a:srgbClr val="F7FAFB"/>
                </a:solidFill>
                <a:latin typeface="Tahoma"/>
                <a:cs typeface="Tahoma"/>
              </a:rPr>
              <a:t>specific</a:t>
            </a:r>
            <a:r>
              <a:rPr dirty="0" spc="-80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65" b="0">
                <a:solidFill>
                  <a:srgbClr val="F7FAFB"/>
                </a:solidFill>
                <a:latin typeface="Tahoma"/>
                <a:cs typeface="Tahoma"/>
              </a:rPr>
              <a:t>allocations?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543560"/>
          </a:xfrm>
          <a:custGeom>
            <a:avLst/>
            <a:gdLst/>
            <a:ahLst/>
            <a:cxnLst/>
            <a:rect l="l" t="t" r="r" b="b"/>
            <a:pathLst>
              <a:path w="50165" h="543560">
                <a:moveTo>
                  <a:pt x="50125" y="543026"/>
                </a:moveTo>
                <a:lnTo>
                  <a:pt x="0" y="543026"/>
                </a:lnTo>
                <a:lnTo>
                  <a:pt x="0" y="0"/>
                </a:lnTo>
                <a:lnTo>
                  <a:pt x="50125" y="0"/>
                </a:lnTo>
                <a:lnTo>
                  <a:pt x="50125" y="543026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584797" y="2166685"/>
            <a:ext cx="9524365" cy="1253490"/>
          </a:xfrm>
          <a:custGeom>
            <a:avLst/>
            <a:gdLst/>
            <a:ahLst/>
            <a:cxnLst/>
            <a:rect l="l" t="t" r="r" b="b"/>
            <a:pathLst>
              <a:path w="9524365" h="1253489">
                <a:moveTo>
                  <a:pt x="9523853" y="1253138"/>
                </a:moveTo>
                <a:lnTo>
                  <a:pt x="0" y="1253138"/>
                </a:lnTo>
                <a:lnTo>
                  <a:pt x="0" y="0"/>
                </a:lnTo>
                <a:lnTo>
                  <a:pt x="9523853" y="0"/>
                </a:lnTo>
                <a:lnTo>
                  <a:pt x="9523853" y="1253138"/>
                </a:lnTo>
                <a:close/>
              </a:path>
            </a:pathLst>
          </a:custGeom>
          <a:solidFill>
            <a:srgbClr val="4559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780287" y="1444752"/>
            <a:ext cx="7931150" cy="463550"/>
          </a:xfrm>
          <a:custGeom>
            <a:avLst/>
            <a:gdLst/>
            <a:ahLst/>
            <a:cxnLst/>
            <a:rect l="l" t="t" r="r" b="b"/>
            <a:pathLst>
              <a:path w="7931150" h="463550">
                <a:moveTo>
                  <a:pt x="7930895" y="463295"/>
                </a:moveTo>
                <a:lnTo>
                  <a:pt x="0" y="463295"/>
                </a:lnTo>
                <a:lnTo>
                  <a:pt x="0" y="0"/>
                </a:lnTo>
                <a:lnTo>
                  <a:pt x="7930895" y="0"/>
                </a:lnTo>
                <a:lnTo>
                  <a:pt x="7930895" y="463295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80"/>
              <a:t>Corpus</a:t>
            </a:r>
            <a:r>
              <a:rPr dirty="0" spc="-140"/>
              <a:t> </a:t>
            </a:r>
            <a:r>
              <a:rPr dirty="0" spc="-65"/>
              <a:t>Statistics</a:t>
            </a:r>
            <a:r>
              <a:rPr dirty="0" spc="-135"/>
              <a:t> </a:t>
            </a:r>
            <a:r>
              <a:rPr dirty="0" spc="-110"/>
              <a:t>by</a:t>
            </a:r>
            <a:r>
              <a:rPr dirty="0" spc="-135"/>
              <a:t> </a:t>
            </a:r>
            <a:r>
              <a:rPr dirty="0" spc="-160"/>
              <a:t>Language</a:t>
            </a:r>
            <a:r>
              <a:rPr dirty="0" spc="-135"/>
              <a:t> and </a:t>
            </a:r>
            <a:r>
              <a:rPr dirty="0" spc="-10"/>
              <a:t>Period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572097" y="3435529"/>
            <a:ext cx="9272270" cy="259016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>
              <a:lnSpc>
                <a:spcPct val="133700"/>
              </a:lnSpc>
              <a:spcBef>
                <a:spcPts val="85"/>
              </a:spcBef>
            </a:pP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This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breakdown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0">
                <a:solidFill>
                  <a:srgbClr val="F7FAFB"/>
                </a:solidFill>
                <a:latin typeface="Tahoma"/>
                <a:cs typeface="Tahoma"/>
              </a:rPr>
              <a:t>shows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how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corpus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resources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are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allocated.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14">
                <a:solidFill>
                  <a:srgbClr val="F7FAFB"/>
                </a:solidFill>
                <a:latin typeface="Tahoma"/>
                <a:cs typeface="Tahoma"/>
              </a:rPr>
              <a:t>Greek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has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0">
                <a:solidFill>
                  <a:srgbClr val="F7FAFB"/>
                </a:solidFill>
                <a:latin typeface="Tahoma"/>
                <a:cs typeface="Tahoma"/>
              </a:rPr>
              <a:t>the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most</a:t>
            </a:r>
            <a:r>
              <a:rPr dirty="0" sz="2100" spc="-4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texts</a:t>
            </a:r>
            <a:r>
              <a:rPr dirty="0" sz="2100" spc="-3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and</a:t>
            </a:r>
            <a:r>
              <a:rPr dirty="0" sz="2100" spc="-4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tokens</a:t>
            </a:r>
            <a:r>
              <a:rPr dirty="0" sz="2100" spc="-3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because</a:t>
            </a:r>
            <a:r>
              <a:rPr dirty="0" sz="2100" spc="-3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10">
                <a:solidFill>
                  <a:srgbClr val="F7FAFB"/>
                </a:solidFill>
                <a:latin typeface="Tahoma"/>
                <a:cs typeface="Tahoma"/>
              </a:rPr>
              <a:t>it</a:t>
            </a:r>
            <a:r>
              <a:rPr dirty="0" sz="2100" spc="-4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spans</a:t>
            </a:r>
            <a:r>
              <a:rPr dirty="0" sz="2100" spc="-3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the</a:t>
            </a:r>
            <a:r>
              <a:rPr dirty="0" sz="2100" spc="-3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longest</a:t>
            </a:r>
            <a:r>
              <a:rPr dirty="0" sz="2100" spc="-4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period</a:t>
            </a:r>
            <a:r>
              <a:rPr dirty="0" sz="2100" spc="-3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and</a:t>
            </a:r>
            <a:r>
              <a:rPr dirty="0" sz="2100" spc="-3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includes </a:t>
            </a:r>
            <a:r>
              <a:rPr dirty="0" sz="2100" spc="95">
                <a:solidFill>
                  <a:srgbClr val="F7FAFB"/>
                </a:solidFill>
                <a:latin typeface="Tahoma"/>
                <a:cs typeface="Tahoma"/>
              </a:rPr>
              <a:t>multiple</a:t>
            </a:r>
            <a:r>
              <a:rPr dirty="0" sz="2100" spc="-4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diachronic</a:t>
            </a:r>
            <a:r>
              <a:rPr dirty="0" sz="2100" spc="-4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stages.</a:t>
            </a:r>
            <a:r>
              <a:rPr dirty="0" sz="2100" spc="-4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0">
                <a:solidFill>
                  <a:srgbClr val="F7FAFB"/>
                </a:solidFill>
                <a:latin typeface="Tahoma"/>
                <a:cs typeface="Tahoma"/>
              </a:rPr>
              <a:t>The</a:t>
            </a:r>
            <a:r>
              <a:rPr dirty="0" sz="2100" spc="-4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5">
                <a:solidFill>
                  <a:srgbClr val="F7FAFB"/>
                </a:solidFill>
                <a:latin typeface="Tahoma"/>
                <a:cs typeface="Tahoma"/>
              </a:rPr>
              <a:t>distribution</a:t>
            </a:r>
            <a:r>
              <a:rPr dirty="0" sz="2100" spc="-4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ensures</a:t>
            </a:r>
            <a:r>
              <a:rPr dirty="0" sz="2100" spc="-4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0">
                <a:solidFill>
                  <a:srgbClr val="F7FAFB"/>
                </a:solidFill>
                <a:latin typeface="Tahoma"/>
                <a:cs typeface="Tahoma"/>
              </a:rPr>
              <a:t>adequate </a:t>
            </a:r>
            <a:r>
              <a:rPr dirty="0" sz="2100" spc="95">
                <a:solidFill>
                  <a:srgbClr val="F7FAFB"/>
                </a:solidFill>
                <a:latin typeface="Tahoma"/>
                <a:cs typeface="Tahoma"/>
              </a:rPr>
              <a:t>representation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of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each</a:t>
            </a:r>
            <a:r>
              <a:rPr dirty="0" sz="2100" spc="-5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0">
                <a:solidFill>
                  <a:srgbClr val="F7FAFB"/>
                </a:solidFill>
                <a:latin typeface="Tahoma"/>
                <a:cs typeface="Tahoma"/>
              </a:rPr>
              <a:t>major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period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for</a:t>
            </a:r>
            <a:r>
              <a:rPr dirty="0" sz="2100" spc="-5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robust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statistical</a:t>
            </a:r>
            <a:r>
              <a:rPr dirty="0" sz="2100" spc="-5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0">
                <a:solidFill>
                  <a:srgbClr val="F7FAFB"/>
                </a:solidFill>
                <a:latin typeface="Tahoma"/>
                <a:cs typeface="Tahoma"/>
              </a:rPr>
              <a:t>analysis.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40">
                <a:solidFill>
                  <a:srgbClr val="F7FAFB"/>
                </a:solidFill>
                <a:latin typeface="Tahoma"/>
                <a:cs typeface="Tahoma"/>
              </a:rPr>
              <a:t>Each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period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contains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at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least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350,000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45">
                <a:solidFill>
                  <a:srgbClr val="F7FAFB"/>
                </a:solidFill>
                <a:latin typeface="Tahoma"/>
                <a:cs typeface="Tahoma"/>
              </a:rPr>
              <a:t>tokens,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5">
                <a:solidFill>
                  <a:srgbClr val="F7FAFB"/>
                </a:solidFill>
                <a:latin typeface="Tahoma"/>
                <a:cs typeface="Tahoma"/>
              </a:rPr>
              <a:t>sufficient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for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reliable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valency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extraction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0">
                <a:solidFill>
                  <a:srgbClr val="F7FAFB"/>
                </a:solidFill>
                <a:latin typeface="Tahoma"/>
                <a:cs typeface="Tahoma"/>
              </a:rPr>
              <a:t>given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Zipfian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frequency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distributions.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1086485"/>
          </a:xfrm>
          <a:custGeom>
            <a:avLst/>
            <a:gdLst/>
            <a:ahLst/>
            <a:cxnLst/>
            <a:rect l="l" t="t" r="r" b="b"/>
            <a:pathLst>
              <a:path w="50165" h="1086485">
                <a:moveTo>
                  <a:pt x="50125" y="1086053"/>
                </a:moveTo>
                <a:lnTo>
                  <a:pt x="0" y="1086053"/>
                </a:lnTo>
                <a:lnTo>
                  <a:pt x="0" y="0"/>
                </a:lnTo>
                <a:lnTo>
                  <a:pt x="50125" y="0"/>
                </a:lnTo>
                <a:lnTo>
                  <a:pt x="50125" y="1086053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83336" y="1444752"/>
            <a:ext cx="7790815" cy="445134"/>
          </a:xfrm>
          <a:custGeom>
            <a:avLst/>
            <a:gdLst/>
            <a:ahLst/>
            <a:cxnLst/>
            <a:rect l="l" t="t" r="r" b="b"/>
            <a:pathLst>
              <a:path w="7790815" h="445135">
                <a:moveTo>
                  <a:pt x="7790687" y="445007"/>
                </a:moveTo>
                <a:lnTo>
                  <a:pt x="0" y="445007"/>
                </a:lnTo>
                <a:lnTo>
                  <a:pt x="0" y="0"/>
                </a:lnTo>
                <a:lnTo>
                  <a:pt x="7790687" y="0"/>
                </a:lnTo>
                <a:lnTo>
                  <a:pt x="7790687" y="445007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75"/>
              <a:t>Question:</a:t>
            </a:r>
            <a:r>
              <a:rPr dirty="0" spc="-160"/>
              <a:t> </a:t>
            </a:r>
            <a:r>
              <a:rPr dirty="0"/>
              <a:t>What</a:t>
            </a:r>
            <a:r>
              <a:rPr dirty="0" spc="-155"/>
              <a:t> </a:t>
            </a:r>
            <a:r>
              <a:rPr dirty="0" spc="-60"/>
              <a:t>technical</a:t>
            </a:r>
            <a:r>
              <a:rPr dirty="0" spc="-160"/>
              <a:t> </a:t>
            </a:r>
            <a:r>
              <a:rPr dirty="0" spc="-30"/>
              <a:t>infrastructure</a:t>
            </a:r>
          </a:p>
        </p:txBody>
      </p:sp>
      <p:sp>
        <p:nvSpPr>
          <p:cNvPr id="5" name="object 5" descr=""/>
          <p:cNvSpPr/>
          <p:nvPr/>
        </p:nvSpPr>
        <p:spPr>
          <a:xfrm>
            <a:off x="777239" y="1987295"/>
            <a:ext cx="4063365" cy="457200"/>
          </a:xfrm>
          <a:custGeom>
            <a:avLst/>
            <a:gdLst/>
            <a:ahLst/>
            <a:cxnLst/>
            <a:rect l="l" t="t" r="r" b="b"/>
            <a:pathLst>
              <a:path w="4063365" h="457200">
                <a:moveTo>
                  <a:pt x="4062983" y="457199"/>
                </a:moveTo>
                <a:lnTo>
                  <a:pt x="0" y="457199"/>
                </a:lnTo>
                <a:lnTo>
                  <a:pt x="0" y="0"/>
                </a:lnTo>
                <a:lnTo>
                  <a:pt x="4062983" y="0"/>
                </a:lnTo>
                <a:lnTo>
                  <a:pt x="4062983" y="45719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789308" y="1903358"/>
            <a:ext cx="4008120" cy="5067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150" spc="-100" b="1">
                <a:solidFill>
                  <a:srgbClr val="60A5FA"/>
                </a:solidFill>
                <a:latin typeface="Tahoma"/>
                <a:cs typeface="Tahoma"/>
              </a:rPr>
              <a:t>supports</a:t>
            </a:r>
            <a:r>
              <a:rPr dirty="0" sz="3150" spc="-120" b="1">
                <a:solidFill>
                  <a:srgbClr val="60A5FA"/>
                </a:solidFill>
                <a:latin typeface="Tahoma"/>
                <a:cs typeface="Tahoma"/>
              </a:rPr>
              <a:t> </a:t>
            </a:r>
            <a:r>
              <a:rPr dirty="0" sz="3150" spc="-90" b="1">
                <a:solidFill>
                  <a:srgbClr val="60A5FA"/>
                </a:solidFill>
                <a:latin typeface="Tahoma"/>
                <a:cs typeface="Tahoma"/>
              </a:rPr>
              <a:t>the</a:t>
            </a:r>
            <a:r>
              <a:rPr dirty="0" sz="3150" spc="-120" b="1">
                <a:solidFill>
                  <a:srgbClr val="60A5FA"/>
                </a:solidFill>
                <a:latin typeface="Tahoma"/>
                <a:cs typeface="Tahoma"/>
              </a:rPr>
              <a:t> </a:t>
            </a:r>
            <a:r>
              <a:rPr dirty="0" sz="3150" spc="-90" b="1">
                <a:solidFill>
                  <a:srgbClr val="60A5FA"/>
                </a:solidFill>
                <a:latin typeface="Tahoma"/>
                <a:cs typeface="Tahoma"/>
              </a:rPr>
              <a:t>corpus?</a:t>
            </a:r>
            <a:endParaRPr sz="3150">
              <a:latin typeface="Tahoma"/>
              <a:cs typeface="Tahoma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3428178"/>
            <a:ext cx="91896" cy="9189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3987913"/>
            <a:ext cx="91896" cy="91896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4547649"/>
            <a:ext cx="91896" cy="91896"/>
          </a:xfrm>
          <a:prstGeom prst="rect">
            <a:avLst/>
          </a:prstGeom>
        </p:spPr>
      </p:pic>
      <p:sp>
        <p:nvSpPr>
          <p:cNvPr id="10" name="object 10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35"/>
              <a:t>Infrastructure </a:t>
            </a:r>
            <a:r>
              <a:rPr dirty="0" spc="-10"/>
              <a:t>components:</a:t>
            </a:r>
          </a:p>
          <a:p>
            <a:pPr marL="346710" marR="5080">
              <a:lnSpc>
                <a:spcPct val="174900"/>
              </a:lnSpc>
              <a:spcBef>
                <a:spcPts val="1250"/>
              </a:spcBef>
            </a:pPr>
            <a:r>
              <a:rPr dirty="0" spc="125" b="0">
                <a:solidFill>
                  <a:srgbClr val="F7FAFB"/>
                </a:solidFill>
                <a:latin typeface="Tahoma"/>
                <a:cs typeface="Tahoma"/>
              </a:rPr>
              <a:t>What</a:t>
            </a:r>
            <a:r>
              <a:rPr dirty="0" spc="20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60" b="0">
                <a:solidFill>
                  <a:srgbClr val="F7FAFB"/>
                </a:solidFill>
                <a:latin typeface="Tahoma"/>
                <a:cs typeface="Tahoma"/>
              </a:rPr>
              <a:t>programming</a:t>
            </a:r>
            <a:r>
              <a:rPr dirty="0" spc="20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b="0">
                <a:solidFill>
                  <a:srgbClr val="F7FAFB"/>
                </a:solidFill>
                <a:latin typeface="Tahoma"/>
                <a:cs typeface="Tahoma"/>
              </a:rPr>
              <a:t>languages</a:t>
            </a:r>
            <a:r>
              <a:rPr dirty="0" spc="20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70" b="0">
                <a:solidFill>
                  <a:srgbClr val="F7FAFB"/>
                </a:solidFill>
                <a:latin typeface="Tahoma"/>
                <a:cs typeface="Tahoma"/>
              </a:rPr>
              <a:t>are</a:t>
            </a:r>
            <a:r>
              <a:rPr dirty="0" spc="25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-10" b="0">
                <a:solidFill>
                  <a:srgbClr val="F7FAFB"/>
                </a:solidFill>
                <a:latin typeface="Tahoma"/>
                <a:cs typeface="Tahoma"/>
              </a:rPr>
              <a:t>used? </a:t>
            </a:r>
            <a:r>
              <a:rPr dirty="0" spc="125" b="0">
                <a:solidFill>
                  <a:srgbClr val="F7FAFB"/>
                </a:solidFill>
                <a:latin typeface="Tahoma"/>
                <a:cs typeface="Tahoma"/>
              </a:rPr>
              <a:t>What</a:t>
            </a:r>
            <a:r>
              <a:rPr dirty="0" spc="-80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65" b="0">
                <a:solidFill>
                  <a:srgbClr val="F7FAFB"/>
                </a:solidFill>
                <a:latin typeface="Tahoma"/>
                <a:cs typeface="Tahoma"/>
              </a:rPr>
              <a:t>encoding</a:t>
            </a:r>
            <a:r>
              <a:rPr dirty="0" spc="-75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50" b="0">
                <a:solidFill>
                  <a:srgbClr val="F7FAFB"/>
                </a:solidFill>
                <a:latin typeface="Tahoma"/>
                <a:cs typeface="Tahoma"/>
              </a:rPr>
              <a:t>standards?</a:t>
            </a:r>
          </a:p>
          <a:p>
            <a:pPr marL="346710">
              <a:lnSpc>
                <a:spcPct val="100000"/>
              </a:lnSpc>
              <a:spcBef>
                <a:spcPts val="1885"/>
              </a:spcBef>
            </a:pPr>
            <a:r>
              <a:rPr dirty="0" spc="130" b="0">
                <a:solidFill>
                  <a:srgbClr val="F7FAFB"/>
                </a:solidFill>
                <a:latin typeface="Tahoma"/>
                <a:cs typeface="Tahoma"/>
              </a:rPr>
              <a:t>How</a:t>
            </a:r>
            <a:r>
              <a:rPr dirty="0" spc="-85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55" b="0">
                <a:solidFill>
                  <a:srgbClr val="F7FAFB"/>
                </a:solidFill>
                <a:latin typeface="Tahoma"/>
                <a:cs typeface="Tahoma"/>
              </a:rPr>
              <a:t>is</a:t>
            </a:r>
            <a:r>
              <a:rPr dirty="0" spc="-85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65" b="0">
                <a:solidFill>
                  <a:srgbClr val="F7FAFB"/>
                </a:solidFill>
                <a:latin typeface="Tahoma"/>
                <a:cs typeface="Tahoma"/>
              </a:rPr>
              <a:t>data</a:t>
            </a:r>
            <a:r>
              <a:rPr dirty="0" spc="-80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-10" b="0">
                <a:solidFill>
                  <a:srgbClr val="F7FAFB"/>
                </a:solidFill>
                <a:latin typeface="Tahoma"/>
                <a:cs typeface="Tahoma"/>
              </a:rPr>
              <a:t>accessed?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543560"/>
          </a:xfrm>
          <a:custGeom>
            <a:avLst/>
            <a:gdLst/>
            <a:ahLst/>
            <a:cxnLst/>
            <a:rect l="l" t="t" r="r" b="b"/>
            <a:pathLst>
              <a:path w="50165" h="543560">
                <a:moveTo>
                  <a:pt x="50125" y="543026"/>
                </a:moveTo>
                <a:lnTo>
                  <a:pt x="0" y="543026"/>
                </a:lnTo>
                <a:lnTo>
                  <a:pt x="0" y="0"/>
                </a:lnTo>
                <a:lnTo>
                  <a:pt x="50125" y="0"/>
                </a:lnTo>
                <a:lnTo>
                  <a:pt x="50125" y="543026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77239" y="1444752"/>
            <a:ext cx="4700270" cy="396240"/>
          </a:xfrm>
          <a:custGeom>
            <a:avLst/>
            <a:gdLst/>
            <a:ahLst/>
            <a:cxnLst/>
            <a:rect l="l" t="t" r="r" b="b"/>
            <a:pathLst>
              <a:path w="4700270" h="396239">
                <a:moveTo>
                  <a:pt x="4700015" y="396239"/>
                </a:moveTo>
                <a:lnTo>
                  <a:pt x="0" y="396239"/>
                </a:lnTo>
                <a:lnTo>
                  <a:pt x="0" y="0"/>
                </a:lnTo>
                <a:lnTo>
                  <a:pt x="4700015" y="0"/>
                </a:lnTo>
                <a:lnTo>
                  <a:pt x="4700015" y="39623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95"/>
              <a:t>Technical</a:t>
            </a:r>
            <a:r>
              <a:rPr dirty="0" spc="-150"/>
              <a:t> </a:t>
            </a:r>
            <a:r>
              <a:rPr dirty="0" spc="-70"/>
              <a:t>Infrastructure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2885151"/>
            <a:ext cx="91896" cy="91896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3444887"/>
            <a:ext cx="91896" cy="9189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4004622"/>
            <a:ext cx="91896" cy="9189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4572711"/>
            <a:ext cx="91896" cy="91896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5132447"/>
            <a:ext cx="91896" cy="91896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572097" y="2020317"/>
            <a:ext cx="9196705" cy="48914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 spc="-55" b="1">
                <a:solidFill>
                  <a:srgbClr val="FBD34D"/>
                </a:solidFill>
                <a:latin typeface="Tahoma"/>
                <a:cs typeface="Tahoma"/>
              </a:rPr>
              <a:t>Tools</a:t>
            </a:r>
            <a:r>
              <a:rPr dirty="0" sz="2100" spc="-7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65" b="1">
                <a:solidFill>
                  <a:srgbClr val="FBD34D"/>
                </a:solidFill>
                <a:latin typeface="Tahoma"/>
                <a:cs typeface="Tahoma"/>
              </a:rPr>
              <a:t>and</a:t>
            </a:r>
            <a:r>
              <a:rPr dirty="0" sz="2100" spc="-7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Technologies:</a:t>
            </a:r>
            <a:endParaRPr sz="2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sz="2100">
              <a:latin typeface="Tahoma"/>
              <a:cs typeface="Tahoma"/>
            </a:endParaRPr>
          </a:p>
          <a:p>
            <a:pPr marL="346710">
              <a:lnSpc>
                <a:spcPct val="100000"/>
              </a:lnSpc>
            </a:pP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Python</a:t>
            </a:r>
            <a:r>
              <a:rPr dirty="0" sz="2100" spc="1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for</a:t>
            </a:r>
            <a:r>
              <a:rPr dirty="0" sz="2100" spc="-3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text</a:t>
            </a:r>
            <a:r>
              <a:rPr dirty="0" sz="2100" spc="-3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processing</a:t>
            </a:r>
            <a:r>
              <a:rPr dirty="0" sz="2100" spc="-3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(NLTK,</a:t>
            </a:r>
            <a:r>
              <a:rPr dirty="0" sz="2100" spc="-3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spaCy,</a:t>
            </a:r>
            <a:r>
              <a:rPr dirty="0" sz="2100" spc="-3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custom</a:t>
            </a:r>
            <a:r>
              <a:rPr dirty="0" sz="2100" spc="-3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45">
                <a:solidFill>
                  <a:srgbClr val="F7FAFB"/>
                </a:solidFill>
                <a:latin typeface="Tahoma"/>
                <a:cs typeface="Tahoma"/>
              </a:rPr>
              <a:t>parsers)</a:t>
            </a:r>
            <a:endParaRPr sz="2100">
              <a:latin typeface="Tahoma"/>
              <a:cs typeface="Tahoma"/>
            </a:endParaRPr>
          </a:p>
          <a:p>
            <a:pPr marL="346710">
              <a:lnSpc>
                <a:spcPct val="100000"/>
              </a:lnSpc>
              <a:spcBef>
                <a:spcPts val="1890"/>
              </a:spcBef>
            </a:pPr>
            <a:r>
              <a:rPr dirty="0" sz="2100" spc="-40" b="1">
                <a:solidFill>
                  <a:srgbClr val="FBD34D"/>
                </a:solidFill>
                <a:latin typeface="Tahoma"/>
                <a:cs typeface="Tahoma"/>
              </a:rPr>
              <a:t>XML/TEI</a:t>
            </a:r>
            <a:r>
              <a:rPr dirty="0" sz="2100" spc="-5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for</a:t>
            </a:r>
            <a:r>
              <a:rPr dirty="0" sz="2100" spc="-9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text</a:t>
            </a:r>
            <a:r>
              <a:rPr dirty="0" sz="2100" spc="-9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encoding</a:t>
            </a:r>
            <a:r>
              <a:rPr dirty="0" sz="2100" spc="-9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(P5</a:t>
            </a:r>
            <a:r>
              <a:rPr dirty="0" sz="2100" spc="-9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0">
                <a:solidFill>
                  <a:srgbClr val="F7FAFB"/>
                </a:solidFill>
                <a:latin typeface="Tahoma"/>
                <a:cs typeface="Tahoma"/>
              </a:rPr>
              <a:t>standard)</a:t>
            </a:r>
            <a:endParaRPr sz="2100">
              <a:latin typeface="Tahoma"/>
              <a:cs typeface="Tahoma"/>
            </a:endParaRPr>
          </a:p>
          <a:p>
            <a:pPr marL="346710">
              <a:lnSpc>
                <a:spcPct val="100000"/>
              </a:lnSpc>
              <a:spcBef>
                <a:spcPts val="1885"/>
              </a:spcBef>
            </a:pP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SQL</a:t>
            </a:r>
            <a:r>
              <a:rPr dirty="0" sz="2100" spc="-5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45" b="1">
                <a:solidFill>
                  <a:srgbClr val="FBD34D"/>
                </a:solidFill>
                <a:latin typeface="Tahoma"/>
                <a:cs typeface="Tahoma"/>
              </a:rPr>
              <a:t>databases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for</a:t>
            </a:r>
            <a:r>
              <a:rPr dirty="0" sz="2100" spc="-9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storage</a:t>
            </a:r>
            <a:r>
              <a:rPr dirty="0" sz="2100" spc="-9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(PostgreSQL</a:t>
            </a:r>
            <a:r>
              <a:rPr dirty="0" sz="2100" spc="-9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5">
                <a:solidFill>
                  <a:srgbClr val="F7FAFB"/>
                </a:solidFill>
                <a:latin typeface="Tahoma"/>
                <a:cs typeface="Tahoma"/>
              </a:rPr>
              <a:t>with</a:t>
            </a:r>
            <a:r>
              <a:rPr dirty="0" sz="2100" spc="-9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full-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text</a:t>
            </a:r>
            <a:r>
              <a:rPr dirty="0" sz="2100" spc="-9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35">
                <a:solidFill>
                  <a:srgbClr val="F7FAFB"/>
                </a:solidFill>
                <a:latin typeface="Tahoma"/>
                <a:cs typeface="Tahoma"/>
              </a:rPr>
              <a:t>search)</a:t>
            </a:r>
            <a:endParaRPr sz="2100">
              <a:latin typeface="Tahoma"/>
              <a:cs typeface="Tahoma"/>
            </a:endParaRPr>
          </a:p>
          <a:p>
            <a:pPr marL="346710">
              <a:lnSpc>
                <a:spcPct val="100000"/>
              </a:lnSpc>
              <a:spcBef>
                <a:spcPts val="1955"/>
              </a:spcBef>
            </a:pP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Natural</a:t>
            </a:r>
            <a:r>
              <a:rPr dirty="0" sz="2100" spc="1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85" b="1">
                <a:solidFill>
                  <a:srgbClr val="FBD34D"/>
                </a:solidFill>
                <a:latin typeface="Tahoma"/>
                <a:cs typeface="Tahoma"/>
              </a:rPr>
              <a:t>Language</a:t>
            </a:r>
            <a:r>
              <a:rPr dirty="0" sz="2100" spc="1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35" b="1">
                <a:solidFill>
                  <a:srgbClr val="FBD34D"/>
                </a:solidFill>
                <a:latin typeface="Tahoma"/>
                <a:cs typeface="Tahoma"/>
              </a:rPr>
              <a:t>Processing</a:t>
            </a:r>
            <a:r>
              <a:rPr dirty="0" sz="2100" spc="1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libraries</a:t>
            </a:r>
            <a:r>
              <a:rPr dirty="0" sz="2100" spc="-3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(language-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specific</a:t>
            </a:r>
            <a:r>
              <a:rPr dirty="0" sz="2100" spc="-3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0">
                <a:solidFill>
                  <a:srgbClr val="F7FAFB"/>
                </a:solidFill>
                <a:latin typeface="Tahoma"/>
                <a:cs typeface="Tahoma"/>
              </a:rPr>
              <a:t>tools)</a:t>
            </a:r>
            <a:endParaRPr sz="2100">
              <a:latin typeface="Tahoma"/>
              <a:cs typeface="Tahoma"/>
            </a:endParaRPr>
          </a:p>
          <a:p>
            <a:pPr marL="346710">
              <a:lnSpc>
                <a:spcPct val="100000"/>
              </a:lnSpc>
              <a:spcBef>
                <a:spcPts val="1885"/>
              </a:spcBef>
            </a:pP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Web</a:t>
            </a:r>
            <a:r>
              <a:rPr dirty="0" sz="2100" spc="-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interface</a:t>
            </a:r>
            <a:r>
              <a:rPr dirty="0" sz="2100" spc="-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for</a:t>
            </a:r>
            <a:r>
              <a:rPr dirty="0" sz="2100" spc="-5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0">
                <a:solidFill>
                  <a:srgbClr val="F7FAFB"/>
                </a:solidFill>
                <a:latin typeface="Tahoma"/>
                <a:cs typeface="Tahoma"/>
              </a:rPr>
              <a:t>access</a:t>
            </a:r>
            <a:r>
              <a:rPr dirty="0" sz="2100" spc="-4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(Django</a:t>
            </a:r>
            <a:r>
              <a:rPr dirty="0" sz="2100" spc="-5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framework,</a:t>
            </a:r>
            <a:r>
              <a:rPr dirty="0" sz="2100" spc="-5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RESTful</a:t>
            </a:r>
            <a:r>
              <a:rPr dirty="0" sz="2100" spc="-4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30">
                <a:solidFill>
                  <a:srgbClr val="F7FAFB"/>
                </a:solidFill>
                <a:latin typeface="Tahoma"/>
                <a:cs typeface="Tahoma"/>
              </a:rPr>
              <a:t>API)</a:t>
            </a:r>
            <a:endParaRPr sz="2100">
              <a:latin typeface="Tahoma"/>
              <a:cs typeface="Tahoma"/>
            </a:endParaRPr>
          </a:p>
          <a:p>
            <a:pPr marL="12700" marR="5080">
              <a:lnSpc>
                <a:spcPct val="134400"/>
              </a:lnSpc>
              <a:spcBef>
                <a:spcPts val="2270"/>
              </a:spcBef>
              <a:tabLst>
                <a:tab pos="3573145" algn="l"/>
              </a:tabLst>
            </a:pPr>
            <a:r>
              <a:rPr dirty="0" sz="2100" spc="50">
                <a:solidFill>
                  <a:srgbClr val="F7FAFB"/>
                </a:solidFill>
                <a:latin typeface="Tahoma"/>
                <a:cs typeface="Tahoma"/>
              </a:rPr>
              <a:t>The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infrastructure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is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0">
                <a:solidFill>
                  <a:srgbClr val="F7FAFB"/>
                </a:solidFill>
                <a:latin typeface="Tahoma"/>
                <a:cs typeface="Tahoma"/>
              </a:rPr>
              <a:t>designed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for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5">
                <a:solidFill>
                  <a:srgbClr val="F7FAFB"/>
                </a:solidFill>
                <a:latin typeface="Tahoma"/>
                <a:cs typeface="Tahoma"/>
              </a:rPr>
              <a:t>scalability</a:t>
            </a:r>
            <a:r>
              <a:rPr dirty="0" sz="2100" spc="-5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and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interoperability.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Python scripts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handle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text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45">
                <a:solidFill>
                  <a:srgbClr val="F7FAFB"/>
                </a:solidFill>
                <a:latin typeface="Tahoma"/>
                <a:cs typeface="Tahoma"/>
              </a:rPr>
              <a:t>cleaning,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tokenization,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and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annotation,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outputting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standardized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20">
                <a:solidFill>
                  <a:srgbClr val="F7FAFB"/>
                </a:solidFill>
                <a:latin typeface="Tahoma"/>
                <a:cs typeface="Tahoma"/>
              </a:rPr>
              <a:t>XML/TEI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files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	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These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files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are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parsed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and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loaded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5">
                <a:solidFill>
                  <a:srgbClr val="F7FAFB"/>
                </a:solidFill>
                <a:latin typeface="Tahoma"/>
                <a:cs typeface="Tahoma"/>
              </a:rPr>
              <a:t>into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50">
                <a:solidFill>
                  <a:srgbClr val="F7FAFB"/>
                </a:solidFill>
                <a:latin typeface="Tahoma"/>
                <a:cs typeface="Tahoma"/>
              </a:rPr>
              <a:t>a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1086485"/>
          </a:xfrm>
          <a:custGeom>
            <a:avLst/>
            <a:gdLst/>
            <a:ahLst/>
            <a:cxnLst/>
            <a:rect l="l" t="t" r="r" b="b"/>
            <a:pathLst>
              <a:path w="50165" h="1086485">
                <a:moveTo>
                  <a:pt x="50125" y="1086053"/>
                </a:moveTo>
                <a:lnTo>
                  <a:pt x="0" y="1086053"/>
                </a:lnTo>
                <a:lnTo>
                  <a:pt x="0" y="0"/>
                </a:lnTo>
                <a:lnTo>
                  <a:pt x="50125" y="0"/>
                </a:lnTo>
                <a:lnTo>
                  <a:pt x="50125" y="1086053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83336" y="1444752"/>
            <a:ext cx="9330055" cy="463550"/>
          </a:xfrm>
          <a:custGeom>
            <a:avLst/>
            <a:gdLst/>
            <a:ahLst/>
            <a:cxnLst/>
            <a:rect l="l" t="t" r="r" b="b"/>
            <a:pathLst>
              <a:path w="9330055" h="463550">
                <a:moveTo>
                  <a:pt x="9329927" y="463295"/>
                </a:moveTo>
                <a:lnTo>
                  <a:pt x="0" y="463295"/>
                </a:lnTo>
                <a:lnTo>
                  <a:pt x="0" y="0"/>
                </a:lnTo>
                <a:lnTo>
                  <a:pt x="9329927" y="0"/>
                </a:lnTo>
                <a:lnTo>
                  <a:pt x="9329927" y="463295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75"/>
              <a:t>Question:</a:t>
            </a:r>
            <a:r>
              <a:rPr dirty="0" spc="-140"/>
              <a:t> </a:t>
            </a:r>
            <a:r>
              <a:rPr dirty="0"/>
              <a:t>What</a:t>
            </a:r>
            <a:r>
              <a:rPr dirty="0" spc="-135"/>
              <a:t> </a:t>
            </a:r>
            <a:r>
              <a:rPr dirty="0" spc="-125"/>
              <a:t>does</a:t>
            </a:r>
            <a:r>
              <a:rPr dirty="0" spc="-135"/>
              <a:t> </a:t>
            </a:r>
            <a:r>
              <a:rPr dirty="0" spc="-90"/>
              <a:t>the</a:t>
            </a:r>
            <a:r>
              <a:rPr dirty="0" spc="-135"/>
              <a:t> </a:t>
            </a:r>
            <a:r>
              <a:rPr dirty="0" spc="-190"/>
              <a:t>TEI</a:t>
            </a:r>
            <a:r>
              <a:rPr dirty="0" spc="-135"/>
              <a:t> </a:t>
            </a:r>
            <a:r>
              <a:rPr dirty="0" spc="65"/>
              <a:t>XML</a:t>
            </a:r>
            <a:r>
              <a:rPr dirty="0" spc="-135"/>
              <a:t> </a:t>
            </a:r>
            <a:r>
              <a:rPr dirty="0" spc="-110"/>
              <a:t>encoding</a:t>
            </a:r>
            <a:r>
              <a:rPr dirty="0" spc="-135"/>
              <a:t> </a:t>
            </a:r>
            <a:r>
              <a:rPr dirty="0" spc="-20"/>
              <a:t>look</a:t>
            </a:r>
          </a:p>
        </p:txBody>
      </p:sp>
      <p:sp>
        <p:nvSpPr>
          <p:cNvPr id="5" name="object 5" descr=""/>
          <p:cNvSpPr/>
          <p:nvPr/>
        </p:nvSpPr>
        <p:spPr>
          <a:xfrm>
            <a:off x="798575" y="1987295"/>
            <a:ext cx="944880" cy="396240"/>
          </a:xfrm>
          <a:custGeom>
            <a:avLst/>
            <a:gdLst/>
            <a:ahLst/>
            <a:cxnLst/>
            <a:rect l="l" t="t" r="r" b="b"/>
            <a:pathLst>
              <a:path w="944880" h="396239">
                <a:moveTo>
                  <a:pt x="944879" y="396239"/>
                </a:moveTo>
                <a:lnTo>
                  <a:pt x="0" y="396239"/>
                </a:lnTo>
                <a:lnTo>
                  <a:pt x="0" y="0"/>
                </a:lnTo>
                <a:lnTo>
                  <a:pt x="944879" y="0"/>
                </a:lnTo>
                <a:lnTo>
                  <a:pt x="944879" y="39623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789308" y="1903358"/>
            <a:ext cx="909955" cy="5067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150" spc="-95" b="1">
                <a:solidFill>
                  <a:srgbClr val="60A5FA"/>
                </a:solidFill>
                <a:latin typeface="Tahoma"/>
                <a:cs typeface="Tahoma"/>
              </a:rPr>
              <a:t>like?</a:t>
            </a:r>
            <a:endParaRPr sz="3150">
              <a:latin typeface="Tahoma"/>
              <a:cs typeface="Tahoma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3428178"/>
            <a:ext cx="91896" cy="9189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3987913"/>
            <a:ext cx="91896" cy="91896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4547649"/>
            <a:ext cx="91896" cy="91896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572097" y="2563344"/>
            <a:ext cx="4963795" cy="21844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 spc="-40" b="1">
                <a:solidFill>
                  <a:srgbClr val="FBD34D"/>
                </a:solidFill>
                <a:latin typeface="Tahoma"/>
                <a:cs typeface="Tahoma"/>
              </a:rPr>
              <a:t>Encoding</a:t>
            </a:r>
            <a:r>
              <a:rPr dirty="0" sz="2100" spc="-10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details:</a:t>
            </a:r>
            <a:endParaRPr sz="2100">
              <a:latin typeface="Tahoma"/>
              <a:cs typeface="Tahoma"/>
            </a:endParaRPr>
          </a:p>
          <a:p>
            <a:pPr marL="346710" marR="5080">
              <a:lnSpc>
                <a:spcPct val="174900"/>
              </a:lnSpc>
              <a:spcBef>
                <a:spcPts val="1250"/>
              </a:spcBef>
            </a:pPr>
            <a:r>
              <a:rPr dirty="0" sz="2100" spc="130">
                <a:solidFill>
                  <a:srgbClr val="F7FAFB"/>
                </a:solidFill>
                <a:latin typeface="Tahoma"/>
                <a:cs typeface="Tahoma"/>
              </a:rPr>
              <a:t>How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are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sentences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structured? </a:t>
            </a:r>
            <a:r>
              <a:rPr dirty="0" sz="2100" spc="125">
                <a:solidFill>
                  <a:srgbClr val="F7FAFB"/>
                </a:solidFill>
                <a:latin typeface="Tahoma"/>
                <a:cs typeface="Tahoma"/>
              </a:rPr>
              <a:t>What</a:t>
            </a:r>
            <a:r>
              <a:rPr dirty="0" sz="2100" spc="-3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annotations</a:t>
            </a:r>
            <a:r>
              <a:rPr dirty="0" sz="2100" spc="-3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are</a:t>
            </a:r>
            <a:r>
              <a:rPr dirty="0" sz="2100" spc="-3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on</a:t>
            </a:r>
            <a:r>
              <a:rPr dirty="0" sz="2100" spc="-3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each</a:t>
            </a:r>
            <a:r>
              <a:rPr dirty="0" sz="2100" spc="-2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0">
                <a:solidFill>
                  <a:srgbClr val="F7FAFB"/>
                </a:solidFill>
                <a:latin typeface="Tahoma"/>
                <a:cs typeface="Tahoma"/>
              </a:rPr>
              <a:t>word? </a:t>
            </a:r>
            <a:r>
              <a:rPr dirty="0" sz="2100" spc="120">
                <a:solidFill>
                  <a:srgbClr val="F7FAFB"/>
                </a:solidFill>
                <a:latin typeface="Tahoma"/>
                <a:cs typeface="Tahoma"/>
              </a:rPr>
              <a:t>Why</a:t>
            </a:r>
            <a:r>
              <a:rPr dirty="0" sz="2100" spc="-2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use</a:t>
            </a:r>
            <a:r>
              <a:rPr dirty="0" sz="2100" spc="-2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TEI</a:t>
            </a:r>
            <a:r>
              <a:rPr dirty="0" sz="2100" spc="-2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0">
                <a:solidFill>
                  <a:srgbClr val="F7FAFB"/>
                </a:solidFill>
                <a:latin typeface="Tahoma"/>
                <a:cs typeface="Tahoma"/>
              </a:rPr>
              <a:t>standard?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543560"/>
          </a:xfrm>
          <a:custGeom>
            <a:avLst/>
            <a:gdLst/>
            <a:ahLst/>
            <a:cxnLst/>
            <a:rect l="l" t="t" r="r" b="b"/>
            <a:pathLst>
              <a:path w="50165" h="543560">
                <a:moveTo>
                  <a:pt x="50125" y="543026"/>
                </a:moveTo>
                <a:lnTo>
                  <a:pt x="0" y="543026"/>
                </a:lnTo>
                <a:lnTo>
                  <a:pt x="0" y="0"/>
                </a:lnTo>
                <a:lnTo>
                  <a:pt x="50125" y="0"/>
                </a:lnTo>
                <a:lnTo>
                  <a:pt x="50125" y="543026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584797" y="2166685"/>
            <a:ext cx="9524365" cy="1253490"/>
          </a:xfrm>
          <a:custGeom>
            <a:avLst/>
            <a:gdLst/>
            <a:ahLst/>
            <a:cxnLst/>
            <a:rect l="l" t="t" r="r" b="b"/>
            <a:pathLst>
              <a:path w="9524365" h="1253489">
                <a:moveTo>
                  <a:pt x="9523853" y="1253138"/>
                </a:moveTo>
                <a:lnTo>
                  <a:pt x="0" y="1253138"/>
                </a:lnTo>
                <a:lnTo>
                  <a:pt x="0" y="0"/>
                </a:lnTo>
                <a:lnTo>
                  <a:pt x="9523853" y="0"/>
                </a:lnTo>
                <a:lnTo>
                  <a:pt x="9523853" y="1253138"/>
                </a:lnTo>
                <a:close/>
              </a:path>
            </a:pathLst>
          </a:custGeom>
          <a:solidFill>
            <a:srgbClr val="4559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798575" y="1444752"/>
            <a:ext cx="6029325" cy="457200"/>
          </a:xfrm>
          <a:custGeom>
            <a:avLst/>
            <a:gdLst/>
            <a:ahLst/>
            <a:cxnLst/>
            <a:rect l="l" t="t" r="r" b="b"/>
            <a:pathLst>
              <a:path w="6029325" h="457200">
                <a:moveTo>
                  <a:pt x="6028943" y="457199"/>
                </a:moveTo>
                <a:lnTo>
                  <a:pt x="0" y="457199"/>
                </a:lnTo>
                <a:lnTo>
                  <a:pt x="0" y="0"/>
                </a:lnTo>
                <a:lnTo>
                  <a:pt x="6028943" y="0"/>
                </a:lnTo>
                <a:lnTo>
                  <a:pt x="6028943" y="45719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5"/>
              <a:t>Data</a:t>
            </a:r>
            <a:r>
              <a:rPr dirty="0" spc="-135"/>
              <a:t> </a:t>
            </a:r>
            <a:r>
              <a:rPr dirty="0" spc="-90"/>
              <a:t>Format</a:t>
            </a:r>
            <a:r>
              <a:rPr dirty="0" spc="-130"/>
              <a:t> </a:t>
            </a:r>
            <a:r>
              <a:rPr dirty="0" spc="-114"/>
              <a:t>Example:</a:t>
            </a:r>
            <a:r>
              <a:rPr dirty="0" spc="-130"/>
              <a:t> </a:t>
            </a:r>
            <a:r>
              <a:rPr dirty="0" spc="-190"/>
              <a:t>TEI</a:t>
            </a:r>
            <a:r>
              <a:rPr dirty="0" spc="-130"/>
              <a:t> </a:t>
            </a:r>
            <a:r>
              <a:rPr dirty="0" spc="40"/>
              <a:t>XML</a:t>
            </a:r>
          </a:p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4915236"/>
            <a:ext cx="91896" cy="9189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5474971"/>
            <a:ext cx="91896" cy="9189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6043061"/>
            <a:ext cx="91896" cy="91896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6602796"/>
            <a:ext cx="91896" cy="91896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572097" y="3339643"/>
            <a:ext cx="6664959" cy="3463290"/>
          </a:xfrm>
          <a:prstGeom prst="rect">
            <a:avLst/>
          </a:prstGeom>
        </p:spPr>
        <p:txBody>
          <a:bodyPr wrap="square" lIns="0" tIns="2076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35"/>
              </a:spcBef>
            </a:pPr>
            <a:r>
              <a:rPr dirty="0" sz="2150" spc="105" i="1">
                <a:solidFill>
                  <a:srgbClr val="A5F2FB"/>
                </a:solidFill>
                <a:latin typeface="Trebuchet MS"/>
                <a:cs typeface="Trebuchet MS"/>
              </a:rPr>
              <a:t>"In</a:t>
            </a:r>
            <a:r>
              <a:rPr dirty="0" sz="2150" spc="-35" i="1">
                <a:solidFill>
                  <a:srgbClr val="A5F2FB"/>
                </a:solidFill>
                <a:latin typeface="Trebuchet MS"/>
                <a:cs typeface="Trebuchet MS"/>
              </a:rPr>
              <a:t> </a:t>
            </a:r>
            <a:r>
              <a:rPr dirty="0" sz="2150" i="1">
                <a:solidFill>
                  <a:srgbClr val="A5F2FB"/>
                </a:solidFill>
                <a:latin typeface="Trebuchet MS"/>
                <a:cs typeface="Trebuchet MS"/>
              </a:rPr>
              <a:t>the</a:t>
            </a:r>
            <a:r>
              <a:rPr dirty="0" sz="2150" spc="-35" i="1">
                <a:solidFill>
                  <a:srgbClr val="A5F2FB"/>
                </a:solidFill>
                <a:latin typeface="Trebuchet MS"/>
                <a:cs typeface="Trebuchet MS"/>
              </a:rPr>
              <a:t> </a:t>
            </a:r>
            <a:r>
              <a:rPr dirty="0" sz="2150" i="1">
                <a:solidFill>
                  <a:srgbClr val="A5F2FB"/>
                </a:solidFill>
                <a:latin typeface="Trebuchet MS"/>
                <a:cs typeface="Trebuchet MS"/>
              </a:rPr>
              <a:t>beginning</a:t>
            </a:r>
            <a:r>
              <a:rPr dirty="0" sz="2150" spc="-30" i="1">
                <a:solidFill>
                  <a:srgbClr val="A5F2FB"/>
                </a:solidFill>
                <a:latin typeface="Trebuchet MS"/>
                <a:cs typeface="Trebuchet MS"/>
              </a:rPr>
              <a:t> </a:t>
            </a:r>
            <a:r>
              <a:rPr dirty="0" sz="2150" i="1">
                <a:solidFill>
                  <a:srgbClr val="A5F2FB"/>
                </a:solidFill>
                <a:latin typeface="Trebuchet MS"/>
                <a:cs typeface="Trebuchet MS"/>
              </a:rPr>
              <a:t>was</a:t>
            </a:r>
            <a:r>
              <a:rPr dirty="0" sz="2150" spc="-35" i="1">
                <a:solidFill>
                  <a:srgbClr val="A5F2FB"/>
                </a:solidFill>
                <a:latin typeface="Trebuchet MS"/>
                <a:cs typeface="Trebuchet MS"/>
              </a:rPr>
              <a:t> </a:t>
            </a:r>
            <a:r>
              <a:rPr dirty="0" sz="2150" i="1">
                <a:solidFill>
                  <a:srgbClr val="A5F2FB"/>
                </a:solidFill>
                <a:latin typeface="Trebuchet MS"/>
                <a:cs typeface="Trebuchet MS"/>
              </a:rPr>
              <a:t>the</a:t>
            </a:r>
            <a:r>
              <a:rPr dirty="0" sz="2150" spc="-35" i="1">
                <a:solidFill>
                  <a:srgbClr val="A5F2FB"/>
                </a:solidFill>
                <a:latin typeface="Trebuchet MS"/>
                <a:cs typeface="Trebuchet MS"/>
              </a:rPr>
              <a:t> </a:t>
            </a:r>
            <a:r>
              <a:rPr dirty="0" sz="2150" spc="125" i="1">
                <a:solidFill>
                  <a:srgbClr val="A5F2FB"/>
                </a:solidFill>
                <a:latin typeface="Trebuchet MS"/>
                <a:cs typeface="Trebuchet MS"/>
              </a:rPr>
              <a:t>Word"</a:t>
            </a:r>
            <a:r>
              <a:rPr dirty="0" sz="2150" spc="-30" i="1">
                <a:solidFill>
                  <a:srgbClr val="A5F2FB"/>
                </a:solidFill>
                <a:latin typeface="Trebuchet MS"/>
                <a:cs typeface="Trebuchet MS"/>
              </a:rPr>
              <a:t> </a:t>
            </a:r>
            <a:r>
              <a:rPr dirty="0" sz="2150" i="1">
                <a:solidFill>
                  <a:srgbClr val="A5F2FB"/>
                </a:solidFill>
                <a:latin typeface="Trebuchet MS"/>
                <a:cs typeface="Trebuchet MS"/>
              </a:rPr>
              <a:t>-</a:t>
            </a:r>
            <a:r>
              <a:rPr dirty="0" sz="2150" spc="-35" i="1">
                <a:solidFill>
                  <a:srgbClr val="A5F2FB"/>
                </a:solidFill>
                <a:latin typeface="Trebuchet MS"/>
                <a:cs typeface="Trebuchet MS"/>
              </a:rPr>
              <a:t> </a:t>
            </a:r>
            <a:r>
              <a:rPr dirty="0" sz="2150" i="1">
                <a:solidFill>
                  <a:srgbClr val="A5F2FB"/>
                </a:solidFill>
                <a:latin typeface="Trebuchet MS"/>
                <a:cs typeface="Trebuchet MS"/>
              </a:rPr>
              <a:t>John</a:t>
            </a:r>
            <a:r>
              <a:rPr dirty="0" sz="2150" spc="-30" i="1">
                <a:solidFill>
                  <a:srgbClr val="A5F2FB"/>
                </a:solidFill>
                <a:latin typeface="Trebuchet MS"/>
                <a:cs typeface="Trebuchet MS"/>
              </a:rPr>
              <a:t> </a:t>
            </a:r>
            <a:r>
              <a:rPr dirty="0" sz="2150" spc="-25" i="1">
                <a:solidFill>
                  <a:srgbClr val="A5F2FB"/>
                </a:solidFill>
                <a:latin typeface="Trebuchet MS"/>
                <a:cs typeface="Trebuchet MS"/>
              </a:rPr>
              <a:t>1:1</a:t>
            </a:r>
            <a:endParaRPr sz="21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485"/>
              </a:spcBef>
            </a:pP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Benefits:</a:t>
            </a:r>
            <a:endParaRPr sz="2100">
              <a:latin typeface="Tahoma"/>
              <a:cs typeface="Tahoma"/>
            </a:endParaRPr>
          </a:p>
          <a:p>
            <a:pPr marL="346710" marR="1297940">
              <a:lnSpc>
                <a:spcPct val="176200"/>
              </a:lnSpc>
              <a:spcBef>
                <a:spcPts val="1215"/>
              </a:spcBef>
            </a:pP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Standardized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format</a:t>
            </a:r>
            <a:r>
              <a:rPr dirty="0" sz="2100" spc="-9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(TEI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30">
                <a:solidFill>
                  <a:srgbClr val="F7FAFB"/>
                </a:solidFill>
                <a:latin typeface="Tahoma"/>
                <a:cs typeface="Tahoma"/>
              </a:rPr>
              <a:t>P5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0">
                <a:solidFill>
                  <a:srgbClr val="F7FAFB"/>
                </a:solidFill>
                <a:latin typeface="Tahoma"/>
                <a:cs typeface="Tahoma"/>
              </a:rPr>
              <a:t>guidelines) </a:t>
            </a:r>
            <a:r>
              <a:rPr dirty="0" sz="2100" spc="114">
                <a:solidFill>
                  <a:srgbClr val="F7FAFB"/>
                </a:solidFill>
                <a:latin typeface="Tahoma"/>
                <a:cs typeface="Tahoma"/>
              </a:rPr>
              <a:t>Machine-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readable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35">
                <a:solidFill>
                  <a:srgbClr val="F7FAFB"/>
                </a:solidFill>
                <a:latin typeface="Tahoma"/>
                <a:cs typeface="Tahoma"/>
              </a:rPr>
              <a:t>(XML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45">
                <a:solidFill>
                  <a:srgbClr val="F7FAFB"/>
                </a:solidFill>
                <a:latin typeface="Tahoma"/>
                <a:cs typeface="Tahoma"/>
              </a:rPr>
              <a:t>parsers)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Human-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readable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(with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proper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0">
                <a:solidFill>
                  <a:srgbClr val="F7FAFB"/>
                </a:solidFill>
                <a:latin typeface="Tahoma"/>
                <a:cs typeface="Tahoma"/>
              </a:rPr>
              <a:t>tools)</a:t>
            </a:r>
            <a:endParaRPr sz="2100">
              <a:latin typeface="Tahoma"/>
              <a:cs typeface="Tahoma"/>
            </a:endParaRPr>
          </a:p>
          <a:p>
            <a:pPr marL="346710">
              <a:lnSpc>
                <a:spcPct val="100000"/>
              </a:lnSpc>
              <a:spcBef>
                <a:spcPts val="1889"/>
              </a:spcBef>
            </a:pP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Interoperable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(compatible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5">
                <a:solidFill>
                  <a:srgbClr val="F7FAFB"/>
                </a:solidFill>
                <a:latin typeface="Tahoma"/>
                <a:cs typeface="Tahoma"/>
              </a:rPr>
              <a:t>with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5">
                <a:solidFill>
                  <a:srgbClr val="F7FAFB"/>
                </a:solidFill>
                <a:latin typeface="Tahoma"/>
                <a:cs typeface="Tahoma"/>
              </a:rPr>
              <a:t>other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TEI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0">
                <a:solidFill>
                  <a:srgbClr val="F7FAFB"/>
                </a:solidFill>
                <a:latin typeface="Tahoma"/>
                <a:cs typeface="Tahoma"/>
              </a:rPr>
              <a:t>corpora)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543560"/>
          </a:xfrm>
          <a:custGeom>
            <a:avLst/>
            <a:gdLst/>
            <a:ahLst/>
            <a:cxnLst/>
            <a:rect l="l" t="t" r="r" b="b"/>
            <a:pathLst>
              <a:path w="50165" h="543560">
                <a:moveTo>
                  <a:pt x="50125" y="543026"/>
                </a:moveTo>
                <a:lnTo>
                  <a:pt x="0" y="543026"/>
                </a:lnTo>
                <a:lnTo>
                  <a:pt x="0" y="0"/>
                </a:lnTo>
                <a:lnTo>
                  <a:pt x="50125" y="0"/>
                </a:lnTo>
                <a:lnTo>
                  <a:pt x="50125" y="543026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98575" y="1444752"/>
            <a:ext cx="8089900" cy="457200"/>
          </a:xfrm>
          <a:custGeom>
            <a:avLst/>
            <a:gdLst/>
            <a:ahLst/>
            <a:cxnLst/>
            <a:rect l="l" t="t" r="r" b="b"/>
            <a:pathLst>
              <a:path w="8089900" h="457200">
                <a:moveTo>
                  <a:pt x="8089391" y="457199"/>
                </a:moveTo>
                <a:lnTo>
                  <a:pt x="0" y="457199"/>
                </a:lnTo>
                <a:lnTo>
                  <a:pt x="0" y="0"/>
                </a:lnTo>
                <a:lnTo>
                  <a:pt x="8089391" y="0"/>
                </a:lnTo>
                <a:lnTo>
                  <a:pt x="8089391" y="45719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89308" y="1360331"/>
            <a:ext cx="8053070" cy="5067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10"/>
              <a:t>Research</a:t>
            </a:r>
            <a:r>
              <a:rPr dirty="0" spc="-135"/>
              <a:t> </a:t>
            </a:r>
            <a:r>
              <a:rPr dirty="0" spc="-50"/>
              <a:t>Applications:</a:t>
            </a:r>
            <a:r>
              <a:rPr dirty="0" spc="-135"/>
              <a:t> </a:t>
            </a:r>
            <a:r>
              <a:rPr dirty="0" spc="-50"/>
              <a:t>Diachronic</a:t>
            </a:r>
            <a:r>
              <a:rPr dirty="0" spc="-135"/>
              <a:t> </a:t>
            </a:r>
            <a:r>
              <a:rPr dirty="0" spc="-10"/>
              <a:t>Syntax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2885151"/>
            <a:ext cx="91896" cy="91896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3444887"/>
            <a:ext cx="91896" cy="9189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4004622"/>
            <a:ext cx="91896" cy="9189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4572711"/>
            <a:ext cx="91896" cy="91896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572097" y="2020317"/>
            <a:ext cx="9533255" cy="475742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 spc="-40" b="1">
                <a:solidFill>
                  <a:srgbClr val="FBD34D"/>
                </a:solidFill>
                <a:latin typeface="Tahoma"/>
                <a:cs typeface="Tahoma"/>
              </a:rPr>
              <a:t>Using</a:t>
            </a:r>
            <a:r>
              <a:rPr dirty="0" sz="2100" spc="-5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the</a:t>
            </a:r>
            <a:r>
              <a:rPr dirty="0" sz="2100" spc="-4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CVL-CDSAML</a:t>
            </a:r>
            <a:r>
              <a:rPr dirty="0" sz="2100" spc="-4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30" b="1">
                <a:solidFill>
                  <a:srgbClr val="FBD34D"/>
                </a:solidFill>
                <a:latin typeface="Tahoma"/>
                <a:cs typeface="Tahoma"/>
              </a:rPr>
              <a:t>corpus</a:t>
            </a:r>
            <a:r>
              <a:rPr dirty="0" sz="2100" spc="-4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to</a:t>
            </a:r>
            <a:r>
              <a:rPr dirty="0" sz="2100" spc="-4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study:</a:t>
            </a:r>
            <a:endParaRPr sz="2100">
              <a:latin typeface="Tahoma"/>
              <a:cs typeface="Tahoma"/>
            </a:endParaRPr>
          </a:p>
          <a:p>
            <a:pPr marL="346710" marR="1443990">
              <a:lnSpc>
                <a:spcPct val="174900"/>
              </a:lnSpc>
              <a:spcBef>
                <a:spcPts val="1250"/>
              </a:spcBef>
            </a:pP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Evolution</a:t>
            </a:r>
            <a:r>
              <a:rPr dirty="0" sz="2100" spc="-10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of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55" b="1">
                <a:solidFill>
                  <a:srgbClr val="FBD34D"/>
                </a:solidFill>
                <a:latin typeface="Tahoma"/>
                <a:cs typeface="Tahoma"/>
              </a:rPr>
              <a:t>case</a:t>
            </a:r>
            <a:r>
              <a:rPr dirty="0" sz="2100" spc="-5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45" b="1">
                <a:solidFill>
                  <a:srgbClr val="FBD34D"/>
                </a:solidFill>
                <a:latin typeface="Tahoma"/>
                <a:cs typeface="Tahoma"/>
              </a:rPr>
              <a:t>systems 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(e.g.,</a:t>
            </a:r>
            <a:r>
              <a:rPr dirty="0" sz="2100" spc="-9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14">
                <a:solidFill>
                  <a:srgbClr val="F7FAFB"/>
                </a:solidFill>
                <a:latin typeface="Tahoma"/>
                <a:cs typeface="Tahoma"/>
              </a:rPr>
              <a:t>Greek</a:t>
            </a:r>
            <a:r>
              <a:rPr dirty="0" sz="2100" spc="-9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dative</a:t>
            </a:r>
            <a:r>
              <a:rPr dirty="0" sz="2100" spc="-9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10">
                <a:solidFill>
                  <a:srgbClr val="F7FAFB"/>
                </a:solidFill>
                <a:latin typeface="Tahoma"/>
                <a:cs typeface="Tahoma"/>
              </a:rPr>
              <a:t>loss)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Development</a:t>
            </a:r>
            <a:r>
              <a:rPr dirty="0" sz="2100" spc="-10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of</a:t>
            </a:r>
            <a:r>
              <a:rPr dirty="0" sz="2100" spc="-9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25" b="1">
                <a:solidFill>
                  <a:srgbClr val="FBD34D"/>
                </a:solidFill>
                <a:latin typeface="Tahoma"/>
                <a:cs typeface="Tahoma"/>
              </a:rPr>
              <a:t>word</a:t>
            </a:r>
            <a:r>
              <a:rPr dirty="0" sz="2100" spc="-5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order</a:t>
            </a:r>
            <a:r>
              <a:rPr dirty="0" sz="2100" spc="-5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patterns</a:t>
            </a:r>
            <a:r>
              <a:rPr dirty="0" sz="2100" spc="-9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(e.g.,</a:t>
            </a:r>
            <a:r>
              <a:rPr dirty="0" sz="2100" spc="-9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25">
                <a:solidFill>
                  <a:srgbClr val="F7FAFB"/>
                </a:solidFill>
                <a:latin typeface="Tahoma"/>
                <a:cs typeface="Tahoma"/>
              </a:rPr>
              <a:t>SOV</a:t>
            </a:r>
            <a:r>
              <a:rPr dirty="0" sz="2100" spc="-9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Segoe UI"/>
                <a:cs typeface="Segoe UI"/>
              </a:rPr>
              <a:t>→</a:t>
            </a:r>
            <a:r>
              <a:rPr dirty="0" sz="2100" spc="-10">
                <a:solidFill>
                  <a:srgbClr val="F7FAFB"/>
                </a:solidFill>
                <a:latin typeface="Segoe UI"/>
                <a:cs typeface="Segoe UI"/>
              </a:rPr>
              <a:t> </a:t>
            </a:r>
            <a:r>
              <a:rPr dirty="0" sz="2100" spc="125">
                <a:solidFill>
                  <a:srgbClr val="F7FAFB"/>
                </a:solidFill>
                <a:latin typeface="Tahoma"/>
                <a:cs typeface="Tahoma"/>
              </a:rPr>
              <a:t>SVO</a:t>
            </a:r>
            <a:r>
              <a:rPr dirty="0" sz="2100" spc="-9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0">
                <a:solidFill>
                  <a:srgbClr val="F7FAFB"/>
                </a:solidFill>
                <a:latin typeface="Tahoma"/>
                <a:cs typeface="Tahoma"/>
              </a:rPr>
              <a:t>shifts)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Rise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of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prepositional</a:t>
            </a:r>
            <a:r>
              <a:rPr dirty="0" sz="2100" spc="-3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50" b="1">
                <a:solidFill>
                  <a:srgbClr val="FBD34D"/>
                </a:solidFill>
                <a:latin typeface="Tahoma"/>
                <a:cs typeface="Tahoma"/>
              </a:rPr>
              <a:t>phrases</a:t>
            </a:r>
            <a:r>
              <a:rPr dirty="0" sz="2100" spc="-3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60">
                <a:solidFill>
                  <a:srgbClr val="F7FAFB"/>
                </a:solidFill>
                <a:latin typeface="Tahoma"/>
                <a:cs typeface="Tahoma"/>
              </a:rPr>
              <a:t>(replacing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case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40">
                <a:solidFill>
                  <a:srgbClr val="F7FAFB"/>
                </a:solidFill>
                <a:latin typeface="Tahoma"/>
                <a:cs typeface="Tahoma"/>
              </a:rPr>
              <a:t>marking)</a:t>
            </a:r>
            <a:endParaRPr sz="2100">
              <a:latin typeface="Tahoma"/>
              <a:cs typeface="Tahoma"/>
            </a:endParaRPr>
          </a:p>
          <a:p>
            <a:pPr marL="346710">
              <a:lnSpc>
                <a:spcPct val="100000"/>
              </a:lnSpc>
              <a:spcBef>
                <a:spcPts val="1950"/>
              </a:spcBef>
            </a:pP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Loss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of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50" b="1">
                <a:solidFill>
                  <a:srgbClr val="FBD34D"/>
                </a:solidFill>
                <a:latin typeface="Tahoma"/>
                <a:cs typeface="Tahoma"/>
              </a:rPr>
              <a:t>non-</a:t>
            </a: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finite</a:t>
            </a:r>
            <a:r>
              <a:rPr dirty="0" sz="2100" spc="-1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20" b="1">
                <a:solidFill>
                  <a:srgbClr val="FBD34D"/>
                </a:solidFill>
                <a:latin typeface="Tahoma"/>
                <a:cs typeface="Tahoma"/>
              </a:rPr>
              <a:t>constructions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(infinitives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Segoe UI"/>
                <a:cs typeface="Segoe UI"/>
              </a:rPr>
              <a:t>→</a:t>
            </a:r>
            <a:r>
              <a:rPr dirty="0" sz="2100" spc="25">
                <a:solidFill>
                  <a:srgbClr val="F7FAFB"/>
                </a:solidFill>
                <a:latin typeface="Segoe UI"/>
                <a:cs typeface="Segoe UI"/>
              </a:rPr>
              <a:t> </a:t>
            </a:r>
            <a:r>
              <a:rPr dirty="0" sz="2100" spc="105">
                <a:solidFill>
                  <a:srgbClr val="F7FAFB"/>
                </a:solidFill>
                <a:latin typeface="Tahoma"/>
                <a:cs typeface="Tahoma"/>
              </a:rPr>
              <a:t>finite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10">
                <a:solidFill>
                  <a:srgbClr val="F7FAFB"/>
                </a:solidFill>
                <a:latin typeface="Tahoma"/>
                <a:cs typeface="Tahoma"/>
              </a:rPr>
              <a:t>clauses)</a:t>
            </a:r>
            <a:endParaRPr sz="2100">
              <a:latin typeface="Tahoma"/>
              <a:cs typeface="Tahoma"/>
            </a:endParaRPr>
          </a:p>
          <a:p>
            <a:pPr marL="12700" marR="5080">
              <a:lnSpc>
                <a:spcPct val="134000"/>
              </a:lnSpc>
              <a:spcBef>
                <a:spcPts val="2280"/>
              </a:spcBef>
            </a:pPr>
            <a:r>
              <a:rPr dirty="0" sz="2100" spc="50">
                <a:solidFill>
                  <a:srgbClr val="F7FAFB"/>
                </a:solidFill>
                <a:latin typeface="Tahoma"/>
                <a:cs typeface="Tahoma"/>
              </a:rPr>
              <a:t>The</a:t>
            </a:r>
            <a:r>
              <a:rPr dirty="0" sz="2100" spc="-4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corpus</a:t>
            </a:r>
            <a:r>
              <a:rPr dirty="0" sz="2100" spc="-4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enables</a:t>
            </a:r>
            <a:r>
              <a:rPr dirty="0" sz="2100" spc="-4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systematic</a:t>
            </a:r>
            <a:r>
              <a:rPr dirty="0" sz="2100" spc="-4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tracking</a:t>
            </a:r>
            <a:r>
              <a:rPr dirty="0" sz="2100" spc="-4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of</a:t>
            </a:r>
            <a:r>
              <a:rPr dirty="0" sz="2100" spc="-4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0">
                <a:solidFill>
                  <a:srgbClr val="F7FAFB"/>
                </a:solidFill>
                <a:latin typeface="Tahoma"/>
                <a:cs typeface="Tahoma"/>
              </a:rPr>
              <a:t>major</a:t>
            </a:r>
            <a:r>
              <a:rPr dirty="0" sz="2100" spc="-4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syntactic</a:t>
            </a:r>
            <a:r>
              <a:rPr dirty="0" sz="2100" spc="-4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changes</a:t>
            </a:r>
            <a:r>
              <a:rPr dirty="0" sz="2100" spc="-4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across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centuries.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For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instance,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researchers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can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query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all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valency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frames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containing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dative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case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in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14">
                <a:solidFill>
                  <a:srgbClr val="F7FAFB"/>
                </a:solidFill>
                <a:latin typeface="Tahoma"/>
                <a:cs typeface="Tahoma"/>
              </a:rPr>
              <a:t>Greek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and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5">
                <a:solidFill>
                  <a:srgbClr val="F7FAFB"/>
                </a:solidFill>
                <a:latin typeface="Tahoma"/>
                <a:cs typeface="Tahoma"/>
              </a:rPr>
              <a:t>plot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5">
                <a:solidFill>
                  <a:srgbClr val="F7FAFB"/>
                </a:solidFill>
                <a:latin typeface="Tahoma"/>
                <a:cs typeface="Tahoma"/>
              </a:rPr>
              <a:t>their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decline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from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20">
                <a:solidFill>
                  <a:srgbClr val="F7FAFB"/>
                </a:solidFill>
                <a:latin typeface="Tahoma"/>
                <a:cs typeface="Tahoma"/>
              </a:rPr>
              <a:t>95%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frequency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in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Classical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texts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to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0">
                <a:solidFill>
                  <a:srgbClr val="F7FAFB"/>
                </a:solidFill>
                <a:latin typeface="Tahoma"/>
                <a:cs typeface="Tahoma"/>
              </a:rPr>
              <a:t>less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than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140">
                <a:solidFill>
                  <a:srgbClr val="F7FAFB"/>
                </a:solidFill>
                <a:latin typeface="Tahoma"/>
                <a:cs typeface="Tahoma"/>
              </a:rPr>
              <a:t>5%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in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35">
                <a:solidFill>
                  <a:srgbClr val="F7FAFB"/>
                </a:solidFill>
                <a:latin typeface="Tahoma"/>
                <a:cs typeface="Tahoma"/>
              </a:rPr>
              <a:t>Modern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Greek,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5">
                <a:solidFill>
                  <a:srgbClr val="F7FAFB"/>
                </a:solidFill>
                <a:latin typeface="Tahoma"/>
                <a:cs typeface="Tahoma"/>
              </a:rPr>
              <a:t>with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5">
                <a:solidFill>
                  <a:srgbClr val="F7FAFB"/>
                </a:solidFill>
                <a:latin typeface="Tahoma"/>
                <a:cs typeface="Tahoma"/>
              </a:rPr>
              <a:t>prepositional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phrases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rising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1086485"/>
          </a:xfrm>
          <a:custGeom>
            <a:avLst/>
            <a:gdLst/>
            <a:ahLst/>
            <a:cxnLst/>
            <a:rect l="l" t="t" r="r" b="b"/>
            <a:pathLst>
              <a:path w="50165" h="1086485">
                <a:moveTo>
                  <a:pt x="50125" y="1086053"/>
                </a:moveTo>
                <a:lnTo>
                  <a:pt x="0" y="1086053"/>
                </a:lnTo>
                <a:lnTo>
                  <a:pt x="0" y="0"/>
                </a:lnTo>
                <a:lnTo>
                  <a:pt x="50125" y="0"/>
                </a:lnTo>
                <a:lnTo>
                  <a:pt x="50125" y="1086053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83336" y="1444752"/>
            <a:ext cx="8891270" cy="463550"/>
          </a:xfrm>
          <a:custGeom>
            <a:avLst/>
            <a:gdLst/>
            <a:ahLst/>
            <a:cxnLst/>
            <a:rect l="l" t="t" r="r" b="b"/>
            <a:pathLst>
              <a:path w="8891270" h="463550">
                <a:moveTo>
                  <a:pt x="8891015" y="463295"/>
                </a:moveTo>
                <a:lnTo>
                  <a:pt x="0" y="463295"/>
                </a:lnTo>
                <a:lnTo>
                  <a:pt x="0" y="0"/>
                </a:lnTo>
                <a:lnTo>
                  <a:pt x="8891015" y="0"/>
                </a:lnTo>
                <a:lnTo>
                  <a:pt x="8891015" y="463295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75"/>
              <a:t>Question:</a:t>
            </a:r>
            <a:r>
              <a:rPr dirty="0" spc="-114"/>
              <a:t> </a:t>
            </a:r>
            <a:r>
              <a:rPr dirty="0" spc="-95"/>
              <a:t>How</a:t>
            </a:r>
            <a:r>
              <a:rPr dirty="0" spc="-114"/>
              <a:t> </a:t>
            </a:r>
            <a:r>
              <a:rPr dirty="0" spc="-130"/>
              <a:t>can</a:t>
            </a:r>
            <a:r>
              <a:rPr dirty="0" spc="-114"/>
              <a:t> </a:t>
            </a:r>
            <a:r>
              <a:rPr dirty="0" spc="-180"/>
              <a:t>we</a:t>
            </a:r>
            <a:r>
              <a:rPr dirty="0" spc="-114"/>
              <a:t> </a:t>
            </a:r>
            <a:r>
              <a:rPr dirty="0" spc="-85"/>
              <a:t>study</a:t>
            </a:r>
            <a:r>
              <a:rPr dirty="0" spc="-114"/>
              <a:t> </a:t>
            </a:r>
            <a:r>
              <a:rPr dirty="0" spc="-150"/>
              <a:t>language</a:t>
            </a:r>
            <a:r>
              <a:rPr dirty="0" spc="-114"/>
              <a:t> </a:t>
            </a:r>
            <a:r>
              <a:rPr dirty="0" spc="-10"/>
              <a:t>contact</a:t>
            </a:r>
          </a:p>
        </p:txBody>
      </p:sp>
      <p:sp>
        <p:nvSpPr>
          <p:cNvPr id="5" name="object 5" descr=""/>
          <p:cNvSpPr/>
          <p:nvPr/>
        </p:nvSpPr>
        <p:spPr>
          <a:xfrm>
            <a:off x="774191" y="1987295"/>
            <a:ext cx="3335020" cy="457200"/>
          </a:xfrm>
          <a:custGeom>
            <a:avLst/>
            <a:gdLst/>
            <a:ahLst/>
            <a:cxnLst/>
            <a:rect l="l" t="t" r="r" b="b"/>
            <a:pathLst>
              <a:path w="3335020" h="457200">
                <a:moveTo>
                  <a:pt x="3334511" y="457199"/>
                </a:moveTo>
                <a:lnTo>
                  <a:pt x="0" y="457199"/>
                </a:lnTo>
                <a:lnTo>
                  <a:pt x="0" y="0"/>
                </a:lnTo>
                <a:lnTo>
                  <a:pt x="3334511" y="0"/>
                </a:lnTo>
                <a:lnTo>
                  <a:pt x="3334511" y="45719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789308" y="1903358"/>
            <a:ext cx="3275329" cy="5067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150" spc="-85" b="1">
                <a:solidFill>
                  <a:srgbClr val="60A5FA"/>
                </a:solidFill>
                <a:latin typeface="Tahoma"/>
                <a:cs typeface="Tahoma"/>
              </a:rPr>
              <a:t>with</a:t>
            </a:r>
            <a:r>
              <a:rPr dirty="0" sz="3150" spc="-140" b="1">
                <a:solidFill>
                  <a:srgbClr val="60A5FA"/>
                </a:solidFill>
                <a:latin typeface="Tahoma"/>
                <a:cs typeface="Tahoma"/>
              </a:rPr>
              <a:t> </a:t>
            </a:r>
            <a:r>
              <a:rPr dirty="0" sz="3150" spc="-80" b="1">
                <a:solidFill>
                  <a:srgbClr val="60A5FA"/>
                </a:solidFill>
                <a:latin typeface="Tahoma"/>
                <a:cs typeface="Tahoma"/>
              </a:rPr>
              <a:t>this</a:t>
            </a:r>
            <a:r>
              <a:rPr dirty="0" sz="3150" spc="-140" b="1">
                <a:solidFill>
                  <a:srgbClr val="60A5FA"/>
                </a:solidFill>
                <a:latin typeface="Tahoma"/>
                <a:cs typeface="Tahoma"/>
              </a:rPr>
              <a:t> </a:t>
            </a:r>
            <a:r>
              <a:rPr dirty="0" sz="3150" spc="-100" b="1">
                <a:solidFill>
                  <a:srgbClr val="60A5FA"/>
                </a:solidFill>
                <a:latin typeface="Tahoma"/>
                <a:cs typeface="Tahoma"/>
              </a:rPr>
              <a:t>corpus?</a:t>
            </a:r>
            <a:endParaRPr sz="3150">
              <a:latin typeface="Tahoma"/>
              <a:cs typeface="Tahoma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3428178"/>
            <a:ext cx="91896" cy="9189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3987913"/>
            <a:ext cx="91896" cy="91896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4547649"/>
            <a:ext cx="91896" cy="91896"/>
          </a:xfrm>
          <a:prstGeom prst="rect">
            <a:avLst/>
          </a:prstGeom>
        </p:spPr>
      </p:pic>
      <p:sp>
        <p:nvSpPr>
          <p:cNvPr id="10" name="object 10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Contact</a:t>
            </a:r>
            <a:r>
              <a:rPr dirty="0" spc="-130"/>
              <a:t> </a:t>
            </a:r>
            <a:r>
              <a:rPr dirty="0" spc="-10"/>
              <a:t>phenomena:</a:t>
            </a:r>
          </a:p>
          <a:p>
            <a:pPr marL="346710" marR="598805">
              <a:lnSpc>
                <a:spcPct val="174900"/>
              </a:lnSpc>
              <a:spcBef>
                <a:spcPts val="1250"/>
              </a:spcBef>
            </a:pPr>
            <a:r>
              <a:rPr dirty="0" spc="125" b="0">
                <a:solidFill>
                  <a:srgbClr val="F7FAFB"/>
                </a:solidFill>
                <a:latin typeface="Tahoma"/>
                <a:cs typeface="Tahoma"/>
              </a:rPr>
              <a:t>What</a:t>
            </a:r>
            <a:r>
              <a:rPr dirty="0" spc="-80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75" b="0">
                <a:solidFill>
                  <a:srgbClr val="F7FAFB"/>
                </a:solidFill>
                <a:latin typeface="Tahoma"/>
                <a:cs typeface="Tahoma"/>
              </a:rPr>
              <a:t>types</a:t>
            </a:r>
            <a:r>
              <a:rPr dirty="0" spc="-80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70" b="0">
                <a:solidFill>
                  <a:srgbClr val="F7FAFB"/>
                </a:solidFill>
                <a:latin typeface="Tahoma"/>
                <a:cs typeface="Tahoma"/>
              </a:rPr>
              <a:t>of</a:t>
            </a:r>
            <a:r>
              <a:rPr dirty="0" spc="-80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95" b="0">
                <a:solidFill>
                  <a:srgbClr val="F7FAFB"/>
                </a:solidFill>
                <a:latin typeface="Tahoma"/>
                <a:cs typeface="Tahoma"/>
              </a:rPr>
              <a:t>borrowing</a:t>
            </a:r>
            <a:r>
              <a:rPr dirty="0" spc="-80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40" b="0">
                <a:solidFill>
                  <a:srgbClr val="F7FAFB"/>
                </a:solidFill>
                <a:latin typeface="Tahoma"/>
                <a:cs typeface="Tahoma"/>
              </a:rPr>
              <a:t>occur? </a:t>
            </a:r>
            <a:r>
              <a:rPr dirty="0" spc="130" b="0">
                <a:solidFill>
                  <a:srgbClr val="F7FAFB"/>
                </a:solidFill>
                <a:latin typeface="Tahoma"/>
                <a:cs typeface="Tahoma"/>
              </a:rPr>
              <a:t>How</a:t>
            </a:r>
            <a:r>
              <a:rPr dirty="0" spc="-80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55" b="0">
                <a:solidFill>
                  <a:srgbClr val="F7FAFB"/>
                </a:solidFill>
                <a:latin typeface="Tahoma"/>
                <a:cs typeface="Tahoma"/>
              </a:rPr>
              <a:t>is</a:t>
            </a:r>
            <a:r>
              <a:rPr dirty="0" spc="-75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65" b="0">
                <a:solidFill>
                  <a:srgbClr val="F7FAFB"/>
                </a:solidFill>
                <a:latin typeface="Tahoma"/>
                <a:cs typeface="Tahoma"/>
              </a:rPr>
              <a:t>calquing</a:t>
            </a:r>
            <a:r>
              <a:rPr dirty="0" spc="-80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75" b="0">
                <a:solidFill>
                  <a:srgbClr val="F7FAFB"/>
                </a:solidFill>
                <a:latin typeface="Tahoma"/>
                <a:cs typeface="Tahoma"/>
              </a:rPr>
              <a:t>identified?</a:t>
            </a:r>
          </a:p>
          <a:p>
            <a:pPr marL="346710">
              <a:lnSpc>
                <a:spcPct val="100000"/>
              </a:lnSpc>
              <a:spcBef>
                <a:spcPts val="1885"/>
              </a:spcBef>
            </a:pPr>
            <a:r>
              <a:rPr dirty="0" spc="125" b="0">
                <a:solidFill>
                  <a:srgbClr val="F7FAFB"/>
                </a:solidFill>
                <a:latin typeface="Tahoma"/>
                <a:cs typeface="Tahoma"/>
              </a:rPr>
              <a:t>What</a:t>
            </a:r>
            <a:r>
              <a:rPr dirty="0" spc="-75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65" b="0">
                <a:solidFill>
                  <a:srgbClr val="F7FAFB"/>
                </a:solidFill>
                <a:latin typeface="Tahoma"/>
                <a:cs typeface="Tahoma"/>
              </a:rPr>
              <a:t>convergence</a:t>
            </a:r>
            <a:r>
              <a:rPr dirty="0" spc="-75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90" b="0">
                <a:solidFill>
                  <a:srgbClr val="F7FAFB"/>
                </a:solidFill>
                <a:latin typeface="Tahoma"/>
                <a:cs typeface="Tahoma"/>
              </a:rPr>
              <a:t>patterns</a:t>
            </a:r>
            <a:r>
              <a:rPr dirty="0" spc="-75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-10" b="0">
                <a:solidFill>
                  <a:srgbClr val="F7FAFB"/>
                </a:solidFill>
                <a:latin typeface="Tahoma"/>
                <a:cs typeface="Tahoma"/>
              </a:rPr>
              <a:t>emerge?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543560"/>
          </a:xfrm>
          <a:custGeom>
            <a:avLst/>
            <a:gdLst/>
            <a:ahLst/>
            <a:cxnLst/>
            <a:rect l="l" t="t" r="r" b="b"/>
            <a:pathLst>
              <a:path w="50165" h="543560">
                <a:moveTo>
                  <a:pt x="50125" y="543026"/>
                </a:moveTo>
                <a:lnTo>
                  <a:pt x="0" y="543026"/>
                </a:lnTo>
                <a:lnTo>
                  <a:pt x="0" y="0"/>
                </a:lnTo>
                <a:lnTo>
                  <a:pt x="50125" y="0"/>
                </a:lnTo>
                <a:lnTo>
                  <a:pt x="50125" y="543026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98575" y="1444752"/>
            <a:ext cx="8007350" cy="463550"/>
          </a:xfrm>
          <a:custGeom>
            <a:avLst/>
            <a:gdLst/>
            <a:ahLst/>
            <a:cxnLst/>
            <a:rect l="l" t="t" r="r" b="b"/>
            <a:pathLst>
              <a:path w="8007350" h="463550">
                <a:moveTo>
                  <a:pt x="8007095" y="463295"/>
                </a:moveTo>
                <a:lnTo>
                  <a:pt x="0" y="463295"/>
                </a:lnTo>
                <a:lnTo>
                  <a:pt x="0" y="0"/>
                </a:lnTo>
                <a:lnTo>
                  <a:pt x="8007095" y="0"/>
                </a:lnTo>
                <a:lnTo>
                  <a:pt x="8007095" y="463295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10"/>
              <a:t>Research</a:t>
            </a:r>
            <a:r>
              <a:rPr dirty="0" spc="-120"/>
              <a:t> </a:t>
            </a:r>
            <a:r>
              <a:rPr dirty="0" spc="-50"/>
              <a:t>Applications:</a:t>
            </a:r>
            <a:r>
              <a:rPr dirty="0" spc="-114"/>
              <a:t> </a:t>
            </a:r>
            <a:r>
              <a:rPr dirty="0" spc="-160"/>
              <a:t>Language</a:t>
            </a:r>
            <a:r>
              <a:rPr dirty="0" spc="-114"/>
              <a:t> </a:t>
            </a:r>
            <a:r>
              <a:rPr dirty="0" spc="-10"/>
              <a:t>Contact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2885151"/>
            <a:ext cx="91896" cy="91896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3444887"/>
            <a:ext cx="91896" cy="9189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4004622"/>
            <a:ext cx="91896" cy="9189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4572711"/>
            <a:ext cx="91896" cy="91896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572097" y="2020317"/>
            <a:ext cx="4227195" cy="27527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Analyzing:</a:t>
            </a:r>
            <a:endParaRPr sz="2100">
              <a:latin typeface="Tahoma"/>
              <a:cs typeface="Tahoma"/>
            </a:endParaRPr>
          </a:p>
          <a:p>
            <a:pPr marL="346710" marR="5080">
              <a:lnSpc>
                <a:spcPct val="175800"/>
              </a:lnSpc>
              <a:spcBef>
                <a:spcPts val="1225"/>
              </a:spcBef>
            </a:pPr>
            <a:r>
              <a:rPr dirty="0" sz="2100" spc="-25" b="1">
                <a:solidFill>
                  <a:srgbClr val="FBD34D"/>
                </a:solidFill>
                <a:latin typeface="Tahoma"/>
                <a:cs typeface="Tahoma"/>
              </a:rPr>
              <a:t>Borrowing</a:t>
            </a:r>
            <a:r>
              <a:rPr dirty="0" sz="2100" spc="-5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of</a:t>
            </a:r>
            <a:r>
              <a:rPr dirty="0" sz="2100" spc="-9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valency</a:t>
            </a:r>
            <a:r>
              <a:rPr dirty="0" sz="2100" spc="-9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patterns </a:t>
            </a:r>
            <a:r>
              <a:rPr dirty="0" sz="2100" spc="-30" b="1">
                <a:solidFill>
                  <a:srgbClr val="FBD34D"/>
                </a:solidFill>
                <a:latin typeface="Tahoma"/>
                <a:cs typeface="Tahoma"/>
              </a:rPr>
              <a:t>Calquing</a:t>
            </a:r>
            <a:r>
              <a:rPr dirty="0" sz="2100" spc="-7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in</a:t>
            </a:r>
            <a:r>
              <a:rPr dirty="0" sz="2100" spc="-11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translations </a:t>
            </a:r>
            <a:r>
              <a:rPr dirty="0" sz="2100" spc="-35" b="1">
                <a:solidFill>
                  <a:srgbClr val="FBD34D"/>
                </a:solidFill>
                <a:latin typeface="Tahoma"/>
                <a:cs typeface="Tahoma"/>
              </a:rPr>
              <a:t>Interference</a:t>
            </a:r>
            <a:r>
              <a:rPr dirty="0" sz="2100" spc="-8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50">
                <a:solidFill>
                  <a:srgbClr val="F7FAFB"/>
                </a:solidFill>
                <a:latin typeface="Tahoma"/>
                <a:cs typeface="Tahoma"/>
              </a:rPr>
              <a:t>phenomena </a:t>
            </a:r>
            <a:r>
              <a:rPr dirty="0" sz="2100" spc="-35" b="1">
                <a:solidFill>
                  <a:srgbClr val="FBD34D"/>
                </a:solidFill>
                <a:latin typeface="Tahoma"/>
                <a:cs typeface="Tahoma"/>
              </a:rPr>
              <a:t>Convergence</a:t>
            </a:r>
            <a:r>
              <a:rPr dirty="0" sz="2100" spc="-6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of</a:t>
            </a:r>
            <a:r>
              <a:rPr dirty="0" sz="2100" spc="-10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structures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1086485"/>
          </a:xfrm>
          <a:custGeom>
            <a:avLst/>
            <a:gdLst/>
            <a:ahLst/>
            <a:cxnLst/>
            <a:rect l="l" t="t" r="r" b="b"/>
            <a:pathLst>
              <a:path w="50165" h="1086485">
                <a:moveTo>
                  <a:pt x="50125" y="1086053"/>
                </a:moveTo>
                <a:lnTo>
                  <a:pt x="0" y="1086053"/>
                </a:lnTo>
                <a:lnTo>
                  <a:pt x="0" y="0"/>
                </a:lnTo>
                <a:lnTo>
                  <a:pt x="50125" y="0"/>
                </a:lnTo>
                <a:lnTo>
                  <a:pt x="50125" y="1086053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83336" y="1444752"/>
            <a:ext cx="9351645" cy="463550"/>
          </a:xfrm>
          <a:custGeom>
            <a:avLst/>
            <a:gdLst/>
            <a:ahLst/>
            <a:cxnLst/>
            <a:rect l="l" t="t" r="r" b="b"/>
            <a:pathLst>
              <a:path w="9351645" h="463550">
                <a:moveTo>
                  <a:pt x="9351263" y="463295"/>
                </a:moveTo>
                <a:lnTo>
                  <a:pt x="0" y="463295"/>
                </a:lnTo>
                <a:lnTo>
                  <a:pt x="0" y="0"/>
                </a:lnTo>
                <a:lnTo>
                  <a:pt x="9351263" y="0"/>
                </a:lnTo>
                <a:lnTo>
                  <a:pt x="9351263" y="463295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75"/>
              <a:t>Question:</a:t>
            </a:r>
            <a:r>
              <a:rPr dirty="0" spc="-120"/>
              <a:t> </a:t>
            </a:r>
            <a:r>
              <a:rPr dirty="0"/>
              <a:t>What</a:t>
            </a:r>
            <a:r>
              <a:rPr dirty="0" spc="-120"/>
              <a:t> </a:t>
            </a:r>
            <a:r>
              <a:rPr dirty="0" spc="-70"/>
              <a:t>sociolinguistic</a:t>
            </a:r>
            <a:r>
              <a:rPr dirty="0" spc="-114"/>
              <a:t> </a:t>
            </a:r>
            <a:r>
              <a:rPr dirty="0" spc="-100"/>
              <a:t>questions</a:t>
            </a:r>
            <a:r>
              <a:rPr dirty="0" spc="-120"/>
              <a:t> </a:t>
            </a:r>
            <a:r>
              <a:rPr dirty="0" spc="-130"/>
              <a:t>can</a:t>
            </a:r>
            <a:r>
              <a:rPr dirty="0" spc="-120"/>
              <a:t> </a:t>
            </a:r>
            <a:r>
              <a:rPr dirty="0" spc="-25"/>
              <a:t>we</a:t>
            </a:r>
          </a:p>
        </p:txBody>
      </p:sp>
      <p:sp>
        <p:nvSpPr>
          <p:cNvPr id="5" name="object 5" descr=""/>
          <p:cNvSpPr/>
          <p:nvPr/>
        </p:nvSpPr>
        <p:spPr>
          <a:xfrm>
            <a:off x="786383" y="1993391"/>
            <a:ext cx="1645920" cy="390525"/>
          </a:xfrm>
          <a:custGeom>
            <a:avLst/>
            <a:gdLst/>
            <a:ahLst/>
            <a:cxnLst/>
            <a:rect l="l" t="t" r="r" b="b"/>
            <a:pathLst>
              <a:path w="1645920" h="390525">
                <a:moveTo>
                  <a:pt x="1645919" y="390143"/>
                </a:moveTo>
                <a:lnTo>
                  <a:pt x="0" y="390143"/>
                </a:lnTo>
                <a:lnTo>
                  <a:pt x="0" y="0"/>
                </a:lnTo>
                <a:lnTo>
                  <a:pt x="1645919" y="0"/>
                </a:lnTo>
                <a:lnTo>
                  <a:pt x="1645919" y="390143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789308" y="1903358"/>
            <a:ext cx="1600200" cy="5067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150" spc="-135" b="1">
                <a:solidFill>
                  <a:srgbClr val="60A5FA"/>
                </a:solidFill>
                <a:latin typeface="Tahoma"/>
                <a:cs typeface="Tahoma"/>
              </a:rPr>
              <a:t>answer?</a:t>
            </a:r>
            <a:endParaRPr sz="3150">
              <a:latin typeface="Tahoma"/>
              <a:cs typeface="Tahoma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3428178"/>
            <a:ext cx="91896" cy="9189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3987913"/>
            <a:ext cx="91896" cy="91896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4547649"/>
            <a:ext cx="91896" cy="91896"/>
          </a:xfrm>
          <a:prstGeom prst="rect">
            <a:avLst/>
          </a:prstGeom>
        </p:spPr>
      </p:pic>
      <p:sp>
        <p:nvSpPr>
          <p:cNvPr id="10" name="object 10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Historical</a:t>
            </a:r>
            <a:r>
              <a:rPr dirty="0" spc="-20"/>
              <a:t> </a:t>
            </a:r>
            <a:r>
              <a:rPr dirty="0" spc="-10"/>
              <a:t>sociolinguistics:</a:t>
            </a:r>
          </a:p>
          <a:p>
            <a:pPr marL="346710" marR="5080">
              <a:lnSpc>
                <a:spcPct val="174900"/>
              </a:lnSpc>
              <a:spcBef>
                <a:spcPts val="1250"/>
              </a:spcBef>
            </a:pPr>
            <a:r>
              <a:rPr dirty="0" spc="130" b="0">
                <a:solidFill>
                  <a:srgbClr val="F7FAFB"/>
                </a:solidFill>
                <a:latin typeface="Tahoma"/>
                <a:cs typeface="Tahoma"/>
              </a:rPr>
              <a:t>How</a:t>
            </a:r>
            <a:r>
              <a:rPr dirty="0" spc="-75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60" b="0">
                <a:solidFill>
                  <a:srgbClr val="F7FAFB"/>
                </a:solidFill>
                <a:latin typeface="Tahoma"/>
                <a:cs typeface="Tahoma"/>
              </a:rPr>
              <a:t>does</a:t>
            </a:r>
            <a:r>
              <a:rPr dirty="0" spc="-70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90" b="0">
                <a:solidFill>
                  <a:srgbClr val="F7FAFB"/>
                </a:solidFill>
                <a:latin typeface="Tahoma"/>
                <a:cs typeface="Tahoma"/>
              </a:rPr>
              <a:t>register</a:t>
            </a:r>
            <a:r>
              <a:rPr dirty="0" spc="-75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80" b="0">
                <a:solidFill>
                  <a:srgbClr val="F7FAFB"/>
                </a:solidFill>
                <a:latin typeface="Tahoma"/>
                <a:cs typeface="Tahoma"/>
              </a:rPr>
              <a:t>vary</a:t>
            </a:r>
            <a:r>
              <a:rPr dirty="0" spc="-70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65" b="0">
                <a:solidFill>
                  <a:srgbClr val="F7FAFB"/>
                </a:solidFill>
                <a:latin typeface="Tahoma"/>
                <a:cs typeface="Tahoma"/>
              </a:rPr>
              <a:t>across</a:t>
            </a:r>
            <a:r>
              <a:rPr dirty="0" spc="-75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40" b="0">
                <a:solidFill>
                  <a:srgbClr val="F7FAFB"/>
                </a:solidFill>
                <a:latin typeface="Tahoma"/>
                <a:cs typeface="Tahoma"/>
              </a:rPr>
              <a:t>time? </a:t>
            </a:r>
            <a:r>
              <a:rPr dirty="0" spc="125" b="0">
                <a:solidFill>
                  <a:srgbClr val="F7FAFB"/>
                </a:solidFill>
                <a:latin typeface="Tahoma"/>
                <a:cs typeface="Tahoma"/>
              </a:rPr>
              <a:t>What</a:t>
            </a:r>
            <a:r>
              <a:rPr dirty="0" spc="-60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90" b="0">
                <a:solidFill>
                  <a:srgbClr val="F7FAFB"/>
                </a:solidFill>
                <a:latin typeface="Tahoma"/>
                <a:cs typeface="Tahoma"/>
              </a:rPr>
              <a:t>standardization</a:t>
            </a:r>
            <a:r>
              <a:rPr dirty="0" spc="-60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70" b="0">
                <a:solidFill>
                  <a:srgbClr val="F7FAFB"/>
                </a:solidFill>
                <a:latin typeface="Tahoma"/>
                <a:cs typeface="Tahoma"/>
              </a:rPr>
              <a:t>processes</a:t>
            </a:r>
            <a:r>
              <a:rPr dirty="0" spc="-55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40" b="0">
                <a:solidFill>
                  <a:srgbClr val="F7FAFB"/>
                </a:solidFill>
                <a:latin typeface="Tahoma"/>
                <a:cs typeface="Tahoma"/>
              </a:rPr>
              <a:t>occur? </a:t>
            </a:r>
            <a:r>
              <a:rPr dirty="0" spc="130" b="0">
                <a:solidFill>
                  <a:srgbClr val="F7FAFB"/>
                </a:solidFill>
                <a:latin typeface="Tahoma"/>
                <a:cs typeface="Tahoma"/>
              </a:rPr>
              <a:t>How</a:t>
            </a:r>
            <a:r>
              <a:rPr dirty="0" spc="-75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55" b="0">
                <a:solidFill>
                  <a:srgbClr val="F7FAFB"/>
                </a:solidFill>
                <a:latin typeface="Tahoma"/>
                <a:cs typeface="Tahoma"/>
              </a:rPr>
              <a:t>do</a:t>
            </a:r>
            <a:r>
              <a:rPr dirty="0" spc="-75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90" b="0">
                <a:solidFill>
                  <a:srgbClr val="F7FAFB"/>
                </a:solidFill>
                <a:latin typeface="Tahoma"/>
                <a:cs typeface="Tahoma"/>
              </a:rPr>
              <a:t>translation</a:t>
            </a:r>
            <a:r>
              <a:rPr dirty="0" spc="-75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70" b="0">
                <a:solidFill>
                  <a:srgbClr val="F7FAFB"/>
                </a:solidFill>
                <a:latin typeface="Tahoma"/>
                <a:cs typeface="Tahoma"/>
              </a:rPr>
              <a:t>norms</a:t>
            </a:r>
            <a:r>
              <a:rPr dirty="0" spc="-70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-10" b="0">
                <a:solidFill>
                  <a:srgbClr val="F7FAFB"/>
                </a:solidFill>
                <a:latin typeface="Tahoma"/>
                <a:cs typeface="Tahoma"/>
              </a:rPr>
              <a:t>change?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1086485"/>
          </a:xfrm>
          <a:custGeom>
            <a:avLst/>
            <a:gdLst/>
            <a:ahLst/>
            <a:cxnLst/>
            <a:rect l="l" t="t" r="r" b="b"/>
            <a:pathLst>
              <a:path w="50165" h="1086485">
                <a:moveTo>
                  <a:pt x="50125" y="1086053"/>
                </a:moveTo>
                <a:lnTo>
                  <a:pt x="0" y="1086053"/>
                </a:lnTo>
                <a:lnTo>
                  <a:pt x="0" y="0"/>
                </a:lnTo>
                <a:lnTo>
                  <a:pt x="50125" y="0"/>
                </a:lnTo>
                <a:lnTo>
                  <a:pt x="50125" y="1086053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98575" y="1444752"/>
            <a:ext cx="6434455" cy="457200"/>
          </a:xfrm>
          <a:custGeom>
            <a:avLst/>
            <a:gdLst/>
            <a:ahLst/>
            <a:cxnLst/>
            <a:rect l="l" t="t" r="r" b="b"/>
            <a:pathLst>
              <a:path w="6434455" h="457200">
                <a:moveTo>
                  <a:pt x="6434327" y="457199"/>
                </a:moveTo>
                <a:lnTo>
                  <a:pt x="0" y="457199"/>
                </a:lnTo>
                <a:lnTo>
                  <a:pt x="0" y="0"/>
                </a:lnTo>
                <a:lnTo>
                  <a:pt x="6434327" y="0"/>
                </a:lnTo>
                <a:lnTo>
                  <a:pt x="6434327" y="45719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10"/>
              <a:t>Research</a:t>
            </a:r>
            <a:r>
              <a:rPr dirty="0" spc="-125"/>
              <a:t> </a:t>
            </a:r>
            <a:r>
              <a:rPr dirty="0" spc="-50"/>
              <a:t>Applications:</a:t>
            </a:r>
            <a:r>
              <a:rPr dirty="0" spc="-125"/>
              <a:t> </a:t>
            </a:r>
            <a:r>
              <a:rPr dirty="0" spc="-10"/>
              <a:t>Historical</a:t>
            </a:r>
          </a:p>
        </p:txBody>
      </p:sp>
      <p:sp>
        <p:nvSpPr>
          <p:cNvPr id="5" name="object 5" descr=""/>
          <p:cNvSpPr/>
          <p:nvPr/>
        </p:nvSpPr>
        <p:spPr>
          <a:xfrm>
            <a:off x="777239" y="1987295"/>
            <a:ext cx="3066415" cy="463550"/>
          </a:xfrm>
          <a:custGeom>
            <a:avLst/>
            <a:gdLst/>
            <a:ahLst/>
            <a:cxnLst/>
            <a:rect l="l" t="t" r="r" b="b"/>
            <a:pathLst>
              <a:path w="3066415" h="463550">
                <a:moveTo>
                  <a:pt x="3066287" y="463295"/>
                </a:moveTo>
                <a:lnTo>
                  <a:pt x="0" y="463295"/>
                </a:lnTo>
                <a:lnTo>
                  <a:pt x="0" y="0"/>
                </a:lnTo>
                <a:lnTo>
                  <a:pt x="3066287" y="0"/>
                </a:lnTo>
                <a:lnTo>
                  <a:pt x="3066287" y="463295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789308" y="1903358"/>
            <a:ext cx="3014345" cy="5067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150" spc="-70" b="1">
                <a:solidFill>
                  <a:srgbClr val="60A5FA"/>
                </a:solidFill>
                <a:latin typeface="Tahoma"/>
                <a:cs typeface="Tahoma"/>
              </a:rPr>
              <a:t>Sociolinguistics</a:t>
            </a:r>
            <a:endParaRPr sz="3150">
              <a:latin typeface="Tahoma"/>
              <a:cs typeface="Tahoma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3428178"/>
            <a:ext cx="91896" cy="9189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3987913"/>
            <a:ext cx="91896" cy="91896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4547649"/>
            <a:ext cx="91896" cy="91896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5107384"/>
            <a:ext cx="91896" cy="91896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572097" y="2563344"/>
            <a:ext cx="4466590" cy="2744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Investigating:</a:t>
            </a:r>
            <a:endParaRPr sz="2100">
              <a:latin typeface="Tahoma"/>
              <a:cs typeface="Tahoma"/>
            </a:endParaRPr>
          </a:p>
          <a:p>
            <a:pPr marL="346710" marR="5080">
              <a:lnSpc>
                <a:spcPct val="174900"/>
              </a:lnSpc>
              <a:spcBef>
                <a:spcPts val="1250"/>
              </a:spcBef>
            </a:pPr>
            <a:r>
              <a:rPr dirty="0" sz="2100" spc="-30" b="1">
                <a:solidFill>
                  <a:srgbClr val="FBD34D"/>
                </a:solidFill>
                <a:latin typeface="Tahoma"/>
                <a:cs typeface="Tahoma"/>
              </a:rPr>
              <a:t>Register</a:t>
            </a:r>
            <a:r>
              <a:rPr dirty="0" sz="2100" spc="-8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variation</a:t>
            </a:r>
            <a:r>
              <a:rPr dirty="0" sz="2100" spc="-8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across</a:t>
            </a:r>
            <a:r>
              <a:rPr dirty="0" sz="2100" spc="-12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time </a:t>
            </a:r>
            <a:r>
              <a:rPr dirty="0" sz="2100" spc="-25" b="1">
                <a:solidFill>
                  <a:srgbClr val="FBD34D"/>
                </a:solidFill>
                <a:latin typeface="Tahoma"/>
                <a:cs typeface="Tahoma"/>
              </a:rPr>
              <a:t>Standardization</a:t>
            </a:r>
            <a:r>
              <a:rPr dirty="0" sz="2100" spc="-2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60">
                <a:solidFill>
                  <a:srgbClr val="F7FAFB"/>
                </a:solidFill>
                <a:latin typeface="Tahoma"/>
                <a:cs typeface="Tahoma"/>
              </a:rPr>
              <a:t>processes </a:t>
            </a: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Literacy</a:t>
            </a:r>
            <a:r>
              <a:rPr dirty="0" sz="2100" spc="-3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and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text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production </a:t>
            </a:r>
            <a:r>
              <a:rPr dirty="0" sz="2100" spc="-30" b="1">
                <a:solidFill>
                  <a:srgbClr val="FBD34D"/>
                </a:solidFill>
                <a:latin typeface="Tahoma"/>
                <a:cs typeface="Tahoma"/>
              </a:rPr>
              <a:t>Translation </a:t>
            </a:r>
            <a:r>
              <a:rPr dirty="0" sz="2100" spc="-55" b="1">
                <a:solidFill>
                  <a:srgbClr val="FBD34D"/>
                </a:solidFill>
                <a:latin typeface="Tahoma"/>
                <a:cs typeface="Tahoma"/>
              </a:rPr>
              <a:t>norms</a:t>
            </a:r>
            <a:r>
              <a:rPr dirty="0" sz="2100" spc="-2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and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practices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543560"/>
          </a:xfrm>
          <a:custGeom>
            <a:avLst/>
            <a:gdLst/>
            <a:ahLst/>
            <a:cxnLst/>
            <a:rect l="l" t="t" r="r" b="b"/>
            <a:pathLst>
              <a:path w="50165" h="543560">
                <a:moveTo>
                  <a:pt x="50125" y="543026"/>
                </a:moveTo>
                <a:lnTo>
                  <a:pt x="0" y="543026"/>
                </a:lnTo>
                <a:lnTo>
                  <a:pt x="0" y="0"/>
                </a:lnTo>
                <a:lnTo>
                  <a:pt x="50125" y="0"/>
                </a:lnTo>
                <a:lnTo>
                  <a:pt x="50125" y="543026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80287" y="1444752"/>
            <a:ext cx="6413500" cy="396240"/>
          </a:xfrm>
          <a:custGeom>
            <a:avLst/>
            <a:gdLst/>
            <a:ahLst/>
            <a:cxnLst/>
            <a:rect l="l" t="t" r="r" b="b"/>
            <a:pathLst>
              <a:path w="6413500" h="396239">
                <a:moveTo>
                  <a:pt x="6412991" y="396239"/>
                </a:moveTo>
                <a:lnTo>
                  <a:pt x="0" y="396239"/>
                </a:lnTo>
                <a:lnTo>
                  <a:pt x="0" y="0"/>
                </a:lnTo>
                <a:lnTo>
                  <a:pt x="6412991" y="0"/>
                </a:lnTo>
                <a:lnTo>
                  <a:pt x="6412991" y="39623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45"/>
              <a:t>Collaborative</a:t>
            </a:r>
            <a:r>
              <a:rPr dirty="0" spc="-100"/>
              <a:t> </a:t>
            </a:r>
            <a:r>
              <a:rPr dirty="0" spc="-110"/>
              <a:t>Research</a:t>
            </a:r>
            <a:r>
              <a:rPr dirty="0" spc="-95"/>
              <a:t> </a:t>
            </a:r>
            <a:r>
              <a:rPr dirty="0" spc="-10"/>
              <a:t>Potential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2885151"/>
            <a:ext cx="91896" cy="91896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3444887"/>
            <a:ext cx="91896" cy="9189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4004622"/>
            <a:ext cx="91896" cy="9189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4572711"/>
            <a:ext cx="91896" cy="91896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572097" y="2020317"/>
            <a:ext cx="7599045" cy="27527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The</a:t>
            </a:r>
            <a:r>
              <a:rPr dirty="0" sz="2100" spc="-12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30" b="1">
                <a:solidFill>
                  <a:srgbClr val="FBD34D"/>
                </a:solidFill>
                <a:latin typeface="Tahoma"/>
                <a:cs typeface="Tahoma"/>
              </a:rPr>
              <a:t>corpus</a:t>
            </a:r>
            <a:r>
              <a:rPr dirty="0" sz="2100" spc="-12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enables:</a:t>
            </a:r>
            <a:endParaRPr sz="2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sz="2100">
              <a:latin typeface="Tahoma"/>
              <a:cs typeface="Tahoma"/>
            </a:endParaRPr>
          </a:p>
          <a:p>
            <a:pPr marL="346710">
              <a:lnSpc>
                <a:spcPct val="100000"/>
              </a:lnSpc>
            </a:pPr>
            <a:r>
              <a:rPr dirty="0" sz="2100" spc="-35" b="1">
                <a:solidFill>
                  <a:srgbClr val="FBD34D"/>
                </a:solidFill>
                <a:latin typeface="Tahoma"/>
                <a:cs typeface="Tahoma"/>
              </a:rPr>
              <a:t>International</a:t>
            </a:r>
            <a:r>
              <a:rPr dirty="0" sz="2100" spc="-5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collaboration</a:t>
            </a:r>
            <a:endParaRPr sz="2100">
              <a:latin typeface="Tahoma"/>
              <a:cs typeface="Tahoma"/>
            </a:endParaRPr>
          </a:p>
          <a:p>
            <a:pPr marL="346710">
              <a:lnSpc>
                <a:spcPct val="100000"/>
              </a:lnSpc>
              <a:spcBef>
                <a:spcPts val="1890"/>
              </a:spcBef>
            </a:pPr>
            <a:r>
              <a:rPr dirty="0" sz="2100" spc="-25" b="1">
                <a:solidFill>
                  <a:srgbClr val="FBD34D"/>
                </a:solidFill>
                <a:latin typeface="Tahoma"/>
                <a:cs typeface="Tahoma"/>
              </a:rPr>
              <a:t>Interdisciplinary</a:t>
            </a:r>
            <a:r>
              <a:rPr dirty="0" sz="2100" spc="-4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30" b="1">
                <a:solidFill>
                  <a:srgbClr val="FBD34D"/>
                </a:solidFill>
                <a:latin typeface="Tahoma"/>
                <a:cs typeface="Tahoma"/>
              </a:rPr>
              <a:t>research</a:t>
            </a:r>
            <a:r>
              <a:rPr dirty="0" sz="2100" spc="-3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(linguistics,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0">
                <a:solidFill>
                  <a:srgbClr val="F7FAFB"/>
                </a:solidFill>
                <a:latin typeface="Tahoma"/>
                <a:cs typeface="Tahoma"/>
              </a:rPr>
              <a:t>classics,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0">
                <a:solidFill>
                  <a:srgbClr val="F7FAFB"/>
                </a:solidFill>
                <a:latin typeface="Tahoma"/>
                <a:cs typeface="Tahoma"/>
              </a:rPr>
              <a:t>theology)</a:t>
            </a:r>
            <a:endParaRPr sz="2100">
              <a:latin typeface="Tahoma"/>
              <a:cs typeface="Tahoma"/>
            </a:endParaRPr>
          </a:p>
          <a:p>
            <a:pPr marL="346710">
              <a:lnSpc>
                <a:spcPct val="100000"/>
              </a:lnSpc>
              <a:spcBef>
                <a:spcPts val="1885"/>
              </a:spcBef>
            </a:pPr>
            <a:r>
              <a:rPr dirty="0" sz="2100" spc="-20" b="1">
                <a:solidFill>
                  <a:srgbClr val="FBD34D"/>
                </a:solidFill>
                <a:latin typeface="Tahoma"/>
                <a:cs typeface="Tahoma"/>
              </a:rPr>
              <a:t>Computational</a:t>
            </a:r>
            <a:r>
              <a:rPr dirty="0" sz="2100" spc="-7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35" b="1">
                <a:solidFill>
                  <a:srgbClr val="FBD34D"/>
                </a:solidFill>
                <a:latin typeface="Tahoma"/>
                <a:cs typeface="Tahoma"/>
              </a:rPr>
              <a:t>humanities</a:t>
            </a:r>
            <a:r>
              <a:rPr dirty="0" sz="2100" spc="-7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projects</a:t>
            </a:r>
            <a:endParaRPr sz="2100">
              <a:latin typeface="Tahoma"/>
              <a:cs typeface="Tahoma"/>
            </a:endParaRPr>
          </a:p>
          <a:p>
            <a:pPr marL="346710">
              <a:lnSpc>
                <a:spcPct val="100000"/>
              </a:lnSpc>
              <a:spcBef>
                <a:spcPts val="1955"/>
              </a:spcBef>
            </a:pPr>
            <a:r>
              <a:rPr dirty="0" sz="2100" spc="-20" b="1">
                <a:solidFill>
                  <a:srgbClr val="FBD34D"/>
                </a:solidFill>
                <a:latin typeface="Tahoma"/>
                <a:cs typeface="Tahoma"/>
              </a:rPr>
              <a:t>Educational</a:t>
            </a:r>
            <a:r>
              <a:rPr dirty="0" sz="2100" spc="-8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applications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543560"/>
          </a:xfrm>
          <a:custGeom>
            <a:avLst/>
            <a:gdLst/>
            <a:ahLst/>
            <a:cxnLst/>
            <a:rect l="l" t="t" r="r" b="b"/>
            <a:pathLst>
              <a:path w="50165" h="543560">
                <a:moveTo>
                  <a:pt x="50125" y="543026"/>
                </a:moveTo>
                <a:lnTo>
                  <a:pt x="0" y="543026"/>
                </a:lnTo>
                <a:lnTo>
                  <a:pt x="0" y="0"/>
                </a:lnTo>
                <a:lnTo>
                  <a:pt x="50125" y="0"/>
                </a:lnTo>
                <a:lnTo>
                  <a:pt x="50125" y="543026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83336" y="1444752"/>
            <a:ext cx="6078220" cy="457200"/>
          </a:xfrm>
          <a:custGeom>
            <a:avLst/>
            <a:gdLst/>
            <a:ahLst/>
            <a:cxnLst/>
            <a:rect l="l" t="t" r="r" b="b"/>
            <a:pathLst>
              <a:path w="6078220" h="457200">
                <a:moveTo>
                  <a:pt x="6077711" y="457199"/>
                </a:moveTo>
                <a:lnTo>
                  <a:pt x="0" y="457199"/>
                </a:lnTo>
                <a:lnTo>
                  <a:pt x="0" y="0"/>
                </a:lnTo>
                <a:lnTo>
                  <a:pt x="6077711" y="0"/>
                </a:lnTo>
                <a:lnTo>
                  <a:pt x="6077711" y="45719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0"/>
              <a:t>Open</a:t>
            </a:r>
            <a:r>
              <a:rPr dirty="0" spc="-145"/>
              <a:t> </a:t>
            </a:r>
            <a:r>
              <a:rPr dirty="0" spc="-65"/>
              <a:t>Access</a:t>
            </a:r>
            <a:r>
              <a:rPr dirty="0" spc="-140"/>
              <a:t> </a:t>
            </a:r>
            <a:r>
              <a:rPr dirty="0" spc="-135"/>
              <a:t>and</a:t>
            </a:r>
            <a:r>
              <a:rPr dirty="0" spc="-145"/>
              <a:t> </a:t>
            </a:r>
            <a:r>
              <a:rPr dirty="0" spc="-45"/>
              <a:t>Sustainability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2885151"/>
            <a:ext cx="91896" cy="91896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3444887"/>
            <a:ext cx="91896" cy="9189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4004622"/>
            <a:ext cx="91896" cy="9189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4572711"/>
            <a:ext cx="91896" cy="91896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572097" y="2020317"/>
            <a:ext cx="4074795" cy="27527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Project</a:t>
            </a:r>
            <a:r>
              <a:rPr dirty="0" sz="2100" spc="-9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Commitment:</a:t>
            </a:r>
            <a:endParaRPr sz="2100">
              <a:latin typeface="Tahoma"/>
              <a:cs typeface="Tahoma"/>
            </a:endParaRPr>
          </a:p>
          <a:p>
            <a:pPr marL="346710" marR="5080">
              <a:lnSpc>
                <a:spcPct val="175800"/>
              </a:lnSpc>
              <a:spcBef>
                <a:spcPts val="1225"/>
              </a:spcBef>
            </a:pP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Open</a:t>
            </a:r>
            <a:r>
              <a:rPr dirty="0" sz="2100" spc="-7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50" b="1">
                <a:solidFill>
                  <a:srgbClr val="FBD34D"/>
                </a:solidFill>
                <a:latin typeface="Tahoma"/>
                <a:cs typeface="Tahoma"/>
              </a:rPr>
              <a:t>access</a:t>
            </a:r>
            <a:r>
              <a:rPr dirty="0" sz="2100" spc="-7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to</a:t>
            </a:r>
            <a:r>
              <a:rPr dirty="0" sz="2100" spc="-114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corpus</a:t>
            </a:r>
            <a:r>
              <a:rPr dirty="0" sz="2100" spc="-114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45">
                <a:solidFill>
                  <a:srgbClr val="F7FAFB"/>
                </a:solidFill>
                <a:latin typeface="Tahoma"/>
                <a:cs typeface="Tahoma"/>
              </a:rPr>
              <a:t>data </a:t>
            </a:r>
            <a:r>
              <a:rPr dirty="0" sz="2100" spc="-25" b="1">
                <a:solidFill>
                  <a:srgbClr val="FBD34D"/>
                </a:solidFill>
                <a:latin typeface="Tahoma"/>
                <a:cs typeface="Tahoma"/>
              </a:rPr>
              <a:t>Documentation</a:t>
            </a:r>
            <a:r>
              <a:rPr dirty="0" sz="2100" spc="2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and</a:t>
            </a:r>
            <a:r>
              <a:rPr dirty="0" sz="2100" spc="-2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5">
                <a:solidFill>
                  <a:srgbClr val="F7FAFB"/>
                </a:solidFill>
                <a:latin typeface="Tahoma"/>
                <a:cs typeface="Tahoma"/>
              </a:rPr>
              <a:t>tutorials </a:t>
            </a:r>
            <a:r>
              <a:rPr dirty="0" sz="2100" spc="-75" b="1">
                <a:solidFill>
                  <a:srgbClr val="FBD34D"/>
                </a:solidFill>
                <a:latin typeface="Tahoma"/>
                <a:cs typeface="Tahoma"/>
              </a:rPr>
              <a:t>Long-</a:t>
            </a:r>
            <a:r>
              <a:rPr dirty="0" sz="2100" spc="-20" b="1">
                <a:solidFill>
                  <a:srgbClr val="FBD34D"/>
                </a:solidFill>
                <a:latin typeface="Tahoma"/>
                <a:cs typeface="Tahoma"/>
              </a:rPr>
              <a:t>term</a:t>
            </a:r>
            <a:r>
              <a:rPr dirty="0" sz="2100" spc="-7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preservation </a:t>
            </a:r>
            <a:r>
              <a:rPr dirty="0" sz="2100" spc="-25" b="1">
                <a:solidFill>
                  <a:srgbClr val="FBD34D"/>
                </a:solidFill>
                <a:latin typeface="Tahoma"/>
                <a:cs typeface="Tahoma"/>
              </a:rPr>
              <a:t>Community</a:t>
            </a:r>
            <a:r>
              <a:rPr dirty="0" sz="2100" spc="-9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contributions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1086485"/>
          </a:xfrm>
          <a:custGeom>
            <a:avLst/>
            <a:gdLst/>
            <a:ahLst/>
            <a:cxnLst/>
            <a:rect l="l" t="t" r="r" b="b"/>
            <a:pathLst>
              <a:path w="50165" h="1086485">
                <a:moveTo>
                  <a:pt x="50125" y="1086053"/>
                </a:moveTo>
                <a:lnTo>
                  <a:pt x="0" y="1086053"/>
                </a:lnTo>
                <a:lnTo>
                  <a:pt x="0" y="0"/>
                </a:lnTo>
                <a:lnTo>
                  <a:pt x="50125" y="0"/>
                </a:lnTo>
                <a:lnTo>
                  <a:pt x="50125" y="1086053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83336" y="1444752"/>
            <a:ext cx="8388350" cy="457200"/>
          </a:xfrm>
          <a:custGeom>
            <a:avLst/>
            <a:gdLst/>
            <a:ahLst/>
            <a:cxnLst/>
            <a:rect l="l" t="t" r="r" b="b"/>
            <a:pathLst>
              <a:path w="8388350" h="457200">
                <a:moveTo>
                  <a:pt x="8388095" y="457199"/>
                </a:moveTo>
                <a:lnTo>
                  <a:pt x="0" y="457199"/>
                </a:lnTo>
                <a:lnTo>
                  <a:pt x="0" y="0"/>
                </a:lnTo>
                <a:lnTo>
                  <a:pt x="8388095" y="0"/>
                </a:lnTo>
                <a:lnTo>
                  <a:pt x="8388095" y="45719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75"/>
              <a:t>Question:</a:t>
            </a:r>
            <a:r>
              <a:rPr dirty="0" spc="-140"/>
              <a:t> </a:t>
            </a:r>
            <a:r>
              <a:rPr dirty="0"/>
              <a:t>What</a:t>
            </a:r>
            <a:r>
              <a:rPr dirty="0" spc="-135"/>
              <a:t> </a:t>
            </a:r>
            <a:r>
              <a:rPr dirty="0" spc="-110"/>
              <a:t>expansions</a:t>
            </a:r>
            <a:r>
              <a:rPr dirty="0" spc="-140"/>
              <a:t> </a:t>
            </a:r>
            <a:r>
              <a:rPr dirty="0" spc="-90"/>
              <a:t>are</a:t>
            </a:r>
            <a:r>
              <a:rPr dirty="0" spc="-135"/>
              <a:t> </a:t>
            </a:r>
            <a:r>
              <a:rPr dirty="0" spc="-105"/>
              <a:t>planned</a:t>
            </a:r>
            <a:r>
              <a:rPr dirty="0" spc="-135"/>
              <a:t> </a:t>
            </a:r>
            <a:r>
              <a:rPr dirty="0" spc="-25"/>
              <a:t>for</a:t>
            </a:r>
          </a:p>
        </p:txBody>
      </p:sp>
      <p:sp>
        <p:nvSpPr>
          <p:cNvPr id="5" name="object 5" descr=""/>
          <p:cNvSpPr/>
          <p:nvPr/>
        </p:nvSpPr>
        <p:spPr>
          <a:xfrm>
            <a:off x="798575" y="1987295"/>
            <a:ext cx="1719580" cy="396240"/>
          </a:xfrm>
          <a:custGeom>
            <a:avLst/>
            <a:gdLst/>
            <a:ahLst/>
            <a:cxnLst/>
            <a:rect l="l" t="t" r="r" b="b"/>
            <a:pathLst>
              <a:path w="1719580" h="396239">
                <a:moveTo>
                  <a:pt x="1719071" y="396239"/>
                </a:moveTo>
                <a:lnTo>
                  <a:pt x="0" y="396239"/>
                </a:lnTo>
                <a:lnTo>
                  <a:pt x="0" y="0"/>
                </a:lnTo>
                <a:lnTo>
                  <a:pt x="1719071" y="0"/>
                </a:lnTo>
                <a:lnTo>
                  <a:pt x="1719071" y="39623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789308" y="1903358"/>
            <a:ext cx="1684655" cy="5067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150" spc="-114" b="1">
                <a:solidFill>
                  <a:srgbClr val="60A5FA"/>
                </a:solidFill>
                <a:latin typeface="Tahoma"/>
                <a:cs typeface="Tahoma"/>
              </a:rPr>
              <a:t>Phase</a:t>
            </a:r>
            <a:r>
              <a:rPr dirty="0" sz="3150" spc="-120" b="1">
                <a:solidFill>
                  <a:srgbClr val="60A5FA"/>
                </a:solidFill>
                <a:latin typeface="Tahoma"/>
                <a:cs typeface="Tahoma"/>
              </a:rPr>
              <a:t> </a:t>
            </a:r>
            <a:r>
              <a:rPr dirty="0" sz="3150" spc="-285" b="1">
                <a:solidFill>
                  <a:srgbClr val="60A5FA"/>
                </a:solidFill>
                <a:latin typeface="Tahoma"/>
                <a:cs typeface="Tahoma"/>
              </a:rPr>
              <a:t>2?</a:t>
            </a:r>
            <a:endParaRPr sz="3150">
              <a:latin typeface="Tahoma"/>
              <a:cs typeface="Tahoma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3428178"/>
            <a:ext cx="91896" cy="9189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3987913"/>
            <a:ext cx="91896" cy="91896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4547649"/>
            <a:ext cx="91896" cy="91896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572097" y="2563344"/>
            <a:ext cx="3261360" cy="21844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 spc="-20" b="1">
                <a:solidFill>
                  <a:srgbClr val="FBD34D"/>
                </a:solidFill>
                <a:latin typeface="Tahoma"/>
                <a:cs typeface="Tahoma"/>
              </a:rPr>
              <a:t>Future</a:t>
            </a:r>
            <a:r>
              <a:rPr dirty="0" sz="2100" spc="-114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additions:</a:t>
            </a:r>
            <a:endParaRPr sz="2100">
              <a:latin typeface="Tahoma"/>
              <a:cs typeface="Tahoma"/>
            </a:endParaRPr>
          </a:p>
          <a:p>
            <a:pPr marL="346710" marR="5080">
              <a:lnSpc>
                <a:spcPct val="174900"/>
              </a:lnSpc>
              <a:spcBef>
                <a:spcPts val="1250"/>
              </a:spcBef>
            </a:pPr>
            <a:r>
              <a:rPr dirty="0" sz="2100" spc="125">
                <a:solidFill>
                  <a:srgbClr val="F7FAFB"/>
                </a:solidFill>
                <a:latin typeface="Tahoma"/>
                <a:cs typeface="Tahoma"/>
              </a:rPr>
              <a:t>What</a:t>
            </a:r>
            <a:r>
              <a:rPr dirty="0" sz="2100" spc="-9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new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10">
                <a:solidFill>
                  <a:srgbClr val="F7FAFB"/>
                </a:solidFill>
                <a:latin typeface="Tahoma"/>
                <a:cs typeface="Tahoma"/>
              </a:rPr>
              <a:t>languages? </a:t>
            </a:r>
            <a:r>
              <a:rPr dirty="0" sz="2100" spc="130">
                <a:solidFill>
                  <a:srgbClr val="F7FAFB"/>
                </a:solidFill>
                <a:latin typeface="Tahoma"/>
                <a:cs typeface="Tahoma"/>
              </a:rPr>
              <a:t>How</a:t>
            </a:r>
            <a:r>
              <a:rPr dirty="0" sz="2100" spc="-3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many</a:t>
            </a:r>
            <a:r>
              <a:rPr dirty="0" sz="2100" spc="-3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more</a:t>
            </a:r>
            <a:r>
              <a:rPr dirty="0" sz="2100" spc="-3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40">
                <a:solidFill>
                  <a:srgbClr val="F7FAFB"/>
                </a:solidFill>
                <a:latin typeface="Tahoma"/>
                <a:cs typeface="Tahoma"/>
              </a:rPr>
              <a:t>texts? </a:t>
            </a:r>
            <a:r>
              <a:rPr dirty="0" sz="2100" spc="125">
                <a:solidFill>
                  <a:srgbClr val="F7FAFB"/>
                </a:solidFill>
                <a:latin typeface="Tahoma"/>
                <a:cs typeface="Tahoma"/>
              </a:rPr>
              <a:t>What</a:t>
            </a:r>
            <a:r>
              <a:rPr dirty="0" sz="2100" spc="-9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new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capabilities?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543560"/>
          </a:xfrm>
          <a:custGeom>
            <a:avLst/>
            <a:gdLst/>
            <a:ahLst/>
            <a:cxnLst/>
            <a:rect l="l" t="t" r="r" b="b"/>
            <a:pathLst>
              <a:path w="50165" h="543560">
                <a:moveTo>
                  <a:pt x="50125" y="543026"/>
                </a:moveTo>
                <a:lnTo>
                  <a:pt x="0" y="543026"/>
                </a:lnTo>
                <a:lnTo>
                  <a:pt x="0" y="0"/>
                </a:lnTo>
                <a:lnTo>
                  <a:pt x="50125" y="0"/>
                </a:lnTo>
                <a:lnTo>
                  <a:pt x="50125" y="543026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98575" y="1444752"/>
            <a:ext cx="5880100" cy="457200"/>
          </a:xfrm>
          <a:custGeom>
            <a:avLst/>
            <a:gdLst/>
            <a:ahLst/>
            <a:cxnLst/>
            <a:rect l="l" t="t" r="r" b="b"/>
            <a:pathLst>
              <a:path w="5880100" h="457200">
                <a:moveTo>
                  <a:pt x="5879591" y="457199"/>
                </a:moveTo>
                <a:lnTo>
                  <a:pt x="0" y="457199"/>
                </a:lnTo>
                <a:lnTo>
                  <a:pt x="0" y="0"/>
                </a:lnTo>
                <a:lnTo>
                  <a:pt x="5879591" y="0"/>
                </a:lnTo>
                <a:lnTo>
                  <a:pt x="5879591" y="45719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80"/>
              <a:t>Future</a:t>
            </a:r>
            <a:r>
              <a:rPr dirty="0" spc="-125"/>
              <a:t> </a:t>
            </a:r>
            <a:r>
              <a:rPr dirty="0" spc="-100"/>
              <a:t>Developments:</a:t>
            </a:r>
            <a:r>
              <a:rPr dirty="0" spc="-125"/>
              <a:t> </a:t>
            </a:r>
            <a:r>
              <a:rPr dirty="0" spc="-114"/>
              <a:t>Phase</a:t>
            </a:r>
            <a:r>
              <a:rPr dirty="0" spc="-125"/>
              <a:t> </a:t>
            </a:r>
            <a:r>
              <a:rPr dirty="0" spc="-50"/>
              <a:t>2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2885151"/>
            <a:ext cx="91896" cy="91896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3444887"/>
            <a:ext cx="91896" cy="9189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4489169"/>
            <a:ext cx="91896" cy="9189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5048904"/>
            <a:ext cx="91896" cy="91896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572097" y="2020317"/>
            <a:ext cx="9518015" cy="48075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 spc="-25" b="1">
                <a:solidFill>
                  <a:srgbClr val="FBD34D"/>
                </a:solidFill>
                <a:latin typeface="Tahoma"/>
                <a:cs typeface="Tahoma"/>
              </a:rPr>
              <a:t>Planned</a:t>
            </a:r>
            <a:r>
              <a:rPr dirty="0" sz="2100" spc="-10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Expansions:</a:t>
            </a:r>
            <a:endParaRPr sz="2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sz="2100">
              <a:latin typeface="Tahoma"/>
              <a:cs typeface="Tahoma"/>
            </a:endParaRPr>
          </a:p>
          <a:p>
            <a:pPr marL="346710">
              <a:lnSpc>
                <a:spcPct val="100000"/>
              </a:lnSpc>
            </a:pPr>
            <a:r>
              <a:rPr dirty="0" sz="2100" spc="114">
                <a:solidFill>
                  <a:srgbClr val="F7FAFB"/>
                </a:solidFill>
                <a:latin typeface="Tahoma"/>
                <a:cs typeface="Tahoma"/>
              </a:rPr>
              <a:t>Additional</a:t>
            </a:r>
            <a:r>
              <a:rPr dirty="0" sz="2100" spc="-9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20" b="1">
                <a:solidFill>
                  <a:srgbClr val="FBD34D"/>
                </a:solidFill>
                <a:latin typeface="Tahoma"/>
                <a:cs typeface="Tahoma"/>
              </a:rPr>
              <a:t>Slavic</a:t>
            </a:r>
            <a:r>
              <a:rPr dirty="0" sz="2100" spc="-4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70" b="1">
                <a:solidFill>
                  <a:srgbClr val="FBD34D"/>
                </a:solidFill>
                <a:latin typeface="Tahoma"/>
                <a:cs typeface="Tahoma"/>
              </a:rPr>
              <a:t>languages</a:t>
            </a:r>
            <a:r>
              <a:rPr dirty="0" sz="2100" spc="-5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(Church</a:t>
            </a:r>
            <a:r>
              <a:rPr dirty="0" sz="2100" spc="-9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Slavonic</a:t>
            </a:r>
            <a:r>
              <a:rPr dirty="0" sz="2100" spc="-9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Bible,</a:t>
            </a:r>
            <a:r>
              <a:rPr dirty="0" sz="2100" spc="-9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9th</a:t>
            </a:r>
            <a:r>
              <a:rPr dirty="0" sz="2100" spc="-9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century)</a:t>
            </a:r>
            <a:endParaRPr sz="2100">
              <a:latin typeface="Tahoma"/>
              <a:cs typeface="Tahoma"/>
            </a:endParaRPr>
          </a:p>
          <a:p>
            <a:pPr marL="346710" marR="5080">
              <a:lnSpc>
                <a:spcPct val="151400"/>
              </a:lnSpc>
              <a:spcBef>
                <a:spcPts val="595"/>
              </a:spcBef>
            </a:pPr>
            <a:r>
              <a:rPr dirty="0" sz="2100" spc="165">
                <a:solidFill>
                  <a:srgbClr val="F7FAFB"/>
                </a:solidFill>
                <a:latin typeface="Tahoma"/>
                <a:cs typeface="Tahoma"/>
              </a:rPr>
              <a:t>More</a:t>
            </a:r>
            <a:r>
              <a:rPr dirty="0" sz="2100" spc="-9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30" b="1">
                <a:solidFill>
                  <a:srgbClr val="FBD34D"/>
                </a:solidFill>
                <a:latin typeface="Tahoma"/>
                <a:cs typeface="Tahoma"/>
              </a:rPr>
              <a:t>Germanic</a:t>
            </a:r>
            <a:r>
              <a:rPr dirty="0" sz="2100" spc="-5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70" b="1">
                <a:solidFill>
                  <a:srgbClr val="FBD34D"/>
                </a:solidFill>
                <a:latin typeface="Tahoma"/>
                <a:cs typeface="Tahoma"/>
              </a:rPr>
              <a:t>languages</a:t>
            </a:r>
            <a:r>
              <a:rPr dirty="0" sz="2100" spc="-4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(Gothic</a:t>
            </a:r>
            <a:r>
              <a:rPr dirty="0" sz="2100" spc="-9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14">
                <a:solidFill>
                  <a:srgbClr val="F7FAFB"/>
                </a:solidFill>
                <a:latin typeface="Tahoma"/>
                <a:cs typeface="Tahoma"/>
              </a:rPr>
              <a:t>Bible</a:t>
            </a:r>
            <a:r>
              <a:rPr dirty="0" sz="2100" spc="-9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4th</a:t>
            </a:r>
            <a:r>
              <a:rPr dirty="0" sz="2100" spc="-9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c.,</a:t>
            </a:r>
            <a:r>
              <a:rPr dirty="0" sz="2100" spc="-9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German</a:t>
            </a:r>
            <a:r>
              <a:rPr dirty="0" sz="2100" spc="-9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5">
                <a:solidFill>
                  <a:srgbClr val="F7FAFB"/>
                </a:solidFill>
                <a:latin typeface="Tahoma"/>
                <a:cs typeface="Tahoma"/>
              </a:rPr>
              <a:t>Bibles</a:t>
            </a:r>
            <a:r>
              <a:rPr dirty="0" sz="2100" spc="-9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10">
                <a:solidFill>
                  <a:srgbClr val="F7FAFB"/>
                </a:solidFill>
                <a:latin typeface="Tahoma"/>
                <a:cs typeface="Tahoma"/>
              </a:rPr>
              <a:t>16th-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21st </a:t>
            </a:r>
            <a:r>
              <a:rPr dirty="0" sz="2100" spc="-25">
                <a:solidFill>
                  <a:srgbClr val="F7FAFB"/>
                </a:solidFill>
                <a:latin typeface="Tahoma"/>
                <a:cs typeface="Tahoma"/>
              </a:rPr>
              <a:t>c.)</a:t>
            </a:r>
            <a:endParaRPr sz="2100">
              <a:latin typeface="Tahoma"/>
              <a:cs typeface="Tahoma"/>
            </a:endParaRPr>
          </a:p>
          <a:p>
            <a:pPr marL="346710">
              <a:lnSpc>
                <a:spcPct val="100000"/>
              </a:lnSpc>
              <a:spcBef>
                <a:spcPts val="1885"/>
              </a:spcBef>
            </a:pP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Arabic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translations</a:t>
            </a:r>
            <a:r>
              <a:rPr dirty="0" sz="2100" spc="-4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(medieval</a:t>
            </a:r>
            <a:r>
              <a:rPr dirty="0" sz="2100" spc="-4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and</a:t>
            </a:r>
            <a:r>
              <a:rPr dirty="0" sz="2100" spc="-4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modern</a:t>
            </a:r>
            <a:r>
              <a:rPr dirty="0" sz="2100" spc="-4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Bibles)</a:t>
            </a:r>
            <a:endParaRPr sz="2100">
              <a:latin typeface="Tahoma"/>
              <a:cs typeface="Tahoma"/>
            </a:endParaRPr>
          </a:p>
          <a:p>
            <a:pPr marL="346710">
              <a:lnSpc>
                <a:spcPct val="100000"/>
              </a:lnSpc>
              <a:spcBef>
                <a:spcPts val="1890"/>
              </a:spcBef>
            </a:pP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Extended</a:t>
            </a:r>
            <a:r>
              <a:rPr dirty="0" sz="2100" spc="-9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Modern</a:t>
            </a:r>
            <a:r>
              <a:rPr dirty="0" sz="2100" spc="-4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Greek</a:t>
            </a:r>
            <a:r>
              <a:rPr dirty="0" sz="2100" spc="-4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corpus</a:t>
            </a:r>
            <a:r>
              <a:rPr dirty="0" sz="2100" spc="-9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(20th-</a:t>
            </a:r>
            <a:r>
              <a:rPr dirty="0" sz="2100" spc="105">
                <a:solidFill>
                  <a:srgbClr val="F7FAFB"/>
                </a:solidFill>
                <a:latin typeface="Tahoma"/>
                <a:cs typeface="Tahoma"/>
              </a:rPr>
              <a:t>21st</a:t>
            </a:r>
            <a:r>
              <a:rPr dirty="0" sz="2100" spc="-9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century</a:t>
            </a:r>
            <a:r>
              <a:rPr dirty="0" sz="2100" spc="-9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10">
                <a:solidFill>
                  <a:srgbClr val="F7FAFB"/>
                </a:solidFill>
                <a:latin typeface="Tahoma"/>
                <a:cs typeface="Tahoma"/>
              </a:rPr>
              <a:t>literary</a:t>
            </a:r>
            <a:r>
              <a:rPr dirty="0" sz="2100" spc="-9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40">
                <a:solidFill>
                  <a:srgbClr val="F7FAFB"/>
                </a:solidFill>
                <a:latin typeface="Tahoma"/>
                <a:cs typeface="Tahoma"/>
              </a:rPr>
              <a:t>texts)</a:t>
            </a:r>
            <a:endParaRPr sz="2100">
              <a:latin typeface="Tahoma"/>
              <a:cs typeface="Tahoma"/>
            </a:endParaRPr>
          </a:p>
          <a:p>
            <a:pPr marL="12700" marR="109220">
              <a:lnSpc>
                <a:spcPct val="133100"/>
              </a:lnSpc>
              <a:spcBef>
                <a:spcPts val="2365"/>
              </a:spcBef>
            </a:pP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Phase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2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14">
                <a:solidFill>
                  <a:srgbClr val="F7FAFB"/>
                </a:solidFill>
                <a:latin typeface="Tahoma"/>
                <a:cs typeface="Tahoma"/>
              </a:rPr>
              <a:t>will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0">
                <a:solidFill>
                  <a:srgbClr val="F7FAFB"/>
                </a:solidFill>
                <a:latin typeface="Tahoma"/>
                <a:cs typeface="Tahoma"/>
              </a:rPr>
              <a:t>add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approximately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20">
                <a:solidFill>
                  <a:srgbClr val="F7FAFB"/>
                </a:solidFill>
                <a:latin typeface="Tahoma"/>
                <a:cs typeface="Tahoma"/>
              </a:rPr>
              <a:t>150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more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0">
                <a:solidFill>
                  <a:srgbClr val="F7FAFB"/>
                </a:solidFill>
                <a:latin typeface="Tahoma"/>
                <a:cs typeface="Tahoma"/>
              </a:rPr>
              <a:t>texts,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bringing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the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5">
                <a:solidFill>
                  <a:srgbClr val="F7FAFB"/>
                </a:solidFill>
                <a:latin typeface="Tahoma"/>
                <a:cs typeface="Tahoma"/>
              </a:rPr>
              <a:t>total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to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nearly </a:t>
            </a:r>
            <a:r>
              <a:rPr dirty="0" sz="2100" spc="120">
                <a:solidFill>
                  <a:srgbClr val="F7FAFB"/>
                </a:solidFill>
                <a:latin typeface="Tahoma"/>
                <a:cs typeface="Tahoma"/>
              </a:rPr>
              <a:t>500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texts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and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15+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million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45">
                <a:solidFill>
                  <a:srgbClr val="F7FAFB"/>
                </a:solidFill>
                <a:latin typeface="Tahoma"/>
                <a:cs typeface="Tahoma"/>
              </a:rPr>
              <a:t>tokens.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Church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Slavonic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is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particularly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valuable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for</a:t>
            </a:r>
            <a:r>
              <a:rPr dirty="0" sz="2100" spc="-4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comparative</a:t>
            </a:r>
            <a:r>
              <a:rPr dirty="0" sz="2100" spc="-4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0">
                <a:solidFill>
                  <a:srgbClr val="F7FAFB"/>
                </a:solidFill>
                <a:latin typeface="Tahoma"/>
                <a:cs typeface="Tahoma"/>
              </a:rPr>
              <a:t>purposes,</a:t>
            </a:r>
            <a:r>
              <a:rPr dirty="0" sz="2100" spc="-4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as</a:t>
            </a:r>
            <a:r>
              <a:rPr dirty="0" sz="2100" spc="-4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10">
                <a:solidFill>
                  <a:srgbClr val="F7FAFB"/>
                </a:solidFill>
                <a:latin typeface="Tahoma"/>
                <a:cs typeface="Tahoma"/>
              </a:rPr>
              <a:t>it</a:t>
            </a:r>
            <a:r>
              <a:rPr dirty="0" sz="2100" spc="-4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represents</a:t>
            </a:r>
            <a:r>
              <a:rPr dirty="0" sz="2100" spc="-4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another</a:t>
            </a:r>
            <a:r>
              <a:rPr dirty="0" sz="2100" spc="-4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Indo-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European</a:t>
            </a:r>
            <a:r>
              <a:rPr dirty="0" sz="2100" spc="-4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branch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1086485"/>
          </a:xfrm>
          <a:custGeom>
            <a:avLst/>
            <a:gdLst/>
            <a:ahLst/>
            <a:cxnLst/>
            <a:rect l="l" t="t" r="r" b="b"/>
            <a:pathLst>
              <a:path w="50165" h="1086485">
                <a:moveTo>
                  <a:pt x="50125" y="1086053"/>
                </a:moveTo>
                <a:lnTo>
                  <a:pt x="0" y="1086053"/>
                </a:lnTo>
                <a:lnTo>
                  <a:pt x="0" y="0"/>
                </a:lnTo>
                <a:lnTo>
                  <a:pt x="50125" y="0"/>
                </a:lnTo>
                <a:lnTo>
                  <a:pt x="50125" y="1086053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83336" y="1444752"/>
            <a:ext cx="8918575" cy="457200"/>
          </a:xfrm>
          <a:custGeom>
            <a:avLst/>
            <a:gdLst/>
            <a:ahLst/>
            <a:cxnLst/>
            <a:rect l="l" t="t" r="r" b="b"/>
            <a:pathLst>
              <a:path w="8918575" h="457200">
                <a:moveTo>
                  <a:pt x="8918447" y="457199"/>
                </a:moveTo>
                <a:lnTo>
                  <a:pt x="0" y="457199"/>
                </a:lnTo>
                <a:lnTo>
                  <a:pt x="0" y="0"/>
                </a:lnTo>
                <a:lnTo>
                  <a:pt x="8918447" y="0"/>
                </a:lnTo>
                <a:lnTo>
                  <a:pt x="8918447" y="45719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75"/>
              <a:t>Question:</a:t>
            </a:r>
            <a:r>
              <a:rPr dirty="0" spc="-114"/>
              <a:t> </a:t>
            </a:r>
            <a:r>
              <a:rPr dirty="0"/>
              <a:t>What</a:t>
            </a:r>
            <a:r>
              <a:rPr dirty="0" spc="-114"/>
              <a:t> </a:t>
            </a:r>
            <a:r>
              <a:rPr dirty="0" spc="-80"/>
              <a:t>computational</a:t>
            </a:r>
            <a:r>
              <a:rPr dirty="0" spc="-114"/>
              <a:t> </a:t>
            </a:r>
            <a:r>
              <a:rPr dirty="0" spc="-75"/>
              <a:t>enhancements</a:t>
            </a:r>
          </a:p>
        </p:txBody>
      </p:sp>
      <p:sp>
        <p:nvSpPr>
          <p:cNvPr id="5" name="object 5" descr=""/>
          <p:cNvSpPr/>
          <p:nvPr/>
        </p:nvSpPr>
        <p:spPr>
          <a:xfrm>
            <a:off x="786383" y="1987295"/>
            <a:ext cx="2517775" cy="457200"/>
          </a:xfrm>
          <a:custGeom>
            <a:avLst/>
            <a:gdLst/>
            <a:ahLst/>
            <a:cxnLst/>
            <a:rect l="l" t="t" r="r" b="b"/>
            <a:pathLst>
              <a:path w="2517775" h="457200">
                <a:moveTo>
                  <a:pt x="2517647" y="457199"/>
                </a:moveTo>
                <a:lnTo>
                  <a:pt x="0" y="457199"/>
                </a:lnTo>
                <a:lnTo>
                  <a:pt x="0" y="0"/>
                </a:lnTo>
                <a:lnTo>
                  <a:pt x="2517647" y="0"/>
                </a:lnTo>
                <a:lnTo>
                  <a:pt x="2517647" y="45719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789308" y="1903358"/>
            <a:ext cx="2472690" cy="5067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150" spc="-90" b="1">
                <a:solidFill>
                  <a:srgbClr val="60A5FA"/>
                </a:solidFill>
                <a:latin typeface="Tahoma"/>
                <a:cs typeface="Tahoma"/>
              </a:rPr>
              <a:t>are</a:t>
            </a:r>
            <a:r>
              <a:rPr dirty="0" sz="3150" spc="-150" b="1">
                <a:solidFill>
                  <a:srgbClr val="60A5FA"/>
                </a:solidFill>
                <a:latin typeface="Tahoma"/>
                <a:cs typeface="Tahoma"/>
              </a:rPr>
              <a:t> </a:t>
            </a:r>
            <a:r>
              <a:rPr dirty="0" sz="3150" spc="-110" b="1">
                <a:solidFill>
                  <a:srgbClr val="60A5FA"/>
                </a:solidFill>
                <a:latin typeface="Tahoma"/>
                <a:cs typeface="Tahoma"/>
              </a:rPr>
              <a:t>planned?</a:t>
            </a:r>
            <a:endParaRPr sz="3150">
              <a:latin typeface="Tahoma"/>
              <a:cs typeface="Tahoma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3428178"/>
            <a:ext cx="91896" cy="9189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3987913"/>
            <a:ext cx="91896" cy="91896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4547649"/>
            <a:ext cx="91896" cy="91896"/>
          </a:xfrm>
          <a:prstGeom prst="rect">
            <a:avLst/>
          </a:prstGeom>
        </p:spPr>
      </p:pic>
      <p:sp>
        <p:nvSpPr>
          <p:cNvPr id="10" name="object 10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Advanced</a:t>
            </a:r>
            <a:r>
              <a:rPr dirty="0" spc="-135"/>
              <a:t> </a:t>
            </a:r>
            <a:r>
              <a:rPr dirty="0" spc="-10"/>
              <a:t>features:</a:t>
            </a:r>
          </a:p>
          <a:p>
            <a:pPr marL="346710" marR="5080">
              <a:lnSpc>
                <a:spcPct val="174900"/>
              </a:lnSpc>
              <a:spcBef>
                <a:spcPts val="1250"/>
              </a:spcBef>
            </a:pPr>
            <a:r>
              <a:rPr dirty="0" spc="125" b="0">
                <a:solidFill>
                  <a:srgbClr val="F7FAFB"/>
                </a:solidFill>
                <a:latin typeface="Tahoma"/>
                <a:cs typeface="Tahoma"/>
              </a:rPr>
              <a:t>What</a:t>
            </a:r>
            <a:r>
              <a:rPr dirty="0" spc="-75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60" b="0">
                <a:solidFill>
                  <a:srgbClr val="F7FAFB"/>
                </a:solidFill>
                <a:latin typeface="Tahoma"/>
                <a:cs typeface="Tahoma"/>
              </a:rPr>
              <a:t>machine</a:t>
            </a:r>
            <a:r>
              <a:rPr dirty="0" spc="-70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75" b="0">
                <a:solidFill>
                  <a:srgbClr val="F7FAFB"/>
                </a:solidFill>
                <a:latin typeface="Tahoma"/>
                <a:cs typeface="Tahoma"/>
              </a:rPr>
              <a:t>learning</a:t>
            </a:r>
            <a:r>
              <a:rPr dirty="0" spc="-70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60" b="0">
                <a:solidFill>
                  <a:srgbClr val="F7FAFB"/>
                </a:solidFill>
                <a:latin typeface="Tahoma"/>
                <a:cs typeface="Tahoma"/>
              </a:rPr>
              <a:t>applications? </a:t>
            </a:r>
            <a:r>
              <a:rPr dirty="0" spc="125" b="0">
                <a:solidFill>
                  <a:srgbClr val="F7FAFB"/>
                </a:solidFill>
                <a:latin typeface="Tahoma"/>
                <a:cs typeface="Tahoma"/>
              </a:rPr>
              <a:t>What</a:t>
            </a:r>
            <a:r>
              <a:rPr dirty="0" spc="-85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95" b="0">
                <a:solidFill>
                  <a:srgbClr val="F7FAFB"/>
                </a:solidFill>
                <a:latin typeface="Tahoma"/>
                <a:cs typeface="Tahoma"/>
              </a:rPr>
              <a:t>visualization</a:t>
            </a:r>
            <a:r>
              <a:rPr dirty="0" spc="-80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55" b="0">
                <a:solidFill>
                  <a:srgbClr val="F7FAFB"/>
                </a:solidFill>
                <a:latin typeface="Tahoma"/>
                <a:cs typeface="Tahoma"/>
              </a:rPr>
              <a:t>tools?</a:t>
            </a:r>
          </a:p>
          <a:p>
            <a:pPr marL="346710">
              <a:lnSpc>
                <a:spcPct val="100000"/>
              </a:lnSpc>
              <a:spcBef>
                <a:spcPts val="1885"/>
              </a:spcBef>
            </a:pPr>
            <a:r>
              <a:rPr dirty="0" spc="125" b="0">
                <a:solidFill>
                  <a:srgbClr val="F7FAFB"/>
                </a:solidFill>
                <a:latin typeface="Tahoma"/>
                <a:cs typeface="Tahoma"/>
              </a:rPr>
              <a:t>What</a:t>
            </a:r>
            <a:r>
              <a:rPr dirty="0" spc="-85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65" b="0">
                <a:solidFill>
                  <a:srgbClr val="F7FAFB"/>
                </a:solidFill>
                <a:latin typeface="Tahoma"/>
                <a:cs typeface="Tahoma"/>
              </a:rPr>
              <a:t>new</a:t>
            </a:r>
            <a:r>
              <a:rPr dirty="0" spc="-85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70" b="0">
                <a:solidFill>
                  <a:srgbClr val="F7FAFB"/>
                </a:solidFill>
                <a:latin typeface="Tahoma"/>
                <a:cs typeface="Tahoma"/>
              </a:rPr>
              <a:t>analysis</a:t>
            </a:r>
            <a:r>
              <a:rPr dirty="0" spc="-85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40" b="0">
                <a:solidFill>
                  <a:srgbClr val="F7FAFB"/>
                </a:solidFill>
                <a:latin typeface="Tahoma"/>
                <a:cs typeface="Tahoma"/>
              </a:rPr>
              <a:t>modules?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543560"/>
          </a:xfrm>
          <a:custGeom>
            <a:avLst/>
            <a:gdLst/>
            <a:ahLst/>
            <a:cxnLst/>
            <a:rect l="l" t="t" r="r" b="b"/>
            <a:pathLst>
              <a:path w="50165" h="543560">
                <a:moveTo>
                  <a:pt x="50125" y="543026"/>
                </a:moveTo>
                <a:lnTo>
                  <a:pt x="0" y="543026"/>
                </a:lnTo>
                <a:lnTo>
                  <a:pt x="0" y="0"/>
                </a:lnTo>
                <a:lnTo>
                  <a:pt x="50125" y="0"/>
                </a:lnTo>
                <a:lnTo>
                  <a:pt x="50125" y="543026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98575" y="1444752"/>
            <a:ext cx="8098790" cy="457200"/>
          </a:xfrm>
          <a:custGeom>
            <a:avLst/>
            <a:gdLst/>
            <a:ahLst/>
            <a:cxnLst/>
            <a:rect l="l" t="t" r="r" b="b"/>
            <a:pathLst>
              <a:path w="8098790" h="457200">
                <a:moveTo>
                  <a:pt x="8098535" y="457199"/>
                </a:moveTo>
                <a:lnTo>
                  <a:pt x="0" y="457199"/>
                </a:lnTo>
                <a:lnTo>
                  <a:pt x="0" y="0"/>
                </a:lnTo>
                <a:lnTo>
                  <a:pt x="8098535" y="0"/>
                </a:lnTo>
                <a:lnTo>
                  <a:pt x="8098535" y="45719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80"/>
              <a:t>Future</a:t>
            </a:r>
            <a:r>
              <a:rPr dirty="0" spc="-145"/>
              <a:t> </a:t>
            </a:r>
            <a:r>
              <a:rPr dirty="0" spc="-100"/>
              <a:t>Developments:</a:t>
            </a:r>
            <a:r>
              <a:rPr dirty="0" spc="-145"/>
              <a:t> </a:t>
            </a:r>
            <a:r>
              <a:rPr dirty="0" spc="-45"/>
              <a:t>Advanced</a:t>
            </a:r>
            <a:r>
              <a:rPr dirty="0" spc="-145"/>
              <a:t> </a:t>
            </a:r>
            <a:r>
              <a:rPr dirty="0" spc="-35"/>
              <a:t>Features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2885151"/>
            <a:ext cx="91896" cy="91896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3444887"/>
            <a:ext cx="91896" cy="9189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4004622"/>
            <a:ext cx="91896" cy="9189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4572711"/>
            <a:ext cx="91896" cy="91896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572097" y="2020317"/>
            <a:ext cx="5608320" cy="27527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 spc="-20" b="1">
                <a:solidFill>
                  <a:srgbClr val="FBD34D"/>
                </a:solidFill>
                <a:latin typeface="Tahoma"/>
                <a:cs typeface="Tahoma"/>
              </a:rPr>
              <a:t>Computational</a:t>
            </a:r>
            <a:r>
              <a:rPr dirty="0" sz="2100" spc="-5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Enhancements:</a:t>
            </a:r>
            <a:endParaRPr sz="2100">
              <a:latin typeface="Tahoma"/>
              <a:cs typeface="Tahoma"/>
            </a:endParaRPr>
          </a:p>
          <a:p>
            <a:pPr marL="346710" marR="5080">
              <a:lnSpc>
                <a:spcPct val="175800"/>
              </a:lnSpc>
              <a:spcBef>
                <a:spcPts val="1225"/>
              </a:spcBef>
            </a:pP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Machine</a:t>
            </a:r>
            <a:r>
              <a:rPr dirty="0" sz="2100" spc="-7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35" b="1">
                <a:solidFill>
                  <a:srgbClr val="FBD34D"/>
                </a:solidFill>
                <a:latin typeface="Tahoma"/>
                <a:cs typeface="Tahoma"/>
              </a:rPr>
              <a:t>learning</a:t>
            </a:r>
            <a:r>
              <a:rPr dirty="0" sz="2100" spc="-7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for</a:t>
            </a:r>
            <a:r>
              <a:rPr dirty="0" sz="2100" spc="-11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5">
                <a:solidFill>
                  <a:srgbClr val="F7FAFB"/>
                </a:solidFill>
                <a:latin typeface="Tahoma"/>
                <a:cs typeface="Tahoma"/>
              </a:rPr>
              <a:t>pattern</a:t>
            </a:r>
            <a:r>
              <a:rPr dirty="0" sz="2100" spc="-114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detection </a:t>
            </a: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Visualization</a:t>
            </a:r>
            <a:r>
              <a:rPr dirty="0" sz="2100" spc="-6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tools</a:t>
            </a:r>
            <a:r>
              <a:rPr dirty="0" sz="2100" spc="-6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for</a:t>
            </a:r>
            <a:r>
              <a:rPr dirty="0" sz="2100" spc="-10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diachronic</a:t>
            </a:r>
            <a:r>
              <a:rPr dirty="0" sz="2100" spc="-10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10">
                <a:solidFill>
                  <a:srgbClr val="F7FAFB"/>
                </a:solidFill>
                <a:latin typeface="Tahoma"/>
                <a:cs typeface="Tahoma"/>
              </a:rPr>
              <a:t>change </a:t>
            </a: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Automatic</a:t>
            </a:r>
            <a:r>
              <a:rPr dirty="0" sz="2100" spc="-6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40" b="1">
                <a:solidFill>
                  <a:srgbClr val="FBD34D"/>
                </a:solidFill>
                <a:latin typeface="Tahoma"/>
                <a:cs typeface="Tahoma"/>
              </a:rPr>
              <a:t>alignment</a:t>
            </a:r>
            <a:r>
              <a:rPr dirty="0" sz="2100" spc="-5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of</a:t>
            </a:r>
            <a:r>
              <a:rPr dirty="0" sz="2100" spc="-10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parallel</a:t>
            </a:r>
            <a:r>
              <a:rPr dirty="0" sz="2100" spc="-10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texts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Statistical</a:t>
            </a:r>
            <a:r>
              <a:rPr dirty="0" sz="2100" spc="-8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30" b="1">
                <a:solidFill>
                  <a:srgbClr val="FBD34D"/>
                </a:solidFill>
                <a:latin typeface="Tahoma"/>
                <a:cs typeface="Tahoma"/>
              </a:rPr>
              <a:t>analysis</a:t>
            </a:r>
            <a:r>
              <a:rPr dirty="0" sz="2100" spc="-7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60">
                <a:solidFill>
                  <a:srgbClr val="F7FAFB"/>
                </a:solidFill>
                <a:latin typeface="Tahoma"/>
                <a:cs typeface="Tahoma"/>
              </a:rPr>
              <a:t>modules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1086485"/>
          </a:xfrm>
          <a:custGeom>
            <a:avLst/>
            <a:gdLst/>
            <a:ahLst/>
            <a:cxnLst/>
            <a:rect l="l" t="t" r="r" b="b"/>
            <a:pathLst>
              <a:path w="50165" h="1086485">
                <a:moveTo>
                  <a:pt x="50125" y="1086053"/>
                </a:moveTo>
                <a:lnTo>
                  <a:pt x="0" y="1086053"/>
                </a:lnTo>
                <a:lnTo>
                  <a:pt x="0" y="0"/>
                </a:lnTo>
                <a:lnTo>
                  <a:pt x="50125" y="0"/>
                </a:lnTo>
                <a:lnTo>
                  <a:pt x="50125" y="1086053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83336" y="1444752"/>
            <a:ext cx="6733540" cy="463550"/>
          </a:xfrm>
          <a:custGeom>
            <a:avLst/>
            <a:gdLst/>
            <a:ahLst/>
            <a:cxnLst/>
            <a:rect l="l" t="t" r="r" b="b"/>
            <a:pathLst>
              <a:path w="6733540" h="463550">
                <a:moveTo>
                  <a:pt x="6733031" y="463295"/>
                </a:moveTo>
                <a:lnTo>
                  <a:pt x="0" y="463295"/>
                </a:lnTo>
                <a:lnTo>
                  <a:pt x="0" y="0"/>
                </a:lnTo>
                <a:lnTo>
                  <a:pt x="6733031" y="0"/>
                </a:lnTo>
                <a:lnTo>
                  <a:pt x="6733031" y="463295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89308" y="1360331"/>
            <a:ext cx="6682105" cy="5067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75"/>
              <a:t>Question:</a:t>
            </a:r>
            <a:r>
              <a:rPr dirty="0" spc="-145"/>
              <a:t> </a:t>
            </a:r>
            <a:r>
              <a:rPr dirty="0"/>
              <a:t>What</a:t>
            </a:r>
            <a:r>
              <a:rPr dirty="0" spc="-145"/>
              <a:t> </a:t>
            </a:r>
            <a:r>
              <a:rPr dirty="0" spc="-160"/>
              <a:t>makes</a:t>
            </a:r>
            <a:r>
              <a:rPr dirty="0" spc="-145"/>
              <a:t> </a:t>
            </a:r>
            <a:r>
              <a:rPr dirty="0" spc="-80"/>
              <a:t>this</a:t>
            </a:r>
            <a:r>
              <a:rPr dirty="0" spc="-145"/>
              <a:t> </a:t>
            </a:r>
            <a:r>
              <a:rPr dirty="0" spc="-20"/>
              <a:t>project</a:t>
            </a:r>
          </a:p>
        </p:txBody>
      </p:sp>
      <p:sp>
        <p:nvSpPr>
          <p:cNvPr id="5" name="object 5" descr=""/>
          <p:cNvSpPr/>
          <p:nvPr/>
        </p:nvSpPr>
        <p:spPr>
          <a:xfrm>
            <a:off x="798575" y="1987295"/>
            <a:ext cx="5730240" cy="463550"/>
          </a:xfrm>
          <a:custGeom>
            <a:avLst/>
            <a:gdLst/>
            <a:ahLst/>
            <a:cxnLst/>
            <a:rect l="l" t="t" r="r" b="b"/>
            <a:pathLst>
              <a:path w="5730240" h="463550">
                <a:moveTo>
                  <a:pt x="5730239" y="463295"/>
                </a:moveTo>
                <a:lnTo>
                  <a:pt x="0" y="463295"/>
                </a:lnTo>
                <a:lnTo>
                  <a:pt x="0" y="0"/>
                </a:lnTo>
                <a:lnTo>
                  <a:pt x="5730239" y="0"/>
                </a:lnTo>
                <a:lnTo>
                  <a:pt x="5730239" y="463295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789308" y="1903358"/>
            <a:ext cx="5696585" cy="5067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150" spc="-70" b="1">
                <a:solidFill>
                  <a:srgbClr val="60A5FA"/>
                </a:solidFill>
                <a:latin typeface="Tahoma"/>
                <a:cs typeface="Tahoma"/>
              </a:rPr>
              <a:t>methodologically</a:t>
            </a:r>
            <a:r>
              <a:rPr dirty="0" sz="3150" spc="-85" b="1">
                <a:solidFill>
                  <a:srgbClr val="60A5FA"/>
                </a:solidFill>
                <a:latin typeface="Tahoma"/>
                <a:cs typeface="Tahoma"/>
              </a:rPr>
              <a:t> </a:t>
            </a:r>
            <a:r>
              <a:rPr dirty="0" sz="3150" spc="-60" b="1">
                <a:solidFill>
                  <a:srgbClr val="60A5FA"/>
                </a:solidFill>
                <a:latin typeface="Tahoma"/>
                <a:cs typeface="Tahoma"/>
              </a:rPr>
              <a:t>innovative?</a:t>
            </a:r>
            <a:endParaRPr sz="3150">
              <a:latin typeface="Tahoma"/>
              <a:cs typeface="Tahoma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3428178"/>
            <a:ext cx="91896" cy="9189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3987913"/>
            <a:ext cx="91896" cy="91896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4547649"/>
            <a:ext cx="91896" cy="91896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572097" y="2563344"/>
            <a:ext cx="5471160" cy="21844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Innovations:</a:t>
            </a:r>
            <a:endParaRPr sz="2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sz="2100">
              <a:latin typeface="Tahoma"/>
              <a:cs typeface="Tahoma"/>
            </a:endParaRPr>
          </a:p>
          <a:p>
            <a:pPr marL="346710">
              <a:lnSpc>
                <a:spcPct val="100000"/>
              </a:lnSpc>
            </a:pPr>
            <a:r>
              <a:rPr dirty="0" sz="2100" spc="130">
                <a:solidFill>
                  <a:srgbClr val="F7FAFB"/>
                </a:solidFill>
                <a:latin typeface="Tahoma"/>
                <a:cs typeface="Tahoma"/>
              </a:rPr>
              <a:t>How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0">
                <a:solidFill>
                  <a:srgbClr val="F7FAFB"/>
                </a:solidFill>
                <a:latin typeface="Tahoma"/>
                <a:cs typeface="Tahoma"/>
              </a:rPr>
              <a:t>does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10">
                <a:solidFill>
                  <a:srgbClr val="F7FAFB"/>
                </a:solidFill>
                <a:latin typeface="Tahoma"/>
                <a:cs typeface="Tahoma"/>
              </a:rPr>
              <a:t>it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combine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0">
                <a:solidFill>
                  <a:srgbClr val="F7FAFB"/>
                </a:solidFill>
                <a:latin typeface="Tahoma"/>
                <a:cs typeface="Tahoma"/>
              </a:rPr>
              <a:t>disciplines?</a:t>
            </a:r>
            <a:endParaRPr sz="2100">
              <a:latin typeface="Tahoma"/>
              <a:cs typeface="Tahoma"/>
            </a:endParaRPr>
          </a:p>
          <a:p>
            <a:pPr marL="346710" marR="5080">
              <a:lnSpc>
                <a:spcPct val="174900"/>
              </a:lnSpc>
            </a:pPr>
            <a:r>
              <a:rPr dirty="0" sz="2100" spc="125">
                <a:solidFill>
                  <a:srgbClr val="F7FAFB"/>
                </a:solidFill>
                <a:latin typeface="Tahoma"/>
                <a:cs typeface="Tahoma"/>
              </a:rPr>
              <a:t>What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new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approaches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0">
                <a:solidFill>
                  <a:srgbClr val="F7FAFB"/>
                </a:solidFill>
                <a:latin typeface="Tahoma"/>
                <a:cs typeface="Tahoma"/>
              </a:rPr>
              <a:t>does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10">
                <a:solidFill>
                  <a:srgbClr val="F7FAFB"/>
                </a:solidFill>
                <a:latin typeface="Tahoma"/>
                <a:cs typeface="Tahoma"/>
              </a:rPr>
              <a:t>it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introduce? </a:t>
            </a:r>
            <a:r>
              <a:rPr dirty="0" sz="2100" spc="130">
                <a:solidFill>
                  <a:srgbClr val="F7FAFB"/>
                </a:solidFill>
                <a:latin typeface="Tahoma"/>
                <a:cs typeface="Tahoma"/>
              </a:rPr>
              <a:t>How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is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10">
                <a:solidFill>
                  <a:srgbClr val="F7FAFB"/>
                </a:solidFill>
                <a:latin typeface="Tahoma"/>
                <a:cs typeface="Tahoma"/>
              </a:rPr>
              <a:t>it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5">
                <a:solidFill>
                  <a:srgbClr val="F7FAFB"/>
                </a:solidFill>
                <a:latin typeface="Tahoma"/>
                <a:cs typeface="Tahoma"/>
              </a:rPr>
              <a:t>different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from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previous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0">
                <a:solidFill>
                  <a:srgbClr val="F7FAFB"/>
                </a:solidFill>
                <a:latin typeface="Tahoma"/>
                <a:cs typeface="Tahoma"/>
              </a:rPr>
              <a:t>work?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543560"/>
          </a:xfrm>
          <a:custGeom>
            <a:avLst/>
            <a:gdLst/>
            <a:ahLst/>
            <a:cxnLst/>
            <a:rect l="l" t="t" r="r" b="b"/>
            <a:pathLst>
              <a:path w="50165" h="543560">
                <a:moveTo>
                  <a:pt x="50125" y="543026"/>
                </a:moveTo>
                <a:lnTo>
                  <a:pt x="0" y="543026"/>
                </a:lnTo>
                <a:lnTo>
                  <a:pt x="0" y="0"/>
                </a:lnTo>
                <a:lnTo>
                  <a:pt x="50125" y="0"/>
                </a:lnTo>
                <a:lnTo>
                  <a:pt x="50125" y="543026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98575" y="1444752"/>
            <a:ext cx="5447030" cy="463550"/>
          </a:xfrm>
          <a:custGeom>
            <a:avLst/>
            <a:gdLst/>
            <a:ahLst/>
            <a:cxnLst/>
            <a:rect l="l" t="t" r="r" b="b"/>
            <a:pathLst>
              <a:path w="5447030" h="463550">
                <a:moveTo>
                  <a:pt x="5446775" y="463295"/>
                </a:moveTo>
                <a:lnTo>
                  <a:pt x="0" y="463295"/>
                </a:lnTo>
                <a:lnTo>
                  <a:pt x="0" y="0"/>
                </a:lnTo>
                <a:lnTo>
                  <a:pt x="5446775" y="0"/>
                </a:lnTo>
                <a:lnTo>
                  <a:pt x="5446775" y="463295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0"/>
              <a:t>Methodological</a:t>
            </a:r>
            <a:r>
              <a:rPr dirty="0" spc="-95"/>
              <a:t> </a:t>
            </a:r>
            <a:r>
              <a:rPr dirty="0" spc="-90"/>
              <a:t>Innovations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2885151"/>
            <a:ext cx="91896" cy="91896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3444887"/>
            <a:ext cx="91896" cy="9189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4004622"/>
            <a:ext cx="91896" cy="9189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4572711"/>
            <a:ext cx="91896" cy="91896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572097" y="2020317"/>
            <a:ext cx="6505575" cy="27527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CVL-CDSAML</a:t>
            </a:r>
            <a:r>
              <a:rPr dirty="0" sz="2100" spc="21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introduces:</a:t>
            </a:r>
            <a:endParaRPr sz="2100">
              <a:latin typeface="Tahoma"/>
              <a:cs typeface="Tahoma"/>
            </a:endParaRPr>
          </a:p>
          <a:p>
            <a:pPr marL="346710" marR="5080">
              <a:lnSpc>
                <a:spcPct val="174900"/>
              </a:lnSpc>
              <a:spcBef>
                <a:spcPts val="1250"/>
              </a:spcBef>
            </a:pP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Integration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of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philology</a:t>
            </a:r>
            <a:r>
              <a:rPr dirty="0" sz="2100" spc="-2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and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computation </a:t>
            </a:r>
            <a:r>
              <a:rPr dirty="0" sz="2100" spc="-35" b="1">
                <a:solidFill>
                  <a:srgbClr val="FBD34D"/>
                </a:solidFill>
                <a:latin typeface="Tahoma"/>
                <a:cs typeface="Tahoma"/>
              </a:rPr>
              <a:t>Translation-</a:t>
            </a:r>
            <a:r>
              <a:rPr dirty="0" sz="2100" spc="-55" b="1">
                <a:solidFill>
                  <a:srgbClr val="FBD34D"/>
                </a:solidFill>
                <a:latin typeface="Tahoma"/>
                <a:cs typeface="Tahoma"/>
              </a:rPr>
              <a:t>based</a:t>
            </a:r>
            <a:r>
              <a:rPr dirty="0" sz="2100" spc="5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approach</a:t>
            </a:r>
            <a:r>
              <a:rPr dirty="0" sz="2100" spc="1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to</a:t>
            </a:r>
            <a:r>
              <a:rPr dirty="0" sz="2100" spc="1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language</a:t>
            </a:r>
            <a:r>
              <a:rPr dirty="0" sz="2100" spc="1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contact </a:t>
            </a: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Multi-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millennial</a:t>
            </a:r>
            <a:r>
              <a:rPr dirty="0" sz="2100" spc="3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perspective</a:t>
            </a:r>
            <a:r>
              <a:rPr dirty="0" sz="2100" spc="-1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on</a:t>
            </a:r>
            <a:r>
              <a:rPr dirty="0" sz="2100" spc="-1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10">
                <a:solidFill>
                  <a:srgbClr val="F7FAFB"/>
                </a:solidFill>
                <a:latin typeface="Tahoma"/>
                <a:cs typeface="Tahoma"/>
              </a:rPr>
              <a:t>change</a:t>
            </a:r>
            <a:endParaRPr sz="2100">
              <a:latin typeface="Tahoma"/>
              <a:cs typeface="Tahoma"/>
            </a:endParaRPr>
          </a:p>
          <a:p>
            <a:pPr marL="346710">
              <a:lnSpc>
                <a:spcPct val="100000"/>
              </a:lnSpc>
              <a:spcBef>
                <a:spcPts val="1950"/>
              </a:spcBef>
            </a:pP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Parallel</a:t>
            </a:r>
            <a:r>
              <a:rPr dirty="0" sz="2100" spc="-7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30" b="1">
                <a:solidFill>
                  <a:srgbClr val="FBD34D"/>
                </a:solidFill>
                <a:latin typeface="Tahoma"/>
                <a:cs typeface="Tahoma"/>
              </a:rPr>
              <a:t>corpus</a:t>
            </a:r>
            <a:r>
              <a:rPr dirty="0" sz="2100" spc="-7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design</a:t>
            </a:r>
            <a:r>
              <a:rPr dirty="0" sz="2100" spc="-114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for</a:t>
            </a:r>
            <a:r>
              <a:rPr dirty="0" sz="2100" spc="-12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diachronic</a:t>
            </a:r>
            <a:r>
              <a:rPr dirty="0" sz="2100" spc="-114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research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1086485"/>
          </a:xfrm>
          <a:custGeom>
            <a:avLst/>
            <a:gdLst/>
            <a:ahLst/>
            <a:cxnLst/>
            <a:rect l="l" t="t" r="r" b="b"/>
            <a:pathLst>
              <a:path w="50165" h="1086485">
                <a:moveTo>
                  <a:pt x="50125" y="1086053"/>
                </a:moveTo>
                <a:lnTo>
                  <a:pt x="0" y="1086053"/>
                </a:lnTo>
                <a:lnTo>
                  <a:pt x="0" y="0"/>
                </a:lnTo>
                <a:lnTo>
                  <a:pt x="50125" y="0"/>
                </a:lnTo>
                <a:lnTo>
                  <a:pt x="50125" y="1086053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83336" y="1444752"/>
            <a:ext cx="9196070" cy="457200"/>
          </a:xfrm>
          <a:custGeom>
            <a:avLst/>
            <a:gdLst/>
            <a:ahLst/>
            <a:cxnLst/>
            <a:rect l="l" t="t" r="r" b="b"/>
            <a:pathLst>
              <a:path w="9196070" h="457200">
                <a:moveTo>
                  <a:pt x="9195815" y="457199"/>
                </a:moveTo>
                <a:lnTo>
                  <a:pt x="0" y="457199"/>
                </a:lnTo>
                <a:lnTo>
                  <a:pt x="0" y="0"/>
                </a:lnTo>
                <a:lnTo>
                  <a:pt x="9195815" y="0"/>
                </a:lnTo>
                <a:lnTo>
                  <a:pt x="9195815" y="45719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75"/>
              <a:t>Question:</a:t>
            </a:r>
            <a:r>
              <a:rPr dirty="0" spc="-150"/>
              <a:t> </a:t>
            </a:r>
            <a:r>
              <a:rPr dirty="0"/>
              <a:t>What</a:t>
            </a:r>
            <a:r>
              <a:rPr dirty="0" spc="-145"/>
              <a:t> </a:t>
            </a:r>
            <a:r>
              <a:rPr dirty="0" spc="-120"/>
              <a:t>is</a:t>
            </a:r>
            <a:r>
              <a:rPr dirty="0" spc="-145"/>
              <a:t> </a:t>
            </a:r>
            <a:r>
              <a:rPr dirty="0" spc="-90"/>
              <a:t>the</a:t>
            </a:r>
            <a:r>
              <a:rPr dirty="0" spc="-145"/>
              <a:t> </a:t>
            </a:r>
            <a:r>
              <a:rPr dirty="0" spc="-45"/>
              <a:t>theoretical</a:t>
            </a:r>
            <a:r>
              <a:rPr dirty="0" spc="-145"/>
              <a:t> </a:t>
            </a:r>
            <a:r>
              <a:rPr dirty="0" spc="-90"/>
              <a:t>impact</a:t>
            </a:r>
            <a:r>
              <a:rPr dirty="0" spc="-145"/>
              <a:t> </a:t>
            </a:r>
            <a:r>
              <a:rPr dirty="0" spc="-45"/>
              <a:t>of</a:t>
            </a:r>
            <a:r>
              <a:rPr dirty="0" spc="-145"/>
              <a:t> </a:t>
            </a:r>
            <a:r>
              <a:rPr dirty="0" spc="-20"/>
              <a:t>this</a:t>
            </a:r>
          </a:p>
        </p:txBody>
      </p:sp>
      <p:sp>
        <p:nvSpPr>
          <p:cNvPr id="5" name="object 5" descr=""/>
          <p:cNvSpPr/>
          <p:nvPr/>
        </p:nvSpPr>
        <p:spPr>
          <a:xfrm>
            <a:off x="774191" y="1987295"/>
            <a:ext cx="1259205" cy="396240"/>
          </a:xfrm>
          <a:custGeom>
            <a:avLst/>
            <a:gdLst/>
            <a:ahLst/>
            <a:cxnLst/>
            <a:rect l="l" t="t" r="r" b="b"/>
            <a:pathLst>
              <a:path w="1259205" h="396239">
                <a:moveTo>
                  <a:pt x="1258823" y="396239"/>
                </a:moveTo>
                <a:lnTo>
                  <a:pt x="0" y="396239"/>
                </a:lnTo>
                <a:lnTo>
                  <a:pt x="0" y="0"/>
                </a:lnTo>
                <a:lnTo>
                  <a:pt x="1258823" y="0"/>
                </a:lnTo>
                <a:lnTo>
                  <a:pt x="1258823" y="39623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789308" y="1903358"/>
            <a:ext cx="1199515" cy="5067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150" spc="-110" b="1">
                <a:solidFill>
                  <a:srgbClr val="60A5FA"/>
                </a:solidFill>
                <a:latin typeface="Tahoma"/>
                <a:cs typeface="Tahoma"/>
              </a:rPr>
              <a:t>work?</a:t>
            </a:r>
            <a:endParaRPr sz="3150">
              <a:latin typeface="Tahoma"/>
              <a:cs typeface="Tahoma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3428178"/>
            <a:ext cx="91896" cy="9189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3987913"/>
            <a:ext cx="91896" cy="91896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4547649"/>
            <a:ext cx="91896" cy="91896"/>
          </a:xfrm>
          <a:prstGeom prst="rect">
            <a:avLst/>
          </a:prstGeom>
        </p:spPr>
      </p:pic>
      <p:sp>
        <p:nvSpPr>
          <p:cNvPr id="10" name="object 10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Theoretical</a:t>
            </a:r>
            <a:r>
              <a:rPr dirty="0" spc="-135"/>
              <a:t> </a:t>
            </a:r>
            <a:r>
              <a:rPr dirty="0" spc="-10"/>
              <a:t>contributions:</a:t>
            </a:r>
          </a:p>
          <a:p>
            <a:pPr marL="346710" marR="811530">
              <a:lnSpc>
                <a:spcPct val="174900"/>
              </a:lnSpc>
              <a:spcBef>
                <a:spcPts val="1250"/>
              </a:spcBef>
            </a:pPr>
            <a:r>
              <a:rPr dirty="0" spc="114" b="0">
                <a:solidFill>
                  <a:srgbClr val="F7FAFB"/>
                </a:solidFill>
                <a:latin typeface="Tahoma"/>
                <a:cs typeface="Tahoma"/>
              </a:rPr>
              <a:t>Which</a:t>
            </a:r>
            <a:r>
              <a:rPr dirty="0" spc="-85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95" b="0">
                <a:solidFill>
                  <a:srgbClr val="F7FAFB"/>
                </a:solidFill>
                <a:latin typeface="Tahoma"/>
                <a:cs typeface="Tahoma"/>
              </a:rPr>
              <a:t>theories</a:t>
            </a:r>
            <a:r>
              <a:rPr dirty="0" spc="-80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60" b="0">
                <a:solidFill>
                  <a:srgbClr val="F7FAFB"/>
                </a:solidFill>
                <a:latin typeface="Tahoma"/>
                <a:cs typeface="Tahoma"/>
              </a:rPr>
              <a:t>does</a:t>
            </a:r>
            <a:r>
              <a:rPr dirty="0" spc="-80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110" b="0">
                <a:solidFill>
                  <a:srgbClr val="F7FAFB"/>
                </a:solidFill>
                <a:latin typeface="Tahoma"/>
                <a:cs typeface="Tahoma"/>
              </a:rPr>
              <a:t>it</a:t>
            </a:r>
            <a:r>
              <a:rPr dirty="0" spc="-80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55" b="0">
                <a:solidFill>
                  <a:srgbClr val="F7FAFB"/>
                </a:solidFill>
                <a:latin typeface="Tahoma"/>
                <a:cs typeface="Tahoma"/>
              </a:rPr>
              <a:t>inform? </a:t>
            </a:r>
            <a:r>
              <a:rPr dirty="0" spc="125" b="0">
                <a:solidFill>
                  <a:srgbClr val="F7FAFB"/>
                </a:solidFill>
                <a:latin typeface="Tahoma"/>
                <a:cs typeface="Tahoma"/>
              </a:rPr>
              <a:t>What</a:t>
            </a:r>
            <a:r>
              <a:rPr dirty="0" spc="-85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70" b="0">
                <a:solidFill>
                  <a:srgbClr val="F7FAFB"/>
                </a:solidFill>
                <a:latin typeface="Tahoma"/>
                <a:cs typeface="Tahoma"/>
              </a:rPr>
              <a:t>models</a:t>
            </a:r>
            <a:r>
              <a:rPr dirty="0" spc="-80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60" b="0">
                <a:solidFill>
                  <a:srgbClr val="F7FAFB"/>
                </a:solidFill>
                <a:latin typeface="Tahoma"/>
                <a:cs typeface="Tahoma"/>
              </a:rPr>
              <a:t>does</a:t>
            </a:r>
            <a:r>
              <a:rPr dirty="0" spc="-85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110" b="0">
                <a:solidFill>
                  <a:srgbClr val="F7FAFB"/>
                </a:solidFill>
                <a:latin typeface="Tahoma"/>
                <a:cs typeface="Tahoma"/>
              </a:rPr>
              <a:t>it</a:t>
            </a:r>
            <a:r>
              <a:rPr dirty="0" spc="-80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45" b="0">
                <a:solidFill>
                  <a:srgbClr val="F7FAFB"/>
                </a:solidFill>
                <a:latin typeface="Tahoma"/>
                <a:cs typeface="Tahoma"/>
              </a:rPr>
              <a:t>improve?</a:t>
            </a:r>
          </a:p>
          <a:p>
            <a:pPr marL="346710">
              <a:lnSpc>
                <a:spcPct val="100000"/>
              </a:lnSpc>
              <a:spcBef>
                <a:spcPts val="1885"/>
              </a:spcBef>
            </a:pPr>
            <a:r>
              <a:rPr dirty="0" spc="125" b="0">
                <a:solidFill>
                  <a:srgbClr val="F7FAFB"/>
                </a:solidFill>
                <a:latin typeface="Tahoma"/>
                <a:cs typeface="Tahoma"/>
              </a:rPr>
              <a:t>What</a:t>
            </a:r>
            <a:r>
              <a:rPr dirty="0" spc="-90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65" b="0">
                <a:solidFill>
                  <a:srgbClr val="F7FAFB"/>
                </a:solidFill>
                <a:latin typeface="Tahoma"/>
                <a:cs typeface="Tahoma"/>
              </a:rPr>
              <a:t>new</a:t>
            </a:r>
            <a:r>
              <a:rPr dirty="0" spc="-85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85" b="0">
                <a:solidFill>
                  <a:srgbClr val="F7FAFB"/>
                </a:solidFill>
                <a:latin typeface="Tahoma"/>
                <a:cs typeface="Tahoma"/>
              </a:rPr>
              <a:t>perspectives</a:t>
            </a:r>
            <a:r>
              <a:rPr dirty="0" spc="-85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60" b="0">
                <a:solidFill>
                  <a:srgbClr val="F7FAFB"/>
                </a:solidFill>
                <a:latin typeface="Tahoma"/>
                <a:cs typeface="Tahoma"/>
              </a:rPr>
              <a:t>does</a:t>
            </a:r>
            <a:r>
              <a:rPr dirty="0" spc="-85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110" b="0">
                <a:solidFill>
                  <a:srgbClr val="F7FAFB"/>
                </a:solidFill>
                <a:latin typeface="Tahoma"/>
                <a:cs typeface="Tahoma"/>
              </a:rPr>
              <a:t>it</a:t>
            </a:r>
            <a:r>
              <a:rPr dirty="0" spc="-85" b="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pc="60" b="0">
                <a:solidFill>
                  <a:srgbClr val="F7FAFB"/>
                </a:solidFill>
                <a:latin typeface="Tahoma"/>
                <a:cs typeface="Tahoma"/>
              </a:rPr>
              <a:t>offer?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543560"/>
          </a:xfrm>
          <a:custGeom>
            <a:avLst/>
            <a:gdLst/>
            <a:ahLst/>
            <a:cxnLst/>
            <a:rect l="l" t="t" r="r" b="b"/>
            <a:pathLst>
              <a:path w="50165" h="543560">
                <a:moveTo>
                  <a:pt x="50125" y="543026"/>
                </a:moveTo>
                <a:lnTo>
                  <a:pt x="0" y="543026"/>
                </a:lnTo>
                <a:lnTo>
                  <a:pt x="0" y="0"/>
                </a:lnTo>
                <a:lnTo>
                  <a:pt x="50125" y="0"/>
                </a:lnTo>
                <a:lnTo>
                  <a:pt x="50125" y="543026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801623" y="1444752"/>
            <a:ext cx="5377180" cy="463550"/>
          </a:xfrm>
          <a:custGeom>
            <a:avLst/>
            <a:gdLst/>
            <a:ahLst/>
            <a:cxnLst/>
            <a:rect l="l" t="t" r="r" b="b"/>
            <a:pathLst>
              <a:path w="5377180" h="463550">
                <a:moveTo>
                  <a:pt x="5376671" y="463295"/>
                </a:moveTo>
                <a:lnTo>
                  <a:pt x="0" y="463295"/>
                </a:lnTo>
                <a:lnTo>
                  <a:pt x="0" y="0"/>
                </a:lnTo>
                <a:lnTo>
                  <a:pt x="5376671" y="0"/>
                </a:lnTo>
                <a:lnTo>
                  <a:pt x="5376671" y="463295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70"/>
              <a:t>Impact</a:t>
            </a:r>
            <a:r>
              <a:rPr dirty="0" spc="-125"/>
              <a:t> </a:t>
            </a:r>
            <a:r>
              <a:rPr dirty="0" spc="-135"/>
              <a:t>on</a:t>
            </a:r>
            <a:r>
              <a:rPr dirty="0" spc="-125"/>
              <a:t> </a:t>
            </a:r>
            <a:r>
              <a:rPr dirty="0" spc="-80"/>
              <a:t>Linguistic</a:t>
            </a:r>
            <a:r>
              <a:rPr dirty="0" spc="-125"/>
              <a:t> </a:t>
            </a:r>
            <a:r>
              <a:rPr dirty="0" spc="-10"/>
              <a:t>Theory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2885151"/>
            <a:ext cx="91896" cy="91896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3444887"/>
            <a:ext cx="91896" cy="9189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4004622"/>
            <a:ext cx="91896" cy="9189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4572711"/>
            <a:ext cx="91896" cy="91896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572097" y="2020317"/>
            <a:ext cx="5278755" cy="27527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Contributions</a:t>
            </a:r>
            <a:r>
              <a:rPr dirty="0" sz="2100" spc="-15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25" b="1">
                <a:solidFill>
                  <a:srgbClr val="FBD34D"/>
                </a:solidFill>
                <a:latin typeface="Tahoma"/>
                <a:cs typeface="Tahoma"/>
              </a:rPr>
              <a:t>to:</a:t>
            </a:r>
            <a:endParaRPr sz="2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sz="2100">
              <a:latin typeface="Tahoma"/>
              <a:cs typeface="Tahoma"/>
            </a:endParaRPr>
          </a:p>
          <a:p>
            <a:pPr marL="346710">
              <a:lnSpc>
                <a:spcPct val="100000"/>
              </a:lnSpc>
            </a:pP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Valency</a:t>
            </a:r>
            <a:r>
              <a:rPr dirty="0" sz="2100" spc="-10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theory</a:t>
            </a:r>
            <a:r>
              <a:rPr dirty="0" sz="2100" spc="-10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(diachronic</a:t>
            </a:r>
            <a:r>
              <a:rPr dirty="0" sz="2100" spc="-14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0">
                <a:solidFill>
                  <a:srgbClr val="F7FAFB"/>
                </a:solidFill>
                <a:latin typeface="Tahoma"/>
                <a:cs typeface="Tahoma"/>
              </a:rPr>
              <a:t>dimension)</a:t>
            </a:r>
            <a:endParaRPr sz="2100">
              <a:latin typeface="Tahoma"/>
              <a:cs typeface="Tahoma"/>
            </a:endParaRPr>
          </a:p>
          <a:p>
            <a:pPr marL="346710">
              <a:lnSpc>
                <a:spcPct val="100000"/>
              </a:lnSpc>
              <a:spcBef>
                <a:spcPts val="1890"/>
              </a:spcBef>
            </a:pPr>
            <a:r>
              <a:rPr dirty="0" sz="2100" spc="-85" b="1">
                <a:solidFill>
                  <a:srgbClr val="FBD34D"/>
                </a:solidFill>
                <a:latin typeface="Tahoma"/>
                <a:cs typeface="Tahoma"/>
              </a:rPr>
              <a:t>Language</a:t>
            </a:r>
            <a:r>
              <a:rPr dirty="0" sz="2100" spc="-3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75" b="1">
                <a:solidFill>
                  <a:srgbClr val="FBD34D"/>
                </a:solidFill>
                <a:latin typeface="Tahoma"/>
                <a:cs typeface="Tahoma"/>
              </a:rPr>
              <a:t>change</a:t>
            </a:r>
            <a:r>
              <a:rPr dirty="0" sz="2100" spc="-3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60">
                <a:solidFill>
                  <a:srgbClr val="F7FAFB"/>
                </a:solidFill>
                <a:latin typeface="Tahoma"/>
                <a:cs typeface="Tahoma"/>
              </a:rPr>
              <a:t>models</a:t>
            </a:r>
            <a:endParaRPr sz="2100">
              <a:latin typeface="Tahoma"/>
              <a:cs typeface="Tahoma"/>
            </a:endParaRPr>
          </a:p>
          <a:p>
            <a:pPr marL="346710">
              <a:lnSpc>
                <a:spcPct val="100000"/>
              </a:lnSpc>
              <a:spcBef>
                <a:spcPts val="1885"/>
              </a:spcBef>
            </a:pP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Contact</a:t>
            </a:r>
            <a:r>
              <a:rPr dirty="0" sz="2100" spc="-9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25" b="1">
                <a:solidFill>
                  <a:srgbClr val="FBD34D"/>
                </a:solidFill>
                <a:latin typeface="Tahoma"/>
                <a:cs typeface="Tahoma"/>
              </a:rPr>
              <a:t>linguistics</a:t>
            </a:r>
            <a:r>
              <a:rPr dirty="0" sz="2100" spc="-9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methodology</a:t>
            </a:r>
            <a:endParaRPr sz="2100">
              <a:latin typeface="Tahoma"/>
              <a:cs typeface="Tahoma"/>
            </a:endParaRPr>
          </a:p>
          <a:p>
            <a:pPr marL="346710">
              <a:lnSpc>
                <a:spcPct val="100000"/>
              </a:lnSpc>
              <a:spcBef>
                <a:spcPts val="1955"/>
              </a:spcBef>
            </a:pPr>
            <a:r>
              <a:rPr dirty="0" sz="2100" spc="-20" b="1">
                <a:solidFill>
                  <a:srgbClr val="FBD34D"/>
                </a:solidFill>
                <a:latin typeface="Tahoma"/>
                <a:cs typeface="Tahoma"/>
              </a:rPr>
              <a:t>Corpus</a:t>
            </a:r>
            <a:r>
              <a:rPr dirty="0" sz="2100" spc="-7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25" b="1">
                <a:solidFill>
                  <a:srgbClr val="FBD34D"/>
                </a:solidFill>
                <a:latin typeface="Tahoma"/>
                <a:cs typeface="Tahoma"/>
              </a:rPr>
              <a:t>linguistics</a:t>
            </a:r>
            <a:r>
              <a:rPr dirty="0" sz="2100" spc="-7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45">
                <a:solidFill>
                  <a:srgbClr val="F7FAFB"/>
                </a:solidFill>
                <a:latin typeface="Tahoma"/>
                <a:cs typeface="Tahoma"/>
              </a:rPr>
              <a:t>design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543560"/>
          </a:xfrm>
          <a:custGeom>
            <a:avLst/>
            <a:gdLst/>
            <a:ahLst/>
            <a:cxnLst/>
            <a:rect l="l" t="t" r="r" b="b"/>
            <a:pathLst>
              <a:path w="50165" h="543560">
                <a:moveTo>
                  <a:pt x="50125" y="543026"/>
                </a:moveTo>
                <a:lnTo>
                  <a:pt x="0" y="543026"/>
                </a:lnTo>
                <a:lnTo>
                  <a:pt x="0" y="0"/>
                </a:lnTo>
                <a:lnTo>
                  <a:pt x="50125" y="0"/>
                </a:lnTo>
                <a:lnTo>
                  <a:pt x="50125" y="543026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98575" y="1444752"/>
            <a:ext cx="4861560" cy="457200"/>
          </a:xfrm>
          <a:custGeom>
            <a:avLst/>
            <a:gdLst/>
            <a:ahLst/>
            <a:cxnLst/>
            <a:rect l="l" t="t" r="r" b="b"/>
            <a:pathLst>
              <a:path w="4861560" h="457200">
                <a:moveTo>
                  <a:pt x="4861559" y="457199"/>
                </a:moveTo>
                <a:lnTo>
                  <a:pt x="0" y="457199"/>
                </a:lnTo>
                <a:lnTo>
                  <a:pt x="0" y="0"/>
                </a:lnTo>
                <a:lnTo>
                  <a:pt x="4861559" y="0"/>
                </a:lnTo>
                <a:lnTo>
                  <a:pt x="4861559" y="45719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65"/>
              <a:t>Educational</a:t>
            </a:r>
            <a:r>
              <a:rPr dirty="0" spc="-165"/>
              <a:t> </a:t>
            </a:r>
            <a:r>
              <a:rPr dirty="0" spc="-20"/>
              <a:t>Applications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2885151"/>
            <a:ext cx="91896" cy="91896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3444887"/>
            <a:ext cx="91896" cy="9189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4004622"/>
            <a:ext cx="91896" cy="9189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4572711"/>
            <a:ext cx="91896" cy="91896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572097" y="2020317"/>
            <a:ext cx="4330700" cy="27527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 spc="-40" b="1">
                <a:solidFill>
                  <a:srgbClr val="FBD34D"/>
                </a:solidFill>
                <a:latin typeface="Tahoma"/>
                <a:cs typeface="Tahoma"/>
              </a:rPr>
              <a:t>Uses</a:t>
            </a:r>
            <a:r>
              <a:rPr dirty="0" sz="2100" spc="-8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for</a:t>
            </a:r>
            <a:r>
              <a:rPr dirty="0" sz="2100" spc="-7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Teaching:</a:t>
            </a:r>
            <a:endParaRPr sz="2100">
              <a:latin typeface="Tahoma"/>
              <a:cs typeface="Tahoma"/>
            </a:endParaRPr>
          </a:p>
          <a:p>
            <a:pPr marL="346710" marR="5080">
              <a:lnSpc>
                <a:spcPct val="175800"/>
              </a:lnSpc>
              <a:spcBef>
                <a:spcPts val="1225"/>
              </a:spcBef>
            </a:pP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Historical</a:t>
            </a:r>
            <a:r>
              <a:rPr dirty="0" sz="2100" spc="-4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25" b="1">
                <a:solidFill>
                  <a:srgbClr val="FBD34D"/>
                </a:solidFill>
                <a:latin typeface="Tahoma"/>
                <a:cs typeface="Tahoma"/>
              </a:rPr>
              <a:t>linguistics</a:t>
            </a:r>
            <a:r>
              <a:rPr dirty="0" sz="2100" spc="-3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60">
                <a:solidFill>
                  <a:srgbClr val="F7FAFB"/>
                </a:solidFill>
                <a:latin typeface="Tahoma"/>
                <a:cs typeface="Tahoma"/>
              </a:rPr>
              <a:t>courses </a:t>
            </a:r>
            <a:r>
              <a:rPr dirty="0" sz="2100" spc="-30" b="1">
                <a:solidFill>
                  <a:srgbClr val="FBD34D"/>
                </a:solidFill>
                <a:latin typeface="Tahoma"/>
                <a:cs typeface="Tahoma"/>
              </a:rPr>
              <a:t>Translation</a:t>
            </a:r>
            <a:r>
              <a:rPr dirty="0" sz="2100" spc="-10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25" b="1">
                <a:solidFill>
                  <a:srgbClr val="FBD34D"/>
                </a:solidFill>
                <a:latin typeface="Tahoma"/>
                <a:cs typeface="Tahoma"/>
              </a:rPr>
              <a:t>studies</a:t>
            </a:r>
            <a:r>
              <a:rPr dirty="0" sz="2100" spc="-10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50">
                <a:solidFill>
                  <a:srgbClr val="F7FAFB"/>
                </a:solidFill>
                <a:latin typeface="Tahoma"/>
                <a:cs typeface="Tahoma"/>
              </a:rPr>
              <a:t>programs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Classical</a:t>
            </a:r>
            <a:r>
              <a:rPr dirty="0" sz="2100" spc="-13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70" b="1">
                <a:solidFill>
                  <a:srgbClr val="FBD34D"/>
                </a:solidFill>
                <a:latin typeface="Tahoma"/>
                <a:cs typeface="Tahoma"/>
              </a:rPr>
              <a:t>languages</a:t>
            </a:r>
            <a:r>
              <a:rPr dirty="0" sz="2100" spc="-8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instruction </a:t>
            </a: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Digital</a:t>
            </a:r>
            <a:r>
              <a:rPr dirty="0" sz="2100" spc="-10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35" b="1">
                <a:solidFill>
                  <a:srgbClr val="FBD34D"/>
                </a:solidFill>
                <a:latin typeface="Tahoma"/>
                <a:cs typeface="Tahoma"/>
              </a:rPr>
              <a:t>humanities</a:t>
            </a:r>
            <a:r>
              <a:rPr dirty="0" sz="2100" spc="-10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training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543560"/>
          </a:xfrm>
          <a:custGeom>
            <a:avLst/>
            <a:gdLst/>
            <a:ahLst/>
            <a:cxnLst/>
            <a:rect l="l" t="t" r="r" b="b"/>
            <a:pathLst>
              <a:path w="50165" h="543560">
                <a:moveTo>
                  <a:pt x="50125" y="543026"/>
                </a:moveTo>
                <a:lnTo>
                  <a:pt x="0" y="543026"/>
                </a:lnTo>
                <a:lnTo>
                  <a:pt x="0" y="0"/>
                </a:lnTo>
                <a:lnTo>
                  <a:pt x="50125" y="0"/>
                </a:lnTo>
                <a:lnTo>
                  <a:pt x="50125" y="543026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98575" y="1444752"/>
            <a:ext cx="6681470" cy="463550"/>
          </a:xfrm>
          <a:custGeom>
            <a:avLst/>
            <a:gdLst/>
            <a:ahLst/>
            <a:cxnLst/>
            <a:rect l="l" t="t" r="r" b="b"/>
            <a:pathLst>
              <a:path w="6681470" h="463550">
                <a:moveTo>
                  <a:pt x="6681215" y="463295"/>
                </a:moveTo>
                <a:lnTo>
                  <a:pt x="0" y="463295"/>
                </a:lnTo>
                <a:lnTo>
                  <a:pt x="0" y="0"/>
                </a:lnTo>
                <a:lnTo>
                  <a:pt x="6681215" y="0"/>
                </a:lnTo>
                <a:lnTo>
                  <a:pt x="6681215" y="463295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89308" y="1360331"/>
            <a:ext cx="6647180" cy="5067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00"/>
              <a:t>Example</a:t>
            </a:r>
            <a:r>
              <a:rPr dirty="0" spc="-105"/>
              <a:t> </a:t>
            </a:r>
            <a:r>
              <a:rPr dirty="0" spc="-100"/>
              <a:t>Student </a:t>
            </a:r>
            <a:r>
              <a:rPr dirty="0" spc="-110"/>
              <a:t>Research</a:t>
            </a:r>
            <a:r>
              <a:rPr dirty="0" spc="-105"/>
              <a:t> </a:t>
            </a:r>
            <a:r>
              <a:rPr dirty="0" spc="-10"/>
              <a:t>Project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572097" y="1831511"/>
            <a:ext cx="7183120" cy="3451225"/>
          </a:xfrm>
          <a:prstGeom prst="rect">
            <a:avLst/>
          </a:prstGeom>
        </p:spPr>
        <p:txBody>
          <a:bodyPr wrap="square" lIns="0" tIns="2019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90"/>
              </a:spcBef>
            </a:pPr>
            <a:r>
              <a:rPr dirty="0" sz="2100" spc="-55" b="1">
                <a:solidFill>
                  <a:srgbClr val="FBD34D"/>
                </a:solidFill>
                <a:latin typeface="Tahoma"/>
                <a:cs typeface="Tahoma"/>
              </a:rPr>
              <a:t>Topic:</a:t>
            </a:r>
            <a:r>
              <a:rPr dirty="0" sz="2100" spc="-4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"The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Evolution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of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14">
                <a:solidFill>
                  <a:srgbClr val="F7FAFB"/>
                </a:solidFill>
                <a:latin typeface="Tahoma"/>
                <a:cs typeface="Tahoma"/>
              </a:rPr>
              <a:t>Greek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Causative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5">
                <a:solidFill>
                  <a:srgbClr val="F7FAFB"/>
                </a:solidFill>
                <a:latin typeface="Tahoma"/>
                <a:cs typeface="Tahoma"/>
              </a:rPr>
              <a:t>Constructions"</a:t>
            </a:r>
            <a:endParaRPr sz="2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495"/>
              </a:spcBef>
            </a:pP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Method:</a:t>
            </a:r>
            <a:endParaRPr sz="2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sz="2100">
              <a:latin typeface="Tahoma"/>
              <a:cs typeface="Tahoma"/>
            </a:endParaRPr>
          </a:p>
          <a:p>
            <a:pPr marL="346710" indent="-294640">
              <a:lnSpc>
                <a:spcPct val="100000"/>
              </a:lnSpc>
              <a:buAutoNum type="arabicPeriod"/>
              <a:tabLst>
                <a:tab pos="346710" algn="l"/>
              </a:tabLst>
            </a:pP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Extract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causative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verbs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from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10">
                <a:solidFill>
                  <a:srgbClr val="F7FAFB"/>
                </a:solidFill>
                <a:latin typeface="Tahoma"/>
                <a:cs typeface="Tahoma"/>
              </a:rPr>
              <a:t>CVL-</a:t>
            </a:r>
            <a:r>
              <a:rPr dirty="0" sz="2100" spc="185">
                <a:solidFill>
                  <a:srgbClr val="F7FAFB"/>
                </a:solidFill>
                <a:latin typeface="Tahoma"/>
                <a:cs typeface="Tahoma"/>
              </a:rPr>
              <a:t>CDSAML</a:t>
            </a:r>
            <a:endParaRPr sz="2100">
              <a:latin typeface="Tahoma"/>
              <a:cs typeface="Tahoma"/>
            </a:endParaRPr>
          </a:p>
          <a:p>
            <a:pPr marL="346710" indent="-294640">
              <a:lnSpc>
                <a:spcPct val="100000"/>
              </a:lnSpc>
              <a:spcBef>
                <a:spcPts val="1890"/>
              </a:spcBef>
              <a:buAutoNum type="arabicPeriod"/>
              <a:tabLst>
                <a:tab pos="346710" algn="l"/>
              </a:tabLst>
            </a:pP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Analyze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valency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patterns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across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periods</a:t>
            </a:r>
            <a:endParaRPr sz="2100">
              <a:latin typeface="Tahoma"/>
              <a:cs typeface="Tahoma"/>
            </a:endParaRPr>
          </a:p>
          <a:p>
            <a:pPr marL="346710" indent="-294640">
              <a:lnSpc>
                <a:spcPct val="100000"/>
              </a:lnSpc>
              <a:spcBef>
                <a:spcPts val="1950"/>
              </a:spcBef>
              <a:buAutoNum type="arabicPeriod"/>
              <a:tabLst>
                <a:tab pos="346710" algn="l"/>
              </a:tabLst>
            </a:pPr>
            <a:r>
              <a:rPr dirty="0" sz="2100" spc="95">
                <a:solidFill>
                  <a:srgbClr val="F7FAFB"/>
                </a:solidFill>
                <a:latin typeface="Tahoma"/>
                <a:cs typeface="Tahoma"/>
              </a:rPr>
              <a:t>Compare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5">
                <a:solidFill>
                  <a:srgbClr val="F7FAFB"/>
                </a:solidFill>
                <a:latin typeface="Tahoma"/>
                <a:cs typeface="Tahoma"/>
              </a:rPr>
              <a:t>with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Latin</a:t>
            </a:r>
            <a:r>
              <a:rPr dirty="0" sz="2100" spc="-5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and</a:t>
            </a:r>
            <a:r>
              <a:rPr dirty="0" sz="2100" spc="-5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0">
                <a:solidFill>
                  <a:srgbClr val="F7FAFB"/>
                </a:solidFill>
                <a:latin typeface="Tahoma"/>
                <a:cs typeface="Tahoma"/>
              </a:rPr>
              <a:t>English</a:t>
            </a:r>
            <a:endParaRPr sz="2100">
              <a:latin typeface="Tahoma"/>
              <a:cs typeface="Tahoma"/>
            </a:endParaRPr>
          </a:p>
          <a:p>
            <a:pPr marL="346710" indent="-294640">
              <a:lnSpc>
                <a:spcPct val="100000"/>
              </a:lnSpc>
              <a:spcBef>
                <a:spcPts val="1890"/>
              </a:spcBef>
              <a:buAutoNum type="arabicPeriod"/>
              <a:tabLst>
                <a:tab pos="346710" algn="l"/>
              </a:tabLst>
            </a:pP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Identify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contact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effects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543560"/>
          </a:xfrm>
          <a:custGeom>
            <a:avLst/>
            <a:gdLst/>
            <a:ahLst/>
            <a:cxnLst/>
            <a:rect l="l" t="t" r="r" b="b"/>
            <a:pathLst>
              <a:path w="50165" h="543560">
                <a:moveTo>
                  <a:pt x="50125" y="543026"/>
                </a:moveTo>
                <a:lnTo>
                  <a:pt x="0" y="543026"/>
                </a:lnTo>
                <a:lnTo>
                  <a:pt x="0" y="0"/>
                </a:lnTo>
                <a:lnTo>
                  <a:pt x="50125" y="0"/>
                </a:lnTo>
                <a:lnTo>
                  <a:pt x="50125" y="543026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801623" y="1444752"/>
            <a:ext cx="5748655" cy="457200"/>
          </a:xfrm>
          <a:custGeom>
            <a:avLst/>
            <a:gdLst/>
            <a:ahLst/>
            <a:cxnLst/>
            <a:rect l="l" t="t" r="r" b="b"/>
            <a:pathLst>
              <a:path w="5748655" h="457200">
                <a:moveTo>
                  <a:pt x="5748527" y="457199"/>
                </a:moveTo>
                <a:lnTo>
                  <a:pt x="0" y="457199"/>
                </a:lnTo>
                <a:lnTo>
                  <a:pt x="0" y="0"/>
                </a:lnTo>
                <a:lnTo>
                  <a:pt x="5748527" y="0"/>
                </a:lnTo>
                <a:lnTo>
                  <a:pt x="5748527" y="45719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75"/>
              <a:t>Interdisciplinary</a:t>
            </a:r>
            <a:r>
              <a:rPr dirty="0" spc="-80"/>
              <a:t> </a:t>
            </a:r>
            <a:r>
              <a:rPr dirty="0" spc="-40"/>
              <a:t>Connections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572097" y="2020317"/>
            <a:ext cx="2318385" cy="3467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 spc="-30" b="1">
                <a:solidFill>
                  <a:srgbClr val="FBD34D"/>
                </a:solidFill>
                <a:latin typeface="Tahoma"/>
                <a:cs typeface="Tahoma"/>
              </a:rPr>
              <a:t>Bridges</a:t>
            </a:r>
            <a:r>
              <a:rPr dirty="0" sz="2100" spc="-9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35" b="1">
                <a:solidFill>
                  <a:srgbClr val="FBD34D"/>
                </a:solidFill>
                <a:latin typeface="Tahoma"/>
                <a:cs typeface="Tahoma"/>
              </a:rPr>
              <a:t>Between:</a:t>
            </a:r>
            <a:endParaRPr sz="2100">
              <a:latin typeface="Tahoma"/>
              <a:cs typeface="Tahoma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2885151"/>
            <a:ext cx="91896" cy="91896"/>
          </a:xfrm>
          <a:prstGeom prst="rect">
            <a:avLst/>
          </a:prstGeom>
        </p:spPr>
      </p:pic>
      <p:grpSp>
        <p:nvGrpSpPr>
          <p:cNvPr id="7" name="object 7" descr=""/>
          <p:cNvGrpSpPr/>
          <p:nvPr/>
        </p:nvGrpSpPr>
        <p:grpSpPr>
          <a:xfrm>
            <a:off x="2414380" y="2776546"/>
            <a:ext cx="267335" cy="267335"/>
            <a:chOff x="2414380" y="2776546"/>
            <a:chExt cx="267335" cy="267335"/>
          </a:xfrm>
        </p:grpSpPr>
        <p:sp>
          <p:nvSpPr>
            <p:cNvPr id="8" name="object 8" descr=""/>
            <p:cNvSpPr/>
            <p:nvPr/>
          </p:nvSpPr>
          <p:spPr>
            <a:xfrm>
              <a:off x="2414380" y="2776546"/>
              <a:ext cx="267335" cy="267335"/>
            </a:xfrm>
            <a:custGeom>
              <a:avLst/>
              <a:gdLst/>
              <a:ahLst/>
              <a:cxnLst/>
              <a:rect l="l" t="t" r="r" b="b"/>
              <a:pathLst>
                <a:path w="267335" h="267335">
                  <a:moveTo>
                    <a:pt x="237632" y="267336"/>
                  </a:moveTo>
                  <a:lnTo>
                    <a:pt x="29704" y="267336"/>
                  </a:lnTo>
                  <a:lnTo>
                    <a:pt x="18142" y="265001"/>
                  </a:lnTo>
                  <a:lnTo>
                    <a:pt x="8700" y="258635"/>
                  </a:lnTo>
                  <a:lnTo>
                    <a:pt x="2334" y="249193"/>
                  </a:lnTo>
                  <a:lnTo>
                    <a:pt x="0" y="237632"/>
                  </a:lnTo>
                  <a:lnTo>
                    <a:pt x="0" y="29704"/>
                  </a:lnTo>
                  <a:lnTo>
                    <a:pt x="2334" y="18142"/>
                  </a:lnTo>
                  <a:lnTo>
                    <a:pt x="8700" y="8700"/>
                  </a:lnTo>
                  <a:lnTo>
                    <a:pt x="18142" y="2334"/>
                  </a:lnTo>
                  <a:lnTo>
                    <a:pt x="29704" y="0"/>
                  </a:lnTo>
                  <a:lnTo>
                    <a:pt x="237632" y="0"/>
                  </a:lnTo>
                  <a:lnTo>
                    <a:pt x="249193" y="2334"/>
                  </a:lnTo>
                  <a:lnTo>
                    <a:pt x="258635" y="8700"/>
                  </a:lnTo>
                  <a:lnTo>
                    <a:pt x="265001" y="18142"/>
                  </a:lnTo>
                  <a:lnTo>
                    <a:pt x="267336" y="29704"/>
                  </a:lnTo>
                  <a:lnTo>
                    <a:pt x="267336" y="237632"/>
                  </a:lnTo>
                  <a:lnTo>
                    <a:pt x="265001" y="249193"/>
                  </a:lnTo>
                  <a:lnTo>
                    <a:pt x="258635" y="258635"/>
                  </a:lnTo>
                  <a:lnTo>
                    <a:pt x="249193" y="265001"/>
                  </a:lnTo>
                  <a:lnTo>
                    <a:pt x="237632" y="267336"/>
                  </a:lnTo>
                  <a:close/>
                </a:path>
              </a:pathLst>
            </a:custGeom>
            <a:solidFill>
              <a:srgbClr val="3B87C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2436647" y="2843389"/>
              <a:ext cx="222885" cy="133985"/>
            </a:xfrm>
            <a:custGeom>
              <a:avLst/>
              <a:gdLst/>
              <a:ahLst/>
              <a:cxnLst/>
              <a:rect l="l" t="t" r="r" b="b"/>
              <a:pathLst>
                <a:path w="222885" h="133985">
                  <a:moveTo>
                    <a:pt x="222783" y="66827"/>
                  </a:moveTo>
                  <a:lnTo>
                    <a:pt x="148526" y="0"/>
                  </a:lnTo>
                  <a:lnTo>
                    <a:pt x="148526" y="37122"/>
                  </a:lnTo>
                  <a:lnTo>
                    <a:pt x="74269" y="37122"/>
                  </a:lnTo>
                  <a:lnTo>
                    <a:pt x="74269" y="0"/>
                  </a:lnTo>
                  <a:lnTo>
                    <a:pt x="0" y="66827"/>
                  </a:lnTo>
                  <a:lnTo>
                    <a:pt x="74269" y="133667"/>
                  </a:lnTo>
                  <a:lnTo>
                    <a:pt x="74269" y="96532"/>
                  </a:lnTo>
                  <a:lnTo>
                    <a:pt x="148526" y="96532"/>
                  </a:lnTo>
                  <a:lnTo>
                    <a:pt x="148526" y="133667"/>
                  </a:lnTo>
                  <a:lnTo>
                    <a:pt x="222783" y="668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0" name="object 1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3444887"/>
            <a:ext cx="91896" cy="91896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906268" y="2738783"/>
            <a:ext cx="1419225" cy="906144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 spc="-30" b="1">
                <a:solidFill>
                  <a:srgbClr val="FBD34D"/>
                </a:solidFill>
                <a:latin typeface="Tahoma"/>
                <a:cs typeface="Tahoma"/>
              </a:rPr>
              <a:t>Linguistics</a:t>
            </a:r>
            <a:endParaRPr sz="2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885"/>
              </a:spcBef>
            </a:pP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Theology</a:t>
            </a:r>
            <a:endParaRPr sz="2100">
              <a:latin typeface="Tahoma"/>
              <a:cs typeface="Tahoma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2222232" y="3336282"/>
            <a:ext cx="267335" cy="267335"/>
            <a:chOff x="2222232" y="3336282"/>
            <a:chExt cx="267335" cy="267335"/>
          </a:xfrm>
        </p:grpSpPr>
        <p:sp>
          <p:nvSpPr>
            <p:cNvPr id="13" name="object 13" descr=""/>
            <p:cNvSpPr/>
            <p:nvPr/>
          </p:nvSpPr>
          <p:spPr>
            <a:xfrm>
              <a:off x="2222232" y="3336282"/>
              <a:ext cx="267335" cy="267335"/>
            </a:xfrm>
            <a:custGeom>
              <a:avLst/>
              <a:gdLst/>
              <a:ahLst/>
              <a:cxnLst/>
              <a:rect l="l" t="t" r="r" b="b"/>
              <a:pathLst>
                <a:path w="267335" h="267335">
                  <a:moveTo>
                    <a:pt x="237632" y="267336"/>
                  </a:moveTo>
                  <a:lnTo>
                    <a:pt x="29704" y="267336"/>
                  </a:lnTo>
                  <a:lnTo>
                    <a:pt x="18142" y="265001"/>
                  </a:lnTo>
                  <a:lnTo>
                    <a:pt x="8700" y="258635"/>
                  </a:lnTo>
                  <a:lnTo>
                    <a:pt x="2334" y="249193"/>
                  </a:lnTo>
                  <a:lnTo>
                    <a:pt x="0" y="237632"/>
                  </a:lnTo>
                  <a:lnTo>
                    <a:pt x="0" y="29704"/>
                  </a:lnTo>
                  <a:lnTo>
                    <a:pt x="2334" y="18142"/>
                  </a:lnTo>
                  <a:lnTo>
                    <a:pt x="8700" y="8700"/>
                  </a:lnTo>
                  <a:lnTo>
                    <a:pt x="18142" y="2334"/>
                  </a:lnTo>
                  <a:lnTo>
                    <a:pt x="29704" y="0"/>
                  </a:lnTo>
                  <a:lnTo>
                    <a:pt x="237632" y="0"/>
                  </a:lnTo>
                  <a:lnTo>
                    <a:pt x="249193" y="2334"/>
                  </a:lnTo>
                  <a:lnTo>
                    <a:pt x="258635" y="8700"/>
                  </a:lnTo>
                  <a:lnTo>
                    <a:pt x="265001" y="18142"/>
                  </a:lnTo>
                  <a:lnTo>
                    <a:pt x="267336" y="29704"/>
                  </a:lnTo>
                  <a:lnTo>
                    <a:pt x="267336" y="237632"/>
                  </a:lnTo>
                  <a:lnTo>
                    <a:pt x="265001" y="249193"/>
                  </a:lnTo>
                  <a:lnTo>
                    <a:pt x="258635" y="258635"/>
                  </a:lnTo>
                  <a:lnTo>
                    <a:pt x="249193" y="265001"/>
                  </a:lnTo>
                  <a:lnTo>
                    <a:pt x="237632" y="267336"/>
                  </a:lnTo>
                  <a:close/>
                </a:path>
              </a:pathLst>
            </a:custGeom>
            <a:solidFill>
              <a:srgbClr val="3B87C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2244509" y="3403116"/>
              <a:ext cx="222885" cy="133985"/>
            </a:xfrm>
            <a:custGeom>
              <a:avLst/>
              <a:gdLst/>
              <a:ahLst/>
              <a:cxnLst/>
              <a:rect l="l" t="t" r="r" b="b"/>
              <a:pathLst>
                <a:path w="222885" h="133985">
                  <a:moveTo>
                    <a:pt x="222770" y="66840"/>
                  </a:moveTo>
                  <a:lnTo>
                    <a:pt x="148513" y="0"/>
                  </a:lnTo>
                  <a:lnTo>
                    <a:pt x="148513" y="37134"/>
                  </a:lnTo>
                  <a:lnTo>
                    <a:pt x="74256" y="37134"/>
                  </a:lnTo>
                  <a:lnTo>
                    <a:pt x="74256" y="0"/>
                  </a:lnTo>
                  <a:lnTo>
                    <a:pt x="0" y="66840"/>
                  </a:lnTo>
                  <a:lnTo>
                    <a:pt x="74256" y="133667"/>
                  </a:lnTo>
                  <a:lnTo>
                    <a:pt x="74256" y="96545"/>
                  </a:lnTo>
                  <a:lnTo>
                    <a:pt x="148513" y="96545"/>
                  </a:lnTo>
                  <a:lnTo>
                    <a:pt x="148513" y="133667"/>
                  </a:lnTo>
                  <a:lnTo>
                    <a:pt x="222770" y="6684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2555876" y="2738783"/>
            <a:ext cx="2310765" cy="906144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98755">
              <a:lnSpc>
                <a:spcPct val="100000"/>
              </a:lnSpc>
              <a:spcBef>
                <a:spcPts val="105"/>
              </a:spcBef>
            </a:pPr>
            <a:r>
              <a:rPr dirty="0" sz="2100" spc="95">
                <a:solidFill>
                  <a:srgbClr val="F7FAFB"/>
                </a:solidFill>
                <a:latin typeface="Tahoma"/>
                <a:cs typeface="Tahoma"/>
              </a:rPr>
              <a:t>Classical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Studies</a:t>
            </a:r>
            <a:endParaRPr sz="2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885"/>
              </a:spcBef>
            </a:pP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Philology</a:t>
            </a:r>
            <a:endParaRPr sz="2100">
              <a:latin typeface="Tahoma"/>
              <a:cs typeface="Tahoma"/>
            </a:endParaRPr>
          </a:p>
        </p:txBody>
      </p:sp>
      <p:pic>
        <p:nvPicPr>
          <p:cNvPr id="16" name="object 1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4004622"/>
            <a:ext cx="91896" cy="91896"/>
          </a:xfrm>
          <a:prstGeom prst="rect">
            <a:avLst/>
          </a:prstGeom>
        </p:spPr>
      </p:pic>
      <p:grpSp>
        <p:nvGrpSpPr>
          <p:cNvPr id="17" name="object 17" descr=""/>
          <p:cNvGrpSpPr/>
          <p:nvPr/>
        </p:nvGrpSpPr>
        <p:grpSpPr>
          <a:xfrm>
            <a:off x="3383474" y="3904371"/>
            <a:ext cx="267335" cy="267335"/>
            <a:chOff x="3383474" y="3904371"/>
            <a:chExt cx="267335" cy="267335"/>
          </a:xfrm>
        </p:grpSpPr>
        <p:sp>
          <p:nvSpPr>
            <p:cNvPr id="18" name="object 18" descr=""/>
            <p:cNvSpPr/>
            <p:nvPr/>
          </p:nvSpPr>
          <p:spPr>
            <a:xfrm>
              <a:off x="3383474" y="3904371"/>
              <a:ext cx="267335" cy="267335"/>
            </a:xfrm>
            <a:custGeom>
              <a:avLst/>
              <a:gdLst/>
              <a:ahLst/>
              <a:cxnLst/>
              <a:rect l="l" t="t" r="r" b="b"/>
              <a:pathLst>
                <a:path w="267335" h="267335">
                  <a:moveTo>
                    <a:pt x="237632" y="267336"/>
                  </a:moveTo>
                  <a:lnTo>
                    <a:pt x="29704" y="267336"/>
                  </a:lnTo>
                  <a:lnTo>
                    <a:pt x="18142" y="265001"/>
                  </a:lnTo>
                  <a:lnTo>
                    <a:pt x="8700" y="258635"/>
                  </a:lnTo>
                  <a:lnTo>
                    <a:pt x="2334" y="249193"/>
                  </a:lnTo>
                  <a:lnTo>
                    <a:pt x="0" y="237632"/>
                  </a:lnTo>
                  <a:lnTo>
                    <a:pt x="0" y="29704"/>
                  </a:lnTo>
                  <a:lnTo>
                    <a:pt x="2334" y="18142"/>
                  </a:lnTo>
                  <a:lnTo>
                    <a:pt x="8700" y="8700"/>
                  </a:lnTo>
                  <a:lnTo>
                    <a:pt x="18142" y="2334"/>
                  </a:lnTo>
                  <a:lnTo>
                    <a:pt x="29704" y="0"/>
                  </a:lnTo>
                  <a:lnTo>
                    <a:pt x="237632" y="0"/>
                  </a:lnTo>
                  <a:lnTo>
                    <a:pt x="249193" y="2334"/>
                  </a:lnTo>
                  <a:lnTo>
                    <a:pt x="258635" y="8700"/>
                  </a:lnTo>
                  <a:lnTo>
                    <a:pt x="265001" y="18142"/>
                  </a:lnTo>
                  <a:lnTo>
                    <a:pt x="267336" y="29704"/>
                  </a:lnTo>
                  <a:lnTo>
                    <a:pt x="267336" y="237632"/>
                  </a:lnTo>
                  <a:lnTo>
                    <a:pt x="265001" y="249193"/>
                  </a:lnTo>
                  <a:lnTo>
                    <a:pt x="258635" y="258635"/>
                  </a:lnTo>
                  <a:lnTo>
                    <a:pt x="249193" y="265001"/>
                  </a:lnTo>
                  <a:lnTo>
                    <a:pt x="237632" y="267336"/>
                  </a:lnTo>
                  <a:close/>
                </a:path>
              </a:pathLst>
            </a:custGeom>
            <a:solidFill>
              <a:srgbClr val="3B87C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3405746" y="3971213"/>
              <a:ext cx="222885" cy="133985"/>
            </a:xfrm>
            <a:custGeom>
              <a:avLst/>
              <a:gdLst/>
              <a:ahLst/>
              <a:cxnLst/>
              <a:rect l="l" t="t" r="r" b="b"/>
              <a:pathLst>
                <a:path w="222885" h="133985">
                  <a:moveTo>
                    <a:pt x="222783" y="66827"/>
                  </a:moveTo>
                  <a:lnTo>
                    <a:pt x="148513" y="0"/>
                  </a:lnTo>
                  <a:lnTo>
                    <a:pt x="148513" y="37134"/>
                  </a:lnTo>
                  <a:lnTo>
                    <a:pt x="74256" y="37134"/>
                  </a:lnTo>
                  <a:lnTo>
                    <a:pt x="74256" y="0"/>
                  </a:lnTo>
                  <a:lnTo>
                    <a:pt x="0" y="66827"/>
                  </a:lnTo>
                  <a:lnTo>
                    <a:pt x="74256" y="133667"/>
                  </a:lnTo>
                  <a:lnTo>
                    <a:pt x="74256" y="96532"/>
                  </a:lnTo>
                  <a:lnTo>
                    <a:pt x="148513" y="96532"/>
                  </a:lnTo>
                  <a:lnTo>
                    <a:pt x="148513" y="133667"/>
                  </a:lnTo>
                  <a:lnTo>
                    <a:pt x="222783" y="668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0" name="object 2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4572711"/>
            <a:ext cx="91896" cy="91896"/>
          </a:xfrm>
          <a:prstGeom prst="rect">
            <a:avLst/>
          </a:prstGeom>
        </p:spPr>
      </p:pic>
      <p:sp>
        <p:nvSpPr>
          <p:cNvPr id="21" name="object 21" descr=""/>
          <p:cNvSpPr txBox="1"/>
          <p:nvPr/>
        </p:nvSpPr>
        <p:spPr>
          <a:xfrm>
            <a:off x="906268" y="3858254"/>
            <a:ext cx="2543175" cy="9144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 spc="-20" b="1">
                <a:solidFill>
                  <a:srgbClr val="FBD34D"/>
                </a:solidFill>
                <a:latin typeface="Tahoma"/>
                <a:cs typeface="Tahoma"/>
              </a:rPr>
              <a:t>Computer</a:t>
            </a:r>
            <a:r>
              <a:rPr dirty="0" sz="2100" spc="-9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Science</a:t>
            </a:r>
            <a:endParaRPr sz="2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950"/>
              </a:spcBef>
            </a:pPr>
            <a:r>
              <a:rPr dirty="0" sz="2100" spc="-30" b="1">
                <a:solidFill>
                  <a:srgbClr val="FBD34D"/>
                </a:solidFill>
                <a:latin typeface="Tahoma"/>
                <a:cs typeface="Tahoma"/>
              </a:rPr>
              <a:t>Translation</a:t>
            </a:r>
            <a:r>
              <a:rPr dirty="0" sz="2100" spc="-9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5" b="1">
                <a:solidFill>
                  <a:srgbClr val="FBD34D"/>
                </a:solidFill>
                <a:latin typeface="Tahoma"/>
                <a:cs typeface="Tahoma"/>
              </a:rPr>
              <a:t>Studies</a:t>
            </a:r>
            <a:endParaRPr sz="2100">
              <a:latin typeface="Tahoma"/>
              <a:cs typeface="Tahoma"/>
            </a:endParaRPr>
          </a:p>
        </p:txBody>
      </p:sp>
      <p:grpSp>
        <p:nvGrpSpPr>
          <p:cNvPr id="22" name="object 22" descr=""/>
          <p:cNvGrpSpPr/>
          <p:nvPr/>
        </p:nvGrpSpPr>
        <p:grpSpPr>
          <a:xfrm>
            <a:off x="3533850" y="4464106"/>
            <a:ext cx="267335" cy="267335"/>
            <a:chOff x="3533850" y="4464106"/>
            <a:chExt cx="267335" cy="267335"/>
          </a:xfrm>
        </p:grpSpPr>
        <p:sp>
          <p:nvSpPr>
            <p:cNvPr id="23" name="object 23" descr=""/>
            <p:cNvSpPr/>
            <p:nvPr/>
          </p:nvSpPr>
          <p:spPr>
            <a:xfrm>
              <a:off x="3533850" y="4464106"/>
              <a:ext cx="267335" cy="267335"/>
            </a:xfrm>
            <a:custGeom>
              <a:avLst/>
              <a:gdLst/>
              <a:ahLst/>
              <a:cxnLst/>
              <a:rect l="l" t="t" r="r" b="b"/>
              <a:pathLst>
                <a:path w="267335" h="267335">
                  <a:moveTo>
                    <a:pt x="237632" y="267336"/>
                  </a:moveTo>
                  <a:lnTo>
                    <a:pt x="29704" y="267336"/>
                  </a:lnTo>
                  <a:lnTo>
                    <a:pt x="18142" y="265001"/>
                  </a:lnTo>
                  <a:lnTo>
                    <a:pt x="8700" y="258635"/>
                  </a:lnTo>
                  <a:lnTo>
                    <a:pt x="2334" y="249193"/>
                  </a:lnTo>
                  <a:lnTo>
                    <a:pt x="0" y="237632"/>
                  </a:lnTo>
                  <a:lnTo>
                    <a:pt x="0" y="29704"/>
                  </a:lnTo>
                  <a:lnTo>
                    <a:pt x="2334" y="18142"/>
                  </a:lnTo>
                  <a:lnTo>
                    <a:pt x="8700" y="8700"/>
                  </a:lnTo>
                  <a:lnTo>
                    <a:pt x="18142" y="2334"/>
                  </a:lnTo>
                  <a:lnTo>
                    <a:pt x="29704" y="0"/>
                  </a:lnTo>
                  <a:lnTo>
                    <a:pt x="237632" y="0"/>
                  </a:lnTo>
                  <a:lnTo>
                    <a:pt x="249193" y="2334"/>
                  </a:lnTo>
                  <a:lnTo>
                    <a:pt x="258635" y="8700"/>
                  </a:lnTo>
                  <a:lnTo>
                    <a:pt x="265001" y="18142"/>
                  </a:lnTo>
                  <a:lnTo>
                    <a:pt x="267336" y="29704"/>
                  </a:lnTo>
                  <a:lnTo>
                    <a:pt x="267336" y="237632"/>
                  </a:lnTo>
                  <a:lnTo>
                    <a:pt x="265001" y="249193"/>
                  </a:lnTo>
                  <a:lnTo>
                    <a:pt x="258635" y="258635"/>
                  </a:lnTo>
                  <a:lnTo>
                    <a:pt x="249193" y="265001"/>
                  </a:lnTo>
                  <a:lnTo>
                    <a:pt x="237632" y="267336"/>
                  </a:lnTo>
                  <a:close/>
                </a:path>
              </a:pathLst>
            </a:custGeom>
            <a:solidFill>
              <a:srgbClr val="3B87C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3556126" y="4530953"/>
              <a:ext cx="222885" cy="133985"/>
            </a:xfrm>
            <a:custGeom>
              <a:avLst/>
              <a:gdLst/>
              <a:ahLst/>
              <a:cxnLst/>
              <a:rect l="l" t="t" r="r" b="b"/>
              <a:pathLst>
                <a:path w="222885" h="133985">
                  <a:moveTo>
                    <a:pt x="222770" y="66827"/>
                  </a:moveTo>
                  <a:lnTo>
                    <a:pt x="148513" y="0"/>
                  </a:lnTo>
                  <a:lnTo>
                    <a:pt x="148513" y="37122"/>
                  </a:lnTo>
                  <a:lnTo>
                    <a:pt x="74256" y="37122"/>
                  </a:lnTo>
                  <a:lnTo>
                    <a:pt x="74256" y="0"/>
                  </a:lnTo>
                  <a:lnTo>
                    <a:pt x="0" y="66827"/>
                  </a:lnTo>
                  <a:lnTo>
                    <a:pt x="74256" y="133667"/>
                  </a:lnTo>
                  <a:lnTo>
                    <a:pt x="74256" y="96532"/>
                  </a:lnTo>
                  <a:lnTo>
                    <a:pt x="148513" y="96532"/>
                  </a:lnTo>
                  <a:lnTo>
                    <a:pt x="148513" y="133667"/>
                  </a:lnTo>
                  <a:lnTo>
                    <a:pt x="222770" y="668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 descr=""/>
          <p:cNvSpPr txBox="1"/>
          <p:nvPr/>
        </p:nvSpPr>
        <p:spPr>
          <a:xfrm>
            <a:off x="3716596" y="3858254"/>
            <a:ext cx="2818765" cy="9144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Humanities</a:t>
            </a:r>
            <a:endParaRPr sz="2100">
              <a:latin typeface="Tahoma"/>
              <a:cs typeface="Tahoma"/>
            </a:endParaRPr>
          </a:p>
          <a:p>
            <a:pPr marL="161290">
              <a:lnSpc>
                <a:spcPct val="100000"/>
              </a:lnSpc>
              <a:spcBef>
                <a:spcPts val="1950"/>
              </a:spcBef>
            </a:pPr>
            <a:r>
              <a:rPr dirty="0" sz="2100" spc="120">
                <a:solidFill>
                  <a:srgbClr val="F7FAFB"/>
                </a:solidFill>
                <a:latin typeface="Tahoma"/>
                <a:cs typeface="Tahoma"/>
              </a:rPr>
              <a:t>Historical</a:t>
            </a:r>
            <a:r>
              <a:rPr dirty="0" sz="2100" spc="-9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Linguistics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543560"/>
          </a:xfrm>
          <a:custGeom>
            <a:avLst/>
            <a:gdLst/>
            <a:ahLst/>
            <a:cxnLst/>
            <a:rect l="l" t="t" r="r" b="b"/>
            <a:pathLst>
              <a:path w="50165" h="543560">
                <a:moveTo>
                  <a:pt x="50125" y="543026"/>
                </a:moveTo>
                <a:lnTo>
                  <a:pt x="0" y="543026"/>
                </a:lnTo>
                <a:lnTo>
                  <a:pt x="0" y="0"/>
                </a:lnTo>
                <a:lnTo>
                  <a:pt x="50125" y="0"/>
                </a:lnTo>
                <a:lnTo>
                  <a:pt x="50125" y="543026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98575" y="1444752"/>
            <a:ext cx="5532120" cy="457200"/>
          </a:xfrm>
          <a:custGeom>
            <a:avLst/>
            <a:gdLst/>
            <a:ahLst/>
            <a:cxnLst/>
            <a:rect l="l" t="t" r="r" b="b"/>
            <a:pathLst>
              <a:path w="5532120" h="457200">
                <a:moveTo>
                  <a:pt x="5532119" y="457199"/>
                </a:moveTo>
                <a:lnTo>
                  <a:pt x="0" y="457199"/>
                </a:lnTo>
                <a:lnTo>
                  <a:pt x="0" y="0"/>
                </a:lnTo>
                <a:lnTo>
                  <a:pt x="5532119" y="0"/>
                </a:lnTo>
                <a:lnTo>
                  <a:pt x="5532119" y="45719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89308" y="1360331"/>
            <a:ext cx="5503545" cy="5067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30"/>
              <a:t>Biblical</a:t>
            </a:r>
            <a:r>
              <a:rPr dirty="0" spc="-125"/>
              <a:t> </a:t>
            </a:r>
            <a:r>
              <a:rPr dirty="0" spc="-110"/>
              <a:t>Studies</a:t>
            </a:r>
            <a:r>
              <a:rPr dirty="0" spc="-125"/>
              <a:t> </a:t>
            </a:r>
            <a:r>
              <a:rPr dirty="0" spc="-10"/>
              <a:t>Applications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2885151"/>
            <a:ext cx="91896" cy="91896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3444887"/>
            <a:ext cx="91896" cy="9189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4004622"/>
            <a:ext cx="91896" cy="9189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4572711"/>
            <a:ext cx="91896" cy="91896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572097" y="2020317"/>
            <a:ext cx="5535930" cy="27527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Supporting:</a:t>
            </a:r>
            <a:endParaRPr sz="2100">
              <a:latin typeface="Tahoma"/>
              <a:cs typeface="Tahoma"/>
            </a:endParaRPr>
          </a:p>
          <a:p>
            <a:pPr marL="346710" marR="5080">
              <a:lnSpc>
                <a:spcPct val="175800"/>
              </a:lnSpc>
              <a:spcBef>
                <a:spcPts val="1225"/>
              </a:spcBef>
            </a:pPr>
            <a:r>
              <a:rPr dirty="0" sz="2100" spc="-45" b="1">
                <a:solidFill>
                  <a:srgbClr val="FBD34D"/>
                </a:solidFill>
                <a:latin typeface="Tahoma"/>
                <a:cs typeface="Tahoma"/>
              </a:rPr>
              <a:t>Textual</a:t>
            </a:r>
            <a:r>
              <a:rPr dirty="0" sz="2100" spc="-9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criticism</a:t>
            </a:r>
            <a:r>
              <a:rPr dirty="0" sz="2100" spc="-8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(variant</a:t>
            </a:r>
            <a:r>
              <a:rPr dirty="0" sz="2100" spc="-13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40">
                <a:solidFill>
                  <a:srgbClr val="F7FAFB"/>
                </a:solidFill>
                <a:latin typeface="Tahoma"/>
                <a:cs typeface="Tahoma"/>
              </a:rPr>
              <a:t>readings) </a:t>
            </a:r>
            <a:r>
              <a:rPr dirty="0" sz="2100" spc="-30" b="1">
                <a:solidFill>
                  <a:srgbClr val="FBD34D"/>
                </a:solidFill>
                <a:latin typeface="Tahoma"/>
                <a:cs typeface="Tahoma"/>
              </a:rPr>
              <a:t>Translation</a:t>
            </a:r>
            <a:r>
              <a:rPr dirty="0" sz="2100" spc="-7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theory</a:t>
            </a:r>
            <a:r>
              <a:rPr dirty="0" sz="2100" spc="-7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(biblical</a:t>
            </a:r>
            <a:r>
              <a:rPr dirty="0" sz="2100" spc="-12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translation) </a:t>
            </a: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Historical</a:t>
            </a:r>
            <a:r>
              <a:rPr dirty="0" sz="2100" spc="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20" b="1">
                <a:solidFill>
                  <a:srgbClr val="FBD34D"/>
                </a:solidFill>
                <a:latin typeface="Tahoma"/>
                <a:cs typeface="Tahoma"/>
              </a:rPr>
              <a:t>context</a:t>
            </a:r>
            <a:r>
              <a:rPr dirty="0" sz="2100" spc="1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(language</a:t>
            </a:r>
            <a:r>
              <a:rPr dirty="0" sz="2100" spc="-4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of</a:t>
            </a:r>
            <a:r>
              <a:rPr dirty="0" sz="2100" spc="-3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the</a:t>
            </a:r>
            <a:r>
              <a:rPr dirty="0" sz="2100" spc="-4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10">
                <a:solidFill>
                  <a:srgbClr val="F7FAFB"/>
                </a:solidFill>
                <a:latin typeface="Tahoma"/>
                <a:cs typeface="Tahoma"/>
              </a:rPr>
              <a:t>time) </a:t>
            </a:r>
            <a:r>
              <a:rPr dirty="0" sz="2100" spc="-55" b="1">
                <a:solidFill>
                  <a:srgbClr val="FBD34D"/>
                </a:solidFill>
                <a:latin typeface="Tahoma"/>
                <a:cs typeface="Tahoma"/>
              </a:rPr>
              <a:t>Exegesis</a:t>
            </a:r>
            <a:r>
              <a:rPr dirty="0" sz="2100" spc="-6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(semantic</a:t>
            </a:r>
            <a:r>
              <a:rPr dirty="0" sz="2100" spc="-10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40">
                <a:solidFill>
                  <a:srgbClr val="F7FAFB"/>
                </a:solidFill>
                <a:latin typeface="Tahoma"/>
                <a:cs typeface="Tahoma"/>
              </a:rPr>
              <a:t>analysis)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543560"/>
          </a:xfrm>
          <a:custGeom>
            <a:avLst/>
            <a:gdLst/>
            <a:ahLst/>
            <a:cxnLst/>
            <a:rect l="l" t="t" r="r" b="b"/>
            <a:pathLst>
              <a:path w="50165" h="543560">
                <a:moveTo>
                  <a:pt x="50125" y="543026"/>
                </a:moveTo>
                <a:lnTo>
                  <a:pt x="0" y="543026"/>
                </a:lnTo>
                <a:lnTo>
                  <a:pt x="0" y="0"/>
                </a:lnTo>
                <a:lnTo>
                  <a:pt x="50125" y="0"/>
                </a:lnTo>
                <a:lnTo>
                  <a:pt x="50125" y="543026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80287" y="1444752"/>
            <a:ext cx="5547360" cy="457200"/>
          </a:xfrm>
          <a:custGeom>
            <a:avLst/>
            <a:gdLst/>
            <a:ahLst/>
            <a:cxnLst/>
            <a:rect l="l" t="t" r="r" b="b"/>
            <a:pathLst>
              <a:path w="5547360" h="457200">
                <a:moveTo>
                  <a:pt x="5547359" y="457199"/>
                </a:moveTo>
                <a:lnTo>
                  <a:pt x="0" y="457199"/>
                </a:lnTo>
                <a:lnTo>
                  <a:pt x="0" y="0"/>
                </a:lnTo>
                <a:lnTo>
                  <a:pt x="5547359" y="0"/>
                </a:lnTo>
                <a:lnTo>
                  <a:pt x="5547359" y="45719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10"/>
              <a:t>Case </a:t>
            </a:r>
            <a:r>
              <a:rPr dirty="0" spc="-120"/>
              <a:t>Study:</a:t>
            </a:r>
            <a:r>
              <a:rPr dirty="0" spc="-110"/>
              <a:t> Textual </a:t>
            </a:r>
            <a:r>
              <a:rPr dirty="0" spc="-25"/>
              <a:t>Variants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2885151"/>
            <a:ext cx="91896" cy="91896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3444887"/>
            <a:ext cx="91896" cy="9189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4004622"/>
            <a:ext cx="91896" cy="91896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572097" y="2020317"/>
            <a:ext cx="6501130" cy="29114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5"/>
              </a:spcBef>
            </a:pPr>
            <a:r>
              <a:rPr dirty="0" sz="2100" spc="-60" b="1">
                <a:solidFill>
                  <a:srgbClr val="FBD34D"/>
                </a:solidFill>
                <a:latin typeface="Tahoma"/>
                <a:cs typeface="Tahoma"/>
              </a:rPr>
              <a:t>John</a:t>
            </a:r>
            <a:r>
              <a:rPr dirty="0" sz="2100" spc="-9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85" b="1">
                <a:solidFill>
                  <a:srgbClr val="FBD34D"/>
                </a:solidFill>
                <a:latin typeface="Tahoma"/>
                <a:cs typeface="Tahoma"/>
              </a:rPr>
              <a:t>1:1</a:t>
            </a:r>
            <a:r>
              <a:rPr dirty="0" sz="2100" spc="-7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in</a:t>
            </a:r>
            <a:r>
              <a:rPr dirty="0" sz="2100" spc="-9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different</a:t>
            </a:r>
            <a:r>
              <a:rPr dirty="0" sz="2100" spc="-8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manuscripts:</a:t>
            </a:r>
            <a:endParaRPr sz="2100">
              <a:latin typeface="Tahoma"/>
              <a:cs typeface="Tahoma"/>
            </a:endParaRPr>
          </a:p>
          <a:p>
            <a:pPr algn="just" marL="346710" marR="3074670">
              <a:lnSpc>
                <a:spcPct val="174900"/>
              </a:lnSpc>
              <a:spcBef>
                <a:spcPts val="1250"/>
              </a:spcBef>
            </a:pPr>
            <a:r>
              <a:rPr dirty="0" sz="2100" spc="95">
                <a:solidFill>
                  <a:srgbClr val="F7FAFB"/>
                </a:solidFill>
                <a:latin typeface="Tahoma"/>
                <a:cs typeface="Tahoma"/>
              </a:rPr>
              <a:t>Variations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in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word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order </a:t>
            </a:r>
            <a:r>
              <a:rPr dirty="0" sz="2100" spc="120">
                <a:solidFill>
                  <a:srgbClr val="F7FAFB"/>
                </a:solidFill>
                <a:latin typeface="Tahoma"/>
                <a:cs typeface="Tahoma"/>
              </a:rPr>
              <a:t>Different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particle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20">
                <a:solidFill>
                  <a:srgbClr val="F7FAFB"/>
                </a:solidFill>
                <a:latin typeface="Tahoma"/>
                <a:cs typeface="Tahoma"/>
              </a:rPr>
              <a:t>usage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Valency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implications</a:t>
            </a:r>
            <a:endParaRPr sz="2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2100">
              <a:latin typeface="Tahoma"/>
              <a:cs typeface="Tahoma"/>
            </a:endParaRPr>
          </a:p>
          <a:p>
            <a:pPr algn="just" marL="12700">
              <a:lnSpc>
                <a:spcPct val="100000"/>
              </a:lnSpc>
            </a:pPr>
            <a:r>
              <a:rPr dirty="0" sz="2100" spc="-20" b="1">
                <a:solidFill>
                  <a:srgbClr val="FBD34D"/>
                </a:solidFill>
                <a:latin typeface="Tahoma"/>
                <a:cs typeface="Tahoma"/>
              </a:rPr>
              <a:t>Corpus</a:t>
            </a:r>
            <a:r>
              <a:rPr dirty="0" sz="2100" spc="-6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45" b="1">
                <a:solidFill>
                  <a:srgbClr val="FBD34D"/>
                </a:solidFill>
                <a:latin typeface="Tahoma"/>
                <a:cs typeface="Tahoma"/>
              </a:rPr>
              <a:t>enables:</a:t>
            </a:r>
            <a:r>
              <a:rPr dirty="0" sz="2100" spc="-5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Systematic</a:t>
            </a:r>
            <a:r>
              <a:rPr dirty="0" sz="2100" spc="-10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comparison</a:t>
            </a:r>
            <a:r>
              <a:rPr dirty="0" sz="2100" spc="-10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of</a:t>
            </a:r>
            <a:r>
              <a:rPr dirty="0" sz="2100" spc="-10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variants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543560"/>
          </a:xfrm>
          <a:custGeom>
            <a:avLst/>
            <a:gdLst/>
            <a:ahLst/>
            <a:cxnLst/>
            <a:rect l="l" t="t" r="r" b="b"/>
            <a:pathLst>
              <a:path w="50165" h="543560">
                <a:moveTo>
                  <a:pt x="50125" y="543026"/>
                </a:moveTo>
                <a:lnTo>
                  <a:pt x="0" y="543026"/>
                </a:lnTo>
                <a:lnTo>
                  <a:pt x="0" y="0"/>
                </a:lnTo>
                <a:lnTo>
                  <a:pt x="50125" y="0"/>
                </a:lnTo>
                <a:lnTo>
                  <a:pt x="50125" y="543026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80287" y="1444752"/>
            <a:ext cx="7550150" cy="463550"/>
          </a:xfrm>
          <a:custGeom>
            <a:avLst/>
            <a:gdLst/>
            <a:ahLst/>
            <a:cxnLst/>
            <a:rect l="l" t="t" r="r" b="b"/>
            <a:pathLst>
              <a:path w="7550150" h="463550">
                <a:moveTo>
                  <a:pt x="7549895" y="463295"/>
                </a:moveTo>
                <a:lnTo>
                  <a:pt x="0" y="463295"/>
                </a:lnTo>
                <a:lnTo>
                  <a:pt x="0" y="0"/>
                </a:lnTo>
                <a:lnTo>
                  <a:pt x="7549895" y="0"/>
                </a:lnTo>
                <a:lnTo>
                  <a:pt x="7549895" y="463295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89308" y="1360331"/>
            <a:ext cx="7493000" cy="5067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95"/>
              <a:t>Challenges</a:t>
            </a:r>
            <a:r>
              <a:rPr dirty="0" spc="-130"/>
              <a:t> </a:t>
            </a:r>
            <a:r>
              <a:rPr dirty="0" spc="-135"/>
              <a:t>and</a:t>
            </a:r>
            <a:r>
              <a:rPr dirty="0" spc="-125"/>
              <a:t> </a:t>
            </a:r>
            <a:r>
              <a:rPr dirty="0" spc="-105"/>
              <a:t>Solutions:</a:t>
            </a:r>
            <a:r>
              <a:rPr dirty="0" spc="-125"/>
              <a:t> </a:t>
            </a:r>
            <a:r>
              <a:rPr dirty="0" spc="-55"/>
              <a:t>Data</a:t>
            </a:r>
            <a:r>
              <a:rPr dirty="0" spc="-125"/>
              <a:t> </a:t>
            </a:r>
            <a:r>
              <a:rPr dirty="0" spc="-10"/>
              <a:t>Quality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3394761"/>
            <a:ext cx="91896" cy="91896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3954496"/>
            <a:ext cx="91896" cy="9189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4522586"/>
            <a:ext cx="91896" cy="9189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5082321"/>
            <a:ext cx="91896" cy="91896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572097" y="1831511"/>
            <a:ext cx="9144000" cy="5029835"/>
          </a:xfrm>
          <a:prstGeom prst="rect">
            <a:avLst/>
          </a:prstGeom>
        </p:spPr>
        <p:txBody>
          <a:bodyPr wrap="square" lIns="0" tIns="2019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90"/>
              </a:spcBef>
            </a:pPr>
            <a:r>
              <a:rPr dirty="0" sz="2100" spc="-40" b="1">
                <a:solidFill>
                  <a:srgbClr val="FBD34D"/>
                </a:solidFill>
                <a:latin typeface="Tahoma"/>
                <a:cs typeface="Tahoma"/>
              </a:rPr>
              <a:t>Challenge:</a:t>
            </a:r>
            <a:r>
              <a:rPr dirty="0" sz="2100" spc="-3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Inconsistent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source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materials</a:t>
            </a:r>
            <a:endParaRPr sz="2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495"/>
              </a:spcBef>
            </a:pP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Solution:</a:t>
            </a:r>
            <a:endParaRPr sz="2100">
              <a:latin typeface="Tahoma"/>
              <a:cs typeface="Tahoma"/>
            </a:endParaRPr>
          </a:p>
          <a:p>
            <a:pPr marL="346710" marR="1488440">
              <a:lnSpc>
                <a:spcPct val="174900"/>
              </a:lnSpc>
              <a:spcBef>
                <a:spcPts val="1250"/>
              </a:spcBef>
            </a:pP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Rigorous</a:t>
            </a:r>
            <a:r>
              <a:rPr dirty="0" sz="2100" spc="-10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quality</a:t>
            </a:r>
            <a:r>
              <a:rPr dirty="0" sz="2100" spc="-6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control</a:t>
            </a:r>
            <a:r>
              <a:rPr dirty="0" sz="2100" spc="-6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(multi-</a:t>
            </a:r>
            <a:r>
              <a:rPr dirty="0" sz="2100" spc="50">
                <a:solidFill>
                  <a:srgbClr val="F7FAFB"/>
                </a:solidFill>
                <a:latin typeface="Tahoma"/>
                <a:cs typeface="Tahoma"/>
              </a:rPr>
              <a:t>stage</a:t>
            </a:r>
            <a:r>
              <a:rPr dirty="0" sz="2100" spc="-10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verification) </a:t>
            </a:r>
            <a:r>
              <a:rPr dirty="0" sz="2100" spc="140">
                <a:solidFill>
                  <a:srgbClr val="F7FAFB"/>
                </a:solidFill>
                <a:latin typeface="Tahoma"/>
                <a:cs typeface="Tahoma"/>
              </a:rPr>
              <a:t>Multiple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verification</a:t>
            </a:r>
            <a:r>
              <a:rPr dirty="0" sz="2100" spc="-4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70" b="1">
                <a:solidFill>
                  <a:srgbClr val="FBD34D"/>
                </a:solidFill>
                <a:latin typeface="Tahoma"/>
                <a:cs typeface="Tahoma"/>
              </a:rPr>
              <a:t>stages</a:t>
            </a:r>
            <a:r>
              <a:rPr dirty="0" sz="2100" spc="-4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60">
                <a:solidFill>
                  <a:srgbClr val="F7FAFB"/>
                </a:solidFill>
                <a:latin typeface="Tahoma"/>
                <a:cs typeface="Tahoma"/>
              </a:rPr>
              <a:t>(automated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305">
                <a:solidFill>
                  <a:srgbClr val="F7FAFB"/>
                </a:solidFill>
                <a:latin typeface="Tahoma"/>
                <a:cs typeface="Tahoma"/>
              </a:rPr>
              <a:t>+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manual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35">
                <a:solidFill>
                  <a:srgbClr val="F7FAFB"/>
                </a:solidFill>
                <a:latin typeface="Tahoma"/>
                <a:cs typeface="Tahoma"/>
              </a:rPr>
              <a:t>checks)</a:t>
            </a:r>
            <a:endParaRPr sz="2100">
              <a:latin typeface="Tahoma"/>
              <a:cs typeface="Tahoma"/>
            </a:endParaRPr>
          </a:p>
          <a:p>
            <a:pPr marL="346710">
              <a:lnSpc>
                <a:spcPct val="100000"/>
              </a:lnSpc>
              <a:spcBef>
                <a:spcPts val="1950"/>
              </a:spcBef>
            </a:pP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Expert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philological</a:t>
            </a:r>
            <a:r>
              <a:rPr dirty="0" sz="2100" spc="-3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20" b="1">
                <a:solidFill>
                  <a:srgbClr val="FBD34D"/>
                </a:solidFill>
                <a:latin typeface="Tahoma"/>
                <a:cs typeface="Tahoma"/>
              </a:rPr>
              <a:t>review</a:t>
            </a:r>
            <a:r>
              <a:rPr dirty="0" sz="2100" spc="-3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(trained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classicists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and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0">
                <a:solidFill>
                  <a:srgbClr val="F7FAFB"/>
                </a:solidFill>
                <a:latin typeface="Tahoma"/>
                <a:cs typeface="Tahoma"/>
              </a:rPr>
              <a:t>linguists)</a:t>
            </a:r>
            <a:endParaRPr sz="2100">
              <a:latin typeface="Tahoma"/>
              <a:cs typeface="Tahoma"/>
            </a:endParaRPr>
          </a:p>
          <a:p>
            <a:pPr marL="346710">
              <a:lnSpc>
                <a:spcPct val="100000"/>
              </a:lnSpc>
              <a:spcBef>
                <a:spcPts val="1890"/>
              </a:spcBef>
            </a:pPr>
            <a:r>
              <a:rPr dirty="0" sz="2100" spc="-30" b="1">
                <a:solidFill>
                  <a:srgbClr val="FBD34D"/>
                </a:solidFill>
                <a:latin typeface="Tahoma"/>
                <a:cs typeface="Tahoma"/>
              </a:rPr>
              <a:t>Documented</a:t>
            </a:r>
            <a:r>
              <a:rPr dirty="0" sz="2100" spc="-4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110">
                <a:solidFill>
                  <a:srgbClr val="F7FAFB"/>
                </a:solidFill>
                <a:latin typeface="Tahoma"/>
                <a:cs typeface="Tahoma"/>
              </a:rPr>
              <a:t>editorial</a:t>
            </a:r>
            <a:r>
              <a:rPr dirty="0" sz="2100" spc="-9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decisions</a:t>
            </a:r>
            <a:r>
              <a:rPr dirty="0" sz="2100" spc="-9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(transparent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methodology)</a:t>
            </a:r>
            <a:endParaRPr sz="2100">
              <a:latin typeface="Tahoma"/>
              <a:cs typeface="Tahoma"/>
            </a:endParaRPr>
          </a:p>
          <a:p>
            <a:pPr marL="12700" marR="5080">
              <a:lnSpc>
                <a:spcPct val="134400"/>
              </a:lnSpc>
              <a:spcBef>
                <a:spcPts val="2270"/>
              </a:spcBef>
            </a:pPr>
            <a:r>
              <a:rPr dirty="0" sz="2100" spc="120">
                <a:solidFill>
                  <a:srgbClr val="F7FAFB"/>
                </a:solidFill>
                <a:latin typeface="Tahoma"/>
                <a:cs typeface="Tahoma"/>
              </a:rPr>
              <a:t>Historical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texts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present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numerous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5">
                <a:solidFill>
                  <a:srgbClr val="F7FAFB"/>
                </a:solidFill>
                <a:latin typeface="Tahoma"/>
                <a:cs typeface="Tahoma"/>
              </a:rPr>
              <a:t>quality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45">
                <a:solidFill>
                  <a:srgbClr val="F7FAFB"/>
                </a:solidFill>
                <a:latin typeface="Tahoma"/>
                <a:cs typeface="Tahoma"/>
              </a:rPr>
              <a:t>challenges: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variant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readings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40">
                <a:solidFill>
                  <a:srgbClr val="F7FAFB"/>
                </a:solidFill>
                <a:latin typeface="Tahoma"/>
                <a:cs typeface="Tahoma"/>
              </a:rPr>
              <a:t>in </a:t>
            </a:r>
            <a:r>
              <a:rPr dirty="0" sz="2100" spc="60">
                <a:solidFill>
                  <a:srgbClr val="F7FAFB"/>
                </a:solidFill>
                <a:latin typeface="Tahoma"/>
                <a:cs typeface="Tahoma"/>
              </a:rPr>
              <a:t>manuscripts,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10">
                <a:solidFill>
                  <a:srgbClr val="F7FAFB"/>
                </a:solidFill>
                <a:latin typeface="Tahoma"/>
                <a:cs typeface="Tahoma"/>
              </a:rPr>
              <a:t>editorial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choices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in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10">
                <a:solidFill>
                  <a:srgbClr val="F7FAFB"/>
                </a:solidFill>
                <a:latin typeface="Tahoma"/>
                <a:cs typeface="Tahoma"/>
              </a:rPr>
              <a:t>critical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editions,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85">
                <a:solidFill>
                  <a:srgbClr val="F7FAFB"/>
                </a:solidFill>
                <a:latin typeface="Tahoma"/>
                <a:cs typeface="Tahoma"/>
              </a:rPr>
              <a:t>OCR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5">
                <a:solidFill>
                  <a:srgbClr val="F7FAFB"/>
                </a:solidFill>
                <a:latin typeface="Tahoma"/>
                <a:cs typeface="Tahoma"/>
              </a:rPr>
              <a:t>errors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40">
                <a:solidFill>
                  <a:srgbClr val="F7FAFB"/>
                </a:solidFill>
                <a:latin typeface="Tahoma"/>
                <a:cs typeface="Tahoma"/>
              </a:rPr>
              <a:t>in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digitization.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35">
                <a:solidFill>
                  <a:srgbClr val="F7FAFB"/>
                </a:solidFill>
                <a:latin typeface="Tahoma"/>
                <a:cs typeface="Tahoma"/>
              </a:rPr>
              <a:t>We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address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these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through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systematic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5">
                <a:solidFill>
                  <a:srgbClr val="F7FAFB"/>
                </a:solidFill>
                <a:latin typeface="Tahoma"/>
                <a:cs typeface="Tahoma"/>
              </a:rPr>
              <a:t>quality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control: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every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1086485"/>
          </a:xfrm>
          <a:custGeom>
            <a:avLst/>
            <a:gdLst/>
            <a:ahLst/>
            <a:cxnLst/>
            <a:rect l="l" t="t" r="r" b="b"/>
            <a:pathLst>
              <a:path w="50165" h="1086485">
                <a:moveTo>
                  <a:pt x="50125" y="1086053"/>
                </a:moveTo>
                <a:lnTo>
                  <a:pt x="0" y="1086053"/>
                </a:lnTo>
                <a:lnTo>
                  <a:pt x="0" y="0"/>
                </a:lnTo>
                <a:lnTo>
                  <a:pt x="50125" y="0"/>
                </a:lnTo>
                <a:lnTo>
                  <a:pt x="50125" y="1086053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83336" y="1444752"/>
            <a:ext cx="8915400" cy="463550"/>
          </a:xfrm>
          <a:custGeom>
            <a:avLst/>
            <a:gdLst/>
            <a:ahLst/>
            <a:cxnLst/>
            <a:rect l="l" t="t" r="r" b="b"/>
            <a:pathLst>
              <a:path w="8915400" h="463550">
                <a:moveTo>
                  <a:pt x="8915399" y="463295"/>
                </a:moveTo>
                <a:lnTo>
                  <a:pt x="0" y="463295"/>
                </a:lnTo>
                <a:lnTo>
                  <a:pt x="0" y="0"/>
                </a:lnTo>
                <a:lnTo>
                  <a:pt x="8915399" y="0"/>
                </a:lnTo>
                <a:lnTo>
                  <a:pt x="8915399" y="463295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75"/>
              <a:t>Question:</a:t>
            </a:r>
            <a:r>
              <a:rPr dirty="0" spc="-155"/>
              <a:t> </a:t>
            </a:r>
            <a:r>
              <a:rPr dirty="0"/>
              <a:t>What</a:t>
            </a:r>
            <a:r>
              <a:rPr dirty="0" spc="-150"/>
              <a:t> </a:t>
            </a:r>
            <a:r>
              <a:rPr dirty="0" spc="-60"/>
              <a:t>technical</a:t>
            </a:r>
            <a:r>
              <a:rPr dirty="0" spc="-150"/>
              <a:t> </a:t>
            </a:r>
            <a:r>
              <a:rPr dirty="0" spc="-105"/>
              <a:t>challenges</a:t>
            </a:r>
            <a:r>
              <a:rPr dirty="0" spc="-150"/>
              <a:t> </a:t>
            </a:r>
            <a:r>
              <a:rPr dirty="0" spc="-80"/>
              <a:t>exist</a:t>
            </a:r>
            <a:r>
              <a:rPr dirty="0" spc="-150"/>
              <a:t> </a:t>
            </a:r>
            <a:r>
              <a:rPr dirty="0" spc="-25"/>
              <a:t>and</a:t>
            </a:r>
          </a:p>
        </p:txBody>
      </p:sp>
      <p:sp>
        <p:nvSpPr>
          <p:cNvPr id="5" name="object 5" descr=""/>
          <p:cNvSpPr/>
          <p:nvPr/>
        </p:nvSpPr>
        <p:spPr>
          <a:xfrm>
            <a:off x="798575" y="1987295"/>
            <a:ext cx="4072254" cy="457200"/>
          </a:xfrm>
          <a:custGeom>
            <a:avLst/>
            <a:gdLst/>
            <a:ahLst/>
            <a:cxnLst/>
            <a:rect l="l" t="t" r="r" b="b"/>
            <a:pathLst>
              <a:path w="4072254" h="457200">
                <a:moveTo>
                  <a:pt x="4072127" y="457199"/>
                </a:moveTo>
                <a:lnTo>
                  <a:pt x="0" y="457199"/>
                </a:lnTo>
                <a:lnTo>
                  <a:pt x="0" y="0"/>
                </a:lnTo>
                <a:lnTo>
                  <a:pt x="4072127" y="0"/>
                </a:lnTo>
                <a:lnTo>
                  <a:pt x="4072127" y="45719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789308" y="1903358"/>
            <a:ext cx="4036695" cy="5067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150" spc="-150" b="1">
                <a:solidFill>
                  <a:srgbClr val="60A5FA"/>
                </a:solidFill>
                <a:latin typeface="Tahoma"/>
                <a:cs typeface="Tahoma"/>
              </a:rPr>
              <a:t>how</a:t>
            </a:r>
            <a:r>
              <a:rPr dirty="0" sz="3150" spc="-145" b="1">
                <a:solidFill>
                  <a:srgbClr val="60A5FA"/>
                </a:solidFill>
                <a:latin typeface="Tahoma"/>
                <a:cs typeface="Tahoma"/>
              </a:rPr>
              <a:t> </a:t>
            </a:r>
            <a:r>
              <a:rPr dirty="0" sz="3150" spc="-90" b="1">
                <a:solidFill>
                  <a:srgbClr val="60A5FA"/>
                </a:solidFill>
                <a:latin typeface="Tahoma"/>
                <a:cs typeface="Tahoma"/>
              </a:rPr>
              <a:t>are</a:t>
            </a:r>
            <a:r>
              <a:rPr dirty="0" sz="3150" spc="-140" b="1">
                <a:solidFill>
                  <a:srgbClr val="60A5FA"/>
                </a:solidFill>
                <a:latin typeface="Tahoma"/>
                <a:cs typeface="Tahoma"/>
              </a:rPr>
              <a:t> </a:t>
            </a:r>
            <a:r>
              <a:rPr dirty="0" sz="3150" spc="-80" b="1">
                <a:solidFill>
                  <a:srgbClr val="60A5FA"/>
                </a:solidFill>
                <a:latin typeface="Tahoma"/>
                <a:cs typeface="Tahoma"/>
              </a:rPr>
              <a:t>they</a:t>
            </a:r>
            <a:r>
              <a:rPr dirty="0" sz="3150" spc="-145" b="1">
                <a:solidFill>
                  <a:srgbClr val="60A5FA"/>
                </a:solidFill>
                <a:latin typeface="Tahoma"/>
                <a:cs typeface="Tahoma"/>
              </a:rPr>
              <a:t> </a:t>
            </a:r>
            <a:r>
              <a:rPr dirty="0" sz="3150" spc="-90" b="1">
                <a:solidFill>
                  <a:srgbClr val="60A5FA"/>
                </a:solidFill>
                <a:latin typeface="Tahoma"/>
                <a:cs typeface="Tahoma"/>
              </a:rPr>
              <a:t>solved?</a:t>
            </a:r>
            <a:endParaRPr sz="3150">
              <a:latin typeface="Tahoma"/>
              <a:cs typeface="Tahoma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3428178"/>
            <a:ext cx="91896" cy="9189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3987913"/>
            <a:ext cx="91896" cy="91896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4547649"/>
            <a:ext cx="91896" cy="91896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572097" y="2563344"/>
            <a:ext cx="4743450" cy="21844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5"/>
              </a:spcBef>
            </a:pPr>
            <a:r>
              <a:rPr dirty="0" sz="2100" spc="-40" b="1">
                <a:solidFill>
                  <a:srgbClr val="FBD34D"/>
                </a:solidFill>
                <a:latin typeface="Tahoma"/>
                <a:cs typeface="Tahoma"/>
              </a:rPr>
              <a:t>Technical</a:t>
            </a:r>
            <a:r>
              <a:rPr dirty="0" sz="2100" spc="-9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issues:</a:t>
            </a:r>
            <a:endParaRPr sz="2100">
              <a:latin typeface="Tahoma"/>
              <a:cs typeface="Tahoma"/>
            </a:endParaRPr>
          </a:p>
          <a:p>
            <a:pPr algn="just" marL="346710" marR="5080">
              <a:lnSpc>
                <a:spcPct val="174900"/>
              </a:lnSpc>
              <a:spcBef>
                <a:spcPts val="1250"/>
              </a:spcBef>
            </a:pPr>
            <a:r>
              <a:rPr dirty="0" sz="2100" spc="130">
                <a:solidFill>
                  <a:srgbClr val="F7FAFB"/>
                </a:solidFill>
                <a:latin typeface="Tahoma"/>
                <a:cs typeface="Tahoma"/>
              </a:rPr>
              <a:t>How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to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process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ancient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10">
                <a:solidFill>
                  <a:srgbClr val="F7FAFB"/>
                </a:solidFill>
                <a:latin typeface="Tahoma"/>
                <a:cs typeface="Tahoma"/>
              </a:rPr>
              <a:t>languages? </a:t>
            </a:r>
            <a:r>
              <a:rPr dirty="0" sz="2100" spc="130">
                <a:solidFill>
                  <a:srgbClr val="F7FAFB"/>
                </a:solidFill>
                <a:latin typeface="Tahoma"/>
                <a:cs typeface="Tahoma"/>
              </a:rPr>
              <a:t>How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to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ensure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annotation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0">
                <a:solidFill>
                  <a:srgbClr val="F7FAFB"/>
                </a:solidFill>
                <a:latin typeface="Tahoma"/>
                <a:cs typeface="Tahoma"/>
              </a:rPr>
              <a:t>quality? </a:t>
            </a:r>
            <a:r>
              <a:rPr dirty="0" sz="2100" spc="130">
                <a:solidFill>
                  <a:srgbClr val="F7FAFB"/>
                </a:solidFill>
                <a:latin typeface="Tahoma"/>
                <a:cs typeface="Tahoma"/>
              </a:rPr>
              <a:t>How</a:t>
            </a:r>
            <a:r>
              <a:rPr dirty="0" sz="2100" spc="-5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to</a:t>
            </a:r>
            <a:r>
              <a:rPr dirty="0" sz="2100" spc="-5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iterate</a:t>
            </a:r>
            <a:r>
              <a:rPr dirty="0" sz="2100" spc="-5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and</a:t>
            </a:r>
            <a:r>
              <a:rPr dirty="0" sz="2100" spc="-5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45">
                <a:solidFill>
                  <a:srgbClr val="F7FAFB"/>
                </a:solidFill>
                <a:latin typeface="Tahoma"/>
                <a:cs typeface="Tahoma"/>
              </a:rPr>
              <a:t>improve?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543560"/>
          </a:xfrm>
          <a:custGeom>
            <a:avLst/>
            <a:gdLst/>
            <a:ahLst/>
            <a:cxnLst/>
            <a:rect l="l" t="t" r="r" b="b"/>
            <a:pathLst>
              <a:path w="50165" h="543560">
                <a:moveTo>
                  <a:pt x="50125" y="543026"/>
                </a:moveTo>
                <a:lnTo>
                  <a:pt x="0" y="543026"/>
                </a:lnTo>
                <a:lnTo>
                  <a:pt x="0" y="0"/>
                </a:lnTo>
                <a:lnTo>
                  <a:pt x="50125" y="0"/>
                </a:lnTo>
                <a:lnTo>
                  <a:pt x="50125" y="543026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80287" y="1444752"/>
            <a:ext cx="6864350" cy="463550"/>
          </a:xfrm>
          <a:custGeom>
            <a:avLst/>
            <a:gdLst/>
            <a:ahLst/>
            <a:cxnLst/>
            <a:rect l="l" t="t" r="r" b="b"/>
            <a:pathLst>
              <a:path w="6864350" h="463550">
                <a:moveTo>
                  <a:pt x="6864095" y="463295"/>
                </a:moveTo>
                <a:lnTo>
                  <a:pt x="0" y="463295"/>
                </a:lnTo>
                <a:lnTo>
                  <a:pt x="0" y="0"/>
                </a:lnTo>
                <a:lnTo>
                  <a:pt x="6864095" y="0"/>
                </a:lnTo>
                <a:lnTo>
                  <a:pt x="6864095" y="463295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89308" y="1360331"/>
            <a:ext cx="6831965" cy="5067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95"/>
              <a:t>Challenges</a:t>
            </a:r>
            <a:r>
              <a:rPr dirty="0" spc="-114"/>
              <a:t> </a:t>
            </a:r>
            <a:r>
              <a:rPr dirty="0" spc="-135"/>
              <a:t>and</a:t>
            </a:r>
            <a:r>
              <a:rPr dirty="0" spc="-110"/>
              <a:t> </a:t>
            </a:r>
            <a:r>
              <a:rPr dirty="0" spc="-105"/>
              <a:t>Solutions:</a:t>
            </a:r>
            <a:r>
              <a:rPr dirty="0" spc="-110"/>
              <a:t> </a:t>
            </a:r>
            <a:r>
              <a:rPr dirty="0" spc="-50"/>
              <a:t>Technical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3394761"/>
            <a:ext cx="91896" cy="91896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3954496"/>
            <a:ext cx="91896" cy="9189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4522586"/>
            <a:ext cx="91896" cy="9189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5082321"/>
            <a:ext cx="91896" cy="91896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572097" y="1831511"/>
            <a:ext cx="7284084" cy="3451225"/>
          </a:xfrm>
          <a:prstGeom prst="rect">
            <a:avLst/>
          </a:prstGeom>
        </p:spPr>
        <p:txBody>
          <a:bodyPr wrap="square" lIns="0" tIns="2019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90"/>
              </a:spcBef>
            </a:pPr>
            <a:r>
              <a:rPr dirty="0" sz="2100" spc="-40" b="1">
                <a:solidFill>
                  <a:srgbClr val="FBD34D"/>
                </a:solidFill>
                <a:latin typeface="Tahoma"/>
                <a:cs typeface="Tahoma"/>
              </a:rPr>
              <a:t>Challenge:</a:t>
            </a:r>
            <a:r>
              <a:rPr dirty="0" sz="2100" spc="6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Processing</a:t>
            </a:r>
            <a:r>
              <a:rPr dirty="0" sz="2100" spc="1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ancient</a:t>
            </a:r>
            <a:r>
              <a:rPr dirty="0" sz="2100" spc="1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languages</a:t>
            </a:r>
            <a:r>
              <a:rPr dirty="0" sz="2100" spc="1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computationally</a:t>
            </a:r>
            <a:endParaRPr sz="2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495"/>
              </a:spcBef>
            </a:pP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Solution:</a:t>
            </a:r>
            <a:endParaRPr sz="2100">
              <a:latin typeface="Tahoma"/>
              <a:cs typeface="Tahoma"/>
            </a:endParaRPr>
          </a:p>
          <a:p>
            <a:pPr marL="346710" marR="1181100">
              <a:lnSpc>
                <a:spcPct val="176200"/>
              </a:lnSpc>
              <a:spcBef>
                <a:spcPts val="1215"/>
              </a:spcBef>
            </a:pP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Custom</a:t>
            </a:r>
            <a:r>
              <a:rPr dirty="0" sz="2100" spc="-10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NLP</a:t>
            </a:r>
            <a:r>
              <a:rPr dirty="0" sz="2100" spc="-6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tools</a:t>
            </a:r>
            <a:r>
              <a:rPr dirty="0" sz="2100" spc="-5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for</a:t>
            </a:r>
            <a:r>
              <a:rPr dirty="0" sz="2100" spc="-10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historical</a:t>
            </a:r>
            <a:r>
              <a:rPr dirty="0" sz="2100" spc="-10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10">
                <a:solidFill>
                  <a:srgbClr val="F7FAFB"/>
                </a:solidFill>
                <a:latin typeface="Tahoma"/>
                <a:cs typeface="Tahoma"/>
              </a:rPr>
              <a:t>languages </a:t>
            </a: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Manual</a:t>
            </a:r>
            <a:r>
              <a:rPr dirty="0" sz="2100" spc="-8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correction</a:t>
            </a:r>
            <a:r>
              <a:rPr dirty="0" sz="2100" spc="-8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of</a:t>
            </a:r>
            <a:r>
              <a:rPr dirty="0" sz="2100" spc="-13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automated</a:t>
            </a:r>
            <a:r>
              <a:rPr dirty="0" sz="2100" spc="-12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annotations </a:t>
            </a:r>
            <a:r>
              <a:rPr dirty="0" sz="2100" spc="-25" b="1">
                <a:solidFill>
                  <a:srgbClr val="FBD34D"/>
                </a:solidFill>
                <a:latin typeface="Tahoma"/>
                <a:cs typeface="Tahoma"/>
              </a:rPr>
              <a:t>Community</a:t>
            </a:r>
            <a:r>
              <a:rPr dirty="0" sz="2100" spc="-9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20" b="1">
                <a:solidFill>
                  <a:srgbClr val="FBD34D"/>
                </a:solidFill>
                <a:latin typeface="Tahoma"/>
                <a:cs typeface="Tahoma"/>
              </a:rPr>
              <a:t>feedback</a:t>
            </a:r>
            <a:r>
              <a:rPr dirty="0" sz="2100" spc="-9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45">
                <a:solidFill>
                  <a:srgbClr val="F7FAFB"/>
                </a:solidFill>
                <a:latin typeface="Tahoma"/>
                <a:cs typeface="Tahoma"/>
              </a:rPr>
              <a:t>mechanisms</a:t>
            </a:r>
            <a:endParaRPr sz="2100">
              <a:latin typeface="Tahoma"/>
              <a:cs typeface="Tahoma"/>
            </a:endParaRPr>
          </a:p>
          <a:p>
            <a:pPr marL="346710">
              <a:lnSpc>
                <a:spcPct val="100000"/>
              </a:lnSpc>
              <a:spcBef>
                <a:spcPts val="1885"/>
              </a:spcBef>
            </a:pPr>
            <a:r>
              <a:rPr dirty="0" sz="2100" spc="-30" b="1">
                <a:solidFill>
                  <a:srgbClr val="FBD34D"/>
                </a:solidFill>
                <a:latin typeface="Tahoma"/>
                <a:cs typeface="Tahoma"/>
              </a:rPr>
              <a:t>Iterative</a:t>
            </a:r>
            <a:r>
              <a:rPr dirty="0" sz="2100" spc="-11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improvement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543560"/>
          </a:xfrm>
          <a:custGeom>
            <a:avLst/>
            <a:gdLst/>
            <a:ahLst/>
            <a:cxnLst/>
            <a:rect l="l" t="t" r="r" b="b"/>
            <a:pathLst>
              <a:path w="50165" h="543560">
                <a:moveTo>
                  <a:pt x="50125" y="543026"/>
                </a:moveTo>
                <a:lnTo>
                  <a:pt x="0" y="543026"/>
                </a:lnTo>
                <a:lnTo>
                  <a:pt x="0" y="0"/>
                </a:lnTo>
                <a:lnTo>
                  <a:pt x="50125" y="0"/>
                </a:lnTo>
                <a:lnTo>
                  <a:pt x="50125" y="543026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80287" y="1444752"/>
            <a:ext cx="6215380" cy="463550"/>
          </a:xfrm>
          <a:custGeom>
            <a:avLst/>
            <a:gdLst/>
            <a:ahLst/>
            <a:cxnLst/>
            <a:rect l="l" t="t" r="r" b="b"/>
            <a:pathLst>
              <a:path w="6215380" h="463550">
                <a:moveTo>
                  <a:pt x="6214871" y="463295"/>
                </a:moveTo>
                <a:lnTo>
                  <a:pt x="0" y="463295"/>
                </a:lnTo>
                <a:lnTo>
                  <a:pt x="0" y="0"/>
                </a:lnTo>
                <a:lnTo>
                  <a:pt x="6214871" y="0"/>
                </a:lnTo>
                <a:lnTo>
                  <a:pt x="6214871" y="463295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89308" y="1360331"/>
            <a:ext cx="6166485" cy="5067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95"/>
              <a:t>Challenges</a:t>
            </a:r>
            <a:r>
              <a:rPr dirty="0" spc="-114"/>
              <a:t> </a:t>
            </a:r>
            <a:r>
              <a:rPr dirty="0" spc="-135"/>
              <a:t>and</a:t>
            </a:r>
            <a:r>
              <a:rPr dirty="0" spc="-110"/>
              <a:t> </a:t>
            </a:r>
            <a:r>
              <a:rPr dirty="0" spc="-105"/>
              <a:t>Solutions:</a:t>
            </a:r>
            <a:r>
              <a:rPr dirty="0" spc="-110"/>
              <a:t> </a:t>
            </a:r>
            <a:r>
              <a:rPr dirty="0" spc="-45"/>
              <a:t>Scope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3394761"/>
            <a:ext cx="91896" cy="91896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3954496"/>
            <a:ext cx="91896" cy="9189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4522586"/>
            <a:ext cx="91896" cy="9189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5082321"/>
            <a:ext cx="91896" cy="91896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572097" y="1831511"/>
            <a:ext cx="6286500" cy="3451225"/>
          </a:xfrm>
          <a:prstGeom prst="rect">
            <a:avLst/>
          </a:prstGeom>
        </p:spPr>
        <p:txBody>
          <a:bodyPr wrap="square" lIns="0" tIns="2019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90"/>
              </a:spcBef>
            </a:pPr>
            <a:r>
              <a:rPr dirty="0" sz="2100" spc="-40" b="1">
                <a:solidFill>
                  <a:srgbClr val="FBD34D"/>
                </a:solidFill>
                <a:latin typeface="Tahoma"/>
                <a:cs typeface="Tahoma"/>
              </a:rPr>
              <a:t>Challenge: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Managing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20">
                <a:solidFill>
                  <a:srgbClr val="F7FAFB"/>
                </a:solidFill>
                <a:latin typeface="Tahoma"/>
                <a:cs typeface="Tahoma"/>
              </a:rPr>
              <a:t>338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texts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across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3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millennia</a:t>
            </a:r>
            <a:endParaRPr sz="2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495"/>
              </a:spcBef>
            </a:pP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Solution:</a:t>
            </a:r>
            <a:endParaRPr sz="2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sz="2100">
              <a:latin typeface="Tahoma"/>
              <a:cs typeface="Tahoma"/>
            </a:endParaRPr>
          </a:p>
          <a:p>
            <a:pPr marL="346710">
              <a:lnSpc>
                <a:spcPct val="100000"/>
              </a:lnSpc>
            </a:pPr>
            <a:r>
              <a:rPr dirty="0" sz="2100" spc="-45" b="1">
                <a:solidFill>
                  <a:srgbClr val="FBD34D"/>
                </a:solidFill>
                <a:latin typeface="Tahoma"/>
                <a:cs typeface="Tahoma"/>
              </a:rPr>
              <a:t>Phased</a:t>
            </a:r>
            <a:r>
              <a:rPr dirty="0" sz="2100" spc="-8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40" b="1">
                <a:solidFill>
                  <a:srgbClr val="FBD34D"/>
                </a:solidFill>
                <a:latin typeface="Tahoma"/>
                <a:cs typeface="Tahoma"/>
              </a:rPr>
              <a:t>processing</a:t>
            </a:r>
            <a:r>
              <a:rPr dirty="0" sz="2100" spc="-7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60">
                <a:solidFill>
                  <a:srgbClr val="F7FAFB"/>
                </a:solidFill>
                <a:latin typeface="Tahoma"/>
                <a:cs typeface="Tahoma"/>
              </a:rPr>
              <a:t>approach</a:t>
            </a:r>
            <a:endParaRPr sz="2100">
              <a:latin typeface="Tahoma"/>
              <a:cs typeface="Tahoma"/>
            </a:endParaRPr>
          </a:p>
          <a:p>
            <a:pPr marL="346710">
              <a:lnSpc>
                <a:spcPct val="100000"/>
              </a:lnSpc>
              <a:spcBef>
                <a:spcPts val="1890"/>
              </a:spcBef>
            </a:pP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Priority</a:t>
            </a:r>
            <a:r>
              <a:rPr dirty="0" sz="2100" spc="1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20" b="1">
                <a:solidFill>
                  <a:srgbClr val="FBD34D"/>
                </a:solidFill>
                <a:latin typeface="Tahoma"/>
                <a:cs typeface="Tahoma"/>
              </a:rPr>
              <a:t>texts</a:t>
            </a:r>
            <a:r>
              <a:rPr dirty="0" sz="2100" spc="1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first</a:t>
            </a:r>
            <a:endParaRPr sz="2100">
              <a:latin typeface="Tahoma"/>
              <a:cs typeface="Tahoma"/>
            </a:endParaRPr>
          </a:p>
          <a:p>
            <a:pPr marL="346710" marR="2781300">
              <a:lnSpc>
                <a:spcPct val="174900"/>
              </a:lnSpc>
              <a:spcBef>
                <a:spcPts val="65"/>
              </a:spcBef>
            </a:pP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Modular</a:t>
            </a:r>
            <a:r>
              <a:rPr dirty="0" sz="2100" spc="-3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architecture </a:t>
            </a:r>
            <a:r>
              <a:rPr dirty="0" sz="2100" spc="-50" b="1">
                <a:solidFill>
                  <a:srgbClr val="FBD34D"/>
                </a:solidFill>
                <a:latin typeface="Tahoma"/>
                <a:cs typeface="Tahoma"/>
              </a:rPr>
              <a:t>Incremental</a:t>
            </a:r>
            <a:r>
              <a:rPr dirty="0" sz="2100" spc="-9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publication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543560"/>
          </a:xfrm>
          <a:custGeom>
            <a:avLst/>
            <a:gdLst/>
            <a:ahLst/>
            <a:cxnLst/>
            <a:rect l="l" t="t" r="r" b="b"/>
            <a:pathLst>
              <a:path w="50165" h="543560">
                <a:moveTo>
                  <a:pt x="50125" y="543026"/>
                </a:moveTo>
                <a:lnTo>
                  <a:pt x="0" y="543026"/>
                </a:lnTo>
                <a:lnTo>
                  <a:pt x="0" y="0"/>
                </a:lnTo>
                <a:lnTo>
                  <a:pt x="50125" y="0"/>
                </a:lnTo>
                <a:lnTo>
                  <a:pt x="50125" y="543026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83336" y="1444752"/>
            <a:ext cx="5596255" cy="457200"/>
          </a:xfrm>
          <a:custGeom>
            <a:avLst/>
            <a:gdLst/>
            <a:ahLst/>
            <a:cxnLst/>
            <a:rect l="l" t="t" r="r" b="b"/>
            <a:pathLst>
              <a:path w="5596255" h="457200">
                <a:moveTo>
                  <a:pt x="5596127" y="457199"/>
                </a:moveTo>
                <a:lnTo>
                  <a:pt x="0" y="457199"/>
                </a:lnTo>
                <a:lnTo>
                  <a:pt x="0" y="0"/>
                </a:lnTo>
                <a:lnTo>
                  <a:pt x="5596127" y="0"/>
                </a:lnTo>
                <a:lnTo>
                  <a:pt x="5596127" y="45719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Quality</a:t>
            </a:r>
            <a:r>
              <a:rPr dirty="0" spc="-140"/>
              <a:t> </a:t>
            </a:r>
            <a:r>
              <a:rPr dirty="0" spc="-85"/>
              <a:t>Assurance</a:t>
            </a:r>
            <a:r>
              <a:rPr dirty="0" spc="-135"/>
              <a:t> </a:t>
            </a:r>
            <a:r>
              <a:rPr dirty="0" spc="-65"/>
              <a:t>Processes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572097" y="2020317"/>
            <a:ext cx="5509895" cy="27527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Multi-</a:t>
            </a:r>
            <a:r>
              <a:rPr dirty="0" sz="2100" spc="-30" b="1">
                <a:solidFill>
                  <a:srgbClr val="FBD34D"/>
                </a:solidFill>
                <a:latin typeface="Tahoma"/>
                <a:cs typeface="Tahoma"/>
              </a:rPr>
              <a:t>Level</a:t>
            </a:r>
            <a:r>
              <a:rPr dirty="0" sz="2100" spc="8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Verification:</a:t>
            </a:r>
            <a:endParaRPr sz="2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sz="2100">
              <a:latin typeface="Tahoma"/>
              <a:cs typeface="Tahoma"/>
            </a:endParaRPr>
          </a:p>
          <a:p>
            <a:pPr marL="346710" indent="-294640">
              <a:lnSpc>
                <a:spcPct val="100000"/>
              </a:lnSpc>
              <a:buAutoNum type="arabicPeriod"/>
              <a:tabLst>
                <a:tab pos="346710" algn="l"/>
              </a:tabLst>
            </a:pP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Automated</a:t>
            </a:r>
            <a:r>
              <a:rPr dirty="0" sz="2100" spc="-10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25" b="1">
                <a:solidFill>
                  <a:srgbClr val="FBD34D"/>
                </a:solidFill>
                <a:latin typeface="Tahoma"/>
                <a:cs typeface="Tahoma"/>
              </a:rPr>
              <a:t>consistency</a:t>
            </a:r>
            <a:r>
              <a:rPr dirty="0" sz="2100" spc="-4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checks</a:t>
            </a:r>
            <a:endParaRPr sz="2100">
              <a:latin typeface="Tahoma"/>
              <a:cs typeface="Tahoma"/>
            </a:endParaRPr>
          </a:p>
          <a:p>
            <a:pPr marL="346710" indent="-294640">
              <a:lnSpc>
                <a:spcPct val="100000"/>
              </a:lnSpc>
              <a:spcBef>
                <a:spcPts val="1890"/>
              </a:spcBef>
              <a:buAutoNum type="arabicPeriod"/>
              <a:tabLst>
                <a:tab pos="346710" algn="l"/>
              </a:tabLst>
            </a:pP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Expert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20" b="1">
                <a:solidFill>
                  <a:srgbClr val="FBD34D"/>
                </a:solidFill>
                <a:latin typeface="Tahoma"/>
                <a:cs typeface="Tahoma"/>
              </a:rPr>
              <a:t>linguistic</a:t>
            </a:r>
            <a:r>
              <a:rPr dirty="0" sz="2100" spc="-4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review</a:t>
            </a:r>
            <a:endParaRPr sz="2100">
              <a:latin typeface="Tahoma"/>
              <a:cs typeface="Tahoma"/>
            </a:endParaRPr>
          </a:p>
          <a:p>
            <a:pPr marL="346710" indent="-294640">
              <a:lnSpc>
                <a:spcPct val="100000"/>
              </a:lnSpc>
              <a:spcBef>
                <a:spcPts val="1885"/>
              </a:spcBef>
              <a:buClr>
                <a:srgbClr val="F7FAFB"/>
              </a:buClr>
              <a:buFont typeface="Tahoma"/>
              <a:buAutoNum type="arabicPeriod"/>
              <a:tabLst>
                <a:tab pos="346710" algn="l"/>
              </a:tabLst>
            </a:pPr>
            <a:r>
              <a:rPr dirty="0" sz="2100" spc="-25" b="1">
                <a:solidFill>
                  <a:srgbClr val="FBD34D"/>
                </a:solidFill>
                <a:latin typeface="Tahoma"/>
                <a:cs typeface="Tahoma"/>
              </a:rPr>
              <a:t>Cross-</a:t>
            </a: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validation</a:t>
            </a:r>
            <a:r>
              <a:rPr dirty="0" sz="2100" spc="-5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105">
                <a:solidFill>
                  <a:srgbClr val="F7FAFB"/>
                </a:solidFill>
                <a:latin typeface="Tahoma"/>
                <a:cs typeface="Tahoma"/>
              </a:rPr>
              <a:t>with</a:t>
            </a:r>
            <a:r>
              <a:rPr dirty="0" sz="2100" spc="-9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existing</a:t>
            </a:r>
            <a:r>
              <a:rPr dirty="0" sz="2100" spc="-9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resources</a:t>
            </a:r>
            <a:endParaRPr sz="2100">
              <a:latin typeface="Tahoma"/>
              <a:cs typeface="Tahoma"/>
            </a:endParaRPr>
          </a:p>
          <a:p>
            <a:pPr marL="346710" indent="-294640">
              <a:lnSpc>
                <a:spcPct val="100000"/>
              </a:lnSpc>
              <a:spcBef>
                <a:spcPts val="1955"/>
              </a:spcBef>
              <a:buClr>
                <a:srgbClr val="F7FAFB"/>
              </a:buClr>
              <a:buFont typeface="Tahoma"/>
              <a:buAutoNum type="arabicPeriod"/>
              <a:tabLst>
                <a:tab pos="346710" algn="l"/>
              </a:tabLst>
            </a:pP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User</a:t>
            </a:r>
            <a:r>
              <a:rPr dirty="0" sz="2100" spc="-12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20" b="1">
                <a:solidFill>
                  <a:srgbClr val="FBD34D"/>
                </a:solidFill>
                <a:latin typeface="Tahoma"/>
                <a:cs typeface="Tahoma"/>
              </a:rPr>
              <a:t>feedback</a:t>
            </a:r>
            <a:r>
              <a:rPr dirty="0" sz="2100" spc="-12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integration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543560"/>
          </a:xfrm>
          <a:custGeom>
            <a:avLst/>
            <a:gdLst/>
            <a:ahLst/>
            <a:cxnLst/>
            <a:rect l="l" t="t" r="r" b="b"/>
            <a:pathLst>
              <a:path w="50165" h="543560">
                <a:moveTo>
                  <a:pt x="50125" y="543026"/>
                </a:moveTo>
                <a:lnTo>
                  <a:pt x="0" y="543026"/>
                </a:lnTo>
                <a:lnTo>
                  <a:pt x="0" y="0"/>
                </a:lnTo>
                <a:lnTo>
                  <a:pt x="50125" y="0"/>
                </a:lnTo>
                <a:lnTo>
                  <a:pt x="50125" y="543026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80287" y="1444752"/>
            <a:ext cx="4773295" cy="463550"/>
          </a:xfrm>
          <a:custGeom>
            <a:avLst/>
            <a:gdLst/>
            <a:ahLst/>
            <a:cxnLst/>
            <a:rect l="l" t="t" r="r" b="b"/>
            <a:pathLst>
              <a:path w="4773295" h="463550">
                <a:moveTo>
                  <a:pt x="4773167" y="463295"/>
                </a:moveTo>
                <a:lnTo>
                  <a:pt x="0" y="463295"/>
                </a:lnTo>
                <a:lnTo>
                  <a:pt x="0" y="0"/>
                </a:lnTo>
                <a:lnTo>
                  <a:pt x="4773167" y="0"/>
                </a:lnTo>
                <a:lnTo>
                  <a:pt x="4773167" y="463295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90"/>
              <a:t>Community</a:t>
            </a:r>
            <a:r>
              <a:rPr dirty="0" spc="-65"/>
              <a:t> </a:t>
            </a:r>
            <a:r>
              <a:rPr dirty="0" spc="-114"/>
              <a:t>Engagement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2885151"/>
            <a:ext cx="91896" cy="91896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3444887"/>
            <a:ext cx="91896" cy="9189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4004622"/>
            <a:ext cx="91896" cy="9189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4572711"/>
            <a:ext cx="91896" cy="91896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572097" y="2020317"/>
            <a:ext cx="4538980" cy="27527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 spc="-20" b="1">
                <a:solidFill>
                  <a:srgbClr val="FBD34D"/>
                </a:solidFill>
                <a:latin typeface="Tahoma"/>
                <a:cs typeface="Tahoma"/>
              </a:rPr>
              <a:t>Building</a:t>
            </a:r>
            <a:r>
              <a:rPr dirty="0" sz="2100" spc="-13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the</a:t>
            </a:r>
            <a:r>
              <a:rPr dirty="0" sz="2100" spc="-12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User</a:t>
            </a:r>
            <a:r>
              <a:rPr dirty="0" sz="2100" spc="-13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Community:</a:t>
            </a:r>
            <a:endParaRPr sz="2100">
              <a:latin typeface="Tahoma"/>
              <a:cs typeface="Tahoma"/>
            </a:endParaRPr>
          </a:p>
          <a:p>
            <a:pPr marL="346710" marR="5080">
              <a:lnSpc>
                <a:spcPct val="175800"/>
              </a:lnSpc>
              <a:spcBef>
                <a:spcPts val="1225"/>
              </a:spcBef>
            </a:pP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Workshops</a:t>
            </a:r>
            <a:r>
              <a:rPr dirty="0" sz="2100" spc="-2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and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training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sessions </a:t>
            </a: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User</a:t>
            </a:r>
            <a:r>
              <a:rPr dirty="0" sz="2100" spc="-5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35" b="1">
                <a:solidFill>
                  <a:srgbClr val="FBD34D"/>
                </a:solidFill>
                <a:latin typeface="Tahoma"/>
                <a:cs typeface="Tahoma"/>
              </a:rPr>
              <a:t>forums</a:t>
            </a:r>
            <a:r>
              <a:rPr dirty="0" sz="2100" spc="-5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and</a:t>
            </a:r>
            <a:r>
              <a:rPr dirty="0" sz="2100" spc="-9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support </a:t>
            </a:r>
            <a:r>
              <a:rPr dirty="0" sz="2100" spc="-25" b="1">
                <a:solidFill>
                  <a:srgbClr val="FBD34D"/>
                </a:solidFill>
                <a:latin typeface="Tahoma"/>
                <a:cs typeface="Tahoma"/>
              </a:rPr>
              <a:t>Documentation</a:t>
            </a:r>
            <a:r>
              <a:rPr dirty="0" sz="2100" spc="2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and</a:t>
            </a:r>
            <a:r>
              <a:rPr dirty="0" sz="2100" spc="-2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5">
                <a:solidFill>
                  <a:srgbClr val="F7FAFB"/>
                </a:solidFill>
                <a:latin typeface="Tahoma"/>
                <a:cs typeface="Tahoma"/>
              </a:rPr>
              <a:t>tutorials </a:t>
            </a: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Publication</a:t>
            </a:r>
            <a:r>
              <a:rPr dirty="0" sz="2100" spc="-9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of</a:t>
            </a:r>
            <a:r>
              <a:rPr dirty="0" sz="2100" spc="-13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0">
                <a:solidFill>
                  <a:srgbClr val="F7FAFB"/>
                </a:solidFill>
                <a:latin typeface="Tahoma"/>
                <a:cs typeface="Tahoma"/>
              </a:rPr>
              <a:t>findings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543560"/>
          </a:xfrm>
          <a:custGeom>
            <a:avLst/>
            <a:gdLst/>
            <a:ahLst/>
            <a:cxnLst/>
            <a:rect l="l" t="t" r="r" b="b"/>
            <a:pathLst>
              <a:path w="50165" h="543560">
                <a:moveTo>
                  <a:pt x="50125" y="543026"/>
                </a:moveTo>
                <a:lnTo>
                  <a:pt x="0" y="543026"/>
                </a:lnTo>
                <a:lnTo>
                  <a:pt x="0" y="0"/>
                </a:lnTo>
                <a:lnTo>
                  <a:pt x="50125" y="0"/>
                </a:lnTo>
                <a:lnTo>
                  <a:pt x="50125" y="543026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98575" y="1444752"/>
            <a:ext cx="4556760" cy="463550"/>
          </a:xfrm>
          <a:custGeom>
            <a:avLst/>
            <a:gdLst/>
            <a:ahLst/>
            <a:cxnLst/>
            <a:rect l="l" t="t" r="r" b="b"/>
            <a:pathLst>
              <a:path w="4556760" h="463550">
                <a:moveTo>
                  <a:pt x="4556759" y="463295"/>
                </a:moveTo>
                <a:lnTo>
                  <a:pt x="0" y="463295"/>
                </a:lnTo>
                <a:lnTo>
                  <a:pt x="0" y="0"/>
                </a:lnTo>
                <a:lnTo>
                  <a:pt x="4556759" y="0"/>
                </a:lnTo>
                <a:lnTo>
                  <a:pt x="4556759" y="463295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89308" y="1360331"/>
            <a:ext cx="4518660" cy="5067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80"/>
              <a:t>Dissemination</a:t>
            </a:r>
            <a:r>
              <a:rPr dirty="0" spc="-110"/>
              <a:t> </a:t>
            </a:r>
            <a:r>
              <a:rPr dirty="0" spc="-60"/>
              <a:t>Strategy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2885151"/>
            <a:ext cx="91896" cy="91896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3444887"/>
            <a:ext cx="91896" cy="9189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4004622"/>
            <a:ext cx="91896" cy="9189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4572711"/>
            <a:ext cx="91896" cy="91896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572097" y="2020317"/>
            <a:ext cx="5482590" cy="27527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Making</a:t>
            </a:r>
            <a:r>
              <a:rPr dirty="0" sz="2100" spc="-14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the</a:t>
            </a:r>
            <a:r>
              <a:rPr dirty="0" sz="2100" spc="-12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40" b="1">
                <a:solidFill>
                  <a:srgbClr val="FBD34D"/>
                </a:solidFill>
                <a:latin typeface="Tahoma"/>
                <a:cs typeface="Tahoma"/>
              </a:rPr>
              <a:t>Research</a:t>
            </a:r>
            <a:r>
              <a:rPr dirty="0" sz="2100" spc="-11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Accessible:</a:t>
            </a:r>
            <a:endParaRPr sz="2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sz="2100">
              <a:latin typeface="Tahoma"/>
              <a:cs typeface="Tahoma"/>
            </a:endParaRPr>
          </a:p>
          <a:p>
            <a:pPr marL="346710">
              <a:lnSpc>
                <a:spcPct val="100000"/>
              </a:lnSpc>
            </a:pP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Academic</a:t>
            </a:r>
            <a:r>
              <a:rPr dirty="0" sz="2100" spc="6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20" b="1">
                <a:solidFill>
                  <a:srgbClr val="FBD34D"/>
                </a:solidFill>
                <a:latin typeface="Tahoma"/>
                <a:cs typeface="Tahoma"/>
              </a:rPr>
              <a:t>publications</a:t>
            </a:r>
            <a:r>
              <a:rPr dirty="0" sz="2100" spc="6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(journals,</a:t>
            </a:r>
            <a:r>
              <a:rPr dirty="0" sz="2100" spc="2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40">
                <a:solidFill>
                  <a:srgbClr val="F7FAFB"/>
                </a:solidFill>
                <a:latin typeface="Tahoma"/>
                <a:cs typeface="Tahoma"/>
              </a:rPr>
              <a:t>books)</a:t>
            </a:r>
            <a:endParaRPr sz="2100">
              <a:latin typeface="Tahoma"/>
              <a:cs typeface="Tahoma"/>
            </a:endParaRPr>
          </a:p>
          <a:p>
            <a:pPr marL="346710" marR="1057910">
              <a:lnSpc>
                <a:spcPct val="174900"/>
              </a:lnSpc>
            </a:pP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Conference</a:t>
            </a:r>
            <a:r>
              <a:rPr dirty="0" sz="2100" spc="-14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presentations </a:t>
            </a: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Online</a:t>
            </a:r>
            <a:r>
              <a:rPr dirty="0" sz="2100" spc="-3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platform</a:t>
            </a:r>
            <a:r>
              <a:rPr dirty="0" sz="2100" spc="-2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(web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0">
                <a:solidFill>
                  <a:srgbClr val="F7FAFB"/>
                </a:solidFill>
                <a:latin typeface="Tahoma"/>
                <a:cs typeface="Tahoma"/>
              </a:rPr>
              <a:t>interface)</a:t>
            </a:r>
            <a:endParaRPr sz="2100">
              <a:latin typeface="Tahoma"/>
              <a:cs typeface="Tahoma"/>
            </a:endParaRPr>
          </a:p>
          <a:p>
            <a:pPr marL="346710">
              <a:lnSpc>
                <a:spcPct val="100000"/>
              </a:lnSpc>
              <a:spcBef>
                <a:spcPts val="1955"/>
              </a:spcBef>
            </a:pPr>
            <a:r>
              <a:rPr dirty="0" sz="2100" spc="-20" b="1">
                <a:solidFill>
                  <a:srgbClr val="FBD34D"/>
                </a:solidFill>
                <a:latin typeface="Tahoma"/>
                <a:cs typeface="Tahoma"/>
              </a:rPr>
              <a:t>Educational</a:t>
            </a:r>
            <a:r>
              <a:rPr dirty="0" sz="2100" spc="-8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materials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543560"/>
          </a:xfrm>
          <a:custGeom>
            <a:avLst/>
            <a:gdLst/>
            <a:ahLst/>
            <a:cxnLst/>
            <a:rect l="l" t="t" r="r" b="b"/>
            <a:pathLst>
              <a:path w="50165" h="543560">
                <a:moveTo>
                  <a:pt x="50125" y="543026"/>
                </a:moveTo>
                <a:lnTo>
                  <a:pt x="0" y="543026"/>
                </a:lnTo>
                <a:lnTo>
                  <a:pt x="0" y="0"/>
                </a:lnTo>
                <a:lnTo>
                  <a:pt x="50125" y="0"/>
                </a:lnTo>
                <a:lnTo>
                  <a:pt x="50125" y="543026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98575" y="1444752"/>
            <a:ext cx="5702935" cy="463550"/>
          </a:xfrm>
          <a:custGeom>
            <a:avLst/>
            <a:gdLst/>
            <a:ahLst/>
            <a:cxnLst/>
            <a:rect l="l" t="t" r="r" b="b"/>
            <a:pathLst>
              <a:path w="5702935" h="463550">
                <a:moveTo>
                  <a:pt x="5702807" y="463295"/>
                </a:moveTo>
                <a:lnTo>
                  <a:pt x="0" y="463295"/>
                </a:lnTo>
                <a:lnTo>
                  <a:pt x="0" y="0"/>
                </a:lnTo>
                <a:lnTo>
                  <a:pt x="5702807" y="0"/>
                </a:lnTo>
                <a:lnTo>
                  <a:pt x="5702807" y="463295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89308" y="1360331"/>
            <a:ext cx="5668010" cy="5067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5"/>
              <a:t>Publications</a:t>
            </a:r>
            <a:r>
              <a:rPr dirty="0" spc="-150"/>
              <a:t> </a:t>
            </a:r>
            <a:r>
              <a:rPr dirty="0" spc="-85"/>
              <a:t>from</a:t>
            </a:r>
            <a:r>
              <a:rPr dirty="0" spc="-145"/>
              <a:t> </a:t>
            </a:r>
            <a:r>
              <a:rPr dirty="0" spc="-90"/>
              <a:t>the</a:t>
            </a:r>
            <a:r>
              <a:rPr dirty="0" spc="-145"/>
              <a:t> </a:t>
            </a:r>
            <a:r>
              <a:rPr dirty="0" spc="-10"/>
              <a:t>Project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2885151"/>
            <a:ext cx="91896" cy="91896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3444887"/>
            <a:ext cx="91896" cy="9189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4004622"/>
            <a:ext cx="91896" cy="9189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4572711"/>
            <a:ext cx="91896" cy="91896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572097" y="2020317"/>
            <a:ext cx="6283960" cy="27527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 spc="-20" b="1">
                <a:solidFill>
                  <a:srgbClr val="FBD34D"/>
                </a:solidFill>
                <a:latin typeface="Tahoma"/>
                <a:cs typeface="Tahoma"/>
              </a:rPr>
              <a:t>Expected</a:t>
            </a:r>
            <a:r>
              <a:rPr dirty="0" sz="2100" spc="-9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Outputs:</a:t>
            </a:r>
            <a:endParaRPr sz="2100">
              <a:latin typeface="Tahoma"/>
              <a:cs typeface="Tahoma"/>
            </a:endParaRPr>
          </a:p>
          <a:p>
            <a:pPr marL="346710" marR="5080">
              <a:lnSpc>
                <a:spcPct val="175800"/>
              </a:lnSpc>
              <a:spcBef>
                <a:spcPts val="1225"/>
              </a:spcBef>
            </a:pPr>
            <a:r>
              <a:rPr dirty="0" sz="2100" spc="-20" b="1">
                <a:solidFill>
                  <a:srgbClr val="FBD34D"/>
                </a:solidFill>
                <a:latin typeface="Tahoma"/>
                <a:cs typeface="Tahoma"/>
              </a:rPr>
              <a:t>Volume</a:t>
            </a:r>
            <a:r>
              <a:rPr dirty="0" sz="2100" spc="-3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20" b="1">
                <a:solidFill>
                  <a:srgbClr val="FBD34D"/>
                </a:solidFill>
                <a:latin typeface="Tahoma"/>
                <a:cs typeface="Tahoma"/>
              </a:rPr>
              <a:t>1:</a:t>
            </a:r>
            <a:r>
              <a:rPr dirty="0" sz="2100" spc="-2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105">
                <a:solidFill>
                  <a:srgbClr val="F7FAFB"/>
                </a:solidFill>
                <a:latin typeface="Tahoma"/>
                <a:cs typeface="Tahoma"/>
              </a:rPr>
              <a:t>Corpus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design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and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methodology </a:t>
            </a:r>
            <a:r>
              <a:rPr dirty="0" sz="2100" spc="-20" b="1">
                <a:solidFill>
                  <a:srgbClr val="FBD34D"/>
                </a:solidFill>
                <a:latin typeface="Tahoma"/>
                <a:cs typeface="Tahoma"/>
              </a:rPr>
              <a:t>Volume</a:t>
            </a:r>
            <a:r>
              <a:rPr dirty="0" sz="2100" spc="-5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20" b="1">
                <a:solidFill>
                  <a:srgbClr val="FBD34D"/>
                </a:solidFill>
                <a:latin typeface="Tahoma"/>
                <a:cs typeface="Tahoma"/>
              </a:rPr>
              <a:t>2:</a:t>
            </a:r>
            <a:r>
              <a:rPr dirty="0" sz="2100" spc="-4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114">
                <a:solidFill>
                  <a:srgbClr val="F7FAFB"/>
                </a:solidFill>
                <a:latin typeface="Tahoma"/>
                <a:cs typeface="Tahoma"/>
              </a:rPr>
              <a:t>Greek</a:t>
            </a:r>
            <a:r>
              <a:rPr dirty="0" sz="2100" spc="-9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valency</a:t>
            </a:r>
            <a:r>
              <a:rPr dirty="0" sz="2100" spc="-9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patterns</a:t>
            </a:r>
            <a:r>
              <a:rPr dirty="0" sz="2100" spc="-9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0">
                <a:solidFill>
                  <a:srgbClr val="F7FAFB"/>
                </a:solidFill>
                <a:latin typeface="Tahoma"/>
                <a:cs typeface="Tahoma"/>
              </a:rPr>
              <a:t>(this</a:t>
            </a:r>
            <a:r>
              <a:rPr dirty="0" sz="2100" spc="-9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40">
                <a:solidFill>
                  <a:srgbClr val="F7FAFB"/>
                </a:solidFill>
                <a:latin typeface="Tahoma"/>
                <a:cs typeface="Tahoma"/>
              </a:rPr>
              <a:t>paper!) </a:t>
            </a:r>
            <a:r>
              <a:rPr dirty="0" sz="2100" spc="-20" b="1">
                <a:solidFill>
                  <a:srgbClr val="FBD34D"/>
                </a:solidFill>
                <a:latin typeface="Tahoma"/>
                <a:cs typeface="Tahoma"/>
              </a:rPr>
              <a:t>Volume</a:t>
            </a:r>
            <a:r>
              <a:rPr dirty="0" sz="2100" spc="-7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20" b="1">
                <a:solidFill>
                  <a:srgbClr val="FBD34D"/>
                </a:solidFill>
                <a:latin typeface="Tahoma"/>
                <a:cs typeface="Tahoma"/>
              </a:rPr>
              <a:t>3:</a:t>
            </a:r>
            <a:r>
              <a:rPr dirty="0" sz="2100" spc="-4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110">
                <a:solidFill>
                  <a:srgbClr val="F7FAFB"/>
                </a:solidFill>
                <a:latin typeface="Tahoma"/>
                <a:cs typeface="Tahoma"/>
              </a:rPr>
              <a:t>Cross-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linguistic</a:t>
            </a:r>
            <a:r>
              <a:rPr dirty="0" sz="2100" spc="-10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comparisons </a:t>
            </a: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Valency</a:t>
            </a:r>
            <a:r>
              <a:rPr dirty="0" sz="2100" spc="-9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20" b="1">
                <a:solidFill>
                  <a:srgbClr val="FBD34D"/>
                </a:solidFill>
                <a:latin typeface="Tahoma"/>
                <a:cs typeface="Tahoma"/>
              </a:rPr>
              <a:t>lexicon</a:t>
            </a:r>
            <a:r>
              <a:rPr dirty="0" sz="2100" spc="-9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(online</a:t>
            </a:r>
            <a:r>
              <a:rPr dirty="0" sz="2100" spc="-13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35">
                <a:solidFill>
                  <a:srgbClr val="F7FAFB"/>
                </a:solidFill>
                <a:latin typeface="Tahoma"/>
                <a:cs typeface="Tahoma"/>
              </a:rPr>
              <a:t>database)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543560"/>
          </a:xfrm>
          <a:custGeom>
            <a:avLst/>
            <a:gdLst/>
            <a:ahLst/>
            <a:cxnLst/>
            <a:rect l="l" t="t" r="r" b="b"/>
            <a:pathLst>
              <a:path w="50165" h="543560">
                <a:moveTo>
                  <a:pt x="50125" y="543026"/>
                </a:moveTo>
                <a:lnTo>
                  <a:pt x="0" y="543026"/>
                </a:lnTo>
                <a:lnTo>
                  <a:pt x="0" y="0"/>
                </a:lnTo>
                <a:lnTo>
                  <a:pt x="50125" y="0"/>
                </a:lnTo>
                <a:lnTo>
                  <a:pt x="50125" y="543026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77239" y="1444752"/>
            <a:ext cx="4761230" cy="396240"/>
          </a:xfrm>
          <a:custGeom>
            <a:avLst/>
            <a:gdLst/>
            <a:ahLst/>
            <a:cxnLst/>
            <a:rect l="l" t="t" r="r" b="b"/>
            <a:pathLst>
              <a:path w="4761230" h="396239">
                <a:moveTo>
                  <a:pt x="4760975" y="396239"/>
                </a:moveTo>
                <a:lnTo>
                  <a:pt x="0" y="396239"/>
                </a:lnTo>
                <a:lnTo>
                  <a:pt x="0" y="0"/>
                </a:lnTo>
                <a:lnTo>
                  <a:pt x="4760975" y="0"/>
                </a:lnTo>
                <a:lnTo>
                  <a:pt x="4760975" y="39623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60"/>
              <a:t>Timeline</a:t>
            </a:r>
            <a:r>
              <a:rPr dirty="0" spc="-150"/>
              <a:t> </a:t>
            </a:r>
            <a:r>
              <a:rPr dirty="0" spc="-135"/>
              <a:t>and</a:t>
            </a:r>
            <a:r>
              <a:rPr dirty="0" spc="-145"/>
              <a:t> </a:t>
            </a:r>
            <a:r>
              <a:rPr dirty="0" spc="-25"/>
              <a:t>Milestones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2885151"/>
            <a:ext cx="91896" cy="91896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3444887"/>
            <a:ext cx="91896" cy="9189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4004622"/>
            <a:ext cx="91896" cy="9189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4572711"/>
            <a:ext cx="91896" cy="91896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6009644"/>
            <a:ext cx="91896" cy="91896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6577733"/>
            <a:ext cx="91896" cy="91896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572097" y="2020317"/>
            <a:ext cx="4348480" cy="475742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 spc="-50" b="1">
                <a:solidFill>
                  <a:srgbClr val="FBD34D"/>
                </a:solidFill>
                <a:latin typeface="Tahoma"/>
                <a:cs typeface="Tahoma"/>
              </a:rPr>
              <a:t>2024-2025</a:t>
            </a:r>
            <a:r>
              <a:rPr dirty="0" sz="2100" spc="-7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35" b="1">
                <a:solidFill>
                  <a:srgbClr val="FBD34D"/>
                </a:solidFill>
                <a:latin typeface="Tahoma"/>
                <a:cs typeface="Tahoma"/>
              </a:rPr>
              <a:t>(Current</a:t>
            </a:r>
            <a:r>
              <a:rPr dirty="0" sz="2100" spc="-7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Phase):</a:t>
            </a:r>
            <a:endParaRPr sz="2100">
              <a:latin typeface="Tahoma"/>
              <a:cs typeface="Tahoma"/>
            </a:endParaRPr>
          </a:p>
          <a:p>
            <a:pPr marL="346710" marR="5080">
              <a:lnSpc>
                <a:spcPct val="175800"/>
              </a:lnSpc>
              <a:spcBef>
                <a:spcPts val="1225"/>
              </a:spcBef>
            </a:pPr>
            <a:r>
              <a:rPr dirty="0" sz="2100" spc="105">
                <a:solidFill>
                  <a:srgbClr val="F7FAFB"/>
                </a:solidFill>
                <a:latin typeface="Tahoma"/>
                <a:cs typeface="Tahoma"/>
              </a:rPr>
              <a:t>Complete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core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text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0">
                <a:solidFill>
                  <a:srgbClr val="F7FAFB"/>
                </a:solidFill>
                <a:latin typeface="Tahoma"/>
                <a:cs typeface="Tahoma"/>
              </a:rPr>
              <a:t>processing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Initial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valency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lexicon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release </a:t>
            </a:r>
            <a:r>
              <a:rPr dirty="0" sz="2100" spc="105">
                <a:solidFill>
                  <a:srgbClr val="F7FAFB"/>
                </a:solidFill>
                <a:latin typeface="Tahoma"/>
                <a:cs typeface="Tahoma"/>
              </a:rPr>
              <a:t>Publication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of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research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0">
                <a:solidFill>
                  <a:srgbClr val="F7FAFB"/>
                </a:solidFill>
                <a:latin typeface="Tahoma"/>
                <a:cs typeface="Tahoma"/>
              </a:rPr>
              <a:t>findings </a:t>
            </a:r>
            <a:r>
              <a:rPr dirty="0" sz="2100" spc="110">
                <a:solidFill>
                  <a:srgbClr val="F7FAFB"/>
                </a:solidFill>
                <a:latin typeface="Tahoma"/>
                <a:cs typeface="Tahoma"/>
              </a:rPr>
              <a:t>Platform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beta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launch</a:t>
            </a:r>
            <a:endParaRPr sz="2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sz="2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100" spc="-20" b="1">
                <a:solidFill>
                  <a:srgbClr val="FBD34D"/>
                </a:solidFill>
                <a:latin typeface="Tahoma"/>
                <a:cs typeface="Tahoma"/>
              </a:rPr>
              <a:t>Future</a:t>
            </a:r>
            <a:r>
              <a:rPr dirty="0" sz="2100" spc="-114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Phases:</a:t>
            </a:r>
            <a:endParaRPr sz="2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sz="2100">
              <a:latin typeface="Tahoma"/>
              <a:cs typeface="Tahoma"/>
            </a:endParaRPr>
          </a:p>
          <a:p>
            <a:pPr marL="346710">
              <a:lnSpc>
                <a:spcPct val="100000"/>
              </a:lnSpc>
            </a:pPr>
            <a:r>
              <a:rPr dirty="0" sz="2100" spc="105">
                <a:solidFill>
                  <a:srgbClr val="F7FAFB"/>
                </a:solidFill>
                <a:latin typeface="Tahoma"/>
                <a:cs typeface="Tahoma"/>
              </a:rPr>
              <a:t>Corpus</a:t>
            </a:r>
            <a:r>
              <a:rPr dirty="0" sz="2100" spc="-9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0">
                <a:solidFill>
                  <a:srgbClr val="F7FAFB"/>
                </a:solidFill>
                <a:latin typeface="Tahoma"/>
                <a:cs typeface="Tahoma"/>
              </a:rPr>
              <a:t>expansion</a:t>
            </a:r>
            <a:endParaRPr sz="2100">
              <a:latin typeface="Tahoma"/>
              <a:cs typeface="Tahoma"/>
            </a:endParaRPr>
          </a:p>
          <a:p>
            <a:pPr marL="346710">
              <a:lnSpc>
                <a:spcPct val="100000"/>
              </a:lnSpc>
              <a:spcBef>
                <a:spcPts val="1955"/>
              </a:spcBef>
            </a:pP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Enhanced</a:t>
            </a:r>
            <a:r>
              <a:rPr dirty="0" sz="2100" spc="-5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computational</a:t>
            </a:r>
            <a:r>
              <a:rPr dirty="0" sz="2100" spc="-4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tools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543560"/>
          </a:xfrm>
          <a:custGeom>
            <a:avLst/>
            <a:gdLst/>
            <a:ahLst/>
            <a:cxnLst/>
            <a:rect l="l" t="t" r="r" b="b"/>
            <a:pathLst>
              <a:path w="50165" h="543560">
                <a:moveTo>
                  <a:pt x="50125" y="543026"/>
                </a:moveTo>
                <a:lnTo>
                  <a:pt x="0" y="543026"/>
                </a:lnTo>
                <a:lnTo>
                  <a:pt x="0" y="0"/>
                </a:lnTo>
                <a:lnTo>
                  <a:pt x="50125" y="0"/>
                </a:lnTo>
                <a:lnTo>
                  <a:pt x="50125" y="543026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98575" y="1444752"/>
            <a:ext cx="5291455" cy="463550"/>
          </a:xfrm>
          <a:custGeom>
            <a:avLst/>
            <a:gdLst/>
            <a:ahLst/>
            <a:cxnLst/>
            <a:rect l="l" t="t" r="r" b="b"/>
            <a:pathLst>
              <a:path w="5291455" h="463550">
                <a:moveTo>
                  <a:pt x="5291327" y="463295"/>
                </a:moveTo>
                <a:lnTo>
                  <a:pt x="0" y="463295"/>
                </a:lnTo>
                <a:lnTo>
                  <a:pt x="0" y="0"/>
                </a:lnTo>
                <a:lnTo>
                  <a:pt x="5291327" y="0"/>
                </a:lnTo>
                <a:lnTo>
                  <a:pt x="5291327" y="463295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60"/>
              <a:t>Project</a:t>
            </a:r>
            <a:r>
              <a:rPr dirty="0" spc="-130"/>
              <a:t> </a:t>
            </a:r>
            <a:r>
              <a:rPr dirty="0" spc="-200"/>
              <a:t>Team</a:t>
            </a:r>
            <a:r>
              <a:rPr dirty="0" spc="-120"/>
              <a:t> </a:t>
            </a:r>
            <a:r>
              <a:rPr dirty="0" spc="-135"/>
              <a:t>and</a:t>
            </a:r>
            <a:r>
              <a:rPr dirty="0" spc="-130"/>
              <a:t> </a:t>
            </a:r>
            <a:r>
              <a:rPr dirty="0" spc="-35"/>
              <a:t>Expertise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2885151"/>
            <a:ext cx="91896" cy="91896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3444887"/>
            <a:ext cx="91896" cy="9189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4004622"/>
            <a:ext cx="91896" cy="9189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4572711"/>
            <a:ext cx="91896" cy="91896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5132447"/>
            <a:ext cx="91896" cy="91896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572097" y="2020317"/>
            <a:ext cx="3496945" cy="33121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Multidisciplinary</a:t>
            </a:r>
            <a:r>
              <a:rPr dirty="0" sz="2100" spc="8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20" b="1">
                <a:solidFill>
                  <a:srgbClr val="FBD34D"/>
                </a:solidFill>
                <a:latin typeface="Tahoma"/>
                <a:cs typeface="Tahoma"/>
              </a:rPr>
              <a:t>Team:</a:t>
            </a:r>
            <a:endParaRPr sz="2100">
              <a:latin typeface="Tahoma"/>
              <a:cs typeface="Tahoma"/>
            </a:endParaRPr>
          </a:p>
          <a:p>
            <a:pPr marL="346710" marR="5080">
              <a:lnSpc>
                <a:spcPct val="175500"/>
              </a:lnSpc>
              <a:spcBef>
                <a:spcPts val="1235"/>
              </a:spcBef>
            </a:pP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Historical</a:t>
            </a:r>
            <a:r>
              <a:rPr dirty="0" sz="2100" spc="-2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linguists Classical</a:t>
            </a:r>
            <a:r>
              <a:rPr dirty="0" sz="2100" spc="-14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philologists </a:t>
            </a:r>
            <a:r>
              <a:rPr dirty="0" sz="2100" spc="-20" b="1">
                <a:solidFill>
                  <a:srgbClr val="FBD34D"/>
                </a:solidFill>
                <a:latin typeface="Tahoma"/>
                <a:cs typeface="Tahoma"/>
              </a:rPr>
              <a:t>Computational</a:t>
            </a:r>
            <a:r>
              <a:rPr dirty="0" sz="2100" spc="-5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25" b="1">
                <a:solidFill>
                  <a:srgbClr val="FBD34D"/>
                </a:solidFill>
                <a:latin typeface="Tahoma"/>
                <a:cs typeface="Tahoma"/>
              </a:rPr>
              <a:t>linguists Software</a:t>
            </a:r>
            <a:r>
              <a:rPr dirty="0" sz="2100" spc="-10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developers </a:t>
            </a:r>
            <a:r>
              <a:rPr dirty="0" sz="2100" spc="-40" b="1">
                <a:solidFill>
                  <a:srgbClr val="FBD34D"/>
                </a:solidFill>
                <a:latin typeface="Tahoma"/>
                <a:cs typeface="Tahoma"/>
              </a:rPr>
              <a:t>Research</a:t>
            </a:r>
            <a:r>
              <a:rPr dirty="0" sz="2100" spc="-10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assistants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543560"/>
          </a:xfrm>
          <a:custGeom>
            <a:avLst/>
            <a:gdLst/>
            <a:ahLst/>
            <a:cxnLst/>
            <a:rect l="l" t="t" r="r" b="b"/>
            <a:pathLst>
              <a:path w="50165" h="543560">
                <a:moveTo>
                  <a:pt x="50125" y="543026"/>
                </a:moveTo>
                <a:lnTo>
                  <a:pt x="0" y="543026"/>
                </a:lnTo>
                <a:lnTo>
                  <a:pt x="0" y="0"/>
                </a:lnTo>
                <a:lnTo>
                  <a:pt x="50125" y="0"/>
                </a:lnTo>
                <a:lnTo>
                  <a:pt x="50125" y="543026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98575" y="1444752"/>
            <a:ext cx="4023360" cy="463550"/>
          </a:xfrm>
          <a:custGeom>
            <a:avLst/>
            <a:gdLst/>
            <a:ahLst/>
            <a:cxnLst/>
            <a:rect l="l" t="t" r="r" b="b"/>
            <a:pathLst>
              <a:path w="4023360" h="463550">
                <a:moveTo>
                  <a:pt x="4023359" y="463295"/>
                </a:moveTo>
                <a:lnTo>
                  <a:pt x="0" y="463295"/>
                </a:lnTo>
                <a:lnTo>
                  <a:pt x="0" y="0"/>
                </a:lnTo>
                <a:lnTo>
                  <a:pt x="4023359" y="0"/>
                </a:lnTo>
                <a:lnTo>
                  <a:pt x="4023359" y="463295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30"/>
              <a:t>Funding</a:t>
            </a:r>
            <a:r>
              <a:rPr dirty="0" spc="-110"/>
              <a:t> </a:t>
            </a:r>
            <a:r>
              <a:rPr dirty="0" spc="-135"/>
              <a:t>and</a:t>
            </a:r>
            <a:r>
              <a:rPr dirty="0" spc="-110"/>
              <a:t> </a:t>
            </a:r>
            <a:r>
              <a:rPr dirty="0" spc="-60"/>
              <a:t>Support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2885151"/>
            <a:ext cx="91896" cy="91896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3444887"/>
            <a:ext cx="91896" cy="9189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4004622"/>
            <a:ext cx="91896" cy="9189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4572711"/>
            <a:ext cx="91896" cy="91896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572097" y="2020317"/>
            <a:ext cx="7413625" cy="27527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Hellenic</a:t>
            </a:r>
            <a:r>
              <a:rPr dirty="0" sz="2100" spc="-8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30" b="1">
                <a:solidFill>
                  <a:srgbClr val="FBD34D"/>
                </a:solidFill>
                <a:latin typeface="Tahoma"/>
                <a:cs typeface="Tahoma"/>
              </a:rPr>
              <a:t>Foundation</a:t>
            </a:r>
            <a:r>
              <a:rPr dirty="0" sz="2100" spc="-6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for</a:t>
            </a:r>
            <a:r>
              <a:rPr dirty="0" sz="2100" spc="-6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40" b="1">
                <a:solidFill>
                  <a:srgbClr val="FBD34D"/>
                </a:solidFill>
                <a:latin typeface="Tahoma"/>
                <a:cs typeface="Tahoma"/>
              </a:rPr>
              <a:t>Research</a:t>
            </a:r>
            <a:r>
              <a:rPr dirty="0" sz="2100" spc="-6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40" b="1">
                <a:solidFill>
                  <a:srgbClr val="FBD34D"/>
                </a:solidFill>
                <a:latin typeface="Tahoma"/>
                <a:cs typeface="Tahoma"/>
              </a:rPr>
              <a:t>&amp;</a:t>
            </a:r>
            <a:r>
              <a:rPr dirty="0" sz="2100" spc="-4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50" b="1">
                <a:solidFill>
                  <a:srgbClr val="FBD34D"/>
                </a:solidFill>
                <a:latin typeface="Tahoma"/>
                <a:cs typeface="Tahoma"/>
              </a:rPr>
              <a:t>Innovation</a:t>
            </a:r>
            <a:r>
              <a:rPr dirty="0" sz="2100" spc="-6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95" b="1">
                <a:solidFill>
                  <a:srgbClr val="FBD34D"/>
                </a:solidFill>
                <a:latin typeface="Tahoma"/>
                <a:cs typeface="Tahoma"/>
              </a:rPr>
              <a:t>(H.F.R.I.):</a:t>
            </a:r>
            <a:endParaRPr sz="2100">
              <a:latin typeface="Tahoma"/>
              <a:cs typeface="Tahoma"/>
            </a:endParaRPr>
          </a:p>
          <a:p>
            <a:pPr marL="346710" marR="2626360">
              <a:lnSpc>
                <a:spcPct val="175800"/>
              </a:lnSpc>
              <a:spcBef>
                <a:spcPts val="1225"/>
              </a:spcBef>
            </a:pPr>
            <a:r>
              <a:rPr dirty="0" sz="2100" spc="-35" b="1">
                <a:solidFill>
                  <a:srgbClr val="FBD34D"/>
                </a:solidFill>
                <a:latin typeface="Tahoma"/>
                <a:cs typeface="Tahoma"/>
              </a:rPr>
              <a:t>ELIDEK</a:t>
            </a:r>
            <a:r>
              <a:rPr dirty="0" sz="2100" spc="-7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25" b="1">
                <a:solidFill>
                  <a:srgbClr val="FBD34D"/>
                </a:solidFill>
                <a:latin typeface="Tahoma"/>
                <a:cs typeface="Tahoma"/>
              </a:rPr>
              <a:t>Excellence</a:t>
            </a:r>
            <a:r>
              <a:rPr dirty="0" sz="2100" spc="-6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60">
                <a:solidFill>
                  <a:srgbClr val="F7FAFB"/>
                </a:solidFill>
                <a:latin typeface="Tahoma"/>
                <a:cs typeface="Tahoma"/>
              </a:rPr>
              <a:t>grant</a:t>
            </a:r>
            <a:r>
              <a:rPr dirty="0" sz="2100" spc="-11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program </a:t>
            </a:r>
            <a:r>
              <a:rPr dirty="0" sz="2100" spc="-50" b="1">
                <a:solidFill>
                  <a:srgbClr val="FBD34D"/>
                </a:solidFill>
                <a:latin typeface="Tahoma"/>
                <a:cs typeface="Tahoma"/>
              </a:rPr>
              <a:t>2024-2025</a:t>
            </a:r>
            <a:r>
              <a:rPr dirty="0" sz="2100" spc="-4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funding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period </a:t>
            </a:r>
            <a:r>
              <a:rPr dirty="0" sz="2100" spc="110">
                <a:solidFill>
                  <a:srgbClr val="F7FAFB"/>
                </a:solidFill>
                <a:latin typeface="Tahoma"/>
                <a:cs typeface="Tahoma"/>
              </a:rPr>
              <a:t>Competitive</a:t>
            </a:r>
            <a:r>
              <a:rPr dirty="0" sz="2100" spc="-9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20" b="1">
                <a:solidFill>
                  <a:srgbClr val="FBD34D"/>
                </a:solidFill>
                <a:latin typeface="Tahoma"/>
                <a:cs typeface="Tahoma"/>
              </a:rPr>
              <a:t>national</a:t>
            </a:r>
            <a:r>
              <a:rPr dirty="0" sz="2100" spc="-5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grant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Recognition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of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project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25" b="1">
                <a:solidFill>
                  <a:srgbClr val="FBD34D"/>
                </a:solidFill>
                <a:latin typeface="Tahoma"/>
                <a:cs typeface="Tahoma"/>
              </a:rPr>
              <a:t>significance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543560"/>
          </a:xfrm>
          <a:custGeom>
            <a:avLst/>
            <a:gdLst/>
            <a:ahLst/>
            <a:cxnLst/>
            <a:rect l="l" t="t" r="r" b="b"/>
            <a:pathLst>
              <a:path w="50165" h="543560">
                <a:moveTo>
                  <a:pt x="50125" y="543026"/>
                </a:moveTo>
                <a:lnTo>
                  <a:pt x="0" y="543026"/>
                </a:lnTo>
                <a:lnTo>
                  <a:pt x="0" y="0"/>
                </a:lnTo>
                <a:lnTo>
                  <a:pt x="50125" y="0"/>
                </a:lnTo>
                <a:lnTo>
                  <a:pt x="50125" y="543026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98575" y="1444752"/>
            <a:ext cx="6855459" cy="463550"/>
          </a:xfrm>
          <a:custGeom>
            <a:avLst/>
            <a:gdLst/>
            <a:ahLst/>
            <a:cxnLst/>
            <a:rect l="l" t="t" r="r" b="b"/>
            <a:pathLst>
              <a:path w="6855459" h="463550">
                <a:moveTo>
                  <a:pt x="6854951" y="463295"/>
                </a:moveTo>
                <a:lnTo>
                  <a:pt x="0" y="463295"/>
                </a:lnTo>
                <a:lnTo>
                  <a:pt x="0" y="0"/>
                </a:lnTo>
                <a:lnTo>
                  <a:pt x="6854951" y="0"/>
                </a:lnTo>
                <a:lnTo>
                  <a:pt x="6854951" y="463295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65"/>
              <a:t>Broader</a:t>
            </a:r>
            <a:r>
              <a:rPr dirty="0" spc="-135"/>
              <a:t> </a:t>
            </a:r>
            <a:r>
              <a:rPr dirty="0" spc="-175"/>
              <a:t>Impact:</a:t>
            </a:r>
            <a:r>
              <a:rPr dirty="0" spc="-135"/>
              <a:t> </a:t>
            </a:r>
            <a:r>
              <a:rPr dirty="0" spc="-40"/>
              <a:t>Digital</a:t>
            </a:r>
            <a:r>
              <a:rPr dirty="0" spc="-135"/>
              <a:t> </a:t>
            </a:r>
            <a:r>
              <a:rPr dirty="0" spc="-50"/>
              <a:t>Humanities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2885151"/>
            <a:ext cx="91896" cy="91896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3444887"/>
            <a:ext cx="91896" cy="9189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4004622"/>
            <a:ext cx="91896" cy="9189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4572711"/>
            <a:ext cx="91896" cy="91896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572097" y="2020317"/>
            <a:ext cx="6368415" cy="27527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Contribution</a:t>
            </a:r>
            <a:r>
              <a:rPr dirty="0" sz="2100" spc="-8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to</a:t>
            </a:r>
            <a:r>
              <a:rPr dirty="0" sz="2100" spc="-8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Field:</a:t>
            </a:r>
            <a:endParaRPr sz="2100">
              <a:latin typeface="Tahoma"/>
              <a:cs typeface="Tahoma"/>
            </a:endParaRPr>
          </a:p>
          <a:p>
            <a:pPr marL="346710" marR="5080">
              <a:lnSpc>
                <a:spcPct val="174900"/>
              </a:lnSpc>
              <a:spcBef>
                <a:spcPts val="1250"/>
              </a:spcBef>
            </a:pPr>
            <a:r>
              <a:rPr dirty="0" sz="2100" spc="145">
                <a:solidFill>
                  <a:srgbClr val="F7FAFB"/>
                </a:solidFill>
                <a:latin typeface="Tahoma"/>
                <a:cs typeface="Tahoma"/>
              </a:rPr>
              <a:t>Model</a:t>
            </a:r>
            <a:r>
              <a:rPr dirty="0" sz="2100" spc="-9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for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40" b="1">
                <a:solidFill>
                  <a:srgbClr val="FBD34D"/>
                </a:solidFill>
                <a:latin typeface="Tahoma"/>
                <a:cs typeface="Tahoma"/>
              </a:rPr>
              <a:t>large-</a:t>
            </a:r>
            <a:r>
              <a:rPr dirty="0" sz="2100" spc="-30" b="1">
                <a:solidFill>
                  <a:srgbClr val="FBD34D"/>
                </a:solidFill>
                <a:latin typeface="Tahoma"/>
                <a:cs typeface="Tahoma"/>
              </a:rPr>
              <a:t>scale</a:t>
            </a:r>
            <a:r>
              <a:rPr dirty="0" sz="2100" spc="-4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historical</a:t>
            </a:r>
            <a:r>
              <a:rPr dirty="0" sz="2100" spc="-9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corpus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projects Integration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of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traditional</a:t>
            </a:r>
            <a:r>
              <a:rPr dirty="0" sz="2100" spc="-4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and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digital</a:t>
            </a:r>
            <a:r>
              <a:rPr dirty="0" sz="2100" spc="-3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60">
                <a:solidFill>
                  <a:srgbClr val="F7FAFB"/>
                </a:solidFill>
                <a:latin typeface="Tahoma"/>
                <a:cs typeface="Tahoma"/>
              </a:rPr>
              <a:t>methods </a:t>
            </a:r>
            <a:r>
              <a:rPr dirty="0" sz="2100" spc="-35" b="1">
                <a:solidFill>
                  <a:srgbClr val="FBD34D"/>
                </a:solidFill>
                <a:latin typeface="Tahoma"/>
                <a:cs typeface="Tahoma"/>
              </a:rPr>
              <a:t>Sustainable</a:t>
            </a:r>
            <a:r>
              <a:rPr dirty="0" sz="2100" spc="-4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infrastructure</a:t>
            </a:r>
            <a:r>
              <a:rPr dirty="0" sz="2100" spc="-9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45">
                <a:solidFill>
                  <a:srgbClr val="F7FAFB"/>
                </a:solidFill>
                <a:latin typeface="Tahoma"/>
                <a:cs typeface="Tahoma"/>
              </a:rPr>
              <a:t>design</a:t>
            </a:r>
            <a:endParaRPr sz="2100">
              <a:latin typeface="Tahoma"/>
              <a:cs typeface="Tahoma"/>
            </a:endParaRPr>
          </a:p>
          <a:p>
            <a:pPr marL="346710">
              <a:lnSpc>
                <a:spcPct val="100000"/>
              </a:lnSpc>
              <a:spcBef>
                <a:spcPts val="1950"/>
              </a:spcBef>
            </a:pPr>
            <a:r>
              <a:rPr dirty="0" sz="2100" spc="-20" b="1">
                <a:solidFill>
                  <a:srgbClr val="FBD34D"/>
                </a:solidFill>
                <a:latin typeface="Tahoma"/>
                <a:cs typeface="Tahoma"/>
              </a:rPr>
              <a:t>Replicable</a:t>
            </a:r>
            <a:r>
              <a:rPr dirty="0" sz="2100" spc="-7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methodology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1086485"/>
          </a:xfrm>
          <a:custGeom>
            <a:avLst/>
            <a:gdLst/>
            <a:ahLst/>
            <a:cxnLst/>
            <a:rect l="l" t="t" r="r" b="b"/>
            <a:pathLst>
              <a:path w="50165" h="1086485">
                <a:moveTo>
                  <a:pt x="50125" y="1086053"/>
                </a:moveTo>
                <a:lnTo>
                  <a:pt x="0" y="1086053"/>
                </a:lnTo>
                <a:lnTo>
                  <a:pt x="0" y="0"/>
                </a:lnTo>
                <a:lnTo>
                  <a:pt x="50125" y="0"/>
                </a:lnTo>
                <a:lnTo>
                  <a:pt x="50125" y="1086053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83336" y="1444752"/>
            <a:ext cx="8757285" cy="457200"/>
          </a:xfrm>
          <a:custGeom>
            <a:avLst/>
            <a:gdLst/>
            <a:ahLst/>
            <a:cxnLst/>
            <a:rect l="l" t="t" r="r" b="b"/>
            <a:pathLst>
              <a:path w="8757285" h="457200">
                <a:moveTo>
                  <a:pt x="8756903" y="457199"/>
                </a:moveTo>
                <a:lnTo>
                  <a:pt x="0" y="457199"/>
                </a:lnTo>
                <a:lnTo>
                  <a:pt x="0" y="0"/>
                </a:lnTo>
                <a:lnTo>
                  <a:pt x="8756903" y="0"/>
                </a:lnTo>
                <a:lnTo>
                  <a:pt x="8756903" y="45719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75"/>
              <a:t>Question:</a:t>
            </a:r>
            <a:r>
              <a:rPr dirty="0" spc="-135"/>
              <a:t> </a:t>
            </a:r>
            <a:r>
              <a:rPr dirty="0"/>
              <a:t>What</a:t>
            </a:r>
            <a:r>
              <a:rPr dirty="0" spc="-130"/>
              <a:t> </a:t>
            </a:r>
            <a:r>
              <a:rPr dirty="0" spc="-90"/>
              <a:t>are</a:t>
            </a:r>
            <a:r>
              <a:rPr dirty="0" spc="-130"/>
              <a:t> </a:t>
            </a:r>
            <a:r>
              <a:rPr dirty="0" spc="-90"/>
              <a:t>the</a:t>
            </a:r>
            <a:r>
              <a:rPr dirty="0" spc="-130"/>
              <a:t> </a:t>
            </a:r>
            <a:r>
              <a:rPr dirty="0" spc="-135"/>
              <a:t>main</a:t>
            </a:r>
            <a:r>
              <a:rPr dirty="0" spc="-130"/>
              <a:t> </a:t>
            </a:r>
            <a:r>
              <a:rPr dirty="0" spc="-120"/>
              <a:t>takeaways</a:t>
            </a:r>
            <a:r>
              <a:rPr dirty="0" spc="-135"/>
              <a:t> </a:t>
            </a:r>
            <a:r>
              <a:rPr dirty="0" spc="-20"/>
              <a:t>from</a:t>
            </a:r>
          </a:p>
        </p:txBody>
      </p:sp>
      <p:sp>
        <p:nvSpPr>
          <p:cNvPr id="5" name="object 5" descr=""/>
          <p:cNvSpPr/>
          <p:nvPr/>
        </p:nvSpPr>
        <p:spPr>
          <a:xfrm>
            <a:off x="780287" y="1987295"/>
            <a:ext cx="3554095" cy="457200"/>
          </a:xfrm>
          <a:custGeom>
            <a:avLst/>
            <a:gdLst/>
            <a:ahLst/>
            <a:cxnLst/>
            <a:rect l="l" t="t" r="r" b="b"/>
            <a:pathLst>
              <a:path w="3554095" h="457200">
                <a:moveTo>
                  <a:pt x="3553967" y="457199"/>
                </a:moveTo>
                <a:lnTo>
                  <a:pt x="0" y="457199"/>
                </a:lnTo>
                <a:lnTo>
                  <a:pt x="0" y="0"/>
                </a:lnTo>
                <a:lnTo>
                  <a:pt x="3553967" y="0"/>
                </a:lnTo>
                <a:lnTo>
                  <a:pt x="3553967" y="45719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789308" y="1903358"/>
            <a:ext cx="3500120" cy="5067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150" spc="-80" b="1">
                <a:solidFill>
                  <a:srgbClr val="60A5FA"/>
                </a:solidFill>
                <a:latin typeface="Tahoma"/>
                <a:cs typeface="Tahoma"/>
              </a:rPr>
              <a:t>this</a:t>
            </a:r>
            <a:r>
              <a:rPr dirty="0" sz="3150" spc="-145" b="1">
                <a:solidFill>
                  <a:srgbClr val="60A5FA"/>
                </a:solidFill>
                <a:latin typeface="Tahoma"/>
                <a:cs typeface="Tahoma"/>
              </a:rPr>
              <a:t> </a:t>
            </a:r>
            <a:r>
              <a:rPr dirty="0" sz="3150" spc="-75" b="1">
                <a:solidFill>
                  <a:srgbClr val="60A5FA"/>
                </a:solidFill>
                <a:latin typeface="Tahoma"/>
                <a:cs typeface="Tahoma"/>
              </a:rPr>
              <a:t>presentation?</a:t>
            </a:r>
            <a:endParaRPr sz="3150">
              <a:latin typeface="Tahoma"/>
              <a:cs typeface="Tahoma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3428178"/>
            <a:ext cx="91896" cy="9189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3987913"/>
            <a:ext cx="91896" cy="91896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4547649"/>
            <a:ext cx="91896" cy="91896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572097" y="2563344"/>
            <a:ext cx="3635375" cy="21844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 spc="-70" b="1">
                <a:solidFill>
                  <a:srgbClr val="FBD34D"/>
                </a:solidFill>
                <a:latin typeface="Tahoma"/>
                <a:cs typeface="Tahoma"/>
              </a:rPr>
              <a:t>Summary</a:t>
            </a:r>
            <a:r>
              <a:rPr dirty="0" sz="2100" spc="-3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points:</a:t>
            </a:r>
            <a:endParaRPr sz="2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sz="2100">
              <a:latin typeface="Tahoma"/>
              <a:cs typeface="Tahoma"/>
            </a:endParaRPr>
          </a:p>
          <a:p>
            <a:pPr marL="346710">
              <a:lnSpc>
                <a:spcPct val="100000"/>
              </a:lnSpc>
            </a:pPr>
            <a:r>
              <a:rPr dirty="0" sz="2100" spc="125">
                <a:solidFill>
                  <a:srgbClr val="F7FAFB"/>
                </a:solidFill>
                <a:latin typeface="Tahoma"/>
                <a:cs typeface="Tahoma"/>
              </a:rPr>
              <a:t>What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is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the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10">
                <a:solidFill>
                  <a:srgbClr val="F7FAFB"/>
                </a:solidFill>
                <a:latin typeface="Tahoma"/>
                <a:cs typeface="Tahoma"/>
              </a:rPr>
              <a:t>scope?</a:t>
            </a:r>
            <a:endParaRPr sz="2100">
              <a:latin typeface="Tahoma"/>
              <a:cs typeface="Tahoma"/>
            </a:endParaRPr>
          </a:p>
          <a:p>
            <a:pPr marL="346710" marR="5080">
              <a:lnSpc>
                <a:spcPct val="174900"/>
              </a:lnSpc>
            </a:pPr>
            <a:r>
              <a:rPr dirty="0" sz="2100" spc="125">
                <a:solidFill>
                  <a:srgbClr val="F7FAFB"/>
                </a:solidFill>
                <a:latin typeface="Tahoma"/>
                <a:cs typeface="Tahoma"/>
              </a:rPr>
              <a:t>What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is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the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methodology? </a:t>
            </a:r>
            <a:r>
              <a:rPr dirty="0" sz="2100" spc="125">
                <a:solidFill>
                  <a:srgbClr val="F7FAFB"/>
                </a:solidFill>
                <a:latin typeface="Tahoma"/>
                <a:cs typeface="Tahoma"/>
              </a:rPr>
              <a:t>What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is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the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0">
                <a:solidFill>
                  <a:srgbClr val="F7FAFB"/>
                </a:solidFill>
                <a:latin typeface="Tahoma"/>
                <a:cs typeface="Tahoma"/>
              </a:rPr>
              <a:t>significance?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543560"/>
          </a:xfrm>
          <a:custGeom>
            <a:avLst/>
            <a:gdLst/>
            <a:ahLst/>
            <a:cxnLst/>
            <a:rect l="l" t="t" r="r" b="b"/>
            <a:pathLst>
              <a:path w="50165" h="543560">
                <a:moveTo>
                  <a:pt x="50125" y="543026"/>
                </a:moveTo>
                <a:lnTo>
                  <a:pt x="0" y="543026"/>
                </a:lnTo>
                <a:lnTo>
                  <a:pt x="0" y="0"/>
                </a:lnTo>
                <a:lnTo>
                  <a:pt x="50125" y="0"/>
                </a:lnTo>
                <a:lnTo>
                  <a:pt x="50125" y="543026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98575" y="1444752"/>
            <a:ext cx="2956560" cy="457200"/>
          </a:xfrm>
          <a:custGeom>
            <a:avLst/>
            <a:gdLst/>
            <a:ahLst/>
            <a:cxnLst/>
            <a:rect l="l" t="t" r="r" b="b"/>
            <a:pathLst>
              <a:path w="2956560" h="457200">
                <a:moveTo>
                  <a:pt x="2956559" y="457199"/>
                </a:moveTo>
                <a:lnTo>
                  <a:pt x="0" y="457199"/>
                </a:lnTo>
                <a:lnTo>
                  <a:pt x="0" y="0"/>
                </a:lnTo>
                <a:lnTo>
                  <a:pt x="2956559" y="0"/>
                </a:lnTo>
                <a:lnTo>
                  <a:pt x="2956559" y="45719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45"/>
              <a:t>Key</a:t>
            </a:r>
            <a:r>
              <a:rPr dirty="0" spc="-180"/>
              <a:t> </a:t>
            </a:r>
            <a:r>
              <a:rPr dirty="0" spc="-140"/>
              <a:t>Takeaways</a:t>
            </a:r>
          </a:p>
        </p:txBody>
      </p:sp>
      <p:grpSp>
        <p:nvGrpSpPr>
          <p:cNvPr id="5" name="object 5" descr=""/>
          <p:cNvGrpSpPr/>
          <p:nvPr/>
        </p:nvGrpSpPr>
        <p:grpSpPr>
          <a:xfrm>
            <a:off x="609860" y="2058080"/>
            <a:ext cx="267335" cy="267335"/>
            <a:chOff x="609860" y="2058080"/>
            <a:chExt cx="267335" cy="267335"/>
          </a:xfrm>
        </p:grpSpPr>
        <p:sp>
          <p:nvSpPr>
            <p:cNvPr id="6" name="object 6" descr=""/>
            <p:cNvSpPr/>
            <p:nvPr/>
          </p:nvSpPr>
          <p:spPr>
            <a:xfrm>
              <a:off x="609860" y="2058080"/>
              <a:ext cx="267335" cy="267335"/>
            </a:xfrm>
            <a:custGeom>
              <a:avLst/>
              <a:gdLst/>
              <a:ahLst/>
              <a:cxnLst/>
              <a:rect l="l" t="t" r="r" b="b"/>
              <a:pathLst>
                <a:path w="267334" h="267335">
                  <a:moveTo>
                    <a:pt x="237632" y="267336"/>
                  </a:moveTo>
                  <a:lnTo>
                    <a:pt x="29704" y="267336"/>
                  </a:lnTo>
                  <a:lnTo>
                    <a:pt x="18142" y="265001"/>
                  </a:lnTo>
                  <a:lnTo>
                    <a:pt x="8700" y="258635"/>
                  </a:lnTo>
                  <a:lnTo>
                    <a:pt x="2334" y="249193"/>
                  </a:lnTo>
                  <a:lnTo>
                    <a:pt x="0" y="237632"/>
                  </a:lnTo>
                  <a:lnTo>
                    <a:pt x="0" y="29704"/>
                  </a:lnTo>
                  <a:lnTo>
                    <a:pt x="2334" y="18142"/>
                  </a:lnTo>
                  <a:lnTo>
                    <a:pt x="8700" y="8700"/>
                  </a:lnTo>
                  <a:lnTo>
                    <a:pt x="18142" y="2334"/>
                  </a:lnTo>
                  <a:lnTo>
                    <a:pt x="29704" y="0"/>
                  </a:lnTo>
                  <a:lnTo>
                    <a:pt x="237632" y="0"/>
                  </a:lnTo>
                  <a:lnTo>
                    <a:pt x="249193" y="2334"/>
                  </a:lnTo>
                  <a:lnTo>
                    <a:pt x="258635" y="8700"/>
                  </a:lnTo>
                  <a:lnTo>
                    <a:pt x="265001" y="18142"/>
                  </a:lnTo>
                  <a:lnTo>
                    <a:pt x="267336" y="29704"/>
                  </a:lnTo>
                  <a:lnTo>
                    <a:pt x="267336" y="237632"/>
                  </a:lnTo>
                  <a:lnTo>
                    <a:pt x="265001" y="249193"/>
                  </a:lnTo>
                  <a:lnTo>
                    <a:pt x="258635" y="258635"/>
                  </a:lnTo>
                  <a:lnTo>
                    <a:pt x="249193" y="265001"/>
                  </a:lnTo>
                  <a:lnTo>
                    <a:pt x="237632" y="267336"/>
                  </a:lnTo>
                  <a:close/>
                </a:path>
              </a:pathLst>
            </a:custGeom>
            <a:solidFill>
              <a:srgbClr val="77B15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2277" y="2102616"/>
              <a:ext cx="183196" cy="179944"/>
            </a:xfrm>
            <a:prstGeom prst="rect">
              <a:avLst/>
            </a:prstGeom>
          </p:spPr>
        </p:pic>
      </p:grpSp>
      <p:grpSp>
        <p:nvGrpSpPr>
          <p:cNvPr id="8" name="object 8" descr=""/>
          <p:cNvGrpSpPr/>
          <p:nvPr/>
        </p:nvGrpSpPr>
        <p:grpSpPr>
          <a:xfrm>
            <a:off x="609860" y="2484147"/>
            <a:ext cx="267335" cy="267335"/>
            <a:chOff x="609860" y="2484147"/>
            <a:chExt cx="267335" cy="267335"/>
          </a:xfrm>
        </p:grpSpPr>
        <p:sp>
          <p:nvSpPr>
            <p:cNvPr id="9" name="object 9" descr=""/>
            <p:cNvSpPr/>
            <p:nvPr/>
          </p:nvSpPr>
          <p:spPr>
            <a:xfrm>
              <a:off x="609860" y="2484147"/>
              <a:ext cx="267335" cy="267335"/>
            </a:xfrm>
            <a:custGeom>
              <a:avLst/>
              <a:gdLst/>
              <a:ahLst/>
              <a:cxnLst/>
              <a:rect l="l" t="t" r="r" b="b"/>
              <a:pathLst>
                <a:path w="267334" h="267335">
                  <a:moveTo>
                    <a:pt x="237632" y="267336"/>
                  </a:moveTo>
                  <a:lnTo>
                    <a:pt x="29704" y="267336"/>
                  </a:lnTo>
                  <a:lnTo>
                    <a:pt x="18142" y="265001"/>
                  </a:lnTo>
                  <a:lnTo>
                    <a:pt x="8700" y="258635"/>
                  </a:lnTo>
                  <a:lnTo>
                    <a:pt x="2334" y="249193"/>
                  </a:lnTo>
                  <a:lnTo>
                    <a:pt x="0" y="237632"/>
                  </a:lnTo>
                  <a:lnTo>
                    <a:pt x="0" y="29704"/>
                  </a:lnTo>
                  <a:lnTo>
                    <a:pt x="2334" y="18142"/>
                  </a:lnTo>
                  <a:lnTo>
                    <a:pt x="8700" y="8700"/>
                  </a:lnTo>
                  <a:lnTo>
                    <a:pt x="18142" y="2334"/>
                  </a:lnTo>
                  <a:lnTo>
                    <a:pt x="29704" y="0"/>
                  </a:lnTo>
                  <a:lnTo>
                    <a:pt x="237632" y="0"/>
                  </a:lnTo>
                  <a:lnTo>
                    <a:pt x="249193" y="2334"/>
                  </a:lnTo>
                  <a:lnTo>
                    <a:pt x="258635" y="8700"/>
                  </a:lnTo>
                  <a:lnTo>
                    <a:pt x="265001" y="18142"/>
                  </a:lnTo>
                  <a:lnTo>
                    <a:pt x="267336" y="29704"/>
                  </a:lnTo>
                  <a:lnTo>
                    <a:pt x="267336" y="237632"/>
                  </a:lnTo>
                  <a:lnTo>
                    <a:pt x="265001" y="249193"/>
                  </a:lnTo>
                  <a:lnTo>
                    <a:pt x="258635" y="258635"/>
                  </a:lnTo>
                  <a:lnTo>
                    <a:pt x="249193" y="265001"/>
                  </a:lnTo>
                  <a:lnTo>
                    <a:pt x="237632" y="267336"/>
                  </a:lnTo>
                  <a:close/>
                </a:path>
              </a:pathLst>
            </a:custGeom>
            <a:solidFill>
              <a:srgbClr val="77B15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2277" y="2528683"/>
              <a:ext cx="183196" cy="179944"/>
            </a:xfrm>
            <a:prstGeom prst="rect">
              <a:avLst/>
            </a:prstGeom>
          </p:spPr>
        </p:pic>
      </p:grpSp>
      <p:grpSp>
        <p:nvGrpSpPr>
          <p:cNvPr id="11" name="object 11" descr=""/>
          <p:cNvGrpSpPr/>
          <p:nvPr/>
        </p:nvGrpSpPr>
        <p:grpSpPr>
          <a:xfrm>
            <a:off x="609860" y="2910214"/>
            <a:ext cx="267335" cy="267335"/>
            <a:chOff x="609860" y="2910214"/>
            <a:chExt cx="267335" cy="267335"/>
          </a:xfrm>
        </p:grpSpPr>
        <p:sp>
          <p:nvSpPr>
            <p:cNvPr id="12" name="object 12" descr=""/>
            <p:cNvSpPr/>
            <p:nvPr/>
          </p:nvSpPr>
          <p:spPr>
            <a:xfrm>
              <a:off x="609860" y="2910214"/>
              <a:ext cx="267335" cy="267335"/>
            </a:xfrm>
            <a:custGeom>
              <a:avLst/>
              <a:gdLst/>
              <a:ahLst/>
              <a:cxnLst/>
              <a:rect l="l" t="t" r="r" b="b"/>
              <a:pathLst>
                <a:path w="267334" h="267335">
                  <a:moveTo>
                    <a:pt x="237632" y="267336"/>
                  </a:moveTo>
                  <a:lnTo>
                    <a:pt x="29704" y="267336"/>
                  </a:lnTo>
                  <a:lnTo>
                    <a:pt x="18142" y="265001"/>
                  </a:lnTo>
                  <a:lnTo>
                    <a:pt x="8700" y="258635"/>
                  </a:lnTo>
                  <a:lnTo>
                    <a:pt x="2334" y="249193"/>
                  </a:lnTo>
                  <a:lnTo>
                    <a:pt x="0" y="237632"/>
                  </a:lnTo>
                  <a:lnTo>
                    <a:pt x="0" y="29704"/>
                  </a:lnTo>
                  <a:lnTo>
                    <a:pt x="2334" y="18142"/>
                  </a:lnTo>
                  <a:lnTo>
                    <a:pt x="8700" y="8700"/>
                  </a:lnTo>
                  <a:lnTo>
                    <a:pt x="18142" y="2334"/>
                  </a:lnTo>
                  <a:lnTo>
                    <a:pt x="29704" y="0"/>
                  </a:lnTo>
                  <a:lnTo>
                    <a:pt x="237632" y="0"/>
                  </a:lnTo>
                  <a:lnTo>
                    <a:pt x="249193" y="2334"/>
                  </a:lnTo>
                  <a:lnTo>
                    <a:pt x="258635" y="8700"/>
                  </a:lnTo>
                  <a:lnTo>
                    <a:pt x="265001" y="18142"/>
                  </a:lnTo>
                  <a:lnTo>
                    <a:pt x="267336" y="29704"/>
                  </a:lnTo>
                  <a:lnTo>
                    <a:pt x="267336" y="237632"/>
                  </a:lnTo>
                  <a:lnTo>
                    <a:pt x="265001" y="249193"/>
                  </a:lnTo>
                  <a:lnTo>
                    <a:pt x="258635" y="258635"/>
                  </a:lnTo>
                  <a:lnTo>
                    <a:pt x="249193" y="265001"/>
                  </a:lnTo>
                  <a:lnTo>
                    <a:pt x="237632" y="267336"/>
                  </a:lnTo>
                  <a:close/>
                </a:path>
              </a:pathLst>
            </a:custGeom>
            <a:solidFill>
              <a:srgbClr val="77B15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2277" y="2954751"/>
              <a:ext cx="183196" cy="179944"/>
            </a:xfrm>
            <a:prstGeom prst="rect">
              <a:avLst/>
            </a:prstGeom>
          </p:spPr>
        </p:pic>
      </p:grpSp>
      <p:grpSp>
        <p:nvGrpSpPr>
          <p:cNvPr id="14" name="object 14" descr=""/>
          <p:cNvGrpSpPr/>
          <p:nvPr/>
        </p:nvGrpSpPr>
        <p:grpSpPr>
          <a:xfrm>
            <a:off x="609860" y="3344636"/>
            <a:ext cx="267335" cy="267335"/>
            <a:chOff x="609860" y="3344636"/>
            <a:chExt cx="267335" cy="267335"/>
          </a:xfrm>
        </p:grpSpPr>
        <p:sp>
          <p:nvSpPr>
            <p:cNvPr id="15" name="object 15" descr=""/>
            <p:cNvSpPr/>
            <p:nvPr/>
          </p:nvSpPr>
          <p:spPr>
            <a:xfrm>
              <a:off x="609860" y="3344636"/>
              <a:ext cx="267335" cy="267335"/>
            </a:xfrm>
            <a:custGeom>
              <a:avLst/>
              <a:gdLst/>
              <a:ahLst/>
              <a:cxnLst/>
              <a:rect l="l" t="t" r="r" b="b"/>
              <a:pathLst>
                <a:path w="267334" h="267335">
                  <a:moveTo>
                    <a:pt x="237632" y="267336"/>
                  </a:moveTo>
                  <a:lnTo>
                    <a:pt x="29704" y="267336"/>
                  </a:lnTo>
                  <a:lnTo>
                    <a:pt x="18142" y="265001"/>
                  </a:lnTo>
                  <a:lnTo>
                    <a:pt x="8700" y="258635"/>
                  </a:lnTo>
                  <a:lnTo>
                    <a:pt x="2334" y="249193"/>
                  </a:lnTo>
                  <a:lnTo>
                    <a:pt x="0" y="237632"/>
                  </a:lnTo>
                  <a:lnTo>
                    <a:pt x="0" y="29704"/>
                  </a:lnTo>
                  <a:lnTo>
                    <a:pt x="2334" y="18142"/>
                  </a:lnTo>
                  <a:lnTo>
                    <a:pt x="8700" y="8700"/>
                  </a:lnTo>
                  <a:lnTo>
                    <a:pt x="18142" y="2334"/>
                  </a:lnTo>
                  <a:lnTo>
                    <a:pt x="29704" y="0"/>
                  </a:lnTo>
                  <a:lnTo>
                    <a:pt x="237632" y="0"/>
                  </a:lnTo>
                  <a:lnTo>
                    <a:pt x="249193" y="2334"/>
                  </a:lnTo>
                  <a:lnTo>
                    <a:pt x="258635" y="8700"/>
                  </a:lnTo>
                  <a:lnTo>
                    <a:pt x="265001" y="18142"/>
                  </a:lnTo>
                  <a:lnTo>
                    <a:pt x="267336" y="29704"/>
                  </a:lnTo>
                  <a:lnTo>
                    <a:pt x="267336" y="237632"/>
                  </a:lnTo>
                  <a:lnTo>
                    <a:pt x="265001" y="249193"/>
                  </a:lnTo>
                  <a:lnTo>
                    <a:pt x="258635" y="258635"/>
                  </a:lnTo>
                  <a:lnTo>
                    <a:pt x="249193" y="265001"/>
                  </a:lnTo>
                  <a:lnTo>
                    <a:pt x="237632" y="267336"/>
                  </a:lnTo>
                  <a:close/>
                </a:path>
              </a:pathLst>
            </a:custGeom>
            <a:solidFill>
              <a:srgbClr val="77B15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2277" y="3389172"/>
              <a:ext cx="183196" cy="179944"/>
            </a:xfrm>
            <a:prstGeom prst="rect">
              <a:avLst/>
            </a:prstGeom>
          </p:spPr>
        </p:pic>
      </p:grpSp>
      <p:grpSp>
        <p:nvGrpSpPr>
          <p:cNvPr id="17" name="object 17" descr=""/>
          <p:cNvGrpSpPr/>
          <p:nvPr/>
        </p:nvGrpSpPr>
        <p:grpSpPr>
          <a:xfrm>
            <a:off x="609860" y="3770703"/>
            <a:ext cx="267335" cy="267335"/>
            <a:chOff x="609860" y="3770703"/>
            <a:chExt cx="267335" cy="267335"/>
          </a:xfrm>
        </p:grpSpPr>
        <p:sp>
          <p:nvSpPr>
            <p:cNvPr id="18" name="object 18" descr=""/>
            <p:cNvSpPr/>
            <p:nvPr/>
          </p:nvSpPr>
          <p:spPr>
            <a:xfrm>
              <a:off x="609860" y="3770703"/>
              <a:ext cx="267335" cy="267335"/>
            </a:xfrm>
            <a:custGeom>
              <a:avLst/>
              <a:gdLst/>
              <a:ahLst/>
              <a:cxnLst/>
              <a:rect l="l" t="t" r="r" b="b"/>
              <a:pathLst>
                <a:path w="267334" h="267335">
                  <a:moveTo>
                    <a:pt x="237632" y="267336"/>
                  </a:moveTo>
                  <a:lnTo>
                    <a:pt x="29704" y="267336"/>
                  </a:lnTo>
                  <a:lnTo>
                    <a:pt x="18142" y="265001"/>
                  </a:lnTo>
                  <a:lnTo>
                    <a:pt x="8700" y="258635"/>
                  </a:lnTo>
                  <a:lnTo>
                    <a:pt x="2334" y="249193"/>
                  </a:lnTo>
                  <a:lnTo>
                    <a:pt x="0" y="237632"/>
                  </a:lnTo>
                  <a:lnTo>
                    <a:pt x="0" y="29704"/>
                  </a:lnTo>
                  <a:lnTo>
                    <a:pt x="2334" y="18142"/>
                  </a:lnTo>
                  <a:lnTo>
                    <a:pt x="8700" y="8700"/>
                  </a:lnTo>
                  <a:lnTo>
                    <a:pt x="18142" y="2334"/>
                  </a:lnTo>
                  <a:lnTo>
                    <a:pt x="29704" y="0"/>
                  </a:lnTo>
                  <a:lnTo>
                    <a:pt x="237632" y="0"/>
                  </a:lnTo>
                  <a:lnTo>
                    <a:pt x="249193" y="2334"/>
                  </a:lnTo>
                  <a:lnTo>
                    <a:pt x="258635" y="8700"/>
                  </a:lnTo>
                  <a:lnTo>
                    <a:pt x="265001" y="18142"/>
                  </a:lnTo>
                  <a:lnTo>
                    <a:pt x="267336" y="29704"/>
                  </a:lnTo>
                  <a:lnTo>
                    <a:pt x="267336" y="237632"/>
                  </a:lnTo>
                  <a:lnTo>
                    <a:pt x="265001" y="249193"/>
                  </a:lnTo>
                  <a:lnTo>
                    <a:pt x="258635" y="258635"/>
                  </a:lnTo>
                  <a:lnTo>
                    <a:pt x="249193" y="265001"/>
                  </a:lnTo>
                  <a:lnTo>
                    <a:pt x="237632" y="267336"/>
                  </a:lnTo>
                  <a:close/>
                </a:path>
              </a:pathLst>
            </a:custGeom>
            <a:solidFill>
              <a:srgbClr val="77B15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2277" y="3815239"/>
              <a:ext cx="183196" cy="179944"/>
            </a:xfrm>
            <a:prstGeom prst="rect">
              <a:avLst/>
            </a:prstGeom>
          </p:spPr>
        </p:pic>
      </p:grpSp>
      <p:sp>
        <p:nvSpPr>
          <p:cNvPr id="20" name="object 20" descr=""/>
          <p:cNvSpPr txBox="1"/>
          <p:nvPr/>
        </p:nvSpPr>
        <p:spPr>
          <a:xfrm>
            <a:off x="941512" y="1915054"/>
            <a:ext cx="6723380" cy="2164715"/>
          </a:xfrm>
          <a:prstGeom prst="rect">
            <a:avLst/>
          </a:prstGeom>
        </p:spPr>
        <p:txBody>
          <a:bodyPr wrap="square" lIns="0" tIns="1181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dirty="0" sz="2100" spc="-50" b="1">
                <a:solidFill>
                  <a:srgbClr val="FBD34D"/>
                </a:solidFill>
                <a:latin typeface="Tahoma"/>
                <a:cs typeface="Tahoma"/>
              </a:rPr>
              <a:t>338</a:t>
            </a:r>
            <a:r>
              <a:rPr dirty="0" sz="2100" spc="-6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20" b="1">
                <a:solidFill>
                  <a:srgbClr val="FBD34D"/>
                </a:solidFill>
                <a:latin typeface="Tahoma"/>
                <a:cs typeface="Tahoma"/>
              </a:rPr>
              <a:t>texts</a:t>
            </a:r>
            <a:r>
              <a:rPr dirty="0" sz="2100" spc="-5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across</a:t>
            </a:r>
            <a:r>
              <a:rPr dirty="0" sz="2100" spc="-10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140" b="1">
                <a:solidFill>
                  <a:srgbClr val="FBD34D"/>
                </a:solidFill>
                <a:latin typeface="Tahoma"/>
                <a:cs typeface="Tahoma"/>
              </a:rPr>
              <a:t>3000+</a:t>
            </a:r>
            <a:r>
              <a:rPr dirty="0" sz="2100" spc="-4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years</a:t>
            </a:r>
            <a:endParaRPr sz="2100">
              <a:latin typeface="Tahoma"/>
              <a:cs typeface="Tahoma"/>
            </a:endParaRPr>
          </a:p>
          <a:p>
            <a:pPr marL="12700" marR="260350">
              <a:lnSpc>
                <a:spcPct val="133100"/>
              </a:lnSpc>
              <a:spcBef>
                <a:spcPts val="5"/>
              </a:spcBef>
            </a:pP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Multiple</a:t>
            </a:r>
            <a:r>
              <a:rPr dirty="0" sz="2100" spc="2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70" b="1">
                <a:solidFill>
                  <a:srgbClr val="FBD34D"/>
                </a:solidFill>
                <a:latin typeface="Tahoma"/>
                <a:cs typeface="Tahoma"/>
              </a:rPr>
              <a:t>languages</a:t>
            </a:r>
            <a:r>
              <a:rPr dirty="0" sz="2100" spc="2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and</a:t>
            </a:r>
            <a:r>
              <a:rPr dirty="0" sz="2100" spc="-2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translation</a:t>
            </a:r>
            <a:r>
              <a:rPr dirty="0" sz="2100" spc="-1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traditions </a:t>
            </a: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Philology</a:t>
            </a:r>
            <a:r>
              <a:rPr dirty="0" sz="2100" spc="-10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500" b="1">
                <a:solidFill>
                  <a:srgbClr val="FBD34D"/>
                </a:solidFill>
                <a:latin typeface="Tahoma"/>
                <a:cs typeface="Tahoma"/>
              </a:rPr>
              <a:t>+</a:t>
            </a:r>
            <a:r>
              <a:rPr dirty="0" sz="2100" spc="-4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20" b="1">
                <a:solidFill>
                  <a:srgbClr val="FBD34D"/>
                </a:solidFill>
                <a:latin typeface="Tahoma"/>
                <a:cs typeface="Tahoma"/>
              </a:rPr>
              <a:t>Computation</a:t>
            </a:r>
            <a:r>
              <a:rPr dirty="0" sz="2100" spc="-6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305">
                <a:solidFill>
                  <a:srgbClr val="F7FAFB"/>
                </a:solidFill>
                <a:latin typeface="Tahoma"/>
                <a:cs typeface="Tahoma"/>
              </a:rPr>
              <a:t>=</a:t>
            </a:r>
            <a:r>
              <a:rPr dirty="0" sz="2100" spc="-9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5">
                <a:solidFill>
                  <a:srgbClr val="F7FAFB"/>
                </a:solidFill>
                <a:latin typeface="Tahoma"/>
                <a:cs typeface="Tahoma"/>
              </a:rPr>
              <a:t>powerful</a:t>
            </a:r>
            <a:r>
              <a:rPr dirty="0" sz="2100" spc="-11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methodology </a:t>
            </a: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Valency</a:t>
            </a:r>
            <a:r>
              <a:rPr dirty="0" sz="2100" spc="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as</a:t>
            </a:r>
            <a:r>
              <a:rPr dirty="0" sz="2100" spc="-4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lens</a:t>
            </a:r>
            <a:r>
              <a:rPr dirty="0" sz="2100" spc="-3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for</a:t>
            </a:r>
            <a:r>
              <a:rPr dirty="0" sz="2100" spc="-3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understanding</a:t>
            </a:r>
            <a:r>
              <a:rPr dirty="0" sz="2100" spc="-4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language</a:t>
            </a:r>
            <a:r>
              <a:rPr dirty="0" sz="2100" spc="-3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10">
                <a:solidFill>
                  <a:srgbClr val="F7FAFB"/>
                </a:solidFill>
                <a:latin typeface="Tahoma"/>
                <a:cs typeface="Tahoma"/>
              </a:rPr>
              <a:t>change</a:t>
            </a:r>
            <a:endParaRPr sz="2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Open</a:t>
            </a:r>
            <a:r>
              <a:rPr dirty="0" sz="2100" spc="-5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50" b="1">
                <a:solidFill>
                  <a:srgbClr val="FBD34D"/>
                </a:solidFill>
                <a:latin typeface="Tahoma"/>
                <a:cs typeface="Tahoma"/>
              </a:rPr>
              <a:t>access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resource</a:t>
            </a:r>
            <a:r>
              <a:rPr dirty="0" sz="2100" spc="-10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for</a:t>
            </a:r>
            <a:r>
              <a:rPr dirty="0" sz="2100" spc="-9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global</a:t>
            </a:r>
            <a:r>
              <a:rPr dirty="0" sz="2100" spc="-10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research</a:t>
            </a:r>
            <a:r>
              <a:rPr dirty="0" sz="2100" spc="-9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community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543560"/>
          </a:xfrm>
          <a:custGeom>
            <a:avLst/>
            <a:gdLst/>
            <a:ahLst/>
            <a:cxnLst/>
            <a:rect l="l" t="t" r="r" b="b"/>
            <a:pathLst>
              <a:path w="50165" h="543560">
                <a:moveTo>
                  <a:pt x="50125" y="543026"/>
                </a:moveTo>
                <a:lnTo>
                  <a:pt x="0" y="543026"/>
                </a:lnTo>
                <a:lnTo>
                  <a:pt x="0" y="0"/>
                </a:lnTo>
                <a:lnTo>
                  <a:pt x="50125" y="0"/>
                </a:lnTo>
                <a:lnTo>
                  <a:pt x="50125" y="543026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77239" y="1444752"/>
            <a:ext cx="4706620" cy="463550"/>
          </a:xfrm>
          <a:custGeom>
            <a:avLst/>
            <a:gdLst/>
            <a:ahLst/>
            <a:cxnLst/>
            <a:rect l="l" t="t" r="r" b="b"/>
            <a:pathLst>
              <a:path w="4706620" h="463550">
                <a:moveTo>
                  <a:pt x="4706111" y="463295"/>
                </a:moveTo>
                <a:lnTo>
                  <a:pt x="0" y="463295"/>
                </a:lnTo>
                <a:lnTo>
                  <a:pt x="0" y="0"/>
                </a:lnTo>
                <a:lnTo>
                  <a:pt x="4706111" y="0"/>
                </a:lnTo>
                <a:lnTo>
                  <a:pt x="4706111" y="463295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45"/>
              <a:t>Theoretical</a:t>
            </a:r>
            <a:r>
              <a:rPr dirty="0" spc="-130"/>
              <a:t> </a:t>
            </a:r>
            <a:r>
              <a:rPr dirty="0" spc="-65"/>
              <a:t>Significance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2885151"/>
            <a:ext cx="91896" cy="91896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3444887"/>
            <a:ext cx="91896" cy="9189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4004622"/>
            <a:ext cx="91896" cy="9189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4572711"/>
            <a:ext cx="91896" cy="91896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572097" y="2020317"/>
            <a:ext cx="6952615" cy="27527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Why</a:t>
            </a:r>
            <a:r>
              <a:rPr dirty="0" sz="2100" spc="-7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This</a:t>
            </a:r>
            <a:r>
              <a:rPr dirty="0" sz="2100" spc="-7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Matters:</a:t>
            </a:r>
            <a:endParaRPr sz="2100">
              <a:latin typeface="Tahoma"/>
              <a:cs typeface="Tahoma"/>
            </a:endParaRPr>
          </a:p>
          <a:p>
            <a:pPr marL="346710" marR="5080">
              <a:lnSpc>
                <a:spcPct val="175800"/>
              </a:lnSpc>
              <a:spcBef>
                <a:spcPts val="1225"/>
              </a:spcBef>
            </a:pP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Understanding</a:t>
            </a:r>
            <a:r>
              <a:rPr dirty="0" sz="2100" spc="-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60" b="1">
                <a:solidFill>
                  <a:srgbClr val="FBD34D"/>
                </a:solidFill>
                <a:latin typeface="Tahoma"/>
                <a:cs typeface="Tahoma"/>
              </a:rPr>
              <a:t>mechanisms</a:t>
            </a:r>
            <a:r>
              <a:rPr dirty="0" sz="2100" spc="3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of</a:t>
            </a:r>
            <a:r>
              <a:rPr dirty="0" sz="2100" spc="-1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language</a:t>
            </a:r>
            <a:r>
              <a:rPr dirty="0" sz="2100" spc="-10">
                <a:solidFill>
                  <a:srgbClr val="F7FAFB"/>
                </a:solidFill>
                <a:latin typeface="Tahoma"/>
                <a:cs typeface="Tahoma"/>
              </a:rPr>
              <a:t> change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Documenting</a:t>
            </a:r>
            <a:r>
              <a:rPr dirty="0" sz="2100" spc="-9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50" b="1">
                <a:solidFill>
                  <a:srgbClr val="FBD34D"/>
                </a:solidFill>
                <a:latin typeface="Tahoma"/>
                <a:cs typeface="Tahoma"/>
              </a:rPr>
              <a:t>long-</a:t>
            </a:r>
            <a:r>
              <a:rPr dirty="0" sz="2100" spc="-20" b="1">
                <a:solidFill>
                  <a:srgbClr val="FBD34D"/>
                </a:solidFill>
                <a:latin typeface="Tahoma"/>
                <a:cs typeface="Tahoma"/>
              </a:rPr>
              <a:t>term</a:t>
            </a:r>
            <a:r>
              <a:rPr dirty="0" sz="2100" spc="-4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syntactic</a:t>
            </a:r>
            <a:r>
              <a:rPr dirty="0" sz="2100" spc="-9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evolution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Revealing</a:t>
            </a:r>
            <a:r>
              <a:rPr dirty="0" sz="2100" spc="-11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contact</a:t>
            </a:r>
            <a:r>
              <a:rPr dirty="0" sz="2100" spc="-6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effects</a:t>
            </a:r>
            <a:r>
              <a:rPr dirty="0" sz="2100" spc="-6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in</a:t>
            </a:r>
            <a:r>
              <a:rPr dirty="0" sz="2100" spc="-10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14">
                <a:solidFill>
                  <a:srgbClr val="F7FAFB"/>
                </a:solidFill>
                <a:latin typeface="Tahoma"/>
                <a:cs typeface="Tahoma"/>
              </a:rPr>
              <a:t>written</a:t>
            </a:r>
            <a:r>
              <a:rPr dirty="0" sz="2100" spc="-11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10">
                <a:solidFill>
                  <a:srgbClr val="F7FAFB"/>
                </a:solidFill>
                <a:latin typeface="Tahoma"/>
                <a:cs typeface="Tahoma"/>
              </a:rPr>
              <a:t>language </a:t>
            </a:r>
            <a:r>
              <a:rPr dirty="0" sz="2100" spc="95">
                <a:solidFill>
                  <a:srgbClr val="F7FAFB"/>
                </a:solidFill>
                <a:latin typeface="Tahoma"/>
                <a:cs typeface="Tahoma"/>
              </a:rPr>
              <a:t>Building</a:t>
            </a:r>
            <a:r>
              <a:rPr dirty="0" sz="2100" spc="-9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20" b="1">
                <a:solidFill>
                  <a:srgbClr val="FBD34D"/>
                </a:solidFill>
                <a:latin typeface="Tahoma"/>
                <a:cs typeface="Tahoma"/>
              </a:rPr>
              <a:t>empirical</a:t>
            </a:r>
            <a:r>
              <a:rPr dirty="0" sz="2100" spc="-5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20" b="1">
                <a:solidFill>
                  <a:srgbClr val="FBD34D"/>
                </a:solidFill>
                <a:latin typeface="Tahoma"/>
                <a:cs typeface="Tahoma"/>
              </a:rPr>
              <a:t>foundation</a:t>
            </a:r>
            <a:r>
              <a:rPr dirty="0" sz="2100" spc="-4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for</a:t>
            </a:r>
            <a:r>
              <a:rPr dirty="0" sz="2100" spc="-9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diachronic</a:t>
            </a:r>
            <a:r>
              <a:rPr dirty="0" sz="2100" spc="-9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theory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543560"/>
          </a:xfrm>
          <a:custGeom>
            <a:avLst/>
            <a:gdLst/>
            <a:ahLst/>
            <a:cxnLst/>
            <a:rect l="l" t="t" r="r" b="b"/>
            <a:pathLst>
              <a:path w="50165" h="543560">
                <a:moveTo>
                  <a:pt x="50125" y="543026"/>
                </a:moveTo>
                <a:lnTo>
                  <a:pt x="0" y="543026"/>
                </a:lnTo>
                <a:lnTo>
                  <a:pt x="0" y="0"/>
                </a:lnTo>
                <a:lnTo>
                  <a:pt x="50125" y="0"/>
                </a:lnTo>
                <a:lnTo>
                  <a:pt x="50125" y="543026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98575" y="1444752"/>
            <a:ext cx="7824470" cy="457200"/>
          </a:xfrm>
          <a:custGeom>
            <a:avLst/>
            <a:gdLst/>
            <a:ahLst/>
            <a:cxnLst/>
            <a:rect l="l" t="t" r="r" b="b"/>
            <a:pathLst>
              <a:path w="7824470" h="457200">
                <a:moveTo>
                  <a:pt x="7824215" y="457199"/>
                </a:moveTo>
                <a:lnTo>
                  <a:pt x="0" y="457199"/>
                </a:lnTo>
                <a:lnTo>
                  <a:pt x="0" y="0"/>
                </a:lnTo>
                <a:lnTo>
                  <a:pt x="7824215" y="0"/>
                </a:lnTo>
                <a:lnTo>
                  <a:pt x="7824215" y="45719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89308" y="1360331"/>
            <a:ext cx="7805420" cy="5067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35"/>
              <a:t>Practical</a:t>
            </a:r>
            <a:r>
              <a:rPr dirty="0" spc="-130"/>
              <a:t> </a:t>
            </a:r>
            <a:r>
              <a:rPr dirty="0" spc="-40"/>
              <a:t>Applications</a:t>
            </a:r>
            <a:r>
              <a:rPr dirty="0" spc="-130"/>
              <a:t> </a:t>
            </a:r>
            <a:r>
              <a:rPr dirty="0" spc="-105"/>
              <a:t>Beyond</a:t>
            </a:r>
            <a:r>
              <a:rPr dirty="0" spc="-125"/>
              <a:t> </a:t>
            </a:r>
            <a:r>
              <a:rPr dirty="0" spc="-10"/>
              <a:t>Academia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2885151"/>
            <a:ext cx="91896" cy="91896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3444887"/>
            <a:ext cx="91896" cy="9189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4004622"/>
            <a:ext cx="91896" cy="9189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4572711"/>
            <a:ext cx="91896" cy="91896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572097" y="2020317"/>
            <a:ext cx="8395970" cy="27527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 spc="-45" b="1">
                <a:solidFill>
                  <a:srgbClr val="FBD34D"/>
                </a:solidFill>
                <a:latin typeface="Tahoma"/>
                <a:cs typeface="Tahoma"/>
              </a:rPr>
              <a:t>Real-</a:t>
            </a: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World</a:t>
            </a:r>
            <a:r>
              <a:rPr dirty="0" sz="2100" spc="5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20" b="1">
                <a:solidFill>
                  <a:srgbClr val="FBD34D"/>
                </a:solidFill>
                <a:latin typeface="Tahoma"/>
                <a:cs typeface="Tahoma"/>
              </a:rPr>
              <a:t>Uses:</a:t>
            </a:r>
            <a:endParaRPr sz="2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sz="2100">
              <a:latin typeface="Tahoma"/>
              <a:cs typeface="Tahoma"/>
            </a:endParaRPr>
          </a:p>
          <a:p>
            <a:pPr marL="346710">
              <a:lnSpc>
                <a:spcPct val="100000"/>
              </a:lnSpc>
            </a:pPr>
            <a:r>
              <a:rPr dirty="0" sz="2100" spc="-30" b="1">
                <a:solidFill>
                  <a:srgbClr val="FBD34D"/>
                </a:solidFill>
                <a:latin typeface="Tahoma"/>
                <a:cs typeface="Tahoma"/>
              </a:rPr>
              <a:t>Translation</a:t>
            </a:r>
            <a:r>
              <a:rPr dirty="0" sz="2100" spc="1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25" b="1">
                <a:solidFill>
                  <a:srgbClr val="FBD34D"/>
                </a:solidFill>
                <a:latin typeface="Tahoma"/>
                <a:cs typeface="Tahoma"/>
              </a:rPr>
              <a:t>technology</a:t>
            </a:r>
            <a:r>
              <a:rPr dirty="0" sz="2100" spc="1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(machine</a:t>
            </a:r>
            <a:r>
              <a:rPr dirty="0" sz="2100" spc="-3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translation</a:t>
            </a:r>
            <a:r>
              <a:rPr dirty="0" sz="2100" spc="-3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of</a:t>
            </a:r>
            <a:r>
              <a:rPr dirty="0" sz="2100" spc="-3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historical</a:t>
            </a:r>
            <a:r>
              <a:rPr dirty="0" sz="2100" spc="-3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40">
                <a:solidFill>
                  <a:srgbClr val="F7FAFB"/>
                </a:solidFill>
                <a:latin typeface="Tahoma"/>
                <a:cs typeface="Tahoma"/>
              </a:rPr>
              <a:t>texts)</a:t>
            </a:r>
            <a:endParaRPr sz="2100">
              <a:latin typeface="Tahoma"/>
              <a:cs typeface="Tahoma"/>
            </a:endParaRPr>
          </a:p>
          <a:p>
            <a:pPr marL="346710">
              <a:lnSpc>
                <a:spcPct val="100000"/>
              </a:lnSpc>
              <a:spcBef>
                <a:spcPts val="1890"/>
              </a:spcBef>
            </a:pPr>
            <a:r>
              <a:rPr dirty="0" sz="2100" spc="-85" b="1">
                <a:solidFill>
                  <a:srgbClr val="FBD34D"/>
                </a:solidFill>
                <a:latin typeface="Tahoma"/>
                <a:cs typeface="Tahoma"/>
              </a:rPr>
              <a:t>Language</a:t>
            </a:r>
            <a:r>
              <a:rPr dirty="0" sz="2100" spc="-5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35" b="1">
                <a:solidFill>
                  <a:srgbClr val="FBD34D"/>
                </a:solidFill>
                <a:latin typeface="Tahoma"/>
                <a:cs typeface="Tahoma"/>
              </a:rPr>
              <a:t>learning</a:t>
            </a:r>
            <a:r>
              <a:rPr dirty="0" sz="2100" spc="-5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resources</a:t>
            </a:r>
            <a:endParaRPr sz="2100">
              <a:latin typeface="Tahoma"/>
              <a:cs typeface="Tahoma"/>
            </a:endParaRPr>
          </a:p>
          <a:p>
            <a:pPr marL="346710">
              <a:lnSpc>
                <a:spcPct val="100000"/>
              </a:lnSpc>
              <a:spcBef>
                <a:spcPts val="1885"/>
              </a:spcBef>
            </a:pP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Cultural</a:t>
            </a:r>
            <a:r>
              <a:rPr dirty="0" sz="2100" spc="-9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30" b="1">
                <a:solidFill>
                  <a:srgbClr val="FBD34D"/>
                </a:solidFill>
                <a:latin typeface="Tahoma"/>
                <a:cs typeface="Tahoma"/>
              </a:rPr>
              <a:t>heritage</a:t>
            </a:r>
            <a:r>
              <a:rPr dirty="0" sz="2100" spc="-9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preservation</a:t>
            </a:r>
            <a:endParaRPr sz="2100">
              <a:latin typeface="Tahoma"/>
              <a:cs typeface="Tahoma"/>
            </a:endParaRPr>
          </a:p>
          <a:p>
            <a:pPr marL="346710">
              <a:lnSpc>
                <a:spcPct val="100000"/>
              </a:lnSpc>
              <a:spcBef>
                <a:spcPts val="1955"/>
              </a:spcBef>
            </a:pP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Digital</a:t>
            </a:r>
            <a:r>
              <a:rPr dirty="0" sz="2100" spc="-10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20" b="1">
                <a:solidFill>
                  <a:srgbClr val="FBD34D"/>
                </a:solidFill>
                <a:latin typeface="Tahoma"/>
                <a:cs typeface="Tahoma"/>
              </a:rPr>
              <a:t>archive</a:t>
            </a:r>
            <a:r>
              <a:rPr dirty="0" sz="2100" spc="-9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infrastructure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543560"/>
          </a:xfrm>
          <a:custGeom>
            <a:avLst/>
            <a:gdLst/>
            <a:ahLst/>
            <a:cxnLst/>
            <a:rect l="l" t="t" r="r" b="b"/>
            <a:pathLst>
              <a:path w="50165" h="543560">
                <a:moveTo>
                  <a:pt x="50125" y="543026"/>
                </a:moveTo>
                <a:lnTo>
                  <a:pt x="0" y="543026"/>
                </a:lnTo>
                <a:lnTo>
                  <a:pt x="0" y="0"/>
                </a:lnTo>
                <a:lnTo>
                  <a:pt x="50125" y="0"/>
                </a:lnTo>
                <a:lnTo>
                  <a:pt x="50125" y="543026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74191" y="1444752"/>
            <a:ext cx="4060190" cy="396240"/>
          </a:xfrm>
          <a:custGeom>
            <a:avLst/>
            <a:gdLst/>
            <a:ahLst/>
            <a:cxnLst/>
            <a:rect l="l" t="t" r="r" b="b"/>
            <a:pathLst>
              <a:path w="4060190" h="396239">
                <a:moveTo>
                  <a:pt x="4059935" y="396239"/>
                </a:moveTo>
                <a:lnTo>
                  <a:pt x="0" y="396239"/>
                </a:lnTo>
                <a:lnTo>
                  <a:pt x="0" y="0"/>
                </a:lnTo>
                <a:lnTo>
                  <a:pt x="4059935" y="0"/>
                </a:lnTo>
                <a:lnTo>
                  <a:pt x="4059935" y="39623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89308" y="1360331"/>
            <a:ext cx="4007485" cy="5067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Vision</a:t>
            </a:r>
            <a:r>
              <a:rPr dirty="0" spc="-204"/>
              <a:t> </a:t>
            </a:r>
            <a:r>
              <a:rPr dirty="0" spc="-20"/>
              <a:t>for</a:t>
            </a:r>
            <a:r>
              <a:rPr dirty="0" spc="-180"/>
              <a:t> </a:t>
            </a:r>
            <a:r>
              <a:rPr dirty="0" spc="-90"/>
              <a:t>the</a:t>
            </a:r>
            <a:r>
              <a:rPr dirty="0" spc="-150"/>
              <a:t> </a:t>
            </a:r>
            <a:r>
              <a:rPr dirty="0" spc="-35"/>
              <a:t>Future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2885151"/>
            <a:ext cx="91896" cy="91896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3444887"/>
            <a:ext cx="91896" cy="9189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4004622"/>
            <a:ext cx="91896" cy="9189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4572711"/>
            <a:ext cx="91896" cy="91896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572097" y="2020317"/>
            <a:ext cx="6797675" cy="27527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 spc="-110" b="1">
                <a:solidFill>
                  <a:srgbClr val="FBD34D"/>
                </a:solidFill>
                <a:latin typeface="Tahoma"/>
                <a:cs typeface="Tahoma"/>
              </a:rPr>
              <a:t>Long-</a:t>
            </a:r>
            <a:r>
              <a:rPr dirty="0" sz="2100" spc="-95" b="1">
                <a:solidFill>
                  <a:srgbClr val="FBD34D"/>
                </a:solidFill>
                <a:latin typeface="Tahoma"/>
                <a:cs typeface="Tahoma"/>
              </a:rPr>
              <a:t>Term</a:t>
            </a: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Goals:</a:t>
            </a:r>
            <a:endParaRPr sz="2100">
              <a:latin typeface="Tahoma"/>
              <a:cs typeface="Tahoma"/>
            </a:endParaRPr>
          </a:p>
          <a:p>
            <a:pPr marL="346710" marR="5080">
              <a:lnSpc>
                <a:spcPct val="174900"/>
              </a:lnSpc>
              <a:spcBef>
                <a:spcPts val="1250"/>
              </a:spcBef>
            </a:pP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Become</a:t>
            </a:r>
            <a:r>
              <a:rPr dirty="0" sz="2100" spc="-114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the</a:t>
            </a:r>
            <a:r>
              <a:rPr dirty="0" sz="2100" spc="-10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reference</a:t>
            </a:r>
            <a:r>
              <a:rPr dirty="0" sz="2100" spc="-6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30" b="1">
                <a:solidFill>
                  <a:srgbClr val="FBD34D"/>
                </a:solidFill>
                <a:latin typeface="Tahoma"/>
                <a:cs typeface="Tahoma"/>
              </a:rPr>
              <a:t>corpus</a:t>
            </a:r>
            <a:r>
              <a:rPr dirty="0" sz="2100" spc="-6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for</a:t>
            </a:r>
            <a:r>
              <a:rPr dirty="0" sz="2100" spc="-11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diachronic</a:t>
            </a:r>
            <a:r>
              <a:rPr dirty="0" sz="2100" spc="-11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5">
                <a:solidFill>
                  <a:srgbClr val="F7FAFB"/>
                </a:solidFill>
                <a:latin typeface="Tahoma"/>
                <a:cs typeface="Tahoma"/>
              </a:rPr>
              <a:t>Greek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Expand</a:t>
            </a:r>
            <a:r>
              <a:rPr dirty="0" sz="2100" spc="-10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to</a:t>
            </a:r>
            <a:r>
              <a:rPr dirty="0" sz="2100" spc="-9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include</a:t>
            </a:r>
            <a:r>
              <a:rPr dirty="0" sz="2100" spc="-9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35" b="1">
                <a:solidFill>
                  <a:srgbClr val="FBD34D"/>
                </a:solidFill>
                <a:latin typeface="Tahoma"/>
                <a:cs typeface="Tahoma"/>
              </a:rPr>
              <a:t>more</a:t>
            </a:r>
            <a:r>
              <a:rPr dirty="0" sz="2100" spc="-5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languages</a:t>
            </a:r>
            <a:endParaRPr sz="2100">
              <a:latin typeface="Tahoma"/>
              <a:cs typeface="Tahoma"/>
            </a:endParaRPr>
          </a:p>
          <a:p>
            <a:pPr marL="346710">
              <a:lnSpc>
                <a:spcPct val="100000"/>
              </a:lnSpc>
              <a:spcBef>
                <a:spcPts val="1885"/>
              </a:spcBef>
            </a:pPr>
            <a:r>
              <a:rPr dirty="0" sz="2100" spc="95">
                <a:solidFill>
                  <a:srgbClr val="F7FAFB"/>
                </a:solidFill>
                <a:latin typeface="Tahoma"/>
                <a:cs typeface="Tahoma"/>
              </a:rPr>
              <a:t>Develop</a:t>
            </a:r>
            <a:r>
              <a:rPr dirty="0" sz="2100" spc="-10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35" b="1">
                <a:solidFill>
                  <a:srgbClr val="FBD34D"/>
                </a:solidFill>
                <a:latin typeface="Tahoma"/>
                <a:cs typeface="Tahoma"/>
              </a:rPr>
              <a:t>advanced</a:t>
            </a:r>
            <a:r>
              <a:rPr dirty="0" sz="2100" spc="-6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25" b="1">
                <a:solidFill>
                  <a:srgbClr val="FBD34D"/>
                </a:solidFill>
                <a:latin typeface="Tahoma"/>
                <a:cs typeface="Tahoma"/>
              </a:rPr>
              <a:t>computational</a:t>
            </a:r>
            <a:r>
              <a:rPr dirty="0" sz="2100" spc="-6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tools</a:t>
            </a:r>
            <a:endParaRPr sz="2100">
              <a:latin typeface="Tahoma"/>
              <a:cs typeface="Tahoma"/>
            </a:endParaRPr>
          </a:p>
          <a:p>
            <a:pPr marL="346710">
              <a:lnSpc>
                <a:spcPct val="100000"/>
              </a:lnSpc>
              <a:spcBef>
                <a:spcPts val="1955"/>
              </a:spcBef>
            </a:pPr>
            <a:r>
              <a:rPr dirty="0" sz="2100" spc="95">
                <a:solidFill>
                  <a:srgbClr val="F7FAFB"/>
                </a:solidFill>
                <a:latin typeface="Tahoma"/>
                <a:cs typeface="Tahoma"/>
              </a:rPr>
              <a:t>Foster</a:t>
            </a:r>
            <a:r>
              <a:rPr dirty="0" sz="2100" spc="-10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international</a:t>
            </a:r>
            <a:r>
              <a:rPr dirty="0" sz="2100" spc="-5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collaboration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543560"/>
          </a:xfrm>
          <a:custGeom>
            <a:avLst/>
            <a:gdLst/>
            <a:ahLst/>
            <a:cxnLst/>
            <a:rect l="l" t="t" r="r" b="b"/>
            <a:pathLst>
              <a:path w="50165" h="543560">
                <a:moveTo>
                  <a:pt x="50125" y="543026"/>
                </a:moveTo>
                <a:lnTo>
                  <a:pt x="0" y="543026"/>
                </a:lnTo>
                <a:lnTo>
                  <a:pt x="0" y="0"/>
                </a:lnTo>
                <a:lnTo>
                  <a:pt x="50125" y="0"/>
                </a:lnTo>
                <a:lnTo>
                  <a:pt x="50125" y="543026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98575" y="1444752"/>
            <a:ext cx="3959860" cy="396240"/>
          </a:xfrm>
          <a:custGeom>
            <a:avLst/>
            <a:gdLst/>
            <a:ahLst/>
            <a:cxnLst/>
            <a:rect l="l" t="t" r="r" b="b"/>
            <a:pathLst>
              <a:path w="3959860" h="396239">
                <a:moveTo>
                  <a:pt x="3959351" y="396239"/>
                </a:moveTo>
                <a:lnTo>
                  <a:pt x="0" y="396239"/>
                </a:lnTo>
                <a:lnTo>
                  <a:pt x="0" y="0"/>
                </a:lnTo>
                <a:lnTo>
                  <a:pt x="3959351" y="0"/>
                </a:lnTo>
                <a:lnTo>
                  <a:pt x="3959351" y="39623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95"/>
              <a:t>How</a:t>
            </a:r>
            <a:r>
              <a:rPr dirty="0" spc="-150"/>
              <a:t> </a:t>
            </a:r>
            <a:r>
              <a:rPr dirty="0" spc="-30"/>
              <a:t>to</a:t>
            </a:r>
            <a:r>
              <a:rPr dirty="0" spc="-200"/>
              <a:t> </a:t>
            </a:r>
            <a:r>
              <a:rPr dirty="0" spc="-50"/>
              <a:t>Get</a:t>
            </a:r>
            <a:r>
              <a:rPr dirty="0" spc="-170"/>
              <a:t> </a:t>
            </a:r>
            <a:r>
              <a:rPr dirty="0" spc="-105"/>
              <a:t>Involved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2885151"/>
            <a:ext cx="91896" cy="91896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3444887"/>
            <a:ext cx="91896" cy="9189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4004622"/>
            <a:ext cx="91896" cy="9189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4572711"/>
            <a:ext cx="91896" cy="91896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49" y="6009644"/>
            <a:ext cx="91896" cy="91896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49" y="6577733"/>
            <a:ext cx="91896" cy="91896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572097" y="2020317"/>
            <a:ext cx="4537075" cy="475742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For</a:t>
            </a:r>
            <a:r>
              <a:rPr dirty="0" sz="2100" spc="-15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Researchers:</a:t>
            </a:r>
            <a:endParaRPr sz="2100">
              <a:latin typeface="Tahoma"/>
              <a:cs typeface="Tahoma"/>
            </a:endParaRPr>
          </a:p>
          <a:p>
            <a:pPr marL="346710" marR="68580">
              <a:lnSpc>
                <a:spcPct val="174900"/>
              </a:lnSpc>
              <a:spcBef>
                <a:spcPts val="1250"/>
              </a:spcBef>
            </a:pP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Access</a:t>
            </a:r>
            <a:r>
              <a:rPr dirty="0" sz="2100" spc="-5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the</a:t>
            </a:r>
            <a:r>
              <a:rPr dirty="0" sz="2100" spc="-4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corpus</a:t>
            </a:r>
            <a:r>
              <a:rPr dirty="0" sz="2100" spc="-5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(upon</a:t>
            </a:r>
            <a:r>
              <a:rPr dirty="0" sz="2100" spc="-4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40">
                <a:solidFill>
                  <a:srgbClr val="F7FAFB"/>
                </a:solidFill>
                <a:latin typeface="Tahoma"/>
                <a:cs typeface="Tahoma"/>
              </a:rPr>
              <a:t>release) </a:t>
            </a:r>
            <a:r>
              <a:rPr dirty="0" sz="2100" spc="120">
                <a:solidFill>
                  <a:srgbClr val="F7FAFB"/>
                </a:solidFill>
                <a:latin typeface="Tahoma"/>
                <a:cs typeface="Tahoma"/>
              </a:rPr>
              <a:t>Contribute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annotations</a:t>
            </a:r>
            <a:endParaRPr sz="2100">
              <a:latin typeface="Tahoma"/>
              <a:cs typeface="Tahoma"/>
            </a:endParaRPr>
          </a:p>
          <a:p>
            <a:pPr marL="346710" marR="327660">
              <a:lnSpc>
                <a:spcPts val="4470"/>
              </a:lnSpc>
              <a:spcBef>
                <a:spcPts val="409"/>
              </a:spcBef>
            </a:pPr>
            <a:r>
              <a:rPr dirty="0" sz="2100" spc="95">
                <a:solidFill>
                  <a:srgbClr val="F7FAFB"/>
                </a:solidFill>
                <a:latin typeface="Tahoma"/>
                <a:cs typeface="Tahoma"/>
              </a:rPr>
              <a:t>Propose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5">
                <a:solidFill>
                  <a:srgbClr val="F7FAFB"/>
                </a:solidFill>
                <a:latin typeface="Tahoma"/>
                <a:cs typeface="Tahoma"/>
              </a:rPr>
              <a:t>collaborative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projects </a:t>
            </a:r>
            <a:r>
              <a:rPr dirty="0" sz="2100" spc="140">
                <a:solidFill>
                  <a:srgbClr val="F7FAFB"/>
                </a:solidFill>
                <a:latin typeface="Tahoma"/>
                <a:cs typeface="Tahoma"/>
              </a:rPr>
              <a:t>Cite</a:t>
            </a:r>
            <a:r>
              <a:rPr dirty="0" sz="2100" spc="-6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and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build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upon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the</a:t>
            </a:r>
            <a:r>
              <a:rPr dirty="0" sz="2100" spc="-6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work</a:t>
            </a:r>
            <a:endParaRPr sz="2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2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For</a:t>
            </a:r>
            <a:r>
              <a:rPr dirty="0" sz="2100" spc="-15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Students:</a:t>
            </a:r>
            <a:endParaRPr sz="2100">
              <a:latin typeface="Tahoma"/>
              <a:cs typeface="Tahoma"/>
            </a:endParaRPr>
          </a:p>
          <a:p>
            <a:pPr marL="346710" marR="5080">
              <a:lnSpc>
                <a:spcPct val="177500"/>
              </a:lnSpc>
              <a:spcBef>
                <a:spcPts val="1185"/>
              </a:spcBef>
            </a:pPr>
            <a:r>
              <a:rPr dirty="0" sz="2100" spc="90">
                <a:solidFill>
                  <a:srgbClr val="F7FAFB"/>
                </a:solidFill>
                <a:latin typeface="Tahoma"/>
                <a:cs typeface="Tahoma"/>
              </a:rPr>
              <a:t>Use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for</a:t>
            </a:r>
            <a:r>
              <a:rPr dirty="0" sz="2100" spc="-7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thesis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research </a:t>
            </a:r>
            <a:r>
              <a:rPr dirty="0" sz="2100" spc="105">
                <a:solidFill>
                  <a:srgbClr val="F7FAFB"/>
                </a:solidFill>
                <a:latin typeface="Tahoma"/>
                <a:cs typeface="Tahoma"/>
              </a:rPr>
              <a:t>Participate</a:t>
            </a:r>
            <a:r>
              <a:rPr dirty="0" sz="2100" spc="-8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F7FAFB"/>
                </a:solidFill>
                <a:latin typeface="Tahoma"/>
                <a:cs typeface="Tahoma"/>
              </a:rPr>
              <a:t>in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training</a:t>
            </a:r>
            <a:r>
              <a:rPr dirty="0" sz="2100" spc="-8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F7FAFB"/>
                </a:solidFill>
                <a:latin typeface="Tahoma"/>
                <a:cs typeface="Tahoma"/>
              </a:rPr>
              <a:t>workshops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543560"/>
          </a:xfrm>
          <a:custGeom>
            <a:avLst/>
            <a:gdLst/>
            <a:ahLst/>
            <a:cxnLst/>
            <a:rect l="l" t="t" r="r" b="b"/>
            <a:pathLst>
              <a:path w="50165" h="543560">
                <a:moveTo>
                  <a:pt x="50125" y="543026"/>
                </a:moveTo>
                <a:lnTo>
                  <a:pt x="0" y="543026"/>
                </a:lnTo>
                <a:lnTo>
                  <a:pt x="0" y="0"/>
                </a:lnTo>
                <a:lnTo>
                  <a:pt x="50125" y="0"/>
                </a:lnTo>
                <a:lnTo>
                  <a:pt x="50125" y="543026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80287" y="1444752"/>
            <a:ext cx="4462780" cy="396240"/>
          </a:xfrm>
          <a:custGeom>
            <a:avLst/>
            <a:gdLst/>
            <a:ahLst/>
            <a:cxnLst/>
            <a:rect l="l" t="t" r="r" b="b"/>
            <a:pathLst>
              <a:path w="4462780" h="396239">
                <a:moveTo>
                  <a:pt x="4462271" y="396239"/>
                </a:moveTo>
                <a:lnTo>
                  <a:pt x="0" y="396239"/>
                </a:lnTo>
                <a:lnTo>
                  <a:pt x="0" y="0"/>
                </a:lnTo>
                <a:lnTo>
                  <a:pt x="4462271" y="0"/>
                </a:lnTo>
                <a:lnTo>
                  <a:pt x="4462271" y="39623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45"/>
              <a:t>Contact</a:t>
            </a:r>
            <a:r>
              <a:rPr dirty="0" spc="-150"/>
              <a:t> </a:t>
            </a:r>
            <a:r>
              <a:rPr dirty="0" spc="-135"/>
              <a:t>and</a:t>
            </a:r>
            <a:r>
              <a:rPr dirty="0" spc="-150"/>
              <a:t> </a:t>
            </a:r>
            <a:r>
              <a:rPr dirty="0" spc="-80"/>
              <a:t>Resources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572097" y="1915054"/>
            <a:ext cx="5509895" cy="17297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384810">
              <a:lnSpc>
                <a:spcPct val="133100"/>
              </a:lnSpc>
              <a:spcBef>
                <a:spcPts val="100"/>
              </a:spcBef>
            </a:pP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Project</a:t>
            </a:r>
            <a:r>
              <a:rPr dirty="0" sz="2100" spc="-8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Website:</a:t>
            </a:r>
            <a:r>
              <a:rPr dirty="0" sz="2100" spc="-8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[Coming</a:t>
            </a:r>
            <a:r>
              <a:rPr dirty="0" sz="2100" spc="-12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-10">
                <a:solidFill>
                  <a:srgbClr val="F7FAFB"/>
                </a:solidFill>
                <a:latin typeface="Tahoma"/>
                <a:cs typeface="Tahoma"/>
              </a:rPr>
              <a:t>soon] </a:t>
            </a:r>
            <a:r>
              <a:rPr dirty="0" sz="2100" b="1">
                <a:solidFill>
                  <a:srgbClr val="FBD34D"/>
                </a:solidFill>
                <a:latin typeface="Tahoma"/>
                <a:cs typeface="Tahoma"/>
              </a:rPr>
              <a:t>Principal</a:t>
            </a:r>
            <a:r>
              <a:rPr dirty="0" sz="2100" spc="-5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55" b="1">
                <a:solidFill>
                  <a:srgbClr val="FBD34D"/>
                </a:solidFill>
                <a:latin typeface="Tahoma"/>
                <a:cs typeface="Tahoma"/>
              </a:rPr>
              <a:t>Investigator:</a:t>
            </a:r>
            <a:r>
              <a:rPr dirty="0" sz="2100" spc="-4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7FAFB"/>
                </a:solidFill>
                <a:latin typeface="Tahoma"/>
                <a:cs typeface="Tahoma"/>
              </a:rPr>
              <a:t>Nikolaos</a:t>
            </a:r>
            <a:r>
              <a:rPr dirty="0" sz="2100" spc="-9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F7FAFB"/>
                </a:solidFill>
                <a:latin typeface="Tahoma"/>
                <a:cs typeface="Tahoma"/>
              </a:rPr>
              <a:t>Lavidas </a:t>
            </a:r>
            <a:r>
              <a:rPr dirty="0" sz="2100" spc="-40" b="1">
                <a:solidFill>
                  <a:srgbClr val="FBD34D"/>
                </a:solidFill>
                <a:latin typeface="Tahoma"/>
                <a:cs typeface="Tahoma"/>
              </a:rPr>
              <a:t>Institution:</a:t>
            </a:r>
            <a:r>
              <a:rPr dirty="0" sz="2100" spc="-3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110">
                <a:solidFill>
                  <a:srgbClr val="F7FAFB"/>
                </a:solidFill>
                <a:latin typeface="Tahoma"/>
                <a:cs typeface="Tahoma"/>
              </a:rPr>
              <a:t>University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7FAFB"/>
                </a:solidFill>
                <a:latin typeface="Tahoma"/>
                <a:cs typeface="Tahoma"/>
              </a:rPr>
              <a:t>of</a:t>
            </a:r>
            <a:r>
              <a:rPr dirty="0" sz="2100" spc="-7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F7FAFB"/>
                </a:solidFill>
                <a:latin typeface="Tahoma"/>
                <a:cs typeface="Tahoma"/>
              </a:rPr>
              <a:t>Athens</a:t>
            </a:r>
            <a:endParaRPr sz="2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35"/>
              </a:spcBef>
            </a:pPr>
            <a:r>
              <a:rPr dirty="0" sz="2100" spc="-60" b="1">
                <a:solidFill>
                  <a:srgbClr val="FBD34D"/>
                </a:solidFill>
                <a:latin typeface="Tahoma"/>
                <a:cs typeface="Tahoma"/>
              </a:rPr>
              <a:t>Funding: </a:t>
            </a:r>
            <a:r>
              <a:rPr dirty="0" sz="2100" spc="-25">
                <a:solidFill>
                  <a:srgbClr val="F7FAFB"/>
                </a:solidFill>
                <a:latin typeface="Tahoma"/>
                <a:cs typeface="Tahoma"/>
              </a:rPr>
              <a:t>H.F.R.I.</a:t>
            </a:r>
            <a:r>
              <a:rPr dirty="0" sz="2100" spc="-10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7FAFB"/>
                </a:solidFill>
                <a:latin typeface="Tahoma"/>
                <a:cs typeface="Tahoma"/>
              </a:rPr>
              <a:t>-</a:t>
            </a:r>
            <a:r>
              <a:rPr dirty="0" sz="2100" spc="-10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120">
                <a:solidFill>
                  <a:srgbClr val="F7FAFB"/>
                </a:solidFill>
                <a:latin typeface="Tahoma"/>
                <a:cs typeface="Tahoma"/>
              </a:rPr>
              <a:t>ELIDEK</a:t>
            </a:r>
            <a:r>
              <a:rPr dirty="0" sz="2100" spc="-100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F7FAFB"/>
                </a:solidFill>
                <a:latin typeface="Tahoma"/>
                <a:cs typeface="Tahoma"/>
              </a:rPr>
              <a:t>Excellence</a:t>
            </a:r>
            <a:r>
              <a:rPr dirty="0" sz="2100" spc="-105">
                <a:solidFill>
                  <a:srgbClr val="F7FAFB"/>
                </a:solidFill>
                <a:latin typeface="Tahoma"/>
                <a:cs typeface="Tahoma"/>
              </a:rPr>
              <a:t> </a:t>
            </a:r>
            <a:r>
              <a:rPr dirty="0" sz="2100" spc="95">
                <a:solidFill>
                  <a:srgbClr val="F7FAFB"/>
                </a:solidFill>
                <a:latin typeface="Tahoma"/>
                <a:cs typeface="Tahoma"/>
              </a:rPr>
              <a:t>Grant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4797" y="1356322"/>
            <a:ext cx="50165" cy="543560"/>
          </a:xfrm>
          <a:custGeom>
            <a:avLst/>
            <a:gdLst/>
            <a:ahLst/>
            <a:cxnLst/>
            <a:rect l="l" t="t" r="r" b="b"/>
            <a:pathLst>
              <a:path w="50165" h="543560">
                <a:moveTo>
                  <a:pt x="50125" y="543026"/>
                </a:moveTo>
                <a:lnTo>
                  <a:pt x="0" y="543026"/>
                </a:lnTo>
                <a:lnTo>
                  <a:pt x="0" y="0"/>
                </a:lnTo>
                <a:lnTo>
                  <a:pt x="50125" y="0"/>
                </a:lnTo>
                <a:lnTo>
                  <a:pt x="50125" y="543026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77239" y="1444752"/>
            <a:ext cx="2225040" cy="396240"/>
          </a:xfrm>
          <a:custGeom>
            <a:avLst/>
            <a:gdLst/>
            <a:ahLst/>
            <a:cxnLst/>
            <a:rect l="l" t="t" r="r" b="b"/>
            <a:pathLst>
              <a:path w="2225040" h="396239">
                <a:moveTo>
                  <a:pt x="2225039" y="396239"/>
                </a:moveTo>
                <a:lnTo>
                  <a:pt x="0" y="396239"/>
                </a:lnTo>
                <a:lnTo>
                  <a:pt x="0" y="0"/>
                </a:lnTo>
                <a:lnTo>
                  <a:pt x="2225039" y="0"/>
                </a:lnTo>
                <a:lnTo>
                  <a:pt x="2225039" y="39623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89308" y="1360331"/>
            <a:ext cx="2204720" cy="5067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85"/>
              <a:t>Thank</a:t>
            </a:r>
            <a:r>
              <a:rPr dirty="0" spc="-130"/>
              <a:t> </a:t>
            </a:r>
            <a:r>
              <a:rPr dirty="0" spc="-20"/>
              <a:t>You!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572097" y="1845131"/>
            <a:ext cx="9252585" cy="1967230"/>
          </a:xfrm>
          <a:prstGeom prst="rect">
            <a:avLst/>
          </a:prstGeom>
        </p:spPr>
        <p:txBody>
          <a:bodyPr wrap="square" lIns="0" tIns="1885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85"/>
              </a:spcBef>
            </a:pP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Questions</a:t>
            </a:r>
            <a:r>
              <a:rPr dirty="0" sz="2100" spc="-9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40" b="1">
                <a:solidFill>
                  <a:srgbClr val="FBD34D"/>
                </a:solidFill>
                <a:latin typeface="Tahoma"/>
                <a:cs typeface="Tahoma"/>
              </a:rPr>
              <a:t>&amp;</a:t>
            </a:r>
            <a:r>
              <a:rPr dirty="0" sz="2100" spc="-4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Discussion</a:t>
            </a:r>
            <a:endParaRPr sz="2100">
              <a:latin typeface="Tahoma"/>
              <a:cs typeface="Tahoma"/>
            </a:endParaRPr>
          </a:p>
          <a:p>
            <a:pPr marL="12700" marR="643255">
              <a:lnSpc>
                <a:spcPct val="130000"/>
              </a:lnSpc>
              <a:spcBef>
                <a:spcPts val="665"/>
              </a:spcBef>
            </a:pPr>
            <a:r>
              <a:rPr dirty="0" sz="2150" i="1">
                <a:solidFill>
                  <a:srgbClr val="A5F2FB"/>
                </a:solidFill>
                <a:latin typeface="Trebuchet MS"/>
                <a:cs typeface="Trebuchet MS"/>
              </a:rPr>
              <a:t>The</a:t>
            </a:r>
            <a:r>
              <a:rPr dirty="0" sz="2150" spc="35" i="1">
                <a:solidFill>
                  <a:srgbClr val="A5F2FB"/>
                </a:solidFill>
                <a:latin typeface="Trebuchet MS"/>
                <a:cs typeface="Trebuchet MS"/>
              </a:rPr>
              <a:t> </a:t>
            </a:r>
            <a:r>
              <a:rPr dirty="0" sz="2150" spc="-35" i="1">
                <a:solidFill>
                  <a:srgbClr val="A5F2FB"/>
                </a:solidFill>
                <a:latin typeface="Trebuchet MS"/>
                <a:cs typeface="Trebuchet MS"/>
              </a:rPr>
              <a:t>Textual</a:t>
            </a:r>
            <a:r>
              <a:rPr dirty="0" sz="2150" spc="40" i="1">
                <a:solidFill>
                  <a:srgbClr val="A5F2FB"/>
                </a:solidFill>
                <a:latin typeface="Trebuchet MS"/>
                <a:cs typeface="Trebuchet MS"/>
              </a:rPr>
              <a:t> </a:t>
            </a:r>
            <a:r>
              <a:rPr dirty="0" sz="2150" i="1">
                <a:solidFill>
                  <a:srgbClr val="A5F2FB"/>
                </a:solidFill>
                <a:latin typeface="Trebuchet MS"/>
                <a:cs typeface="Trebuchet MS"/>
              </a:rPr>
              <a:t>Foundation</a:t>
            </a:r>
            <a:r>
              <a:rPr dirty="0" sz="2150" spc="35" i="1">
                <a:solidFill>
                  <a:srgbClr val="A5F2FB"/>
                </a:solidFill>
                <a:latin typeface="Trebuchet MS"/>
                <a:cs typeface="Trebuchet MS"/>
              </a:rPr>
              <a:t> </a:t>
            </a:r>
            <a:r>
              <a:rPr dirty="0" sz="2150" i="1">
                <a:solidFill>
                  <a:srgbClr val="A5F2FB"/>
                </a:solidFill>
                <a:latin typeface="Trebuchet MS"/>
                <a:cs typeface="Trebuchet MS"/>
              </a:rPr>
              <a:t>and</a:t>
            </a:r>
            <a:r>
              <a:rPr dirty="0" sz="2150" spc="40" i="1">
                <a:solidFill>
                  <a:srgbClr val="A5F2FB"/>
                </a:solidFill>
                <a:latin typeface="Trebuchet MS"/>
                <a:cs typeface="Trebuchet MS"/>
              </a:rPr>
              <a:t> </a:t>
            </a:r>
            <a:r>
              <a:rPr dirty="0" sz="2150" i="1">
                <a:solidFill>
                  <a:srgbClr val="A5F2FB"/>
                </a:solidFill>
                <a:latin typeface="Trebuchet MS"/>
                <a:cs typeface="Trebuchet MS"/>
              </a:rPr>
              <a:t>Computational</a:t>
            </a:r>
            <a:r>
              <a:rPr dirty="0" sz="2150" spc="35" i="1">
                <a:solidFill>
                  <a:srgbClr val="A5F2FB"/>
                </a:solidFill>
                <a:latin typeface="Trebuchet MS"/>
                <a:cs typeface="Trebuchet MS"/>
              </a:rPr>
              <a:t> </a:t>
            </a:r>
            <a:r>
              <a:rPr dirty="0" sz="2150" i="1">
                <a:solidFill>
                  <a:srgbClr val="A5F2FB"/>
                </a:solidFill>
                <a:latin typeface="Trebuchet MS"/>
                <a:cs typeface="Trebuchet MS"/>
              </a:rPr>
              <a:t>Architecture</a:t>
            </a:r>
            <a:r>
              <a:rPr dirty="0" sz="2150" spc="40" i="1">
                <a:solidFill>
                  <a:srgbClr val="A5F2FB"/>
                </a:solidFill>
                <a:latin typeface="Trebuchet MS"/>
                <a:cs typeface="Trebuchet MS"/>
              </a:rPr>
              <a:t> </a:t>
            </a:r>
            <a:r>
              <a:rPr dirty="0" sz="2150" i="1">
                <a:solidFill>
                  <a:srgbClr val="A5F2FB"/>
                </a:solidFill>
                <a:latin typeface="Trebuchet MS"/>
                <a:cs typeface="Trebuchet MS"/>
              </a:rPr>
              <a:t>of</a:t>
            </a:r>
            <a:r>
              <a:rPr dirty="0" sz="2150" spc="35" i="1">
                <a:solidFill>
                  <a:srgbClr val="A5F2FB"/>
                </a:solidFill>
                <a:latin typeface="Trebuchet MS"/>
                <a:cs typeface="Trebuchet MS"/>
              </a:rPr>
              <a:t> </a:t>
            </a:r>
            <a:r>
              <a:rPr dirty="0" sz="2150" i="1">
                <a:solidFill>
                  <a:srgbClr val="A5F2FB"/>
                </a:solidFill>
                <a:latin typeface="Trebuchet MS"/>
                <a:cs typeface="Trebuchet MS"/>
              </a:rPr>
              <a:t>the</a:t>
            </a:r>
            <a:r>
              <a:rPr dirty="0" sz="2150" spc="35" i="1">
                <a:solidFill>
                  <a:srgbClr val="A5F2FB"/>
                </a:solidFill>
                <a:latin typeface="Trebuchet MS"/>
                <a:cs typeface="Trebuchet MS"/>
              </a:rPr>
              <a:t> </a:t>
            </a:r>
            <a:r>
              <a:rPr dirty="0" sz="2150" spc="45" i="1">
                <a:solidFill>
                  <a:srgbClr val="A5F2FB"/>
                </a:solidFill>
                <a:latin typeface="Trebuchet MS"/>
                <a:cs typeface="Trebuchet MS"/>
              </a:rPr>
              <a:t>CVL- </a:t>
            </a:r>
            <a:r>
              <a:rPr dirty="0" sz="2150" spc="210" i="1">
                <a:solidFill>
                  <a:srgbClr val="A5F2FB"/>
                </a:solidFill>
                <a:latin typeface="Trebuchet MS"/>
                <a:cs typeface="Trebuchet MS"/>
              </a:rPr>
              <a:t>CDSAML</a:t>
            </a:r>
            <a:r>
              <a:rPr dirty="0" sz="2150" spc="-65" i="1">
                <a:solidFill>
                  <a:srgbClr val="A5F2FB"/>
                </a:solidFill>
                <a:latin typeface="Trebuchet MS"/>
                <a:cs typeface="Trebuchet MS"/>
              </a:rPr>
              <a:t> </a:t>
            </a:r>
            <a:r>
              <a:rPr dirty="0" sz="2150" spc="65" i="1">
                <a:solidFill>
                  <a:srgbClr val="A5F2FB"/>
                </a:solidFill>
                <a:latin typeface="Trebuchet MS"/>
                <a:cs typeface="Trebuchet MS"/>
              </a:rPr>
              <a:t>Corpus</a:t>
            </a:r>
            <a:endParaRPr sz="21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485"/>
              </a:spcBef>
            </a:pPr>
            <a:r>
              <a:rPr dirty="0" sz="2100" spc="-20" b="1">
                <a:solidFill>
                  <a:srgbClr val="FBD34D"/>
                </a:solidFill>
                <a:latin typeface="Tahoma"/>
                <a:cs typeface="Tahoma"/>
              </a:rPr>
              <a:t>Building</a:t>
            </a:r>
            <a:r>
              <a:rPr dirty="0" sz="2100" spc="-11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35" b="1">
                <a:solidFill>
                  <a:srgbClr val="FBD34D"/>
                </a:solidFill>
                <a:latin typeface="Tahoma"/>
                <a:cs typeface="Tahoma"/>
              </a:rPr>
              <a:t>bridges</a:t>
            </a:r>
            <a:r>
              <a:rPr dirty="0" sz="2100" spc="-9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35" b="1">
                <a:solidFill>
                  <a:srgbClr val="FBD34D"/>
                </a:solidFill>
                <a:latin typeface="Tahoma"/>
                <a:cs typeface="Tahoma"/>
              </a:rPr>
              <a:t>between</a:t>
            </a:r>
            <a:r>
              <a:rPr dirty="0" sz="2100" spc="-9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40" b="1">
                <a:solidFill>
                  <a:srgbClr val="FBD34D"/>
                </a:solidFill>
                <a:latin typeface="Tahoma"/>
                <a:cs typeface="Tahoma"/>
              </a:rPr>
              <a:t>past</a:t>
            </a:r>
            <a:r>
              <a:rPr dirty="0" sz="2100" spc="-9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65" b="1">
                <a:solidFill>
                  <a:srgbClr val="FBD34D"/>
                </a:solidFill>
                <a:latin typeface="Tahoma"/>
                <a:cs typeface="Tahoma"/>
              </a:rPr>
              <a:t>and</a:t>
            </a:r>
            <a:r>
              <a:rPr dirty="0" sz="2100" spc="-90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35" b="1">
                <a:solidFill>
                  <a:srgbClr val="FBD34D"/>
                </a:solidFill>
                <a:latin typeface="Tahoma"/>
                <a:cs typeface="Tahoma"/>
              </a:rPr>
              <a:t>present,</a:t>
            </a:r>
            <a:r>
              <a:rPr dirty="0" sz="2100" spc="-9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philology</a:t>
            </a:r>
            <a:r>
              <a:rPr dirty="0" sz="2100" spc="-9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65" b="1">
                <a:solidFill>
                  <a:srgbClr val="FBD34D"/>
                </a:solidFill>
                <a:latin typeface="Tahoma"/>
                <a:cs typeface="Tahoma"/>
              </a:rPr>
              <a:t>and</a:t>
            </a:r>
            <a:r>
              <a:rPr dirty="0" sz="2100" spc="-85" b="1">
                <a:solidFill>
                  <a:srgbClr val="FBD34D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BD34D"/>
                </a:solidFill>
                <a:latin typeface="Tahoma"/>
                <a:cs typeface="Tahoma"/>
              </a:rPr>
              <a:t>computation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Textual Foundation and Computational Architecture of the CVL-CDSAML Corpus</dc:title>
  <dcterms:created xsi:type="dcterms:W3CDTF">2025-11-24T23:03:16Z</dcterms:created>
  <dcterms:modified xsi:type="dcterms:W3CDTF">2025-11-24T23:03:16Z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2025-11-24T00:00:00Z</vt:filetime>
  </property>
  <property fmtid="{D5CDD505-2E9C-101B-9397-08002B2CF9AE}" pid="3" name="Creator">
    <vt:lpwstr>Mozilla/5.0 (Windows NT 10.0; Win64; x64) AppleWebKit/537.36 (KHTML, like Gecko) Chrome/130.0.0.0 Safari/537.36 Edg/130.0.0.0</vt:lpwstr>
  </property>
  <property fmtid="{D5CDD505-2E9C-101B-9397-08002B2CF9AE}" pid="4" name="LastSaved">
    <vt:filetime>2025-11-24T00:00:00Z</vt:filetime>
  </property>
  <property fmtid="{D5CDD505-2E9C-101B-9397-08002B2CF9AE}" pid="5" name="Producer">
    <vt:lpwstr>Skia/PDF m130</vt:lpwstr>
  </property>
</Properties>
</file>