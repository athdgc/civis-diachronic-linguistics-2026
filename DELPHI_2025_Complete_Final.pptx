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C72"/>
        </a:solidFill>
        <a:effectLst/>
      </p:bgPr>
    </p:bg>
    <p:spTree>
      <p:nvGrpSpPr>
        <p:cNvPr id="1" name=""/>
        <p:cNvGrpSpPr/>
        <p:nvPr/>
      </p:nvGrpSpPr>
      <p:grpSpPr/>
      <p:sp>
        <p:nvSpPr>
          <p:cNvPr id="2" name="TextBox 1"/>
          <p:cNvSpPr txBox="1"/>
          <p:nvPr/>
        </p:nvSpPr>
        <p:spPr>
          <a:xfrm>
            <a:off x="457200" y="1097280"/>
            <a:ext cx="8229600" cy="2011680"/>
          </a:xfrm>
          <a:prstGeom prst="rect">
            <a:avLst/>
          </a:prstGeom>
          <a:noFill/>
        </p:spPr>
        <p:txBody>
          <a:bodyPr wrap="square">
            <a:spAutoFit/>
          </a:bodyPr>
          <a:lstStyle/>
          <a:p>
            <a:pPr algn="ctr">
              <a:lnSpc>
                <a:spcPct val="120000"/>
              </a:lnSpc>
              <a:defRPr sz="3600" b="1">
                <a:solidFill>
                  <a:srgbClr val="FBBF24"/>
                </a:solidFill>
              </a:defRPr>
            </a:pPr>
            <a:r>
              <a:t>Retranslations Across Millennia: A Diachronic Contrastive Corpus for Studying Interlingual and Intralingual Language Contact</a:t>
            </a:r>
          </a:p>
        </p:txBody>
      </p:sp>
      <p:sp>
        <p:nvSpPr>
          <p:cNvPr id="3" name="TextBox 2"/>
          <p:cNvSpPr txBox="1"/>
          <p:nvPr/>
        </p:nvSpPr>
        <p:spPr>
          <a:xfrm>
            <a:off x="457200" y="3474720"/>
            <a:ext cx="8229600" cy="1097280"/>
          </a:xfrm>
          <a:prstGeom prst="rect">
            <a:avLst/>
          </a:prstGeom>
          <a:noFill/>
        </p:spPr>
        <p:txBody>
          <a:bodyPr wrap="square">
            <a:spAutoFit/>
          </a:bodyPr>
          <a:lstStyle/>
          <a:p>
            <a:pPr algn="ctr">
              <a:defRPr sz="1800">
                <a:solidFill>
                  <a:srgbClr val="FFFFFF"/>
                </a:solidFill>
              </a:defRPr>
            </a:pPr>
            <a:r>
              <a:t>Nikolaos Lavidas, Theodoros Michalareas, Vassilios Symeonidis,</a:t>
            </a:r>
          </a:p>
          <a:p>
            <a:pPr algn="ctr">
              <a:defRPr sz="1800">
                <a:solidFill>
                  <a:srgbClr val="FFFFFF"/>
                </a:solidFill>
              </a:defRPr>
            </a:pPr>
            <a:r>
              <a:t>Sofia Chionidi, Anastasia Tsiropina, Eleni Plakoutsi</a:t>
            </a:r>
          </a:p>
        </p:txBody>
      </p:sp>
      <p:sp>
        <p:nvSpPr>
          <p:cNvPr id="4" name="TextBox 3"/>
          <p:cNvSpPr txBox="1"/>
          <p:nvPr/>
        </p:nvSpPr>
        <p:spPr>
          <a:xfrm>
            <a:off x="457200" y="4754880"/>
            <a:ext cx="8229600" cy="548640"/>
          </a:xfrm>
          <a:prstGeom prst="rect">
            <a:avLst/>
          </a:prstGeom>
          <a:noFill/>
        </p:spPr>
        <p:txBody>
          <a:bodyPr wrap="none">
            <a:spAutoFit/>
          </a:bodyPr>
          <a:lstStyle/>
          <a:p>
            <a:pPr algn="ctr">
              <a:defRPr sz="1600" i="1">
                <a:solidFill>
                  <a:srgbClr val="FBBF24"/>
                </a:solidFill>
              </a:defRPr>
            </a:pPr>
            <a:r>
              <a:t>Athens Digital Glossa Chronos (AthDGC)</a:t>
            </a:r>
          </a:p>
        </p:txBody>
      </p:sp>
      <p:sp>
        <p:nvSpPr>
          <p:cNvPr id="5" name="TextBox 4"/>
          <p:cNvSpPr txBox="1"/>
          <p:nvPr/>
        </p:nvSpPr>
        <p:spPr>
          <a:xfrm>
            <a:off x="457200" y="5669280"/>
            <a:ext cx="8229600" cy="914400"/>
          </a:xfrm>
          <a:prstGeom prst="rect">
            <a:avLst/>
          </a:prstGeom>
          <a:noFill/>
        </p:spPr>
        <p:txBody>
          <a:bodyPr wrap="square">
            <a:spAutoFit/>
          </a:bodyPr>
          <a:lstStyle/>
          <a:p>
            <a:pPr algn="ctr">
              <a:defRPr sz="1400">
                <a:solidFill>
                  <a:srgbClr val="FFFFFF"/>
                </a:solidFill>
              </a:defRPr>
            </a:pPr>
            <a:r>
              <a:t>DELPHI 2025: Corpora and Diachrony</a:t>
            </a:r>
          </a:p>
          <a:p>
            <a:pPr algn="ctr">
              <a:defRPr sz="1400">
                <a:solidFill>
                  <a:srgbClr val="FFFFFF"/>
                </a:solidFill>
              </a:defRPr>
            </a:pPr>
            <a:r>
              <a:t>Influential Texts, Text Types and Genres</a:t>
            </a:r>
          </a:p>
          <a:p>
            <a:pPr algn="ctr">
              <a:defRPr sz="1400">
                <a:solidFill>
                  <a:srgbClr val="FFFFFF"/>
                </a:solidFill>
              </a:defRPr>
            </a:pPr>
            <a:r>
              <a:t>Delphi, Greece | November 26-29, 2025 | 10:15 | 75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ctr">
              <a:defRPr sz="3200" b="1">
                <a:solidFill>
                  <a:srgbClr val="1E3C72"/>
                </a:solidFill>
              </a:defRPr>
            </a:pPr>
            <a:r>
              <a:t>The Textual Foundation and Computational Architecture of the CVL-CDSAML Corpus</a:t>
            </a:r>
          </a:p>
        </p:txBody>
      </p:sp>
      <p:sp>
        <p:nvSpPr>
          <p:cNvPr id="3" name="TextBox 2"/>
          <p:cNvSpPr txBox="1"/>
          <p:nvPr/>
        </p:nvSpPr>
        <p:spPr>
          <a:xfrm>
            <a:off x="640080" y="1463040"/>
            <a:ext cx="7863840" cy="5120640"/>
          </a:xfrm>
          <a:prstGeom prst="rect">
            <a:avLst/>
          </a:prstGeom>
          <a:noFill/>
        </p:spPr>
        <p:txBody>
          <a:bodyPr wrap="square">
            <a:spAutoFit/>
          </a:bodyPr>
          <a:lstStyle/>
          <a:p/>
          <a:p>
            <a:pPr>
              <a:spcAft>
                <a:spcPts val="1000"/>
              </a:spcAft>
              <a:defRPr sz="1400">
                <a:solidFill>
                  <a:srgbClr val="1E293B"/>
                </a:solidFill>
              </a:defRPr>
            </a:pPr>
            <a:r>
              <a:t>Bridging three millennia of linguistic history through computational philology</a:t>
            </a:r>
          </a:p>
          <a:p>
            <a:pPr>
              <a:spcAft>
                <a:spcPts val="1000"/>
              </a:spcAft>
              <a:defRPr sz="1400">
                <a:solidFill>
                  <a:srgbClr val="1E293B"/>
                </a:solidFill>
              </a:defRPr>
            </a:pPr>
            <a:r>
              <a:t>This presentation explores Part 2 of our research paper, focusing on how the CVL-CDSAML corpus is structured and how it serves as the foundation for extracting diachronic valency patterns. We will examine the corpus architecture, text selection criteria, and the computational methods used to create a comprehensive valency lexicon spanning multiple languages and historical periods.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does Part 2 of this research focus on?</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600"/>
              </a:spcAft>
              <a:defRPr sz="1300">
                <a:solidFill>
                  <a:srgbClr val="1E293B"/>
                </a:solidFill>
              </a:defRPr>
            </a:pPr>
            <a:r>
              <a:t>What is the main architectural framework?</a:t>
            </a:r>
          </a:p>
          <a:p>
            <a:pPr>
              <a:spcAft>
                <a:spcPts val="600"/>
              </a:spcAft>
              <a:defRPr sz="1300">
                <a:solidFill>
                  <a:srgbClr val="1E293B"/>
                </a:solidFill>
              </a:defRPr>
            </a:pPr>
            <a:r>
              <a:t>How does it support linguistic research?</a:t>
            </a:r>
          </a:p>
          <a:p>
            <a:pPr>
              <a:spcAft>
                <a:spcPts val="600"/>
              </a:spcAft>
              <a:defRPr sz="1300">
                <a:solidFill>
                  <a:srgbClr val="1E293B"/>
                </a:solidFill>
              </a:defRPr>
            </a:pPr>
            <a:r>
              <a:t>What makes this approach unique?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Part 2: Textual Foundation &amp; Computational Architecture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A comprehensive approach to diachronic valency research</a:t>
            </a:r>
          </a:p>
          <a:p>
            <a:pPr>
              <a:spcAft>
                <a:spcPts val="1000"/>
              </a:spcAft>
              <a:defRPr sz="1400">
                <a:solidFill>
                  <a:srgbClr val="1E293B"/>
                </a:solidFill>
              </a:defRPr>
            </a:pPr>
            <a:r>
              <a:t>The CVL-CDSAML project represents a novel integration of traditional philological expertise with modern computational linguistics. This corpus contains 338 carefully curated historical texts that enable systematic analysis of how verb valency patterns evolve over time. The architecture supports both qualitative philological analysis and quantitative computational extraction of linguistic patterns.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Why do we need a comprehensive foundation for diachronic research?</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600"/>
              </a:spcAft>
              <a:defRPr sz="1300">
                <a:solidFill>
                  <a:srgbClr val="1E293B"/>
                </a:solidFill>
              </a:defRPr>
            </a:pPr>
            <a:r>
              <a:t>What challenges do historical linguists face?</a:t>
            </a:r>
          </a:p>
          <a:p>
            <a:pPr>
              <a:spcAft>
                <a:spcPts val="600"/>
              </a:spcAft>
              <a:defRPr sz="1300">
                <a:solidFill>
                  <a:srgbClr val="1E293B"/>
                </a:solidFill>
              </a:defRPr>
            </a:pPr>
            <a:r>
              <a:t>How does text quality affect research outcomes?</a:t>
            </a:r>
          </a:p>
          <a:p>
            <a:pPr>
              <a:spcAft>
                <a:spcPts val="600"/>
              </a:spcAft>
              <a:defRPr sz="1300">
                <a:solidFill>
                  <a:srgbClr val="1E293B"/>
                </a:solidFill>
              </a:defRPr>
            </a:pPr>
            <a:r>
              <a:t>What factors must be controlled?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Introduction: The Need for a Comprehensive Foundation</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Diachronic linguistic analysis requires careful consideration of multiple elements:</a:t>
            </a:r>
          </a:p>
          <a:p>
            <a:pPr>
              <a:spcAft>
                <a:spcPts val="1000"/>
              </a:spcAft>
              <a:defRPr sz="1400">
                <a:solidFill>
                  <a:srgbClr val="1E293B"/>
                </a:solidFill>
              </a:defRPr>
            </a:pPr>
            <a:r>
              <a:t>Studying language change over millennia demands rigorous methodology in selecting and preparing texts. The CVL-CDSAML corpus addresses this need by establishing clear criteria for text inclusion and implementing systematic quality control measures. This foundation ensures that observed linguistic patterns reflect genuine historical developments rather than artifacts of inconsistent data.</a:t>
            </a:r>
          </a:p>
          <a:p>
            <a:pPr>
              <a:spcAft>
                <a:spcPts val="600"/>
              </a:spcAft>
              <a:defRPr sz="1300">
                <a:solidFill>
                  <a:srgbClr val="1E293B"/>
                </a:solidFill>
              </a:defRPr>
            </a:pPr>
            <a:r>
              <a:t>Text selectionand preparation</a:t>
            </a:r>
          </a:p>
          <a:p>
            <a:pPr>
              <a:spcAft>
                <a:spcPts val="600"/>
              </a:spcAft>
              <a:defRPr sz="1300">
                <a:solidFill>
                  <a:srgbClr val="1E293B"/>
                </a:solidFill>
              </a:defRPr>
            </a:pPr>
            <a:r>
              <a:t>Assessment ofhistorical evidence</a:t>
            </a:r>
          </a:p>
          <a:p>
            <a:pPr>
              <a:spcAft>
                <a:spcPts val="600"/>
              </a:spcAft>
              <a:defRPr sz="1300">
                <a:solidFill>
                  <a:srgbClr val="1E293B"/>
                </a:solidFill>
              </a:defRPr>
            </a:pPr>
            <a:r>
              <a:t>Understandinglanguage developmentcontexts</a:t>
            </a:r>
          </a:p>
          <a:p>
            <a:pPr>
              <a:spcAft>
                <a:spcPts val="600"/>
              </a:spcAft>
              <a:defRPr sz="1300">
                <a:solidFill>
                  <a:srgbClr val="1E293B"/>
                </a:solidFill>
              </a:defRPr>
            </a:pPr>
            <a:r>
              <a:t>Recognition ofexternal factorsinfluencing linguistic change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exactly is the CVL-CDSAML Corpus?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Ask yourself:</a:t>
            </a:r>
          </a:p>
          <a:p>
            <a:pPr>
              <a:spcAft>
                <a:spcPts val="600"/>
              </a:spcAft>
              <a:defRPr sz="1300">
                <a:solidFill>
                  <a:srgbClr val="1E293B"/>
                </a:solidFill>
              </a:defRPr>
            </a:pPr>
            <a:r>
              <a:t>What does CVL-CDSAML stand for?</a:t>
            </a:r>
          </a:p>
          <a:p>
            <a:pPr>
              <a:spcAft>
                <a:spcPts val="600"/>
              </a:spcAft>
              <a:defRPr sz="1300">
                <a:solidFill>
                  <a:srgbClr val="1E293B"/>
                </a:solidFill>
              </a:defRPr>
            </a:pPr>
            <a:r>
              <a:t>How many texts does it contain?</a:t>
            </a:r>
          </a:p>
          <a:p>
            <a:pPr>
              <a:spcAft>
                <a:spcPts val="600"/>
              </a:spcAft>
              <a:defRPr sz="1300">
                <a:solidFill>
                  <a:srgbClr val="1E293B"/>
                </a:solidFill>
              </a:defRPr>
            </a:pPr>
            <a:r>
              <a:t>What time period does it cover?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What is the CVL-CDSAML Corpus?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The CVL-CDSAML (Corpus for Valency Lexicon - Corpus of Diachronic and Synchronic Analyses of Multiple Languages) serves as the textual database for extracting valency information across languages and time periods. Each text is digitally encoded with linguistic annotations that enable automatic extraction of verb-argument structures. The corpus architecture supports both synchronic comparison across languages and diachronic tracking of changes within individual languages.</a:t>
            </a:r>
          </a:p>
          <a:p>
            <a:pPr>
              <a:spcAft>
                <a:spcPts val="600"/>
              </a:spcAft>
              <a:defRPr sz="1300">
                <a:solidFill>
                  <a:srgbClr val="1E293B"/>
                </a:solidFill>
              </a:defRPr>
            </a:pPr>
            <a:r>
              <a:t>Purpose:Foundation for a diachronic valency lexicon project</a:t>
            </a:r>
          </a:p>
          <a:p>
            <a:pPr>
              <a:spcAft>
                <a:spcPts val="600"/>
              </a:spcAft>
              <a:defRPr sz="1300">
                <a:solidFill>
                  <a:srgbClr val="1E293B"/>
                </a:solidFill>
              </a:defRPr>
            </a:pPr>
            <a:r>
              <a:t>Scope:338 historical texts coveringthree millenniaof Greek language development</a:t>
            </a:r>
          </a:p>
          <a:p>
            <a:pPr>
              <a:spcAft>
                <a:spcPts val="600"/>
              </a:spcAft>
              <a:defRPr sz="1300">
                <a:solidFill>
                  <a:srgbClr val="1E293B"/>
                </a:solidFill>
              </a:defRPr>
            </a:pPr>
            <a:r>
              <a:t>Inclusion:Parallel traditions fromGermanicandRomancelanguages</a:t>
            </a:r>
          </a:p>
          <a:p>
            <a:pPr>
              <a:spcAft>
                <a:spcPts val="600"/>
              </a:spcAft>
              <a:defRPr sz="1300">
                <a:solidFill>
                  <a:srgbClr val="1E293B"/>
                </a:solidFill>
              </a:defRPr>
            </a:pPr>
            <a:r>
              <a:t>Approach:Enables study of both internal and external language interactions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research questions can this corpus address?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600"/>
              </a:spcAft>
              <a:defRPr sz="1300">
                <a:solidFill>
                  <a:srgbClr val="1E293B"/>
                </a:solidFill>
              </a:defRPr>
            </a:pPr>
            <a:r>
              <a:t>Internal vs. external language development</a:t>
            </a:r>
          </a:p>
          <a:p>
            <a:pPr>
              <a:spcAft>
                <a:spcPts val="600"/>
              </a:spcAft>
              <a:defRPr sz="1300">
                <a:solidFill>
                  <a:srgbClr val="1E293B"/>
                </a:solidFill>
              </a:defRPr>
            </a:pPr>
            <a:r>
              <a:t>Genre and register effects</a:t>
            </a:r>
          </a:p>
          <a:p>
            <a:pPr>
              <a:spcAft>
                <a:spcPts val="600"/>
              </a:spcAft>
              <a:defRPr sz="1300">
                <a:solidFill>
                  <a:srgbClr val="1E293B"/>
                </a:solidFill>
              </a:defRPr>
            </a:pPr>
            <a:r>
              <a:t>Historical transmission problems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Research Context &amp; Methodology</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The corpus allows researchers to analyze:</a:t>
            </a:r>
          </a:p>
          <a:p>
            <a:pPr>
              <a:spcAft>
                <a:spcPts val="1000"/>
              </a:spcAft>
              <a:defRPr sz="1400">
                <a:solidFill>
                  <a:srgbClr val="1E293B"/>
                </a:solidFill>
              </a:defRPr>
            </a:pPr>
            <a:r>
              <a:t>Based on Biber &amp; Conrad (2009)</a:t>
            </a:r>
          </a:p>
          <a:p>
            <a:pPr>
              <a:spcAft>
                <a:spcPts val="1000"/>
              </a:spcAft>
              <a:defRPr sz="1400">
                <a:solidFill>
                  <a:srgbClr val="1E293B"/>
                </a:solidFill>
              </a:defRPr>
            </a:pPr>
            <a:r>
              <a:t>Our methodology combines variationist sociolinguistics with diachronic corpus linguistics to track how valency patterns change. For example, the corpus is structured to allow comparison of the same text (e.g., Genesis 1) across five Greek translations spanning 2000 years, enabling precise tracking of how specific verbs likeποιέω"to make" change their argument structures over time.</a:t>
            </a:r>
          </a:p>
          <a:p>
            <a:pPr>
              <a:spcAft>
                <a:spcPts val="600"/>
              </a:spcAft>
              <a:defRPr sz="1300">
                <a:solidFill>
                  <a:srgbClr val="1E293B"/>
                </a:solidFill>
              </a:defRPr>
            </a:pPr>
            <a:r>
              <a:t>Internal language developmentpatterns</a:t>
            </a:r>
          </a:p>
          <a:p>
            <a:pPr>
              <a:spcAft>
                <a:spcPts val="600"/>
              </a:spcAft>
              <a:defRPr sz="1300">
                <a:solidFill>
                  <a:srgbClr val="1E293B"/>
                </a:solidFill>
              </a:defRPr>
            </a:pPr>
            <a:r>
              <a:t>External language interactionsthrough contact</a:t>
            </a:r>
          </a:p>
          <a:p>
            <a:pPr>
              <a:spcAft>
                <a:spcPts val="600"/>
              </a:spcAft>
              <a:defRPr sz="1300">
                <a:solidFill>
                  <a:srgbClr val="1E293B"/>
                </a:solidFill>
              </a:defRPr>
            </a:pPr>
            <a:r>
              <a:t>Genre effectson linguistic features</a:t>
            </a:r>
          </a:p>
          <a:p>
            <a:pPr>
              <a:spcAft>
                <a:spcPts val="600"/>
              </a:spcAft>
              <a:defRPr sz="1300">
                <a:solidFill>
                  <a:srgbClr val="1E293B"/>
                </a:solidFill>
              </a:defRPr>
            </a:pPr>
            <a:r>
              <a:t>Register variationsacross time periods</a:t>
            </a:r>
          </a:p>
          <a:p>
            <a:pPr>
              <a:spcAft>
                <a:spcPts val="600"/>
              </a:spcAft>
              <a:defRPr sz="1300">
                <a:solidFill>
                  <a:srgbClr val="1E293B"/>
                </a:solidFill>
              </a:defRPr>
            </a:pPr>
            <a:r>
              <a:t>Transmission problemsin historical linguistic evidence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Who funds this research and what is the timeline?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Key questions:</a:t>
            </a:r>
          </a:p>
          <a:p>
            <a:pPr>
              <a:spcAft>
                <a:spcPts val="600"/>
              </a:spcAft>
              <a:defRPr sz="1300">
                <a:solidFill>
                  <a:srgbClr val="1E293B"/>
                </a:solidFill>
              </a:defRPr>
            </a:pPr>
            <a:r>
              <a:t>Which foundation supports the project?</a:t>
            </a:r>
          </a:p>
          <a:p>
            <a:pPr>
              <a:spcAft>
                <a:spcPts val="600"/>
              </a:spcAft>
              <a:defRPr sz="1300">
                <a:solidFill>
                  <a:srgbClr val="1E293B"/>
                </a:solidFill>
              </a:defRPr>
            </a:pPr>
            <a:r>
              <a:t>What is the funding period?</a:t>
            </a:r>
          </a:p>
          <a:p>
            <a:pPr>
              <a:spcAft>
                <a:spcPts val="600"/>
              </a:spcAft>
              <a:defRPr sz="1300">
                <a:solidFill>
                  <a:srgbClr val="1E293B"/>
                </a:solidFill>
              </a:defRPr>
            </a:pPr>
            <a:r>
              <a:t>What makes this project competitive?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The CVL-CDSAML Project Overview</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Funded by:Hellenic Foundation for Research &amp; Innovation (H.F.R.I.)Program:ELIDEK Excellence funding programTimeline:2024-2025</a:t>
            </a:r>
          </a:p>
          <a:p>
            <a:pPr>
              <a:spcAft>
                <a:spcPts val="1000"/>
              </a:spcAft>
              <a:defRPr sz="1400">
                <a:solidFill>
                  <a:srgbClr val="1E293B"/>
                </a:solidFill>
              </a:defRPr>
            </a:pPr>
            <a:r>
              <a:t>This project is funded through the competitive ELIDEK Excellence program, which supports high-quality research in Greece. The 2024-2025 funding period focuses on completing the core corpus construction and releasing the initial version of the valency lexicon. The project employs a team of philologists, computational linguists, and software engineers working collaboratively on text digitization, annotation, and lexicon development.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are the main deliverables of this project?</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Two major outputs:</a:t>
            </a:r>
          </a:p>
          <a:p>
            <a:pPr>
              <a:spcAft>
                <a:spcPts val="600"/>
              </a:spcAft>
              <a:defRPr sz="1300">
                <a:solidFill>
                  <a:srgbClr val="1E293B"/>
                </a:solidFill>
              </a:defRPr>
            </a:pPr>
            <a:r>
              <a:t>What kind of corpus will be produced?</a:t>
            </a:r>
          </a:p>
          <a:p>
            <a:pPr>
              <a:spcAft>
                <a:spcPts val="600"/>
              </a:spcAft>
              <a:defRPr sz="1300">
                <a:solidFill>
                  <a:srgbClr val="1E293B"/>
                </a:solidFill>
              </a:defRPr>
            </a:pPr>
            <a:r>
              <a:t>What kind of lexicon will be created?</a:t>
            </a:r>
          </a:p>
          <a:p>
            <a:pPr>
              <a:spcAft>
                <a:spcPts val="600"/>
              </a:spcAft>
              <a:defRPr sz="1300">
                <a:solidFill>
                  <a:srgbClr val="1E293B"/>
                </a:solidFill>
              </a:defRPr>
            </a:pPr>
            <a:r>
              <a:t>How do these tools work together?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Project Goals &amp; Deliverables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Two Major Linguistic Tools:</a:t>
            </a:r>
          </a:p>
          <a:p>
            <a:pPr>
              <a:spcAft>
                <a:spcPts val="1000"/>
              </a:spcAft>
              <a:defRPr sz="1400">
                <a:solidFill>
                  <a:srgbClr val="1E293B"/>
                </a:solidFill>
              </a:defRPr>
            </a:pPr>
            <a:r>
              <a:t>Parallel Diachronic Corpus</a:t>
            </a:r>
          </a:p>
          <a:p>
            <a:pPr>
              <a:spcAft>
                <a:spcPts val="1000"/>
              </a:spcAft>
              <a:defRPr sz="1400">
                <a:solidFill>
                  <a:srgbClr val="1E293B"/>
                </a:solidFill>
              </a:defRPr>
            </a:pPr>
            <a:r>
              <a:t>Diachronic Valency Lexicon</a:t>
            </a:r>
          </a:p>
          <a:p>
            <a:pPr>
              <a:spcAft>
                <a:spcPts val="1000"/>
              </a:spcAft>
              <a:defRPr sz="1400">
                <a:solidFill>
                  <a:srgbClr val="1E293B"/>
                </a:solidFill>
              </a:defRPr>
            </a:pPr>
            <a:r>
              <a:t>The parallel corpus allows direct comparison of translations, revealing how source language structures influence target language valency. The valency lexicon will contain entries for approximately 5,000 predicates (verbs, adjectives, and nouns) with time-stamped valency frames. Each lexicon entry includes corpus examples showing the predicate in context with its arguments clearly marked.</a:t>
            </a:r>
          </a:p>
          <a:p>
            <a:pPr>
              <a:spcAft>
                <a:spcPts val="600"/>
              </a:spcAft>
              <a:defRPr sz="1300">
                <a:solidFill>
                  <a:srgbClr val="1E293B"/>
                </a:solidFill>
              </a:defRPr>
            </a:pPr>
            <a:r>
              <a:t>Bible texts across multiple languages and time periods</a:t>
            </a:r>
          </a:p>
          <a:p>
            <a:pPr>
              <a:spcAft>
                <a:spcPts val="600"/>
              </a:spcAft>
              <a:defRPr sz="1300">
                <a:solidFill>
                  <a:srgbClr val="1E293B"/>
                </a:solidFill>
              </a:defRPr>
            </a:pPr>
            <a:r>
              <a:t>Other significant historical texts</a:t>
            </a:r>
          </a:p>
          <a:p>
            <a:pPr>
              <a:spcAft>
                <a:spcPts val="600"/>
              </a:spcAft>
              <a:defRPr sz="1300">
                <a:solidFill>
                  <a:srgbClr val="1E293B"/>
                </a:solidFill>
              </a:defRPr>
            </a:pPr>
            <a:r>
              <a:t>Extracted systematically from the corpus</a:t>
            </a:r>
          </a:p>
          <a:p>
            <a:pPr>
              <a:spcAft>
                <a:spcPts val="600"/>
              </a:spcAft>
              <a:defRPr sz="1300">
                <a:solidFill>
                  <a:srgbClr val="1E293B"/>
                </a:solidFill>
              </a:defRPr>
            </a:pPr>
            <a:r>
              <a:t>Tracks valency patterns across time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How large is the corpus and how is it organized?</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Scale questions:</a:t>
            </a:r>
          </a:p>
          <a:p>
            <a:pPr>
              <a:spcAft>
                <a:spcPts val="600"/>
              </a:spcAft>
              <a:defRPr sz="1300">
                <a:solidFill>
                  <a:srgbClr val="1E293B"/>
                </a:solidFill>
              </a:defRPr>
            </a:pPr>
            <a:r>
              <a:t>How many texts total?</a:t>
            </a:r>
          </a:p>
          <a:p>
            <a:pPr>
              <a:spcAft>
                <a:spcPts val="600"/>
              </a:spcAft>
              <a:defRPr sz="1300">
                <a:solidFill>
                  <a:srgbClr val="1E293B"/>
                </a:solidFill>
              </a:defRPr>
            </a:pPr>
            <a:r>
              <a:t>How many years of history?</a:t>
            </a:r>
          </a:p>
          <a:p>
            <a:pPr>
              <a:spcAft>
                <a:spcPts val="600"/>
              </a:spcAft>
              <a:defRPr sz="1300">
                <a:solidFill>
                  <a:srgbClr val="1E293B"/>
                </a:solidFill>
              </a:defRPr>
            </a:pPr>
            <a:r>
              <a:t>How is it structured hierarchically?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Project Scope &amp; Scale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The corpus is organized hierarchically: at the top level by language family (Hellenic, Germanic, Romance), then by historical period, then by text type (biblical, historical prose, etc.). Each text is assigned a unique identifier (e.g.,GRK-KOINE-NT-JOHNfor the Gospel of John in Koine Greek). This systematic organization enables efficient querying and comparison across temporal and spatial dimensions.</a:t>
            </a:r>
          </a:p>
          <a:p>
            <a:pPr>
              <a:spcAft>
                <a:spcPts val="600"/>
              </a:spcAft>
              <a:defRPr sz="1300">
                <a:solidFill>
                  <a:srgbClr val="1E293B"/>
                </a:solidFill>
              </a:defRPr>
            </a:pPr>
            <a:r>
              <a:t>338 historical textsto be processed systematically</a:t>
            </a:r>
          </a:p>
          <a:p>
            <a:pPr>
              <a:spcAft>
                <a:spcPts val="600"/>
              </a:spcAft>
              <a:defRPr sz="1300">
                <a:solidFill>
                  <a:srgbClr val="1E293B"/>
                </a:solidFill>
              </a:defRPr>
            </a:pPr>
            <a:r>
              <a:t>Over two millenniaof documented linguistic development</a:t>
            </a:r>
          </a:p>
          <a:p>
            <a:pPr>
              <a:spcAft>
                <a:spcPts val="600"/>
              </a:spcAft>
              <a:defRPr sz="1300">
                <a:solidFill>
                  <a:srgbClr val="1E293B"/>
                </a:solidFill>
              </a:defRPr>
            </a:pPr>
            <a:r>
              <a:t>Multiple language familiesrepresented</a:t>
            </a:r>
          </a:p>
          <a:p>
            <a:pPr>
              <a:spcAft>
                <a:spcPts val="600"/>
              </a:spcAft>
              <a:defRPr sz="1300">
                <a:solidFill>
                  <a:srgbClr val="1E293B"/>
                </a:solidFill>
              </a:defRPr>
            </a:pPr>
            <a:r>
              <a:t>Comprehensive coverageof major periods and genres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Can you show us the actual directory structure?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Structure details:</a:t>
            </a:r>
          </a:p>
          <a:p>
            <a:pPr>
              <a:spcAft>
                <a:spcPts val="600"/>
              </a:spcAft>
              <a:defRPr sz="1300">
                <a:solidFill>
                  <a:srgbClr val="1E293B"/>
                </a:solidFill>
              </a:defRPr>
            </a:pPr>
            <a:r>
              <a:t>How are files organized?</a:t>
            </a:r>
          </a:p>
          <a:p>
            <a:pPr>
              <a:spcAft>
                <a:spcPts val="600"/>
              </a:spcAft>
              <a:defRPr sz="1300">
                <a:solidFill>
                  <a:srgbClr val="1E293B"/>
                </a:solidFill>
              </a:defRPr>
            </a:pPr>
            <a:r>
              <a:t>What naming conventions are used?</a:t>
            </a:r>
          </a:p>
          <a:p>
            <a:pPr>
              <a:spcAft>
                <a:spcPts val="600"/>
              </a:spcAft>
              <a:defRPr sz="1300">
                <a:solidFill>
                  <a:srgbClr val="1E293B"/>
                </a:solidFill>
              </a:defRPr>
            </a:pPr>
            <a:r>
              <a:t>How does this enable efficient querying?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Corpus Structure Example: Hierarchical Organization</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This hierarchical structure allows researchers to query specific periods (e.g., "all Koine texts") or track individual texts across translations (e.g., "Genesis in all Greek periods"). The file naming convention includes language code, period, text type, and specific work identifier.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makes a text "influential" enough to include?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Selection criteria:</a:t>
            </a:r>
          </a:p>
          <a:p>
            <a:pPr>
              <a:spcAft>
                <a:spcPts val="600"/>
              </a:spcAft>
              <a:defRPr sz="1300">
                <a:solidFill>
                  <a:srgbClr val="1E293B"/>
                </a:solidFill>
              </a:defRPr>
            </a:pPr>
            <a:r>
              <a:t>What defines cultural significance?</a:t>
            </a:r>
          </a:p>
          <a:p>
            <a:pPr>
              <a:spcAft>
                <a:spcPts val="600"/>
              </a:spcAft>
              <a:defRPr sz="1300">
                <a:solidFill>
                  <a:srgbClr val="1E293B"/>
                </a:solidFill>
              </a:defRPr>
            </a:pPr>
            <a:r>
              <a:t>Why is translation availability important?</a:t>
            </a:r>
          </a:p>
          <a:p>
            <a:pPr>
              <a:spcAft>
                <a:spcPts val="600"/>
              </a:spcAft>
              <a:defRPr sz="1300">
                <a:solidFill>
                  <a:srgbClr val="1E293B"/>
                </a:solidFill>
              </a:defRPr>
            </a:pPr>
            <a:r>
              <a:t>How do these criteria work together?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Defining Influential Texts: Criteria</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Two Essential Conditions for Text Selection:</a:t>
            </a:r>
          </a:p>
          <a:p>
            <a:pPr>
              <a:spcAft>
                <a:spcPts val="1000"/>
              </a:spcAft>
              <a:defRPr sz="1400">
                <a:solidFill>
                  <a:srgbClr val="1E293B"/>
                </a:solidFill>
              </a:defRPr>
            </a:pPr>
            <a:r>
              <a:t>(a)The text holdscultural and linguistic significanceaccording to historical documentation</a:t>
            </a:r>
          </a:p>
          <a:p>
            <a:pPr>
              <a:spcAft>
                <a:spcPts val="1000"/>
              </a:spcAft>
              <a:defRPr sz="1400">
                <a:solidFill>
                  <a:srgbClr val="1E293B"/>
                </a:solidFill>
              </a:defRPr>
            </a:pPr>
            <a:r>
              <a:t>(b)The text exists inmultiple translationsacross various geographical areas and time periods</a:t>
            </a:r>
          </a:p>
          <a:p>
            <a:pPr>
              <a:spcAft>
                <a:spcPts val="1000"/>
              </a:spcAft>
              <a:defRPr sz="1400">
                <a:solidFill>
                  <a:srgbClr val="1E293B"/>
                </a:solidFill>
              </a:defRPr>
            </a:pPr>
            <a:r>
              <a:t>(Lavidas 2021: 283)</a:t>
            </a:r>
          </a:p>
          <a:p>
            <a:pPr>
              <a:spcAft>
                <a:spcPts val="1000"/>
              </a:spcAft>
              <a:defRPr sz="1400">
                <a:solidFill>
                  <a:srgbClr val="1E293B"/>
                </a:solidFill>
              </a:defRPr>
            </a:pPr>
            <a:r>
              <a:t>These criteria ensure that included texts have both influenced language use historically and are available in sufficient translations for comparative analysis. For example, the Book of Psalms meets both criteria: it shaped liturgical language across centuries and exists in numerous translations from Hebrew to Greek (Septuagint, Byzantine, Modern), Latin (Vulgate), Old English, Middle English, and Modern English. This allows tracking of how the same poetic-religious register evolves across languages and time.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How does the corpus capture language contact effects?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Contact linguistics:</a:t>
            </a:r>
          </a:p>
          <a:p>
            <a:pPr>
              <a:spcAft>
                <a:spcPts val="600"/>
              </a:spcAft>
              <a:defRPr sz="1300">
                <a:solidFill>
                  <a:srgbClr val="1E293B"/>
                </a:solidFill>
              </a:defRPr>
            </a:pPr>
            <a:r>
              <a:t>What is written language contact?</a:t>
            </a:r>
          </a:p>
          <a:p>
            <a:pPr>
              <a:spcAft>
                <a:spcPts val="600"/>
              </a:spcAft>
              <a:defRPr sz="1300">
                <a:solidFill>
                  <a:srgbClr val="1E293B"/>
                </a:solidFill>
              </a:defRPr>
            </a:pPr>
            <a:r>
              <a:t>How do translations create contact?</a:t>
            </a:r>
          </a:p>
          <a:p>
            <a:pPr>
              <a:spcAft>
                <a:spcPts val="600"/>
              </a:spcAft>
              <a:defRPr sz="1300">
                <a:solidFill>
                  <a:srgbClr val="1E293B"/>
                </a:solidFill>
              </a:defRPr>
            </a:pPr>
            <a:r>
              <a:t>What types of contact can we study?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Written Language Contact: A Key Focus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The corpus is designed to analyzewritten language contactthrough:</a:t>
            </a:r>
          </a:p>
          <a:p>
            <a:pPr>
              <a:spcAft>
                <a:spcPts val="1000"/>
              </a:spcAft>
              <a:defRPr sz="1400">
                <a:solidFill>
                  <a:srgbClr val="1E293B"/>
                </a:solidFill>
              </a:defRPr>
            </a:pPr>
            <a:r>
              <a:t>Written language contact occurs when translators transfer structures from source to target languages, creating non-native patterns. The corpus structure captures these effects by aligning parallel texts with metadata indicating translation direction. For instance, in the corpus, the Septuagint (Hebrew→Greek) shows different contact effects than Byzantine Greek retranslations (Greek→Greek), and comparing these reveals which features are translation universals versus language-pair-specific transfers.</a:t>
            </a:r>
          </a:p>
          <a:p>
            <a:pPr>
              <a:spcAft>
                <a:spcPts val="600"/>
              </a:spcAft>
              <a:defRPr sz="1300">
                <a:solidFill>
                  <a:srgbClr val="1E293B"/>
                </a:solidFill>
              </a:defRPr>
            </a:pPr>
            <a:r>
              <a:t>Translation-based interactions</a:t>
            </a:r>
          </a:p>
          <a:p>
            <a:pPr>
              <a:spcAft>
                <a:spcPts val="600"/>
              </a:spcAft>
              <a:defRPr sz="1300">
                <a:solidFill>
                  <a:srgbClr val="1E293B"/>
                </a:solidFill>
              </a:defRPr>
            </a:pPr>
            <a:r>
              <a:t>Interlingual contact(between different languages)</a:t>
            </a:r>
          </a:p>
          <a:p>
            <a:pPr>
              <a:spcAft>
                <a:spcPts val="600"/>
              </a:spcAft>
              <a:defRPr sz="1300">
                <a:solidFill>
                  <a:srgbClr val="1E293B"/>
                </a:solidFill>
              </a:defRPr>
            </a:pPr>
            <a:r>
              <a:t>Intralingual contact(within the same language over time)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metadata does each text file contain?</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Metadata questions:</a:t>
            </a:r>
          </a:p>
          <a:p>
            <a:pPr>
              <a:spcAft>
                <a:spcPts val="600"/>
              </a:spcAft>
              <a:defRPr sz="1300">
                <a:solidFill>
                  <a:srgbClr val="1E293B"/>
                </a:solidFill>
              </a:defRPr>
            </a:pPr>
            <a:r>
              <a:t>What information is tracked?</a:t>
            </a:r>
          </a:p>
          <a:p>
            <a:pPr>
              <a:spcAft>
                <a:spcPts val="600"/>
              </a:spcAft>
              <a:defRPr sz="1300">
                <a:solidFill>
                  <a:srgbClr val="1E293B"/>
                </a:solidFill>
              </a:defRPr>
            </a:pPr>
            <a:r>
              <a:t>How is translation direction encoded?</a:t>
            </a:r>
          </a:p>
          <a:p>
            <a:pPr>
              <a:spcAft>
                <a:spcPts val="600"/>
              </a:spcAft>
              <a:defRPr sz="1300">
                <a:solidFill>
                  <a:srgbClr val="1E293B"/>
                </a:solidFill>
              </a:defRPr>
            </a:pPr>
            <a:r>
              <a:t>Why is this metadata crucial?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Corpus Metadata Structure Example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Each text file includes comprehensive metadata enabling filtering by translation type, date, register, and source language. This metadata structure is crucial for distinguishing genuine language change from translation effects. Researchers can query the corpus to exclude translations or specifically target them for contact studies.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are retranslations and why do they matter?</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Retranslation concepts:</a:t>
            </a:r>
          </a:p>
          <a:p>
            <a:pPr>
              <a:spcAft>
                <a:spcPts val="600"/>
              </a:spcAft>
              <a:defRPr sz="1300">
                <a:solidFill>
                  <a:srgbClr val="1E293B"/>
                </a:solidFill>
              </a:defRPr>
            </a:pPr>
            <a:r>
              <a:t>How are they defined?</a:t>
            </a:r>
          </a:p>
          <a:p>
            <a:pPr>
              <a:spcAft>
                <a:spcPts val="600"/>
              </a:spcAft>
              <a:defRPr sz="1300">
                <a:solidFill>
                  <a:srgbClr val="1E293B"/>
                </a:solidFill>
              </a:defRPr>
            </a:pPr>
            <a:r>
              <a:t>What types exist?</a:t>
            </a:r>
          </a:p>
          <a:p>
            <a:pPr>
              <a:spcAft>
                <a:spcPts val="600"/>
              </a:spcAft>
              <a:defRPr sz="1300">
                <a:solidFill>
                  <a:srgbClr val="1E293B"/>
                </a:solidFill>
              </a:defRPr>
            </a:pPr>
            <a:r>
              <a:t>How are they encoded in the corpus?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Understanding Retranslations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Definition:Translations of the same source text in the same language over time</a:t>
            </a:r>
          </a:p>
          <a:p>
            <a:pPr>
              <a:spcAft>
                <a:spcPts val="1000"/>
              </a:spcAft>
              <a:defRPr sz="1400">
                <a:solidFill>
                  <a:srgbClr val="1E293B"/>
                </a:solidFill>
              </a:defRPr>
            </a:pPr>
            <a:r>
              <a:t>Two Types:</a:t>
            </a:r>
          </a:p>
          <a:p>
            <a:pPr>
              <a:spcAft>
                <a:spcPts val="1000"/>
              </a:spcAft>
              <a:defRPr sz="1400">
                <a:solidFill>
                  <a:srgbClr val="1E293B"/>
                </a:solidFill>
              </a:defRPr>
            </a:pPr>
            <a:r>
              <a:t>(Pym 1998)</a:t>
            </a:r>
          </a:p>
          <a:p>
            <a:pPr>
              <a:spcAft>
                <a:spcPts val="1000"/>
              </a:spcAft>
              <a:defRPr sz="1400">
                <a:solidFill>
                  <a:srgbClr val="1E293B"/>
                </a:solidFill>
              </a:defRPr>
            </a:pPr>
            <a:r>
              <a:t>Retranslations are encoded in the corpus with version numbers and dates, allowing tracking of how translation practices evolve. For example, the corpus containsGRK-MOD-NT-JOHN-1904,GRK-MOD-NT-JOHN-1985, andGRK-MOD-NT-JOHN-2006, enabling analysis of 20th-century trends in biblical translation strategies. The valency lexicon entries can be filtered to show how the same source text's predicates are rendered differently across these versions.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Passive Retranslation Explained</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Occurs when:A previous translation becomes inaccessible or unintelligible to contemporary speakers</a:t>
            </a:r>
          </a:p>
          <a:p>
            <a:pPr>
              <a:spcAft>
                <a:spcPts val="1000"/>
              </a:spcAft>
              <a:defRPr sz="1400">
                <a:solidFill>
                  <a:srgbClr val="1E293B"/>
                </a:solidFill>
              </a:defRPr>
            </a:pPr>
            <a:r>
              <a:t>Example: Modern Greek Translations of the Old Testament</a:t>
            </a:r>
          </a:p>
          <a:p>
            <a:pPr>
              <a:spcAft>
                <a:spcPts val="600"/>
              </a:spcAft>
              <a:defRPr sz="1300">
                <a:solidFill>
                  <a:srgbClr val="1E293B"/>
                </a:solidFill>
              </a:defRPr>
            </a:pPr>
            <a:r>
              <a:t>The Septuagint (c. 150 BCE) became no longer intelligible to modern speakers</a:t>
            </a:r>
          </a:p>
          <a:p>
            <a:pPr>
              <a:spcAft>
                <a:spcPts val="600"/>
              </a:spcAft>
              <a:defRPr sz="1300">
                <a:solidFill>
                  <a:srgbClr val="1E293B"/>
                </a:solidFill>
              </a:defRPr>
            </a:pPr>
            <a:r>
              <a:t>This necessitated new translation work for contemporary audiences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Active Retranslation Explained</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Occurs when:New translations offer competing perspectives based on different theological, doctrinal, or interpretive preferences</a:t>
            </a:r>
          </a:p>
          <a:p>
            <a:pPr>
              <a:spcAft>
                <a:spcPts val="1000"/>
              </a:spcAft>
              <a:defRPr sz="1400">
                <a:solidFill>
                  <a:srgbClr val="1E293B"/>
                </a:solidFill>
              </a:defRPr>
            </a:pPr>
            <a:r>
              <a:t>Example: English Bible Translations (19th-20th centuries)</a:t>
            </a:r>
          </a:p>
          <a:p>
            <a:pPr>
              <a:spcAft>
                <a:spcPts val="600"/>
              </a:spcAft>
              <a:defRPr sz="1300">
                <a:solidFill>
                  <a:srgbClr val="1E293B"/>
                </a:solidFill>
              </a:defRPr>
            </a:pPr>
            <a:r>
              <a:t>Protestant versions</a:t>
            </a:r>
          </a:p>
          <a:p>
            <a:pPr>
              <a:spcAft>
                <a:spcPts val="600"/>
              </a:spcAft>
              <a:defRPr sz="1300">
                <a:solidFill>
                  <a:srgbClr val="1E293B"/>
                </a:solidFill>
              </a:defRPr>
            </a:pPr>
            <a:r>
              <a:t>Catholic versions</a:t>
            </a:r>
          </a:p>
          <a:p>
            <a:pPr>
              <a:spcAft>
                <a:spcPts val="600"/>
              </a:spcAft>
              <a:defRPr sz="1300">
                <a:solidFill>
                  <a:srgbClr val="1E293B"/>
                </a:solidFill>
              </a:defRPr>
            </a:pPr>
            <a:r>
              <a:t>Each reflecting different theological and doctrinal preferences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Language Families in the Corpus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The CVL-CDSAML corpus includes texts fromthree Indo-European language families: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The Three Language Families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Hellenic</a:t>
            </a:r>
          </a:p>
          <a:p>
            <a:pPr>
              <a:spcAft>
                <a:spcPts val="1000"/>
              </a:spcAft>
              <a:defRPr sz="1400">
                <a:solidFill>
                  <a:srgbClr val="1E293B"/>
                </a:solidFill>
              </a:defRPr>
            </a:pPr>
            <a:r>
              <a:t>Germanic</a:t>
            </a:r>
          </a:p>
          <a:p>
            <a:pPr>
              <a:spcAft>
                <a:spcPts val="1000"/>
              </a:spcAft>
              <a:defRPr sz="1400">
                <a:solidFill>
                  <a:srgbClr val="1E293B"/>
                </a:solidFill>
              </a:defRPr>
            </a:pPr>
            <a:r>
              <a:t>Romance</a:t>
            </a:r>
          </a:p>
          <a:p>
            <a:pPr>
              <a:spcAft>
                <a:spcPts val="600"/>
              </a:spcAft>
              <a:defRPr sz="1300">
                <a:solidFill>
                  <a:srgbClr val="1E293B"/>
                </a:solidFill>
              </a:defRPr>
            </a:pPr>
            <a:r>
              <a:t>Greek (across all historical periods)</a:t>
            </a:r>
          </a:p>
          <a:p>
            <a:pPr>
              <a:spcAft>
                <a:spcPts val="600"/>
              </a:spcAft>
              <a:defRPr sz="1300">
                <a:solidFill>
                  <a:srgbClr val="1E293B"/>
                </a:solidFill>
              </a:defRPr>
            </a:pPr>
            <a:r>
              <a:t>English (various historical stages)</a:t>
            </a:r>
          </a:p>
          <a:p>
            <a:pPr>
              <a:spcAft>
                <a:spcPts val="600"/>
              </a:spcAft>
              <a:defRPr sz="1300">
                <a:solidFill>
                  <a:srgbClr val="1E293B"/>
                </a:solidFill>
              </a:defRPr>
            </a:pPr>
            <a:r>
              <a:t>Latin</a:t>
            </a:r>
          </a:p>
          <a:p>
            <a:pPr>
              <a:spcAft>
                <a:spcPts val="600"/>
              </a:spcAft>
              <a:defRPr sz="1300">
                <a:solidFill>
                  <a:srgbClr val="1E293B"/>
                </a:solidFill>
              </a:defRPr>
            </a:pPr>
            <a:r>
              <a:t>French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Why These Languages?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Strategic Selection Based On:</a:t>
            </a:r>
          </a:p>
          <a:p>
            <a:pPr>
              <a:spcAft>
                <a:spcPts val="600"/>
              </a:spcAft>
              <a:defRPr sz="1300">
                <a:solidFill>
                  <a:srgbClr val="1E293B"/>
                </a:solidFill>
              </a:defRPr>
            </a:pPr>
            <a:r>
              <a:t>Significantattested historyof written contact</a:t>
            </a:r>
          </a:p>
          <a:p>
            <a:pPr>
              <a:spcAft>
                <a:spcPts val="600"/>
              </a:spcAft>
              <a:defRPr sz="1300">
                <a:solidFill>
                  <a:srgbClr val="1E293B"/>
                </a:solidFill>
              </a:defRPr>
            </a:pPr>
            <a:r>
              <a:t>Longdocumented traditions</a:t>
            </a:r>
          </a:p>
          <a:p>
            <a:pPr>
              <a:spcAft>
                <a:spcPts val="600"/>
              </a:spcAft>
              <a:defRPr sz="1300">
                <a:solidFill>
                  <a:srgbClr val="1E293B"/>
                </a:solidFill>
              </a:defRPr>
            </a:pPr>
            <a:r>
              <a:t>Richtranslation practices</a:t>
            </a:r>
          </a:p>
          <a:p>
            <a:pPr>
              <a:spcAft>
                <a:spcPts val="600"/>
              </a:spcAft>
              <a:defRPr sz="1300">
                <a:solidFill>
                  <a:srgbClr val="1E293B"/>
                </a:solidFill>
              </a:defRPr>
            </a:pPr>
            <a:r>
              <a:t>Extensivehistorical records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The Role of Original Texts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Original influential texts are included as:</a:t>
            </a:r>
          </a:p>
          <a:p>
            <a:pPr>
              <a:spcAft>
                <a:spcPts val="1000"/>
              </a:spcAft>
              <a:defRPr sz="1400">
                <a:solidFill>
                  <a:srgbClr val="1E293B"/>
                </a:solidFill>
              </a:defRPr>
            </a:pPr>
            <a:r>
              <a:t>(Toury 1995)</a:t>
            </a:r>
          </a:p>
          <a:p>
            <a:pPr>
              <a:spcAft>
                <a:spcPts val="600"/>
              </a:spcAft>
              <a:defRPr sz="1300">
                <a:solidFill>
                  <a:srgbClr val="1E293B"/>
                </a:solidFill>
              </a:defRPr>
            </a:pPr>
            <a:r>
              <a:t>Source textsfor translation analysis</a:t>
            </a:r>
          </a:p>
          <a:p>
            <a:pPr>
              <a:spcAft>
                <a:spcPts val="600"/>
              </a:spcAft>
              <a:defRPr sz="1300">
                <a:solidFill>
                  <a:srgbClr val="1E293B"/>
                </a:solidFill>
              </a:defRPr>
            </a:pPr>
            <a:r>
              <a:t>Control groupto identify and filter:Source language influencesUnique characteristics of translations"Translationese" phenomena</a:t>
            </a:r>
          </a:p>
          <a:p>
            <a:pPr>
              <a:spcAft>
                <a:spcPts val="600"/>
              </a:spcAft>
              <a:defRPr sz="1300">
                <a:solidFill>
                  <a:srgbClr val="1E293B"/>
                </a:solidFill>
              </a:defRPr>
            </a:pPr>
            <a:r>
              <a:t>Source language influences</a:t>
            </a:r>
          </a:p>
          <a:p>
            <a:pPr>
              <a:spcAft>
                <a:spcPts val="600"/>
              </a:spcAft>
              <a:defRPr sz="1300">
                <a:solidFill>
                  <a:srgbClr val="1E293B"/>
                </a:solidFill>
              </a:defRPr>
            </a:pPr>
            <a:r>
              <a:t>Unique characteristics of translations</a:t>
            </a:r>
          </a:p>
          <a:p>
            <a:pPr>
              <a:spcAft>
                <a:spcPts val="600"/>
              </a:spcAft>
              <a:defRPr sz="1300">
                <a:solidFill>
                  <a:srgbClr val="1E293B"/>
                </a:solidFill>
              </a:defRPr>
            </a:pPr>
            <a:r>
              <a:t>"Translationese" phenomena</a:t>
            </a:r>
          </a:p>
          <a:p>
            <a:pPr>
              <a:spcAft>
                <a:spcPts val="600"/>
              </a:spcAft>
              <a:defRPr sz="1300">
                <a:solidFill>
                  <a:srgbClr val="1E293B"/>
                </a:solidFill>
              </a:defRPr>
            </a:pPr>
            <a:r>
              <a:t>Source language influences</a:t>
            </a:r>
          </a:p>
          <a:p>
            <a:pPr>
              <a:spcAft>
                <a:spcPts val="600"/>
              </a:spcAft>
              <a:defRPr sz="1300">
                <a:solidFill>
                  <a:srgbClr val="1E293B"/>
                </a:solidFill>
              </a:defRPr>
            </a:pPr>
            <a:r>
              <a:t>Unique characteristics of translations</a:t>
            </a:r>
          </a:p>
          <a:p>
            <a:pPr>
              <a:spcAft>
                <a:spcPts val="600"/>
              </a:spcAft>
              <a:defRPr sz="1300">
                <a:solidFill>
                  <a:srgbClr val="1E293B"/>
                </a:solidFill>
              </a:defRPr>
            </a:pPr>
            <a:r>
              <a:t>"Translationese" phenomena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The Core Hellenic Tradition</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Greek: The Longest Historical Record</a:t>
            </a:r>
          </a:p>
          <a:p>
            <a:pPr>
              <a:spcAft>
                <a:spcPts val="600"/>
              </a:spcAft>
              <a:defRPr sz="1300">
                <a:solidFill>
                  <a:srgbClr val="1E293B"/>
                </a:solidFill>
              </a:defRPr>
            </a:pPr>
            <a:r>
              <a:t>Written documents fromMycenaean erato present day</a:t>
            </a:r>
          </a:p>
          <a:p>
            <a:pPr>
              <a:spcAft>
                <a:spcPts val="600"/>
              </a:spcAft>
              <a:defRPr sz="1300">
                <a:solidFill>
                  <a:srgbClr val="1E293B"/>
                </a:solidFill>
              </a:defRPr>
            </a:pPr>
            <a:r>
              <a:t>Unparalleledcontinuityof documentation</a:t>
            </a:r>
          </a:p>
          <a:p>
            <a:pPr>
              <a:spcAft>
                <a:spcPts val="600"/>
              </a:spcAft>
              <a:defRPr sz="1300">
                <a:solidFill>
                  <a:srgbClr val="1E293B"/>
                </a:solidFill>
              </a:defRPr>
            </a:pPr>
            <a:r>
              <a:t>Critical for understandinglong-term language change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Focus on Post-Classical Development</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The CVL-CDSAML corpus examines:</a:t>
            </a:r>
          </a:p>
          <a:p>
            <a:pPr>
              <a:spcAft>
                <a:spcPts val="1000"/>
              </a:spcAft>
              <a:defRPr sz="1400">
                <a:solidFill>
                  <a:srgbClr val="1E293B"/>
                </a:solidFill>
              </a:defRPr>
            </a:pPr>
            <a:r>
              <a:t>Why?This period represents a crucial time for studying Greek grammar shift</a:t>
            </a:r>
          </a:p>
          <a:p>
            <a:pPr>
              <a:spcAft>
                <a:spcPts val="600"/>
              </a:spcAft>
              <a:defRPr sz="1300">
                <a:solidFill>
                  <a:srgbClr val="1E293B"/>
                </a:solidFill>
              </a:defRPr>
            </a:pPr>
            <a:r>
              <a:t>Koine Greek(Hellenistic and Roman periods)</a:t>
            </a:r>
          </a:p>
          <a:p>
            <a:pPr>
              <a:spcAft>
                <a:spcPts val="600"/>
              </a:spcAft>
              <a:defRPr sz="1300">
                <a:solidFill>
                  <a:srgbClr val="1E293B"/>
                </a:solidFill>
              </a:defRPr>
            </a:pPr>
            <a:r>
              <a:t>Byzantine Greek(Medieval period)</a:t>
            </a:r>
          </a:p>
          <a:p>
            <a:pPr>
              <a:spcAft>
                <a:spcPts val="600"/>
              </a:spcAft>
              <a:defRPr sz="1300">
                <a:solidFill>
                  <a:srgbClr val="1E293B"/>
                </a:solidFill>
              </a:defRPr>
            </a:pPr>
            <a:r>
              <a:t>Modern Greekvarieties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Grammatical Shift: Synthetic to Analytic</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Major Transition in Greek:</a:t>
            </a:r>
          </a:p>
          <a:p>
            <a:pPr>
              <a:spcAft>
                <a:spcPts val="1000"/>
              </a:spcAft>
              <a:defRPr sz="1400">
                <a:solidFill>
                  <a:srgbClr val="1E293B"/>
                </a:solidFill>
              </a:defRPr>
            </a:pPr>
            <a:r>
              <a:t>Key Research Question:How and when did this shift occur?</a:t>
            </a:r>
          </a:p>
          <a:p>
            <a:pPr>
              <a:spcAft>
                <a:spcPts val="1000"/>
              </a:spcAft>
              <a:defRPr sz="1400">
                <a:solidFill>
                  <a:srgbClr val="1E293B"/>
                </a:solidFill>
              </a:defRPr>
            </a:pPr>
            <a:r>
              <a:t>(Browning 1983; Horrocks 2010)</a:t>
            </a:r>
          </a:p>
          <a:p>
            <a:pPr>
              <a:spcAft>
                <a:spcPts val="600"/>
              </a:spcAft>
              <a:defRPr sz="1300">
                <a:solidFill>
                  <a:srgbClr val="1E293B"/>
                </a:solidFill>
              </a:defRPr>
            </a:pPr>
            <a:r>
              <a:t>Fromsynthetic structures(morphologically complex)</a:t>
            </a:r>
          </a:p>
          <a:p>
            <a:pPr>
              <a:spcAft>
                <a:spcPts val="600"/>
              </a:spcAft>
              <a:defRPr sz="1300">
                <a:solidFill>
                  <a:srgbClr val="1E293B"/>
                </a:solidFill>
              </a:defRPr>
            </a:pPr>
            <a:r>
              <a:t>Toanalytic structures(syntactically complex)</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Dual Methodology Approach</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Philological Curation:</a:t>
            </a:r>
          </a:p>
          <a:p>
            <a:pPr>
              <a:spcAft>
                <a:spcPts val="1000"/>
              </a:spcAft>
              <a:defRPr sz="1400">
                <a:solidFill>
                  <a:srgbClr val="1E293B"/>
                </a:solidFill>
              </a:defRPr>
            </a:pPr>
            <a:r>
              <a:t>+</a:t>
            </a:r>
          </a:p>
          <a:p>
            <a:pPr>
              <a:spcAft>
                <a:spcPts val="1000"/>
              </a:spcAft>
              <a:defRPr sz="1400">
                <a:solidFill>
                  <a:srgbClr val="1E293B"/>
                </a:solidFill>
              </a:defRPr>
            </a:pPr>
            <a:r>
              <a:t>Computational Processing:</a:t>
            </a:r>
          </a:p>
          <a:p>
            <a:pPr>
              <a:spcAft>
                <a:spcPts val="600"/>
              </a:spcAft>
              <a:defRPr sz="1300">
                <a:solidFill>
                  <a:srgbClr val="1E293B"/>
                </a:solidFill>
              </a:defRPr>
            </a:pPr>
            <a:r>
              <a:t>Expert text selection</a:t>
            </a:r>
          </a:p>
          <a:p>
            <a:pPr>
              <a:spcAft>
                <a:spcPts val="600"/>
              </a:spcAft>
              <a:defRPr sz="1300">
                <a:solidFill>
                  <a:srgbClr val="1E293B"/>
                </a:solidFill>
              </a:defRPr>
            </a:pPr>
            <a:r>
              <a:t>Critical edition standards</a:t>
            </a:r>
          </a:p>
          <a:p>
            <a:pPr>
              <a:spcAft>
                <a:spcPts val="600"/>
              </a:spcAft>
              <a:defRPr sz="1300">
                <a:solidFill>
                  <a:srgbClr val="1E293B"/>
                </a:solidFill>
              </a:defRPr>
            </a:pPr>
            <a:r>
              <a:t>Historical authenticity</a:t>
            </a:r>
          </a:p>
          <a:p>
            <a:pPr>
              <a:spcAft>
                <a:spcPts val="600"/>
              </a:spcAft>
              <a:defRPr sz="1300">
                <a:solidFill>
                  <a:srgbClr val="1E293B"/>
                </a:solidFill>
              </a:defRPr>
            </a:pPr>
            <a:r>
              <a:t>Systematic analysis</a:t>
            </a:r>
          </a:p>
          <a:p>
            <a:pPr>
              <a:spcAft>
                <a:spcPts val="600"/>
              </a:spcAft>
              <a:defRPr sz="1300">
                <a:solidFill>
                  <a:srgbClr val="1E293B"/>
                </a:solidFill>
              </a:defRPr>
            </a:pPr>
            <a:r>
              <a:t>Large-scale pattern detection</a:t>
            </a:r>
          </a:p>
          <a:p>
            <a:pPr>
              <a:spcAft>
                <a:spcPts val="600"/>
              </a:spcAft>
              <a:defRPr sz="1300">
                <a:solidFill>
                  <a:srgbClr val="1E293B"/>
                </a:solidFill>
              </a:defRPr>
            </a:pPr>
            <a:r>
              <a:t>Reproducible results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Classical Greek Baseline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Herodotus'Historiesprovides:</a:t>
            </a:r>
          </a:p>
          <a:p>
            <a:pPr>
              <a:spcAft>
                <a:spcPts val="1000"/>
              </a:spcAft>
              <a:defRPr sz="1400">
                <a:solidFill>
                  <a:srgbClr val="1E293B"/>
                </a:solidFill>
              </a:defRPr>
            </a:pPr>
            <a:r>
              <a:t>(Biber &amp; Conrad 2009)</a:t>
            </a:r>
          </a:p>
          <a:p>
            <a:pPr>
              <a:spcAft>
                <a:spcPts val="600"/>
              </a:spcAft>
              <a:defRPr sz="1300">
                <a:solidFill>
                  <a:srgbClr val="1E293B"/>
                </a:solidFill>
              </a:defRPr>
            </a:pPr>
            <a:r>
              <a:t>Evidence forregister variationin Classical Greek</a:t>
            </a:r>
          </a:p>
          <a:p>
            <a:pPr>
              <a:spcAft>
                <a:spcPts val="600"/>
              </a:spcAft>
              <a:defRPr sz="1300">
                <a:solidFill>
                  <a:srgbClr val="1E293B"/>
                </a:solidFill>
              </a:defRPr>
            </a:pPr>
            <a:r>
              <a:t>Contextual baseline forlater developments</a:t>
            </a:r>
          </a:p>
          <a:p>
            <a:pPr>
              <a:spcAft>
                <a:spcPts val="600"/>
              </a:spcAft>
              <a:defRPr sz="1300">
                <a:solidFill>
                  <a:srgbClr val="1E293B"/>
                </a:solidFill>
              </a:defRPr>
            </a:pPr>
            <a:r>
              <a:t>Comparison point forlinguistic change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The Koine Greek Core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Foundation of the Early Corpus:</a:t>
            </a:r>
          </a:p>
          <a:p>
            <a:pPr>
              <a:spcAft>
                <a:spcPts val="600"/>
              </a:spcAft>
              <a:defRPr sz="1300">
                <a:solidFill>
                  <a:srgbClr val="1E293B"/>
                </a:solidFill>
              </a:defRPr>
            </a:pPr>
            <a:r>
              <a:t>Septuagint(Greek Old Testament, c. 150 BCE)</a:t>
            </a:r>
          </a:p>
          <a:p>
            <a:pPr>
              <a:spcAft>
                <a:spcPts val="600"/>
              </a:spcAft>
              <a:defRPr sz="1300">
                <a:solidFill>
                  <a:srgbClr val="1E293B"/>
                </a:solidFill>
              </a:defRPr>
            </a:pPr>
            <a:r>
              <a:t>New Testament(1st-2nd century CE)</a:t>
            </a:r>
          </a:p>
          <a:p>
            <a:pPr>
              <a:spcAft>
                <a:spcPts val="600"/>
              </a:spcAft>
              <a:defRPr sz="1300">
                <a:solidFill>
                  <a:srgbClr val="1E293B"/>
                </a:solidFill>
              </a:defRPr>
            </a:pPr>
            <a:r>
              <a:t>Other Koine texts from theHellenistic and Roman periods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Significance of Koine Greek</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Why Koine is Central:</a:t>
            </a:r>
          </a:p>
          <a:p>
            <a:pPr>
              <a:spcAft>
                <a:spcPts val="600"/>
              </a:spcAft>
              <a:defRPr sz="1300">
                <a:solidFill>
                  <a:srgbClr val="1E293B"/>
                </a:solidFill>
              </a:defRPr>
            </a:pPr>
            <a:r>
              <a:t>Transition period between Classical and Medieval Greek</a:t>
            </a:r>
          </a:p>
          <a:p>
            <a:pPr>
              <a:spcAft>
                <a:spcPts val="600"/>
              </a:spcAft>
              <a:defRPr sz="1300">
                <a:solidFill>
                  <a:srgbClr val="1E293B"/>
                </a:solidFill>
              </a:defRPr>
            </a:pPr>
            <a:r>
              <a:t>Extensivetranslation activity(Hebrew → Greek)</a:t>
            </a:r>
          </a:p>
          <a:p>
            <a:pPr>
              <a:spcAft>
                <a:spcPts val="600"/>
              </a:spcAft>
              <a:defRPr sz="1300">
                <a:solidFill>
                  <a:srgbClr val="1E293B"/>
                </a:solidFill>
              </a:defRPr>
            </a:pPr>
            <a:r>
              <a:t>Widespread useacross the Mediterranean</a:t>
            </a:r>
          </a:p>
          <a:p>
            <a:pPr>
              <a:spcAft>
                <a:spcPts val="600"/>
              </a:spcAft>
              <a:defRPr sz="1300">
                <a:solidFill>
                  <a:srgbClr val="1E293B"/>
                </a:solidFill>
              </a:defRPr>
            </a:pPr>
            <a:r>
              <a:t>Rich evidence forlanguage contactphenomena</a:t>
            </a:r>
          </a:p>
          <a:p>
            <a:pPr>
              <a:spcAft>
                <a:spcPts val="600"/>
              </a:spcAft>
              <a:defRPr sz="1300">
                <a:solidFill>
                  <a:srgbClr val="1E293B"/>
                </a:solidFill>
              </a:defRPr>
            </a:pPr>
            <a:r>
              <a:t>Foundation forByzantineandModern Greek</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Summary: A Comprehensive Resource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The CVL-CDSAML corpus provides:</a:t>
            </a:r>
          </a:p>
          <a:p>
            <a:pPr>
              <a:spcAft>
                <a:spcPts val="600"/>
              </a:spcAft>
              <a:defRPr sz="1300">
                <a:solidFill>
                  <a:srgbClr val="1E293B"/>
                </a:solidFill>
              </a:defRPr>
            </a:pPr>
            <a:r>
              <a:t>338 textsacross multiple languages</a:t>
            </a:r>
          </a:p>
          <a:p>
            <a:pPr>
              <a:spcAft>
                <a:spcPts val="600"/>
              </a:spcAft>
              <a:defRPr sz="1300">
                <a:solidFill>
                  <a:srgbClr val="1E293B"/>
                </a:solidFill>
              </a:defRPr>
            </a:pPr>
            <a:r>
              <a:t>Three millenniaof language history</a:t>
            </a:r>
          </a:p>
          <a:p>
            <a:pPr>
              <a:spcAft>
                <a:spcPts val="600"/>
              </a:spcAft>
              <a:defRPr sz="1300">
                <a:solidFill>
                  <a:srgbClr val="1E293B"/>
                </a:solidFill>
              </a:defRPr>
            </a:pPr>
            <a:r>
              <a:t>Systematic methodologycombining philology and computation</a:t>
            </a:r>
          </a:p>
          <a:p>
            <a:pPr>
              <a:spcAft>
                <a:spcPts val="600"/>
              </a:spcAft>
              <a:defRPr sz="1300">
                <a:solidFill>
                  <a:srgbClr val="1E293B"/>
                </a:solidFill>
              </a:defRPr>
            </a:pPr>
            <a:r>
              <a:t>Translation-basedapproach to language contact</a:t>
            </a:r>
          </a:p>
          <a:p>
            <a:pPr>
              <a:spcAft>
                <a:spcPts val="600"/>
              </a:spcAft>
              <a:defRPr sz="1300">
                <a:solidFill>
                  <a:srgbClr val="1E293B"/>
                </a:solidFill>
              </a:defRPr>
            </a:pPr>
            <a:r>
              <a:t>Foundation fordiachronic valency research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Detailed Example: The Septuagint as a Translation Corpus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Historical Context:</a:t>
            </a:r>
          </a:p>
          <a:p>
            <a:pPr>
              <a:spcAft>
                <a:spcPts val="1000"/>
              </a:spcAft>
              <a:defRPr sz="1400">
                <a:solidFill>
                  <a:srgbClr val="1E293B"/>
                </a:solidFill>
              </a:defRPr>
            </a:pPr>
            <a:r>
              <a:t>Research Value:</a:t>
            </a:r>
          </a:p>
          <a:p>
            <a:pPr>
              <a:spcAft>
                <a:spcPts val="600"/>
              </a:spcAft>
              <a:defRPr sz="1300">
                <a:solidFill>
                  <a:srgbClr val="1E293B"/>
                </a:solidFill>
              </a:defRPr>
            </a:pPr>
            <a:r>
              <a:t>Translated in Alexandria, Egypt (3rd-2nd century BCE)</a:t>
            </a:r>
          </a:p>
          <a:p>
            <a:pPr>
              <a:spcAft>
                <a:spcPts val="600"/>
              </a:spcAft>
              <a:defRPr sz="1300">
                <a:solidFill>
                  <a:srgbClr val="1E293B"/>
                </a:solidFill>
              </a:defRPr>
            </a:pPr>
            <a:r>
              <a:t>Hebrew Bible → Koine Greek</a:t>
            </a:r>
          </a:p>
          <a:p>
            <a:pPr>
              <a:spcAft>
                <a:spcPts val="600"/>
              </a:spcAft>
              <a:defRPr sz="1300">
                <a:solidFill>
                  <a:srgbClr val="1E293B"/>
                </a:solidFill>
              </a:defRPr>
            </a:pPr>
            <a:r>
              <a:t>Major cultural and linguistic bridge</a:t>
            </a:r>
          </a:p>
          <a:p>
            <a:pPr>
              <a:spcAft>
                <a:spcPts val="600"/>
              </a:spcAft>
              <a:defRPr sz="1300">
                <a:solidFill>
                  <a:srgbClr val="1E293B"/>
                </a:solidFill>
              </a:defRPr>
            </a:pPr>
            <a:r>
              <a:t>Evidence ofHebrew-Greek language contact</a:t>
            </a:r>
          </a:p>
          <a:p>
            <a:pPr>
              <a:spcAft>
                <a:spcPts val="600"/>
              </a:spcAft>
              <a:defRPr sz="1300">
                <a:solidFill>
                  <a:srgbClr val="1E293B"/>
                </a:solidFill>
              </a:defRPr>
            </a:pPr>
            <a:r>
              <a:t>Translation strategies and techniques</a:t>
            </a:r>
          </a:p>
          <a:p>
            <a:pPr>
              <a:spcAft>
                <a:spcPts val="600"/>
              </a:spcAft>
              <a:defRPr sz="1300">
                <a:solidFill>
                  <a:srgbClr val="1E293B"/>
                </a:solidFill>
              </a:defRPr>
            </a:pPr>
            <a:r>
              <a:t>Lexical and syntactic innovations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Septuagint Translation Patterns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Hebrew Source Influence:</a:t>
            </a:r>
          </a:p>
          <a:p>
            <a:pPr>
              <a:spcAft>
                <a:spcPts val="1000"/>
              </a:spcAft>
              <a:defRPr sz="1400">
                <a:solidFill>
                  <a:srgbClr val="1E293B"/>
                </a:solidFill>
              </a:defRPr>
            </a:pPr>
            <a:r>
              <a:t>Translationese Features:</a:t>
            </a:r>
          </a:p>
          <a:p>
            <a:pPr>
              <a:spcAft>
                <a:spcPts val="600"/>
              </a:spcAft>
              <a:defRPr sz="1300">
                <a:solidFill>
                  <a:srgbClr val="1E293B"/>
                </a:solidFill>
              </a:defRPr>
            </a:pPr>
            <a:r>
              <a:t>Word-for-word translation approach</a:t>
            </a:r>
          </a:p>
          <a:p>
            <a:pPr>
              <a:spcAft>
                <a:spcPts val="600"/>
              </a:spcAft>
              <a:defRPr sz="1300">
                <a:solidFill>
                  <a:srgbClr val="1E293B"/>
                </a:solidFill>
              </a:defRPr>
            </a:pPr>
            <a:r>
              <a:t>Preservation of Hebrew syntax patterns</a:t>
            </a:r>
          </a:p>
          <a:p>
            <a:pPr>
              <a:spcAft>
                <a:spcPts val="600"/>
              </a:spcAft>
              <a:defRPr sz="1300">
                <a:solidFill>
                  <a:srgbClr val="1E293B"/>
                </a:solidFill>
              </a:defRPr>
            </a:pPr>
            <a:r>
              <a:t>Creation of new Greek semantic extensions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New Testament: A Koine Greek Case Study</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Corpus Characteristics:</a:t>
            </a:r>
          </a:p>
          <a:p>
            <a:pPr>
              <a:spcAft>
                <a:spcPts val="1000"/>
              </a:spcAft>
              <a:defRPr sz="1400">
                <a:solidFill>
                  <a:srgbClr val="1E293B"/>
                </a:solidFill>
              </a:defRPr>
            </a:pPr>
            <a:r>
              <a:t>Linguistic Features:</a:t>
            </a:r>
          </a:p>
          <a:p>
            <a:pPr>
              <a:spcAft>
                <a:spcPts val="600"/>
              </a:spcAft>
              <a:defRPr sz="1300">
                <a:solidFill>
                  <a:srgbClr val="1E293B"/>
                </a:solidFill>
              </a:defRPr>
            </a:pPr>
            <a:r>
              <a:t>Written inKoine Greek(1st-2nd century CE)</a:t>
            </a:r>
          </a:p>
          <a:p>
            <a:pPr>
              <a:spcAft>
                <a:spcPts val="600"/>
              </a:spcAft>
              <a:defRPr sz="1300">
                <a:solidFill>
                  <a:srgbClr val="1E293B"/>
                </a:solidFill>
              </a:defRPr>
            </a:pPr>
            <a:r>
              <a:t>Multipleauthorswith varying linguistic backgrounds</a:t>
            </a:r>
          </a:p>
          <a:p>
            <a:pPr>
              <a:spcAft>
                <a:spcPts val="600"/>
              </a:spcAft>
              <a:defRPr sz="1300">
                <a:solidFill>
                  <a:srgbClr val="1E293B"/>
                </a:solidFill>
              </a:defRPr>
            </a:pPr>
            <a:r>
              <a:t>Differentregistersand styles</a:t>
            </a:r>
          </a:p>
          <a:p>
            <a:pPr>
              <a:spcAft>
                <a:spcPts val="600"/>
              </a:spcAft>
              <a:defRPr sz="1300">
                <a:solidFill>
                  <a:srgbClr val="1E293B"/>
                </a:solidFill>
              </a:defRPr>
            </a:pPr>
            <a:r>
              <a:t>Vernacular Koine grammar</a:t>
            </a:r>
          </a:p>
          <a:p>
            <a:pPr>
              <a:spcAft>
                <a:spcPts val="600"/>
              </a:spcAft>
              <a:defRPr sz="1300">
                <a:solidFill>
                  <a:srgbClr val="1E293B"/>
                </a:solidFill>
              </a:defRPr>
            </a:pPr>
            <a:r>
              <a:t>Semitic influences from bilingual authors</a:t>
            </a:r>
          </a:p>
          <a:p>
            <a:pPr>
              <a:spcAft>
                <a:spcPts val="600"/>
              </a:spcAft>
              <a:defRPr sz="1300">
                <a:solidFill>
                  <a:srgbClr val="1E293B"/>
                </a:solidFill>
              </a:defRPr>
            </a:pPr>
            <a:r>
              <a:t>Range from "sophisticated" to "simple" Greek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Gospel Language Variation</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Luke's Gospel:</a:t>
            </a:r>
          </a:p>
          <a:p>
            <a:pPr>
              <a:spcAft>
                <a:spcPts val="1000"/>
              </a:spcAft>
              <a:defRPr sz="1400">
                <a:solidFill>
                  <a:srgbClr val="1E293B"/>
                </a:solidFill>
              </a:defRPr>
            </a:pPr>
            <a:r>
              <a:t>Mark's Gospel:</a:t>
            </a:r>
          </a:p>
          <a:p>
            <a:pPr>
              <a:spcAft>
                <a:spcPts val="1000"/>
              </a:spcAft>
              <a:defRPr sz="1400">
                <a:solidFill>
                  <a:srgbClr val="1E293B"/>
                </a:solidFill>
              </a:defRPr>
            </a:pPr>
            <a:r>
              <a:t>Same content, different linguistic realizations</a:t>
            </a:r>
          </a:p>
          <a:p>
            <a:pPr>
              <a:spcAft>
                <a:spcPts val="600"/>
              </a:spcAft>
              <a:defRPr sz="1300">
                <a:solidFill>
                  <a:srgbClr val="1E293B"/>
                </a:solidFill>
              </a:defRPr>
            </a:pPr>
            <a:r>
              <a:t>MoreliteraryKoine style</a:t>
            </a:r>
          </a:p>
          <a:p>
            <a:pPr>
              <a:spcAft>
                <a:spcPts val="600"/>
              </a:spcAft>
              <a:defRPr sz="1300">
                <a:solidFill>
                  <a:srgbClr val="1E293B"/>
                </a:solidFill>
              </a:defRPr>
            </a:pPr>
            <a:r>
              <a:t>Classical influences</a:t>
            </a:r>
          </a:p>
          <a:p>
            <a:pPr>
              <a:spcAft>
                <a:spcPts val="600"/>
              </a:spcAft>
              <a:defRPr sz="1300">
                <a:solidFill>
                  <a:srgbClr val="1E293B"/>
                </a:solidFill>
              </a:defRPr>
            </a:pPr>
            <a:r>
              <a:t>Sophisticated vocabulary</a:t>
            </a:r>
          </a:p>
          <a:p>
            <a:pPr>
              <a:spcAft>
                <a:spcPts val="600"/>
              </a:spcAft>
              <a:defRPr sz="1300">
                <a:solidFill>
                  <a:srgbClr val="1E293B"/>
                </a:solidFill>
              </a:defRPr>
            </a:pPr>
            <a:r>
              <a:t>Morecolloquialstyle</a:t>
            </a:r>
          </a:p>
          <a:p>
            <a:pPr>
              <a:spcAft>
                <a:spcPts val="600"/>
              </a:spcAft>
              <a:defRPr sz="1300">
                <a:solidFill>
                  <a:srgbClr val="1E293B"/>
                </a:solidFill>
              </a:defRPr>
            </a:pPr>
            <a:r>
              <a:t>Simpler syntax</a:t>
            </a:r>
          </a:p>
          <a:p>
            <a:pPr>
              <a:spcAft>
                <a:spcPts val="600"/>
              </a:spcAft>
              <a:defRPr sz="1300">
                <a:solidFill>
                  <a:srgbClr val="1E293B"/>
                </a:solidFill>
              </a:defRPr>
            </a:pPr>
            <a:r>
              <a:t>Oral narrative features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Byzantine Greek: The Medieval Transition</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Time Period:4th-15th centuries CE</a:t>
            </a:r>
          </a:p>
          <a:p>
            <a:pPr>
              <a:spcAft>
                <a:spcPts val="1000"/>
              </a:spcAft>
              <a:defRPr sz="1400">
                <a:solidFill>
                  <a:srgbClr val="1E293B"/>
                </a:solidFill>
              </a:defRPr>
            </a:pPr>
            <a:r>
              <a:t>Key Changes:</a:t>
            </a:r>
          </a:p>
          <a:p>
            <a:pPr>
              <a:spcAft>
                <a:spcPts val="600"/>
              </a:spcAft>
              <a:defRPr sz="1300">
                <a:solidFill>
                  <a:srgbClr val="1E293B"/>
                </a:solidFill>
              </a:defRPr>
            </a:pPr>
            <a:r>
              <a:t>Loss ofdative case(replaced by prepositional phrases)</a:t>
            </a:r>
          </a:p>
          <a:p>
            <a:pPr>
              <a:spcAft>
                <a:spcPts val="600"/>
              </a:spcAft>
              <a:defRPr sz="1300">
                <a:solidFill>
                  <a:srgbClr val="1E293B"/>
                </a:solidFill>
              </a:defRPr>
            </a:pPr>
            <a:r>
              <a:t>Simplification ofinfinitivesystem</a:t>
            </a:r>
          </a:p>
          <a:p>
            <a:pPr>
              <a:spcAft>
                <a:spcPts val="600"/>
              </a:spcAft>
              <a:defRPr sz="1300">
                <a:solidFill>
                  <a:srgbClr val="1E293B"/>
                </a:solidFill>
              </a:defRPr>
            </a:pPr>
            <a:r>
              <a:t>Development ofperiphrastic constructions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Dative Case Replacement</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Classical/Koine Greek:</a:t>
            </a:r>
          </a:p>
          <a:p>
            <a:pPr>
              <a:spcAft>
                <a:spcPts val="1000"/>
              </a:spcAft>
              <a:defRPr sz="1400">
                <a:solidFill>
                  <a:srgbClr val="1E293B"/>
                </a:solidFill>
              </a:defRPr>
            </a:pPr>
            <a:r>
              <a:t>Byzantine/Modern Greek:</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Modern Greek in the Corpus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Varieties Included:</a:t>
            </a:r>
          </a:p>
          <a:p>
            <a:pPr>
              <a:spcAft>
                <a:spcPts val="1000"/>
              </a:spcAft>
              <a:defRPr sz="1400">
                <a:solidFill>
                  <a:srgbClr val="1E293B"/>
                </a:solidFill>
              </a:defRPr>
            </a:pPr>
            <a:r>
              <a:t>Research Focus:</a:t>
            </a:r>
          </a:p>
          <a:p>
            <a:pPr>
              <a:spcAft>
                <a:spcPts val="600"/>
              </a:spcAft>
              <a:defRPr sz="1300">
                <a:solidFill>
                  <a:srgbClr val="1E293B"/>
                </a:solidFill>
              </a:defRPr>
            </a:pPr>
            <a:r>
              <a:t>Katharevousa(formal, archaic)</a:t>
            </a:r>
          </a:p>
          <a:p>
            <a:pPr>
              <a:spcAft>
                <a:spcPts val="600"/>
              </a:spcAft>
              <a:defRPr sz="1300">
                <a:solidFill>
                  <a:srgbClr val="1E293B"/>
                </a:solidFill>
              </a:defRPr>
            </a:pPr>
            <a:r>
              <a:t>Dimotiki(vernacular, spoken)</a:t>
            </a:r>
          </a:p>
          <a:p>
            <a:pPr>
              <a:spcAft>
                <a:spcPts val="600"/>
              </a:spcAft>
              <a:defRPr sz="1300">
                <a:solidFill>
                  <a:srgbClr val="1E293B"/>
                </a:solidFill>
              </a:defRPr>
            </a:pPr>
            <a:r>
              <a:t>Modern translations of ancient texts</a:t>
            </a:r>
          </a:p>
          <a:p>
            <a:pPr>
              <a:spcAft>
                <a:spcPts val="600"/>
              </a:spcAft>
              <a:defRPr sz="1300">
                <a:solidFill>
                  <a:srgbClr val="1E293B"/>
                </a:solidFill>
              </a:defRPr>
            </a:pPr>
            <a:r>
              <a:t>Completion of the synthetic→analytic shift</a:t>
            </a:r>
          </a:p>
          <a:p>
            <a:pPr>
              <a:spcAft>
                <a:spcPts val="600"/>
              </a:spcAft>
              <a:defRPr sz="1300">
                <a:solidFill>
                  <a:srgbClr val="1E293B"/>
                </a:solidFill>
              </a:defRPr>
            </a:pPr>
            <a:r>
              <a:t>Standardization processes</a:t>
            </a:r>
          </a:p>
          <a:p>
            <a:pPr>
              <a:spcAft>
                <a:spcPts val="600"/>
              </a:spcAft>
              <a:defRPr sz="1300">
                <a:solidFill>
                  <a:srgbClr val="1E293B"/>
                </a:solidFill>
              </a:defRPr>
            </a:pPr>
            <a:r>
              <a:t>Contemporary translation practices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Multiple Greek Translations Compared</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Source:Old Testament passage</a:t>
            </a:r>
          </a:p>
          <a:p>
            <a:pPr>
              <a:spcAft>
                <a:spcPts val="1000"/>
              </a:spcAft>
              <a:defRPr sz="1400">
                <a:solidFill>
                  <a:srgbClr val="1E293B"/>
                </a:solidFill>
              </a:defRPr>
            </a:pPr>
            <a:r>
              <a:t>Septuagint(150 BCE): Literal from HebrewByzantine translation(10th century): Simplified syntaxModern translation(20th century): Contemporary idiom</a:t>
            </a:r>
          </a:p>
          <a:p>
            <a:pPr>
              <a:spcAft>
                <a:spcPts val="1000"/>
              </a:spcAft>
              <a:defRPr sz="1400">
                <a:solidFill>
                  <a:srgbClr val="1E293B"/>
                </a:solidFill>
              </a:defRPr>
            </a:pPr>
            <a:r>
              <a:t>Analysis:How do valency patterns change across 2000+ years?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Germanic Language Family: English Corpus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Historical Stages Included:</a:t>
            </a:r>
          </a:p>
          <a:p>
            <a:pPr>
              <a:spcAft>
                <a:spcPts val="600"/>
              </a:spcAft>
              <a:defRPr sz="1300">
                <a:solidFill>
                  <a:srgbClr val="1E293B"/>
                </a:solidFill>
              </a:defRPr>
            </a:pPr>
            <a:r>
              <a:t>Old English(Anglo-Saxon Bible translations)</a:t>
            </a:r>
          </a:p>
          <a:p>
            <a:pPr>
              <a:spcAft>
                <a:spcPts val="600"/>
              </a:spcAft>
              <a:defRPr sz="1300">
                <a:solidFill>
                  <a:srgbClr val="1E293B"/>
                </a:solidFill>
              </a:defRPr>
            </a:pPr>
            <a:r>
              <a:t>Middle English(Wycliffe Bible, 14th century)</a:t>
            </a:r>
          </a:p>
          <a:p>
            <a:pPr>
              <a:spcAft>
                <a:spcPts val="600"/>
              </a:spcAft>
              <a:defRPr sz="1300">
                <a:solidFill>
                  <a:srgbClr val="1E293B"/>
                </a:solidFill>
              </a:defRPr>
            </a:pPr>
            <a:r>
              <a:t>Early Modern English(King James Bible, 1611)</a:t>
            </a:r>
          </a:p>
          <a:p>
            <a:pPr>
              <a:spcAft>
                <a:spcPts val="600"/>
              </a:spcAft>
              <a:defRPr sz="1300">
                <a:solidFill>
                  <a:srgbClr val="1E293B"/>
                </a:solidFill>
              </a:defRPr>
            </a:pPr>
            <a:r>
              <a:t>Modern English(20th-21st century translations)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English Bible Translation Evolution</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Same Verse Across Time:</a:t>
            </a:r>
          </a:p>
          <a:p>
            <a:pPr>
              <a:spcAft>
                <a:spcPts val="1000"/>
              </a:spcAft>
              <a:defRPr sz="1400">
                <a:solidFill>
                  <a:srgbClr val="1E293B"/>
                </a:solidFill>
              </a:defRPr>
            </a:pPr>
            <a:r>
              <a:t>Wycliffe (1382):"In the bigynnyng God made of nouyt heuene and erthe"</a:t>
            </a:r>
          </a:p>
          <a:p>
            <a:pPr>
              <a:spcAft>
                <a:spcPts val="1000"/>
              </a:spcAft>
              <a:defRPr sz="1400">
                <a:solidFill>
                  <a:srgbClr val="1E293B"/>
                </a:solidFill>
              </a:defRPr>
            </a:pPr>
            <a:r>
              <a:t>King James (1611):"In the beginning God created the heaven and the earth"</a:t>
            </a:r>
          </a:p>
          <a:p>
            <a:pPr>
              <a:spcAft>
                <a:spcPts val="1000"/>
              </a:spcAft>
              <a:defRPr sz="1400">
                <a:solidFill>
                  <a:srgbClr val="1E293B"/>
                </a:solidFill>
              </a:defRPr>
            </a:pPr>
            <a:r>
              <a:t>NIV (1978):"In the beginning God created the heavens and the earth"</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Romance Languages: Latin Foundation</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Latin Corpus Components:</a:t>
            </a:r>
          </a:p>
          <a:p>
            <a:pPr>
              <a:spcAft>
                <a:spcPts val="1000"/>
              </a:spcAft>
              <a:defRPr sz="1400">
                <a:solidFill>
                  <a:srgbClr val="1E293B"/>
                </a:solidFill>
              </a:defRPr>
            </a:pPr>
            <a:r>
              <a:t>Why Latin?</a:t>
            </a:r>
          </a:p>
          <a:p>
            <a:pPr>
              <a:spcAft>
                <a:spcPts val="600"/>
              </a:spcAft>
              <a:defRPr sz="1300">
                <a:solidFill>
                  <a:srgbClr val="1E293B"/>
                </a:solidFill>
              </a:defRPr>
            </a:pPr>
            <a:r>
              <a:t>Vulgate(Jerome's Latin Bible, 4th century CE)</a:t>
            </a:r>
          </a:p>
          <a:p>
            <a:pPr>
              <a:spcAft>
                <a:spcPts val="600"/>
              </a:spcAft>
              <a:defRPr sz="1300">
                <a:solidFill>
                  <a:srgbClr val="1E293B"/>
                </a:solidFill>
              </a:defRPr>
            </a:pPr>
            <a:r>
              <a:t>Medieval Latin texts</a:t>
            </a:r>
          </a:p>
          <a:p>
            <a:pPr>
              <a:spcAft>
                <a:spcPts val="600"/>
              </a:spcAft>
              <a:defRPr sz="1300">
                <a:solidFill>
                  <a:srgbClr val="1E293B"/>
                </a:solidFill>
              </a:defRPr>
            </a:pPr>
            <a:r>
              <a:t>Original Latin works for comparison</a:t>
            </a:r>
          </a:p>
          <a:p>
            <a:pPr>
              <a:spcAft>
                <a:spcPts val="600"/>
              </a:spcAft>
              <a:defRPr sz="1300">
                <a:solidFill>
                  <a:srgbClr val="1E293B"/>
                </a:solidFill>
              </a:defRPr>
            </a:pPr>
            <a:r>
              <a:t>Source language for Romance translations</a:t>
            </a:r>
          </a:p>
          <a:p>
            <a:pPr>
              <a:spcAft>
                <a:spcPts val="600"/>
              </a:spcAft>
              <a:defRPr sz="1300">
                <a:solidFill>
                  <a:srgbClr val="1E293B"/>
                </a:solidFill>
              </a:defRPr>
            </a:pPr>
            <a:r>
              <a:t>Direct influence on ecclesiastical Greek</a:t>
            </a:r>
          </a:p>
          <a:p>
            <a:pPr>
              <a:spcAft>
                <a:spcPts val="600"/>
              </a:spcAft>
              <a:defRPr sz="1300">
                <a:solidFill>
                  <a:srgbClr val="1E293B"/>
                </a:solidFill>
              </a:defRPr>
            </a:pPr>
            <a:r>
              <a:t>Control for translation directionality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Latin Vulgate Influence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Vulgate Latin:</a:t>
            </a:r>
          </a:p>
          <a:p>
            <a:pPr>
              <a:spcAft>
                <a:spcPts val="1000"/>
              </a:spcAft>
              <a:defRPr sz="1400">
                <a:solidFill>
                  <a:srgbClr val="1E293B"/>
                </a:solidFill>
              </a:defRPr>
            </a:pPr>
            <a:r>
              <a:t>Influenced translations in:</a:t>
            </a:r>
          </a:p>
          <a:p>
            <a:pPr>
              <a:spcAft>
                <a:spcPts val="600"/>
              </a:spcAft>
              <a:defRPr sz="1300">
                <a:solidFill>
                  <a:srgbClr val="1E293B"/>
                </a:solidFill>
              </a:defRPr>
            </a:pPr>
            <a:r>
              <a:t>French: "Que la lumière soit"</a:t>
            </a:r>
          </a:p>
          <a:p>
            <a:pPr>
              <a:spcAft>
                <a:spcPts val="600"/>
              </a:spcAft>
              <a:defRPr sz="1300">
                <a:solidFill>
                  <a:srgbClr val="1E293B"/>
                </a:solidFill>
              </a:defRPr>
            </a:pPr>
            <a:r>
              <a:t>Italian: "Sia la luce"</a:t>
            </a:r>
          </a:p>
          <a:p>
            <a:pPr>
              <a:spcAft>
                <a:spcPts val="600"/>
              </a:spcAft>
              <a:defRPr sz="1300">
                <a:solidFill>
                  <a:srgbClr val="1E293B"/>
                </a:solidFill>
              </a:defRPr>
            </a:pPr>
            <a:r>
              <a:t>Spanish: "Hágase la luz"</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French in the Corpus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Stages Represented:</a:t>
            </a:r>
          </a:p>
          <a:p>
            <a:pPr>
              <a:spcAft>
                <a:spcPts val="1000"/>
              </a:spcAft>
              <a:defRPr sz="1400">
                <a:solidFill>
                  <a:srgbClr val="1E293B"/>
                </a:solidFill>
              </a:defRPr>
            </a:pPr>
            <a:r>
              <a:t>Research Questions:</a:t>
            </a:r>
          </a:p>
          <a:p>
            <a:pPr>
              <a:spcAft>
                <a:spcPts val="600"/>
              </a:spcAft>
              <a:defRPr sz="1300">
                <a:solidFill>
                  <a:srgbClr val="1E293B"/>
                </a:solidFill>
              </a:defRPr>
            </a:pPr>
            <a:r>
              <a:t>Old FrenchBible translations</a:t>
            </a:r>
          </a:p>
          <a:p>
            <a:pPr>
              <a:spcAft>
                <a:spcPts val="600"/>
              </a:spcAft>
              <a:defRPr sz="1300">
                <a:solidFill>
                  <a:srgbClr val="1E293B"/>
                </a:solidFill>
              </a:defRPr>
            </a:pPr>
            <a:r>
              <a:t>Middle Frenchversions</a:t>
            </a:r>
          </a:p>
          <a:p>
            <a:pPr>
              <a:spcAft>
                <a:spcPts val="600"/>
              </a:spcAft>
              <a:defRPr sz="1300">
                <a:solidFill>
                  <a:srgbClr val="1E293B"/>
                </a:solidFill>
              </a:defRPr>
            </a:pPr>
            <a:r>
              <a:t>Modern Frenchtranslations</a:t>
            </a:r>
          </a:p>
          <a:p>
            <a:pPr>
              <a:spcAft>
                <a:spcPts val="600"/>
              </a:spcAft>
              <a:defRPr sz="1300">
                <a:solidFill>
                  <a:srgbClr val="1E293B"/>
                </a:solidFill>
              </a:defRPr>
            </a:pPr>
            <a:r>
              <a:t>How did French develop its analytical structures?</a:t>
            </a:r>
          </a:p>
          <a:p>
            <a:pPr>
              <a:spcAft>
                <a:spcPts val="600"/>
              </a:spcAft>
              <a:defRPr sz="1300">
                <a:solidFill>
                  <a:srgbClr val="1E293B"/>
                </a:solidFill>
              </a:defRPr>
            </a:pPr>
            <a:r>
              <a:t>What role did Latin play in French syntax?</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Computational Processing Pipeline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Stage 1: Text Digitization</a:t>
            </a:r>
          </a:p>
          <a:p>
            <a:pPr>
              <a:spcAft>
                <a:spcPts val="1000"/>
              </a:spcAft>
              <a:defRPr sz="1400">
                <a:solidFill>
                  <a:srgbClr val="1E293B"/>
                </a:solidFill>
              </a:defRPr>
            </a:pPr>
            <a:r>
              <a:t>Digitization is the foundation of the entire project: physical texts must be converted to machine-readable format. For printed texts (19th-21st century), we use OCR technology trained on historical fonts; OCR output is manually verified for accuracy exceeding 99.5%. For manuscripts and early printed books, expert transcribers create diplomatic editions preserving orthographic features. Each digitized text receives a quality score, and texts below threshold undergo re-digitization. The corpus includes metadata tracking digitization method and quality for each text.</a:t>
            </a:r>
          </a:p>
          <a:p>
            <a:pPr>
              <a:spcAft>
                <a:spcPts val="600"/>
              </a:spcAft>
              <a:defRPr sz="1300">
                <a:solidFill>
                  <a:srgbClr val="1E293B"/>
                </a:solidFill>
              </a:defRPr>
            </a:pPr>
            <a:r>
              <a:t>OCR for printed sources (Tesseract with language-specific training)</a:t>
            </a:r>
          </a:p>
          <a:p>
            <a:pPr>
              <a:spcAft>
                <a:spcPts val="600"/>
              </a:spcAft>
              <a:defRPr sz="1300">
                <a:solidFill>
                  <a:srgbClr val="1E293B"/>
                </a:solidFill>
              </a:defRPr>
            </a:pPr>
            <a:r>
              <a:t>Manual transcription for manuscripts (paleographic expertise)</a:t>
            </a:r>
          </a:p>
          <a:p>
            <a:pPr>
              <a:spcAft>
                <a:spcPts val="600"/>
              </a:spcAft>
              <a:defRPr sz="1300">
                <a:solidFill>
                  <a:srgbClr val="1E293B"/>
                </a:solidFill>
              </a:defRPr>
            </a:pPr>
            <a:r>
              <a:t>Quality verification (double-checking, error correction)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happens during text digitization?</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Digitization process:</a:t>
            </a:r>
          </a:p>
          <a:p>
            <a:pPr>
              <a:spcAft>
                <a:spcPts val="600"/>
              </a:spcAft>
              <a:defRPr sz="1300">
                <a:solidFill>
                  <a:srgbClr val="1E293B"/>
                </a:solidFill>
              </a:defRPr>
            </a:pPr>
            <a:r>
              <a:t>How are printed texts digitized?</a:t>
            </a:r>
          </a:p>
          <a:p>
            <a:pPr>
              <a:spcAft>
                <a:spcPts val="600"/>
              </a:spcAft>
              <a:defRPr sz="1300">
                <a:solidFill>
                  <a:srgbClr val="1E293B"/>
                </a:solidFill>
              </a:defRPr>
            </a:pPr>
            <a:r>
              <a:t>How are manuscripts transcribed?</a:t>
            </a:r>
          </a:p>
          <a:p>
            <a:pPr>
              <a:spcAft>
                <a:spcPts val="600"/>
              </a:spcAft>
              <a:defRPr sz="1300">
                <a:solidFill>
                  <a:srgbClr val="1E293B"/>
                </a:solidFill>
              </a:defRPr>
            </a:pPr>
            <a:r>
              <a:t>What quality control measures are in place?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Computational Processing Pipeline (2)</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Stage 2: Linguistic Annotation</a:t>
            </a:r>
          </a:p>
          <a:p>
            <a:pPr>
              <a:spcAft>
                <a:spcPts val="1000"/>
              </a:spcAft>
              <a:defRPr sz="1400">
                <a:solidFill>
                  <a:srgbClr val="1E293B"/>
                </a:solidFill>
              </a:defRPr>
            </a:pPr>
            <a:r>
              <a:t>Linguistic annotation adds layers of linguistic information to raw text. Tokenization segments text into words, handling clitics and contractions appropriately for each language. Lemmatization links inflected forms to lexicon entries (e.g., ἔδωκεν → δίδωμι). Morphological tagging assigns grammatical features using taggers trained on historical language data. Syntactic parsing identifies grammatical relations between words, which is crucial for valency extraction. All annotation undergoes manual quality control, with inter-annotator agreement calculated at 95%+ for core features.</a:t>
            </a:r>
          </a:p>
          <a:p>
            <a:pPr>
              <a:spcAft>
                <a:spcPts val="600"/>
              </a:spcAft>
              <a:defRPr sz="1300">
                <a:solidFill>
                  <a:srgbClr val="1E293B"/>
                </a:solidFill>
              </a:defRPr>
            </a:pPr>
            <a:r>
              <a:t>Tokenization(word segmentation using language-specific rules)</a:t>
            </a:r>
          </a:p>
          <a:p>
            <a:pPr>
              <a:spcAft>
                <a:spcPts val="600"/>
              </a:spcAft>
              <a:defRPr sz="1300">
                <a:solidFill>
                  <a:srgbClr val="1E293B"/>
                </a:solidFill>
              </a:defRPr>
            </a:pPr>
            <a:r>
              <a:t>Lemmatization(dictionary form identification via lookup tables)</a:t>
            </a:r>
          </a:p>
          <a:p>
            <a:pPr>
              <a:spcAft>
                <a:spcPts val="600"/>
              </a:spcAft>
              <a:defRPr sz="1300">
                <a:solidFill>
                  <a:srgbClr val="1E293B"/>
                </a:solidFill>
              </a:defRPr>
            </a:pPr>
            <a:r>
              <a:t>Morphological tagging(grammatical features: case, tense, number, etc.)</a:t>
            </a:r>
          </a:p>
          <a:p>
            <a:pPr>
              <a:spcAft>
                <a:spcPts val="600"/>
              </a:spcAft>
              <a:defRPr sz="1300">
                <a:solidFill>
                  <a:srgbClr val="1E293B"/>
                </a:solidFill>
              </a:defRPr>
            </a:pPr>
            <a:r>
              <a:t>Syntactic parsing(sentence structure: dependency or constituent analysis)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happens during linguistic annotation?</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Annotation layers:</a:t>
            </a:r>
          </a:p>
          <a:p>
            <a:pPr>
              <a:spcAft>
                <a:spcPts val="600"/>
              </a:spcAft>
              <a:defRPr sz="1300">
                <a:solidFill>
                  <a:srgbClr val="1E293B"/>
                </a:solidFill>
              </a:defRPr>
            </a:pPr>
            <a:r>
              <a:t>How are words segmented?</a:t>
            </a:r>
          </a:p>
          <a:p>
            <a:pPr>
              <a:spcAft>
                <a:spcPts val="600"/>
              </a:spcAft>
              <a:defRPr sz="1300">
                <a:solidFill>
                  <a:srgbClr val="1E293B"/>
                </a:solidFill>
              </a:defRPr>
            </a:pPr>
            <a:r>
              <a:t>How are lemmas identified?</a:t>
            </a:r>
          </a:p>
          <a:p>
            <a:pPr>
              <a:spcAft>
                <a:spcPts val="600"/>
              </a:spcAft>
              <a:defRPr sz="1300">
                <a:solidFill>
                  <a:srgbClr val="1E293B"/>
                </a:solidFill>
              </a:defRPr>
            </a:pPr>
            <a:r>
              <a:t>How is morphology tagged?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Computational Processing Pipeline (3)</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Stage 3: Valency Extraction</a:t>
            </a:r>
          </a:p>
          <a:p>
            <a:pPr>
              <a:spcAft>
                <a:spcPts val="1000"/>
              </a:spcAft>
              <a:defRPr sz="1400">
                <a:solidFill>
                  <a:srgbClr val="1E293B"/>
                </a:solidFill>
              </a:defRPr>
            </a:pPr>
            <a:r>
              <a:t>Valency extraction is semi-automatic: algorithms identify predicates and their dependents from syntactic parses, then linguists verify and classify the patterns. Each predicate instance is checked for its arguments (subject, objects, complements, adjuncts), and these are abstracted into valency frames. For example, from 100 instances of δίδωμι in a Koine text, the system extracts frame "NOM+ACC+DAT" occurring 87 times and "NOM+ACC" occurring 13 times. This quantitative data flows into the lexicon, documenting both dominant and minority patterns.</a:t>
            </a:r>
          </a:p>
          <a:p>
            <a:pPr>
              <a:spcAft>
                <a:spcPts val="600"/>
              </a:spcAft>
              <a:defRPr sz="1300">
                <a:solidFill>
                  <a:srgbClr val="1E293B"/>
                </a:solidFill>
              </a:defRPr>
            </a:pPr>
            <a:r>
              <a:t>Identify predicates (verbs, adjectives, nouns requiring arguments)</a:t>
            </a:r>
          </a:p>
          <a:p>
            <a:pPr>
              <a:spcAft>
                <a:spcPts val="600"/>
              </a:spcAft>
              <a:defRPr sz="1300">
                <a:solidFill>
                  <a:srgbClr val="1E293B"/>
                </a:solidFill>
              </a:defRPr>
            </a:pPr>
            <a:r>
              <a:t>Extractargument structures(what depends on the predicate)</a:t>
            </a:r>
          </a:p>
          <a:p>
            <a:pPr>
              <a:spcAft>
                <a:spcPts val="600"/>
              </a:spcAft>
              <a:defRPr sz="1300">
                <a:solidFill>
                  <a:srgbClr val="1E293B"/>
                </a:solidFill>
              </a:defRPr>
            </a:pPr>
            <a:r>
              <a:t>Codevalency frames(abstract patterns, e.g., NOM+ACC+DAT)</a:t>
            </a:r>
          </a:p>
          <a:p>
            <a:pPr>
              <a:spcAft>
                <a:spcPts val="600"/>
              </a:spcAft>
              <a:defRPr sz="1300">
                <a:solidFill>
                  <a:srgbClr val="1E293B"/>
                </a:solidFill>
              </a:defRPr>
            </a:pPr>
            <a:r>
              <a:t>Track changes across time periods (compare frames diachronically)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Valency Pattern Extraction</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Predicate:δίδωμι (didōmi) "to give"</a:t>
            </a:r>
          </a:p>
          <a:p>
            <a:pPr>
              <a:spcAft>
                <a:spcPts val="1000"/>
              </a:spcAft>
              <a:defRPr sz="1400">
                <a:solidFill>
                  <a:srgbClr val="1E293B"/>
                </a:solidFill>
              </a:defRPr>
            </a:pPr>
            <a:r>
              <a:t>Classical Greek Valency:</a:t>
            </a:r>
          </a:p>
          <a:p>
            <a:pPr>
              <a:spcAft>
                <a:spcPts val="1000"/>
              </a:spcAft>
              <a:defRPr sz="1400">
                <a:solidFill>
                  <a:srgbClr val="1E293B"/>
                </a:solidFill>
              </a:defRPr>
            </a:pPr>
            <a:r>
              <a:t>Modern Greek Valency:</a:t>
            </a:r>
          </a:p>
          <a:p>
            <a:pPr>
              <a:spcAft>
                <a:spcPts val="600"/>
              </a:spcAft>
              <a:defRPr sz="1300">
                <a:solidFill>
                  <a:srgbClr val="1E293B"/>
                </a:solidFill>
              </a:defRPr>
            </a:pPr>
            <a:r>
              <a:t>SUBJ (nominative) + OBJ1 (accusative) + OBJ2 (dative)</a:t>
            </a:r>
          </a:p>
          <a:p>
            <a:pPr>
              <a:spcAft>
                <a:spcPts val="600"/>
              </a:spcAft>
              <a:defRPr sz="1300">
                <a:solidFill>
                  <a:srgbClr val="1E293B"/>
                </a:solidFill>
              </a:defRPr>
            </a:pPr>
            <a:r>
              <a:t>"X gives Y to Z"</a:t>
            </a:r>
          </a:p>
          <a:p>
            <a:pPr>
              <a:spcAft>
                <a:spcPts val="600"/>
              </a:spcAft>
              <a:defRPr sz="1300">
                <a:solidFill>
                  <a:srgbClr val="1E293B"/>
                </a:solidFill>
              </a:defRPr>
            </a:pPr>
            <a:r>
              <a:t>SUBJ + OBJ1 + prepositional phrase (σε + accusative)</a:t>
            </a:r>
          </a:p>
          <a:p>
            <a:pPr>
              <a:spcAft>
                <a:spcPts val="600"/>
              </a:spcAft>
              <a:defRPr sz="1300">
                <a:solidFill>
                  <a:srgbClr val="1E293B"/>
                </a:solidFill>
              </a:defRPr>
            </a:pPr>
            <a:r>
              <a:t>"X gives Y to Z"(different realization)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How is the valency lexicon structured?</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Lexicon design:</a:t>
            </a:r>
          </a:p>
          <a:p>
            <a:pPr>
              <a:spcAft>
                <a:spcPts val="600"/>
              </a:spcAft>
              <a:defRPr sz="1300">
                <a:solidFill>
                  <a:srgbClr val="1E293B"/>
                </a:solidFill>
              </a:defRPr>
            </a:pPr>
            <a:r>
              <a:t>What information does each entry contain?</a:t>
            </a:r>
          </a:p>
          <a:p>
            <a:pPr>
              <a:spcAft>
                <a:spcPts val="600"/>
              </a:spcAft>
              <a:defRPr sz="1300">
                <a:solidFill>
                  <a:srgbClr val="1E293B"/>
                </a:solidFill>
              </a:defRPr>
            </a:pPr>
            <a:r>
              <a:t>How are frames linked to examples?</a:t>
            </a:r>
          </a:p>
          <a:p>
            <a:pPr>
              <a:spcAft>
                <a:spcPts val="600"/>
              </a:spcAft>
              <a:defRPr sz="1300">
                <a:solidFill>
                  <a:srgbClr val="1E293B"/>
                </a:solidFill>
              </a:defRPr>
            </a:pPr>
            <a:r>
              <a:t>What enables complex queries?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Valency Lexicon Structure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Each Entry Contains:</a:t>
            </a:r>
          </a:p>
          <a:p>
            <a:pPr>
              <a:spcAft>
                <a:spcPts val="1000"/>
              </a:spcAft>
              <a:defRPr sz="1400">
                <a:solidFill>
                  <a:srgbClr val="1E293B"/>
                </a:solidFill>
              </a:defRPr>
            </a:pPr>
            <a:r>
              <a:t>The valency lexicon is structured as a relational database where each predicate entry links to multiple frames, and each frame links to attested examples from the corpus. The database schema includes tables for predicates, frames, arguments, and attestations, allowing complex queries like "all verbs that gained a prepositional complement between Classical and Byzantine periods." This structured approach enables both linguistic research and computational applications.</a:t>
            </a:r>
          </a:p>
          <a:p>
            <a:pPr>
              <a:spcAft>
                <a:spcPts val="600"/>
              </a:spcAft>
              <a:defRPr sz="1300">
                <a:solidFill>
                  <a:srgbClr val="1E293B"/>
                </a:solidFill>
              </a:defRPr>
            </a:pPr>
            <a:r>
              <a:t>Lemma (base form)</a:t>
            </a:r>
          </a:p>
          <a:p>
            <a:pPr>
              <a:spcAft>
                <a:spcPts val="600"/>
              </a:spcAft>
              <a:defRPr sz="1300">
                <a:solidFill>
                  <a:srgbClr val="1E293B"/>
                </a:solidFill>
              </a:defRPr>
            </a:pPr>
            <a:r>
              <a:t>Time period</a:t>
            </a:r>
          </a:p>
          <a:p>
            <a:pPr>
              <a:spcAft>
                <a:spcPts val="600"/>
              </a:spcAft>
              <a:defRPr sz="1300">
                <a:solidFill>
                  <a:srgbClr val="1E293B"/>
                </a:solidFill>
              </a:defRPr>
            </a:pPr>
            <a:r>
              <a:t>Source text</a:t>
            </a:r>
          </a:p>
          <a:p>
            <a:pPr>
              <a:spcAft>
                <a:spcPts val="600"/>
              </a:spcAft>
              <a:defRPr sz="1300">
                <a:solidFill>
                  <a:srgbClr val="1E293B"/>
                </a:solidFill>
              </a:defRPr>
            </a:pPr>
            <a:r>
              <a:t>Valency frame(s)</a:t>
            </a:r>
          </a:p>
          <a:p>
            <a:pPr>
              <a:spcAft>
                <a:spcPts val="600"/>
              </a:spcAft>
              <a:defRPr sz="1300">
                <a:solidFill>
                  <a:srgbClr val="1E293B"/>
                </a:solidFill>
              </a:defRPr>
            </a:pPr>
            <a:r>
              <a:t>Example sentences</a:t>
            </a:r>
          </a:p>
          <a:p>
            <a:pPr>
              <a:spcAft>
                <a:spcPts val="600"/>
              </a:spcAft>
              <a:defRPr sz="1300">
                <a:solidFill>
                  <a:srgbClr val="1E293B"/>
                </a:solidFill>
              </a:defRPr>
            </a:pPr>
            <a:r>
              <a:t>Frequency data</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does the database schema look like?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Technical structure:</a:t>
            </a:r>
          </a:p>
          <a:p>
            <a:pPr>
              <a:spcAft>
                <a:spcPts val="600"/>
              </a:spcAft>
              <a:defRPr sz="1300">
                <a:solidFill>
                  <a:srgbClr val="1E293B"/>
                </a:solidFill>
              </a:defRPr>
            </a:pPr>
            <a:r>
              <a:t>What tables exist?</a:t>
            </a:r>
          </a:p>
          <a:p>
            <a:pPr>
              <a:spcAft>
                <a:spcPts val="600"/>
              </a:spcAft>
              <a:defRPr sz="1300">
                <a:solidFill>
                  <a:srgbClr val="1E293B"/>
                </a:solidFill>
              </a:defRPr>
            </a:pPr>
            <a:r>
              <a:t>How are they related?</a:t>
            </a:r>
          </a:p>
          <a:p>
            <a:pPr>
              <a:spcAft>
                <a:spcPts val="600"/>
              </a:spcAft>
              <a:defRPr sz="1300">
                <a:solidFill>
                  <a:srgbClr val="1E293B"/>
                </a:solidFill>
              </a:defRPr>
            </a:pPr>
            <a:r>
              <a:t>What queries are possible?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Valency Lexicon: Database Schema</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This relational structure allows efficient querying across time periods, languages, and semantic classes. Researchers can extract all frames for a given predicate, all predicates with a specific frame type, or all changes between periods. The schema separates abstract frame descriptions from concrete corpus attestations, enabling statistical analysis of frame frequencies.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Can you show a complete lexicon entry example?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Entry structure:</a:t>
            </a:r>
          </a:p>
          <a:p>
            <a:pPr>
              <a:spcAft>
                <a:spcPts val="600"/>
              </a:spcAft>
              <a:defRPr sz="1300">
                <a:solidFill>
                  <a:srgbClr val="1E293B"/>
                </a:solidFill>
              </a:defRPr>
            </a:pPr>
            <a:r>
              <a:t>What does a full JSON entry look like?</a:t>
            </a:r>
          </a:p>
          <a:p>
            <a:pPr>
              <a:spcAft>
                <a:spcPts val="600"/>
              </a:spcAft>
              <a:defRPr sz="1300">
                <a:solidFill>
                  <a:srgbClr val="1E293B"/>
                </a:solidFill>
              </a:defRPr>
            </a:pPr>
            <a:r>
              <a:t>How is diachronic change represented?</a:t>
            </a:r>
          </a:p>
          <a:p>
            <a:pPr>
              <a:spcAft>
                <a:spcPts val="600"/>
              </a:spcAft>
              <a:defRPr sz="1300">
                <a:solidFill>
                  <a:srgbClr val="1E293B"/>
                </a:solidFill>
              </a:defRPr>
            </a:pPr>
            <a:r>
              <a:t>What frequency data is included?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Valency Lexicon Entry Structure Example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This JSON structure shows how a single predicate's valency evolves across four historical periods. Notice how the basic ditransitive structure (three arguments) remains constant, but the morphosyntactic realization of the recipient changes from dative case to prepositional phrases. The frequency data reveals that the newer prepositional construction becomes more common over time, reflecting the broader shift from synthetic to analytic structures in Greek.</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Lexicon Entry: διδάσκω (didaskō) "teach"</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Koine Greek (1st century CE):</a:t>
            </a:r>
          </a:p>
          <a:p>
            <a:pPr>
              <a:spcAft>
                <a:spcPts val="1000"/>
              </a:spcAft>
              <a:defRPr sz="1400">
                <a:solidFill>
                  <a:srgbClr val="1E293B"/>
                </a:solidFill>
              </a:defRPr>
            </a:pPr>
            <a:r>
              <a:t>Byzantine Greek (10th century):</a:t>
            </a:r>
          </a:p>
          <a:p>
            <a:pPr>
              <a:spcAft>
                <a:spcPts val="1000"/>
              </a:spcAft>
              <a:defRPr sz="1400">
                <a:solidFill>
                  <a:srgbClr val="1E293B"/>
                </a:solidFill>
              </a:defRPr>
            </a:pPr>
            <a:r>
              <a:t>The verb "teach" shows the typical pattern of Greek complementation change: infinitival complements (Frame 2 in Koine) are increasingly replaced by finite subordinate clauses in Byzantine Greek. The lexicon tracks these changes with corpus counts showing the declining frequency of infinitives from 78% in Koine to 23% in Byzantine texts. This quantitative data supports theoretical claims about the loss of infinitives in post-Classical Greek.</a:t>
            </a:r>
          </a:p>
          <a:p>
            <a:pPr>
              <a:spcAft>
                <a:spcPts val="600"/>
              </a:spcAft>
              <a:defRPr sz="1300">
                <a:solidFill>
                  <a:srgbClr val="1E293B"/>
                </a:solidFill>
              </a:defRPr>
            </a:pPr>
            <a:r>
              <a:t>Frame 1: NP-ACC (what) + NP-ACC (whom) —double accusative construction</a:t>
            </a:r>
          </a:p>
          <a:p>
            <a:pPr>
              <a:spcAft>
                <a:spcPts val="600"/>
              </a:spcAft>
              <a:defRPr sz="1300">
                <a:solidFill>
                  <a:srgbClr val="1E293B"/>
                </a:solidFill>
              </a:defRPr>
            </a:pPr>
            <a:r>
              <a:t>Frame 2: NP-ACC (whom) + infinitive (what) —accusative + infinitive</a:t>
            </a:r>
          </a:p>
          <a:p>
            <a:pPr>
              <a:spcAft>
                <a:spcPts val="600"/>
              </a:spcAft>
              <a:defRPr sz="1300">
                <a:solidFill>
                  <a:srgbClr val="1E293B"/>
                </a:solidFill>
              </a:defRPr>
            </a:pPr>
            <a:r>
              <a:t>Frame 1: NP-ACC + prepositional phrase —one accusative + PP</a:t>
            </a:r>
          </a:p>
          <a:p>
            <a:pPr>
              <a:spcAft>
                <a:spcPts val="600"/>
              </a:spcAft>
              <a:defRPr sz="1300">
                <a:solidFill>
                  <a:srgbClr val="1E293B"/>
                </a:solidFill>
              </a:defRPr>
            </a:pPr>
            <a:r>
              <a:t>Frame 2: NP-ACC + subordinate clause —accusative + finite clause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How do valency patterns compare across languages?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Cross-linguistic perspective:</a:t>
            </a:r>
          </a:p>
          <a:p>
            <a:pPr>
              <a:spcAft>
                <a:spcPts val="600"/>
              </a:spcAft>
              <a:defRPr sz="1300">
                <a:solidFill>
                  <a:srgbClr val="1E293B"/>
                </a:solidFill>
              </a:defRPr>
            </a:pPr>
            <a:r>
              <a:t>What patterns are universal?</a:t>
            </a:r>
          </a:p>
          <a:p>
            <a:pPr>
              <a:spcAft>
                <a:spcPts val="600"/>
              </a:spcAft>
              <a:defRPr sz="1300">
                <a:solidFill>
                  <a:srgbClr val="1E293B"/>
                </a:solidFill>
              </a:defRPr>
            </a:pPr>
            <a:r>
              <a:t>What patterns are language-specific?</a:t>
            </a:r>
          </a:p>
          <a:p>
            <a:pPr>
              <a:spcAft>
                <a:spcPts val="600"/>
              </a:spcAft>
              <a:defRPr sz="1300">
                <a:solidFill>
                  <a:srgbClr val="1E293B"/>
                </a:solidFill>
              </a:defRPr>
            </a:pPr>
            <a:r>
              <a:t>How do diachronic paths differ?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Valency Lexicon: Comparison Across Languages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This comparative view reveals that Greek, Latin, and English all share similar valency patterns for "teach" but differ in their diachronic trajectories. Greek loses the double accusative early and shifts to finite clauses; English retains the double object but changes infinitive marking; Latin maintains structures longer due to its status as a liturgical language. The lexicon structure enables such cross-linguistic and diachronic comparisons systematically.</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Cross-Linguistic Comparison: "To Know"</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Greek:γινώσκω (ginōskō)</a:t>
            </a:r>
          </a:p>
          <a:p>
            <a:pPr>
              <a:spcAft>
                <a:spcPts val="1000"/>
              </a:spcAft>
              <a:defRPr sz="1400">
                <a:solidFill>
                  <a:srgbClr val="1E293B"/>
                </a:solidFill>
              </a:defRPr>
            </a:pPr>
            <a:r>
              <a:t>Latin:scio</a:t>
            </a:r>
          </a:p>
          <a:p>
            <a:pPr>
              <a:spcAft>
                <a:spcPts val="1000"/>
              </a:spcAft>
              <a:defRPr sz="1400">
                <a:solidFill>
                  <a:srgbClr val="1E293B"/>
                </a:solidFill>
              </a:defRPr>
            </a:pPr>
            <a:r>
              <a:t>English:know</a:t>
            </a:r>
          </a:p>
          <a:p>
            <a:pPr>
              <a:spcAft>
                <a:spcPts val="1000"/>
              </a:spcAft>
              <a:defRPr sz="1400">
                <a:solidFill>
                  <a:srgbClr val="1E293B"/>
                </a:solidFill>
              </a:defRPr>
            </a:pPr>
            <a:r>
              <a:t>Similar patterns, different morphosyntactic realizations</a:t>
            </a:r>
          </a:p>
          <a:p>
            <a:pPr>
              <a:spcAft>
                <a:spcPts val="1000"/>
              </a:spcAft>
              <a:defRPr sz="1400">
                <a:solidFill>
                  <a:srgbClr val="1E293B"/>
                </a:solidFill>
              </a:defRPr>
            </a:pPr>
            <a:r>
              <a:t>Cognition verbs like "to know" exhibit remarkable cross-linguistic stability in their valency: they take either a direct object (thing known) or a clausal complement (propositional knowledge). The lexicon documents how this semantic distinction maps onto syntax in each language and period. For instance, in all three languages, the complementizer introducing clauses (ὅτι, quod, that) derives historically from demonstrative pronouns, showing parallel grammaticalization paths tracked in our corpus data.</a:t>
            </a:r>
          </a:p>
          <a:p>
            <a:pPr>
              <a:spcAft>
                <a:spcPts val="600"/>
              </a:spcAft>
              <a:defRPr sz="1300">
                <a:solidFill>
                  <a:srgbClr val="1E293B"/>
                </a:solidFill>
              </a:defRPr>
            </a:pPr>
            <a:r>
              <a:t>Koine: + ACC / + ὅτι-clause</a:t>
            </a:r>
          </a:p>
          <a:p>
            <a:pPr>
              <a:spcAft>
                <a:spcPts val="600"/>
              </a:spcAft>
              <a:defRPr sz="1300">
                <a:solidFill>
                  <a:srgbClr val="1E293B"/>
                </a:solidFill>
              </a:defRPr>
            </a:pPr>
            <a:r>
              <a:t>ACC / + quod-clause</a:t>
            </a:r>
          </a:p>
          <a:p>
            <a:pPr>
              <a:spcAft>
                <a:spcPts val="600"/>
              </a:spcAft>
              <a:defRPr sz="1300">
                <a:solidFill>
                  <a:srgbClr val="1E293B"/>
                </a:solidFill>
              </a:defRPr>
            </a:pPr>
            <a:r>
              <a:t>ACC / + quod-clause</a:t>
            </a:r>
          </a:p>
          <a:p>
            <a:pPr>
              <a:spcAft>
                <a:spcPts val="600"/>
              </a:spcAft>
              <a:defRPr sz="1300">
                <a:solidFill>
                  <a:srgbClr val="1E293B"/>
                </a:solidFill>
              </a:defRPr>
            </a:pPr>
            <a:r>
              <a:t>ACC / + quod-clause</a:t>
            </a:r>
          </a:p>
          <a:p>
            <a:pPr>
              <a:spcAft>
                <a:spcPts val="600"/>
              </a:spcAft>
              <a:defRPr sz="1300">
                <a:solidFill>
                  <a:srgbClr val="1E293B"/>
                </a:solidFill>
              </a:defRPr>
            </a:pPr>
            <a:r>
              <a:t>NP / + that-clause</a:t>
            </a:r>
          </a:p>
          <a:p>
            <a:pPr>
              <a:spcAft>
                <a:spcPts val="600"/>
              </a:spcAft>
              <a:defRPr sz="1300">
                <a:solidFill>
                  <a:srgbClr val="1E293B"/>
                </a:solidFill>
              </a:defRPr>
            </a:pPr>
            <a:r>
              <a:t>NP / + that-clause</a:t>
            </a:r>
          </a:p>
          <a:p>
            <a:pPr>
              <a:spcAft>
                <a:spcPts val="600"/>
              </a:spcAft>
              <a:defRPr sz="1300">
                <a:solidFill>
                  <a:srgbClr val="1E293B"/>
                </a:solidFill>
              </a:defRPr>
            </a:pPr>
            <a:r>
              <a:t>NP / + that-clause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Translation Effects on Valency</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Question:Do translations preserve or alter valency patterns?</a:t>
            </a:r>
          </a:p>
          <a:p>
            <a:pPr>
              <a:spcAft>
                <a:spcPts val="1000"/>
              </a:spcAft>
              <a:defRPr sz="1400">
                <a:solidFill>
                  <a:srgbClr val="1E293B"/>
                </a:solidFill>
              </a:defRPr>
            </a:pPr>
            <a:r>
              <a:t>Findings:</a:t>
            </a:r>
          </a:p>
          <a:p>
            <a:pPr>
              <a:spcAft>
                <a:spcPts val="600"/>
              </a:spcAft>
              <a:defRPr sz="1300">
                <a:solidFill>
                  <a:srgbClr val="1E293B"/>
                </a:solidFill>
              </a:defRPr>
            </a:pPr>
            <a:r>
              <a:t>Source languageinterferencecommon</a:t>
            </a:r>
          </a:p>
          <a:p>
            <a:pPr>
              <a:spcAft>
                <a:spcPts val="600"/>
              </a:spcAft>
              <a:defRPr sz="1300">
                <a:solidFill>
                  <a:srgbClr val="1E293B"/>
                </a:solidFill>
              </a:defRPr>
            </a:pPr>
            <a:r>
              <a:t>Creates non-native valency frames</a:t>
            </a:r>
          </a:p>
          <a:p>
            <a:pPr>
              <a:spcAft>
                <a:spcPts val="600"/>
              </a:spcAft>
              <a:defRPr sz="1300">
                <a:solidFill>
                  <a:srgbClr val="1E293B"/>
                </a:solidFill>
              </a:defRPr>
            </a:pPr>
            <a:r>
              <a:t>Over time, patterns maynaturalizeor becorrected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Translation Interference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Hebrew Source:</a:t>
            </a:r>
          </a:p>
          <a:p>
            <a:pPr>
              <a:spcAft>
                <a:spcPts val="1000"/>
              </a:spcAft>
              <a:defRPr sz="1400">
                <a:solidFill>
                  <a:srgbClr val="1E293B"/>
                </a:solidFill>
              </a:defRPr>
            </a:pPr>
            <a:r>
              <a:t>Greek Translation:</a:t>
            </a:r>
          </a:p>
          <a:p>
            <a:pPr>
              <a:spcAft>
                <a:spcPts val="1000"/>
              </a:spcAft>
              <a:defRPr sz="1400">
                <a:solidFill>
                  <a:srgbClr val="1E293B"/>
                </a:solidFill>
              </a:defRPr>
            </a:pPr>
            <a:r>
              <a:t>Native Greek:</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Register and Genre Effects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Different text types show different patterns:</a:t>
            </a:r>
          </a:p>
          <a:p>
            <a:pPr>
              <a:spcAft>
                <a:spcPts val="1000"/>
              </a:spcAft>
              <a:defRPr sz="1400">
                <a:solidFill>
                  <a:srgbClr val="1E293B"/>
                </a:solidFill>
              </a:defRPr>
            </a:pPr>
            <a:r>
              <a:t>Narrative texts:</a:t>
            </a:r>
          </a:p>
          <a:p>
            <a:pPr>
              <a:spcAft>
                <a:spcPts val="1000"/>
              </a:spcAft>
              <a:defRPr sz="1400">
                <a:solidFill>
                  <a:srgbClr val="1E293B"/>
                </a:solidFill>
              </a:defRPr>
            </a:pPr>
            <a:r>
              <a:t>Legal texts:</a:t>
            </a:r>
          </a:p>
          <a:p>
            <a:pPr>
              <a:spcAft>
                <a:spcPts val="1000"/>
              </a:spcAft>
              <a:defRPr sz="1400">
                <a:solidFill>
                  <a:srgbClr val="1E293B"/>
                </a:solidFill>
              </a:defRPr>
            </a:pPr>
            <a:r>
              <a:t>Poetic texts:</a:t>
            </a:r>
          </a:p>
          <a:p>
            <a:pPr>
              <a:spcAft>
                <a:spcPts val="600"/>
              </a:spcAft>
              <a:defRPr sz="1300">
                <a:solidFill>
                  <a:srgbClr val="1E293B"/>
                </a:solidFill>
              </a:defRPr>
            </a:pPr>
            <a:r>
              <a:t>Rich verb valency</a:t>
            </a:r>
          </a:p>
          <a:p>
            <a:pPr>
              <a:spcAft>
                <a:spcPts val="600"/>
              </a:spcAft>
              <a:defRPr sz="1300">
                <a:solidFill>
                  <a:srgbClr val="1E293B"/>
                </a:solidFill>
              </a:defRPr>
            </a:pPr>
            <a:r>
              <a:t>Temporal constructions</a:t>
            </a:r>
          </a:p>
          <a:p>
            <a:pPr>
              <a:spcAft>
                <a:spcPts val="600"/>
              </a:spcAft>
              <a:defRPr sz="1300">
                <a:solidFill>
                  <a:srgbClr val="1E293B"/>
                </a:solidFill>
              </a:defRPr>
            </a:pPr>
            <a:r>
              <a:t>Complex nominal valency</a:t>
            </a:r>
          </a:p>
          <a:p>
            <a:pPr>
              <a:spcAft>
                <a:spcPts val="600"/>
              </a:spcAft>
              <a:defRPr sz="1300">
                <a:solidFill>
                  <a:srgbClr val="1E293B"/>
                </a:solidFill>
              </a:defRPr>
            </a:pPr>
            <a:r>
              <a:t>Conditional structures</a:t>
            </a:r>
          </a:p>
          <a:p>
            <a:pPr>
              <a:spcAft>
                <a:spcPts val="600"/>
              </a:spcAft>
              <a:defRPr sz="1300">
                <a:solidFill>
                  <a:srgbClr val="1E293B"/>
                </a:solidFill>
              </a:defRPr>
            </a:pPr>
            <a:r>
              <a:t>Non-standard valency</a:t>
            </a:r>
          </a:p>
          <a:p>
            <a:pPr>
              <a:spcAft>
                <a:spcPts val="600"/>
              </a:spcAft>
              <a:defRPr sz="1300">
                <a:solidFill>
                  <a:srgbClr val="1E293B"/>
                </a:solidFill>
              </a:defRPr>
            </a:pPr>
            <a:r>
              <a:t>Artistic license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Genre-Specific Valency</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Herodotus (Historical Narrative):</a:t>
            </a:r>
          </a:p>
          <a:p>
            <a:pPr>
              <a:spcAft>
                <a:spcPts val="1000"/>
              </a:spcAft>
              <a:defRPr sz="1400">
                <a:solidFill>
                  <a:srgbClr val="1E293B"/>
                </a:solidFill>
              </a:defRPr>
            </a:pPr>
            <a:r>
              <a:t>New Testament Epistles:</a:t>
            </a:r>
          </a:p>
          <a:p>
            <a:pPr>
              <a:spcAft>
                <a:spcPts val="600"/>
              </a:spcAft>
              <a:defRPr sz="1300">
                <a:solidFill>
                  <a:srgbClr val="1E293B"/>
                </a:solidFill>
              </a:defRPr>
            </a:pPr>
            <a:r>
              <a:t>Complex sentence structures</a:t>
            </a:r>
          </a:p>
          <a:p>
            <a:pPr>
              <a:spcAft>
                <a:spcPts val="600"/>
              </a:spcAft>
              <a:defRPr sz="1300">
                <a:solidFill>
                  <a:srgbClr val="1E293B"/>
                </a:solidFill>
              </a:defRPr>
            </a:pPr>
            <a:r>
              <a:t>Elaborate participial constructions</a:t>
            </a:r>
          </a:p>
          <a:p>
            <a:pPr>
              <a:spcAft>
                <a:spcPts val="600"/>
              </a:spcAft>
              <a:defRPr sz="1300">
                <a:solidFill>
                  <a:srgbClr val="1E293B"/>
                </a:solidFill>
              </a:defRPr>
            </a:pPr>
            <a:r>
              <a:t>Rich use of complementation</a:t>
            </a:r>
          </a:p>
          <a:p>
            <a:pPr>
              <a:spcAft>
                <a:spcPts val="600"/>
              </a:spcAft>
              <a:defRPr sz="1300">
                <a:solidFill>
                  <a:srgbClr val="1E293B"/>
                </a:solidFill>
              </a:defRPr>
            </a:pPr>
            <a:r>
              <a:t>Simpler syntax</a:t>
            </a:r>
          </a:p>
          <a:p>
            <a:pPr>
              <a:spcAft>
                <a:spcPts val="600"/>
              </a:spcAft>
              <a:defRPr sz="1300">
                <a:solidFill>
                  <a:srgbClr val="1E293B"/>
                </a:solidFill>
              </a:defRPr>
            </a:pPr>
            <a:r>
              <a:t>Direct argumentation</a:t>
            </a:r>
          </a:p>
          <a:p>
            <a:pPr>
              <a:spcAft>
                <a:spcPts val="600"/>
              </a:spcAft>
              <a:defRPr sz="1300">
                <a:solidFill>
                  <a:srgbClr val="1E293B"/>
                </a:solidFill>
              </a:defRPr>
            </a:pPr>
            <a:r>
              <a:t>Limited subordination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are the corpus statistics and scale?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Size and scope:</a:t>
            </a:r>
          </a:p>
          <a:p>
            <a:pPr>
              <a:spcAft>
                <a:spcPts val="600"/>
              </a:spcAft>
              <a:defRPr sz="1300">
                <a:solidFill>
                  <a:srgbClr val="1E293B"/>
                </a:solidFill>
              </a:defRPr>
            </a:pPr>
            <a:r>
              <a:t>How many total tokens?</a:t>
            </a:r>
          </a:p>
          <a:p>
            <a:pPr>
              <a:spcAft>
                <a:spcPts val="600"/>
              </a:spcAft>
              <a:defRPr sz="1300">
                <a:solidFill>
                  <a:srgbClr val="1E293B"/>
                </a:solidFill>
              </a:defRPr>
            </a:pPr>
            <a:r>
              <a:t>How many predicates analyzed?</a:t>
            </a:r>
          </a:p>
          <a:p>
            <a:pPr>
              <a:spcAft>
                <a:spcPts val="600"/>
              </a:spcAft>
              <a:defRPr sz="1300">
                <a:solidFill>
                  <a:srgbClr val="1E293B"/>
                </a:solidFill>
              </a:defRPr>
            </a:pPr>
            <a:r>
              <a:t>How many valency frames documented?</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Corpus Size and Statistics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Total Word Count:~10 million tokensLanguages:4 (Greek, English, Latin, French)Time Span:3000+ yearsNumber of Predicates Analyzed:~5,000 lemmasValency Frames Documented:~15,000+</a:t>
            </a:r>
          </a:p>
          <a:p>
            <a:pPr>
              <a:spcAft>
                <a:spcPts val="1000"/>
              </a:spcAft>
              <a:defRPr sz="1400">
                <a:solidFill>
                  <a:srgbClr val="1E293B"/>
                </a:solidFill>
              </a:defRPr>
            </a:pPr>
            <a:r>
              <a:t>These statistics represent the completed first phase of the project. The 10 million tokens are distributed across languages with Greek contributing ~4.5 million (largest due to spanning 3000 years), English ~2.5 million, Latin ~2 million, and French ~1 million. Each predicate averages 3 different valency frames across all periods, reflecting genuine linguistic variation and historical change. The lexicon contains approximately 50,000 individual corpus examples illustrating these frames in authentic context.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How are tokens distributed across languages?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Distribution questions:</a:t>
            </a:r>
          </a:p>
          <a:p>
            <a:pPr>
              <a:spcAft>
                <a:spcPts val="600"/>
              </a:spcAft>
              <a:defRPr sz="1300">
                <a:solidFill>
                  <a:srgbClr val="1E293B"/>
                </a:solidFill>
              </a:defRPr>
            </a:pPr>
            <a:r>
              <a:t>Which language has the most tokens?</a:t>
            </a:r>
          </a:p>
          <a:p>
            <a:pPr>
              <a:spcAft>
                <a:spcPts val="600"/>
              </a:spcAft>
              <a:defRPr sz="1300">
                <a:solidFill>
                  <a:srgbClr val="1E293B"/>
                </a:solidFill>
              </a:defRPr>
            </a:pPr>
            <a:r>
              <a:t>How are periods represented?</a:t>
            </a:r>
          </a:p>
          <a:p>
            <a:pPr>
              <a:spcAft>
                <a:spcPts val="600"/>
              </a:spcAft>
              <a:defRPr sz="1300">
                <a:solidFill>
                  <a:srgbClr val="1E293B"/>
                </a:solidFill>
              </a:defRPr>
            </a:pPr>
            <a:r>
              <a:t>Why these specific allocations?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Corpus Statistics by Language and Period</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This breakdown shows how corpus resources are allocated. Greek has the most texts and tokens because it spans the longest period and includes multiple diachronic stages. The distribution ensures adequate representation of each major period for robust statistical analysis. Each period contains at least 350,000 tokens, sufficient for reliable valency extraction given Zipfian frequency distributions.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technical infrastructure supports the corpus?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Infrastructure components:</a:t>
            </a:r>
          </a:p>
          <a:p>
            <a:pPr>
              <a:spcAft>
                <a:spcPts val="600"/>
              </a:spcAft>
              <a:defRPr sz="1300">
                <a:solidFill>
                  <a:srgbClr val="1E293B"/>
                </a:solidFill>
              </a:defRPr>
            </a:pPr>
            <a:r>
              <a:t>What programming languages are used?</a:t>
            </a:r>
          </a:p>
          <a:p>
            <a:pPr>
              <a:spcAft>
                <a:spcPts val="600"/>
              </a:spcAft>
              <a:defRPr sz="1300">
                <a:solidFill>
                  <a:srgbClr val="1E293B"/>
                </a:solidFill>
              </a:defRPr>
            </a:pPr>
            <a:r>
              <a:t>What encoding standards?</a:t>
            </a:r>
          </a:p>
          <a:p>
            <a:pPr>
              <a:spcAft>
                <a:spcPts val="600"/>
              </a:spcAft>
              <a:defRPr sz="1300">
                <a:solidFill>
                  <a:srgbClr val="1E293B"/>
                </a:solidFill>
              </a:defRPr>
            </a:pPr>
            <a:r>
              <a:t>How is data accessed?</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Technical Infrastructure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Tools and Technologies:</a:t>
            </a:r>
          </a:p>
          <a:p>
            <a:pPr>
              <a:spcAft>
                <a:spcPts val="1000"/>
              </a:spcAft>
              <a:defRPr sz="1400">
                <a:solidFill>
                  <a:srgbClr val="1E293B"/>
                </a:solidFill>
              </a:defRPr>
            </a:pPr>
            <a:r>
              <a:t>The infrastructure is designed for scalability and interoperability. Python scripts handle text cleaning, tokenization, and annotation, outputting standardized XML/TEI files. These files are parsed and loaded into a PostgreSQL database optimized for linguistic queries. The web interface provides both a user-friendly search portal and a RESTful API for programmatic access, enabling researchers to integrate corpus data into their own workflows. All code is version-controlled and documented for reproducibility.</a:t>
            </a:r>
          </a:p>
          <a:p>
            <a:pPr>
              <a:spcAft>
                <a:spcPts val="600"/>
              </a:spcAft>
              <a:defRPr sz="1300">
                <a:solidFill>
                  <a:srgbClr val="1E293B"/>
                </a:solidFill>
              </a:defRPr>
            </a:pPr>
            <a:r>
              <a:t>Pythonfor text processing (NLTK, spaCy, custom parsers)</a:t>
            </a:r>
          </a:p>
          <a:p>
            <a:pPr>
              <a:spcAft>
                <a:spcPts val="600"/>
              </a:spcAft>
              <a:defRPr sz="1300">
                <a:solidFill>
                  <a:srgbClr val="1E293B"/>
                </a:solidFill>
              </a:defRPr>
            </a:pPr>
            <a:r>
              <a:t>XML/TEIfor text encoding (P5 standard)</a:t>
            </a:r>
          </a:p>
          <a:p>
            <a:pPr>
              <a:spcAft>
                <a:spcPts val="600"/>
              </a:spcAft>
              <a:defRPr sz="1300">
                <a:solidFill>
                  <a:srgbClr val="1E293B"/>
                </a:solidFill>
              </a:defRPr>
            </a:pPr>
            <a:r>
              <a:t>SQL databasesfor storage (PostgreSQL with full-text search)</a:t>
            </a:r>
          </a:p>
          <a:p>
            <a:pPr>
              <a:spcAft>
                <a:spcPts val="600"/>
              </a:spcAft>
              <a:defRPr sz="1300">
                <a:solidFill>
                  <a:srgbClr val="1E293B"/>
                </a:solidFill>
              </a:defRPr>
            </a:pPr>
            <a:r>
              <a:t>Natural Language Processinglibraries (language-specific tools)</a:t>
            </a:r>
          </a:p>
          <a:p>
            <a:pPr>
              <a:spcAft>
                <a:spcPts val="600"/>
              </a:spcAft>
              <a:defRPr sz="1300">
                <a:solidFill>
                  <a:srgbClr val="1E293B"/>
                </a:solidFill>
              </a:defRPr>
            </a:pPr>
            <a:r>
              <a:t>Web interfacefor access (Django framework, RESTful API)</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does the TEI XML encoding look like?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Encoding details:</a:t>
            </a:r>
          </a:p>
          <a:p>
            <a:pPr>
              <a:spcAft>
                <a:spcPts val="600"/>
              </a:spcAft>
              <a:defRPr sz="1300">
                <a:solidFill>
                  <a:srgbClr val="1E293B"/>
                </a:solidFill>
              </a:defRPr>
            </a:pPr>
            <a:r>
              <a:t>How are sentences structured?</a:t>
            </a:r>
          </a:p>
          <a:p>
            <a:pPr>
              <a:spcAft>
                <a:spcPts val="600"/>
              </a:spcAft>
              <a:defRPr sz="1300">
                <a:solidFill>
                  <a:srgbClr val="1E293B"/>
                </a:solidFill>
              </a:defRPr>
            </a:pPr>
            <a:r>
              <a:t>What annotations are on each word?</a:t>
            </a:r>
          </a:p>
          <a:p>
            <a:pPr>
              <a:spcAft>
                <a:spcPts val="600"/>
              </a:spcAft>
              <a:defRPr sz="1300">
                <a:solidFill>
                  <a:srgbClr val="1E293B"/>
                </a:solidFill>
              </a:defRPr>
            </a:pPr>
            <a:r>
              <a:t>Why use TEI standard?</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Data Format Example: TEI XML</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"In the beginning was the Word" - John 1:1</a:t>
            </a:r>
          </a:p>
          <a:p>
            <a:pPr>
              <a:spcAft>
                <a:spcPts val="1000"/>
              </a:spcAft>
              <a:defRPr sz="1400">
                <a:solidFill>
                  <a:srgbClr val="1E293B"/>
                </a:solidFill>
              </a:defRPr>
            </a:pPr>
            <a:r>
              <a:t>Benefits:</a:t>
            </a:r>
          </a:p>
          <a:p>
            <a:pPr>
              <a:spcAft>
                <a:spcPts val="1000"/>
              </a:spcAft>
              <a:defRPr sz="1400">
                <a:solidFill>
                  <a:srgbClr val="1E293B"/>
                </a:solidFill>
              </a:defRPr>
            </a:pPr>
            <a:r>
              <a:t>Each word token is encoded with its lemma (dictionary form), part-of-speech tag, and relevant morphological features. Sentences are wrapped in&lt;s&gt;elements with unique IDs traceable to specific corpus texts. This granular annotation enables precise extraction of valency patterns: the system can identify all instances of a lemma, filter by morphological criteria, and extract the syntactic context. The TEI standard ensures our corpus can be used with existing tools like TXM or CQPweb.</a:t>
            </a:r>
          </a:p>
          <a:p>
            <a:pPr>
              <a:spcAft>
                <a:spcPts val="600"/>
              </a:spcAft>
              <a:defRPr sz="1300">
                <a:solidFill>
                  <a:srgbClr val="1E293B"/>
                </a:solidFill>
              </a:defRPr>
            </a:pPr>
            <a:r>
              <a:t>Standardized format (TEI P5 guidelines)</a:t>
            </a:r>
          </a:p>
          <a:p>
            <a:pPr>
              <a:spcAft>
                <a:spcPts val="600"/>
              </a:spcAft>
              <a:defRPr sz="1300">
                <a:solidFill>
                  <a:srgbClr val="1E293B"/>
                </a:solidFill>
              </a:defRPr>
            </a:pPr>
            <a:r>
              <a:t>Machine-readable (XML parsers)</a:t>
            </a:r>
          </a:p>
          <a:p>
            <a:pPr>
              <a:spcAft>
                <a:spcPts val="600"/>
              </a:spcAft>
              <a:defRPr sz="1300">
                <a:solidFill>
                  <a:srgbClr val="1E293B"/>
                </a:solidFill>
              </a:defRPr>
            </a:pPr>
            <a:r>
              <a:t>Human-readable (with proper tools)</a:t>
            </a:r>
          </a:p>
          <a:p>
            <a:pPr>
              <a:spcAft>
                <a:spcPts val="600"/>
              </a:spcAft>
              <a:defRPr sz="1300">
                <a:solidFill>
                  <a:srgbClr val="1E293B"/>
                </a:solidFill>
              </a:defRPr>
            </a:pPr>
            <a:r>
              <a:t>Interoperable (compatible with other TEI corpora)</a:t>
            </a:r>
          </a:p>
          <a:p>
            <a:pPr>
              <a:spcAft>
                <a:spcPts val="600"/>
              </a:spcAft>
              <a:defRPr sz="1300">
                <a:solidFill>
                  <a:srgbClr val="1E293B"/>
                </a:solidFill>
              </a:defRPr>
            </a:pPr>
            <a:r>
              <a:t>Preserves linguistic annotations at word level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Research Applications: Diachronic Syntax</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Using the CVL-CDSAML corpus to study:</a:t>
            </a:r>
          </a:p>
          <a:p>
            <a:pPr>
              <a:spcAft>
                <a:spcPts val="1000"/>
              </a:spcAft>
              <a:defRPr sz="1400">
                <a:solidFill>
                  <a:srgbClr val="1E293B"/>
                </a:solidFill>
              </a:defRPr>
            </a:pPr>
            <a:r>
              <a:t>The corpus enables systematic tracking of major syntactic changes across centuries. For instance, researchers can query all valency frames containing dative case in Greek and plot their decline from 95% frequency in Classical texts to less than 5% in Modern Greek, with prepositional phrases rising correspondingly. The valency lexicon provides the quantitative foundation for claims about grammaticalization, analytic drift, and other diachronic processes. Each research question can be addressed with thousands of annotated examples from authentic historical texts.</a:t>
            </a:r>
          </a:p>
          <a:p>
            <a:pPr>
              <a:spcAft>
                <a:spcPts val="600"/>
              </a:spcAft>
              <a:defRPr sz="1300">
                <a:solidFill>
                  <a:srgbClr val="1E293B"/>
                </a:solidFill>
              </a:defRPr>
            </a:pPr>
            <a:r>
              <a:t>Evolution ofcase systems(e.g., Greek dative loss)</a:t>
            </a:r>
          </a:p>
          <a:p>
            <a:pPr>
              <a:spcAft>
                <a:spcPts val="600"/>
              </a:spcAft>
              <a:defRPr sz="1300">
                <a:solidFill>
                  <a:srgbClr val="1E293B"/>
                </a:solidFill>
              </a:defRPr>
            </a:pPr>
            <a:r>
              <a:t>Development ofword orderpatterns (e.g., SOV → SVO shifts)</a:t>
            </a:r>
          </a:p>
          <a:p>
            <a:pPr>
              <a:spcAft>
                <a:spcPts val="600"/>
              </a:spcAft>
              <a:defRPr sz="1300">
                <a:solidFill>
                  <a:srgbClr val="1E293B"/>
                </a:solidFill>
              </a:defRPr>
            </a:pPr>
            <a:r>
              <a:t>Rise ofprepositional phrases(replacing case marking)</a:t>
            </a:r>
          </a:p>
          <a:p>
            <a:pPr>
              <a:spcAft>
                <a:spcPts val="600"/>
              </a:spcAft>
              <a:defRPr sz="1300">
                <a:solidFill>
                  <a:srgbClr val="1E293B"/>
                </a:solidFill>
              </a:defRPr>
            </a:pPr>
            <a:r>
              <a:t>Loss ofnon-finite constructions(infinitives → finite clauses)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How can we study language contact with this corpus?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Contact phenomena:</a:t>
            </a:r>
          </a:p>
          <a:p>
            <a:pPr>
              <a:spcAft>
                <a:spcPts val="600"/>
              </a:spcAft>
              <a:defRPr sz="1300">
                <a:solidFill>
                  <a:srgbClr val="1E293B"/>
                </a:solidFill>
              </a:defRPr>
            </a:pPr>
            <a:r>
              <a:t>What types of borrowing occur?</a:t>
            </a:r>
          </a:p>
          <a:p>
            <a:pPr>
              <a:spcAft>
                <a:spcPts val="600"/>
              </a:spcAft>
              <a:defRPr sz="1300">
                <a:solidFill>
                  <a:srgbClr val="1E293B"/>
                </a:solidFill>
              </a:defRPr>
            </a:pPr>
            <a:r>
              <a:t>How is calquing identified?</a:t>
            </a:r>
          </a:p>
          <a:p>
            <a:pPr>
              <a:spcAft>
                <a:spcPts val="600"/>
              </a:spcAft>
              <a:defRPr sz="1300">
                <a:solidFill>
                  <a:srgbClr val="1E293B"/>
                </a:solidFill>
              </a:defRPr>
            </a:pPr>
            <a:r>
              <a:t>What convergence patterns emerge?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Research Applications: Language Contact</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Analyzing:</a:t>
            </a:r>
          </a:p>
          <a:p>
            <a:pPr>
              <a:spcAft>
                <a:spcPts val="600"/>
              </a:spcAft>
              <a:defRPr sz="1300">
                <a:solidFill>
                  <a:srgbClr val="1E293B"/>
                </a:solidFill>
              </a:defRPr>
            </a:pPr>
            <a:r>
              <a:t>Borrowingof valency patterns</a:t>
            </a:r>
          </a:p>
          <a:p>
            <a:pPr>
              <a:spcAft>
                <a:spcPts val="600"/>
              </a:spcAft>
              <a:defRPr sz="1300">
                <a:solidFill>
                  <a:srgbClr val="1E293B"/>
                </a:solidFill>
              </a:defRPr>
            </a:pPr>
            <a:r>
              <a:t>Calquingin translations</a:t>
            </a:r>
          </a:p>
          <a:p>
            <a:pPr>
              <a:spcAft>
                <a:spcPts val="600"/>
              </a:spcAft>
              <a:defRPr sz="1300">
                <a:solidFill>
                  <a:srgbClr val="1E293B"/>
                </a:solidFill>
              </a:defRPr>
            </a:pPr>
            <a:r>
              <a:t>Interferencephenomena</a:t>
            </a:r>
          </a:p>
          <a:p>
            <a:pPr>
              <a:spcAft>
                <a:spcPts val="600"/>
              </a:spcAft>
              <a:defRPr sz="1300">
                <a:solidFill>
                  <a:srgbClr val="1E293B"/>
                </a:solidFill>
              </a:defRPr>
            </a:pPr>
            <a:r>
              <a:t>Convergenceof structures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sociolinguistic questions can we answer?</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Historical sociolinguistics:</a:t>
            </a:r>
          </a:p>
          <a:p>
            <a:pPr>
              <a:spcAft>
                <a:spcPts val="600"/>
              </a:spcAft>
              <a:defRPr sz="1300">
                <a:solidFill>
                  <a:srgbClr val="1E293B"/>
                </a:solidFill>
              </a:defRPr>
            </a:pPr>
            <a:r>
              <a:t>How does register vary across time?</a:t>
            </a:r>
          </a:p>
          <a:p>
            <a:pPr>
              <a:spcAft>
                <a:spcPts val="600"/>
              </a:spcAft>
              <a:defRPr sz="1300">
                <a:solidFill>
                  <a:srgbClr val="1E293B"/>
                </a:solidFill>
              </a:defRPr>
            </a:pPr>
            <a:r>
              <a:t>What standardization processes occur?</a:t>
            </a:r>
          </a:p>
          <a:p>
            <a:pPr>
              <a:spcAft>
                <a:spcPts val="600"/>
              </a:spcAft>
              <a:defRPr sz="1300">
                <a:solidFill>
                  <a:srgbClr val="1E293B"/>
                </a:solidFill>
              </a:defRPr>
            </a:pPr>
            <a:r>
              <a:t>How do translation norms change?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Research Applications: Historical Sociolinguistics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Investigating:</a:t>
            </a:r>
          </a:p>
          <a:p>
            <a:pPr>
              <a:spcAft>
                <a:spcPts val="600"/>
              </a:spcAft>
              <a:defRPr sz="1300">
                <a:solidFill>
                  <a:srgbClr val="1E293B"/>
                </a:solidFill>
              </a:defRPr>
            </a:pPr>
            <a:r>
              <a:t>Register variationacross time</a:t>
            </a:r>
          </a:p>
          <a:p>
            <a:pPr>
              <a:spcAft>
                <a:spcPts val="600"/>
              </a:spcAft>
              <a:defRPr sz="1300">
                <a:solidFill>
                  <a:srgbClr val="1E293B"/>
                </a:solidFill>
              </a:defRPr>
            </a:pPr>
            <a:r>
              <a:t>Standardizationprocesses</a:t>
            </a:r>
          </a:p>
          <a:p>
            <a:pPr>
              <a:spcAft>
                <a:spcPts val="600"/>
              </a:spcAft>
              <a:defRPr sz="1300">
                <a:solidFill>
                  <a:srgbClr val="1E293B"/>
                </a:solidFill>
              </a:defRPr>
            </a:pPr>
            <a:r>
              <a:t>Literacyand text production</a:t>
            </a:r>
          </a:p>
          <a:p>
            <a:pPr>
              <a:spcAft>
                <a:spcPts val="600"/>
              </a:spcAft>
              <a:defRPr sz="1300">
                <a:solidFill>
                  <a:srgbClr val="1E293B"/>
                </a:solidFill>
              </a:defRPr>
            </a:pPr>
            <a:r>
              <a:t>Translation normsand practices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Collaborative Research Potential</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The corpus enables:</a:t>
            </a:r>
          </a:p>
          <a:p>
            <a:pPr>
              <a:spcAft>
                <a:spcPts val="600"/>
              </a:spcAft>
              <a:defRPr sz="1300">
                <a:solidFill>
                  <a:srgbClr val="1E293B"/>
                </a:solidFill>
              </a:defRPr>
            </a:pPr>
            <a:r>
              <a:t>International collaboration</a:t>
            </a:r>
          </a:p>
          <a:p>
            <a:pPr>
              <a:spcAft>
                <a:spcPts val="600"/>
              </a:spcAft>
              <a:defRPr sz="1300">
                <a:solidFill>
                  <a:srgbClr val="1E293B"/>
                </a:solidFill>
              </a:defRPr>
            </a:pPr>
            <a:r>
              <a:t>Interdisciplinary research(linguistics, classics, theology)</a:t>
            </a:r>
          </a:p>
          <a:p>
            <a:pPr>
              <a:spcAft>
                <a:spcPts val="600"/>
              </a:spcAft>
              <a:defRPr sz="1300">
                <a:solidFill>
                  <a:srgbClr val="1E293B"/>
                </a:solidFill>
              </a:defRPr>
            </a:pPr>
            <a:r>
              <a:t>Computational humanitiesprojects</a:t>
            </a:r>
          </a:p>
          <a:p>
            <a:pPr>
              <a:spcAft>
                <a:spcPts val="600"/>
              </a:spcAft>
              <a:defRPr sz="1300">
                <a:solidFill>
                  <a:srgbClr val="1E293B"/>
                </a:solidFill>
              </a:defRPr>
            </a:pPr>
            <a:r>
              <a:t>Educational applications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Open Access and Sustainability</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Project Commitment:</a:t>
            </a:r>
          </a:p>
          <a:p>
            <a:pPr>
              <a:spcAft>
                <a:spcPts val="600"/>
              </a:spcAft>
              <a:defRPr sz="1300">
                <a:solidFill>
                  <a:srgbClr val="1E293B"/>
                </a:solidFill>
              </a:defRPr>
            </a:pPr>
            <a:r>
              <a:t>Open accessto corpus data</a:t>
            </a:r>
          </a:p>
          <a:p>
            <a:pPr>
              <a:spcAft>
                <a:spcPts val="600"/>
              </a:spcAft>
              <a:defRPr sz="1300">
                <a:solidFill>
                  <a:srgbClr val="1E293B"/>
                </a:solidFill>
              </a:defRPr>
            </a:pPr>
            <a:r>
              <a:t>Documentationand tutorials</a:t>
            </a:r>
          </a:p>
          <a:p>
            <a:pPr>
              <a:spcAft>
                <a:spcPts val="600"/>
              </a:spcAft>
              <a:defRPr sz="1300">
                <a:solidFill>
                  <a:srgbClr val="1E293B"/>
                </a:solidFill>
              </a:defRPr>
            </a:pPr>
            <a:r>
              <a:t>Long-term preservation</a:t>
            </a:r>
          </a:p>
          <a:p>
            <a:pPr>
              <a:spcAft>
                <a:spcPts val="600"/>
              </a:spcAft>
              <a:defRPr sz="1300">
                <a:solidFill>
                  <a:srgbClr val="1E293B"/>
                </a:solidFill>
              </a:defRPr>
            </a:pPr>
            <a:r>
              <a:t>Community contributions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expansions are planned for Phase 2?</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Future additions:</a:t>
            </a:r>
          </a:p>
          <a:p>
            <a:pPr>
              <a:spcAft>
                <a:spcPts val="600"/>
              </a:spcAft>
              <a:defRPr sz="1300">
                <a:solidFill>
                  <a:srgbClr val="1E293B"/>
                </a:solidFill>
              </a:defRPr>
            </a:pPr>
            <a:r>
              <a:t>What new languages?</a:t>
            </a:r>
          </a:p>
          <a:p>
            <a:pPr>
              <a:spcAft>
                <a:spcPts val="600"/>
              </a:spcAft>
              <a:defRPr sz="1300">
                <a:solidFill>
                  <a:srgbClr val="1E293B"/>
                </a:solidFill>
              </a:defRPr>
            </a:pPr>
            <a:r>
              <a:t>How many more texts?</a:t>
            </a:r>
          </a:p>
          <a:p>
            <a:pPr>
              <a:spcAft>
                <a:spcPts val="600"/>
              </a:spcAft>
              <a:defRPr sz="1300">
                <a:solidFill>
                  <a:srgbClr val="1E293B"/>
                </a:solidFill>
              </a:defRPr>
            </a:pPr>
            <a:r>
              <a:t>What new capabilities?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Future Developments: Phase 2</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Planned Expansions:</a:t>
            </a:r>
          </a:p>
          <a:p>
            <a:pPr>
              <a:spcAft>
                <a:spcPts val="1000"/>
              </a:spcAft>
              <a:defRPr sz="1400">
                <a:solidFill>
                  <a:srgbClr val="1E293B"/>
                </a:solidFill>
              </a:defRPr>
            </a:pPr>
            <a:r>
              <a:t>Phase 2 will add approximately 150 more texts, bringing the total to nearly 500 texts and 15+ million tokens. Church Slavonic is particularly valuable for comparative purposes, as it represents another Indo-European branch with rich case morphology. Gothic provides the earliest Germanic witness, enabling deeper historical comparison. Arabic translations introduce a Semitic language, allowing investigation of how typologically different languages render similar content. These additions will make the corpus a truly multilingual resource for comparative diachronic valency research.</a:t>
            </a:r>
          </a:p>
          <a:p>
            <a:pPr>
              <a:spcAft>
                <a:spcPts val="600"/>
              </a:spcAft>
              <a:defRPr sz="1300">
                <a:solidFill>
                  <a:srgbClr val="1E293B"/>
                </a:solidFill>
              </a:defRPr>
            </a:pPr>
            <a:r>
              <a:t>AdditionalSlavic languages(Church Slavonic Bible, 9th century)</a:t>
            </a:r>
          </a:p>
          <a:p>
            <a:pPr>
              <a:spcAft>
                <a:spcPts val="600"/>
              </a:spcAft>
              <a:defRPr sz="1300">
                <a:solidFill>
                  <a:srgbClr val="1E293B"/>
                </a:solidFill>
              </a:defRPr>
            </a:pPr>
            <a:r>
              <a:t>MoreGermanic languages(Gothic Bible 4th c., German Bibles 16th-21st c.)</a:t>
            </a:r>
          </a:p>
          <a:p>
            <a:pPr>
              <a:spcAft>
                <a:spcPts val="600"/>
              </a:spcAft>
              <a:defRPr sz="1300">
                <a:solidFill>
                  <a:srgbClr val="1E293B"/>
                </a:solidFill>
              </a:defRPr>
            </a:pPr>
            <a:r>
              <a:t>Arabictranslations (medieval and modern Bibles)</a:t>
            </a:r>
          </a:p>
          <a:p>
            <a:pPr>
              <a:spcAft>
                <a:spcPts val="600"/>
              </a:spcAft>
              <a:defRPr sz="1300">
                <a:solidFill>
                  <a:srgbClr val="1E293B"/>
                </a:solidFill>
              </a:defRPr>
            </a:pPr>
            <a:r>
              <a:t>ExtendedModern Greekcorpus (20th-21st century literary texts)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computational enhancements are planned?</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Advanced features:</a:t>
            </a:r>
          </a:p>
          <a:p>
            <a:pPr>
              <a:spcAft>
                <a:spcPts val="600"/>
              </a:spcAft>
              <a:defRPr sz="1300">
                <a:solidFill>
                  <a:srgbClr val="1E293B"/>
                </a:solidFill>
              </a:defRPr>
            </a:pPr>
            <a:r>
              <a:t>What machine learning applications?</a:t>
            </a:r>
          </a:p>
          <a:p>
            <a:pPr>
              <a:spcAft>
                <a:spcPts val="600"/>
              </a:spcAft>
              <a:defRPr sz="1300">
                <a:solidFill>
                  <a:srgbClr val="1E293B"/>
                </a:solidFill>
              </a:defRPr>
            </a:pPr>
            <a:r>
              <a:t>What visualization tools?</a:t>
            </a:r>
          </a:p>
          <a:p>
            <a:pPr>
              <a:spcAft>
                <a:spcPts val="600"/>
              </a:spcAft>
              <a:defRPr sz="1300">
                <a:solidFill>
                  <a:srgbClr val="1E293B"/>
                </a:solidFill>
              </a:defRPr>
            </a:pPr>
            <a:r>
              <a:t>What new analysis modules?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Future Developments: Advanced Features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Computational Enhancements:</a:t>
            </a:r>
          </a:p>
          <a:p>
            <a:pPr>
              <a:spcAft>
                <a:spcPts val="600"/>
              </a:spcAft>
              <a:defRPr sz="1300">
                <a:solidFill>
                  <a:srgbClr val="1E293B"/>
                </a:solidFill>
              </a:defRPr>
            </a:pPr>
            <a:r>
              <a:t>Machine learningfor pattern detection</a:t>
            </a:r>
          </a:p>
          <a:p>
            <a:pPr>
              <a:spcAft>
                <a:spcPts val="600"/>
              </a:spcAft>
              <a:defRPr sz="1300">
                <a:solidFill>
                  <a:srgbClr val="1E293B"/>
                </a:solidFill>
              </a:defRPr>
            </a:pPr>
            <a:r>
              <a:t>Visualization toolsfor diachronic change</a:t>
            </a:r>
          </a:p>
          <a:p>
            <a:pPr>
              <a:spcAft>
                <a:spcPts val="600"/>
              </a:spcAft>
              <a:defRPr sz="1300">
                <a:solidFill>
                  <a:srgbClr val="1E293B"/>
                </a:solidFill>
              </a:defRPr>
            </a:pPr>
            <a:r>
              <a:t>Automatic alignmentof parallel texts</a:t>
            </a:r>
          </a:p>
          <a:p>
            <a:pPr>
              <a:spcAft>
                <a:spcPts val="600"/>
              </a:spcAft>
              <a:defRPr sz="1300">
                <a:solidFill>
                  <a:srgbClr val="1E293B"/>
                </a:solidFill>
              </a:defRPr>
            </a:pPr>
            <a:r>
              <a:t>Statistical analysismodules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makes this project methodologically innovative?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Innovations:</a:t>
            </a:r>
          </a:p>
          <a:p>
            <a:pPr>
              <a:spcAft>
                <a:spcPts val="600"/>
              </a:spcAft>
              <a:defRPr sz="1300">
                <a:solidFill>
                  <a:srgbClr val="1E293B"/>
                </a:solidFill>
              </a:defRPr>
            </a:pPr>
            <a:r>
              <a:t>How does it combine disciplines?</a:t>
            </a:r>
          </a:p>
          <a:p>
            <a:pPr>
              <a:spcAft>
                <a:spcPts val="600"/>
              </a:spcAft>
              <a:defRPr sz="1300">
                <a:solidFill>
                  <a:srgbClr val="1E293B"/>
                </a:solidFill>
              </a:defRPr>
            </a:pPr>
            <a:r>
              <a:t>What new approaches does it introduce?</a:t>
            </a:r>
          </a:p>
          <a:p>
            <a:pPr>
              <a:spcAft>
                <a:spcPts val="600"/>
              </a:spcAft>
              <a:defRPr sz="1300">
                <a:solidFill>
                  <a:srgbClr val="1E293B"/>
                </a:solidFill>
              </a:defRPr>
            </a:pPr>
            <a:r>
              <a:t>How is it different from previous work?</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Methodological Innovations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CVL-CDSAML introduces:</a:t>
            </a:r>
          </a:p>
          <a:p>
            <a:pPr>
              <a:spcAft>
                <a:spcPts val="600"/>
              </a:spcAft>
              <a:defRPr sz="1300">
                <a:solidFill>
                  <a:srgbClr val="1E293B"/>
                </a:solidFill>
              </a:defRPr>
            </a:pPr>
            <a:r>
              <a:t>Integration ofphilologyandcomputation</a:t>
            </a:r>
          </a:p>
          <a:p>
            <a:pPr>
              <a:spcAft>
                <a:spcPts val="600"/>
              </a:spcAft>
              <a:defRPr sz="1300">
                <a:solidFill>
                  <a:srgbClr val="1E293B"/>
                </a:solidFill>
              </a:defRPr>
            </a:pPr>
            <a:r>
              <a:t>Translation-basedapproach to language contact</a:t>
            </a:r>
          </a:p>
          <a:p>
            <a:pPr>
              <a:spcAft>
                <a:spcPts val="600"/>
              </a:spcAft>
              <a:defRPr sz="1300">
                <a:solidFill>
                  <a:srgbClr val="1E293B"/>
                </a:solidFill>
              </a:defRPr>
            </a:pPr>
            <a:r>
              <a:t>Multi-millennialperspective on change</a:t>
            </a:r>
          </a:p>
          <a:p>
            <a:pPr>
              <a:spcAft>
                <a:spcPts val="600"/>
              </a:spcAft>
              <a:defRPr sz="1300">
                <a:solidFill>
                  <a:srgbClr val="1E293B"/>
                </a:solidFill>
              </a:defRPr>
            </a:pPr>
            <a:r>
              <a:t>Parallel corpusdesign for diachronic research</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is the theoretical impact of this work?</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Theoretical contributions:</a:t>
            </a:r>
          </a:p>
          <a:p>
            <a:pPr>
              <a:spcAft>
                <a:spcPts val="600"/>
              </a:spcAft>
              <a:defRPr sz="1300">
                <a:solidFill>
                  <a:srgbClr val="1E293B"/>
                </a:solidFill>
              </a:defRPr>
            </a:pPr>
            <a:r>
              <a:t>Which theories does it inform?</a:t>
            </a:r>
          </a:p>
          <a:p>
            <a:pPr>
              <a:spcAft>
                <a:spcPts val="600"/>
              </a:spcAft>
              <a:defRPr sz="1300">
                <a:solidFill>
                  <a:srgbClr val="1E293B"/>
                </a:solidFill>
              </a:defRPr>
            </a:pPr>
            <a:r>
              <a:t>What models does it improve?</a:t>
            </a:r>
          </a:p>
          <a:p>
            <a:pPr>
              <a:spcAft>
                <a:spcPts val="600"/>
              </a:spcAft>
              <a:defRPr sz="1300">
                <a:solidFill>
                  <a:srgbClr val="1E293B"/>
                </a:solidFill>
              </a:defRPr>
            </a:pPr>
            <a:r>
              <a:t>What new perspectives does it offer?</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Impact on Linguistic Theory</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Contributions to:</a:t>
            </a:r>
          </a:p>
          <a:p>
            <a:pPr>
              <a:spcAft>
                <a:spcPts val="600"/>
              </a:spcAft>
              <a:defRPr sz="1300">
                <a:solidFill>
                  <a:srgbClr val="1E293B"/>
                </a:solidFill>
              </a:defRPr>
            </a:pPr>
            <a:r>
              <a:t>Valency theory(diachronic dimension)</a:t>
            </a:r>
          </a:p>
          <a:p>
            <a:pPr>
              <a:spcAft>
                <a:spcPts val="600"/>
              </a:spcAft>
              <a:defRPr sz="1300">
                <a:solidFill>
                  <a:srgbClr val="1E293B"/>
                </a:solidFill>
              </a:defRPr>
            </a:pPr>
            <a:r>
              <a:t>Language changemodels</a:t>
            </a:r>
          </a:p>
          <a:p>
            <a:pPr>
              <a:spcAft>
                <a:spcPts val="600"/>
              </a:spcAft>
              <a:defRPr sz="1300">
                <a:solidFill>
                  <a:srgbClr val="1E293B"/>
                </a:solidFill>
              </a:defRPr>
            </a:pPr>
            <a:r>
              <a:t>Contact linguisticsmethodology</a:t>
            </a:r>
          </a:p>
          <a:p>
            <a:pPr>
              <a:spcAft>
                <a:spcPts val="600"/>
              </a:spcAft>
              <a:defRPr sz="1300">
                <a:solidFill>
                  <a:srgbClr val="1E293B"/>
                </a:solidFill>
              </a:defRPr>
            </a:pPr>
            <a:r>
              <a:t>Corpus linguisticsdesign</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Educational Applications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Uses for Teaching:</a:t>
            </a:r>
          </a:p>
          <a:p>
            <a:pPr>
              <a:spcAft>
                <a:spcPts val="600"/>
              </a:spcAft>
              <a:defRPr sz="1300">
                <a:solidFill>
                  <a:srgbClr val="1E293B"/>
                </a:solidFill>
              </a:defRPr>
            </a:pPr>
            <a:r>
              <a:t>Historical linguisticscourses</a:t>
            </a:r>
          </a:p>
          <a:p>
            <a:pPr>
              <a:spcAft>
                <a:spcPts val="600"/>
              </a:spcAft>
              <a:defRPr sz="1300">
                <a:solidFill>
                  <a:srgbClr val="1E293B"/>
                </a:solidFill>
              </a:defRPr>
            </a:pPr>
            <a:r>
              <a:t>Translation studiesprograms</a:t>
            </a:r>
          </a:p>
          <a:p>
            <a:pPr>
              <a:spcAft>
                <a:spcPts val="600"/>
              </a:spcAft>
              <a:defRPr sz="1300">
                <a:solidFill>
                  <a:srgbClr val="1E293B"/>
                </a:solidFill>
              </a:defRPr>
            </a:pPr>
            <a:r>
              <a:t>Classical languagesinstruction</a:t>
            </a:r>
          </a:p>
          <a:p>
            <a:pPr>
              <a:spcAft>
                <a:spcPts val="600"/>
              </a:spcAft>
              <a:defRPr sz="1300">
                <a:solidFill>
                  <a:srgbClr val="1E293B"/>
                </a:solidFill>
              </a:defRPr>
            </a:pPr>
            <a:r>
              <a:t>Digital humanitiestraining</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Example Student Research Project</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Topic:"The Evolution of Greek Causative Constructions"</a:t>
            </a:r>
          </a:p>
          <a:p>
            <a:pPr>
              <a:spcAft>
                <a:spcPts val="1000"/>
              </a:spcAft>
              <a:defRPr sz="1400">
                <a:solidFill>
                  <a:srgbClr val="1E293B"/>
                </a:solidFill>
              </a:defRPr>
            </a:pPr>
            <a:r>
              <a:t>Method:</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Interdisciplinary Connections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Bridges Between:</a:t>
            </a:r>
          </a:p>
          <a:p>
            <a:pPr>
              <a:spcAft>
                <a:spcPts val="600"/>
              </a:spcAft>
              <a:defRPr sz="1300">
                <a:solidFill>
                  <a:srgbClr val="1E293B"/>
                </a:solidFill>
              </a:defRPr>
            </a:pPr>
            <a:r>
              <a:t>LinguisticsClassical Studies</a:t>
            </a:r>
          </a:p>
          <a:p>
            <a:pPr>
              <a:spcAft>
                <a:spcPts val="600"/>
              </a:spcAft>
              <a:defRPr sz="1300">
                <a:solidFill>
                  <a:srgbClr val="1E293B"/>
                </a:solidFill>
              </a:defRPr>
            </a:pPr>
            <a:r>
              <a:t>TheologyPhilology</a:t>
            </a:r>
          </a:p>
          <a:p>
            <a:pPr>
              <a:spcAft>
                <a:spcPts val="600"/>
              </a:spcAft>
              <a:defRPr sz="1300">
                <a:solidFill>
                  <a:srgbClr val="1E293B"/>
                </a:solidFill>
              </a:defRPr>
            </a:pPr>
            <a:r>
              <a:t>Computer ScienceHumanities</a:t>
            </a:r>
          </a:p>
          <a:p>
            <a:pPr>
              <a:spcAft>
                <a:spcPts val="600"/>
              </a:spcAft>
              <a:defRPr sz="1300">
                <a:solidFill>
                  <a:srgbClr val="1E293B"/>
                </a:solidFill>
              </a:defRPr>
            </a:pPr>
            <a:r>
              <a:t>Translation StudiesHistorical Linguistics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Biblical Studies Applications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Supporting:</a:t>
            </a:r>
          </a:p>
          <a:p>
            <a:pPr>
              <a:spcAft>
                <a:spcPts val="600"/>
              </a:spcAft>
              <a:defRPr sz="1300">
                <a:solidFill>
                  <a:srgbClr val="1E293B"/>
                </a:solidFill>
              </a:defRPr>
            </a:pPr>
            <a:r>
              <a:t>Textual criticism(variant readings)</a:t>
            </a:r>
          </a:p>
          <a:p>
            <a:pPr>
              <a:spcAft>
                <a:spcPts val="600"/>
              </a:spcAft>
              <a:defRPr sz="1300">
                <a:solidFill>
                  <a:srgbClr val="1E293B"/>
                </a:solidFill>
              </a:defRPr>
            </a:pPr>
            <a:r>
              <a:t>Translation theory(biblical translation)</a:t>
            </a:r>
          </a:p>
          <a:p>
            <a:pPr>
              <a:spcAft>
                <a:spcPts val="600"/>
              </a:spcAft>
              <a:defRPr sz="1300">
                <a:solidFill>
                  <a:srgbClr val="1E293B"/>
                </a:solidFill>
              </a:defRPr>
            </a:pPr>
            <a:r>
              <a:t>Historical context(language of the time)</a:t>
            </a:r>
          </a:p>
          <a:p>
            <a:pPr>
              <a:spcAft>
                <a:spcPts val="600"/>
              </a:spcAft>
              <a:defRPr sz="1300">
                <a:solidFill>
                  <a:srgbClr val="1E293B"/>
                </a:solidFill>
              </a:defRPr>
            </a:pPr>
            <a:r>
              <a:t>Exegesis(semantic analysis)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Case Study: Textual Variants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John 1:1 in different manuscripts:</a:t>
            </a:r>
          </a:p>
          <a:p>
            <a:pPr>
              <a:spcAft>
                <a:spcPts val="1000"/>
              </a:spcAft>
              <a:defRPr sz="1400">
                <a:solidFill>
                  <a:srgbClr val="1E293B"/>
                </a:solidFill>
              </a:defRPr>
            </a:pPr>
            <a:r>
              <a:t>Corpus enables:Systematic comparison of variants</a:t>
            </a:r>
          </a:p>
          <a:p>
            <a:pPr>
              <a:spcAft>
                <a:spcPts val="600"/>
              </a:spcAft>
              <a:defRPr sz="1300">
                <a:solidFill>
                  <a:srgbClr val="1E293B"/>
                </a:solidFill>
              </a:defRPr>
            </a:pPr>
            <a:r>
              <a:t>Variations in word order</a:t>
            </a:r>
          </a:p>
          <a:p>
            <a:pPr>
              <a:spcAft>
                <a:spcPts val="600"/>
              </a:spcAft>
              <a:defRPr sz="1300">
                <a:solidFill>
                  <a:srgbClr val="1E293B"/>
                </a:solidFill>
              </a:defRPr>
            </a:pPr>
            <a:r>
              <a:t>Different particle usage</a:t>
            </a:r>
          </a:p>
          <a:p>
            <a:pPr>
              <a:spcAft>
                <a:spcPts val="600"/>
              </a:spcAft>
              <a:defRPr sz="1300">
                <a:solidFill>
                  <a:srgbClr val="1E293B"/>
                </a:solidFill>
              </a:defRPr>
            </a:pPr>
            <a:r>
              <a:t>Valency implications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Challenges and Solutions: Data Quality</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Challenge:Inconsistent source materials</a:t>
            </a:r>
          </a:p>
          <a:p>
            <a:pPr>
              <a:spcAft>
                <a:spcPts val="1000"/>
              </a:spcAft>
              <a:defRPr sz="1400">
                <a:solidFill>
                  <a:srgbClr val="1E293B"/>
                </a:solidFill>
              </a:defRPr>
            </a:pPr>
            <a:r>
              <a:t>Solution:</a:t>
            </a:r>
          </a:p>
          <a:p>
            <a:pPr>
              <a:spcAft>
                <a:spcPts val="1000"/>
              </a:spcAft>
              <a:defRPr sz="1400">
                <a:solidFill>
                  <a:srgbClr val="1E293B"/>
                </a:solidFill>
              </a:defRPr>
            </a:pPr>
            <a:r>
              <a:t>Historical texts present numerous quality challenges: variant readings in manuscripts, editorial choices in critical editions, OCR errors in digitization. We address these through systematic quality control: every text undergoes automated consistency checks (encoding validation, character set verification), followed by expert philological review. Difficult cases are discussed by the research team and decisions documented in metadata. The corpus documentation includes an "editorial principles" section explaining our policies on spelling normalization, manuscript variants, and textual emendations, ensuring transparency and reproducibility.</a:t>
            </a:r>
          </a:p>
          <a:p>
            <a:pPr>
              <a:spcAft>
                <a:spcPts val="600"/>
              </a:spcAft>
              <a:defRPr sz="1300">
                <a:solidFill>
                  <a:srgbClr val="1E293B"/>
                </a:solidFill>
              </a:defRPr>
            </a:pPr>
            <a:r>
              <a:t>Rigorousquality control(multi-stage verification)</a:t>
            </a:r>
          </a:p>
          <a:p>
            <a:pPr>
              <a:spcAft>
                <a:spcPts val="600"/>
              </a:spcAft>
              <a:defRPr sz="1300">
                <a:solidFill>
                  <a:srgbClr val="1E293B"/>
                </a:solidFill>
              </a:defRPr>
            </a:pPr>
            <a:r>
              <a:t>Multipleverification stages(automated + manual checks)</a:t>
            </a:r>
          </a:p>
          <a:p>
            <a:pPr>
              <a:spcAft>
                <a:spcPts val="600"/>
              </a:spcAft>
              <a:defRPr sz="1300">
                <a:solidFill>
                  <a:srgbClr val="1E293B"/>
                </a:solidFill>
              </a:defRPr>
            </a:pPr>
            <a:r>
              <a:t>Expertphilological review(trained classicists and linguists)</a:t>
            </a:r>
          </a:p>
          <a:p>
            <a:pPr>
              <a:spcAft>
                <a:spcPts val="600"/>
              </a:spcAft>
              <a:defRPr sz="1300">
                <a:solidFill>
                  <a:srgbClr val="1E293B"/>
                </a:solidFill>
              </a:defRPr>
            </a:pPr>
            <a:r>
              <a:t>Documentededitorial decisions (transparent methodology)</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technical challenges exist and how are they solved?</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Technical issues:</a:t>
            </a:r>
          </a:p>
          <a:p>
            <a:pPr>
              <a:spcAft>
                <a:spcPts val="600"/>
              </a:spcAft>
              <a:defRPr sz="1300">
                <a:solidFill>
                  <a:srgbClr val="1E293B"/>
                </a:solidFill>
              </a:defRPr>
            </a:pPr>
            <a:r>
              <a:t>How to process ancient languages?</a:t>
            </a:r>
          </a:p>
          <a:p>
            <a:pPr>
              <a:spcAft>
                <a:spcPts val="600"/>
              </a:spcAft>
              <a:defRPr sz="1300">
                <a:solidFill>
                  <a:srgbClr val="1E293B"/>
                </a:solidFill>
              </a:defRPr>
            </a:pPr>
            <a:r>
              <a:t>How to ensure annotation quality?</a:t>
            </a:r>
          </a:p>
          <a:p>
            <a:pPr>
              <a:spcAft>
                <a:spcPts val="600"/>
              </a:spcAft>
              <a:defRPr sz="1300">
                <a:solidFill>
                  <a:srgbClr val="1E293B"/>
                </a:solidFill>
              </a:defRPr>
            </a:pPr>
            <a:r>
              <a:t>How to iterate and improve?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Challenges and Solutions: Technical</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Challenge:Processing ancient languages computationally</a:t>
            </a:r>
          </a:p>
          <a:p>
            <a:pPr>
              <a:spcAft>
                <a:spcPts val="1000"/>
              </a:spcAft>
              <a:defRPr sz="1400">
                <a:solidFill>
                  <a:srgbClr val="1E293B"/>
                </a:solidFill>
              </a:defRPr>
            </a:pPr>
            <a:r>
              <a:t>Solution:</a:t>
            </a:r>
          </a:p>
          <a:p>
            <a:pPr>
              <a:spcAft>
                <a:spcPts val="600"/>
              </a:spcAft>
              <a:defRPr sz="1300">
                <a:solidFill>
                  <a:srgbClr val="1E293B"/>
                </a:solidFill>
              </a:defRPr>
            </a:pPr>
            <a:r>
              <a:t>CustomNLP toolsfor historical languages</a:t>
            </a:r>
          </a:p>
          <a:p>
            <a:pPr>
              <a:spcAft>
                <a:spcPts val="600"/>
              </a:spcAft>
              <a:defRPr sz="1300">
                <a:solidFill>
                  <a:srgbClr val="1E293B"/>
                </a:solidFill>
              </a:defRPr>
            </a:pPr>
            <a:r>
              <a:t>Manual correctionof automated annotations</a:t>
            </a:r>
          </a:p>
          <a:p>
            <a:pPr>
              <a:spcAft>
                <a:spcPts val="600"/>
              </a:spcAft>
              <a:defRPr sz="1300">
                <a:solidFill>
                  <a:srgbClr val="1E293B"/>
                </a:solidFill>
              </a:defRPr>
            </a:pPr>
            <a:r>
              <a:t>Community feedbackmechanisms</a:t>
            </a:r>
          </a:p>
          <a:p>
            <a:pPr>
              <a:spcAft>
                <a:spcPts val="600"/>
              </a:spcAft>
              <a:defRPr sz="1300">
                <a:solidFill>
                  <a:srgbClr val="1E293B"/>
                </a:solidFill>
              </a:defRPr>
            </a:pPr>
            <a:r>
              <a:t>Iterative improvement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Challenges and Solutions: Scope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Challenge:Managing 338 texts across 3 millennia</a:t>
            </a:r>
          </a:p>
          <a:p>
            <a:pPr>
              <a:spcAft>
                <a:spcPts val="1000"/>
              </a:spcAft>
              <a:defRPr sz="1400">
                <a:solidFill>
                  <a:srgbClr val="1E293B"/>
                </a:solidFill>
              </a:defRPr>
            </a:pPr>
            <a:r>
              <a:t>Solution:</a:t>
            </a:r>
          </a:p>
          <a:p>
            <a:pPr>
              <a:spcAft>
                <a:spcPts val="600"/>
              </a:spcAft>
              <a:defRPr sz="1300">
                <a:solidFill>
                  <a:srgbClr val="1E293B"/>
                </a:solidFill>
              </a:defRPr>
            </a:pPr>
            <a:r>
              <a:t>Phased processingapproach</a:t>
            </a:r>
          </a:p>
          <a:p>
            <a:pPr>
              <a:spcAft>
                <a:spcPts val="600"/>
              </a:spcAft>
              <a:defRPr sz="1300">
                <a:solidFill>
                  <a:srgbClr val="1E293B"/>
                </a:solidFill>
              </a:defRPr>
            </a:pPr>
            <a:r>
              <a:t>Priority textsfirst</a:t>
            </a:r>
          </a:p>
          <a:p>
            <a:pPr>
              <a:spcAft>
                <a:spcPts val="600"/>
              </a:spcAft>
              <a:defRPr sz="1300">
                <a:solidFill>
                  <a:srgbClr val="1E293B"/>
                </a:solidFill>
              </a:defRPr>
            </a:pPr>
            <a:r>
              <a:t>Modular architecture</a:t>
            </a:r>
          </a:p>
          <a:p>
            <a:pPr>
              <a:spcAft>
                <a:spcPts val="600"/>
              </a:spcAft>
              <a:defRPr sz="1300">
                <a:solidFill>
                  <a:srgbClr val="1E293B"/>
                </a:solidFill>
              </a:defRPr>
            </a:pPr>
            <a:r>
              <a:t>Incremental publication</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Quality Assurance Processes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Multi-Level Verification:</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Community Engagement</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Building the User Community:</a:t>
            </a:r>
          </a:p>
          <a:p>
            <a:pPr>
              <a:spcAft>
                <a:spcPts val="600"/>
              </a:spcAft>
              <a:defRPr sz="1300">
                <a:solidFill>
                  <a:srgbClr val="1E293B"/>
                </a:solidFill>
              </a:defRPr>
            </a:pPr>
            <a:r>
              <a:t>Workshopsand training sessions</a:t>
            </a:r>
          </a:p>
          <a:p>
            <a:pPr>
              <a:spcAft>
                <a:spcPts val="600"/>
              </a:spcAft>
              <a:defRPr sz="1300">
                <a:solidFill>
                  <a:srgbClr val="1E293B"/>
                </a:solidFill>
              </a:defRPr>
            </a:pPr>
            <a:r>
              <a:t>User forumsand support</a:t>
            </a:r>
          </a:p>
          <a:p>
            <a:pPr>
              <a:spcAft>
                <a:spcPts val="600"/>
              </a:spcAft>
              <a:defRPr sz="1300">
                <a:solidFill>
                  <a:srgbClr val="1E293B"/>
                </a:solidFill>
              </a:defRPr>
            </a:pPr>
            <a:r>
              <a:t>Documentationand tutorials</a:t>
            </a:r>
          </a:p>
          <a:p>
            <a:pPr>
              <a:spcAft>
                <a:spcPts val="600"/>
              </a:spcAft>
              <a:defRPr sz="1300">
                <a:solidFill>
                  <a:srgbClr val="1E293B"/>
                </a:solidFill>
              </a:defRPr>
            </a:pPr>
            <a:r>
              <a:t>Publicationof findings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Dissemination Strategy</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Making the Research Accessible:</a:t>
            </a:r>
          </a:p>
          <a:p>
            <a:pPr>
              <a:spcAft>
                <a:spcPts val="600"/>
              </a:spcAft>
              <a:defRPr sz="1300">
                <a:solidFill>
                  <a:srgbClr val="1E293B"/>
                </a:solidFill>
              </a:defRPr>
            </a:pPr>
            <a:r>
              <a:t>Academic publications(journals, books)</a:t>
            </a:r>
          </a:p>
          <a:p>
            <a:pPr>
              <a:spcAft>
                <a:spcPts val="600"/>
              </a:spcAft>
              <a:defRPr sz="1300">
                <a:solidFill>
                  <a:srgbClr val="1E293B"/>
                </a:solidFill>
              </a:defRPr>
            </a:pPr>
            <a:r>
              <a:t>Conference presentations</a:t>
            </a:r>
          </a:p>
          <a:p>
            <a:pPr>
              <a:spcAft>
                <a:spcPts val="600"/>
              </a:spcAft>
              <a:defRPr sz="1300">
                <a:solidFill>
                  <a:srgbClr val="1E293B"/>
                </a:solidFill>
              </a:defRPr>
            </a:pPr>
            <a:r>
              <a:t>Online platform(web interface)</a:t>
            </a:r>
          </a:p>
          <a:p>
            <a:pPr>
              <a:spcAft>
                <a:spcPts val="600"/>
              </a:spcAft>
              <a:defRPr sz="1300">
                <a:solidFill>
                  <a:srgbClr val="1E293B"/>
                </a:solidFill>
              </a:defRPr>
            </a:pPr>
            <a:r>
              <a:t>Educational materials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Publications from the Project</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Expected Outputs:</a:t>
            </a:r>
          </a:p>
          <a:p>
            <a:pPr>
              <a:spcAft>
                <a:spcPts val="600"/>
              </a:spcAft>
              <a:defRPr sz="1300">
                <a:solidFill>
                  <a:srgbClr val="1E293B"/>
                </a:solidFill>
              </a:defRPr>
            </a:pPr>
            <a:r>
              <a:t>Volume 1:Corpus design and methodology</a:t>
            </a:r>
          </a:p>
          <a:p>
            <a:pPr>
              <a:spcAft>
                <a:spcPts val="600"/>
              </a:spcAft>
              <a:defRPr sz="1300">
                <a:solidFill>
                  <a:srgbClr val="1E293B"/>
                </a:solidFill>
              </a:defRPr>
            </a:pPr>
            <a:r>
              <a:t>Volume 2:Greek valency patterns (this paper!)</a:t>
            </a:r>
          </a:p>
          <a:p>
            <a:pPr>
              <a:spcAft>
                <a:spcPts val="600"/>
              </a:spcAft>
              <a:defRPr sz="1300">
                <a:solidFill>
                  <a:srgbClr val="1E293B"/>
                </a:solidFill>
              </a:defRPr>
            </a:pPr>
            <a:r>
              <a:t>Volume 3:Cross-linguistic comparisons</a:t>
            </a:r>
          </a:p>
          <a:p>
            <a:pPr>
              <a:spcAft>
                <a:spcPts val="600"/>
              </a:spcAft>
              <a:defRPr sz="1300">
                <a:solidFill>
                  <a:srgbClr val="1E293B"/>
                </a:solidFill>
              </a:defRPr>
            </a:pPr>
            <a:r>
              <a:t>Valency lexicon(online database)</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Timeline and Milestones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2024-2025 (Current Phase):</a:t>
            </a:r>
          </a:p>
          <a:p>
            <a:pPr>
              <a:spcAft>
                <a:spcPts val="1000"/>
              </a:spcAft>
              <a:defRPr sz="1400">
                <a:solidFill>
                  <a:srgbClr val="1E293B"/>
                </a:solidFill>
              </a:defRPr>
            </a:pPr>
            <a:r>
              <a:t>Future Phases:</a:t>
            </a:r>
          </a:p>
          <a:p>
            <a:pPr>
              <a:spcAft>
                <a:spcPts val="600"/>
              </a:spcAft>
              <a:defRPr sz="1300">
                <a:solidFill>
                  <a:srgbClr val="1E293B"/>
                </a:solidFill>
              </a:defRPr>
            </a:pPr>
            <a:r>
              <a:t>Complete core text processing</a:t>
            </a:r>
          </a:p>
          <a:p>
            <a:pPr>
              <a:spcAft>
                <a:spcPts val="600"/>
              </a:spcAft>
              <a:defRPr sz="1300">
                <a:solidFill>
                  <a:srgbClr val="1E293B"/>
                </a:solidFill>
              </a:defRPr>
            </a:pPr>
            <a:r>
              <a:t>Initial valency lexicon release</a:t>
            </a:r>
          </a:p>
          <a:p>
            <a:pPr>
              <a:spcAft>
                <a:spcPts val="600"/>
              </a:spcAft>
              <a:defRPr sz="1300">
                <a:solidFill>
                  <a:srgbClr val="1E293B"/>
                </a:solidFill>
              </a:defRPr>
            </a:pPr>
            <a:r>
              <a:t>Publication of research findings</a:t>
            </a:r>
          </a:p>
          <a:p>
            <a:pPr>
              <a:spcAft>
                <a:spcPts val="600"/>
              </a:spcAft>
              <a:defRPr sz="1300">
                <a:solidFill>
                  <a:srgbClr val="1E293B"/>
                </a:solidFill>
              </a:defRPr>
            </a:pPr>
            <a:r>
              <a:t>Platform beta launch</a:t>
            </a:r>
          </a:p>
          <a:p>
            <a:pPr>
              <a:spcAft>
                <a:spcPts val="600"/>
              </a:spcAft>
              <a:defRPr sz="1300">
                <a:solidFill>
                  <a:srgbClr val="1E293B"/>
                </a:solidFill>
              </a:defRPr>
            </a:pPr>
            <a:r>
              <a:t>Corpus expansion</a:t>
            </a:r>
          </a:p>
          <a:p>
            <a:pPr>
              <a:spcAft>
                <a:spcPts val="600"/>
              </a:spcAft>
              <a:defRPr sz="1300">
                <a:solidFill>
                  <a:srgbClr val="1E293B"/>
                </a:solidFill>
              </a:defRPr>
            </a:pPr>
            <a:r>
              <a:t>Enhanced computational tools</a:t>
            </a:r>
          </a:p>
          <a:p>
            <a:pPr>
              <a:spcAft>
                <a:spcPts val="600"/>
              </a:spcAft>
              <a:defRPr sz="1300">
                <a:solidFill>
                  <a:srgbClr val="1E293B"/>
                </a:solidFill>
              </a:defRPr>
            </a:pPr>
            <a:r>
              <a:t>Broader community engagement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Project Team and Expertise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Multidisciplinary Team:</a:t>
            </a:r>
          </a:p>
          <a:p>
            <a:pPr>
              <a:spcAft>
                <a:spcPts val="600"/>
              </a:spcAft>
              <a:defRPr sz="1300">
                <a:solidFill>
                  <a:srgbClr val="1E293B"/>
                </a:solidFill>
              </a:defRPr>
            </a:pPr>
            <a:r>
              <a:t>Historical linguists</a:t>
            </a:r>
          </a:p>
          <a:p>
            <a:pPr>
              <a:spcAft>
                <a:spcPts val="600"/>
              </a:spcAft>
              <a:defRPr sz="1300">
                <a:solidFill>
                  <a:srgbClr val="1E293B"/>
                </a:solidFill>
              </a:defRPr>
            </a:pPr>
            <a:r>
              <a:t>Classical philologists</a:t>
            </a:r>
          </a:p>
          <a:p>
            <a:pPr>
              <a:spcAft>
                <a:spcPts val="600"/>
              </a:spcAft>
              <a:defRPr sz="1300">
                <a:solidFill>
                  <a:srgbClr val="1E293B"/>
                </a:solidFill>
              </a:defRPr>
            </a:pPr>
            <a:r>
              <a:t>Computational linguists</a:t>
            </a:r>
          </a:p>
          <a:p>
            <a:pPr>
              <a:spcAft>
                <a:spcPts val="600"/>
              </a:spcAft>
              <a:defRPr sz="1300">
                <a:solidFill>
                  <a:srgbClr val="1E293B"/>
                </a:solidFill>
              </a:defRPr>
            </a:pPr>
            <a:r>
              <a:t>Software developers</a:t>
            </a:r>
          </a:p>
          <a:p>
            <a:pPr>
              <a:spcAft>
                <a:spcPts val="600"/>
              </a:spcAft>
              <a:defRPr sz="1300">
                <a:solidFill>
                  <a:srgbClr val="1E293B"/>
                </a:solidFill>
              </a:defRPr>
            </a:pPr>
            <a:r>
              <a:t>Research assistants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Funding and Support</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Hellenic Foundation for Research &amp; Innovation (H.F.R.I.):</a:t>
            </a:r>
          </a:p>
          <a:p>
            <a:pPr>
              <a:spcAft>
                <a:spcPts val="600"/>
              </a:spcAft>
              <a:defRPr sz="1300">
                <a:solidFill>
                  <a:srgbClr val="1E293B"/>
                </a:solidFill>
              </a:defRPr>
            </a:pPr>
            <a:r>
              <a:t>ELIDEK Excellencegrant program</a:t>
            </a:r>
          </a:p>
          <a:p>
            <a:pPr>
              <a:spcAft>
                <a:spcPts val="600"/>
              </a:spcAft>
              <a:defRPr sz="1300">
                <a:solidFill>
                  <a:srgbClr val="1E293B"/>
                </a:solidFill>
              </a:defRPr>
            </a:pPr>
            <a:r>
              <a:t>2024-2025funding period</a:t>
            </a:r>
          </a:p>
          <a:p>
            <a:pPr>
              <a:spcAft>
                <a:spcPts val="600"/>
              </a:spcAft>
              <a:defRPr sz="1300">
                <a:solidFill>
                  <a:srgbClr val="1E293B"/>
                </a:solidFill>
              </a:defRPr>
            </a:pPr>
            <a:r>
              <a:t>Competitivenational grant</a:t>
            </a:r>
          </a:p>
          <a:p>
            <a:pPr>
              <a:spcAft>
                <a:spcPts val="600"/>
              </a:spcAft>
              <a:defRPr sz="1300">
                <a:solidFill>
                  <a:srgbClr val="1E293B"/>
                </a:solidFill>
              </a:defRPr>
            </a:pPr>
            <a:r>
              <a:t>Recognition of projectsignificance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Broader Impact: Digital Humanities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Contribution to Field:</a:t>
            </a:r>
          </a:p>
          <a:p>
            <a:pPr>
              <a:spcAft>
                <a:spcPts val="600"/>
              </a:spcAft>
              <a:defRPr sz="1300">
                <a:solidFill>
                  <a:srgbClr val="1E293B"/>
                </a:solidFill>
              </a:defRPr>
            </a:pPr>
            <a:r>
              <a:t>Model forlarge-scalehistorical corpus projects</a:t>
            </a:r>
          </a:p>
          <a:p>
            <a:pPr>
              <a:spcAft>
                <a:spcPts val="600"/>
              </a:spcAft>
              <a:defRPr sz="1300">
                <a:solidFill>
                  <a:srgbClr val="1E293B"/>
                </a:solidFill>
              </a:defRPr>
            </a:pPr>
            <a:r>
              <a:t>Integration oftraditionalanddigitalmethods</a:t>
            </a:r>
          </a:p>
          <a:p>
            <a:pPr>
              <a:spcAft>
                <a:spcPts val="600"/>
              </a:spcAft>
              <a:defRPr sz="1300">
                <a:solidFill>
                  <a:srgbClr val="1E293B"/>
                </a:solidFill>
              </a:defRPr>
            </a:pPr>
            <a:r>
              <a:t>Sustainableinfrastructure design</a:t>
            </a:r>
          </a:p>
          <a:p>
            <a:pPr>
              <a:spcAft>
                <a:spcPts val="600"/>
              </a:spcAft>
              <a:defRPr sz="1300">
                <a:solidFill>
                  <a:srgbClr val="1E293B"/>
                </a:solidFill>
              </a:defRPr>
            </a:pPr>
            <a:r>
              <a:t>Replicablemethodology</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Question: What are the main takeaways from this presentation?</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Summary points:</a:t>
            </a:r>
          </a:p>
          <a:p>
            <a:pPr>
              <a:spcAft>
                <a:spcPts val="600"/>
              </a:spcAft>
              <a:defRPr sz="1300">
                <a:solidFill>
                  <a:srgbClr val="1E293B"/>
                </a:solidFill>
              </a:defRPr>
            </a:pPr>
            <a:r>
              <a:t>What is the scope?</a:t>
            </a:r>
          </a:p>
          <a:p>
            <a:pPr>
              <a:spcAft>
                <a:spcPts val="600"/>
              </a:spcAft>
              <a:defRPr sz="1300">
                <a:solidFill>
                  <a:srgbClr val="1E293B"/>
                </a:solidFill>
              </a:defRPr>
            </a:pPr>
            <a:r>
              <a:t>What is the methodology?</a:t>
            </a:r>
          </a:p>
          <a:p>
            <a:pPr>
              <a:spcAft>
                <a:spcPts val="600"/>
              </a:spcAft>
              <a:defRPr sz="1300">
                <a:solidFill>
                  <a:srgbClr val="1E293B"/>
                </a:solidFill>
              </a:defRPr>
            </a:pPr>
            <a:r>
              <a:t>What is the significance?</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Key Takeaways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338 textsacross3000+ yearsMultiple languagesand translation traditionsPhilology + Computation= powerful methodologyValencyas lens for understanding language changeOpen accessresource for global research community</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Theoretical Significance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Why This Matters:</a:t>
            </a:r>
          </a:p>
          <a:p>
            <a:pPr>
              <a:spcAft>
                <a:spcPts val="600"/>
              </a:spcAft>
              <a:defRPr sz="1300">
                <a:solidFill>
                  <a:srgbClr val="1E293B"/>
                </a:solidFill>
              </a:defRPr>
            </a:pPr>
            <a:r>
              <a:t>Understandingmechanismsof language change</a:t>
            </a:r>
          </a:p>
          <a:p>
            <a:pPr>
              <a:spcAft>
                <a:spcPts val="600"/>
              </a:spcAft>
              <a:defRPr sz="1300">
                <a:solidFill>
                  <a:srgbClr val="1E293B"/>
                </a:solidFill>
              </a:defRPr>
            </a:pPr>
            <a:r>
              <a:t>Documentinglong-termsyntactic evolution</a:t>
            </a:r>
          </a:p>
          <a:p>
            <a:pPr>
              <a:spcAft>
                <a:spcPts val="600"/>
              </a:spcAft>
              <a:defRPr sz="1300">
                <a:solidFill>
                  <a:srgbClr val="1E293B"/>
                </a:solidFill>
              </a:defRPr>
            </a:pPr>
            <a:r>
              <a:t>Revealingcontact effectsin written language</a:t>
            </a:r>
          </a:p>
          <a:p>
            <a:pPr>
              <a:spcAft>
                <a:spcPts val="600"/>
              </a:spcAft>
              <a:defRPr sz="1300">
                <a:solidFill>
                  <a:srgbClr val="1E293B"/>
                </a:solidFill>
              </a:defRPr>
            </a:pPr>
            <a:r>
              <a:t>Buildingempirical foundationfor diachronic theory</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Practical Applications Beyond Academia</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Real-World Uses:</a:t>
            </a:r>
          </a:p>
          <a:p>
            <a:pPr>
              <a:spcAft>
                <a:spcPts val="600"/>
              </a:spcAft>
              <a:defRPr sz="1300">
                <a:solidFill>
                  <a:srgbClr val="1E293B"/>
                </a:solidFill>
              </a:defRPr>
            </a:pPr>
            <a:r>
              <a:t>Translation technology(machine translation of historical texts)</a:t>
            </a:r>
          </a:p>
          <a:p>
            <a:pPr>
              <a:spcAft>
                <a:spcPts val="600"/>
              </a:spcAft>
              <a:defRPr sz="1300">
                <a:solidFill>
                  <a:srgbClr val="1E293B"/>
                </a:solidFill>
              </a:defRPr>
            </a:pPr>
            <a:r>
              <a:t>Language learningresources</a:t>
            </a:r>
          </a:p>
          <a:p>
            <a:pPr>
              <a:spcAft>
                <a:spcPts val="600"/>
              </a:spcAft>
              <a:defRPr sz="1300">
                <a:solidFill>
                  <a:srgbClr val="1E293B"/>
                </a:solidFill>
              </a:defRPr>
            </a:pPr>
            <a:r>
              <a:t>Cultural heritagepreservation</a:t>
            </a:r>
          </a:p>
          <a:p>
            <a:pPr>
              <a:spcAft>
                <a:spcPts val="600"/>
              </a:spcAft>
              <a:defRPr sz="1300">
                <a:solidFill>
                  <a:srgbClr val="1E293B"/>
                </a:solidFill>
              </a:defRPr>
            </a:pPr>
            <a:r>
              <a:t>Digital archiveinfrastructure</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Vision for the Future</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Long-Term Goals:</a:t>
            </a:r>
          </a:p>
          <a:p>
            <a:pPr>
              <a:spcAft>
                <a:spcPts val="600"/>
              </a:spcAft>
              <a:defRPr sz="1300">
                <a:solidFill>
                  <a:srgbClr val="1E293B"/>
                </a:solidFill>
              </a:defRPr>
            </a:pPr>
            <a:r>
              <a:t>Become thereference corpusfor diachronic Greek</a:t>
            </a:r>
          </a:p>
          <a:p>
            <a:pPr>
              <a:spcAft>
                <a:spcPts val="600"/>
              </a:spcAft>
              <a:defRPr sz="1300">
                <a:solidFill>
                  <a:srgbClr val="1E293B"/>
                </a:solidFill>
              </a:defRPr>
            </a:pPr>
            <a:r>
              <a:t>Expand to includemore languages</a:t>
            </a:r>
          </a:p>
          <a:p>
            <a:pPr>
              <a:spcAft>
                <a:spcPts val="600"/>
              </a:spcAft>
              <a:defRPr sz="1300">
                <a:solidFill>
                  <a:srgbClr val="1E293B"/>
                </a:solidFill>
              </a:defRPr>
            </a:pPr>
            <a:r>
              <a:t>Developadvanced computational tools</a:t>
            </a:r>
          </a:p>
          <a:p>
            <a:pPr>
              <a:spcAft>
                <a:spcPts val="600"/>
              </a:spcAft>
              <a:defRPr sz="1300">
                <a:solidFill>
                  <a:srgbClr val="1E293B"/>
                </a:solidFill>
              </a:defRPr>
            </a:pPr>
            <a:r>
              <a:t>Fosterinternational collaboration</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How to Get Involved</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For Researchers:</a:t>
            </a:r>
          </a:p>
          <a:p>
            <a:pPr>
              <a:spcAft>
                <a:spcPts val="1000"/>
              </a:spcAft>
              <a:defRPr sz="1400">
                <a:solidFill>
                  <a:srgbClr val="1E293B"/>
                </a:solidFill>
              </a:defRPr>
            </a:pPr>
            <a:r>
              <a:t>For Students:</a:t>
            </a:r>
          </a:p>
          <a:p>
            <a:pPr>
              <a:spcAft>
                <a:spcPts val="600"/>
              </a:spcAft>
              <a:defRPr sz="1300">
                <a:solidFill>
                  <a:srgbClr val="1E293B"/>
                </a:solidFill>
              </a:defRPr>
            </a:pPr>
            <a:r>
              <a:t>Access the corpus (upon release)</a:t>
            </a:r>
          </a:p>
          <a:p>
            <a:pPr>
              <a:spcAft>
                <a:spcPts val="600"/>
              </a:spcAft>
              <a:defRPr sz="1300">
                <a:solidFill>
                  <a:srgbClr val="1E293B"/>
                </a:solidFill>
              </a:defRPr>
            </a:pPr>
            <a:r>
              <a:t>Contribute annotations</a:t>
            </a:r>
          </a:p>
          <a:p>
            <a:pPr>
              <a:spcAft>
                <a:spcPts val="600"/>
              </a:spcAft>
              <a:defRPr sz="1300">
                <a:solidFill>
                  <a:srgbClr val="1E293B"/>
                </a:solidFill>
              </a:defRPr>
            </a:pPr>
            <a:r>
              <a:t>Propose collaborative projects</a:t>
            </a:r>
          </a:p>
          <a:p>
            <a:pPr>
              <a:spcAft>
                <a:spcPts val="600"/>
              </a:spcAft>
              <a:defRPr sz="1300">
                <a:solidFill>
                  <a:srgbClr val="1E293B"/>
                </a:solidFill>
              </a:defRPr>
            </a:pPr>
            <a:r>
              <a:t>Cite and build upon the work</a:t>
            </a:r>
          </a:p>
          <a:p>
            <a:pPr>
              <a:spcAft>
                <a:spcPts val="600"/>
              </a:spcAft>
              <a:defRPr sz="1300">
                <a:solidFill>
                  <a:srgbClr val="1E293B"/>
                </a:solidFill>
              </a:defRPr>
            </a:pPr>
            <a:r>
              <a:t>Use for thesis research</a:t>
            </a:r>
          </a:p>
          <a:p>
            <a:pPr>
              <a:spcAft>
                <a:spcPts val="600"/>
              </a:spcAft>
              <a:defRPr sz="1300">
                <a:solidFill>
                  <a:srgbClr val="1E293B"/>
                </a:solidFill>
              </a:defRPr>
            </a:pPr>
            <a:r>
              <a:t>Participate in training workshops</a:t>
            </a:r>
          </a:p>
          <a:p>
            <a:pPr>
              <a:spcAft>
                <a:spcPts val="600"/>
              </a:spcAft>
              <a:defRPr sz="1300">
                <a:solidFill>
                  <a:srgbClr val="1E293B"/>
                </a:solidFill>
              </a:defRPr>
            </a:pPr>
            <a:r>
              <a:t>Explore teaching materials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Contact and Resources</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Project Website:[Coming soon]Principal Investigator:Nikolaos LavidasInstitution:University of AthensFunding:H.F.R.I. - ELIDEK Excellence Grant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square">
            <a:spAutoFit/>
          </a:bodyPr>
          <a:lstStyle/>
          <a:p>
            <a:pPr algn="l">
              <a:defRPr sz="2800" b="1">
                <a:solidFill>
                  <a:srgbClr val="2A5298"/>
                </a:solidFill>
              </a:defRPr>
            </a:pPr>
            <a:r>
              <a:t>Thank You!</a:t>
            </a:r>
          </a:p>
        </p:txBody>
      </p:sp>
      <p:sp>
        <p:nvSpPr>
          <p:cNvPr id="3" name="TextBox 2"/>
          <p:cNvSpPr txBox="1"/>
          <p:nvPr/>
        </p:nvSpPr>
        <p:spPr>
          <a:xfrm>
            <a:off x="640080" y="1371600"/>
            <a:ext cx="7863840" cy="5212080"/>
          </a:xfrm>
          <a:prstGeom prst="rect">
            <a:avLst/>
          </a:prstGeom>
          <a:noFill/>
        </p:spPr>
        <p:txBody>
          <a:bodyPr wrap="square">
            <a:spAutoFit/>
          </a:bodyPr>
          <a:lstStyle/>
          <a:p/>
          <a:p>
            <a:pPr>
              <a:spcAft>
                <a:spcPts val="1000"/>
              </a:spcAft>
              <a:defRPr sz="1400">
                <a:solidFill>
                  <a:srgbClr val="1E293B"/>
                </a:solidFill>
              </a:defRPr>
            </a:pPr>
            <a:r>
              <a:t>Questions &amp; Discussion</a:t>
            </a:r>
          </a:p>
          <a:p>
            <a:pPr>
              <a:spcAft>
                <a:spcPts val="1000"/>
              </a:spcAft>
              <a:defRPr sz="1400">
                <a:solidFill>
                  <a:srgbClr val="1E293B"/>
                </a:solidFill>
              </a:defRPr>
            </a:pPr>
            <a:r>
              <a:t>The Textual Foundation and Computational Architecture of the CVL-CDSAML Corpus</a:t>
            </a:r>
          </a:p>
          <a:p>
            <a:pPr>
              <a:spcAft>
                <a:spcPts val="1000"/>
              </a:spcAft>
              <a:defRPr sz="1400">
                <a:solidFill>
                  <a:srgbClr val="1E293B"/>
                </a:solidFill>
              </a:defRPr>
            </a:pPr>
            <a:r>
              <a:t>Building bridges between past and present, philology and computation</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24 - Ορθογώνιο"/>
          <p:cNvSpPr/>
          <p:nvPr/>
        </p:nvSpPr>
        <p:spPr>
          <a:xfrm>
            <a:off x="467544" y="2636912"/>
            <a:ext cx="8247842" cy="1386738"/>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lIns="82058" tIns="41029" rIns="82058" bIns="41029" rtlCol="0" anchor="ctr"/>
          <a:lstStyle/>
          <a:p>
            <a:pPr algn="ctr"/>
            <a:endParaRPr lang="el-GR"/>
          </a:p>
        </p:txBody>
      </p:sp>
      <p:pic>
        <p:nvPicPr>
          <p:cNvPr id="11" name="Picture 2"/>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sp>
        <p:nvSpPr>
          <p:cNvPr id="10" name="object 10"/>
          <p:cNvSpPr txBox="1"/>
          <p:nvPr/>
        </p:nvSpPr>
        <p:spPr>
          <a:xfrm>
            <a:off x="8802946" y="6541930"/>
            <a:ext cx="209337" cy="141064"/>
          </a:xfrm>
          <a:prstGeom prst="rect">
            <a:avLst/>
          </a:prstGeom>
        </p:spPr>
        <p:txBody>
          <a:bodyPr vert="horz" wrap="square" lIns="0" tIns="0" rIns="0" bIns="0" rtlCol="0">
            <a:spAutoFit/>
          </a:bodyPr>
          <a:lstStyle/>
          <a:p>
            <a:pPr>
              <a:lnSpc>
                <a:spcPts val="1105"/>
              </a:lnSpc>
            </a:pPr>
            <a:r>
              <a:rPr sz="1000" dirty="0">
                <a:solidFill>
                  <a:srgbClr val="666666"/>
                </a:solidFill>
                <a:latin typeface="Arial"/>
                <a:cs typeface="Arial"/>
              </a:rPr>
              <a:t>1</a:t>
            </a:r>
          </a:p>
        </p:txBody>
      </p:sp>
      <p:pic>
        <p:nvPicPr>
          <p:cNvPr id="12" name="Picture 2"/>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13" name="Picture 2"/>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14" name="Picture 2"/>
          <p:cNvPicPr>
            <a:picLocks noChangeAspect="1" noChangeArrowheads="1"/>
          </p:cNvPicPr>
          <p:nvPr/>
        </p:nvPicPr>
        <p:blipFill>
          <a:blip r:embed="rId3" cstate="print"/>
          <a:srcRect l="79983" t="35089" b="26317"/>
          <a:stretch>
            <a:fillRect/>
          </a:stretch>
        </p:blipFill>
        <p:spPr bwMode="auto">
          <a:xfrm>
            <a:off x="0" y="6580676"/>
            <a:ext cx="838678" cy="277324"/>
          </a:xfrm>
          <a:prstGeom prst="rect">
            <a:avLst/>
          </a:prstGeom>
          <a:noFill/>
          <a:ln w="9525">
            <a:noFill/>
            <a:miter lim="800000"/>
            <a:headEnd/>
            <a:tailEnd/>
          </a:ln>
          <a:effectLst/>
        </p:spPr>
      </p:pic>
      <p:pic>
        <p:nvPicPr>
          <p:cNvPr id="15" name="Picture 2"/>
          <p:cNvPicPr>
            <a:picLocks noChangeAspect="1" noChangeArrowheads="1"/>
          </p:cNvPicPr>
          <p:nvPr/>
        </p:nvPicPr>
        <p:blipFill>
          <a:blip r:embed="rId3" cstate="print"/>
          <a:srcRect t="35089" b="26317"/>
          <a:stretch>
            <a:fillRect/>
          </a:stretch>
        </p:blipFill>
        <p:spPr bwMode="auto">
          <a:xfrm>
            <a:off x="805269" y="6580676"/>
            <a:ext cx="4189802" cy="277324"/>
          </a:xfrm>
          <a:prstGeom prst="rect">
            <a:avLst/>
          </a:prstGeom>
          <a:noFill/>
          <a:ln w="9525">
            <a:noFill/>
            <a:miter lim="800000"/>
            <a:headEnd/>
            <a:tailEnd/>
          </a:ln>
          <a:effectLst/>
        </p:spPr>
      </p:pic>
      <p:pic>
        <p:nvPicPr>
          <p:cNvPr id="16" name="Picture 2"/>
          <p:cNvPicPr>
            <a:picLocks noChangeAspect="1" noChangeArrowheads="1"/>
          </p:cNvPicPr>
          <p:nvPr/>
        </p:nvPicPr>
        <p:blipFill>
          <a:blip r:embed="rId3" cstate="print"/>
          <a:srcRect t="35089" b="26317"/>
          <a:stretch>
            <a:fillRect/>
          </a:stretch>
        </p:blipFill>
        <p:spPr bwMode="auto">
          <a:xfrm>
            <a:off x="4954198" y="6580676"/>
            <a:ext cx="4189802" cy="277324"/>
          </a:xfrm>
          <a:prstGeom prst="rect">
            <a:avLst/>
          </a:prstGeom>
          <a:noFill/>
          <a:ln w="9525">
            <a:noFill/>
            <a:miter lim="800000"/>
            <a:headEnd/>
            <a:tailEnd/>
          </a:ln>
          <a:effectLst/>
        </p:spPr>
      </p:pic>
      <p:pic>
        <p:nvPicPr>
          <p:cNvPr id="17" name="Picture 20">
            <a:extLst>
              <a:ext uri="{FF2B5EF4-FFF2-40B4-BE49-F238E27FC236}">
                <a16:creationId xmlns="" xmlns:a16="http://schemas.microsoft.com/office/drawing/2014/main" id="{C036CFC2-9293-069F-3105-3D61D46CF040}"/>
              </a:ext>
            </a:extLst>
          </p:cNvPr>
          <p:cNvPicPr>
            <a:picLocks noChangeAspect="1"/>
          </p:cNvPicPr>
          <p:nvPr/>
        </p:nvPicPr>
        <p:blipFill>
          <a:blip r:embed="rId4" cstate="print"/>
          <a:srcRect l="13017" t="17613" r="11784" b="20018"/>
          <a:stretch>
            <a:fillRect/>
          </a:stretch>
        </p:blipFill>
        <p:spPr>
          <a:xfrm>
            <a:off x="155833" y="5004838"/>
            <a:ext cx="2255572" cy="1390159"/>
          </a:xfrm>
          <a:prstGeom prst="rect">
            <a:avLst/>
          </a:prstGeom>
        </p:spPr>
      </p:pic>
      <p:pic>
        <p:nvPicPr>
          <p:cNvPr id="19" name="Picture 19">
            <a:extLst>
              <a:ext uri="{FF2B5EF4-FFF2-40B4-BE49-F238E27FC236}">
                <a16:creationId xmlns="" xmlns:a16="http://schemas.microsoft.com/office/drawing/2014/main" id="{7C89A168-6743-9A61-F835-63209EF794F3}"/>
              </a:ext>
            </a:extLst>
          </p:cNvPr>
          <p:cNvPicPr>
            <a:picLocks noChangeAspect="1"/>
          </p:cNvPicPr>
          <p:nvPr/>
        </p:nvPicPr>
        <p:blipFill>
          <a:blip r:embed="rId5" cstate="print"/>
          <a:stretch>
            <a:fillRect/>
          </a:stretch>
        </p:blipFill>
        <p:spPr>
          <a:xfrm>
            <a:off x="6640740" y="4941805"/>
            <a:ext cx="2503261" cy="1121370"/>
          </a:xfrm>
          <a:prstGeom prst="rect">
            <a:avLst/>
          </a:prstGeom>
        </p:spPr>
      </p:pic>
      <p:pic>
        <p:nvPicPr>
          <p:cNvPr id="20" name="Picture 18">
            <a:extLst>
              <a:ext uri="{FF2B5EF4-FFF2-40B4-BE49-F238E27FC236}">
                <a16:creationId xmlns="" xmlns:a16="http://schemas.microsoft.com/office/drawing/2014/main" id="{CAA4284B-BCC7-0B28-CA56-D5E1DB4A2978}"/>
              </a:ext>
            </a:extLst>
          </p:cNvPr>
          <p:cNvPicPr>
            <a:picLocks noChangeAspect="1"/>
          </p:cNvPicPr>
          <p:nvPr/>
        </p:nvPicPr>
        <p:blipFill>
          <a:blip r:embed="rId6" cstate="print"/>
          <a:stretch>
            <a:fillRect/>
          </a:stretch>
        </p:blipFill>
        <p:spPr>
          <a:xfrm>
            <a:off x="7039858" y="5824274"/>
            <a:ext cx="1754787" cy="598773"/>
          </a:xfrm>
          <a:prstGeom prst="rect">
            <a:avLst/>
          </a:prstGeom>
        </p:spPr>
      </p:pic>
      <p:sp>
        <p:nvSpPr>
          <p:cNvPr id="21" name="object 16"/>
          <p:cNvSpPr txBox="1"/>
          <p:nvPr/>
        </p:nvSpPr>
        <p:spPr>
          <a:xfrm>
            <a:off x="2123728" y="6021288"/>
            <a:ext cx="5258818" cy="305769"/>
          </a:xfrm>
          <a:prstGeom prst="rect">
            <a:avLst/>
          </a:prstGeom>
        </p:spPr>
        <p:txBody>
          <a:bodyPr vert="horz" wrap="square" lIns="0" tIns="28492" rIns="0" bIns="0" rtlCol="0">
            <a:spAutoFit/>
          </a:bodyPr>
          <a:lstStyle/>
          <a:p>
            <a:pPr algn="ctr">
              <a:lnSpc>
                <a:spcPct val="100000"/>
              </a:lnSpc>
            </a:pPr>
            <a:r>
              <a:rPr b="1" i="1" dirty="0">
                <a:solidFill>
                  <a:schemeClr val="accent1">
                    <a:lumMod val="75000"/>
                  </a:schemeClr>
                </a:solidFill>
                <a:latin typeface="Calibri" panose="020F0502020204030204" pitchFamily="34" charset="0"/>
                <a:cs typeface="Calibri" panose="020F0502020204030204" pitchFamily="34" charset="0"/>
              </a:rPr>
              <a:t>Acknowledgments:</a:t>
            </a:r>
            <a:r>
              <a:rPr b="1" i="1" spc="76" dirty="0">
                <a:solidFill>
                  <a:schemeClr val="accent1">
                    <a:lumMod val="75000"/>
                  </a:schemeClr>
                </a:solidFill>
                <a:latin typeface="Calibri" panose="020F0502020204030204" pitchFamily="34" charset="0"/>
                <a:cs typeface="Calibri" panose="020F0502020204030204" pitchFamily="34" charset="0"/>
              </a:rPr>
              <a:t> </a:t>
            </a:r>
            <a:r>
              <a:rPr b="1" i="1" dirty="0">
                <a:solidFill>
                  <a:schemeClr val="accent1">
                    <a:lumMod val="75000"/>
                  </a:schemeClr>
                </a:solidFill>
                <a:latin typeface="Calibri" panose="020F0502020204030204" pitchFamily="34" charset="0"/>
                <a:cs typeface="Calibri" panose="020F0502020204030204" pitchFamily="34" charset="0"/>
              </a:rPr>
              <a:t>H.F.R.I.</a:t>
            </a:r>
            <a:r>
              <a:rPr b="1" i="1" spc="81" dirty="0">
                <a:solidFill>
                  <a:schemeClr val="accent1">
                    <a:lumMod val="75000"/>
                  </a:schemeClr>
                </a:solidFill>
                <a:latin typeface="Calibri" panose="020F0502020204030204" pitchFamily="34" charset="0"/>
                <a:cs typeface="Calibri" panose="020F0502020204030204" pitchFamily="34" charset="0"/>
              </a:rPr>
              <a:t> </a:t>
            </a:r>
            <a:r>
              <a:rPr b="1" i="1" dirty="0">
                <a:solidFill>
                  <a:schemeClr val="accent1">
                    <a:lumMod val="75000"/>
                  </a:schemeClr>
                </a:solidFill>
                <a:latin typeface="Calibri" panose="020F0502020204030204" pitchFamily="34" charset="0"/>
                <a:cs typeface="Calibri" panose="020F0502020204030204" pitchFamily="34" charset="0"/>
              </a:rPr>
              <a:t>Project</a:t>
            </a:r>
            <a:r>
              <a:rPr b="1" i="1" spc="81" dirty="0">
                <a:solidFill>
                  <a:schemeClr val="accent1">
                    <a:lumMod val="75000"/>
                  </a:schemeClr>
                </a:solidFill>
                <a:latin typeface="Calibri" panose="020F0502020204030204" pitchFamily="34" charset="0"/>
                <a:cs typeface="Calibri" panose="020F0502020204030204" pitchFamily="34" charset="0"/>
              </a:rPr>
              <a:t> </a:t>
            </a:r>
            <a:r>
              <a:rPr b="1" i="1" dirty="0">
                <a:solidFill>
                  <a:schemeClr val="accent1">
                    <a:lumMod val="75000"/>
                  </a:schemeClr>
                </a:solidFill>
                <a:latin typeface="Calibri" panose="020F0502020204030204" pitchFamily="34" charset="0"/>
                <a:cs typeface="Calibri" panose="020F0502020204030204" pitchFamily="34" charset="0"/>
              </a:rPr>
              <a:t>Number:</a:t>
            </a:r>
            <a:r>
              <a:rPr b="1" i="1" spc="81" dirty="0">
                <a:solidFill>
                  <a:schemeClr val="accent1">
                    <a:lumMod val="75000"/>
                  </a:schemeClr>
                </a:solidFill>
                <a:latin typeface="Calibri" panose="020F0502020204030204" pitchFamily="34" charset="0"/>
                <a:cs typeface="Calibri" panose="020F0502020204030204" pitchFamily="34" charset="0"/>
              </a:rPr>
              <a:t> </a:t>
            </a:r>
            <a:r>
              <a:rPr b="1" i="1" spc="-9" dirty="0">
                <a:solidFill>
                  <a:schemeClr val="accent1">
                    <a:lumMod val="75000"/>
                  </a:schemeClr>
                </a:solidFill>
                <a:latin typeface="Calibri" panose="020F0502020204030204" pitchFamily="34" charset="0"/>
                <a:cs typeface="Calibri" panose="020F0502020204030204" pitchFamily="34" charset="0"/>
              </a:rPr>
              <a:t>15284</a:t>
            </a:r>
            <a:endParaRPr b="1" dirty="0">
              <a:solidFill>
                <a:schemeClr val="accent1">
                  <a:lumMod val="75000"/>
                </a:schemeClr>
              </a:solidFill>
              <a:latin typeface="Calibri" panose="020F0502020204030204" pitchFamily="34" charset="0"/>
              <a:cs typeface="Calibri" panose="020F0502020204030204" pitchFamily="34" charset="0"/>
            </a:endParaRPr>
          </a:p>
        </p:txBody>
      </p:sp>
      <p:sp>
        <p:nvSpPr>
          <p:cNvPr id="22" name="object 11"/>
          <p:cNvSpPr txBox="1"/>
          <p:nvPr/>
        </p:nvSpPr>
        <p:spPr>
          <a:xfrm>
            <a:off x="490344" y="2771953"/>
            <a:ext cx="2590800" cy="1070915"/>
          </a:xfrm>
          <a:prstGeom prst="rect">
            <a:avLst/>
          </a:prstGeom>
        </p:spPr>
        <p:txBody>
          <a:bodyPr vert="horz" wrap="square" lIns="0" tIns="28492" rIns="0" bIns="0" rtlCol="0">
            <a:spAutoFit/>
          </a:bodyPr>
          <a:lstStyle/>
          <a:p>
            <a:pPr algn="ctr">
              <a:spcBef>
                <a:spcPts val="224"/>
              </a:spcBef>
            </a:pPr>
            <a:r>
              <a:rPr b="1" dirty="0">
                <a:latin typeface="Calibri" panose="020F0502020204030204" pitchFamily="34" charset="0"/>
                <a:cs typeface="Calibri" panose="020F0502020204030204" pitchFamily="34" charset="0"/>
              </a:rPr>
              <a:t>Nikolaos</a:t>
            </a:r>
            <a:r>
              <a:rPr b="1" spc="99" dirty="0">
                <a:latin typeface="Calibri" panose="020F0502020204030204" pitchFamily="34" charset="0"/>
                <a:cs typeface="Calibri" panose="020F0502020204030204" pitchFamily="34" charset="0"/>
              </a:rPr>
              <a:t> </a:t>
            </a:r>
            <a:r>
              <a:rPr b="1" spc="-9" dirty="0">
                <a:latin typeface="Calibri" panose="020F0502020204030204" pitchFamily="34" charset="0"/>
                <a:cs typeface="Calibri" panose="020F0502020204030204" pitchFamily="34" charset="0"/>
              </a:rPr>
              <a:t>Lavidas</a:t>
            </a:r>
            <a:endParaRPr dirty="0">
              <a:latin typeface="Calibri" panose="020F0502020204030204" pitchFamily="34" charset="0"/>
              <a:cs typeface="Calibri" panose="020F0502020204030204" pitchFamily="34" charset="0"/>
            </a:endParaRPr>
          </a:p>
          <a:p>
            <a:pPr marL="10827" marR="4559" algn="ctr">
              <a:lnSpc>
                <a:spcPct val="112500"/>
              </a:lnSpc>
            </a:pPr>
            <a:r>
              <a:rPr sz="1400" dirty="0">
                <a:latin typeface="Calibri" panose="020F0502020204030204" pitchFamily="34" charset="0"/>
                <a:cs typeface="Calibri" panose="020F0502020204030204" pitchFamily="34" charset="0"/>
              </a:rPr>
              <a:t>National</a:t>
            </a:r>
            <a:r>
              <a:rPr sz="1400" spc="76"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and</a:t>
            </a:r>
            <a:r>
              <a:rPr sz="1400" spc="76"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Kapodistrian</a:t>
            </a:r>
            <a:r>
              <a:rPr sz="1400" spc="76" dirty="0">
                <a:latin typeface="Calibri" panose="020F0502020204030204" pitchFamily="34" charset="0"/>
                <a:cs typeface="Calibri" panose="020F0502020204030204" pitchFamily="34" charset="0"/>
              </a:rPr>
              <a:t> </a:t>
            </a:r>
            <a:endParaRPr lang="en-GB" sz="1400" spc="76" dirty="0">
              <a:latin typeface="Calibri" panose="020F0502020204030204" pitchFamily="34" charset="0"/>
              <a:cs typeface="Calibri" panose="020F0502020204030204" pitchFamily="34" charset="0"/>
            </a:endParaRPr>
          </a:p>
          <a:p>
            <a:pPr marL="10827" marR="4559" algn="ctr">
              <a:lnSpc>
                <a:spcPct val="112500"/>
              </a:lnSpc>
            </a:pPr>
            <a:r>
              <a:rPr sz="1400" dirty="0">
                <a:latin typeface="Calibri" panose="020F0502020204030204" pitchFamily="34" charset="0"/>
                <a:cs typeface="Calibri" panose="020F0502020204030204" pitchFamily="34" charset="0"/>
              </a:rPr>
              <a:t>University</a:t>
            </a:r>
            <a:r>
              <a:rPr sz="1400" spc="81"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of</a:t>
            </a:r>
            <a:r>
              <a:rPr sz="1400" spc="76" dirty="0">
                <a:latin typeface="Calibri" panose="020F0502020204030204" pitchFamily="34" charset="0"/>
                <a:cs typeface="Calibri" panose="020F0502020204030204" pitchFamily="34" charset="0"/>
              </a:rPr>
              <a:t> </a:t>
            </a:r>
            <a:r>
              <a:rPr sz="1400" spc="-9" dirty="0">
                <a:latin typeface="Calibri" panose="020F0502020204030204" pitchFamily="34" charset="0"/>
                <a:cs typeface="Calibri" panose="020F0502020204030204" pitchFamily="34" charset="0"/>
              </a:rPr>
              <a:t>Athens </a:t>
            </a:r>
            <a:endParaRPr lang="en-GB" sz="1400" spc="-9" dirty="0">
              <a:latin typeface="Calibri" panose="020F0502020204030204" pitchFamily="34" charset="0"/>
              <a:cs typeface="Calibri" panose="020F0502020204030204" pitchFamily="34" charset="0"/>
            </a:endParaRPr>
          </a:p>
          <a:p>
            <a:pPr marL="10827" marR="4559" algn="ctr">
              <a:lnSpc>
                <a:spcPct val="112500"/>
              </a:lnSpc>
            </a:pPr>
            <a:r>
              <a:rPr sz="1400" spc="-9" dirty="0">
                <a:latin typeface="Calibri" panose="020F0502020204030204" pitchFamily="34" charset="0"/>
                <a:cs typeface="Calibri" panose="020F0502020204030204" pitchFamily="34" charset="0"/>
                <a:hlinkClick r:id="rId7"/>
              </a:rPr>
              <a:t>nlavidas@enl.uoa.gr</a:t>
            </a:r>
            <a:endParaRPr sz="1400" dirty="0">
              <a:latin typeface="Calibri" panose="020F0502020204030204" pitchFamily="34" charset="0"/>
              <a:cs typeface="Calibri" panose="020F0502020204030204" pitchFamily="34" charset="0"/>
            </a:endParaRPr>
          </a:p>
        </p:txBody>
      </p:sp>
      <p:sp>
        <p:nvSpPr>
          <p:cNvPr id="23" name="object 13"/>
          <p:cNvSpPr txBox="1"/>
          <p:nvPr/>
        </p:nvSpPr>
        <p:spPr>
          <a:xfrm>
            <a:off x="3347864" y="2708920"/>
            <a:ext cx="2590800" cy="1315661"/>
          </a:xfrm>
          <a:prstGeom prst="rect">
            <a:avLst/>
          </a:prstGeom>
        </p:spPr>
        <p:txBody>
          <a:bodyPr vert="horz" wrap="square" lIns="0" tIns="28492" rIns="0" bIns="0" rtlCol="0">
            <a:spAutoFit/>
          </a:bodyPr>
          <a:lstStyle/>
          <a:p>
            <a:pPr marL="11397" marR="4559" algn="ctr">
              <a:lnSpc>
                <a:spcPct val="112500"/>
              </a:lnSpc>
            </a:pPr>
            <a:r>
              <a:rPr lang="en-US" b="1" spc="-9" dirty="0" err="1">
                <a:latin typeface="Calibri" panose="020F0502020204030204" pitchFamily="34" charset="0"/>
                <a:cs typeface="Calibri" panose="020F0502020204030204" pitchFamily="34" charset="0"/>
              </a:rPr>
              <a:t>Eleni</a:t>
            </a:r>
            <a:r>
              <a:rPr lang="en-US" b="1" spc="-9" dirty="0">
                <a:latin typeface="Calibri" panose="020F0502020204030204" pitchFamily="34" charset="0"/>
                <a:cs typeface="Calibri" panose="020F0502020204030204" pitchFamily="34" charset="0"/>
              </a:rPr>
              <a:t> </a:t>
            </a:r>
            <a:r>
              <a:rPr lang="en-US" b="1" spc="-9" dirty="0" err="1">
                <a:latin typeface="Calibri" panose="020F0502020204030204" pitchFamily="34" charset="0"/>
                <a:cs typeface="Calibri" panose="020F0502020204030204" pitchFamily="34" charset="0"/>
              </a:rPr>
              <a:t>Plakoutsi</a:t>
            </a:r>
            <a:endParaRPr lang="en-US" b="1" spc="-9" dirty="0">
              <a:latin typeface="Calibri" panose="020F0502020204030204" pitchFamily="34" charset="0"/>
              <a:cs typeface="Calibri" panose="020F0502020204030204" pitchFamily="34" charset="0"/>
            </a:endParaRPr>
          </a:p>
          <a:p>
            <a:pPr marL="11397" marR="4559" algn="ctr">
              <a:lnSpc>
                <a:spcPct val="112500"/>
              </a:lnSpc>
            </a:pPr>
            <a:r>
              <a:rPr sz="1400" dirty="0">
                <a:latin typeface="Calibri" panose="020F0502020204030204" pitchFamily="34" charset="0"/>
                <a:cs typeface="Calibri" panose="020F0502020204030204" pitchFamily="34" charset="0"/>
              </a:rPr>
              <a:t>National</a:t>
            </a:r>
            <a:r>
              <a:rPr sz="1400" spc="76"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and</a:t>
            </a:r>
            <a:r>
              <a:rPr sz="1400" spc="76"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Kapodistrian</a:t>
            </a:r>
            <a:r>
              <a:rPr sz="1400" spc="76" dirty="0">
                <a:latin typeface="Calibri" panose="020F0502020204030204" pitchFamily="34" charset="0"/>
                <a:cs typeface="Calibri" panose="020F0502020204030204" pitchFamily="34" charset="0"/>
              </a:rPr>
              <a:t> </a:t>
            </a:r>
            <a:endParaRPr lang="en-GB" sz="1400" spc="76" dirty="0">
              <a:latin typeface="Calibri" panose="020F0502020204030204" pitchFamily="34" charset="0"/>
              <a:cs typeface="Calibri" panose="020F0502020204030204" pitchFamily="34" charset="0"/>
            </a:endParaRPr>
          </a:p>
          <a:p>
            <a:pPr marL="11397" marR="4559" algn="ctr">
              <a:lnSpc>
                <a:spcPct val="112500"/>
              </a:lnSpc>
            </a:pPr>
            <a:r>
              <a:rPr sz="1400" dirty="0">
                <a:latin typeface="Calibri" panose="020F0502020204030204" pitchFamily="34" charset="0"/>
                <a:cs typeface="Calibri" panose="020F0502020204030204" pitchFamily="34" charset="0"/>
              </a:rPr>
              <a:t>University</a:t>
            </a:r>
            <a:r>
              <a:rPr sz="1400" spc="81"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of</a:t>
            </a:r>
            <a:r>
              <a:rPr sz="1400" spc="76" dirty="0">
                <a:latin typeface="Calibri" panose="020F0502020204030204" pitchFamily="34" charset="0"/>
                <a:cs typeface="Calibri" panose="020F0502020204030204" pitchFamily="34" charset="0"/>
              </a:rPr>
              <a:t> </a:t>
            </a:r>
            <a:r>
              <a:rPr sz="1400" spc="-9" dirty="0">
                <a:latin typeface="Calibri" panose="020F0502020204030204" pitchFamily="34" charset="0"/>
                <a:cs typeface="Calibri" panose="020F0502020204030204" pitchFamily="34" charset="0"/>
              </a:rPr>
              <a:t>Athens </a:t>
            </a:r>
            <a:endParaRPr lang="en-US" sz="1400" spc="-9" dirty="0">
              <a:latin typeface="Calibri" panose="020F0502020204030204" pitchFamily="34" charset="0"/>
              <a:cs typeface="Calibri" panose="020F0502020204030204" pitchFamily="34" charset="0"/>
            </a:endParaRPr>
          </a:p>
          <a:p>
            <a:pPr marL="11397" marR="4559" algn="ctr">
              <a:lnSpc>
                <a:spcPct val="112500"/>
              </a:lnSpc>
            </a:pPr>
            <a:r>
              <a:rPr lang="en-US" sz="1400" spc="-9" dirty="0">
                <a:latin typeface="Calibri" panose="020F0502020204030204" pitchFamily="34" charset="0"/>
                <a:cs typeface="Calibri" panose="020F0502020204030204" pitchFamily="34" charset="0"/>
                <a:hlinkClick r:id="rId7"/>
              </a:rPr>
              <a:t>eleni2plak@gmail.com</a:t>
            </a:r>
            <a:endParaRPr lang="en-GB" sz="1400" spc="-9" dirty="0">
              <a:latin typeface="Calibri" panose="020F0502020204030204" pitchFamily="34" charset="0"/>
              <a:cs typeface="Calibri" panose="020F0502020204030204" pitchFamily="34" charset="0"/>
              <a:hlinkClick r:id="rId7"/>
            </a:endParaRPr>
          </a:p>
          <a:p>
            <a:pPr marL="11397" marR="4559" algn="ctr">
              <a:lnSpc>
                <a:spcPct val="112500"/>
              </a:lnSpc>
            </a:pPr>
            <a:endParaRPr sz="1400" dirty="0">
              <a:latin typeface="Calibri" panose="020F0502020204030204" pitchFamily="34" charset="0"/>
              <a:cs typeface="Calibri" panose="020F0502020204030204" pitchFamily="34" charset="0"/>
            </a:endParaRPr>
          </a:p>
        </p:txBody>
      </p:sp>
      <p:sp>
        <p:nvSpPr>
          <p:cNvPr id="24" name="object 15"/>
          <p:cNvSpPr txBox="1"/>
          <p:nvPr/>
        </p:nvSpPr>
        <p:spPr>
          <a:xfrm>
            <a:off x="6156176" y="2708920"/>
            <a:ext cx="2402915" cy="1263467"/>
          </a:xfrm>
          <a:prstGeom prst="rect">
            <a:avLst/>
          </a:prstGeom>
          <a:solidFill>
            <a:schemeClr val="bg1"/>
          </a:solidFill>
        </p:spPr>
        <p:txBody>
          <a:bodyPr vert="horz" wrap="square" lIns="0" tIns="28492" rIns="0" bIns="0" rtlCol="0">
            <a:spAutoFit/>
          </a:bodyPr>
          <a:lstStyle/>
          <a:p>
            <a:pPr marL="11397" marR="4559" algn="ctr">
              <a:lnSpc>
                <a:spcPct val="112500"/>
              </a:lnSpc>
            </a:pPr>
            <a:r>
              <a:rPr lang="en-US" b="1" spc="-9" dirty="0">
                <a:latin typeface="Calibri" panose="020F0502020204030204" pitchFamily="34" charset="0"/>
                <a:cs typeface="Calibri" panose="020F0502020204030204" pitchFamily="34" charset="0"/>
              </a:rPr>
              <a:t>Anastasia </a:t>
            </a:r>
            <a:r>
              <a:rPr lang="en-US" b="1" spc="-9" dirty="0" err="1">
                <a:latin typeface="Calibri" panose="020F0502020204030204" pitchFamily="34" charset="0"/>
                <a:cs typeface="Calibri" panose="020F0502020204030204" pitchFamily="34" charset="0"/>
              </a:rPr>
              <a:t>Tsiropina</a:t>
            </a:r>
            <a:endParaRPr lang="en-US" b="1" spc="-9" dirty="0">
              <a:latin typeface="Calibri" panose="020F0502020204030204" pitchFamily="34" charset="0"/>
              <a:cs typeface="Calibri" panose="020F0502020204030204" pitchFamily="34" charset="0"/>
            </a:endParaRPr>
          </a:p>
          <a:p>
            <a:pPr marL="11397" marR="4559" algn="ctr">
              <a:lnSpc>
                <a:spcPct val="112500"/>
              </a:lnSpc>
            </a:pPr>
            <a:r>
              <a:rPr sz="1400" dirty="0">
                <a:latin typeface="Calibri" panose="020F0502020204030204" pitchFamily="34" charset="0"/>
                <a:cs typeface="Calibri" panose="020F0502020204030204" pitchFamily="34" charset="0"/>
              </a:rPr>
              <a:t>National</a:t>
            </a:r>
            <a:r>
              <a:rPr sz="1400" spc="76"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and</a:t>
            </a:r>
            <a:r>
              <a:rPr sz="1400" spc="76"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Kapodistrian</a:t>
            </a:r>
            <a:r>
              <a:rPr sz="1400" spc="76" dirty="0">
                <a:latin typeface="Calibri" panose="020F0502020204030204" pitchFamily="34" charset="0"/>
                <a:cs typeface="Calibri" panose="020F0502020204030204" pitchFamily="34" charset="0"/>
              </a:rPr>
              <a:t> </a:t>
            </a:r>
            <a:endParaRPr lang="en-GB" sz="1400" spc="76" dirty="0">
              <a:latin typeface="Calibri" panose="020F0502020204030204" pitchFamily="34" charset="0"/>
              <a:cs typeface="Calibri" panose="020F0502020204030204" pitchFamily="34" charset="0"/>
            </a:endParaRPr>
          </a:p>
          <a:p>
            <a:pPr marL="11397" marR="4559" algn="ctr">
              <a:lnSpc>
                <a:spcPct val="112500"/>
              </a:lnSpc>
            </a:pPr>
            <a:r>
              <a:rPr sz="1400" dirty="0">
                <a:latin typeface="Calibri" panose="020F0502020204030204" pitchFamily="34" charset="0"/>
                <a:cs typeface="Calibri" panose="020F0502020204030204" pitchFamily="34" charset="0"/>
              </a:rPr>
              <a:t>University</a:t>
            </a:r>
            <a:r>
              <a:rPr sz="1400" spc="81" dirty="0">
                <a:latin typeface="Calibri" panose="020F0502020204030204" pitchFamily="34" charset="0"/>
                <a:cs typeface="Calibri" panose="020F0502020204030204" pitchFamily="34" charset="0"/>
              </a:rPr>
              <a:t> </a:t>
            </a:r>
            <a:r>
              <a:rPr sz="1400" dirty="0">
                <a:latin typeface="Calibri" panose="020F0502020204030204" pitchFamily="34" charset="0"/>
                <a:cs typeface="Calibri" panose="020F0502020204030204" pitchFamily="34" charset="0"/>
              </a:rPr>
              <a:t>of</a:t>
            </a:r>
            <a:r>
              <a:rPr sz="1400" spc="76" dirty="0">
                <a:latin typeface="Calibri" panose="020F0502020204030204" pitchFamily="34" charset="0"/>
                <a:cs typeface="Calibri" panose="020F0502020204030204" pitchFamily="34" charset="0"/>
              </a:rPr>
              <a:t> </a:t>
            </a:r>
            <a:r>
              <a:rPr sz="1400" spc="-9" dirty="0">
                <a:latin typeface="Calibri" panose="020F0502020204030204" pitchFamily="34" charset="0"/>
                <a:cs typeface="Calibri" panose="020F0502020204030204" pitchFamily="34" charset="0"/>
              </a:rPr>
              <a:t>Athens </a:t>
            </a:r>
            <a:endParaRPr lang="en-US" sz="1400" dirty="0"/>
          </a:p>
          <a:p>
            <a:pPr marL="11397" marR="4559" algn="ctr">
              <a:lnSpc>
                <a:spcPct val="112500"/>
              </a:lnSpc>
            </a:pPr>
            <a:r>
              <a:rPr lang="en-US" sz="1400" spc="-9" dirty="0">
                <a:latin typeface="Calibri" panose="020F0502020204030204" pitchFamily="34" charset="0"/>
                <a:cs typeface="Calibri" panose="020F0502020204030204" pitchFamily="34" charset="0"/>
                <a:hlinkClick r:id="rId7"/>
              </a:rPr>
              <a:t>natasatsirop@gmail.com</a:t>
            </a:r>
          </a:p>
          <a:p>
            <a:pPr marL="11397" marR="4559" algn="ctr">
              <a:lnSpc>
                <a:spcPct val="112500"/>
              </a:lnSpc>
            </a:pPr>
            <a:endParaRPr sz="1100" dirty="0">
              <a:highlight>
                <a:srgbClr val="FFFF00"/>
              </a:highlight>
              <a:latin typeface="Calibri" panose="020F0502020204030204" pitchFamily="34" charset="0"/>
              <a:cs typeface="Calibri" panose="020F0502020204030204" pitchFamily="34" charset="0"/>
            </a:endParaRPr>
          </a:p>
        </p:txBody>
      </p:sp>
      <p:sp>
        <p:nvSpPr>
          <p:cNvPr id="26" name="25 - TextBox"/>
          <p:cNvSpPr txBox="1"/>
          <p:nvPr/>
        </p:nvSpPr>
        <p:spPr>
          <a:xfrm>
            <a:off x="755576" y="1700808"/>
            <a:ext cx="7920880" cy="646331"/>
          </a:xfrm>
          <a:prstGeom prst="rect">
            <a:avLst/>
          </a:prstGeom>
          <a:noFill/>
        </p:spPr>
        <p:txBody>
          <a:bodyPr wrap="square" rtlCol="0">
            <a:spAutoFit/>
          </a:bodyPr>
          <a:lstStyle/>
          <a:p>
            <a:pPr algn="ctr"/>
            <a:r>
              <a:rPr lang="en-US" b="1" dirty="0"/>
              <a:t>The evolution of </a:t>
            </a:r>
            <a:r>
              <a:rPr lang="en-US" b="1" dirty="0" err="1"/>
              <a:t>valency</a:t>
            </a:r>
            <a:r>
              <a:rPr lang="en-US" b="1" dirty="0"/>
              <a:t> over time: Digital pathways uncovering the grammatical structure of Indo-European languages.</a:t>
            </a:r>
            <a:endParaRPr lang="el-GR" dirty="0"/>
          </a:p>
        </p:txBody>
      </p:sp>
      <p:sp>
        <p:nvSpPr>
          <p:cNvPr id="27" name="26 - TextBox"/>
          <p:cNvSpPr txBox="1"/>
          <p:nvPr/>
        </p:nvSpPr>
        <p:spPr>
          <a:xfrm>
            <a:off x="1187624" y="980728"/>
            <a:ext cx="7338869" cy="523220"/>
          </a:xfrm>
          <a:prstGeom prst="rect">
            <a:avLst/>
          </a:prstGeom>
          <a:noFill/>
        </p:spPr>
        <p:txBody>
          <a:bodyPr wrap="none" rtlCol="0">
            <a:spAutoFit/>
          </a:bodyPr>
          <a:lstStyle/>
          <a:p>
            <a:r>
              <a:rPr lang="en-US" sz="2800" b="1" i="1" dirty="0"/>
              <a:t>Athens Digital </a:t>
            </a:r>
            <a:r>
              <a:rPr lang="en-US" sz="2800" b="1" i="1" dirty="0" err="1"/>
              <a:t>Glossa</a:t>
            </a:r>
            <a:r>
              <a:rPr lang="en-US" sz="2800" b="1" i="1" dirty="0"/>
              <a:t> </a:t>
            </a:r>
            <a:r>
              <a:rPr lang="en-US" sz="2800" b="1" i="1" dirty="0" err="1"/>
              <a:t>Chronos</a:t>
            </a:r>
            <a:r>
              <a:rPr lang="en-US" sz="2800" b="1" dirty="0"/>
              <a:t> (</a:t>
            </a:r>
            <a:r>
              <a:rPr lang="en-US" sz="2800" b="1" dirty="0" err="1"/>
              <a:t>AthDGC</a:t>
            </a:r>
            <a:r>
              <a:rPr lang="en-US" sz="2800" b="1" dirty="0"/>
              <a:t>) </a:t>
            </a:r>
            <a:endParaRPr lang="el-GR" sz="2800" b="1" dirty="0"/>
          </a:p>
        </p:txBody>
      </p:sp>
      <p:sp>
        <p:nvSpPr>
          <p:cNvPr id="28" name="27 - TextBox"/>
          <p:cNvSpPr txBox="1"/>
          <p:nvPr/>
        </p:nvSpPr>
        <p:spPr>
          <a:xfrm>
            <a:off x="1187624" y="4221088"/>
            <a:ext cx="6768752" cy="1908215"/>
          </a:xfrm>
          <a:prstGeom prst="rect">
            <a:avLst/>
          </a:prstGeom>
          <a:noFill/>
        </p:spPr>
        <p:txBody>
          <a:bodyPr wrap="square" rtlCol="0">
            <a:spAutoFit/>
          </a:bodyPr>
          <a:lstStyle/>
          <a:p>
            <a:pPr algn="ctr"/>
            <a:r>
              <a:rPr lang="en-US" sz="1600" b="1" dirty="0">
                <a:latin typeface="Calibri" pitchFamily="34" charset="0"/>
                <a:cs typeface="Calibri" pitchFamily="34" charset="0"/>
              </a:rPr>
              <a:t>The 25</a:t>
            </a:r>
            <a:r>
              <a:rPr lang="en-US" sz="1600" b="1" baseline="30000" dirty="0">
                <a:latin typeface="Calibri" pitchFamily="34" charset="0"/>
                <a:cs typeface="Calibri" pitchFamily="34" charset="0"/>
              </a:rPr>
              <a:t>th</a:t>
            </a:r>
            <a:r>
              <a:rPr lang="en-US" sz="1600" b="1" dirty="0">
                <a:latin typeface="Calibri" pitchFamily="34" charset="0"/>
                <a:cs typeface="Calibri" pitchFamily="34" charset="0"/>
              </a:rPr>
              <a:t> International Conference of the Department of Linguistics (CIDL25)</a:t>
            </a:r>
          </a:p>
          <a:p>
            <a:pPr algn="ctr"/>
            <a:r>
              <a:rPr lang="en-US" sz="1600" b="1" dirty="0">
                <a:latin typeface="Calibri" pitchFamily="34" charset="0"/>
                <a:cs typeface="Calibri" pitchFamily="34" charset="0"/>
              </a:rPr>
              <a:t> Linguistic Intersections: from Natural Language to Artificial Intelligence. </a:t>
            </a:r>
          </a:p>
          <a:p>
            <a:pPr algn="ctr"/>
            <a:endParaRPr lang="en-US" sz="1600" b="1" dirty="0">
              <a:latin typeface="Calibri" pitchFamily="34" charset="0"/>
              <a:cs typeface="Calibri" pitchFamily="34" charset="0"/>
            </a:endParaRPr>
          </a:p>
          <a:p>
            <a:pPr algn="ctr"/>
            <a:r>
              <a:rPr lang="en-US" sz="1600" b="1" dirty="0">
                <a:latin typeface="Calibri" pitchFamily="34" charset="0"/>
                <a:cs typeface="Calibri" pitchFamily="34" charset="0"/>
              </a:rPr>
              <a:t>21-22 November 2025</a:t>
            </a:r>
          </a:p>
          <a:p>
            <a:pPr algn="ctr"/>
            <a:r>
              <a:rPr lang="en-US" sz="1600" b="1" dirty="0">
                <a:latin typeface="Calibri" pitchFamily="34" charset="0"/>
                <a:cs typeface="Calibri" pitchFamily="34" charset="0"/>
              </a:rPr>
              <a:t>Bucharest, Romania</a:t>
            </a:r>
            <a:r>
              <a:rPr lang="en-US" b="1" dirty="0">
                <a:latin typeface="Calibri" pitchFamily="34" charset="0"/>
                <a:cs typeface="Calibri" pitchFamily="34" charset="0"/>
              </a:rPr>
              <a:t> </a:t>
            </a:r>
          </a:p>
          <a:p>
            <a:pPr algn="ctr"/>
            <a:endParaRPr lang="en-US" dirty="0">
              <a:latin typeface="Calibri" pitchFamily="34" charset="0"/>
              <a:cs typeface="Calibri" pitchFamily="34" charset="0"/>
            </a:endParaRPr>
          </a:p>
          <a:p>
            <a:endParaRPr lang="el-GR" dirty="0"/>
          </a:p>
        </p:txBody>
      </p:sp>
      <p:sp>
        <p:nvSpPr>
          <p:cNvPr id="2" name="Slide Number Placeholder 1">
            <a:extLst>
              <a:ext uri="{FF2B5EF4-FFF2-40B4-BE49-F238E27FC236}">
                <a16:creationId xmlns="" xmlns:a16="http://schemas.microsoft.com/office/drawing/2014/main" id="{1C8FACF5-3DAB-8F10-F1C7-D6F413AD4413}"/>
              </a:ext>
            </a:extLst>
          </p:cNvPr>
          <p:cNvSpPr>
            <a:spLocks noGrp="1"/>
          </p:cNvSpPr>
          <p:nvPr>
            <p:ph type="sldNum" sz="quarter" idx="12"/>
          </p:nvPr>
        </p:nvSpPr>
        <p:spPr/>
        <p:txBody>
          <a:bodyPr/>
          <a:lstStyle/>
          <a:p>
            <a:fld id="{084E6F96-DBA9-4966-8C10-B0B4DAA302D2}" type="slidenum">
              <a:rPr lang="el-GR" smtClean="0"/>
              <a:pPr/>
              <a:t>1</a:t>
            </a:fld>
            <a:endParaRPr lang="el-G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TextBox"/>
          <p:cNvSpPr txBox="1"/>
          <p:nvPr/>
        </p:nvSpPr>
        <p:spPr>
          <a:xfrm>
            <a:off x="3203848" y="692696"/>
            <a:ext cx="2880320" cy="461665"/>
          </a:xfrm>
          <a:prstGeom prst="rect">
            <a:avLst/>
          </a:prstGeom>
          <a:noFill/>
        </p:spPr>
        <p:txBody>
          <a:bodyPr wrap="square" rtlCol="0">
            <a:spAutoFit/>
          </a:bodyPr>
          <a:lstStyle/>
          <a:p>
            <a:pPr algn="ctr"/>
            <a:r>
              <a:rPr lang="en-US" sz="2400" b="1" dirty="0">
                <a:solidFill>
                  <a:schemeClr val="accent1">
                    <a:lumMod val="75000"/>
                  </a:schemeClr>
                </a:solidFill>
              </a:rPr>
              <a:t>Research Team</a:t>
            </a:r>
            <a:endParaRPr lang="el-GR" sz="2400" b="1" dirty="0">
              <a:solidFill>
                <a:schemeClr val="accent1">
                  <a:lumMod val="75000"/>
                </a:schemeClr>
              </a:solidFill>
            </a:endParaRPr>
          </a:p>
        </p:txBody>
      </p:sp>
      <p:sp>
        <p:nvSpPr>
          <p:cNvPr id="11" name="10 - TextBox"/>
          <p:cNvSpPr txBox="1"/>
          <p:nvPr/>
        </p:nvSpPr>
        <p:spPr>
          <a:xfrm>
            <a:off x="1835696" y="1484784"/>
            <a:ext cx="5832648" cy="4247317"/>
          </a:xfrm>
          <a:prstGeom prst="rect">
            <a:avLst/>
          </a:prstGeom>
          <a:noFill/>
        </p:spPr>
        <p:txBody>
          <a:bodyPr wrap="square" rtlCol="0">
            <a:spAutoFit/>
          </a:bodyPr>
          <a:lstStyle/>
          <a:p>
            <a:pPr algn="ctr"/>
            <a:r>
              <a:rPr lang="en-US" b="1" dirty="0"/>
              <a:t>Professor </a:t>
            </a:r>
            <a:r>
              <a:rPr lang="en-US" b="1" dirty="0" err="1"/>
              <a:t>Nikolaos</a:t>
            </a:r>
            <a:r>
              <a:rPr lang="en-US" b="1" dirty="0"/>
              <a:t> </a:t>
            </a:r>
            <a:r>
              <a:rPr lang="en-US" b="1" dirty="0" err="1"/>
              <a:t>Lavidas</a:t>
            </a:r>
            <a:r>
              <a:rPr lang="en-US" b="1" dirty="0"/>
              <a:t> (</a:t>
            </a:r>
            <a:r>
              <a:rPr lang="en-US" b="1" dirty="0">
                <a:solidFill>
                  <a:schemeClr val="accent1">
                    <a:lumMod val="75000"/>
                  </a:schemeClr>
                </a:solidFill>
              </a:rPr>
              <a:t>Principal Investigator</a:t>
            </a:r>
            <a:r>
              <a:rPr lang="en-US" b="1" dirty="0"/>
              <a:t>)</a:t>
            </a:r>
          </a:p>
          <a:p>
            <a:pPr algn="ctr"/>
            <a:endParaRPr lang="en-US" b="1" dirty="0"/>
          </a:p>
          <a:p>
            <a:pPr algn="ctr"/>
            <a:r>
              <a:rPr lang="en-US" b="1" dirty="0"/>
              <a:t>Professor Emeritus </a:t>
            </a:r>
            <a:r>
              <a:rPr lang="en-US" b="1" dirty="0" err="1"/>
              <a:t>Vasiliki</a:t>
            </a:r>
            <a:r>
              <a:rPr lang="en-US" b="1" dirty="0"/>
              <a:t> </a:t>
            </a:r>
            <a:r>
              <a:rPr lang="en-US" b="1" dirty="0" err="1"/>
              <a:t>Nikiforidou</a:t>
            </a:r>
            <a:endParaRPr lang="en-US" b="1" dirty="0"/>
          </a:p>
          <a:p>
            <a:pPr algn="ctr"/>
            <a:endParaRPr lang="en-US" b="1" dirty="0"/>
          </a:p>
          <a:p>
            <a:pPr algn="ctr"/>
            <a:r>
              <a:rPr lang="en-US" b="1" dirty="0" err="1"/>
              <a:t>Theodoros</a:t>
            </a:r>
            <a:r>
              <a:rPr lang="en-US" b="1" dirty="0"/>
              <a:t> </a:t>
            </a:r>
            <a:r>
              <a:rPr lang="en-US" b="1" dirty="0" err="1"/>
              <a:t>Michalareas</a:t>
            </a:r>
            <a:endParaRPr lang="en-US" b="1" dirty="0"/>
          </a:p>
          <a:p>
            <a:pPr algn="ctr"/>
            <a:endParaRPr lang="en-US" b="1" dirty="0"/>
          </a:p>
          <a:p>
            <a:pPr algn="ctr"/>
            <a:r>
              <a:rPr lang="en-US" b="1" dirty="0" err="1"/>
              <a:t>Vasiliki</a:t>
            </a:r>
            <a:r>
              <a:rPr lang="en-US" b="1" dirty="0"/>
              <a:t> </a:t>
            </a:r>
            <a:r>
              <a:rPr lang="en-US" b="1" dirty="0" err="1"/>
              <a:t>Geka</a:t>
            </a:r>
            <a:endParaRPr lang="en-US" b="1" dirty="0"/>
          </a:p>
          <a:p>
            <a:pPr algn="ctr"/>
            <a:endParaRPr lang="en-US" b="1" dirty="0"/>
          </a:p>
          <a:p>
            <a:pPr algn="ctr"/>
            <a:r>
              <a:rPr lang="en-US" b="1" dirty="0" err="1"/>
              <a:t>Vasilis</a:t>
            </a:r>
            <a:r>
              <a:rPr lang="en-US" b="1" dirty="0"/>
              <a:t> </a:t>
            </a:r>
            <a:r>
              <a:rPr lang="en-US" b="1" dirty="0" err="1"/>
              <a:t>Symeonidis</a:t>
            </a:r>
            <a:endParaRPr lang="en-US" b="1" dirty="0"/>
          </a:p>
          <a:p>
            <a:pPr algn="ctr"/>
            <a:endParaRPr lang="en-US" b="1" dirty="0"/>
          </a:p>
          <a:p>
            <a:pPr algn="ctr"/>
            <a:r>
              <a:rPr lang="en-US" b="1" dirty="0"/>
              <a:t>Sophia </a:t>
            </a:r>
            <a:r>
              <a:rPr lang="en-US" b="1" dirty="0" err="1"/>
              <a:t>Chionidi</a:t>
            </a:r>
            <a:endParaRPr lang="en-US" b="1" dirty="0"/>
          </a:p>
          <a:p>
            <a:pPr algn="ctr"/>
            <a:endParaRPr lang="en-US" b="1" dirty="0"/>
          </a:p>
          <a:p>
            <a:pPr algn="ctr"/>
            <a:r>
              <a:rPr lang="en-US" b="1" dirty="0" err="1"/>
              <a:t>Eleni</a:t>
            </a:r>
            <a:r>
              <a:rPr lang="en-US" b="1" dirty="0"/>
              <a:t> </a:t>
            </a:r>
            <a:r>
              <a:rPr lang="en-US" b="1" dirty="0" err="1"/>
              <a:t>Plakoutsi</a:t>
            </a:r>
            <a:endParaRPr lang="en-US" b="1" dirty="0"/>
          </a:p>
          <a:p>
            <a:pPr algn="ctr"/>
            <a:endParaRPr lang="en-US" b="1" dirty="0"/>
          </a:p>
          <a:p>
            <a:pPr algn="ctr"/>
            <a:r>
              <a:rPr lang="en-US" b="1" dirty="0"/>
              <a:t>Anastasia </a:t>
            </a:r>
            <a:r>
              <a:rPr lang="en-US" b="1" dirty="0" err="1"/>
              <a:t>Tsiropina</a:t>
            </a:r>
            <a:endParaRPr lang="en-US" b="1" dirty="0"/>
          </a:p>
        </p:txBody>
      </p:sp>
      <p:sp>
        <p:nvSpPr>
          <p:cNvPr id="2" name="Slide Number Placeholder 1">
            <a:extLst>
              <a:ext uri="{FF2B5EF4-FFF2-40B4-BE49-F238E27FC236}">
                <a16:creationId xmlns="" xmlns:a16="http://schemas.microsoft.com/office/drawing/2014/main" id="{62B5F3AC-0AD2-58AF-3C70-3560259DFFF3}"/>
              </a:ext>
            </a:extLst>
          </p:cNvPr>
          <p:cNvSpPr>
            <a:spLocks noGrp="1"/>
          </p:cNvSpPr>
          <p:nvPr>
            <p:ph type="sldNum" sz="quarter" idx="12"/>
          </p:nvPr>
        </p:nvSpPr>
        <p:spPr/>
        <p:txBody>
          <a:bodyPr/>
          <a:lstStyle/>
          <a:p>
            <a:fld id="{084E6F96-DBA9-4966-8C10-B0B4DAA302D2}" type="slidenum">
              <a:rPr lang="el-GR" smtClean="0"/>
              <a:pPr/>
              <a:t>2</a:t>
            </a:fld>
            <a:endParaRPr lang="el-G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1" name="10 - TextBox"/>
          <p:cNvSpPr txBox="1"/>
          <p:nvPr/>
        </p:nvSpPr>
        <p:spPr>
          <a:xfrm>
            <a:off x="2915816" y="980728"/>
            <a:ext cx="2836033" cy="523220"/>
          </a:xfrm>
          <a:prstGeom prst="rect">
            <a:avLst/>
          </a:prstGeom>
          <a:noFill/>
        </p:spPr>
        <p:txBody>
          <a:bodyPr wrap="none" rtlCol="0">
            <a:spAutoFit/>
          </a:bodyPr>
          <a:lstStyle/>
          <a:p>
            <a:r>
              <a:rPr lang="en-US" sz="2800" b="1" u="sng" dirty="0">
                <a:solidFill>
                  <a:schemeClr val="accent1">
                    <a:lumMod val="50000"/>
                  </a:schemeClr>
                </a:solidFill>
              </a:rPr>
              <a:t>Aim of </a:t>
            </a:r>
            <a:r>
              <a:rPr lang="en-US" sz="2800" b="1" u="sng" dirty="0" err="1">
                <a:solidFill>
                  <a:schemeClr val="accent1">
                    <a:lumMod val="50000"/>
                  </a:schemeClr>
                </a:solidFill>
              </a:rPr>
              <a:t>AthDGC</a:t>
            </a:r>
            <a:endParaRPr lang="en-US" sz="2800" b="1" u="sng" dirty="0">
              <a:solidFill>
                <a:schemeClr val="accent1">
                  <a:lumMod val="50000"/>
                </a:schemeClr>
              </a:solidFill>
            </a:endParaRPr>
          </a:p>
        </p:txBody>
      </p:sp>
      <p:sp>
        <p:nvSpPr>
          <p:cNvPr id="12" name="11 - Στρογγυλεμένο ορθογώνιο"/>
          <p:cNvSpPr/>
          <p:nvPr/>
        </p:nvSpPr>
        <p:spPr>
          <a:xfrm>
            <a:off x="179512" y="1988840"/>
            <a:ext cx="3779912" cy="324036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endParaRPr lang="en-US" dirty="0">
              <a:solidFill>
                <a:schemeClr val="tx1"/>
              </a:solidFill>
            </a:endParaRPr>
          </a:p>
          <a:p>
            <a:pPr marL="342900" indent="-342900" algn="ctr"/>
            <a:r>
              <a:rPr lang="en-US" dirty="0">
                <a:solidFill>
                  <a:schemeClr val="tx1"/>
                </a:solidFill>
              </a:rPr>
              <a:t>Creation of:</a:t>
            </a:r>
          </a:p>
          <a:p>
            <a:pPr marL="342900" indent="-342900" algn="ctr"/>
            <a:endParaRPr lang="en-US" dirty="0">
              <a:solidFill>
                <a:schemeClr val="tx1"/>
              </a:solidFill>
            </a:endParaRPr>
          </a:p>
          <a:p>
            <a:pPr marL="342900" indent="-342900">
              <a:buAutoNum type="alphaUcParenR"/>
            </a:pPr>
            <a:r>
              <a:rPr lang="en-US" dirty="0">
                <a:solidFill>
                  <a:schemeClr val="tx1"/>
                </a:solidFill>
              </a:rPr>
              <a:t>A parallel diachronic corpus of influential texts</a:t>
            </a:r>
          </a:p>
          <a:p>
            <a:pPr marL="342900" indent="-342900"/>
            <a:endParaRPr lang="en-US" dirty="0">
              <a:solidFill>
                <a:schemeClr val="tx1"/>
              </a:solidFill>
            </a:endParaRPr>
          </a:p>
          <a:p>
            <a:pPr marL="342900" indent="-342900"/>
            <a:r>
              <a:rPr lang="en-US" dirty="0">
                <a:solidFill>
                  <a:schemeClr val="tx1"/>
                </a:solidFill>
              </a:rPr>
              <a:t>B) A diachronic </a:t>
            </a:r>
            <a:r>
              <a:rPr lang="en-US" dirty="0" err="1">
                <a:solidFill>
                  <a:schemeClr val="tx1"/>
                </a:solidFill>
              </a:rPr>
              <a:t>Valency</a:t>
            </a:r>
            <a:r>
              <a:rPr lang="en-US" dirty="0">
                <a:solidFill>
                  <a:schemeClr val="tx1"/>
                </a:solidFill>
              </a:rPr>
              <a:t> Lexicon</a:t>
            </a:r>
          </a:p>
          <a:p>
            <a:pPr marL="342900" indent="-342900" algn="ctr">
              <a:buAutoNum type="alphaUcParenR"/>
            </a:pPr>
            <a:endParaRPr lang="el-GR" dirty="0">
              <a:solidFill>
                <a:schemeClr val="tx1"/>
              </a:solidFill>
            </a:endParaRPr>
          </a:p>
        </p:txBody>
      </p:sp>
      <p:sp>
        <p:nvSpPr>
          <p:cNvPr id="13" name="12 - Δεξιό βέλος"/>
          <p:cNvSpPr/>
          <p:nvPr/>
        </p:nvSpPr>
        <p:spPr>
          <a:xfrm>
            <a:off x="4067944" y="3356992"/>
            <a:ext cx="1440160" cy="576064"/>
          </a:xfrm>
          <a:prstGeom prst="rightArrow">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4" name="13 - Στρογγυλεμένο ορθογώνιο"/>
          <p:cNvSpPr/>
          <p:nvPr/>
        </p:nvSpPr>
        <p:spPr>
          <a:xfrm>
            <a:off x="5580112" y="1844824"/>
            <a:ext cx="3456384" cy="3456384"/>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r>
              <a:rPr lang="en-US" dirty="0">
                <a:solidFill>
                  <a:schemeClr val="tx1"/>
                </a:solidFill>
              </a:rPr>
              <a:t>Analysis of: </a:t>
            </a:r>
          </a:p>
          <a:p>
            <a:pPr marL="342900" indent="-342900" algn="ctr"/>
            <a:endParaRPr lang="en-US" dirty="0">
              <a:solidFill>
                <a:schemeClr val="tx1"/>
              </a:solidFill>
            </a:endParaRPr>
          </a:p>
          <a:p>
            <a:pPr marL="342900" indent="-342900">
              <a:buAutoNum type="alphaUcParenR"/>
            </a:pPr>
            <a:r>
              <a:rPr lang="en-US" dirty="0">
                <a:solidFill>
                  <a:schemeClr val="tx1"/>
                </a:solidFill>
              </a:rPr>
              <a:t>Valency</a:t>
            </a:r>
          </a:p>
          <a:p>
            <a:pPr marL="342900" indent="-342900"/>
            <a:endParaRPr lang="en-US" dirty="0">
              <a:solidFill>
                <a:schemeClr val="tx1"/>
              </a:solidFill>
            </a:endParaRPr>
          </a:p>
          <a:p>
            <a:pPr marL="342900" indent="-342900"/>
            <a:r>
              <a:rPr lang="en-US" dirty="0">
                <a:solidFill>
                  <a:schemeClr val="tx1"/>
                </a:solidFill>
              </a:rPr>
              <a:t>B) Language </a:t>
            </a:r>
            <a:r>
              <a:rPr lang="en-US" dirty="0" err="1">
                <a:solidFill>
                  <a:schemeClr val="tx1"/>
                </a:solidFill>
              </a:rPr>
              <a:t>diachrony</a:t>
            </a:r>
            <a:endParaRPr lang="en-US" dirty="0">
              <a:solidFill>
                <a:schemeClr val="tx1"/>
              </a:solidFill>
            </a:endParaRPr>
          </a:p>
          <a:p>
            <a:pPr marL="342900" indent="-342900"/>
            <a:endParaRPr lang="en-US" dirty="0">
              <a:solidFill>
                <a:schemeClr val="tx1"/>
              </a:solidFill>
            </a:endParaRPr>
          </a:p>
          <a:p>
            <a:pPr marL="342900" indent="-342900"/>
            <a:r>
              <a:rPr lang="en-US" dirty="0">
                <a:solidFill>
                  <a:schemeClr val="tx1"/>
                </a:solidFill>
              </a:rPr>
              <a:t>C) Written Language Contact</a:t>
            </a:r>
          </a:p>
        </p:txBody>
      </p:sp>
      <p:sp>
        <p:nvSpPr>
          <p:cNvPr id="2" name="Slide Number Placeholder 1">
            <a:extLst>
              <a:ext uri="{FF2B5EF4-FFF2-40B4-BE49-F238E27FC236}">
                <a16:creationId xmlns="" xmlns:a16="http://schemas.microsoft.com/office/drawing/2014/main" id="{B92F0721-2B95-5A09-EEC4-048562320BCA}"/>
              </a:ext>
            </a:extLst>
          </p:cNvPr>
          <p:cNvSpPr>
            <a:spLocks noGrp="1"/>
          </p:cNvSpPr>
          <p:nvPr>
            <p:ph type="sldNum" sz="quarter" idx="12"/>
          </p:nvPr>
        </p:nvSpPr>
        <p:spPr/>
        <p:txBody>
          <a:bodyPr/>
          <a:lstStyle/>
          <a:p>
            <a:fld id="{084E6F96-DBA9-4966-8C10-B0B4DAA302D2}" type="slidenum">
              <a:rPr lang="el-GR" smtClean="0"/>
              <a:pPr/>
              <a:t>3</a:t>
            </a:fld>
            <a:endParaRPr lang="el-G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1 - Τίτλος"/>
          <p:cNvSpPr>
            <a:spLocks noGrp="1"/>
          </p:cNvSpPr>
          <p:nvPr>
            <p:ph type="ctrTitle"/>
          </p:nvPr>
        </p:nvSpPr>
        <p:spPr/>
        <p:txBody>
          <a:bodyPr/>
          <a:lstStyle/>
          <a:p>
            <a:r>
              <a:rPr lang="en-US" dirty="0"/>
              <a:t>Theoretical Framework</a:t>
            </a:r>
            <a:endParaRPr lang="el-GR" dirty="0"/>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Ορθογώνιο"/>
          <p:cNvSpPr/>
          <p:nvPr/>
        </p:nvSpPr>
        <p:spPr>
          <a:xfrm>
            <a:off x="323528" y="764704"/>
            <a:ext cx="2876108" cy="461665"/>
          </a:xfrm>
          <a:prstGeom prst="rect">
            <a:avLst/>
          </a:prstGeom>
        </p:spPr>
        <p:txBody>
          <a:bodyPr wrap="none">
            <a:spAutoFit/>
          </a:bodyPr>
          <a:lstStyle/>
          <a:p>
            <a:r>
              <a:rPr lang="en-US" sz="2400" b="1" u="sng" dirty="0">
                <a:solidFill>
                  <a:schemeClr val="accent1">
                    <a:lumMod val="50000"/>
                  </a:schemeClr>
                </a:solidFill>
              </a:rPr>
              <a:t>Previous Research</a:t>
            </a:r>
            <a:endParaRPr lang="el-GR" sz="2400" b="1" u="sng" dirty="0">
              <a:solidFill>
                <a:schemeClr val="accent1">
                  <a:lumMod val="50000"/>
                </a:schemeClr>
              </a:solidFill>
            </a:endParaRPr>
          </a:p>
        </p:txBody>
      </p:sp>
      <p:sp>
        <p:nvSpPr>
          <p:cNvPr id="12" name="11 - TextBox"/>
          <p:cNvSpPr txBox="1"/>
          <p:nvPr/>
        </p:nvSpPr>
        <p:spPr>
          <a:xfrm>
            <a:off x="0" y="1268760"/>
            <a:ext cx="9144001" cy="5232202"/>
          </a:xfrm>
          <a:prstGeom prst="rect">
            <a:avLst/>
          </a:prstGeom>
          <a:noFill/>
        </p:spPr>
        <p:txBody>
          <a:bodyPr wrap="square" rtlCol="0">
            <a:spAutoFit/>
          </a:bodyPr>
          <a:lstStyle/>
          <a:p>
            <a:endParaRPr lang="en-US" dirty="0"/>
          </a:p>
          <a:p>
            <a:r>
              <a:rPr lang="en-US" dirty="0"/>
              <a:t>Corpus of original texts and their retranslations as an effective tool for the study of language </a:t>
            </a:r>
            <a:r>
              <a:rPr lang="en-US" dirty="0" err="1"/>
              <a:t>diachrony</a:t>
            </a:r>
            <a:r>
              <a:rPr lang="en-US" dirty="0"/>
              <a:t>, language change and contact. </a:t>
            </a:r>
          </a:p>
          <a:p>
            <a:pPr algn="r"/>
            <a:endParaRPr lang="en-US" sz="1400" dirty="0"/>
          </a:p>
          <a:p>
            <a:endParaRPr lang="en-US" dirty="0"/>
          </a:p>
          <a:p>
            <a:pPr>
              <a:buFont typeface="Wingdings" pitchFamily="2" charset="2"/>
              <a:buChar char="Ø"/>
            </a:pPr>
            <a:r>
              <a:rPr lang="en-US" b="1" dirty="0"/>
              <a:t>Digital corpus of texts:</a:t>
            </a:r>
            <a:endParaRPr lang="en-US" dirty="0"/>
          </a:p>
          <a:p>
            <a:r>
              <a:rPr lang="en-US" dirty="0"/>
              <a:t>e.g. </a:t>
            </a:r>
            <a:r>
              <a:rPr lang="en-US" i="1" dirty="0"/>
              <a:t>Pragmatic Resources in Old Indo-European Languages</a:t>
            </a:r>
            <a:r>
              <a:rPr lang="en-US" dirty="0"/>
              <a:t>-PROIEL </a:t>
            </a:r>
          </a:p>
          <a:p>
            <a:r>
              <a:rPr lang="en-US" dirty="0"/>
              <a:t>(University of Oslo) </a:t>
            </a:r>
          </a:p>
          <a:p>
            <a:pPr algn="r"/>
            <a:r>
              <a:rPr lang="en-US" sz="1400" dirty="0"/>
              <a:t>(</a:t>
            </a:r>
            <a:r>
              <a:rPr lang="en-US" sz="1400" dirty="0" err="1"/>
              <a:t>Haug</a:t>
            </a:r>
            <a:r>
              <a:rPr lang="en-US" sz="1400" dirty="0"/>
              <a:t> and </a:t>
            </a:r>
            <a:r>
              <a:rPr lang="en-US" sz="1400" dirty="0" err="1"/>
              <a:t>Jøhndal</a:t>
            </a:r>
            <a:r>
              <a:rPr lang="en-US" sz="1400" dirty="0"/>
              <a:t> 2008; </a:t>
            </a:r>
            <a:r>
              <a:rPr lang="en-US" sz="1400" dirty="0" err="1"/>
              <a:t>Eckoff</a:t>
            </a:r>
            <a:r>
              <a:rPr lang="en-US" sz="1400" dirty="0"/>
              <a:t> et al 2018)</a:t>
            </a:r>
          </a:p>
          <a:p>
            <a:endParaRPr lang="en-US" b="1" dirty="0">
              <a:highlight>
                <a:srgbClr val="FFFF00"/>
              </a:highlight>
            </a:endParaRPr>
          </a:p>
          <a:p>
            <a:pPr>
              <a:buFont typeface="Wingdings" pitchFamily="2" charset="2"/>
              <a:buChar char="Ø"/>
            </a:pPr>
            <a:r>
              <a:rPr lang="en-US" b="1" dirty="0"/>
              <a:t>Synchronic Valency Lexica:</a:t>
            </a:r>
          </a:p>
          <a:p>
            <a:r>
              <a:rPr lang="en-US" dirty="0"/>
              <a:t>e.g. </a:t>
            </a:r>
            <a:r>
              <a:rPr lang="en-US" dirty="0" err="1"/>
              <a:t>ValPaL</a:t>
            </a:r>
            <a:endParaRPr lang="en-US" sz="1400" dirty="0"/>
          </a:p>
          <a:p>
            <a:pPr algn="r"/>
            <a:r>
              <a:rPr lang="en-US" sz="1400" dirty="0"/>
              <a:t>(</a:t>
            </a:r>
            <a:r>
              <a:rPr lang="en-US" sz="1400" dirty="0" err="1"/>
              <a:t>Malchukov</a:t>
            </a:r>
            <a:r>
              <a:rPr lang="en-US" sz="1400" dirty="0"/>
              <a:t> and </a:t>
            </a:r>
            <a:r>
              <a:rPr lang="en-US" sz="1400" dirty="0" err="1"/>
              <a:t>Comrie</a:t>
            </a:r>
            <a:r>
              <a:rPr lang="en-US" sz="1400" dirty="0"/>
              <a:t> 2015)</a:t>
            </a:r>
            <a:endParaRPr lang="el-GR" sz="1400" dirty="0"/>
          </a:p>
          <a:p>
            <a:endParaRPr lang="en-US" b="1" dirty="0"/>
          </a:p>
          <a:p>
            <a:pPr>
              <a:buFont typeface="Wingdings" pitchFamily="2" charset="2"/>
              <a:buChar char="Ø"/>
            </a:pPr>
            <a:r>
              <a:rPr lang="en-US" b="1" dirty="0"/>
              <a:t>Historical or Crosslinguistic Valency Lexica: </a:t>
            </a:r>
          </a:p>
          <a:p>
            <a:r>
              <a:rPr lang="en-US" dirty="0"/>
              <a:t>e.g.</a:t>
            </a:r>
            <a:r>
              <a:rPr lang="it-IT" dirty="0"/>
              <a:t>HoDeL </a:t>
            </a:r>
            <a:r>
              <a:rPr lang="it-IT" sz="1400" dirty="0"/>
              <a:t>(Zanchi 2021)</a:t>
            </a:r>
          </a:p>
          <a:p>
            <a:r>
              <a:rPr lang="it-IT" dirty="0"/>
              <a:t>PaVeDa </a:t>
            </a:r>
            <a:r>
              <a:rPr lang="it-IT" sz="1400" dirty="0"/>
              <a:t>(Luraghi et al. 2024)</a:t>
            </a:r>
          </a:p>
          <a:p>
            <a:endParaRPr lang="en-US" dirty="0"/>
          </a:p>
          <a:p>
            <a:r>
              <a:rPr lang="it-IT" dirty="0"/>
              <a:t> </a:t>
            </a:r>
            <a:endParaRPr lang="el-GR" dirty="0"/>
          </a:p>
        </p:txBody>
      </p:sp>
      <p:sp>
        <p:nvSpPr>
          <p:cNvPr id="11" name="10 - TextBox"/>
          <p:cNvSpPr txBox="1"/>
          <p:nvPr/>
        </p:nvSpPr>
        <p:spPr>
          <a:xfrm>
            <a:off x="3491880" y="2132856"/>
            <a:ext cx="5652120" cy="307777"/>
          </a:xfrm>
          <a:prstGeom prst="rect">
            <a:avLst/>
          </a:prstGeom>
          <a:noFill/>
        </p:spPr>
        <p:txBody>
          <a:bodyPr wrap="square" rtlCol="0">
            <a:spAutoFit/>
          </a:bodyPr>
          <a:lstStyle/>
          <a:p>
            <a:pPr algn="ctr"/>
            <a:r>
              <a:rPr lang="en-US" sz="1400" dirty="0"/>
              <a:t>(</a:t>
            </a:r>
            <a:r>
              <a:rPr lang="en-US" sz="1400" dirty="0" err="1"/>
              <a:t>Lavidas</a:t>
            </a:r>
            <a:r>
              <a:rPr lang="en-US" sz="1400" dirty="0"/>
              <a:t> 2021; </a:t>
            </a:r>
            <a:r>
              <a:rPr lang="en-US" sz="1400" dirty="0" err="1"/>
              <a:t>Luraghi</a:t>
            </a:r>
            <a:r>
              <a:rPr lang="en-US" sz="1400" dirty="0"/>
              <a:t> &amp; </a:t>
            </a:r>
            <a:r>
              <a:rPr lang="en-US" sz="1400" dirty="0" err="1"/>
              <a:t>Sausa</a:t>
            </a:r>
            <a:r>
              <a:rPr lang="en-US" sz="1400" dirty="0"/>
              <a:t> 2016; </a:t>
            </a:r>
            <a:r>
              <a:rPr lang="en-US" sz="1400" dirty="0" err="1"/>
              <a:t>Sitaridou</a:t>
            </a:r>
            <a:r>
              <a:rPr lang="en-US" sz="1400" dirty="0"/>
              <a:t> et al 2005)</a:t>
            </a:r>
            <a:endParaRPr lang="el-GR" sz="1400" dirty="0"/>
          </a:p>
        </p:txBody>
      </p:sp>
      <p:sp>
        <p:nvSpPr>
          <p:cNvPr id="2" name="Slide Number Placeholder 1">
            <a:extLst>
              <a:ext uri="{FF2B5EF4-FFF2-40B4-BE49-F238E27FC236}">
                <a16:creationId xmlns="" xmlns:a16="http://schemas.microsoft.com/office/drawing/2014/main" id="{3D2C6391-C785-A0E8-6406-5E004EF1C3BE}"/>
              </a:ext>
            </a:extLst>
          </p:cNvPr>
          <p:cNvSpPr>
            <a:spLocks noGrp="1"/>
          </p:cNvSpPr>
          <p:nvPr>
            <p:ph type="sldNum" sz="quarter" idx="12"/>
          </p:nvPr>
        </p:nvSpPr>
        <p:spPr/>
        <p:txBody>
          <a:bodyPr/>
          <a:lstStyle/>
          <a:p>
            <a:fld id="{084E6F96-DBA9-4966-8C10-B0B4DAA302D2}" type="slidenum">
              <a:rPr lang="el-GR" smtClean="0"/>
              <a:pPr/>
              <a:t>5</a:t>
            </a:fld>
            <a:endParaRPr lang="el-G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2" name="11 - TextBox"/>
          <p:cNvSpPr txBox="1"/>
          <p:nvPr/>
        </p:nvSpPr>
        <p:spPr>
          <a:xfrm>
            <a:off x="323528" y="620688"/>
            <a:ext cx="3275256" cy="461665"/>
          </a:xfrm>
          <a:prstGeom prst="rect">
            <a:avLst/>
          </a:prstGeom>
          <a:noFill/>
        </p:spPr>
        <p:txBody>
          <a:bodyPr wrap="none" rtlCol="0">
            <a:spAutoFit/>
          </a:bodyPr>
          <a:lstStyle/>
          <a:p>
            <a:r>
              <a:rPr lang="en-US" sz="2400" b="1" u="sng" dirty="0">
                <a:solidFill>
                  <a:schemeClr val="accent1">
                    <a:lumMod val="50000"/>
                  </a:schemeClr>
                </a:solidFill>
              </a:rPr>
              <a:t>Research Framework</a:t>
            </a:r>
            <a:endParaRPr lang="el-GR" sz="2400" b="1" u="sng" dirty="0">
              <a:solidFill>
                <a:schemeClr val="accent1">
                  <a:lumMod val="50000"/>
                </a:schemeClr>
              </a:solidFill>
            </a:endParaRPr>
          </a:p>
        </p:txBody>
      </p:sp>
      <p:sp>
        <p:nvSpPr>
          <p:cNvPr id="13" name="12 - Ορθογώνιο"/>
          <p:cNvSpPr/>
          <p:nvPr/>
        </p:nvSpPr>
        <p:spPr>
          <a:xfrm>
            <a:off x="179512" y="1268760"/>
            <a:ext cx="8964488" cy="3139321"/>
          </a:xfrm>
          <a:prstGeom prst="rect">
            <a:avLst/>
          </a:prstGeom>
        </p:spPr>
        <p:txBody>
          <a:bodyPr wrap="square">
            <a:spAutoFit/>
          </a:bodyPr>
          <a:lstStyle/>
          <a:p>
            <a:pPr>
              <a:buFont typeface="Arial" pitchFamily="34" charset="0"/>
              <a:buChar char="•"/>
            </a:pPr>
            <a:endParaRPr lang="en-US" dirty="0"/>
          </a:p>
          <a:p>
            <a:pPr>
              <a:buFont typeface="Arial" pitchFamily="34" charset="0"/>
              <a:buChar char="•"/>
            </a:pPr>
            <a:r>
              <a:rPr lang="en-US" dirty="0"/>
              <a:t> </a:t>
            </a:r>
            <a:r>
              <a:rPr lang="en-US" b="1" dirty="0">
                <a:solidFill>
                  <a:schemeClr val="accent1">
                    <a:lumMod val="75000"/>
                  </a:schemeClr>
                </a:solidFill>
              </a:rPr>
              <a:t>Interdisciplinary approach</a:t>
            </a:r>
            <a:r>
              <a:rPr lang="en-US" dirty="0"/>
              <a:t>: Diachronic - Historical Linguistics, Translation Studies, Computational analysis.</a:t>
            </a:r>
          </a:p>
          <a:p>
            <a:endParaRPr lang="en-US" dirty="0"/>
          </a:p>
          <a:p>
            <a:endParaRPr lang="en-US" dirty="0"/>
          </a:p>
          <a:p>
            <a:pPr>
              <a:buFont typeface="Arial" pitchFamily="34" charset="0"/>
              <a:buChar char="•"/>
            </a:pPr>
            <a:endParaRPr lang="en-US" dirty="0"/>
          </a:p>
          <a:p>
            <a:pPr>
              <a:buFont typeface="Arial" pitchFamily="34" charset="0"/>
              <a:buChar char="•"/>
            </a:pPr>
            <a:r>
              <a:rPr lang="en-US" dirty="0"/>
              <a:t> Focus on </a:t>
            </a:r>
            <a:r>
              <a:rPr lang="en-US" b="1" dirty="0">
                <a:solidFill>
                  <a:schemeClr val="accent1">
                    <a:lumMod val="75000"/>
                  </a:schemeClr>
                </a:solidFill>
              </a:rPr>
              <a:t>transitivity</a:t>
            </a:r>
            <a:r>
              <a:rPr lang="en-US" dirty="0"/>
              <a:t>, </a:t>
            </a:r>
            <a:r>
              <a:rPr lang="en-US" b="1" dirty="0">
                <a:solidFill>
                  <a:schemeClr val="accent1">
                    <a:lumMod val="75000"/>
                  </a:schemeClr>
                </a:solidFill>
              </a:rPr>
              <a:t>semantic structure </a:t>
            </a:r>
            <a:r>
              <a:rPr lang="en-US" dirty="0"/>
              <a:t>and </a:t>
            </a:r>
            <a:r>
              <a:rPr lang="en-US" b="1" dirty="0" err="1">
                <a:solidFill>
                  <a:schemeClr val="accent1">
                    <a:lumMod val="75000"/>
                  </a:schemeClr>
                </a:solidFill>
              </a:rPr>
              <a:t>morphosyntactic</a:t>
            </a:r>
            <a:r>
              <a:rPr lang="en-US" b="1" dirty="0">
                <a:solidFill>
                  <a:schemeClr val="accent1">
                    <a:lumMod val="75000"/>
                  </a:schemeClr>
                </a:solidFill>
              </a:rPr>
              <a:t> change.</a:t>
            </a:r>
          </a:p>
          <a:p>
            <a:endParaRPr lang="en-US" b="1" dirty="0">
              <a:solidFill>
                <a:schemeClr val="accent1">
                  <a:lumMod val="75000"/>
                </a:schemeClr>
              </a:solidFill>
            </a:endParaRPr>
          </a:p>
          <a:p>
            <a:endParaRPr lang="en-US" b="1" dirty="0">
              <a:solidFill>
                <a:schemeClr val="accent1">
                  <a:lumMod val="75000"/>
                </a:schemeClr>
              </a:solidFill>
            </a:endParaRPr>
          </a:p>
          <a:p>
            <a:pPr>
              <a:buFont typeface="Arial" pitchFamily="34" charset="0"/>
              <a:buChar char="•"/>
            </a:pPr>
            <a:endParaRPr lang="en-US" dirty="0"/>
          </a:p>
          <a:p>
            <a:r>
              <a:rPr lang="en-US" dirty="0"/>
              <a:t> </a:t>
            </a:r>
          </a:p>
        </p:txBody>
      </p:sp>
      <p:sp>
        <p:nvSpPr>
          <p:cNvPr id="16" name="15 - TextBox"/>
          <p:cNvSpPr txBox="1"/>
          <p:nvPr/>
        </p:nvSpPr>
        <p:spPr>
          <a:xfrm>
            <a:off x="6876256" y="1916832"/>
            <a:ext cx="2146742" cy="523220"/>
          </a:xfrm>
          <a:prstGeom prst="rect">
            <a:avLst/>
          </a:prstGeom>
          <a:noFill/>
        </p:spPr>
        <p:txBody>
          <a:bodyPr wrap="none" rtlCol="0">
            <a:spAutoFit/>
          </a:bodyPr>
          <a:lstStyle/>
          <a:p>
            <a:r>
              <a:rPr lang="en-US" sz="1400" dirty="0"/>
              <a:t>(</a:t>
            </a:r>
            <a:r>
              <a:rPr lang="en-US" sz="1400" dirty="0" err="1"/>
              <a:t>Lavidas</a:t>
            </a:r>
            <a:r>
              <a:rPr lang="en-US" sz="1400" dirty="0"/>
              <a:t> &amp; </a:t>
            </a:r>
            <a:r>
              <a:rPr lang="en-US" sz="1400" dirty="0" err="1"/>
              <a:t>Haug</a:t>
            </a:r>
            <a:r>
              <a:rPr lang="en-US" sz="1400" dirty="0"/>
              <a:t> 2019)</a:t>
            </a:r>
          </a:p>
          <a:p>
            <a:endParaRPr lang="el-GR" sz="1400" dirty="0"/>
          </a:p>
        </p:txBody>
      </p:sp>
      <p:sp>
        <p:nvSpPr>
          <p:cNvPr id="18" name="17 - TextBox"/>
          <p:cNvSpPr txBox="1"/>
          <p:nvPr/>
        </p:nvSpPr>
        <p:spPr>
          <a:xfrm>
            <a:off x="6033853" y="3212976"/>
            <a:ext cx="3110147" cy="584775"/>
          </a:xfrm>
          <a:prstGeom prst="rect">
            <a:avLst/>
          </a:prstGeom>
          <a:noFill/>
        </p:spPr>
        <p:txBody>
          <a:bodyPr wrap="none" rtlCol="0">
            <a:spAutoFit/>
          </a:bodyPr>
          <a:lstStyle/>
          <a:p>
            <a:r>
              <a:rPr lang="en-US" sz="1400" dirty="0"/>
              <a:t>(</a:t>
            </a:r>
            <a:r>
              <a:rPr lang="en-US" sz="1400" dirty="0" err="1"/>
              <a:t>Lavidas</a:t>
            </a:r>
            <a:r>
              <a:rPr lang="en-US" sz="1400" dirty="0"/>
              <a:t>, 2009; Nikiforidou,1991)</a:t>
            </a:r>
            <a:endParaRPr lang="el-GR" sz="1400" dirty="0"/>
          </a:p>
          <a:p>
            <a:endParaRPr lang="el-GR" dirty="0"/>
          </a:p>
        </p:txBody>
      </p:sp>
      <p:sp>
        <p:nvSpPr>
          <p:cNvPr id="2" name="Slide Number Placeholder 1">
            <a:extLst>
              <a:ext uri="{FF2B5EF4-FFF2-40B4-BE49-F238E27FC236}">
                <a16:creationId xmlns="" xmlns:a16="http://schemas.microsoft.com/office/drawing/2014/main" id="{2CE01E22-B63A-90B9-E0AD-34BDCC0C2421}"/>
              </a:ext>
            </a:extLst>
          </p:cNvPr>
          <p:cNvSpPr>
            <a:spLocks noGrp="1"/>
          </p:cNvSpPr>
          <p:nvPr>
            <p:ph type="sldNum" sz="quarter" idx="12"/>
          </p:nvPr>
        </p:nvSpPr>
        <p:spPr/>
        <p:txBody>
          <a:bodyPr/>
          <a:lstStyle/>
          <a:p>
            <a:fld id="{084E6F96-DBA9-4966-8C10-B0B4DAA302D2}" type="slidenum">
              <a:rPr lang="el-GR" smtClean="0"/>
              <a:pPr/>
              <a:t>6</a:t>
            </a:fld>
            <a:endParaRPr lang="el-G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Στρογγυλεμένο ορθογώνιο"/>
          <p:cNvSpPr/>
          <p:nvPr/>
        </p:nvSpPr>
        <p:spPr>
          <a:xfrm>
            <a:off x="3275856" y="692696"/>
            <a:ext cx="2592288" cy="1224136"/>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Material</a:t>
            </a:r>
            <a:endParaRPr lang="el-GR" b="1" dirty="0">
              <a:solidFill>
                <a:schemeClr val="tx1"/>
              </a:solidFill>
            </a:endParaRPr>
          </a:p>
        </p:txBody>
      </p:sp>
      <p:sp>
        <p:nvSpPr>
          <p:cNvPr id="14" name="13 - Στρογγυλεμένο ορθογώνιο"/>
          <p:cNvSpPr/>
          <p:nvPr/>
        </p:nvSpPr>
        <p:spPr>
          <a:xfrm>
            <a:off x="6047656" y="2348880"/>
            <a:ext cx="3096344" cy="1512168"/>
          </a:xfrm>
          <a:prstGeom prst="roundRect">
            <a:avLst/>
          </a:prstGeom>
          <a:solidFill>
            <a:srgbClr val="F0DBD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PROIEL software and annotation tools</a:t>
            </a:r>
            <a:endParaRPr lang="el-GR" dirty="0">
              <a:solidFill>
                <a:schemeClr val="tx1"/>
              </a:solidFill>
            </a:endParaRPr>
          </a:p>
        </p:txBody>
      </p:sp>
      <p:sp>
        <p:nvSpPr>
          <p:cNvPr id="15" name="14 - Στρογγυλεμένο ορθογώνιο"/>
          <p:cNvSpPr/>
          <p:nvPr/>
        </p:nvSpPr>
        <p:spPr>
          <a:xfrm>
            <a:off x="107504" y="2348880"/>
            <a:ext cx="3096344" cy="1512168"/>
          </a:xfrm>
          <a:prstGeom prst="roundRect">
            <a:avLst/>
          </a:prstGeom>
          <a:solidFill>
            <a:srgbClr val="F0DBD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Influential texts</a:t>
            </a:r>
          </a:p>
          <a:p>
            <a:pPr algn="ctr"/>
            <a:r>
              <a:rPr lang="en-US" dirty="0">
                <a:solidFill>
                  <a:schemeClr val="tx1"/>
                </a:solidFill>
              </a:rPr>
              <a:t>(source texts and retranslations)</a:t>
            </a:r>
            <a:endParaRPr lang="el-GR" dirty="0">
              <a:solidFill>
                <a:schemeClr val="tx1"/>
              </a:solidFill>
            </a:endParaRPr>
          </a:p>
        </p:txBody>
      </p:sp>
      <p:cxnSp>
        <p:nvCxnSpPr>
          <p:cNvPr id="17" name="16 - Ευθύγραμμο βέλος σύνδεσης"/>
          <p:cNvCxnSpPr>
            <a:stCxn id="10" idx="1"/>
            <a:endCxn id="15" idx="0"/>
          </p:cNvCxnSpPr>
          <p:nvPr/>
        </p:nvCxnSpPr>
        <p:spPr>
          <a:xfrm flipH="1">
            <a:off x="1655676" y="1304764"/>
            <a:ext cx="1620180" cy="1044116"/>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18" name="17 - Ευθύγραμμο βέλος σύνδεσης"/>
          <p:cNvCxnSpPr/>
          <p:nvPr/>
        </p:nvCxnSpPr>
        <p:spPr>
          <a:xfrm>
            <a:off x="5868144" y="1268760"/>
            <a:ext cx="1728192" cy="108012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 xmlns:a16="http://schemas.microsoft.com/office/drawing/2014/main" id="{A155060A-C754-C49A-8AB3-66872F5C22C9}"/>
              </a:ext>
            </a:extLst>
          </p:cNvPr>
          <p:cNvSpPr>
            <a:spLocks noGrp="1"/>
          </p:cNvSpPr>
          <p:nvPr>
            <p:ph type="sldNum" sz="quarter" idx="12"/>
          </p:nvPr>
        </p:nvSpPr>
        <p:spPr/>
        <p:txBody>
          <a:bodyPr/>
          <a:lstStyle/>
          <a:p>
            <a:fld id="{084E6F96-DBA9-4966-8C10-B0B4DAA302D2}" type="slidenum">
              <a:rPr lang="el-GR" smtClean="0"/>
              <a:pPr/>
              <a:t>7</a:t>
            </a:fld>
            <a:endParaRPr lang="el-GR" dirty="0"/>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5" name="14 - Τίτλος"/>
          <p:cNvSpPr>
            <a:spLocks noGrp="1"/>
          </p:cNvSpPr>
          <p:nvPr>
            <p:ph type="ctrTitle"/>
          </p:nvPr>
        </p:nvSpPr>
        <p:spPr/>
        <p:txBody>
          <a:bodyPr/>
          <a:lstStyle/>
          <a:p>
            <a:pPr algn="ctr"/>
            <a:r>
              <a:rPr lang="en-US" i="1" dirty="0"/>
              <a:t>The </a:t>
            </a:r>
            <a:r>
              <a:rPr lang="en-US" i="1" dirty="0" err="1"/>
              <a:t>AthDGC</a:t>
            </a:r>
            <a:r>
              <a:rPr lang="en-US" dirty="0"/>
              <a:t> </a:t>
            </a:r>
            <a:br>
              <a:rPr lang="en-US" dirty="0"/>
            </a:br>
            <a:r>
              <a:rPr lang="en-US" dirty="0"/>
              <a:t>Corpus</a:t>
            </a:r>
            <a:endParaRPr lang="el-GR" dirty="0"/>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 name="23 - Στρογγυλεμένο ορθογώνιο"/>
          <p:cNvSpPr/>
          <p:nvPr/>
        </p:nvSpPr>
        <p:spPr>
          <a:xfrm>
            <a:off x="611560" y="2708920"/>
            <a:ext cx="7992888" cy="3312368"/>
          </a:xfrm>
          <a:prstGeom prst="roundRect">
            <a:avLst/>
          </a:prstGeom>
          <a:solidFill>
            <a:srgbClr val="F0DBD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Ορθογώνιο"/>
          <p:cNvSpPr/>
          <p:nvPr/>
        </p:nvSpPr>
        <p:spPr>
          <a:xfrm>
            <a:off x="3203848" y="836712"/>
            <a:ext cx="2440092" cy="369332"/>
          </a:xfrm>
          <a:prstGeom prst="rect">
            <a:avLst/>
          </a:prstGeom>
        </p:spPr>
        <p:txBody>
          <a:bodyPr wrap="none">
            <a:spAutoFit/>
          </a:bodyPr>
          <a:lstStyle/>
          <a:p>
            <a:r>
              <a:rPr lang="en-US" b="1" dirty="0"/>
              <a:t>The </a:t>
            </a:r>
            <a:r>
              <a:rPr lang="en-US" b="1" dirty="0" err="1"/>
              <a:t>AthDGC</a:t>
            </a:r>
            <a:r>
              <a:rPr lang="en-US" b="1" dirty="0"/>
              <a:t> Corpus</a:t>
            </a:r>
            <a:endParaRPr lang="el-GR" dirty="0"/>
          </a:p>
        </p:txBody>
      </p:sp>
      <p:sp>
        <p:nvSpPr>
          <p:cNvPr id="11" name="10 - TextBox"/>
          <p:cNvSpPr txBox="1"/>
          <p:nvPr/>
        </p:nvSpPr>
        <p:spPr>
          <a:xfrm>
            <a:off x="251520" y="1484784"/>
            <a:ext cx="8731878" cy="1477328"/>
          </a:xfrm>
          <a:prstGeom prst="rect">
            <a:avLst/>
          </a:prstGeom>
          <a:noFill/>
        </p:spPr>
        <p:txBody>
          <a:bodyPr wrap="none" rtlCol="0">
            <a:spAutoFit/>
          </a:bodyPr>
          <a:lstStyle/>
          <a:p>
            <a:r>
              <a:rPr lang="en-US" b="1" dirty="0"/>
              <a:t>Influential texts-</a:t>
            </a:r>
            <a:r>
              <a:rPr lang="en-US" dirty="0"/>
              <a:t>&gt; Texts that have a great impact in the history of humanity</a:t>
            </a:r>
          </a:p>
          <a:p>
            <a:r>
              <a:rPr lang="en-US" dirty="0"/>
              <a:t>e.g. The Bible, the Homeric Poems </a:t>
            </a:r>
            <a:r>
              <a:rPr lang="en-US" dirty="0" err="1"/>
              <a:t>etc</a:t>
            </a:r>
            <a:r>
              <a:rPr lang="en-US" dirty="0"/>
              <a:t>   - criterion: retranslated and </a:t>
            </a:r>
          </a:p>
          <a:p>
            <a:r>
              <a:rPr lang="en-US" dirty="0"/>
              <a:t>republished in many periods</a:t>
            </a:r>
          </a:p>
          <a:p>
            <a:endParaRPr lang="en-US" dirty="0"/>
          </a:p>
          <a:p>
            <a:endParaRPr lang="en-US" dirty="0"/>
          </a:p>
        </p:txBody>
      </p:sp>
      <p:sp>
        <p:nvSpPr>
          <p:cNvPr id="20482" name="AutoShape 2" descr="https://chatgpt.com/backend-api/estuary/content?id=file_00000000aafc71f4a55808154c905c55&amp;ts=489662&amp;p=fs&amp;cid=1&amp;sig=454da1c6ca8ba1b149fd0bb013911362ab9ba9b5fac9ac1bd8e5a874be50ef8f&amp;v=0"/>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l-GR"/>
          </a:p>
        </p:txBody>
      </p:sp>
      <p:sp>
        <p:nvSpPr>
          <p:cNvPr id="14" name="13 - TextBox"/>
          <p:cNvSpPr txBox="1"/>
          <p:nvPr/>
        </p:nvSpPr>
        <p:spPr>
          <a:xfrm>
            <a:off x="2051720" y="2924944"/>
            <a:ext cx="6314549" cy="369332"/>
          </a:xfrm>
          <a:prstGeom prst="rect">
            <a:avLst/>
          </a:prstGeom>
          <a:noFill/>
        </p:spPr>
        <p:txBody>
          <a:bodyPr wrap="none" rtlCol="0">
            <a:spAutoFit/>
          </a:bodyPr>
          <a:lstStyle/>
          <a:p>
            <a:r>
              <a:rPr lang="en-US" b="1" dirty="0"/>
              <a:t>Indo-European Languages under investigation: Phase I</a:t>
            </a:r>
            <a:endParaRPr lang="el-GR" b="1" dirty="0"/>
          </a:p>
        </p:txBody>
      </p:sp>
      <p:sp>
        <p:nvSpPr>
          <p:cNvPr id="15" name="14 - Δεξιό άγκιστρο"/>
          <p:cNvSpPr/>
          <p:nvPr/>
        </p:nvSpPr>
        <p:spPr>
          <a:xfrm rot="16200000">
            <a:off x="3563888" y="2132856"/>
            <a:ext cx="1872208" cy="4176464"/>
          </a:xfrm>
          <a:prstGeom prst="rightBrace">
            <a:avLst/>
          </a:prstGeom>
          <a:ln w="349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l-GR"/>
          </a:p>
        </p:txBody>
      </p:sp>
      <p:cxnSp>
        <p:nvCxnSpPr>
          <p:cNvPr id="17" name="16 - Ευθεία γραμμή σύνδεσης"/>
          <p:cNvCxnSpPr/>
          <p:nvPr/>
        </p:nvCxnSpPr>
        <p:spPr>
          <a:xfrm>
            <a:off x="4499992" y="3645024"/>
            <a:ext cx="0" cy="1656184"/>
          </a:xfrm>
          <a:prstGeom prst="line">
            <a:avLst/>
          </a:prstGeom>
          <a:ln w="34925"/>
        </p:spPr>
        <p:style>
          <a:lnRef idx="1">
            <a:schemeClr val="accent1"/>
          </a:lnRef>
          <a:fillRef idx="0">
            <a:schemeClr val="accent1"/>
          </a:fillRef>
          <a:effectRef idx="0">
            <a:schemeClr val="accent1"/>
          </a:effectRef>
          <a:fontRef idx="minor">
            <a:schemeClr val="tx1"/>
          </a:fontRef>
        </p:style>
      </p:cxnSp>
      <p:sp>
        <p:nvSpPr>
          <p:cNvPr id="18" name="17 - TextBox"/>
          <p:cNvSpPr txBox="1"/>
          <p:nvPr/>
        </p:nvSpPr>
        <p:spPr>
          <a:xfrm>
            <a:off x="2051720" y="5229200"/>
            <a:ext cx="1148071" cy="646331"/>
          </a:xfrm>
          <a:prstGeom prst="rect">
            <a:avLst/>
          </a:prstGeom>
          <a:noFill/>
        </p:spPr>
        <p:txBody>
          <a:bodyPr wrap="none" rtlCol="0">
            <a:spAutoFit/>
          </a:bodyPr>
          <a:lstStyle/>
          <a:p>
            <a:r>
              <a:rPr lang="en-US" b="1" dirty="0"/>
              <a:t>Hellenic </a:t>
            </a:r>
          </a:p>
          <a:p>
            <a:r>
              <a:rPr lang="en-US" b="1" dirty="0"/>
              <a:t>(Greek)</a:t>
            </a:r>
            <a:endParaRPr lang="el-GR" b="1" dirty="0"/>
          </a:p>
        </p:txBody>
      </p:sp>
      <p:sp>
        <p:nvSpPr>
          <p:cNvPr id="19" name="18 - TextBox"/>
          <p:cNvSpPr txBox="1"/>
          <p:nvPr/>
        </p:nvSpPr>
        <p:spPr>
          <a:xfrm>
            <a:off x="3491880" y="5229200"/>
            <a:ext cx="2172390" cy="646331"/>
          </a:xfrm>
          <a:prstGeom prst="rect">
            <a:avLst/>
          </a:prstGeom>
          <a:noFill/>
        </p:spPr>
        <p:txBody>
          <a:bodyPr wrap="none" rtlCol="0">
            <a:spAutoFit/>
          </a:bodyPr>
          <a:lstStyle/>
          <a:p>
            <a:pPr algn="ctr"/>
            <a:r>
              <a:rPr lang="en-US" b="1" dirty="0"/>
              <a:t>Germanic </a:t>
            </a:r>
          </a:p>
          <a:p>
            <a:pPr algn="ctr"/>
            <a:r>
              <a:rPr lang="en-US" b="1" dirty="0"/>
              <a:t>(English &amp; Gothic)</a:t>
            </a:r>
            <a:endParaRPr lang="el-GR" b="1" dirty="0"/>
          </a:p>
        </p:txBody>
      </p:sp>
      <p:sp>
        <p:nvSpPr>
          <p:cNvPr id="20" name="19 - TextBox"/>
          <p:cNvSpPr txBox="1"/>
          <p:nvPr/>
        </p:nvSpPr>
        <p:spPr>
          <a:xfrm>
            <a:off x="5724128" y="5229200"/>
            <a:ext cx="2408032" cy="646331"/>
          </a:xfrm>
          <a:prstGeom prst="rect">
            <a:avLst/>
          </a:prstGeom>
          <a:noFill/>
        </p:spPr>
        <p:txBody>
          <a:bodyPr wrap="none" rtlCol="0">
            <a:spAutoFit/>
          </a:bodyPr>
          <a:lstStyle/>
          <a:p>
            <a:pPr algn="ctr"/>
            <a:r>
              <a:rPr lang="en-US" b="1" dirty="0"/>
              <a:t>Romance</a:t>
            </a:r>
          </a:p>
          <a:p>
            <a:pPr algn="ctr"/>
            <a:r>
              <a:rPr lang="en-US" b="1" dirty="0"/>
              <a:t>(Latin &amp; Old French)</a:t>
            </a:r>
            <a:endParaRPr lang="el-GR" b="1" dirty="0"/>
          </a:p>
        </p:txBody>
      </p:sp>
      <p:sp>
        <p:nvSpPr>
          <p:cNvPr id="2" name="Slide Number Placeholder 1">
            <a:extLst>
              <a:ext uri="{FF2B5EF4-FFF2-40B4-BE49-F238E27FC236}">
                <a16:creationId xmlns="" xmlns:a16="http://schemas.microsoft.com/office/drawing/2014/main" id="{3D76E694-59AB-8102-B9A1-BC791BD3B31F}"/>
              </a:ext>
            </a:extLst>
          </p:cNvPr>
          <p:cNvSpPr>
            <a:spLocks noGrp="1"/>
          </p:cNvSpPr>
          <p:nvPr>
            <p:ph type="sldNum" sz="quarter" idx="12"/>
          </p:nvPr>
        </p:nvSpPr>
        <p:spPr/>
        <p:txBody>
          <a:bodyPr/>
          <a:lstStyle/>
          <a:p>
            <a:fld id="{084E6F96-DBA9-4966-8C10-B0B4DAA302D2}" type="slidenum">
              <a:rPr lang="el-GR" smtClean="0"/>
              <a:pPr/>
              <a:t>9</a:t>
            </a:fld>
            <a:endParaRPr lang="el-G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3" name="12 - Κουλούρα"/>
          <p:cNvSpPr/>
          <p:nvPr/>
        </p:nvSpPr>
        <p:spPr>
          <a:xfrm>
            <a:off x="1835696" y="980728"/>
            <a:ext cx="5544616" cy="5040560"/>
          </a:xfrm>
          <a:prstGeom prst="donut">
            <a:avLst/>
          </a:prstGeom>
          <a:solidFill>
            <a:schemeClr val="accent3">
              <a:lumMod val="20000"/>
              <a:lumOff val="8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solidFill>
                <a:schemeClr val="tx1"/>
              </a:solidFill>
            </a:endParaRPr>
          </a:p>
        </p:txBody>
      </p:sp>
      <p:sp>
        <p:nvSpPr>
          <p:cNvPr id="14" name="13 - TextBox"/>
          <p:cNvSpPr txBox="1"/>
          <p:nvPr/>
        </p:nvSpPr>
        <p:spPr>
          <a:xfrm>
            <a:off x="3347864" y="4941168"/>
            <a:ext cx="2667718" cy="523220"/>
          </a:xfrm>
          <a:prstGeom prst="rect">
            <a:avLst/>
          </a:prstGeom>
          <a:noFill/>
        </p:spPr>
        <p:txBody>
          <a:bodyPr wrap="none" rtlCol="0">
            <a:spAutoFit/>
          </a:bodyPr>
          <a:lstStyle/>
          <a:p>
            <a:r>
              <a:rPr lang="en-US" sz="2800" b="1" dirty="0">
                <a:solidFill>
                  <a:schemeClr val="accent1">
                    <a:lumMod val="50000"/>
                  </a:schemeClr>
                </a:solidFill>
              </a:rPr>
              <a:t>Retranslations</a:t>
            </a:r>
            <a:endParaRPr lang="el-GR" sz="2800" b="1" dirty="0">
              <a:solidFill>
                <a:schemeClr val="accent1">
                  <a:lumMod val="50000"/>
                </a:schemeClr>
              </a:solidFill>
            </a:endParaRPr>
          </a:p>
        </p:txBody>
      </p:sp>
      <p:sp>
        <p:nvSpPr>
          <p:cNvPr id="15" name="14 - TextBox"/>
          <p:cNvSpPr txBox="1"/>
          <p:nvPr/>
        </p:nvSpPr>
        <p:spPr>
          <a:xfrm>
            <a:off x="3131840" y="1340768"/>
            <a:ext cx="3076483" cy="954107"/>
          </a:xfrm>
          <a:prstGeom prst="rect">
            <a:avLst/>
          </a:prstGeom>
          <a:noFill/>
        </p:spPr>
        <p:txBody>
          <a:bodyPr wrap="none" rtlCol="0">
            <a:spAutoFit/>
          </a:bodyPr>
          <a:lstStyle/>
          <a:p>
            <a:r>
              <a:rPr lang="en-US" sz="2800" b="1" dirty="0">
                <a:solidFill>
                  <a:schemeClr val="accent1">
                    <a:lumMod val="50000"/>
                  </a:schemeClr>
                </a:solidFill>
              </a:rPr>
              <a:t>Original (source)</a:t>
            </a:r>
          </a:p>
          <a:p>
            <a:pPr algn="ctr"/>
            <a:r>
              <a:rPr lang="en-US" sz="2800" b="1" dirty="0">
                <a:solidFill>
                  <a:schemeClr val="accent1">
                    <a:lumMod val="50000"/>
                  </a:schemeClr>
                </a:solidFill>
              </a:rPr>
              <a:t> texts</a:t>
            </a:r>
            <a:endParaRPr lang="el-GR" sz="2800" b="1" dirty="0">
              <a:solidFill>
                <a:schemeClr val="accent1">
                  <a:lumMod val="50000"/>
                </a:schemeClr>
              </a:solidFill>
            </a:endParaRPr>
          </a:p>
        </p:txBody>
      </p:sp>
      <p:sp>
        <p:nvSpPr>
          <p:cNvPr id="16" name="15 - TextBox"/>
          <p:cNvSpPr txBox="1"/>
          <p:nvPr/>
        </p:nvSpPr>
        <p:spPr>
          <a:xfrm>
            <a:off x="3203848" y="3140968"/>
            <a:ext cx="2920992" cy="523220"/>
          </a:xfrm>
          <a:prstGeom prst="rect">
            <a:avLst/>
          </a:prstGeom>
          <a:noFill/>
        </p:spPr>
        <p:txBody>
          <a:bodyPr wrap="none" rtlCol="0">
            <a:spAutoFit/>
          </a:bodyPr>
          <a:lstStyle/>
          <a:p>
            <a:r>
              <a:rPr lang="en-US" sz="2800" b="1" dirty="0">
                <a:solidFill>
                  <a:schemeClr val="accent2">
                    <a:lumMod val="50000"/>
                  </a:schemeClr>
                </a:solidFill>
              </a:rPr>
              <a:t>Influential texts</a:t>
            </a:r>
            <a:endParaRPr lang="el-GR" sz="2800" b="1" dirty="0">
              <a:solidFill>
                <a:schemeClr val="accent2">
                  <a:lumMod val="50000"/>
                </a:schemeClr>
              </a:solidFill>
            </a:endParaRPr>
          </a:p>
        </p:txBody>
      </p:sp>
      <p:cxnSp>
        <p:nvCxnSpPr>
          <p:cNvPr id="17" name="16 - Ευθεία γραμμή σύνδεσης"/>
          <p:cNvCxnSpPr>
            <a:stCxn id="13" idx="2"/>
          </p:cNvCxnSpPr>
          <p:nvPr/>
        </p:nvCxnSpPr>
        <p:spPr>
          <a:xfrm>
            <a:off x="1835696" y="3501008"/>
            <a:ext cx="1296144" cy="0"/>
          </a:xfrm>
          <a:prstGeom prst="line">
            <a:avLst/>
          </a:prstGeom>
          <a:ln w="47625">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19 - Ευθεία γραμμή σύνδεσης"/>
          <p:cNvCxnSpPr/>
          <p:nvPr/>
        </p:nvCxnSpPr>
        <p:spPr>
          <a:xfrm>
            <a:off x="6084168" y="3501008"/>
            <a:ext cx="1296144" cy="0"/>
          </a:xfrm>
          <a:prstGeom prst="line">
            <a:avLst/>
          </a:prstGeom>
          <a:ln w="47625">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 xmlns:a16="http://schemas.microsoft.com/office/drawing/2014/main" id="{37C9E911-3616-5089-DB9D-5D4CB0AFC4F9}"/>
              </a:ext>
            </a:extLst>
          </p:cNvPr>
          <p:cNvSpPr>
            <a:spLocks noGrp="1"/>
          </p:cNvSpPr>
          <p:nvPr>
            <p:ph type="sldNum" sz="quarter" idx="12"/>
          </p:nvPr>
        </p:nvSpPr>
        <p:spPr/>
        <p:txBody>
          <a:bodyPr/>
          <a:lstStyle/>
          <a:p>
            <a:fld id="{084E6F96-DBA9-4966-8C10-B0B4DAA302D2}" type="slidenum">
              <a:rPr lang="el-GR" smtClean="0"/>
              <a:pPr/>
              <a:t>10</a:t>
            </a:fld>
            <a:endParaRPr lang="el-GR"/>
          </a:p>
        </p:txBody>
      </p:sp>
      <p:sp>
        <p:nvSpPr>
          <p:cNvPr id="3" name="TextBox 2">
            <a:extLst>
              <a:ext uri="{FF2B5EF4-FFF2-40B4-BE49-F238E27FC236}">
                <a16:creationId xmlns="" xmlns:a16="http://schemas.microsoft.com/office/drawing/2014/main" id="{ACD13CE4-8CAB-39E6-8137-CBC5173513EB}"/>
              </a:ext>
            </a:extLst>
          </p:cNvPr>
          <p:cNvSpPr txBox="1"/>
          <p:nvPr/>
        </p:nvSpPr>
        <p:spPr>
          <a:xfrm>
            <a:off x="6300192" y="980728"/>
            <a:ext cx="2376264" cy="1754326"/>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t>&amp; Texts representative of different periods: for diachronic, contrastive research</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2" name="11 - Στρογγυλεμένο ορθογώνιο"/>
          <p:cNvSpPr/>
          <p:nvPr/>
        </p:nvSpPr>
        <p:spPr>
          <a:xfrm>
            <a:off x="2699792" y="548680"/>
            <a:ext cx="3960440" cy="72008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Original texts</a:t>
            </a:r>
            <a:endParaRPr lang="el-GR" sz="2800" b="1" dirty="0">
              <a:solidFill>
                <a:schemeClr val="tx1"/>
              </a:solidFill>
            </a:endParaRPr>
          </a:p>
        </p:txBody>
      </p:sp>
      <p:cxnSp>
        <p:nvCxnSpPr>
          <p:cNvPr id="14" name="13 - Ευθύγραμμο βέλος σύνδεσης"/>
          <p:cNvCxnSpPr/>
          <p:nvPr/>
        </p:nvCxnSpPr>
        <p:spPr>
          <a:xfrm flipH="1">
            <a:off x="2267744" y="1268760"/>
            <a:ext cx="1440160" cy="648072"/>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5" name="14 - Στρογγυλεμένο ορθογώνιο"/>
          <p:cNvSpPr/>
          <p:nvPr/>
        </p:nvSpPr>
        <p:spPr>
          <a:xfrm>
            <a:off x="0" y="2060848"/>
            <a:ext cx="3131840" cy="410445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u="sng" dirty="0">
                <a:solidFill>
                  <a:schemeClr val="tx1"/>
                </a:solidFill>
              </a:rPr>
              <a:t>Greek texts </a:t>
            </a:r>
          </a:p>
          <a:p>
            <a:endParaRPr lang="en-US" dirty="0">
              <a:solidFill>
                <a:schemeClr val="tx1"/>
              </a:solidFill>
            </a:endParaRPr>
          </a:p>
          <a:p>
            <a:r>
              <a:rPr lang="en-US" b="1" dirty="0">
                <a:solidFill>
                  <a:schemeClr val="tx1"/>
                </a:solidFill>
              </a:rPr>
              <a:t>Ancient Greek</a:t>
            </a:r>
            <a:r>
              <a:rPr lang="en-US" dirty="0">
                <a:solidFill>
                  <a:schemeClr val="tx1"/>
                </a:solidFill>
              </a:rPr>
              <a:t>: e.g. Homeric poems</a:t>
            </a:r>
          </a:p>
          <a:p>
            <a:endParaRPr lang="en-US" dirty="0">
              <a:solidFill>
                <a:schemeClr val="tx1"/>
              </a:solidFill>
            </a:endParaRPr>
          </a:p>
          <a:p>
            <a:r>
              <a:rPr lang="en-US" b="1" dirty="0">
                <a:solidFill>
                  <a:schemeClr val="tx1"/>
                </a:solidFill>
              </a:rPr>
              <a:t>Hellenistic Greek</a:t>
            </a:r>
            <a:r>
              <a:rPr lang="en-US" dirty="0">
                <a:solidFill>
                  <a:schemeClr val="tx1"/>
                </a:solidFill>
              </a:rPr>
              <a:t>: e.g. </a:t>
            </a:r>
            <a:r>
              <a:rPr lang="en-US" i="1" dirty="0">
                <a:solidFill>
                  <a:schemeClr val="tx1"/>
                </a:solidFill>
              </a:rPr>
              <a:t>New Testament</a:t>
            </a:r>
          </a:p>
          <a:p>
            <a:endParaRPr lang="en-US" dirty="0">
              <a:solidFill>
                <a:schemeClr val="tx1"/>
              </a:solidFill>
            </a:endParaRPr>
          </a:p>
          <a:p>
            <a:r>
              <a:rPr lang="en-US" b="1" dirty="0">
                <a:solidFill>
                  <a:schemeClr val="tx1"/>
                </a:solidFill>
              </a:rPr>
              <a:t>Medieval Greek</a:t>
            </a:r>
            <a:r>
              <a:rPr lang="en-US" dirty="0">
                <a:solidFill>
                  <a:schemeClr val="tx1"/>
                </a:solidFill>
              </a:rPr>
              <a:t>: e.g. </a:t>
            </a:r>
            <a:r>
              <a:rPr lang="en-US" i="1" dirty="0" err="1">
                <a:solidFill>
                  <a:schemeClr val="tx1"/>
                </a:solidFill>
              </a:rPr>
              <a:t>Psellos</a:t>
            </a:r>
            <a:r>
              <a:rPr lang="en-US" i="1" dirty="0">
                <a:solidFill>
                  <a:schemeClr val="tx1"/>
                </a:solidFill>
              </a:rPr>
              <a:t>’ </a:t>
            </a:r>
            <a:r>
              <a:rPr lang="en-US" i="1" dirty="0" err="1">
                <a:solidFill>
                  <a:schemeClr val="tx1"/>
                </a:solidFill>
              </a:rPr>
              <a:t>Chronographia</a:t>
            </a:r>
            <a:endParaRPr lang="en-US" i="1" dirty="0">
              <a:solidFill>
                <a:schemeClr val="tx1"/>
              </a:solidFill>
            </a:endParaRPr>
          </a:p>
          <a:p>
            <a:endParaRPr lang="en-US" i="1" dirty="0">
              <a:solidFill>
                <a:schemeClr val="tx1"/>
              </a:solidFill>
            </a:endParaRPr>
          </a:p>
          <a:p>
            <a:r>
              <a:rPr lang="en-US" b="1" dirty="0">
                <a:solidFill>
                  <a:schemeClr val="tx1"/>
                </a:solidFill>
              </a:rPr>
              <a:t>Early Modern Greek</a:t>
            </a:r>
            <a:r>
              <a:rPr lang="en-US" dirty="0">
                <a:solidFill>
                  <a:schemeClr val="tx1"/>
                </a:solidFill>
              </a:rPr>
              <a:t>: e.g. </a:t>
            </a:r>
            <a:r>
              <a:rPr lang="en-US" i="1" dirty="0" err="1">
                <a:solidFill>
                  <a:schemeClr val="tx1"/>
                </a:solidFill>
              </a:rPr>
              <a:t>Digenis</a:t>
            </a:r>
            <a:r>
              <a:rPr lang="en-US" i="1" dirty="0">
                <a:solidFill>
                  <a:schemeClr val="tx1"/>
                </a:solidFill>
              </a:rPr>
              <a:t> </a:t>
            </a:r>
            <a:r>
              <a:rPr lang="en-US" i="1" dirty="0" err="1">
                <a:solidFill>
                  <a:schemeClr val="tx1"/>
                </a:solidFill>
              </a:rPr>
              <a:t>Akritas</a:t>
            </a:r>
            <a:endParaRPr lang="en-US" i="1" dirty="0">
              <a:solidFill>
                <a:schemeClr val="tx1"/>
              </a:solidFill>
            </a:endParaRPr>
          </a:p>
        </p:txBody>
      </p:sp>
      <p:sp>
        <p:nvSpPr>
          <p:cNvPr id="17" name="16 - Στρογγυλεμένο ορθογώνιο"/>
          <p:cNvSpPr/>
          <p:nvPr/>
        </p:nvSpPr>
        <p:spPr>
          <a:xfrm>
            <a:off x="3419872" y="2060848"/>
            <a:ext cx="3096344" cy="410445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u="sng" dirty="0">
                <a:solidFill>
                  <a:schemeClr val="tx1"/>
                </a:solidFill>
              </a:rPr>
              <a:t>English texts </a:t>
            </a:r>
          </a:p>
          <a:p>
            <a:endParaRPr lang="en-US" dirty="0">
              <a:solidFill>
                <a:schemeClr val="tx1"/>
              </a:solidFill>
            </a:endParaRPr>
          </a:p>
          <a:p>
            <a:r>
              <a:rPr lang="en-US" b="1" dirty="0">
                <a:solidFill>
                  <a:schemeClr val="tx1"/>
                </a:solidFill>
              </a:rPr>
              <a:t>Old English</a:t>
            </a:r>
            <a:r>
              <a:rPr lang="en-US" dirty="0">
                <a:solidFill>
                  <a:schemeClr val="tx1"/>
                </a:solidFill>
              </a:rPr>
              <a:t>: e.g. </a:t>
            </a:r>
            <a:r>
              <a:rPr lang="en-US" i="1" dirty="0" err="1">
                <a:solidFill>
                  <a:schemeClr val="tx1"/>
                </a:solidFill>
              </a:rPr>
              <a:t>Ælfric's</a:t>
            </a:r>
            <a:r>
              <a:rPr lang="en-US" i="1" dirty="0">
                <a:solidFill>
                  <a:schemeClr val="tx1"/>
                </a:solidFill>
              </a:rPr>
              <a:t> Lives of Saints</a:t>
            </a:r>
            <a:endParaRPr lang="en-US" dirty="0">
              <a:solidFill>
                <a:schemeClr val="tx1"/>
              </a:solidFill>
            </a:endParaRPr>
          </a:p>
          <a:p>
            <a:endParaRPr lang="en-US" dirty="0">
              <a:solidFill>
                <a:schemeClr val="tx1"/>
              </a:solidFill>
            </a:endParaRPr>
          </a:p>
          <a:p>
            <a:r>
              <a:rPr lang="en-US" b="1" dirty="0">
                <a:solidFill>
                  <a:schemeClr val="tx1"/>
                </a:solidFill>
              </a:rPr>
              <a:t>Middle English</a:t>
            </a:r>
            <a:r>
              <a:rPr lang="en-US" dirty="0">
                <a:solidFill>
                  <a:schemeClr val="tx1"/>
                </a:solidFill>
              </a:rPr>
              <a:t>: e.g.</a:t>
            </a:r>
            <a:r>
              <a:rPr lang="en-US" i="1" dirty="0">
                <a:solidFill>
                  <a:schemeClr val="tx1"/>
                </a:solidFill>
              </a:rPr>
              <a:t> </a:t>
            </a:r>
            <a:r>
              <a:rPr lang="en-US" i="1" dirty="0" err="1">
                <a:solidFill>
                  <a:schemeClr val="tx1"/>
                </a:solidFill>
              </a:rPr>
              <a:t>Orrmin</a:t>
            </a:r>
            <a:r>
              <a:rPr lang="en-US" i="1" dirty="0">
                <a:solidFill>
                  <a:schemeClr val="tx1"/>
                </a:solidFill>
              </a:rPr>
              <a:t>: The </a:t>
            </a:r>
            <a:r>
              <a:rPr lang="en-US" i="1" dirty="0" err="1">
                <a:solidFill>
                  <a:schemeClr val="tx1"/>
                </a:solidFill>
              </a:rPr>
              <a:t>Ormulum</a:t>
            </a:r>
            <a:endParaRPr lang="en-US" dirty="0">
              <a:solidFill>
                <a:schemeClr val="tx1"/>
              </a:solidFill>
            </a:endParaRPr>
          </a:p>
          <a:p>
            <a:endParaRPr lang="en-US" dirty="0">
              <a:solidFill>
                <a:schemeClr val="tx1"/>
              </a:solidFill>
            </a:endParaRPr>
          </a:p>
          <a:p>
            <a:r>
              <a:rPr lang="en-US" b="1" dirty="0">
                <a:solidFill>
                  <a:schemeClr val="tx1"/>
                </a:solidFill>
              </a:rPr>
              <a:t>Modern English</a:t>
            </a:r>
            <a:r>
              <a:rPr lang="en-US" dirty="0">
                <a:solidFill>
                  <a:schemeClr val="tx1"/>
                </a:solidFill>
              </a:rPr>
              <a:t>: e.g. Jane Austen’s </a:t>
            </a:r>
            <a:r>
              <a:rPr lang="en-US" i="1" dirty="0">
                <a:solidFill>
                  <a:schemeClr val="tx1"/>
                </a:solidFill>
              </a:rPr>
              <a:t>Pride and Prejudice</a:t>
            </a:r>
            <a:endParaRPr lang="en-US" dirty="0">
              <a:solidFill>
                <a:schemeClr val="tx1"/>
              </a:solidFill>
            </a:endParaRPr>
          </a:p>
        </p:txBody>
      </p:sp>
      <p:sp>
        <p:nvSpPr>
          <p:cNvPr id="18" name="17 - Στρογγυλεμένο ορθογώνιο"/>
          <p:cNvSpPr/>
          <p:nvPr/>
        </p:nvSpPr>
        <p:spPr>
          <a:xfrm>
            <a:off x="6660232" y="2060848"/>
            <a:ext cx="2483768" cy="244827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u="sng" dirty="0">
                <a:solidFill>
                  <a:schemeClr val="tx1"/>
                </a:solidFill>
              </a:rPr>
              <a:t>Old French:</a:t>
            </a:r>
          </a:p>
          <a:p>
            <a:r>
              <a:rPr lang="fr-FR" i="1" dirty="0" err="1">
                <a:solidFill>
                  <a:schemeClr val="tx1"/>
                </a:solidFill>
              </a:rPr>
              <a:t>e.g</a:t>
            </a:r>
            <a:r>
              <a:rPr lang="fr-FR" i="1" dirty="0">
                <a:solidFill>
                  <a:schemeClr val="tx1"/>
                </a:solidFill>
              </a:rPr>
              <a:t>. La Vie de Saint Eustache</a:t>
            </a:r>
          </a:p>
          <a:p>
            <a:endParaRPr lang="fr-FR" i="1" dirty="0">
              <a:solidFill>
                <a:schemeClr val="tx1"/>
              </a:solidFill>
            </a:endParaRPr>
          </a:p>
        </p:txBody>
      </p:sp>
      <p:cxnSp>
        <p:nvCxnSpPr>
          <p:cNvPr id="19" name="18 - Ευθύγραμμο βέλος σύνδεσης"/>
          <p:cNvCxnSpPr/>
          <p:nvPr/>
        </p:nvCxnSpPr>
        <p:spPr>
          <a:xfrm flipH="1">
            <a:off x="4716016" y="1268760"/>
            <a:ext cx="8384" cy="72008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1" name="20 - Ευθύγραμμο βέλος σύνδεσης"/>
          <p:cNvCxnSpPr/>
          <p:nvPr/>
        </p:nvCxnSpPr>
        <p:spPr>
          <a:xfrm>
            <a:off x="6596608" y="1196752"/>
            <a:ext cx="1215752" cy="72008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 xmlns:a16="http://schemas.microsoft.com/office/drawing/2014/main" id="{F422BAAE-330A-2626-A3AD-9903E2CC5F73}"/>
              </a:ext>
            </a:extLst>
          </p:cNvPr>
          <p:cNvSpPr>
            <a:spLocks noGrp="1"/>
          </p:cNvSpPr>
          <p:nvPr>
            <p:ph type="sldNum" sz="quarter" idx="12"/>
          </p:nvPr>
        </p:nvSpPr>
        <p:spPr/>
        <p:txBody>
          <a:bodyPr/>
          <a:lstStyle/>
          <a:p>
            <a:fld id="{084E6F96-DBA9-4966-8C10-B0B4DAA302D2}" type="slidenum">
              <a:rPr lang="el-GR" smtClean="0"/>
              <a:pPr/>
              <a:t>11</a:t>
            </a:fld>
            <a:endParaRPr lang="el-G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1" name="10 - Στρογγυλεμένο ορθογώνιο"/>
          <p:cNvSpPr/>
          <p:nvPr/>
        </p:nvSpPr>
        <p:spPr>
          <a:xfrm>
            <a:off x="2699792" y="548680"/>
            <a:ext cx="3960440" cy="720080"/>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Retranslations</a:t>
            </a:r>
            <a:endParaRPr lang="el-GR" sz="2800" b="1" dirty="0">
              <a:solidFill>
                <a:schemeClr val="tx1"/>
              </a:solidFill>
            </a:endParaRPr>
          </a:p>
        </p:txBody>
      </p:sp>
      <p:cxnSp>
        <p:nvCxnSpPr>
          <p:cNvPr id="12" name="11 - Ευθύγραμμο βέλος σύνδεσης"/>
          <p:cNvCxnSpPr/>
          <p:nvPr/>
        </p:nvCxnSpPr>
        <p:spPr>
          <a:xfrm flipH="1">
            <a:off x="2195736" y="1268760"/>
            <a:ext cx="1512168" cy="72008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3" name="12 - Κατακόρυφος πάπυρος"/>
          <p:cNvSpPr/>
          <p:nvPr/>
        </p:nvSpPr>
        <p:spPr>
          <a:xfrm>
            <a:off x="0" y="2060848"/>
            <a:ext cx="4355976" cy="3816424"/>
          </a:xfrm>
          <a:prstGeom prst="verticalScroll">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chemeClr val="tx1"/>
                </a:solidFill>
              </a:rPr>
              <a:t>Intralingual</a:t>
            </a:r>
            <a:r>
              <a:rPr lang="en-US" sz="2000" b="1" dirty="0">
                <a:solidFill>
                  <a:schemeClr val="tx1"/>
                </a:solidFill>
              </a:rPr>
              <a:t> translations</a:t>
            </a:r>
          </a:p>
          <a:p>
            <a:pPr algn="ctr"/>
            <a:endParaRPr lang="en-US" dirty="0">
              <a:solidFill>
                <a:schemeClr val="tx1"/>
              </a:solidFill>
            </a:endParaRPr>
          </a:p>
          <a:p>
            <a:pPr algn="ctr"/>
            <a:r>
              <a:rPr lang="en-US" dirty="0">
                <a:solidFill>
                  <a:schemeClr val="tx1"/>
                </a:solidFill>
              </a:rPr>
              <a:t>e.g. the </a:t>
            </a:r>
            <a:r>
              <a:rPr lang="en-US" b="1" dirty="0">
                <a:solidFill>
                  <a:schemeClr val="tx1"/>
                </a:solidFill>
              </a:rPr>
              <a:t>Greek</a:t>
            </a:r>
            <a:r>
              <a:rPr lang="en-US" dirty="0">
                <a:solidFill>
                  <a:schemeClr val="tx1"/>
                </a:solidFill>
              </a:rPr>
              <a:t> retranslation of the New Testament by Alexandros Palles </a:t>
            </a:r>
          </a:p>
          <a:p>
            <a:pPr algn="ctr"/>
            <a:r>
              <a:rPr lang="en-US" dirty="0">
                <a:solidFill>
                  <a:schemeClr val="tx1"/>
                </a:solidFill>
              </a:rPr>
              <a:t>(20</a:t>
            </a:r>
            <a:r>
              <a:rPr lang="en-US" baseline="30000" dirty="0">
                <a:solidFill>
                  <a:schemeClr val="tx1"/>
                </a:solidFill>
              </a:rPr>
              <a:t>th</a:t>
            </a:r>
            <a:r>
              <a:rPr lang="en-US" dirty="0">
                <a:solidFill>
                  <a:schemeClr val="tx1"/>
                </a:solidFill>
              </a:rPr>
              <a:t> century) </a:t>
            </a:r>
            <a:endParaRPr lang="el-GR" dirty="0">
              <a:solidFill>
                <a:schemeClr val="tx1"/>
              </a:solidFill>
            </a:endParaRPr>
          </a:p>
        </p:txBody>
      </p:sp>
      <p:sp>
        <p:nvSpPr>
          <p:cNvPr id="14" name="13 - Κατακόρυφος πάπυρος"/>
          <p:cNvSpPr/>
          <p:nvPr/>
        </p:nvSpPr>
        <p:spPr>
          <a:xfrm>
            <a:off x="4860032" y="2132856"/>
            <a:ext cx="4283968" cy="3744416"/>
          </a:xfrm>
          <a:prstGeom prst="verticalScroll">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chemeClr val="tx1"/>
                </a:solidFill>
              </a:rPr>
              <a:t>Interlingual</a:t>
            </a:r>
            <a:r>
              <a:rPr lang="en-US" sz="2000" b="1" dirty="0">
                <a:solidFill>
                  <a:schemeClr val="tx1"/>
                </a:solidFill>
              </a:rPr>
              <a:t> translations</a:t>
            </a:r>
          </a:p>
          <a:p>
            <a:pPr algn="ctr"/>
            <a:endParaRPr lang="en-US" dirty="0">
              <a:solidFill>
                <a:schemeClr val="tx1"/>
              </a:solidFill>
            </a:endParaRPr>
          </a:p>
          <a:p>
            <a:pPr algn="ctr"/>
            <a:r>
              <a:rPr lang="en-US" dirty="0">
                <a:solidFill>
                  <a:schemeClr val="tx1"/>
                </a:solidFill>
              </a:rPr>
              <a:t>e.g. the </a:t>
            </a:r>
            <a:r>
              <a:rPr lang="en-US" b="1" dirty="0">
                <a:solidFill>
                  <a:schemeClr val="tx1"/>
                </a:solidFill>
              </a:rPr>
              <a:t>English</a:t>
            </a:r>
            <a:r>
              <a:rPr lang="en-US" dirty="0">
                <a:solidFill>
                  <a:schemeClr val="tx1"/>
                </a:solidFill>
              </a:rPr>
              <a:t> retranslation of the New Testament by William Tyndale  </a:t>
            </a:r>
          </a:p>
          <a:p>
            <a:pPr algn="ctr"/>
            <a:r>
              <a:rPr lang="en-US" dirty="0">
                <a:solidFill>
                  <a:schemeClr val="tx1"/>
                </a:solidFill>
              </a:rPr>
              <a:t>(16</a:t>
            </a:r>
            <a:r>
              <a:rPr lang="en-US" baseline="30000" dirty="0">
                <a:solidFill>
                  <a:schemeClr val="tx1"/>
                </a:solidFill>
              </a:rPr>
              <a:t>th</a:t>
            </a:r>
            <a:r>
              <a:rPr lang="en-US" dirty="0">
                <a:solidFill>
                  <a:schemeClr val="tx1"/>
                </a:solidFill>
              </a:rPr>
              <a:t> century)</a:t>
            </a:r>
            <a:endParaRPr lang="el-GR" dirty="0">
              <a:solidFill>
                <a:schemeClr val="tx1"/>
              </a:solidFill>
            </a:endParaRPr>
          </a:p>
        </p:txBody>
      </p:sp>
      <p:cxnSp>
        <p:nvCxnSpPr>
          <p:cNvPr id="15" name="14 - Ευθύγραμμο βέλος σύνδεσης"/>
          <p:cNvCxnSpPr/>
          <p:nvPr/>
        </p:nvCxnSpPr>
        <p:spPr>
          <a:xfrm>
            <a:off x="6012160" y="1268760"/>
            <a:ext cx="1224136" cy="79208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 xmlns:a16="http://schemas.microsoft.com/office/drawing/2014/main" id="{8E3F7C1F-5FF5-F3EB-812F-230093D5B9B7}"/>
              </a:ext>
            </a:extLst>
          </p:cNvPr>
          <p:cNvSpPr>
            <a:spLocks noGrp="1"/>
          </p:cNvSpPr>
          <p:nvPr>
            <p:ph type="sldNum" sz="quarter" idx="12"/>
          </p:nvPr>
        </p:nvSpPr>
        <p:spPr/>
        <p:txBody>
          <a:bodyPr/>
          <a:lstStyle/>
          <a:p>
            <a:fld id="{084E6F96-DBA9-4966-8C10-B0B4DAA302D2}" type="slidenum">
              <a:rPr lang="el-GR" smtClean="0"/>
              <a:pPr/>
              <a:t>12</a:t>
            </a:fld>
            <a:endParaRPr lang="el-G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1" name="10 - Τίτλος"/>
          <p:cNvSpPr>
            <a:spLocks noGrp="1"/>
          </p:cNvSpPr>
          <p:nvPr>
            <p:ph type="ctrTitle"/>
          </p:nvPr>
        </p:nvSpPr>
        <p:spPr/>
        <p:txBody>
          <a:bodyPr>
            <a:normAutofit fontScale="90000"/>
          </a:bodyPr>
          <a:lstStyle/>
          <a:p>
            <a:pPr algn="l"/>
            <a:r>
              <a:rPr lang="en-US" b="0" dirty="0"/>
              <a:t>Pragmatic Resources in Old Indo-European Languages</a:t>
            </a:r>
            <a:br>
              <a:rPr lang="en-US" b="0" dirty="0"/>
            </a:br>
            <a:r>
              <a:rPr lang="en-US" b="0" dirty="0"/>
              <a:t>- </a:t>
            </a:r>
            <a:r>
              <a:rPr lang="en-US" i="1" dirty="0"/>
              <a:t>PROIEL</a:t>
            </a:r>
            <a:endParaRPr lang="el-GR" i="1" dirty="0"/>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Ορθογώνιο"/>
          <p:cNvSpPr/>
          <p:nvPr/>
        </p:nvSpPr>
        <p:spPr>
          <a:xfrm>
            <a:off x="107504" y="692696"/>
            <a:ext cx="2484976" cy="369332"/>
          </a:xfrm>
          <a:prstGeom prst="rect">
            <a:avLst/>
          </a:prstGeom>
        </p:spPr>
        <p:txBody>
          <a:bodyPr wrap="none">
            <a:spAutoFit/>
          </a:bodyPr>
          <a:lstStyle/>
          <a:p>
            <a:r>
              <a:rPr lang="en-US" b="1" dirty="0"/>
              <a:t>The PROIEL platform</a:t>
            </a:r>
            <a:endParaRPr lang="el-GR" dirty="0"/>
          </a:p>
        </p:txBody>
      </p:sp>
      <p:sp>
        <p:nvSpPr>
          <p:cNvPr id="11" name="10 - TextBox"/>
          <p:cNvSpPr txBox="1"/>
          <p:nvPr/>
        </p:nvSpPr>
        <p:spPr>
          <a:xfrm>
            <a:off x="107505" y="1268760"/>
            <a:ext cx="8856984" cy="1415772"/>
          </a:xfrm>
          <a:prstGeom prst="rect">
            <a:avLst/>
          </a:prstGeom>
          <a:noFill/>
        </p:spPr>
        <p:txBody>
          <a:bodyPr wrap="square" rtlCol="0">
            <a:spAutoFit/>
          </a:bodyPr>
          <a:lstStyle/>
          <a:p>
            <a:r>
              <a:rPr lang="en-US" dirty="0"/>
              <a:t>The </a:t>
            </a:r>
            <a:r>
              <a:rPr lang="en-US" b="1" dirty="0"/>
              <a:t>PROIEL interface </a:t>
            </a:r>
            <a:r>
              <a:rPr lang="en-US" dirty="0"/>
              <a:t>has been used by scholars to study language </a:t>
            </a:r>
            <a:r>
              <a:rPr lang="en-US" dirty="0" err="1"/>
              <a:t>diachrony</a:t>
            </a:r>
            <a:r>
              <a:rPr lang="en-US" dirty="0"/>
              <a:t> and written language contact. </a:t>
            </a:r>
          </a:p>
          <a:p>
            <a:pPr algn="r"/>
            <a:r>
              <a:rPr lang="en-US" sz="1400" dirty="0"/>
              <a:t>(cf. </a:t>
            </a:r>
            <a:r>
              <a:rPr lang="en-US" sz="1400" dirty="0" err="1"/>
              <a:t>Lavidas</a:t>
            </a:r>
            <a:r>
              <a:rPr lang="en-US" sz="1400" dirty="0"/>
              <a:t> &amp; </a:t>
            </a:r>
            <a:r>
              <a:rPr lang="en-US" sz="1400" dirty="0" err="1"/>
              <a:t>Haug</a:t>
            </a:r>
            <a:r>
              <a:rPr lang="en-US" sz="1400" dirty="0"/>
              <a:t>, 2019; Klein 2011; </a:t>
            </a:r>
            <a:r>
              <a:rPr lang="en-US" sz="1400" dirty="0" err="1"/>
              <a:t>Giannolo</a:t>
            </a:r>
            <a:r>
              <a:rPr lang="en-US" sz="1400" dirty="0"/>
              <a:t> 2011)</a:t>
            </a:r>
          </a:p>
          <a:p>
            <a:endParaRPr lang="en-US" dirty="0"/>
          </a:p>
          <a:p>
            <a:endParaRPr lang="el-GR" dirty="0"/>
          </a:p>
        </p:txBody>
      </p:sp>
      <p:sp>
        <p:nvSpPr>
          <p:cNvPr id="12" name="11 - Στρογγυλεμένο ορθογώνιο"/>
          <p:cNvSpPr/>
          <p:nvPr/>
        </p:nvSpPr>
        <p:spPr>
          <a:xfrm>
            <a:off x="0" y="2132856"/>
            <a:ext cx="6336704" cy="864096"/>
          </a:xfrm>
          <a:prstGeom prst="roundRect">
            <a:avLst/>
          </a:prstGeom>
          <a:solidFill>
            <a:srgbClr val="E0C9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Open-source</a:t>
            </a:r>
            <a:r>
              <a:rPr lang="en-US" dirty="0">
                <a:solidFill>
                  <a:schemeClr val="tx1"/>
                </a:solidFill>
              </a:rPr>
              <a:t> </a:t>
            </a:r>
            <a:r>
              <a:rPr lang="en-US" b="1" dirty="0">
                <a:solidFill>
                  <a:schemeClr val="tx1"/>
                </a:solidFill>
              </a:rPr>
              <a:t>software</a:t>
            </a:r>
            <a:r>
              <a:rPr lang="en-US" dirty="0">
                <a:solidFill>
                  <a:schemeClr val="tx1"/>
                </a:solidFill>
              </a:rPr>
              <a:t> tools and </a:t>
            </a:r>
            <a:r>
              <a:rPr lang="en-US" b="1" dirty="0">
                <a:solidFill>
                  <a:schemeClr val="tx1"/>
                </a:solidFill>
              </a:rPr>
              <a:t>annotation</a:t>
            </a:r>
            <a:r>
              <a:rPr lang="en-US" dirty="0">
                <a:solidFill>
                  <a:schemeClr val="tx1"/>
                </a:solidFill>
              </a:rPr>
              <a:t> schemes</a:t>
            </a:r>
            <a:endParaRPr lang="el-GR" dirty="0">
              <a:solidFill>
                <a:schemeClr val="tx1"/>
              </a:solidFill>
            </a:endParaRPr>
          </a:p>
        </p:txBody>
      </p:sp>
      <p:sp>
        <p:nvSpPr>
          <p:cNvPr id="13" name="12 - Στρογγυλεμένο ορθογώνιο"/>
          <p:cNvSpPr/>
          <p:nvPr/>
        </p:nvSpPr>
        <p:spPr>
          <a:xfrm>
            <a:off x="827584" y="3068960"/>
            <a:ext cx="7200800" cy="1152128"/>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t>
            </a:r>
            <a:r>
              <a:rPr lang="en-US" b="1" u="sng" dirty="0">
                <a:solidFill>
                  <a:schemeClr val="tx1"/>
                </a:solidFill>
              </a:rPr>
              <a:t>Annotation guidelines regarding:</a:t>
            </a:r>
          </a:p>
          <a:p>
            <a:pPr marL="342900" indent="-342900" algn="ctr">
              <a:buAutoNum type="alphaLcParenR"/>
            </a:pPr>
            <a:r>
              <a:rPr lang="en-US" dirty="0">
                <a:solidFill>
                  <a:schemeClr val="tx1"/>
                </a:solidFill>
              </a:rPr>
              <a:t>tokenization and sentence division (fully automated)</a:t>
            </a:r>
          </a:p>
          <a:p>
            <a:pPr marL="342900" indent="-342900" algn="ctr">
              <a:buAutoNum type="alphaLcParenR"/>
            </a:pPr>
            <a:r>
              <a:rPr lang="en-US" dirty="0">
                <a:solidFill>
                  <a:schemeClr val="tx1"/>
                </a:solidFill>
              </a:rPr>
              <a:t>morphological annotation (partly automated)</a:t>
            </a:r>
          </a:p>
          <a:p>
            <a:pPr marL="342900" indent="-342900" algn="ctr"/>
            <a:r>
              <a:rPr lang="en-US" dirty="0">
                <a:solidFill>
                  <a:schemeClr val="tx1"/>
                </a:solidFill>
              </a:rPr>
              <a:t>c) syntactic annotation (manually completed)</a:t>
            </a:r>
            <a:endParaRPr lang="el-GR" dirty="0">
              <a:solidFill>
                <a:schemeClr val="tx1"/>
              </a:solidFill>
            </a:endParaRPr>
          </a:p>
        </p:txBody>
      </p:sp>
      <p:sp>
        <p:nvSpPr>
          <p:cNvPr id="14" name="13 - Στρογγυλεμένο ορθογώνιο"/>
          <p:cNvSpPr/>
          <p:nvPr/>
        </p:nvSpPr>
        <p:spPr>
          <a:xfrm>
            <a:off x="1403648" y="4293096"/>
            <a:ext cx="7740352" cy="2016224"/>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Dependency grammar scheme</a:t>
            </a:r>
            <a:r>
              <a:rPr lang="en-US" dirty="0">
                <a:solidFill>
                  <a:schemeClr val="tx1"/>
                </a:solidFill>
              </a:rPr>
              <a:t> </a:t>
            </a:r>
          </a:p>
          <a:p>
            <a:pPr algn="ctr"/>
            <a:endParaRPr lang="en-US" b="1" dirty="0">
              <a:solidFill>
                <a:schemeClr val="tx1"/>
              </a:solidFill>
            </a:endParaRPr>
          </a:p>
          <a:p>
            <a:pPr algn="ctr"/>
            <a:r>
              <a:rPr lang="en-US" b="1" dirty="0">
                <a:solidFill>
                  <a:schemeClr val="tx1"/>
                </a:solidFill>
              </a:rPr>
              <a:t>Morphological and Syntactic </a:t>
            </a:r>
            <a:r>
              <a:rPr lang="en-US" b="1" dirty="0" err="1">
                <a:solidFill>
                  <a:schemeClr val="tx1"/>
                </a:solidFill>
              </a:rPr>
              <a:t>tagset</a:t>
            </a:r>
            <a:r>
              <a:rPr lang="en-US" dirty="0">
                <a:solidFill>
                  <a:schemeClr val="tx1"/>
                </a:solidFill>
              </a:rPr>
              <a:t>. </a:t>
            </a:r>
          </a:p>
          <a:p>
            <a:pPr algn="just"/>
            <a:endParaRPr lang="en-US" dirty="0">
              <a:solidFill>
                <a:schemeClr val="tx1"/>
              </a:solidFill>
            </a:endParaRPr>
          </a:p>
          <a:p>
            <a:pPr algn="just"/>
            <a:endParaRPr lang="en-US" dirty="0">
              <a:solidFill>
                <a:schemeClr val="tx1"/>
              </a:solidFill>
            </a:endParaRPr>
          </a:p>
          <a:p>
            <a:pPr algn="ctr"/>
            <a:r>
              <a:rPr lang="en-US" dirty="0">
                <a:solidFill>
                  <a:schemeClr val="tx1"/>
                </a:solidFill>
              </a:rPr>
              <a:t>Effective in the analysis of </a:t>
            </a:r>
            <a:r>
              <a:rPr lang="en-US" b="1" dirty="0">
                <a:solidFill>
                  <a:schemeClr val="tx1"/>
                </a:solidFill>
              </a:rPr>
              <a:t>free-word order languages</a:t>
            </a:r>
          </a:p>
        </p:txBody>
      </p:sp>
      <p:sp>
        <p:nvSpPr>
          <p:cNvPr id="15" name="14 - TextBox"/>
          <p:cNvSpPr txBox="1"/>
          <p:nvPr/>
        </p:nvSpPr>
        <p:spPr>
          <a:xfrm>
            <a:off x="7593576" y="6021288"/>
            <a:ext cx="1550424" cy="276999"/>
          </a:xfrm>
          <a:prstGeom prst="rect">
            <a:avLst/>
          </a:prstGeom>
          <a:noFill/>
        </p:spPr>
        <p:txBody>
          <a:bodyPr wrap="none" rtlCol="0">
            <a:spAutoFit/>
          </a:bodyPr>
          <a:lstStyle/>
          <a:p>
            <a:r>
              <a:rPr lang="en-US" sz="1200" dirty="0"/>
              <a:t>(</a:t>
            </a:r>
            <a:r>
              <a:rPr lang="en-US" sz="1200" dirty="0" err="1"/>
              <a:t>Eckoff</a:t>
            </a:r>
            <a:r>
              <a:rPr lang="en-US" sz="1200" dirty="0"/>
              <a:t> et al 2018)</a:t>
            </a:r>
            <a:endParaRPr lang="el-GR" sz="1200" dirty="0"/>
          </a:p>
        </p:txBody>
      </p:sp>
      <p:sp>
        <p:nvSpPr>
          <p:cNvPr id="17" name="16 - Βέλος προς τα κάτω"/>
          <p:cNvSpPr/>
          <p:nvPr/>
        </p:nvSpPr>
        <p:spPr>
          <a:xfrm>
            <a:off x="4932040" y="5301208"/>
            <a:ext cx="360040" cy="5040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 name="Slide Number Placeholder 1">
            <a:extLst>
              <a:ext uri="{FF2B5EF4-FFF2-40B4-BE49-F238E27FC236}">
                <a16:creationId xmlns="" xmlns:a16="http://schemas.microsoft.com/office/drawing/2014/main" id="{1845CCFB-0308-C33B-0832-D6E58383C4E3}"/>
              </a:ext>
            </a:extLst>
          </p:cNvPr>
          <p:cNvSpPr>
            <a:spLocks noGrp="1"/>
          </p:cNvSpPr>
          <p:nvPr>
            <p:ph type="sldNum" sz="quarter" idx="12"/>
          </p:nvPr>
        </p:nvSpPr>
        <p:spPr/>
        <p:txBody>
          <a:bodyPr/>
          <a:lstStyle/>
          <a:p>
            <a:fld id="{084E6F96-DBA9-4966-8C10-B0B4DAA302D2}" type="slidenum">
              <a:rPr lang="el-GR" smtClean="0"/>
              <a:pPr/>
              <a:t>14</a:t>
            </a:fld>
            <a:endParaRPr lang="el-G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graphicFrame>
        <p:nvGraphicFramePr>
          <p:cNvPr id="10" name="9 - Πίνακας"/>
          <p:cNvGraphicFramePr>
            <a:graphicFrameLocks noGrp="1"/>
          </p:cNvGraphicFramePr>
          <p:nvPr/>
        </p:nvGraphicFramePr>
        <p:xfrm>
          <a:off x="1115616" y="692696"/>
          <a:ext cx="7272808" cy="5096632"/>
        </p:xfrm>
        <a:graphic>
          <a:graphicData uri="http://schemas.openxmlformats.org/drawingml/2006/table">
            <a:tbl>
              <a:tblPr/>
              <a:tblGrid>
                <a:gridCol w="1818202">
                  <a:extLst>
                    <a:ext uri="{9D8B030D-6E8A-4147-A177-3AD203B41FA5}">
                      <a16:colId xmlns="" xmlns:a16="http://schemas.microsoft.com/office/drawing/2014/main" val="20000"/>
                    </a:ext>
                  </a:extLst>
                </a:gridCol>
                <a:gridCol w="1818202">
                  <a:extLst>
                    <a:ext uri="{9D8B030D-6E8A-4147-A177-3AD203B41FA5}">
                      <a16:colId xmlns="" xmlns:a16="http://schemas.microsoft.com/office/drawing/2014/main" val="20001"/>
                    </a:ext>
                  </a:extLst>
                </a:gridCol>
                <a:gridCol w="1818202">
                  <a:extLst>
                    <a:ext uri="{9D8B030D-6E8A-4147-A177-3AD203B41FA5}">
                      <a16:colId xmlns="" xmlns:a16="http://schemas.microsoft.com/office/drawing/2014/main" val="20002"/>
                    </a:ext>
                  </a:extLst>
                </a:gridCol>
                <a:gridCol w="1818202">
                  <a:extLst>
                    <a:ext uri="{9D8B030D-6E8A-4147-A177-3AD203B41FA5}">
                      <a16:colId xmlns="" xmlns:a16="http://schemas.microsoft.com/office/drawing/2014/main" val="20003"/>
                    </a:ext>
                  </a:extLst>
                </a:gridCol>
              </a:tblGrid>
              <a:tr h="198915">
                <a:tc gridSpan="2">
                  <a:txBody>
                    <a:bodyPr/>
                    <a:lstStyle/>
                    <a:p>
                      <a:pPr algn="just" rtl="0" fontAlgn="t">
                        <a:spcBef>
                          <a:spcPts val="0"/>
                        </a:spcBef>
                        <a:spcAft>
                          <a:spcPts val="1000"/>
                        </a:spcAft>
                      </a:pPr>
                      <a:r>
                        <a:rPr lang="en-US" sz="1000" b="0" i="0" u="none" strike="noStrike" dirty="0">
                          <a:solidFill>
                            <a:srgbClr val="000000"/>
                          </a:solidFill>
                          <a:latin typeface="Times New Roman"/>
                        </a:rPr>
                        <a:t>PRED</a:t>
                      </a:r>
                      <a:endParaRPr lang="en-US"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tc gridSpan="2">
                  <a:txBody>
                    <a:bodyPr/>
                    <a:lstStyle/>
                    <a:p>
                      <a:pPr algn="just" rtl="0" fontAlgn="t">
                        <a:spcBef>
                          <a:spcPts val="0"/>
                        </a:spcBef>
                        <a:spcAft>
                          <a:spcPts val="1000"/>
                        </a:spcAft>
                      </a:pPr>
                      <a:r>
                        <a:rPr lang="en-US" sz="1000" b="0" i="0" u="none" strike="noStrike">
                          <a:solidFill>
                            <a:srgbClr val="000000"/>
                          </a:solidFill>
                          <a:latin typeface="Times New Roman"/>
                        </a:rPr>
                        <a:t>predicate</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extLst>
                  <a:ext uri="{0D108BD9-81ED-4DB2-BD59-A6C34878D82A}">
                    <a16:rowId xmlns="" xmlns:a16="http://schemas.microsoft.com/office/drawing/2014/main" val="10000"/>
                  </a:ext>
                </a:extLst>
              </a:tr>
              <a:tr h="198915">
                <a:tc gridSpan="2">
                  <a:txBody>
                    <a:bodyPr/>
                    <a:lstStyle/>
                    <a:p>
                      <a:pPr algn="just" rtl="0" fontAlgn="t">
                        <a:spcBef>
                          <a:spcPts val="0"/>
                        </a:spcBef>
                        <a:spcAft>
                          <a:spcPts val="1000"/>
                        </a:spcAft>
                      </a:pPr>
                      <a:r>
                        <a:rPr lang="en-US" sz="1000" b="0" i="0" u="none" strike="noStrike" dirty="0">
                          <a:solidFill>
                            <a:srgbClr val="000000"/>
                          </a:solidFill>
                          <a:latin typeface="Times New Roman"/>
                        </a:rPr>
                        <a:t>VOC</a:t>
                      </a:r>
                      <a:endParaRPr lang="en-US"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tc gridSpan="2">
                  <a:txBody>
                    <a:bodyPr/>
                    <a:lstStyle/>
                    <a:p>
                      <a:pPr algn="just" rtl="0" fontAlgn="t">
                        <a:spcBef>
                          <a:spcPts val="0"/>
                        </a:spcBef>
                        <a:spcAft>
                          <a:spcPts val="1000"/>
                        </a:spcAft>
                      </a:pPr>
                      <a:r>
                        <a:rPr lang="en-US" sz="1000" b="0" i="0" u="none" strike="noStrike">
                          <a:solidFill>
                            <a:srgbClr val="000000"/>
                          </a:solidFill>
                          <a:latin typeface="Times New Roman"/>
                        </a:rPr>
                        <a:t>vocative</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extLst>
                  <a:ext uri="{0D108BD9-81ED-4DB2-BD59-A6C34878D82A}">
                    <a16:rowId xmlns="" xmlns:a16="http://schemas.microsoft.com/office/drawing/2014/main" val="10001"/>
                  </a:ext>
                </a:extLst>
              </a:tr>
              <a:tr h="198915">
                <a:tc gridSpan="2">
                  <a:txBody>
                    <a:bodyPr/>
                    <a:lstStyle/>
                    <a:p>
                      <a:pPr algn="just" rtl="0" fontAlgn="t">
                        <a:spcBef>
                          <a:spcPts val="0"/>
                        </a:spcBef>
                        <a:spcAft>
                          <a:spcPts val="1000"/>
                        </a:spcAft>
                      </a:pPr>
                      <a:r>
                        <a:rPr lang="en-US" sz="1000" b="0" i="0" u="none" strike="noStrike" dirty="0">
                          <a:solidFill>
                            <a:srgbClr val="000000"/>
                          </a:solidFill>
                          <a:latin typeface="Times New Roman"/>
                        </a:rPr>
                        <a:t>COMP</a:t>
                      </a:r>
                      <a:endParaRPr lang="en-US"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tc gridSpan="2">
                  <a:txBody>
                    <a:bodyPr/>
                    <a:lstStyle/>
                    <a:p>
                      <a:pPr algn="just" rtl="0" fontAlgn="t">
                        <a:spcBef>
                          <a:spcPts val="0"/>
                        </a:spcBef>
                        <a:spcAft>
                          <a:spcPts val="1000"/>
                        </a:spcAft>
                      </a:pPr>
                      <a:r>
                        <a:rPr lang="en-US" sz="1000" b="0" i="0" u="none" strike="noStrike">
                          <a:solidFill>
                            <a:srgbClr val="000000"/>
                          </a:solidFill>
                          <a:latin typeface="Times New Roman"/>
                        </a:rPr>
                        <a:t>complement </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extLst>
                  <a:ext uri="{0D108BD9-81ED-4DB2-BD59-A6C34878D82A}">
                    <a16:rowId xmlns="" xmlns:a16="http://schemas.microsoft.com/office/drawing/2014/main" val="10002"/>
                  </a:ext>
                </a:extLst>
              </a:tr>
              <a:tr h="198915">
                <a:tc gridSpan="2">
                  <a:txBody>
                    <a:bodyPr/>
                    <a:lstStyle/>
                    <a:p>
                      <a:pPr algn="just" rtl="0" fontAlgn="t">
                        <a:spcBef>
                          <a:spcPts val="0"/>
                        </a:spcBef>
                        <a:spcAft>
                          <a:spcPts val="1000"/>
                        </a:spcAft>
                      </a:pPr>
                      <a:r>
                        <a:rPr lang="en-US" sz="1000" b="0" i="0" u="none" strike="noStrike" dirty="0">
                          <a:solidFill>
                            <a:srgbClr val="000000"/>
                          </a:solidFill>
                          <a:latin typeface="Times New Roman"/>
                        </a:rPr>
                        <a:t>PARPRED</a:t>
                      </a:r>
                      <a:endParaRPr lang="en-US"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tc gridSpan="2">
                  <a:txBody>
                    <a:bodyPr/>
                    <a:lstStyle/>
                    <a:p>
                      <a:pPr algn="just" rtl="0" fontAlgn="t">
                        <a:spcBef>
                          <a:spcPts val="0"/>
                        </a:spcBef>
                        <a:spcAft>
                          <a:spcPts val="1000"/>
                        </a:spcAft>
                      </a:pPr>
                      <a:r>
                        <a:rPr lang="en-US" sz="1000" b="0" i="0" u="none" strike="noStrike">
                          <a:solidFill>
                            <a:srgbClr val="000000"/>
                          </a:solidFill>
                          <a:latin typeface="Times New Roman"/>
                        </a:rPr>
                        <a:t>parenthetical predication</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extLst>
                  <a:ext uri="{0D108BD9-81ED-4DB2-BD59-A6C34878D82A}">
                    <a16:rowId xmlns="" xmlns:a16="http://schemas.microsoft.com/office/drawing/2014/main" val="10003"/>
                  </a:ext>
                </a:extLst>
              </a:tr>
              <a:tr h="198915">
                <a:tc gridSpan="2">
                  <a:txBody>
                    <a:bodyPr/>
                    <a:lstStyle/>
                    <a:p>
                      <a:pPr algn="just" rtl="0" fontAlgn="t">
                        <a:spcBef>
                          <a:spcPts val="0"/>
                        </a:spcBef>
                        <a:spcAft>
                          <a:spcPts val="1000"/>
                        </a:spcAft>
                      </a:pPr>
                      <a:r>
                        <a:rPr lang="en-US" sz="1000" b="0" i="0" u="none" strike="noStrike" dirty="0">
                          <a:solidFill>
                            <a:srgbClr val="000000"/>
                          </a:solidFill>
                          <a:latin typeface="Times New Roman"/>
                        </a:rPr>
                        <a:t>AUX</a:t>
                      </a:r>
                      <a:endParaRPr lang="en-US"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tc gridSpan="2">
                  <a:txBody>
                    <a:bodyPr/>
                    <a:lstStyle/>
                    <a:p>
                      <a:pPr algn="just" rtl="0" fontAlgn="t">
                        <a:spcBef>
                          <a:spcPts val="0"/>
                        </a:spcBef>
                        <a:spcAft>
                          <a:spcPts val="1000"/>
                        </a:spcAft>
                      </a:pPr>
                      <a:r>
                        <a:rPr lang="en-US" sz="1000" b="0" i="0" u="none" strike="noStrike">
                          <a:solidFill>
                            <a:srgbClr val="000000"/>
                          </a:solidFill>
                          <a:latin typeface="Times New Roman"/>
                        </a:rPr>
                        <a:t>Auxiliary</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extLst>
                  <a:ext uri="{0D108BD9-81ED-4DB2-BD59-A6C34878D82A}">
                    <a16:rowId xmlns="" xmlns:a16="http://schemas.microsoft.com/office/drawing/2014/main" val="10004"/>
                  </a:ext>
                </a:extLst>
              </a:tr>
              <a:tr h="198915">
                <a:tc gridSpan="2">
                  <a:txBody>
                    <a:bodyPr/>
                    <a:lstStyle/>
                    <a:p>
                      <a:pPr algn="just" rtl="0" fontAlgn="t">
                        <a:spcBef>
                          <a:spcPts val="0"/>
                        </a:spcBef>
                        <a:spcAft>
                          <a:spcPts val="1000"/>
                        </a:spcAft>
                      </a:pPr>
                      <a:r>
                        <a:rPr lang="en-US" sz="1000" b="0" i="0" u="none" strike="noStrike" dirty="0">
                          <a:solidFill>
                            <a:srgbClr val="000000"/>
                          </a:solidFill>
                          <a:latin typeface="Times New Roman"/>
                        </a:rPr>
                        <a:t>Verbal dependencies</a:t>
                      </a:r>
                      <a:endParaRPr lang="en-US"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tc gridSpan="2">
                  <a:txBody>
                    <a:bodyPr/>
                    <a:lstStyle/>
                    <a:p>
                      <a:pPr algn="just" rtl="0" fontAlgn="t">
                        <a:spcBef>
                          <a:spcPts val="0"/>
                        </a:spcBef>
                        <a:spcAft>
                          <a:spcPts val="1000"/>
                        </a:spcAft>
                      </a:pPr>
                      <a:r>
                        <a:rPr lang="en-US" sz="1000" b="0" i="0" u="none" strike="noStrike">
                          <a:solidFill>
                            <a:srgbClr val="000000"/>
                          </a:solidFill>
                          <a:latin typeface="Times New Roman"/>
                        </a:rPr>
                        <a:t>Adnominal dependencies</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extLst>
                  <a:ext uri="{0D108BD9-81ED-4DB2-BD59-A6C34878D82A}">
                    <a16:rowId xmlns="" xmlns:a16="http://schemas.microsoft.com/office/drawing/2014/main" val="10005"/>
                  </a:ext>
                </a:extLst>
              </a:tr>
              <a:tr h="198915">
                <a:tc>
                  <a:txBody>
                    <a:bodyPr/>
                    <a:lstStyle/>
                    <a:p>
                      <a:pPr algn="just" rtl="0" fontAlgn="t">
                        <a:spcBef>
                          <a:spcPts val="0"/>
                        </a:spcBef>
                        <a:spcAft>
                          <a:spcPts val="1000"/>
                        </a:spcAft>
                      </a:pPr>
                      <a:r>
                        <a:rPr lang="en-US" sz="1000" b="0" i="0" u="none" strike="noStrike" dirty="0">
                          <a:solidFill>
                            <a:srgbClr val="000000"/>
                          </a:solidFill>
                          <a:latin typeface="Times New Roman"/>
                        </a:rPr>
                        <a:t>SUB</a:t>
                      </a:r>
                      <a:endParaRPr lang="en-US"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rtl="0" fontAlgn="t">
                        <a:spcBef>
                          <a:spcPts val="0"/>
                        </a:spcBef>
                        <a:spcAft>
                          <a:spcPts val="1000"/>
                        </a:spcAft>
                      </a:pPr>
                      <a:r>
                        <a:rPr lang="en-US" sz="1000" b="0" i="0" u="none" strike="noStrike" dirty="0">
                          <a:solidFill>
                            <a:srgbClr val="000000"/>
                          </a:solidFill>
                          <a:latin typeface="Times New Roman"/>
                        </a:rPr>
                        <a:t>subject</a:t>
                      </a:r>
                      <a:endParaRPr lang="en-US"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rtl="0" fontAlgn="t">
                        <a:spcBef>
                          <a:spcPts val="0"/>
                        </a:spcBef>
                        <a:spcAft>
                          <a:spcPts val="1000"/>
                        </a:spcAft>
                      </a:pPr>
                      <a:r>
                        <a:rPr lang="en-US" sz="1000" b="0" i="0" u="none" strike="noStrike">
                          <a:solidFill>
                            <a:srgbClr val="000000"/>
                          </a:solidFill>
                          <a:latin typeface="Times New Roman"/>
                        </a:rPr>
                        <a:t>ATR</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rtl="0" fontAlgn="t">
                        <a:spcBef>
                          <a:spcPts val="0"/>
                        </a:spcBef>
                        <a:spcAft>
                          <a:spcPts val="1000"/>
                        </a:spcAft>
                      </a:pPr>
                      <a:r>
                        <a:rPr lang="en-US" sz="1000" b="0" i="0" u="none" strike="noStrike">
                          <a:solidFill>
                            <a:srgbClr val="000000"/>
                          </a:solidFill>
                          <a:latin typeface="Times New Roman"/>
                        </a:rPr>
                        <a:t>Attribute</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6"/>
                  </a:ext>
                </a:extLst>
              </a:tr>
              <a:tr h="198915">
                <a:tc>
                  <a:txBody>
                    <a:bodyPr/>
                    <a:lstStyle/>
                    <a:p>
                      <a:pPr algn="just" rtl="0" fontAlgn="t">
                        <a:spcBef>
                          <a:spcPts val="0"/>
                        </a:spcBef>
                        <a:spcAft>
                          <a:spcPts val="1000"/>
                        </a:spcAft>
                      </a:pPr>
                      <a:r>
                        <a:rPr lang="en-US" sz="1000" b="0" i="0" u="none" strike="noStrike">
                          <a:solidFill>
                            <a:srgbClr val="000000"/>
                          </a:solidFill>
                          <a:latin typeface="Times New Roman"/>
                        </a:rPr>
                        <a:t>OBJ</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rtl="0" fontAlgn="t">
                        <a:spcBef>
                          <a:spcPts val="0"/>
                        </a:spcBef>
                        <a:spcAft>
                          <a:spcPts val="1000"/>
                        </a:spcAft>
                      </a:pPr>
                      <a:r>
                        <a:rPr lang="en-US" sz="1000" b="0" i="0" u="none" strike="noStrike" dirty="0">
                          <a:solidFill>
                            <a:srgbClr val="000000"/>
                          </a:solidFill>
                          <a:latin typeface="Times New Roman"/>
                        </a:rPr>
                        <a:t>object</a:t>
                      </a:r>
                      <a:endParaRPr lang="en-US"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rtl="0" fontAlgn="t">
                        <a:spcBef>
                          <a:spcPts val="0"/>
                        </a:spcBef>
                        <a:spcAft>
                          <a:spcPts val="1000"/>
                        </a:spcAft>
                      </a:pPr>
                      <a:r>
                        <a:rPr lang="en-US" sz="1000" b="0" i="0" u="none" strike="noStrike">
                          <a:solidFill>
                            <a:srgbClr val="000000"/>
                          </a:solidFill>
                          <a:latin typeface="Times New Roman"/>
                        </a:rPr>
                        <a:t>PART</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rtl="0" fontAlgn="t">
                        <a:spcBef>
                          <a:spcPts val="0"/>
                        </a:spcBef>
                        <a:spcAft>
                          <a:spcPts val="1000"/>
                        </a:spcAft>
                      </a:pPr>
                      <a:r>
                        <a:rPr lang="en-US" sz="1000" b="0" i="0" u="none" strike="noStrike">
                          <a:solidFill>
                            <a:srgbClr val="000000"/>
                          </a:solidFill>
                          <a:latin typeface="Times New Roman"/>
                        </a:rPr>
                        <a:t>Partitive</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7"/>
                  </a:ext>
                </a:extLst>
              </a:tr>
              <a:tr h="515306">
                <a:tc>
                  <a:txBody>
                    <a:bodyPr/>
                    <a:lstStyle/>
                    <a:p>
                      <a:pPr algn="just" rtl="0" fontAlgn="t">
                        <a:spcBef>
                          <a:spcPts val="0"/>
                        </a:spcBef>
                        <a:spcAft>
                          <a:spcPts val="1000"/>
                        </a:spcAft>
                      </a:pPr>
                      <a:r>
                        <a:rPr lang="en-US" sz="1000" b="0" i="0" u="none" strike="noStrike">
                          <a:solidFill>
                            <a:srgbClr val="000000"/>
                          </a:solidFill>
                          <a:latin typeface="Times New Roman"/>
                        </a:rPr>
                        <a:t>OBL</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rtl="0" fontAlgn="t">
                        <a:spcBef>
                          <a:spcPts val="0"/>
                        </a:spcBef>
                        <a:spcAft>
                          <a:spcPts val="1000"/>
                        </a:spcAft>
                      </a:pPr>
                      <a:r>
                        <a:rPr lang="fr-FR" sz="1000" b="0" i="0" u="none" strike="noStrike" dirty="0">
                          <a:solidFill>
                            <a:srgbClr val="000000"/>
                          </a:solidFill>
                          <a:latin typeface="Times New Roman"/>
                        </a:rPr>
                        <a:t>oblique (verbal arguments in oblique cases)</a:t>
                      </a:r>
                      <a:endParaRPr lang="fr-FR"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rtl="0" fontAlgn="t">
                        <a:spcBef>
                          <a:spcPts val="0"/>
                        </a:spcBef>
                        <a:spcAft>
                          <a:spcPts val="1000"/>
                        </a:spcAft>
                      </a:pPr>
                      <a:r>
                        <a:rPr lang="en-US" sz="1000" b="0" i="0" u="none" strike="noStrike">
                          <a:solidFill>
                            <a:srgbClr val="000000"/>
                          </a:solidFill>
                          <a:latin typeface="Times New Roman"/>
                        </a:rPr>
                        <a:t>NARG</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rtl="0" fontAlgn="t">
                        <a:spcBef>
                          <a:spcPts val="0"/>
                        </a:spcBef>
                        <a:spcAft>
                          <a:spcPts val="1000"/>
                        </a:spcAft>
                      </a:pPr>
                      <a:r>
                        <a:rPr lang="en-US" sz="1000" b="0" i="0" u="none" strike="noStrike">
                          <a:solidFill>
                            <a:srgbClr val="000000"/>
                          </a:solidFill>
                          <a:latin typeface="Times New Roman"/>
                        </a:rPr>
                        <a:t>noun argument</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8"/>
                  </a:ext>
                </a:extLst>
              </a:tr>
              <a:tr h="198915">
                <a:tc>
                  <a:txBody>
                    <a:bodyPr/>
                    <a:lstStyle/>
                    <a:p>
                      <a:pPr algn="just" rtl="0" fontAlgn="t">
                        <a:spcBef>
                          <a:spcPts val="0"/>
                        </a:spcBef>
                        <a:spcAft>
                          <a:spcPts val="1000"/>
                        </a:spcAft>
                      </a:pPr>
                      <a:r>
                        <a:rPr lang="en-US" sz="1000" b="0" i="0" u="none" strike="noStrike">
                          <a:solidFill>
                            <a:srgbClr val="000000"/>
                          </a:solidFill>
                          <a:latin typeface="Times New Roman"/>
                        </a:rPr>
                        <a:t>AG</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rtl="0" fontAlgn="t">
                        <a:spcBef>
                          <a:spcPts val="0"/>
                        </a:spcBef>
                        <a:spcAft>
                          <a:spcPts val="1000"/>
                        </a:spcAft>
                      </a:pPr>
                      <a:r>
                        <a:rPr lang="en-US" sz="1000" b="0" i="0" u="none" strike="noStrike" dirty="0">
                          <a:solidFill>
                            <a:srgbClr val="000000"/>
                          </a:solidFill>
                          <a:latin typeface="Times New Roman"/>
                        </a:rPr>
                        <a:t>passive agent</a:t>
                      </a:r>
                      <a:endParaRPr lang="en-US"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rtl="0" fontAlgn="t">
                        <a:spcBef>
                          <a:spcPts val="0"/>
                        </a:spcBef>
                        <a:spcAft>
                          <a:spcPts val="1000"/>
                        </a:spcAft>
                      </a:pPr>
                      <a:r>
                        <a:rPr lang="en-US" sz="1000" b="0" i="0" u="none" strike="noStrike">
                          <a:solidFill>
                            <a:srgbClr val="000000"/>
                          </a:solidFill>
                          <a:latin typeface="Times New Roman"/>
                        </a:rPr>
                        <a:t>APOS</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rtl="0" fontAlgn="t">
                        <a:spcBef>
                          <a:spcPts val="0"/>
                        </a:spcBef>
                        <a:spcAft>
                          <a:spcPts val="1000"/>
                        </a:spcAft>
                      </a:pPr>
                      <a:r>
                        <a:rPr lang="en-US" sz="1000" b="0" i="0" u="none" strike="noStrike">
                          <a:solidFill>
                            <a:srgbClr val="000000"/>
                          </a:solidFill>
                          <a:latin typeface="Times New Roman"/>
                        </a:rPr>
                        <a:t>Appositions</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9"/>
                  </a:ext>
                </a:extLst>
              </a:tr>
              <a:tr h="357110">
                <a:tc>
                  <a:txBody>
                    <a:bodyPr/>
                    <a:lstStyle/>
                    <a:p>
                      <a:pPr algn="just" rtl="0" fontAlgn="t">
                        <a:spcBef>
                          <a:spcPts val="0"/>
                        </a:spcBef>
                        <a:spcAft>
                          <a:spcPts val="1000"/>
                        </a:spcAft>
                      </a:pPr>
                      <a:r>
                        <a:rPr lang="en-US" sz="1000" b="0" i="0" u="none" strike="noStrike">
                          <a:solidFill>
                            <a:srgbClr val="000000"/>
                          </a:solidFill>
                          <a:latin typeface="Times New Roman"/>
                        </a:rPr>
                        <a:t>ADV</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rtl="0" fontAlgn="t">
                        <a:spcBef>
                          <a:spcPts val="0"/>
                        </a:spcBef>
                        <a:spcAft>
                          <a:spcPts val="1000"/>
                        </a:spcAft>
                      </a:pPr>
                      <a:r>
                        <a:rPr lang="en-US" sz="1000" b="0" i="0" u="none" strike="noStrike" dirty="0">
                          <a:solidFill>
                            <a:srgbClr val="000000"/>
                          </a:solidFill>
                          <a:latin typeface="Times New Roman"/>
                        </a:rPr>
                        <a:t>adverbial</a:t>
                      </a:r>
                      <a:endParaRPr lang="en-US"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t"/>
                      <a:r>
                        <a:rPr lang="el-GR" sz="1000"/>
                        <a:t/>
                      </a:r>
                      <a:br>
                        <a:rPr lang="el-GR" sz="1000"/>
                      </a:br>
                      <a:endParaRPr lang="el-GR"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t"/>
                      <a:r>
                        <a:rPr lang="el-GR" sz="1000"/>
                        <a:t/>
                      </a:r>
                      <a:br>
                        <a:rPr lang="el-GR" sz="1000"/>
                      </a:br>
                      <a:endParaRPr lang="el-GR"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0"/>
                  </a:ext>
                </a:extLst>
              </a:tr>
              <a:tr h="357110">
                <a:tc>
                  <a:txBody>
                    <a:bodyPr/>
                    <a:lstStyle/>
                    <a:p>
                      <a:pPr algn="just" rtl="0" fontAlgn="t">
                        <a:spcBef>
                          <a:spcPts val="0"/>
                        </a:spcBef>
                        <a:spcAft>
                          <a:spcPts val="1000"/>
                        </a:spcAft>
                      </a:pPr>
                      <a:r>
                        <a:rPr lang="en-US" sz="1000" b="0" i="0" u="none" strike="noStrike">
                          <a:solidFill>
                            <a:srgbClr val="000000"/>
                          </a:solidFill>
                          <a:latin typeface="Times New Roman"/>
                        </a:rPr>
                        <a:t>XOBJ</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rtl="0" fontAlgn="t">
                        <a:spcBef>
                          <a:spcPts val="0"/>
                        </a:spcBef>
                        <a:spcAft>
                          <a:spcPts val="1000"/>
                        </a:spcAft>
                      </a:pPr>
                      <a:r>
                        <a:rPr lang="en-US" sz="1000" b="0" i="0" u="none" strike="noStrike" dirty="0">
                          <a:solidFill>
                            <a:srgbClr val="000000"/>
                          </a:solidFill>
                          <a:latin typeface="Times New Roman"/>
                        </a:rPr>
                        <a:t>predicative complements</a:t>
                      </a:r>
                      <a:endParaRPr lang="en-US"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t"/>
                      <a:r>
                        <a:rPr lang="el-GR" sz="1000" dirty="0"/>
                        <a:t/>
                      </a:r>
                      <a:br>
                        <a:rPr lang="el-GR" sz="1000" dirty="0"/>
                      </a:br>
                      <a:endParaRPr lang="el-GR"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t"/>
                      <a:r>
                        <a:rPr lang="el-GR" sz="1000"/>
                        <a:t/>
                      </a:r>
                      <a:br>
                        <a:rPr lang="el-GR" sz="1000"/>
                      </a:br>
                      <a:endParaRPr lang="el-GR"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1"/>
                  </a:ext>
                </a:extLst>
              </a:tr>
              <a:tr h="357110">
                <a:tc>
                  <a:txBody>
                    <a:bodyPr/>
                    <a:lstStyle/>
                    <a:p>
                      <a:pPr algn="just" rtl="0" fontAlgn="t">
                        <a:spcBef>
                          <a:spcPts val="0"/>
                        </a:spcBef>
                        <a:spcAft>
                          <a:spcPts val="1000"/>
                        </a:spcAft>
                      </a:pPr>
                      <a:r>
                        <a:rPr lang="en-US" sz="1000" b="0" i="0" u="none" strike="noStrike">
                          <a:solidFill>
                            <a:srgbClr val="000000"/>
                          </a:solidFill>
                          <a:latin typeface="Times New Roman"/>
                        </a:rPr>
                        <a:t>APOS</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rtl="0" fontAlgn="t">
                        <a:spcBef>
                          <a:spcPts val="0"/>
                        </a:spcBef>
                        <a:spcAft>
                          <a:spcPts val="1000"/>
                        </a:spcAft>
                      </a:pPr>
                      <a:r>
                        <a:rPr lang="en-US" sz="1000" b="0" i="0" u="none" strike="noStrike">
                          <a:solidFill>
                            <a:srgbClr val="000000"/>
                          </a:solidFill>
                          <a:latin typeface="Times New Roman"/>
                        </a:rPr>
                        <a:t>adverbial appositions</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t"/>
                      <a:r>
                        <a:rPr lang="el-GR" sz="1000" dirty="0"/>
                        <a:t/>
                      </a:r>
                      <a:br>
                        <a:rPr lang="el-GR" sz="1000" dirty="0"/>
                      </a:br>
                      <a:endParaRPr lang="el-GR"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t"/>
                      <a:r>
                        <a:rPr lang="el-GR" sz="1000"/>
                        <a:t/>
                      </a:r>
                      <a:br>
                        <a:rPr lang="el-GR" sz="1000"/>
                      </a:br>
                      <a:endParaRPr lang="el-GR"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2"/>
                  </a:ext>
                </a:extLst>
              </a:tr>
              <a:tr h="357110">
                <a:tc>
                  <a:txBody>
                    <a:bodyPr/>
                    <a:lstStyle/>
                    <a:p>
                      <a:pPr algn="just" rtl="0" fontAlgn="t">
                        <a:spcBef>
                          <a:spcPts val="0"/>
                        </a:spcBef>
                        <a:spcAft>
                          <a:spcPts val="1000"/>
                        </a:spcAft>
                      </a:pPr>
                      <a:r>
                        <a:rPr lang="en-US" sz="1000" b="0" i="0" u="none" strike="noStrike">
                          <a:solidFill>
                            <a:srgbClr val="000000"/>
                          </a:solidFill>
                          <a:latin typeface="Times New Roman"/>
                        </a:rPr>
                        <a:t>XADV</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rtl="0" fontAlgn="t">
                        <a:spcBef>
                          <a:spcPts val="0"/>
                        </a:spcBef>
                        <a:spcAft>
                          <a:spcPts val="1000"/>
                        </a:spcAft>
                      </a:pPr>
                      <a:r>
                        <a:rPr lang="en-US" sz="1000" b="0" i="0" u="none" strike="noStrike">
                          <a:solidFill>
                            <a:srgbClr val="000000"/>
                          </a:solidFill>
                          <a:latin typeface="Times New Roman"/>
                        </a:rPr>
                        <a:t>conjunct (or predicative) participles</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t"/>
                      <a:r>
                        <a:rPr lang="el-GR" sz="1000" dirty="0"/>
                        <a:t/>
                      </a:r>
                      <a:br>
                        <a:rPr lang="el-GR" sz="1000" dirty="0"/>
                      </a:br>
                      <a:endParaRPr lang="el-GR"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t"/>
                      <a:r>
                        <a:rPr lang="el-GR" sz="1000"/>
                        <a:t/>
                      </a:r>
                      <a:br>
                        <a:rPr lang="el-GR" sz="1000"/>
                      </a:br>
                      <a:endParaRPr lang="el-GR"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3"/>
                  </a:ext>
                </a:extLst>
              </a:tr>
              <a:tr h="198915">
                <a:tc gridSpan="4">
                  <a:txBody>
                    <a:bodyPr/>
                    <a:lstStyle/>
                    <a:p>
                      <a:pPr algn="just" rtl="0" fontAlgn="t">
                        <a:spcBef>
                          <a:spcPts val="0"/>
                        </a:spcBef>
                        <a:spcAft>
                          <a:spcPts val="1000"/>
                        </a:spcAft>
                      </a:pPr>
                      <a:r>
                        <a:rPr lang="en-US" sz="1000" b="0" i="0" u="none" strike="noStrike" dirty="0" err="1">
                          <a:solidFill>
                            <a:srgbClr val="000000"/>
                          </a:solidFill>
                          <a:latin typeface="Times New Roman"/>
                        </a:rPr>
                        <a:t>Supertags</a:t>
                      </a:r>
                      <a:r>
                        <a:rPr lang="en-US" sz="1000" b="0" i="0" u="none" strike="noStrike" dirty="0">
                          <a:solidFill>
                            <a:srgbClr val="000000"/>
                          </a:solidFill>
                          <a:latin typeface="Times New Roman"/>
                        </a:rPr>
                        <a:t> (ambiguous cases)</a:t>
                      </a:r>
                      <a:endParaRPr lang="en-US"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tc hMerge="1">
                  <a:txBody>
                    <a:bodyPr/>
                    <a:lstStyle/>
                    <a:p>
                      <a:endParaRPr lang="el-GR"/>
                    </a:p>
                  </a:txBody>
                  <a:tcPr/>
                </a:tc>
                <a:tc hMerge="1">
                  <a:txBody>
                    <a:bodyPr/>
                    <a:lstStyle/>
                    <a:p>
                      <a:endParaRPr lang="el-GR"/>
                    </a:p>
                  </a:txBody>
                  <a:tcPr/>
                </a:tc>
                <a:extLst>
                  <a:ext uri="{0D108BD9-81ED-4DB2-BD59-A6C34878D82A}">
                    <a16:rowId xmlns="" xmlns:a16="http://schemas.microsoft.com/office/drawing/2014/main" val="10014"/>
                  </a:ext>
                </a:extLst>
              </a:tr>
              <a:tr h="198915">
                <a:tc gridSpan="2">
                  <a:txBody>
                    <a:bodyPr/>
                    <a:lstStyle/>
                    <a:p>
                      <a:pPr algn="just" rtl="0" fontAlgn="t">
                        <a:spcBef>
                          <a:spcPts val="0"/>
                        </a:spcBef>
                        <a:spcAft>
                          <a:spcPts val="1000"/>
                        </a:spcAft>
                      </a:pPr>
                      <a:r>
                        <a:rPr lang="en-US" sz="1000" b="0" i="0" u="none" strike="noStrike">
                          <a:solidFill>
                            <a:srgbClr val="000000"/>
                          </a:solidFill>
                          <a:latin typeface="Times New Roman"/>
                        </a:rPr>
                        <a:t>PER</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tc gridSpan="2">
                  <a:txBody>
                    <a:bodyPr/>
                    <a:lstStyle/>
                    <a:p>
                      <a:pPr algn="just" rtl="0" fontAlgn="t">
                        <a:spcBef>
                          <a:spcPts val="0"/>
                        </a:spcBef>
                        <a:spcAft>
                          <a:spcPts val="1000"/>
                        </a:spcAft>
                      </a:pPr>
                      <a:r>
                        <a:rPr lang="en-US" sz="1000" b="0" i="0" u="none" strike="noStrike" dirty="0">
                          <a:solidFill>
                            <a:srgbClr val="000000"/>
                          </a:solidFill>
                          <a:latin typeface="Times New Roman"/>
                        </a:rPr>
                        <a:t>OBL or ADV</a:t>
                      </a:r>
                      <a:endParaRPr lang="en-US"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extLst>
                  <a:ext uri="{0D108BD9-81ED-4DB2-BD59-A6C34878D82A}">
                    <a16:rowId xmlns="" xmlns:a16="http://schemas.microsoft.com/office/drawing/2014/main" val="10015"/>
                  </a:ext>
                </a:extLst>
              </a:tr>
              <a:tr h="198915">
                <a:tc gridSpan="2">
                  <a:txBody>
                    <a:bodyPr/>
                    <a:lstStyle/>
                    <a:p>
                      <a:pPr algn="just" rtl="0" fontAlgn="t">
                        <a:spcBef>
                          <a:spcPts val="0"/>
                        </a:spcBef>
                        <a:spcAft>
                          <a:spcPts val="1000"/>
                        </a:spcAft>
                      </a:pPr>
                      <a:r>
                        <a:rPr lang="en-US" sz="1000" b="0" i="0" u="none" strike="noStrike">
                          <a:solidFill>
                            <a:srgbClr val="000000"/>
                          </a:solidFill>
                          <a:latin typeface="Times New Roman"/>
                        </a:rPr>
                        <a:t>ARG</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tc gridSpan="2">
                  <a:txBody>
                    <a:bodyPr/>
                    <a:lstStyle/>
                    <a:p>
                      <a:pPr algn="just" rtl="0" fontAlgn="t">
                        <a:spcBef>
                          <a:spcPts val="0"/>
                        </a:spcBef>
                        <a:spcAft>
                          <a:spcPts val="1000"/>
                        </a:spcAft>
                      </a:pPr>
                      <a:r>
                        <a:rPr lang="en-US" sz="1000" b="0" i="0" u="none" strike="noStrike" dirty="0">
                          <a:solidFill>
                            <a:srgbClr val="000000"/>
                          </a:solidFill>
                          <a:latin typeface="Times New Roman"/>
                        </a:rPr>
                        <a:t>OBJ or OBL</a:t>
                      </a:r>
                      <a:endParaRPr lang="en-US"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extLst>
                  <a:ext uri="{0D108BD9-81ED-4DB2-BD59-A6C34878D82A}">
                    <a16:rowId xmlns="" xmlns:a16="http://schemas.microsoft.com/office/drawing/2014/main" val="10016"/>
                  </a:ext>
                </a:extLst>
              </a:tr>
              <a:tr h="198915">
                <a:tc gridSpan="2">
                  <a:txBody>
                    <a:bodyPr/>
                    <a:lstStyle/>
                    <a:p>
                      <a:pPr algn="just" rtl="0" fontAlgn="t">
                        <a:spcBef>
                          <a:spcPts val="0"/>
                        </a:spcBef>
                        <a:spcAft>
                          <a:spcPts val="1000"/>
                        </a:spcAft>
                      </a:pPr>
                      <a:r>
                        <a:rPr lang="en-US" sz="1000" b="0" i="0" u="none" strike="noStrike">
                          <a:solidFill>
                            <a:srgbClr val="000000"/>
                          </a:solidFill>
                          <a:latin typeface="Times New Roman"/>
                        </a:rPr>
                        <a:t>NONSUB</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tc gridSpan="2">
                  <a:txBody>
                    <a:bodyPr/>
                    <a:lstStyle/>
                    <a:p>
                      <a:pPr algn="just" rtl="0" fontAlgn="t">
                        <a:spcBef>
                          <a:spcPts val="0"/>
                        </a:spcBef>
                        <a:spcAft>
                          <a:spcPts val="1000"/>
                        </a:spcAft>
                      </a:pPr>
                      <a:r>
                        <a:rPr lang="en-US" sz="1000" b="0" i="0" u="none" strike="noStrike" dirty="0">
                          <a:solidFill>
                            <a:srgbClr val="000000"/>
                          </a:solidFill>
                          <a:latin typeface="Times New Roman"/>
                        </a:rPr>
                        <a:t>OBJ, OBL or ADV</a:t>
                      </a:r>
                      <a:endParaRPr lang="en-US"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extLst>
                  <a:ext uri="{0D108BD9-81ED-4DB2-BD59-A6C34878D82A}">
                    <a16:rowId xmlns="" xmlns:a16="http://schemas.microsoft.com/office/drawing/2014/main" val="10017"/>
                  </a:ext>
                </a:extLst>
              </a:tr>
              <a:tr h="198915">
                <a:tc gridSpan="2">
                  <a:txBody>
                    <a:bodyPr/>
                    <a:lstStyle/>
                    <a:p>
                      <a:pPr algn="just" rtl="0" fontAlgn="t">
                        <a:spcBef>
                          <a:spcPts val="0"/>
                        </a:spcBef>
                        <a:spcAft>
                          <a:spcPts val="1000"/>
                        </a:spcAft>
                      </a:pPr>
                      <a:r>
                        <a:rPr lang="en-US" sz="1000" b="0" i="0" u="none" strike="noStrike">
                          <a:solidFill>
                            <a:srgbClr val="000000"/>
                          </a:solidFill>
                          <a:latin typeface="Times New Roman"/>
                        </a:rPr>
                        <a:t>ADNOM</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tc gridSpan="2">
                  <a:txBody>
                    <a:bodyPr/>
                    <a:lstStyle/>
                    <a:p>
                      <a:pPr algn="just" rtl="0" fontAlgn="t">
                        <a:spcBef>
                          <a:spcPts val="0"/>
                        </a:spcBef>
                        <a:spcAft>
                          <a:spcPts val="1000"/>
                        </a:spcAft>
                      </a:pPr>
                      <a:r>
                        <a:rPr lang="en-US" sz="1000" b="0" i="0" u="none" strike="noStrike" dirty="0">
                          <a:solidFill>
                            <a:srgbClr val="000000"/>
                          </a:solidFill>
                          <a:latin typeface="Times New Roman"/>
                        </a:rPr>
                        <a:t>ATR, APOS, PART or NARG</a:t>
                      </a:r>
                      <a:endParaRPr lang="en-US"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extLst>
                  <a:ext uri="{0D108BD9-81ED-4DB2-BD59-A6C34878D82A}">
                    <a16:rowId xmlns="" xmlns:a16="http://schemas.microsoft.com/office/drawing/2014/main" val="10018"/>
                  </a:ext>
                </a:extLst>
              </a:tr>
              <a:tr h="240002">
                <a:tc gridSpan="2">
                  <a:txBody>
                    <a:bodyPr/>
                    <a:lstStyle/>
                    <a:p>
                      <a:pPr algn="just" rtl="0" fontAlgn="t">
                        <a:spcBef>
                          <a:spcPts val="0"/>
                        </a:spcBef>
                        <a:spcAft>
                          <a:spcPts val="1000"/>
                        </a:spcAft>
                      </a:pPr>
                      <a:r>
                        <a:rPr lang="en-US" sz="1000" b="0" i="0" u="none" strike="noStrike">
                          <a:solidFill>
                            <a:srgbClr val="000000"/>
                          </a:solidFill>
                          <a:latin typeface="Times New Roman"/>
                        </a:rPr>
                        <a:t>REL</a:t>
                      </a:r>
                      <a:endParaRPr lang="en-US" sz="100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tc gridSpan="2">
                  <a:txBody>
                    <a:bodyPr/>
                    <a:lstStyle/>
                    <a:p>
                      <a:pPr algn="just" rtl="0" fontAlgn="t">
                        <a:spcBef>
                          <a:spcPts val="0"/>
                        </a:spcBef>
                        <a:spcAft>
                          <a:spcPts val="1000"/>
                        </a:spcAft>
                      </a:pPr>
                      <a:r>
                        <a:rPr lang="en-US" sz="1000" b="0" i="0" u="none" strike="noStrike" dirty="0">
                          <a:solidFill>
                            <a:srgbClr val="000000"/>
                          </a:solidFill>
                          <a:latin typeface="Times New Roman"/>
                        </a:rPr>
                        <a:t>ATR or APOS (for relative clauses)</a:t>
                      </a:r>
                      <a:endParaRPr lang="en-US" sz="1000" dirty="0"/>
                    </a:p>
                  </a:txBody>
                  <a:tcPr marL="41189" marR="41189" marT="27459" marB="2745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l-GR"/>
                    </a:p>
                  </a:txBody>
                  <a:tcPr/>
                </a:tc>
                <a:extLst>
                  <a:ext uri="{0D108BD9-81ED-4DB2-BD59-A6C34878D82A}">
                    <a16:rowId xmlns="" xmlns:a16="http://schemas.microsoft.com/office/drawing/2014/main" val="10019"/>
                  </a:ext>
                </a:extLst>
              </a:tr>
            </a:tbl>
          </a:graphicData>
        </a:graphic>
      </p:graphicFrame>
      <p:sp>
        <p:nvSpPr>
          <p:cNvPr id="15361"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l-GR" sz="1000" b="0" i="0" u="none" strike="noStrike" cap="none" normalizeH="0" baseline="0">
                <a:ln>
                  <a:noFill/>
                </a:ln>
                <a:solidFill>
                  <a:srgbClr val="000000"/>
                </a:solidFill>
                <a:effectLst/>
                <a:latin typeface="Times New Roman" pitchFamily="18" charset="0"/>
                <a:cs typeface="Times New Roman" pitchFamily="18" charset="0"/>
              </a:rPr>
              <a:t>Table 1. The 22 syntactic tagset of PROEIL (Haug 2010).</a:t>
            </a:r>
            <a:endParaRPr kumimoji="0" lang="el-GR" sz="600" b="0" i="0" u="none" strike="noStrike" cap="none" normalizeH="0" baseline="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l-GR" sz="1800" b="0" i="0" u="none" strike="noStrike" cap="none" normalizeH="0" baseline="0">
                <a:ln>
                  <a:noFill/>
                </a:ln>
                <a:solidFill>
                  <a:schemeClr val="tx1"/>
                </a:solidFill>
                <a:effectLst/>
                <a:latin typeface="Arial" pitchFamily="34" charset="0"/>
                <a:cs typeface="Arial" pitchFamily="34" charset="0"/>
              </a:rPr>
              <a:t/>
            </a:r>
            <a:br>
              <a:rPr kumimoji="0" lang="el-GR" sz="1800" b="0" i="0" u="none" strike="noStrike" cap="none" normalizeH="0" baseline="0">
                <a:ln>
                  <a:noFill/>
                </a:ln>
                <a:solidFill>
                  <a:schemeClr val="tx1"/>
                </a:solidFill>
                <a:effectLst/>
                <a:latin typeface="Arial" pitchFamily="34" charset="0"/>
                <a:cs typeface="Arial" pitchFamily="34" charset="0"/>
              </a:rPr>
            </a:br>
            <a:endParaRPr kumimoji="0" lang="el-GR" sz="1800" b="0" i="0" u="none" strike="noStrike" cap="none" normalizeH="0" baseline="0">
              <a:ln>
                <a:noFill/>
              </a:ln>
              <a:solidFill>
                <a:schemeClr val="tx1"/>
              </a:solidFill>
              <a:effectLst/>
              <a:latin typeface="Arial" pitchFamily="34" charset="0"/>
              <a:cs typeface="Arial" pitchFamily="34" charset="0"/>
            </a:endParaRPr>
          </a:p>
        </p:txBody>
      </p:sp>
      <p:sp>
        <p:nvSpPr>
          <p:cNvPr id="11" name="10 - Ορθογώνιο"/>
          <p:cNvSpPr/>
          <p:nvPr/>
        </p:nvSpPr>
        <p:spPr>
          <a:xfrm>
            <a:off x="1907704" y="5877272"/>
            <a:ext cx="6984776" cy="338554"/>
          </a:xfrm>
          <a:prstGeom prst="rect">
            <a:avLst/>
          </a:prstGeom>
        </p:spPr>
        <p:txBody>
          <a:bodyPr wrap="square">
            <a:spAutoFit/>
          </a:bodyPr>
          <a:lstStyle/>
          <a:p>
            <a:r>
              <a:rPr lang="en-US" sz="1600" b="1" i="1" dirty="0"/>
              <a:t>Table 1. The 22 syntactic </a:t>
            </a:r>
            <a:r>
              <a:rPr lang="en-US" sz="1600" b="1" i="1" dirty="0" err="1"/>
              <a:t>tagset</a:t>
            </a:r>
            <a:r>
              <a:rPr lang="en-US" sz="1600" b="1" i="1" dirty="0"/>
              <a:t> of PROEIL </a:t>
            </a:r>
            <a:r>
              <a:rPr lang="en-US" sz="1600" b="1" dirty="0"/>
              <a:t>(</a:t>
            </a:r>
            <a:r>
              <a:rPr lang="en-US" sz="1600" b="1" dirty="0" err="1"/>
              <a:t>Haug</a:t>
            </a:r>
            <a:r>
              <a:rPr lang="en-US" sz="1600" b="1" dirty="0"/>
              <a:t> 2010).</a:t>
            </a:r>
            <a:endParaRPr lang="el-GR" sz="1600" b="1" dirty="0"/>
          </a:p>
        </p:txBody>
      </p:sp>
      <p:sp>
        <p:nvSpPr>
          <p:cNvPr id="2" name="Slide Number Placeholder 1">
            <a:extLst>
              <a:ext uri="{FF2B5EF4-FFF2-40B4-BE49-F238E27FC236}">
                <a16:creationId xmlns="" xmlns:a16="http://schemas.microsoft.com/office/drawing/2014/main" id="{60D6A280-BFE8-679F-EFB8-E53B489F4D44}"/>
              </a:ext>
            </a:extLst>
          </p:cNvPr>
          <p:cNvSpPr>
            <a:spLocks noGrp="1"/>
          </p:cNvSpPr>
          <p:nvPr>
            <p:ph type="sldNum" sz="quarter" idx="12"/>
          </p:nvPr>
        </p:nvSpPr>
        <p:spPr/>
        <p:txBody>
          <a:bodyPr/>
          <a:lstStyle/>
          <a:p>
            <a:fld id="{084E6F96-DBA9-4966-8C10-B0B4DAA302D2}" type="slidenum">
              <a:rPr lang="el-GR" smtClean="0"/>
              <a:pPr/>
              <a:t>15</a:t>
            </a:fld>
            <a:endParaRPr lang="el-G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3" name="12 - Τίτλος"/>
          <p:cNvSpPr>
            <a:spLocks noGrp="1"/>
          </p:cNvSpPr>
          <p:nvPr>
            <p:ph type="ctrTitle"/>
          </p:nvPr>
        </p:nvSpPr>
        <p:spPr>
          <a:xfrm>
            <a:off x="611560" y="1556792"/>
            <a:ext cx="8532440" cy="3046988"/>
          </a:xfrm>
          <a:prstGeom prst="rect">
            <a:avLst/>
          </a:prstGeom>
        </p:spPr>
        <p:txBody>
          <a:bodyPr wrap="square">
            <a:spAutoFit/>
          </a:bodyPr>
          <a:lstStyle/>
          <a:p>
            <a:pPr algn="l"/>
            <a:r>
              <a:rPr lang="en-US" b="1" dirty="0"/>
              <a:t>The</a:t>
            </a:r>
            <a:r>
              <a:rPr lang="en-US" b="1" i="1" dirty="0"/>
              <a:t> ATHDGC </a:t>
            </a:r>
            <a:r>
              <a:rPr lang="en-US" b="1" dirty="0"/>
              <a:t>corpus Construction Principles</a:t>
            </a:r>
            <a:endParaRPr lang="en-US" dirty="0"/>
          </a:p>
          <a:p>
            <a:pPr algn="l"/>
            <a:r>
              <a:rPr lang="en-US" dirty="0"/>
              <a:t/>
            </a:r>
            <a:br>
              <a:rPr lang="en-US" dirty="0"/>
            </a:br>
            <a:endParaRPr lang="el-GR" dirty="0"/>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Ορθογώνιο"/>
          <p:cNvSpPr/>
          <p:nvPr/>
        </p:nvSpPr>
        <p:spPr>
          <a:xfrm>
            <a:off x="1475656" y="836712"/>
            <a:ext cx="7200800" cy="1077218"/>
          </a:xfrm>
          <a:prstGeom prst="rect">
            <a:avLst/>
          </a:prstGeom>
        </p:spPr>
        <p:txBody>
          <a:bodyPr wrap="square">
            <a:spAutoFit/>
          </a:bodyPr>
          <a:lstStyle/>
          <a:p>
            <a:r>
              <a:rPr lang="en-US" sz="2800" b="1" dirty="0"/>
              <a:t>The Corpus Construction Principles</a:t>
            </a:r>
          </a:p>
          <a:p>
            <a:r>
              <a:rPr lang="en-US" dirty="0"/>
              <a:t/>
            </a:r>
            <a:br>
              <a:rPr lang="en-US" dirty="0"/>
            </a:br>
            <a:endParaRPr lang="el-GR" dirty="0"/>
          </a:p>
        </p:txBody>
      </p:sp>
      <p:sp>
        <p:nvSpPr>
          <p:cNvPr id="12" name="11 - Επεξήγηση με γραμμή 1"/>
          <p:cNvSpPr/>
          <p:nvPr/>
        </p:nvSpPr>
        <p:spPr>
          <a:xfrm>
            <a:off x="611560" y="2420888"/>
            <a:ext cx="2016224" cy="1512168"/>
          </a:xfrm>
          <a:prstGeom prst="borderCallout1">
            <a:avLst>
              <a:gd name="adj1" fmla="val -7744"/>
              <a:gd name="adj2" fmla="val 49817"/>
              <a:gd name="adj3" fmla="val -66867"/>
              <a:gd name="adj4" fmla="val 133938"/>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Diachronic and Theoretical (argument structure) Research</a:t>
            </a:r>
            <a:endParaRPr lang="el-GR" b="1" dirty="0">
              <a:solidFill>
                <a:schemeClr val="tx1"/>
              </a:solidFill>
            </a:endParaRPr>
          </a:p>
        </p:txBody>
      </p:sp>
      <p:sp>
        <p:nvSpPr>
          <p:cNvPr id="13" name="12 - Επεξήγηση με γραμμή 1"/>
          <p:cNvSpPr/>
          <p:nvPr/>
        </p:nvSpPr>
        <p:spPr>
          <a:xfrm>
            <a:off x="3491880" y="2636912"/>
            <a:ext cx="2016224" cy="1512168"/>
          </a:xfrm>
          <a:prstGeom prst="borderCallout1">
            <a:avLst>
              <a:gd name="adj1" fmla="val -11976"/>
              <a:gd name="adj2" fmla="val 48910"/>
              <a:gd name="adj3" fmla="val -81985"/>
              <a:gd name="adj4" fmla="val 49584"/>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Digitization</a:t>
            </a:r>
            <a:endParaRPr lang="el-GR" b="1" dirty="0">
              <a:solidFill>
                <a:schemeClr val="tx1"/>
              </a:solidFill>
            </a:endParaRPr>
          </a:p>
        </p:txBody>
      </p:sp>
      <p:sp>
        <p:nvSpPr>
          <p:cNvPr id="14" name="13 - Επεξήγηση με γραμμή 1"/>
          <p:cNvSpPr/>
          <p:nvPr/>
        </p:nvSpPr>
        <p:spPr>
          <a:xfrm>
            <a:off x="6948264" y="2492896"/>
            <a:ext cx="2016224" cy="1512168"/>
          </a:xfrm>
          <a:prstGeom prst="borderCallout1">
            <a:avLst>
              <a:gd name="adj1" fmla="val -8348"/>
              <a:gd name="adj2" fmla="val 49364"/>
              <a:gd name="adj3" fmla="val -74728"/>
              <a:gd name="adj4" fmla="val -41574"/>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Annotation</a:t>
            </a:r>
            <a:endParaRPr lang="el-GR" b="1" dirty="0">
              <a:solidFill>
                <a:schemeClr val="tx1"/>
              </a:solidFill>
            </a:endParaRPr>
          </a:p>
        </p:txBody>
      </p:sp>
      <p:sp>
        <p:nvSpPr>
          <p:cNvPr id="2" name="Slide Number Placeholder 1">
            <a:extLst>
              <a:ext uri="{FF2B5EF4-FFF2-40B4-BE49-F238E27FC236}">
                <a16:creationId xmlns="" xmlns:a16="http://schemas.microsoft.com/office/drawing/2014/main" id="{938DBD24-9C45-066E-CBF8-BD16799BBE30}"/>
              </a:ext>
            </a:extLst>
          </p:cNvPr>
          <p:cNvSpPr>
            <a:spLocks noGrp="1"/>
          </p:cNvSpPr>
          <p:nvPr>
            <p:ph type="sldNum" sz="quarter" idx="12"/>
          </p:nvPr>
        </p:nvSpPr>
        <p:spPr/>
        <p:txBody>
          <a:bodyPr/>
          <a:lstStyle/>
          <a:p>
            <a:fld id="{084E6F96-DBA9-4966-8C10-B0B4DAA302D2}" type="slidenum">
              <a:rPr lang="el-GR" smtClean="0"/>
              <a:pPr/>
              <a:t>17</a:t>
            </a:fld>
            <a:endParaRPr lang="el-G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Τίτλος"/>
          <p:cNvSpPr>
            <a:spLocks noGrp="1"/>
          </p:cNvSpPr>
          <p:nvPr>
            <p:ph type="title"/>
          </p:nvPr>
        </p:nvSpPr>
        <p:spPr/>
        <p:txBody>
          <a:bodyPr/>
          <a:lstStyle/>
          <a:p>
            <a:r>
              <a:rPr lang="en-US" dirty="0"/>
              <a:t>Research</a:t>
            </a:r>
            <a:endParaRPr lang="el-GR" dirty="0"/>
          </a:p>
        </p:txBody>
      </p:sp>
      <p:sp>
        <p:nvSpPr>
          <p:cNvPr id="11" name="10 - Θέση περιεχομένου"/>
          <p:cNvSpPr>
            <a:spLocks noGrp="1"/>
          </p:cNvSpPr>
          <p:nvPr>
            <p:ph idx="1"/>
          </p:nvPr>
        </p:nvSpPr>
        <p:spPr/>
        <p:txBody>
          <a:bodyPr>
            <a:normAutofit/>
          </a:bodyPr>
          <a:lstStyle/>
          <a:p>
            <a:r>
              <a:rPr lang="en-US" dirty="0"/>
              <a:t>Text selection</a:t>
            </a:r>
          </a:p>
          <a:p>
            <a:pPr>
              <a:buNone/>
            </a:pPr>
            <a:endParaRPr lang="en-US" dirty="0"/>
          </a:p>
          <a:p>
            <a:r>
              <a:rPr lang="en-US" dirty="0"/>
              <a:t>Influential texts and sources as close as possible to the digital versions.</a:t>
            </a:r>
          </a:p>
          <a:p>
            <a:pPr>
              <a:buNone/>
            </a:pPr>
            <a:endParaRPr lang="en-US" dirty="0"/>
          </a:p>
          <a:p>
            <a:r>
              <a:rPr lang="en-US" dirty="0"/>
              <a:t>Copyright free texts</a:t>
            </a:r>
          </a:p>
          <a:p>
            <a:pPr>
              <a:buNone/>
            </a:pPr>
            <a:endParaRPr lang="en-US" dirty="0"/>
          </a:p>
          <a:p>
            <a:r>
              <a:rPr lang="en-US" dirty="0"/>
              <a:t>Metadata (Author, date, URL </a:t>
            </a:r>
            <a:r>
              <a:rPr lang="en-US" dirty="0" err="1"/>
              <a:t>etc</a:t>
            </a:r>
            <a:r>
              <a:rPr lang="en-US" dirty="0"/>
              <a:t>)</a:t>
            </a:r>
          </a:p>
        </p:txBody>
      </p:sp>
      <p:sp>
        <p:nvSpPr>
          <p:cNvPr id="2" name="Slide Number Placeholder 1">
            <a:extLst>
              <a:ext uri="{FF2B5EF4-FFF2-40B4-BE49-F238E27FC236}">
                <a16:creationId xmlns="" xmlns:a16="http://schemas.microsoft.com/office/drawing/2014/main" id="{3CAEB59D-E0B7-FA39-620B-6A73F11E4DA0}"/>
              </a:ext>
            </a:extLst>
          </p:cNvPr>
          <p:cNvSpPr>
            <a:spLocks noGrp="1"/>
          </p:cNvSpPr>
          <p:nvPr>
            <p:ph type="sldNum" sz="quarter" idx="12"/>
          </p:nvPr>
        </p:nvSpPr>
        <p:spPr/>
        <p:txBody>
          <a:bodyPr/>
          <a:lstStyle/>
          <a:p>
            <a:fld id="{084E6F96-DBA9-4966-8C10-B0B4DAA302D2}" type="slidenum">
              <a:rPr lang="el-GR" smtClean="0"/>
              <a:pPr/>
              <a:t>18</a:t>
            </a:fld>
            <a:endParaRPr lang="el-G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1" name="10 - Τίτλος"/>
          <p:cNvSpPr>
            <a:spLocks noGrp="1"/>
          </p:cNvSpPr>
          <p:nvPr>
            <p:ph type="title"/>
          </p:nvPr>
        </p:nvSpPr>
        <p:spPr/>
        <p:txBody>
          <a:bodyPr/>
          <a:lstStyle/>
          <a:p>
            <a:r>
              <a:rPr lang="en-US" dirty="0"/>
              <a:t>Digitization</a:t>
            </a:r>
            <a:endParaRPr lang="el-GR" dirty="0"/>
          </a:p>
        </p:txBody>
      </p:sp>
      <p:sp>
        <p:nvSpPr>
          <p:cNvPr id="13" name="12 - Διάγραμμα ροής: Λογικό &quot;ΚΑΙ&quot;"/>
          <p:cNvSpPr/>
          <p:nvPr/>
        </p:nvSpPr>
        <p:spPr>
          <a:xfrm>
            <a:off x="3203848" y="836712"/>
            <a:ext cx="5544616" cy="5301208"/>
          </a:xfrm>
          <a:prstGeom prst="flowChartSummingJunction">
            <a:avLst/>
          </a:prstGeom>
          <a:solidFill>
            <a:schemeClr val="accent2">
              <a:lumMod val="20000"/>
              <a:lumOff val="8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p>
        </p:txBody>
      </p:sp>
      <p:sp>
        <p:nvSpPr>
          <p:cNvPr id="14" name="13 - TextBox"/>
          <p:cNvSpPr txBox="1"/>
          <p:nvPr/>
        </p:nvSpPr>
        <p:spPr>
          <a:xfrm>
            <a:off x="4932040" y="1412776"/>
            <a:ext cx="2268252" cy="923330"/>
          </a:xfrm>
          <a:prstGeom prst="rect">
            <a:avLst/>
          </a:prstGeom>
          <a:noFill/>
        </p:spPr>
        <p:txBody>
          <a:bodyPr wrap="square" rtlCol="0">
            <a:spAutoFit/>
          </a:bodyPr>
          <a:lstStyle/>
          <a:p>
            <a:r>
              <a:rPr lang="en-US" b="1" dirty="0"/>
              <a:t>A)</a:t>
            </a:r>
            <a:r>
              <a:rPr lang="en-US" dirty="0"/>
              <a:t> Texts from other </a:t>
            </a:r>
            <a:r>
              <a:rPr lang="en-US" b="1" dirty="0"/>
              <a:t>open-access treebanks</a:t>
            </a:r>
            <a:endParaRPr lang="el-GR" dirty="0"/>
          </a:p>
        </p:txBody>
      </p:sp>
      <p:sp>
        <p:nvSpPr>
          <p:cNvPr id="15" name="14 - TextBox"/>
          <p:cNvSpPr txBox="1"/>
          <p:nvPr/>
        </p:nvSpPr>
        <p:spPr>
          <a:xfrm>
            <a:off x="6516216" y="2852936"/>
            <a:ext cx="2268252" cy="923330"/>
          </a:xfrm>
          <a:prstGeom prst="rect">
            <a:avLst/>
          </a:prstGeom>
          <a:noFill/>
        </p:spPr>
        <p:txBody>
          <a:bodyPr wrap="square" rtlCol="0">
            <a:spAutoFit/>
          </a:bodyPr>
          <a:lstStyle/>
          <a:p>
            <a:pPr algn="ctr"/>
            <a:r>
              <a:rPr lang="en-US" b="1" dirty="0"/>
              <a:t>B)</a:t>
            </a:r>
            <a:r>
              <a:rPr lang="en-US" dirty="0"/>
              <a:t> Texts from </a:t>
            </a:r>
            <a:r>
              <a:rPr lang="en-US" b="1" dirty="0"/>
              <a:t>online text collections</a:t>
            </a:r>
            <a:endParaRPr lang="el-GR" dirty="0"/>
          </a:p>
        </p:txBody>
      </p:sp>
      <p:sp>
        <p:nvSpPr>
          <p:cNvPr id="16" name="15 - TextBox"/>
          <p:cNvSpPr txBox="1"/>
          <p:nvPr/>
        </p:nvSpPr>
        <p:spPr>
          <a:xfrm>
            <a:off x="4932040" y="4149080"/>
            <a:ext cx="2124236" cy="1754326"/>
          </a:xfrm>
          <a:prstGeom prst="rect">
            <a:avLst/>
          </a:prstGeom>
          <a:noFill/>
        </p:spPr>
        <p:txBody>
          <a:bodyPr wrap="square" rtlCol="0">
            <a:spAutoFit/>
          </a:bodyPr>
          <a:lstStyle/>
          <a:p>
            <a:pPr algn="ctr"/>
            <a:r>
              <a:rPr lang="en-US" b="1" dirty="0"/>
              <a:t>C) Scanned books or manuscripts</a:t>
            </a:r>
            <a:r>
              <a:rPr lang="en-US" dirty="0"/>
              <a:t> from digital libraries and archives </a:t>
            </a:r>
            <a:endParaRPr lang="el-GR" dirty="0"/>
          </a:p>
        </p:txBody>
      </p:sp>
      <p:sp>
        <p:nvSpPr>
          <p:cNvPr id="17" name="16 - TextBox"/>
          <p:cNvSpPr txBox="1"/>
          <p:nvPr/>
        </p:nvSpPr>
        <p:spPr>
          <a:xfrm>
            <a:off x="3347864" y="3284984"/>
            <a:ext cx="2232248" cy="369332"/>
          </a:xfrm>
          <a:prstGeom prst="rect">
            <a:avLst/>
          </a:prstGeom>
          <a:noFill/>
        </p:spPr>
        <p:txBody>
          <a:bodyPr wrap="square" rtlCol="0">
            <a:spAutoFit/>
          </a:bodyPr>
          <a:lstStyle/>
          <a:p>
            <a:r>
              <a:rPr lang="en-US" b="1" dirty="0"/>
              <a:t>D) Printed</a:t>
            </a:r>
            <a:r>
              <a:rPr lang="en-US" dirty="0"/>
              <a:t> </a:t>
            </a:r>
            <a:r>
              <a:rPr lang="en-US" b="1" dirty="0"/>
              <a:t>books</a:t>
            </a:r>
            <a:endParaRPr lang="el-GR" dirty="0"/>
          </a:p>
        </p:txBody>
      </p:sp>
      <p:sp>
        <p:nvSpPr>
          <p:cNvPr id="18" name="17 - Πεντάγωνο"/>
          <p:cNvSpPr/>
          <p:nvPr/>
        </p:nvSpPr>
        <p:spPr>
          <a:xfrm>
            <a:off x="179512" y="3068960"/>
            <a:ext cx="2880320" cy="792088"/>
          </a:xfrm>
          <a:prstGeom prst="homePlate">
            <a:avLst/>
          </a:prstGeom>
          <a:solidFill>
            <a:schemeClr val="accent2">
              <a:lumMod val="20000"/>
              <a:lumOff val="8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4 types</a:t>
            </a:r>
            <a:endParaRPr lang="el-GR" b="1" dirty="0">
              <a:solidFill>
                <a:schemeClr val="tx1"/>
              </a:solidFill>
            </a:endParaRPr>
          </a:p>
        </p:txBody>
      </p:sp>
      <p:sp>
        <p:nvSpPr>
          <p:cNvPr id="2" name="Slide Number Placeholder 1">
            <a:extLst>
              <a:ext uri="{FF2B5EF4-FFF2-40B4-BE49-F238E27FC236}">
                <a16:creationId xmlns="" xmlns:a16="http://schemas.microsoft.com/office/drawing/2014/main" id="{4455747D-0F3E-6BA0-6C3D-340573BAF115}"/>
              </a:ext>
            </a:extLst>
          </p:cNvPr>
          <p:cNvSpPr>
            <a:spLocks noGrp="1"/>
          </p:cNvSpPr>
          <p:nvPr>
            <p:ph type="sldNum" sz="quarter" idx="12"/>
          </p:nvPr>
        </p:nvSpPr>
        <p:spPr/>
        <p:txBody>
          <a:bodyPr/>
          <a:lstStyle/>
          <a:p>
            <a:fld id="{084E6F96-DBA9-4966-8C10-B0B4DAA302D2}" type="slidenum">
              <a:rPr lang="el-GR" smtClean="0"/>
              <a:pPr/>
              <a:t>19</a:t>
            </a:fld>
            <a:endParaRPr lang="el-G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Τίτλος"/>
          <p:cNvSpPr>
            <a:spLocks noGrp="1"/>
          </p:cNvSpPr>
          <p:nvPr>
            <p:ph type="title"/>
          </p:nvPr>
        </p:nvSpPr>
        <p:spPr/>
        <p:txBody>
          <a:bodyPr/>
          <a:lstStyle/>
          <a:p>
            <a:r>
              <a:rPr lang="en-US" dirty="0"/>
              <a:t>Digitization</a:t>
            </a:r>
            <a:endParaRPr lang="el-GR" dirty="0"/>
          </a:p>
        </p:txBody>
      </p:sp>
      <p:sp>
        <p:nvSpPr>
          <p:cNvPr id="15" name="14 - Κατακόρυφος πάπυρος"/>
          <p:cNvSpPr/>
          <p:nvPr/>
        </p:nvSpPr>
        <p:spPr>
          <a:xfrm>
            <a:off x="2627784" y="1484784"/>
            <a:ext cx="3816424" cy="4392488"/>
          </a:xfrm>
          <a:prstGeom prst="verticalScroll">
            <a:avLst/>
          </a:prstGeom>
          <a:solidFill>
            <a:srgbClr val="E0C9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AutoNum type="alphaUcParenR"/>
            </a:pPr>
            <a:r>
              <a:rPr lang="en-US" dirty="0">
                <a:solidFill>
                  <a:schemeClr val="tx1"/>
                </a:solidFill>
              </a:rPr>
              <a:t>Texts from other open-source </a:t>
            </a:r>
            <a:r>
              <a:rPr lang="en-US" b="1" dirty="0">
                <a:solidFill>
                  <a:schemeClr val="tx1"/>
                </a:solidFill>
              </a:rPr>
              <a:t>treebanks</a:t>
            </a:r>
            <a:r>
              <a:rPr lang="en-US" dirty="0">
                <a:solidFill>
                  <a:schemeClr val="tx1"/>
                </a:solidFill>
              </a:rPr>
              <a:t> -</a:t>
            </a:r>
            <a:r>
              <a:rPr lang="en-US" i="1" dirty="0">
                <a:solidFill>
                  <a:schemeClr val="tx1"/>
                </a:solidFill>
              </a:rPr>
              <a:t>PROIEL, Perseus database</a:t>
            </a:r>
            <a:r>
              <a:rPr lang="en-US" dirty="0">
                <a:solidFill>
                  <a:schemeClr val="tx1"/>
                </a:solidFill>
              </a:rPr>
              <a:t> </a:t>
            </a:r>
          </a:p>
          <a:p>
            <a:pPr marL="342900" indent="-342900" algn="ctr"/>
            <a:r>
              <a:rPr lang="en-US" sz="1400" dirty="0">
                <a:solidFill>
                  <a:schemeClr val="tx1"/>
                </a:solidFill>
              </a:rPr>
              <a:t>(in .xml format)</a:t>
            </a:r>
            <a:endParaRPr lang="el-GR" dirty="0">
              <a:solidFill>
                <a:schemeClr val="tx1"/>
              </a:solidFill>
            </a:endParaRPr>
          </a:p>
        </p:txBody>
      </p:sp>
      <p:sp>
        <p:nvSpPr>
          <p:cNvPr id="2" name="Slide Number Placeholder 1">
            <a:extLst>
              <a:ext uri="{FF2B5EF4-FFF2-40B4-BE49-F238E27FC236}">
                <a16:creationId xmlns="" xmlns:a16="http://schemas.microsoft.com/office/drawing/2014/main" id="{7034E290-41EC-7EEC-D094-203E7F71E4DD}"/>
              </a:ext>
            </a:extLst>
          </p:cNvPr>
          <p:cNvSpPr>
            <a:spLocks noGrp="1"/>
          </p:cNvSpPr>
          <p:nvPr>
            <p:ph type="sldNum" sz="quarter" idx="12"/>
          </p:nvPr>
        </p:nvSpPr>
        <p:spPr/>
        <p:txBody>
          <a:bodyPr/>
          <a:lstStyle/>
          <a:p>
            <a:fld id="{084E6F96-DBA9-4966-8C10-B0B4DAA302D2}" type="slidenum">
              <a:rPr lang="el-GR" smtClean="0"/>
              <a:pPr/>
              <a:t>20</a:t>
            </a:fld>
            <a:endParaRPr lang="el-G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Τίτλος"/>
          <p:cNvSpPr>
            <a:spLocks noGrp="1"/>
          </p:cNvSpPr>
          <p:nvPr>
            <p:ph type="title"/>
          </p:nvPr>
        </p:nvSpPr>
        <p:spPr/>
        <p:txBody>
          <a:bodyPr/>
          <a:lstStyle/>
          <a:p>
            <a:r>
              <a:rPr lang="en-US" dirty="0"/>
              <a:t>Digitization</a:t>
            </a:r>
            <a:endParaRPr lang="el-GR" dirty="0"/>
          </a:p>
        </p:txBody>
      </p:sp>
      <p:sp>
        <p:nvSpPr>
          <p:cNvPr id="14" name="13 - Κατακόρυφος πάπυρος"/>
          <p:cNvSpPr/>
          <p:nvPr/>
        </p:nvSpPr>
        <p:spPr>
          <a:xfrm>
            <a:off x="2915816" y="1412776"/>
            <a:ext cx="4032448" cy="4320480"/>
          </a:xfrm>
          <a:prstGeom prst="verticalScroll">
            <a:avLst/>
          </a:prstGeom>
          <a:solidFill>
            <a:srgbClr val="E0C9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buNone/>
            </a:pPr>
            <a:r>
              <a:rPr lang="en-US" dirty="0">
                <a:solidFill>
                  <a:schemeClr val="tx1"/>
                </a:solidFill>
              </a:rPr>
              <a:t>B) Texts from </a:t>
            </a:r>
            <a:r>
              <a:rPr lang="en-US" b="1" dirty="0">
                <a:solidFill>
                  <a:schemeClr val="tx1"/>
                </a:solidFill>
              </a:rPr>
              <a:t>online text collections</a:t>
            </a:r>
            <a:r>
              <a:rPr lang="en-US" dirty="0">
                <a:solidFill>
                  <a:schemeClr val="tx1"/>
                </a:solidFill>
              </a:rPr>
              <a:t>, such as </a:t>
            </a:r>
            <a:r>
              <a:rPr lang="en-US" i="1" dirty="0">
                <a:solidFill>
                  <a:schemeClr val="tx1"/>
                </a:solidFill>
              </a:rPr>
              <a:t>Project Gutenberg </a:t>
            </a:r>
            <a:r>
              <a:rPr lang="en-US" dirty="0">
                <a:solidFill>
                  <a:schemeClr val="tx1"/>
                </a:solidFill>
              </a:rPr>
              <a:t>or </a:t>
            </a:r>
            <a:r>
              <a:rPr lang="en-US" i="1" dirty="0">
                <a:solidFill>
                  <a:schemeClr val="tx1"/>
                </a:solidFill>
              </a:rPr>
              <a:t>Bible Gateway.</a:t>
            </a:r>
          </a:p>
          <a:p>
            <a:pPr fontAlgn="base">
              <a:buNone/>
            </a:pPr>
            <a:r>
              <a:rPr lang="en-US" i="1" dirty="0">
                <a:solidFill>
                  <a:schemeClr val="tx1"/>
                </a:solidFill>
              </a:rPr>
              <a:t> </a:t>
            </a:r>
          </a:p>
          <a:p>
            <a:pPr fontAlgn="base">
              <a:buNone/>
            </a:pPr>
            <a:r>
              <a:rPr lang="en-US" sz="1600" dirty="0">
                <a:solidFill>
                  <a:schemeClr val="tx1"/>
                </a:solidFill>
              </a:rPr>
              <a:t>(in .txt or .html format)</a:t>
            </a:r>
          </a:p>
          <a:p>
            <a:pPr marL="342900" indent="-342900" algn="ctr"/>
            <a:endParaRPr lang="el-GR" dirty="0">
              <a:solidFill>
                <a:schemeClr val="tx1"/>
              </a:solidFill>
            </a:endParaRPr>
          </a:p>
        </p:txBody>
      </p:sp>
      <p:sp>
        <p:nvSpPr>
          <p:cNvPr id="2" name="Slide Number Placeholder 1">
            <a:extLst>
              <a:ext uri="{FF2B5EF4-FFF2-40B4-BE49-F238E27FC236}">
                <a16:creationId xmlns="" xmlns:a16="http://schemas.microsoft.com/office/drawing/2014/main" id="{3EF22B92-6F2C-8464-061F-09FD90B6F16E}"/>
              </a:ext>
            </a:extLst>
          </p:cNvPr>
          <p:cNvSpPr>
            <a:spLocks noGrp="1"/>
          </p:cNvSpPr>
          <p:nvPr>
            <p:ph type="sldNum" sz="quarter" idx="12"/>
          </p:nvPr>
        </p:nvSpPr>
        <p:spPr/>
        <p:txBody>
          <a:bodyPr/>
          <a:lstStyle/>
          <a:p>
            <a:fld id="{084E6F96-DBA9-4966-8C10-B0B4DAA302D2}" type="slidenum">
              <a:rPr lang="el-GR" smtClean="0"/>
              <a:pPr/>
              <a:t>21</a:t>
            </a:fld>
            <a:endParaRPr lang="el-G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Τίτλος"/>
          <p:cNvSpPr>
            <a:spLocks noGrp="1"/>
          </p:cNvSpPr>
          <p:nvPr>
            <p:ph type="title"/>
          </p:nvPr>
        </p:nvSpPr>
        <p:spPr/>
        <p:txBody>
          <a:bodyPr/>
          <a:lstStyle/>
          <a:p>
            <a:r>
              <a:rPr lang="en-US" dirty="0"/>
              <a:t>Digitization</a:t>
            </a:r>
            <a:endParaRPr lang="el-GR" dirty="0"/>
          </a:p>
        </p:txBody>
      </p:sp>
      <p:sp>
        <p:nvSpPr>
          <p:cNvPr id="13" name="12 - Κατακόρυφος πάπυρος"/>
          <p:cNvSpPr/>
          <p:nvPr/>
        </p:nvSpPr>
        <p:spPr>
          <a:xfrm>
            <a:off x="2987824" y="1340768"/>
            <a:ext cx="4248472" cy="4608512"/>
          </a:xfrm>
          <a:prstGeom prst="verticalScroll">
            <a:avLst/>
          </a:prstGeom>
          <a:solidFill>
            <a:srgbClr val="E0C9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buNone/>
            </a:pPr>
            <a:r>
              <a:rPr lang="en-US" dirty="0">
                <a:solidFill>
                  <a:schemeClr val="tx1"/>
                </a:solidFill>
              </a:rPr>
              <a:t>C) </a:t>
            </a:r>
            <a:r>
              <a:rPr lang="en-US" b="1" dirty="0">
                <a:solidFill>
                  <a:schemeClr val="tx1"/>
                </a:solidFill>
              </a:rPr>
              <a:t>Scanned books or manuscripts</a:t>
            </a:r>
            <a:r>
              <a:rPr lang="en-US" dirty="0">
                <a:solidFill>
                  <a:schemeClr val="tx1"/>
                </a:solidFill>
              </a:rPr>
              <a:t> from digital libraries and archives (</a:t>
            </a:r>
            <a:r>
              <a:rPr lang="en-US" dirty="0" err="1">
                <a:solidFill>
                  <a:schemeClr val="tx1"/>
                </a:solidFill>
              </a:rPr>
              <a:t>e.g.the</a:t>
            </a:r>
            <a:r>
              <a:rPr lang="en-US" dirty="0">
                <a:solidFill>
                  <a:schemeClr val="tx1"/>
                </a:solidFill>
              </a:rPr>
              <a:t> </a:t>
            </a:r>
            <a:r>
              <a:rPr lang="en-US" i="1" dirty="0">
                <a:solidFill>
                  <a:schemeClr val="tx1"/>
                </a:solidFill>
              </a:rPr>
              <a:t>Internet Archive</a:t>
            </a:r>
            <a:r>
              <a:rPr lang="en-US" dirty="0">
                <a:solidFill>
                  <a:schemeClr val="tx1"/>
                </a:solidFill>
              </a:rPr>
              <a:t>)</a:t>
            </a:r>
          </a:p>
          <a:p>
            <a:pPr fontAlgn="base">
              <a:buNone/>
            </a:pPr>
            <a:r>
              <a:rPr lang="en-US" dirty="0">
                <a:solidFill>
                  <a:schemeClr val="tx1"/>
                </a:solidFill>
              </a:rPr>
              <a:t> </a:t>
            </a:r>
          </a:p>
          <a:p>
            <a:pPr fontAlgn="base">
              <a:buNone/>
            </a:pPr>
            <a:r>
              <a:rPr lang="en-US" sz="1600" dirty="0">
                <a:solidFill>
                  <a:schemeClr val="tx1"/>
                </a:solidFill>
              </a:rPr>
              <a:t>(in .</a:t>
            </a:r>
            <a:r>
              <a:rPr lang="en-US" sz="1600" dirty="0" err="1">
                <a:solidFill>
                  <a:schemeClr val="tx1"/>
                </a:solidFill>
              </a:rPr>
              <a:t>pdf</a:t>
            </a:r>
            <a:r>
              <a:rPr lang="en-US" sz="1600" dirty="0">
                <a:solidFill>
                  <a:schemeClr val="tx1"/>
                </a:solidFill>
              </a:rPr>
              <a:t> format containing images of the pages)</a:t>
            </a:r>
          </a:p>
          <a:p>
            <a:pPr fontAlgn="base">
              <a:buNone/>
            </a:pPr>
            <a:endParaRPr lang="en-US" dirty="0">
              <a:solidFill>
                <a:schemeClr val="tx1"/>
              </a:solidFill>
            </a:endParaRPr>
          </a:p>
          <a:p>
            <a:pPr fontAlgn="base">
              <a:buNone/>
            </a:pPr>
            <a:r>
              <a:rPr lang="en-US" dirty="0">
                <a:solidFill>
                  <a:schemeClr val="tx1"/>
                </a:solidFill>
              </a:rPr>
              <a:t>D) </a:t>
            </a:r>
            <a:r>
              <a:rPr lang="en-US" b="1" dirty="0">
                <a:solidFill>
                  <a:schemeClr val="tx1"/>
                </a:solidFill>
              </a:rPr>
              <a:t>Printed</a:t>
            </a:r>
            <a:r>
              <a:rPr lang="en-US" dirty="0">
                <a:solidFill>
                  <a:schemeClr val="tx1"/>
                </a:solidFill>
              </a:rPr>
              <a:t> </a:t>
            </a:r>
            <a:r>
              <a:rPr lang="en-US" b="1" dirty="0">
                <a:solidFill>
                  <a:schemeClr val="tx1"/>
                </a:solidFill>
              </a:rPr>
              <a:t>books</a:t>
            </a:r>
          </a:p>
        </p:txBody>
      </p:sp>
      <p:sp>
        <p:nvSpPr>
          <p:cNvPr id="2" name="Slide Number Placeholder 1">
            <a:extLst>
              <a:ext uri="{FF2B5EF4-FFF2-40B4-BE49-F238E27FC236}">
                <a16:creationId xmlns="" xmlns:a16="http://schemas.microsoft.com/office/drawing/2014/main" id="{9915796C-A098-8D5F-DF80-9F8D35FD7544}"/>
              </a:ext>
            </a:extLst>
          </p:cNvPr>
          <p:cNvSpPr>
            <a:spLocks noGrp="1"/>
          </p:cNvSpPr>
          <p:nvPr>
            <p:ph type="sldNum" sz="quarter" idx="12"/>
          </p:nvPr>
        </p:nvSpPr>
        <p:spPr/>
        <p:txBody>
          <a:bodyPr/>
          <a:lstStyle/>
          <a:p>
            <a:fld id="{084E6F96-DBA9-4966-8C10-B0B4DAA302D2}" type="slidenum">
              <a:rPr lang="el-GR" smtClean="0"/>
              <a:pPr/>
              <a:t>22</a:t>
            </a:fld>
            <a:endParaRPr lang="el-G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4" name="13 - Τίτλος"/>
          <p:cNvSpPr>
            <a:spLocks noGrp="1"/>
          </p:cNvSpPr>
          <p:nvPr>
            <p:ph type="title"/>
          </p:nvPr>
        </p:nvSpPr>
        <p:spPr/>
        <p:txBody>
          <a:bodyPr/>
          <a:lstStyle/>
          <a:p>
            <a:r>
              <a:rPr lang="en-US" dirty="0"/>
              <a:t>Digitization:</a:t>
            </a:r>
            <a:endParaRPr lang="el-GR" dirty="0"/>
          </a:p>
        </p:txBody>
      </p:sp>
      <p:sp>
        <p:nvSpPr>
          <p:cNvPr id="16" name="15 - TextBox"/>
          <p:cNvSpPr txBox="1"/>
          <p:nvPr/>
        </p:nvSpPr>
        <p:spPr>
          <a:xfrm>
            <a:off x="467544" y="1124744"/>
            <a:ext cx="6359433" cy="523220"/>
          </a:xfrm>
          <a:prstGeom prst="rect">
            <a:avLst/>
          </a:prstGeom>
          <a:noFill/>
        </p:spPr>
        <p:txBody>
          <a:bodyPr wrap="none" rtlCol="0">
            <a:spAutoFit/>
          </a:bodyPr>
          <a:lstStyle/>
          <a:p>
            <a:r>
              <a:rPr lang="en-US" sz="2800" b="1" u="sng" dirty="0">
                <a:solidFill>
                  <a:schemeClr val="tx2"/>
                </a:solidFill>
                <a:effectLst>
                  <a:outerShdw blurRad="31750" dist="25400" dir="5400000" algn="tl" rotWithShape="0">
                    <a:srgbClr val="000000">
                      <a:alpha val="25000"/>
                    </a:srgbClr>
                  </a:outerShdw>
                </a:effectLst>
                <a:latin typeface="+mj-lt"/>
                <a:ea typeface="+mj-ea"/>
                <a:cs typeface="+mj-cs"/>
              </a:rPr>
              <a:t>Tokenization and Sentence division</a:t>
            </a:r>
            <a:endParaRPr lang="el-GR" sz="2800" b="1" u="sng" dirty="0">
              <a:solidFill>
                <a:schemeClr val="tx2"/>
              </a:solidFill>
              <a:effectLst>
                <a:outerShdw blurRad="31750" dist="25400" dir="5400000" algn="tl" rotWithShape="0">
                  <a:srgbClr val="000000">
                    <a:alpha val="25000"/>
                  </a:srgbClr>
                </a:outerShdw>
              </a:effectLst>
              <a:latin typeface="+mj-lt"/>
              <a:ea typeface="+mj-ea"/>
              <a:cs typeface="+mj-cs"/>
            </a:endParaRPr>
          </a:p>
        </p:txBody>
      </p:sp>
      <p:sp>
        <p:nvSpPr>
          <p:cNvPr id="17" name="16 - Πεντάγωνο"/>
          <p:cNvSpPr/>
          <p:nvPr/>
        </p:nvSpPr>
        <p:spPr>
          <a:xfrm>
            <a:off x="251520" y="1844824"/>
            <a:ext cx="8712968" cy="1368152"/>
          </a:xfrm>
          <a:prstGeom prst="homePlat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u="sng" dirty="0">
                <a:solidFill>
                  <a:schemeClr val="tx1"/>
                </a:solidFill>
              </a:rPr>
              <a:t>Sentences</a:t>
            </a:r>
            <a:r>
              <a:rPr lang="en-US" dirty="0">
                <a:solidFill>
                  <a:schemeClr val="tx1"/>
                </a:solidFill>
              </a:rPr>
              <a:t>:</a:t>
            </a:r>
          </a:p>
          <a:p>
            <a:pPr>
              <a:buNone/>
            </a:pPr>
            <a:endParaRPr lang="en-US" dirty="0">
              <a:solidFill>
                <a:schemeClr val="tx1"/>
              </a:solidFill>
            </a:endParaRPr>
          </a:p>
          <a:p>
            <a:pPr>
              <a:buFont typeface="Wingdings" pitchFamily="2" charset="2"/>
              <a:buChar char="Ø"/>
            </a:pPr>
            <a:r>
              <a:rPr lang="en-US" dirty="0">
                <a:solidFill>
                  <a:schemeClr val="tx1"/>
                </a:solidFill>
              </a:rPr>
              <a:t>Automatic segmentation</a:t>
            </a:r>
          </a:p>
          <a:p>
            <a:pPr>
              <a:buFont typeface="Wingdings" pitchFamily="2" charset="2"/>
              <a:buChar char="Ø"/>
            </a:pPr>
            <a:endParaRPr lang="en-US" dirty="0">
              <a:solidFill>
                <a:schemeClr val="tx1"/>
              </a:solidFill>
            </a:endParaRPr>
          </a:p>
          <a:p>
            <a:pPr>
              <a:buFont typeface="Wingdings" pitchFamily="2" charset="2"/>
              <a:buChar char="Ø"/>
            </a:pPr>
            <a:r>
              <a:rPr lang="en-US" dirty="0">
                <a:solidFill>
                  <a:schemeClr val="tx1"/>
                </a:solidFill>
              </a:rPr>
              <a:t>Delimiters established by the research team -&gt; punctuation marks  </a:t>
            </a:r>
          </a:p>
        </p:txBody>
      </p:sp>
      <p:sp>
        <p:nvSpPr>
          <p:cNvPr id="18" name="17 - Πεντάγωνο"/>
          <p:cNvSpPr/>
          <p:nvPr/>
        </p:nvSpPr>
        <p:spPr>
          <a:xfrm>
            <a:off x="251520" y="3861048"/>
            <a:ext cx="4248472" cy="1224136"/>
          </a:xfrm>
          <a:prstGeom prst="homePlat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b="1" u="sng" dirty="0">
                <a:solidFill>
                  <a:schemeClr val="tx1"/>
                </a:solidFill>
              </a:rPr>
              <a:t>Challenges</a:t>
            </a:r>
            <a:r>
              <a:rPr lang="en-US" dirty="0">
                <a:solidFill>
                  <a:schemeClr val="tx1"/>
                </a:solidFill>
              </a:rPr>
              <a:t>:</a:t>
            </a:r>
          </a:p>
          <a:p>
            <a:pPr>
              <a:buNone/>
            </a:pPr>
            <a:r>
              <a:rPr lang="en-US" dirty="0">
                <a:solidFill>
                  <a:schemeClr val="tx1"/>
                </a:solidFill>
              </a:rPr>
              <a:t>for example: </a:t>
            </a:r>
          </a:p>
          <a:p>
            <a:pPr>
              <a:buNone/>
            </a:pPr>
            <a:r>
              <a:rPr lang="en-US" dirty="0">
                <a:solidFill>
                  <a:schemeClr val="tx1"/>
                </a:solidFill>
              </a:rPr>
              <a:t>-Modern English: </a:t>
            </a:r>
            <a:r>
              <a:rPr lang="el-GR" i="1" dirty="0">
                <a:solidFill>
                  <a:schemeClr val="tx1"/>
                </a:solidFill>
              </a:rPr>
              <a:t>Μ</a:t>
            </a:r>
            <a:r>
              <a:rPr lang="en-US" i="1" dirty="0">
                <a:solidFill>
                  <a:schemeClr val="tx1"/>
                </a:solidFill>
              </a:rPr>
              <a:t>r.</a:t>
            </a:r>
            <a:r>
              <a:rPr lang="el-GR" dirty="0">
                <a:solidFill>
                  <a:schemeClr val="tx1"/>
                </a:solidFill>
              </a:rPr>
              <a:t> /</a:t>
            </a:r>
            <a:r>
              <a:rPr lang="en-US" dirty="0">
                <a:solidFill>
                  <a:schemeClr val="tx1"/>
                </a:solidFill>
              </a:rPr>
              <a:t> </a:t>
            </a:r>
            <a:r>
              <a:rPr lang="en-US" i="1" dirty="0">
                <a:solidFill>
                  <a:schemeClr val="tx1"/>
                </a:solidFill>
              </a:rPr>
              <a:t>Mrs.</a:t>
            </a:r>
          </a:p>
          <a:p>
            <a:pPr>
              <a:buNone/>
            </a:pPr>
            <a:r>
              <a:rPr lang="en-US" dirty="0">
                <a:solidFill>
                  <a:schemeClr val="tx1"/>
                </a:solidFill>
              </a:rPr>
              <a:t>-Modern Greek: </a:t>
            </a:r>
            <a:r>
              <a:rPr lang="el-GR" i="1" dirty="0" err="1">
                <a:solidFill>
                  <a:schemeClr val="tx1"/>
                </a:solidFill>
              </a:rPr>
              <a:t>ό,τι</a:t>
            </a:r>
            <a:r>
              <a:rPr lang="en-US" i="1" dirty="0">
                <a:solidFill>
                  <a:schemeClr val="tx1"/>
                </a:solidFill>
              </a:rPr>
              <a:t> (anything)</a:t>
            </a:r>
          </a:p>
        </p:txBody>
      </p:sp>
      <p:sp>
        <p:nvSpPr>
          <p:cNvPr id="2" name="Slide Number Placeholder 1">
            <a:extLst>
              <a:ext uri="{FF2B5EF4-FFF2-40B4-BE49-F238E27FC236}">
                <a16:creationId xmlns="" xmlns:a16="http://schemas.microsoft.com/office/drawing/2014/main" id="{57607341-04D1-FBB2-4F69-DF17A5DC52C9}"/>
              </a:ext>
            </a:extLst>
          </p:cNvPr>
          <p:cNvSpPr>
            <a:spLocks noGrp="1"/>
          </p:cNvSpPr>
          <p:nvPr>
            <p:ph type="sldNum" sz="quarter" idx="12"/>
          </p:nvPr>
        </p:nvSpPr>
        <p:spPr/>
        <p:txBody>
          <a:bodyPr/>
          <a:lstStyle/>
          <a:p>
            <a:fld id="{084E6F96-DBA9-4966-8C10-B0B4DAA302D2}" type="slidenum">
              <a:rPr lang="el-GR" smtClean="0"/>
              <a:pPr/>
              <a:t>23</a:t>
            </a:fld>
            <a:endParaRPr lang="el-G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Τίτλος"/>
          <p:cNvSpPr>
            <a:spLocks noGrp="1"/>
          </p:cNvSpPr>
          <p:nvPr>
            <p:ph type="title"/>
          </p:nvPr>
        </p:nvSpPr>
        <p:spPr/>
        <p:txBody>
          <a:bodyPr/>
          <a:lstStyle/>
          <a:p>
            <a:r>
              <a:rPr lang="en-US" dirty="0"/>
              <a:t>Digitization</a:t>
            </a:r>
            <a:endParaRPr lang="el-GR" dirty="0"/>
          </a:p>
        </p:txBody>
      </p:sp>
      <p:sp>
        <p:nvSpPr>
          <p:cNvPr id="12" name="11 - TextBox"/>
          <p:cNvSpPr txBox="1"/>
          <p:nvPr/>
        </p:nvSpPr>
        <p:spPr>
          <a:xfrm>
            <a:off x="467544" y="1052736"/>
            <a:ext cx="3671198" cy="523220"/>
          </a:xfrm>
          <a:prstGeom prst="rect">
            <a:avLst/>
          </a:prstGeom>
          <a:noFill/>
        </p:spPr>
        <p:txBody>
          <a:bodyPr wrap="none" rtlCol="0">
            <a:spAutoFit/>
          </a:bodyPr>
          <a:lstStyle/>
          <a:p>
            <a:r>
              <a:rPr lang="en-US" sz="2800" b="1" u="sng" dirty="0">
                <a:solidFill>
                  <a:schemeClr val="tx2"/>
                </a:solidFill>
                <a:effectLst>
                  <a:outerShdw blurRad="31750" dist="25400" dir="5400000" algn="tl" rotWithShape="0">
                    <a:srgbClr val="000000">
                      <a:alpha val="25000"/>
                    </a:srgbClr>
                  </a:outerShdw>
                </a:effectLst>
                <a:latin typeface="+mj-lt"/>
                <a:ea typeface="+mj-ea"/>
                <a:cs typeface="+mj-cs"/>
              </a:rPr>
              <a:t>Identification Codes</a:t>
            </a:r>
            <a:endParaRPr lang="el-GR" sz="2800" b="1" u="sng" dirty="0">
              <a:solidFill>
                <a:schemeClr val="tx2"/>
              </a:solidFill>
              <a:effectLst>
                <a:outerShdw blurRad="31750" dist="25400" dir="5400000" algn="tl" rotWithShape="0">
                  <a:srgbClr val="000000">
                    <a:alpha val="25000"/>
                  </a:srgbClr>
                </a:outerShdw>
              </a:effectLst>
              <a:latin typeface="+mj-lt"/>
              <a:ea typeface="+mj-ea"/>
              <a:cs typeface="+mj-cs"/>
            </a:endParaRPr>
          </a:p>
        </p:txBody>
      </p:sp>
      <p:sp>
        <p:nvSpPr>
          <p:cNvPr id="14" name="13 - Στρογγυλεμένο ορθογώνιο"/>
          <p:cNvSpPr/>
          <p:nvPr/>
        </p:nvSpPr>
        <p:spPr>
          <a:xfrm>
            <a:off x="1403648" y="1700808"/>
            <a:ext cx="6768752" cy="4392488"/>
          </a:xfrm>
          <a:prstGeom prst="roundRect">
            <a:avLst/>
          </a:prstGeom>
          <a:solidFill>
            <a:srgbClr val="E0C9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u="sng" dirty="0">
              <a:solidFill>
                <a:schemeClr val="tx1"/>
              </a:solidFill>
            </a:endParaRPr>
          </a:p>
          <a:p>
            <a:pPr algn="ctr"/>
            <a:r>
              <a:rPr lang="en-US" b="1" u="sng" dirty="0">
                <a:solidFill>
                  <a:schemeClr val="tx1"/>
                </a:solidFill>
              </a:rPr>
              <a:t>Creation of IDs for the texts</a:t>
            </a:r>
          </a:p>
          <a:p>
            <a:pPr algn="ctr"/>
            <a:endParaRPr lang="en-US" b="1" dirty="0">
              <a:solidFill>
                <a:schemeClr val="tx1"/>
              </a:solidFill>
            </a:endParaRPr>
          </a:p>
          <a:p>
            <a:pPr algn="ctr"/>
            <a:r>
              <a:rPr lang="en-US" b="1" u="sng" dirty="0">
                <a:solidFill>
                  <a:schemeClr val="tx1"/>
                </a:solidFill>
              </a:rPr>
              <a:t>ID information:</a:t>
            </a:r>
          </a:p>
          <a:p>
            <a:pPr algn="ctr"/>
            <a:endParaRPr lang="en-US" b="1" u="sng" dirty="0">
              <a:solidFill>
                <a:schemeClr val="tx1"/>
              </a:solidFill>
            </a:endParaRPr>
          </a:p>
          <a:p>
            <a:pPr algn="ctr"/>
            <a:r>
              <a:rPr lang="en-US" dirty="0">
                <a:solidFill>
                  <a:schemeClr val="tx1"/>
                </a:solidFill>
              </a:rPr>
              <a:t>ATHDGC</a:t>
            </a:r>
          </a:p>
          <a:p>
            <a:pPr algn="ctr"/>
            <a:endParaRPr lang="en-US" dirty="0">
              <a:solidFill>
                <a:schemeClr val="tx1"/>
              </a:solidFill>
            </a:endParaRPr>
          </a:p>
          <a:p>
            <a:pPr algn="ctr"/>
            <a:r>
              <a:rPr lang="en-US" dirty="0">
                <a:solidFill>
                  <a:schemeClr val="tx1"/>
                </a:solidFill>
              </a:rPr>
              <a:t>Author</a:t>
            </a:r>
          </a:p>
          <a:p>
            <a:pPr algn="ctr"/>
            <a:endParaRPr lang="en-US" dirty="0">
              <a:solidFill>
                <a:schemeClr val="tx1"/>
              </a:solidFill>
            </a:endParaRPr>
          </a:p>
          <a:p>
            <a:pPr algn="ctr"/>
            <a:r>
              <a:rPr lang="en-US" dirty="0">
                <a:solidFill>
                  <a:schemeClr val="tx1"/>
                </a:solidFill>
              </a:rPr>
              <a:t>Source Language</a:t>
            </a:r>
          </a:p>
          <a:p>
            <a:pPr algn="ctr"/>
            <a:endParaRPr lang="en-US" dirty="0">
              <a:solidFill>
                <a:schemeClr val="tx1"/>
              </a:solidFill>
            </a:endParaRPr>
          </a:p>
          <a:p>
            <a:pPr algn="ctr"/>
            <a:r>
              <a:rPr lang="en-US" dirty="0">
                <a:solidFill>
                  <a:schemeClr val="tx1"/>
                </a:solidFill>
              </a:rPr>
              <a:t>Translator </a:t>
            </a:r>
          </a:p>
          <a:p>
            <a:pPr algn="ctr"/>
            <a:endParaRPr lang="en-US" dirty="0">
              <a:solidFill>
                <a:schemeClr val="tx1"/>
              </a:solidFill>
            </a:endParaRPr>
          </a:p>
          <a:p>
            <a:pPr algn="ctr"/>
            <a:r>
              <a:rPr lang="en-US" dirty="0">
                <a:solidFill>
                  <a:schemeClr val="tx1"/>
                </a:solidFill>
              </a:rPr>
              <a:t>Target Language</a:t>
            </a:r>
          </a:p>
          <a:p>
            <a:pPr algn="ctr"/>
            <a:endParaRPr lang="en-US" dirty="0">
              <a:solidFill>
                <a:schemeClr val="tx1"/>
              </a:solidFill>
            </a:endParaRPr>
          </a:p>
          <a:p>
            <a:pPr algn="ctr"/>
            <a:r>
              <a:rPr lang="en-US" dirty="0">
                <a:solidFill>
                  <a:schemeClr val="tx1"/>
                </a:solidFill>
              </a:rPr>
              <a:t>Version</a:t>
            </a:r>
          </a:p>
          <a:p>
            <a:pPr algn="ctr"/>
            <a:endParaRPr lang="en-US" dirty="0"/>
          </a:p>
        </p:txBody>
      </p:sp>
      <p:sp>
        <p:nvSpPr>
          <p:cNvPr id="16" name="15 - Δεξιό άγκιστρο"/>
          <p:cNvSpPr/>
          <p:nvPr/>
        </p:nvSpPr>
        <p:spPr>
          <a:xfrm>
            <a:off x="5724128" y="4653136"/>
            <a:ext cx="648072" cy="648072"/>
          </a:xfrm>
          <a:prstGeom prst="rightBrace">
            <a:avLst/>
          </a:prstGeom>
          <a:ln w="412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l-GR"/>
          </a:p>
        </p:txBody>
      </p:sp>
      <p:sp>
        <p:nvSpPr>
          <p:cNvPr id="17" name="16 - Στρογγυλεμένο ορθογώνιο"/>
          <p:cNvSpPr/>
          <p:nvPr/>
        </p:nvSpPr>
        <p:spPr>
          <a:xfrm>
            <a:off x="6444208" y="4653136"/>
            <a:ext cx="1728192" cy="864096"/>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Only for translations</a:t>
            </a:r>
            <a:endParaRPr lang="el-GR" dirty="0">
              <a:solidFill>
                <a:schemeClr val="tx1"/>
              </a:solidFill>
            </a:endParaRPr>
          </a:p>
        </p:txBody>
      </p:sp>
      <p:sp>
        <p:nvSpPr>
          <p:cNvPr id="2" name="Slide Number Placeholder 1">
            <a:extLst>
              <a:ext uri="{FF2B5EF4-FFF2-40B4-BE49-F238E27FC236}">
                <a16:creationId xmlns="" xmlns:a16="http://schemas.microsoft.com/office/drawing/2014/main" id="{CEE3F632-92E6-281A-3833-2D2B40F38265}"/>
              </a:ext>
            </a:extLst>
          </p:cNvPr>
          <p:cNvSpPr>
            <a:spLocks noGrp="1"/>
          </p:cNvSpPr>
          <p:nvPr>
            <p:ph type="sldNum" sz="quarter" idx="12"/>
          </p:nvPr>
        </p:nvSpPr>
        <p:spPr/>
        <p:txBody>
          <a:bodyPr/>
          <a:lstStyle/>
          <a:p>
            <a:fld id="{084E6F96-DBA9-4966-8C10-B0B4DAA302D2}" type="slidenum">
              <a:rPr lang="el-GR" smtClean="0"/>
              <a:pPr/>
              <a:t>24</a:t>
            </a:fld>
            <a:endParaRPr lang="el-G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Τίτλος"/>
          <p:cNvSpPr>
            <a:spLocks noGrp="1"/>
          </p:cNvSpPr>
          <p:nvPr>
            <p:ph type="title"/>
          </p:nvPr>
        </p:nvSpPr>
        <p:spPr/>
        <p:txBody>
          <a:bodyPr/>
          <a:lstStyle/>
          <a:p>
            <a:r>
              <a:rPr lang="en-US" dirty="0"/>
              <a:t>Annotation</a:t>
            </a:r>
            <a:endParaRPr lang="el-GR" dirty="0"/>
          </a:p>
        </p:txBody>
      </p:sp>
      <p:sp>
        <p:nvSpPr>
          <p:cNvPr id="11" name="10 - Θέση περιεχομένου"/>
          <p:cNvSpPr>
            <a:spLocks noGrp="1"/>
          </p:cNvSpPr>
          <p:nvPr>
            <p:ph idx="1"/>
          </p:nvPr>
        </p:nvSpPr>
        <p:spPr>
          <a:xfrm>
            <a:off x="457200" y="1481329"/>
            <a:ext cx="8686800" cy="1515624"/>
          </a:xfrm>
        </p:spPr>
        <p:txBody>
          <a:bodyPr/>
          <a:lstStyle/>
          <a:p>
            <a:r>
              <a:rPr lang="en-US" dirty="0"/>
              <a:t>Morphological Annotation (partially automated)</a:t>
            </a:r>
          </a:p>
          <a:p>
            <a:r>
              <a:rPr lang="en-US" dirty="0"/>
              <a:t>Syntactic Annotation (manually completed)</a:t>
            </a:r>
          </a:p>
          <a:p>
            <a:endParaRPr lang="en-US" dirty="0"/>
          </a:p>
        </p:txBody>
      </p:sp>
      <p:sp>
        <p:nvSpPr>
          <p:cNvPr id="12" name="11 - Στρογγυλεμένο ορθογώνιο"/>
          <p:cNvSpPr/>
          <p:nvPr/>
        </p:nvSpPr>
        <p:spPr>
          <a:xfrm>
            <a:off x="2483768" y="3212976"/>
            <a:ext cx="4824536" cy="3024336"/>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Automatic syntactic annotation</a:t>
            </a: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dirty="0">
                <a:solidFill>
                  <a:schemeClr val="tx1"/>
                </a:solidFill>
              </a:rPr>
              <a:t>Extraction of syntactic information </a:t>
            </a: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dirty="0">
                <a:solidFill>
                  <a:schemeClr val="tx1"/>
                </a:solidFill>
              </a:rPr>
              <a:t>Creation of the diachronic </a:t>
            </a:r>
            <a:r>
              <a:rPr lang="en-US" dirty="0" err="1">
                <a:solidFill>
                  <a:schemeClr val="tx1"/>
                </a:solidFill>
              </a:rPr>
              <a:t>Valency</a:t>
            </a:r>
            <a:r>
              <a:rPr lang="en-US" dirty="0">
                <a:solidFill>
                  <a:schemeClr val="tx1"/>
                </a:solidFill>
              </a:rPr>
              <a:t> Lexicon</a:t>
            </a:r>
            <a:endParaRPr lang="el-GR" dirty="0">
              <a:solidFill>
                <a:schemeClr val="tx1"/>
              </a:solidFill>
            </a:endParaRPr>
          </a:p>
        </p:txBody>
      </p:sp>
      <p:sp>
        <p:nvSpPr>
          <p:cNvPr id="13" name="12 - Βέλος προς τα κάτω"/>
          <p:cNvSpPr/>
          <p:nvPr/>
        </p:nvSpPr>
        <p:spPr>
          <a:xfrm>
            <a:off x="4644008" y="3789040"/>
            <a:ext cx="288032" cy="504056"/>
          </a:xfrm>
          <a:prstGeom prst="downArrow">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5" name="14 - Ορθογώνιο"/>
          <p:cNvSpPr/>
          <p:nvPr/>
        </p:nvSpPr>
        <p:spPr>
          <a:xfrm>
            <a:off x="3779912" y="2636912"/>
            <a:ext cx="1882247" cy="523220"/>
          </a:xfrm>
          <a:prstGeom prst="rect">
            <a:avLst/>
          </a:prstGeom>
        </p:spPr>
        <p:txBody>
          <a:bodyPr wrap="none">
            <a:spAutoFit/>
          </a:bodyPr>
          <a:lstStyle/>
          <a:p>
            <a:pPr lvl="0" algn="ctr"/>
            <a:r>
              <a:rPr lang="en-US" sz="2800" b="1" u="sng" dirty="0">
                <a:solidFill>
                  <a:schemeClr val="accent1">
                    <a:lumMod val="50000"/>
                  </a:schemeClr>
                </a:solidFill>
              </a:rPr>
              <a:t>Main goal</a:t>
            </a:r>
          </a:p>
        </p:txBody>
      </p:sp>
      <p:sp>
        <p:nvSpPr>
          <p:cNvPr id="16" name="15 - Βέλος προς τα κάτω"/>
          <p:cNvSpPr/>
          <p:nvPr/>
        </p:nvSpPr>
        <p:spPr>
          <a:xfrm>
            <a:off x="4644008" y="4797152"/>
            <a:ext cx="288032" cy="504056"/>
          </a:xfrm>
          <a:prstGeom prst="downArrow">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 name="Slide Number Placeholder 1">
            <a:extLst>
              <a:ext uri="{FF2B5EF4-FFF2-40B4-BE49-F238E27FC236}">
                <a16:creationId xmlns="" xmlns:a16="http://schemas.microsoft.com/office/drawing/2014/main" id="{885F6E0E-D023-497A-D477-5D545ECDC130}"/>
              </a:ext>
            </a:extLst>
          </p:cNvPr>
          <p:cNvSpPr>
            <a:spLocks noGrp="1"/>
          </p:cNvSpPr>
          <p:nvPr>
            <p:ph type="sldNum" sz="quarter" idx="12"/>
          </p:nvPr>
        </p:nvSpPr>
        <p:spPr/>
        <p:txBody>
          <a:bodyPr/>
          <a:lstStyle/>
          <a:p>
            <a:fld id="{084E6F96-DBA9-4966-8C10-B0B4DAA302D2}" type="slidenum">
              <a:rPr lang="el-GR" smtClean="0"/>
              <a:pPr/>
              <a:t>25</a:t>
            </a:fld>
            <a:endParaRPr lang="el-G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a:extLst>
              <a:ext uri="{FF2B5EF4-FFF2-40B4-BE49-F238E27FC236}">
                <a16:creationId xmlns="" xmlns:a16="http://schemas.microsoft.com/office/drawing/2014/main" id="{1C0708C4-0235-DF64-406B-6BECF21413B1}"/>
              </a:ext>
            </a:extLst>
          </p:cNvPr>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a:extLst>
              <a:ext uri="{FF2B5EF4-FFF2-40B4-BE49-F238E27FC236}">
                <a16:creationId xmlns="" xmlns:a16="http://schemas.microsoft.com/office/drawing/2014/main" id="{86EE9DBC-03F0-3002-4707-B7C0268E9D7D}"/>
              </a:ext>
            </a:extLst>
          </p:cNvPr>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a:extLst>
              <a:ext uri="{FF2B5EF4-FFF2-40B4-BE49-F238E27FC236}">
                <a16:creationId xmlns="" xmlns:a16="http://schemas.microsoft.com/office/drawing/2014/main" id="{EA41535C-C0C9-0FEA-74A5-C93762511A8A}"/>
              </a:ext>
            </a:extLst>
          </p:cNvPr>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a:extLst>
              <a:ext uri="{FF2B5EF4-FFF2-40B4-BE49-F238E27FC236}">
                <a16:creationId xmlns="" xmlns:a16="http://schemas.microsoft.com/office/drawing/2014/main" id="{BB991C4F-4F74-CDA0-F5A7-29199FFB61D8}"/>
              </a:ext>
            </a:extLst>
          </p:cNvPr>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a:extLst>
              <a:ext uri="{FF2B5EF4-FFF2-40B4-BE49-F238E27FC236}">
                <a16:creationId xmlns="" xmlns:a16="http://schemas.microsoft.com/office/drawing/2014/main" id="{C90191F4-B44C-5886-A659-E42142A23098}"/>
              </a:ext>
            </a:extLst>
          </p:cNvPr>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a:extLst>
              <a:ext uri="{FF2B5EF4-FFF2-40B4-BE49-F238E27FC236}">
                <a16:creationId xmlns="" xmlns:a16="http://schemas.microsoft.com/office/drawing/2014/main" id="{F20B5728-D7A5-EF1C-1033-710424FE7B29}"/>
              </a:ext>
            </a:extLst>
          </p:cNvPr>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2" name="11 - Τίτλος"/>
          <p:cNvSpPr>
            <a:spLocks noGrp="1"/>
          </p:cNvSpPr>
          <p:nvPr>
            <p:ph type="ctrTitle"/>
          </p:nvPr>
        </p:nvSpPr>
        <p:spPr>
          <a:xfrm>
            <a:off x="685800" y="1988840"/>
            <a:ext cx="7772400" cy="1829761"/>
          </a:xfrm>
        </p:spPr>
        <p:txBody>
          <a:bodyPr/>
          <a:lstStyle/>
          <a:p>
            <a:pPr algn="ctr"/>
            <a:r>
              <a:rPr lang="en-US" dirty="0"/>
              <a:t>The </a:t>
            </a:r>
            <a:r>
              <a:rPr lang="en-US" dirty="0" err="1"/>
              <a:t>Valency</a:t>
            </a:r>
            <a:r>
              <a:rPr lang="en-US" dirty="0"/>
              <a:t> Lexicon</a:t>
            </a:r>
            <a:r>
              <a:rPr lang="el-GR" i="1" dirty="0"/>
              <a:t/>
            </a:r>
            <a:br>
              <a:rPr lang="el-GR" i="1" dirty="0"/>
            </a:br>
            <a:endParaRPr lang="el-GR" i="1" dirty="0"/>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253652A3-0AE0-48B0-25CC-585BAD767EB3}"/>
              </a:ext>
            </a:extLst>
          </p:cNvPr>
          <p:cNvSpPr txBox="1">
            <a:spLocks/>
          </p:cNvSpPr>
          <p:nvPr/>
        </p:nvSpPr>
        <p:spPr>
          <a:xfrm>
            <a:off x="1097280" y="908720"/>
            <a:ext cx="7291144" cy="828640"/>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b="0" dirty="0"/>
              <a:t>What is </a:t>
            </a:r>
            <a:r>
              <a:rPr lang="en-US" b="0" dirty="0" err="1"/>
              <a:t>valency</a:t>
            </a:r>
            <a:r>
              <a:rPr lang="en-US" b="0" dirty="0"/>
              <a:t>?</a:t>
            </a:r>
            <a:endParaRPr lang="el-GR" b="0" dirty="0"/>
          </a:p>
        </p:txBody>
      </p:sp>
      <p:sp>
        <p:nvSpPr>
          <p:cNvPr id="3" name="Θέση περιεχομένου 2">
            <a:extLst>
              <a:ext uri="{FF2B5EF4-FFF2-40B4-BE49-F238E27FC236}">
                <a16:creationId xmlns="" xmlns:a16="http://schemas.microsoft.com/office/drawing/2014/main" id="{A3D5A440-5CB6-2A7E-774B-4AE5D1F158ED}"/>
              </a:ext>
            </a:extLst>
          </p:cNvPr>
          <p:cNvSpPr txBox="1">
            <a:spLocks/>
          </p:cNvSpPr>
          <p:nvPr/>
        </p:nvSpPr>
        <p:spPr>
          <a:xfrm>
            <a:off x="838678" y="2060848"/>
            <a:ext cx="7549746" cy="3699872"/>
          </a:xfrm>
          <a:prstGeom prst="rect">
            <a:avLst/>
          </a:prstGeom>
        </p:spPr>
        <p:txBody>
          <a:bodyPr>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r>
              <a:rPr lang="en-US" sz="2400" dirty="0"/>
              <a:t>Valency describes the presence/absence, type and number of arguments licensed by a verb</a:t>
            </a:r>
          </a:p>
          <a:p>
            <a:pPr marL="0" indent="0">
              <a:buFont typeface="Wingdings 3"/>
              <a:buNone/>
            </a:pPr>
            <a:r>
              <a:rPr lang="en-US" sz="2400" dirty="0"/>
              <a:t>	(1) </a:t>
            </a:r>
            <a:r>
              <a:rPr lang="en-US" sz="2400" dirty="0">
                <a:solidFill>
                  <a:schemeClr val="tx2">
                    <a:lumMod val="50000"/>
                    <a:lumOff val="50000"/>
                  </a:schemeClr>
                </a:solidFill>
              </a:rPr>
              <a:t>Mary</a:t>
            </a:r>
            <a:r>
              <a:rPr lang="en-US" sz="2400" dirty="0"/>
              <a:t> sleeps.</a:t>
            </a:r>
          </a:p>
          <a:p>
            <a:pPr marL="0" indent="0">
              <a:buFont typeface="Wingdings 3"/>
              <a:buNone/>
            </a:pPr>
            <a:r>
              <a:rPr lang="en-US" sz="2400" dirty="0"/>
              <a:t>	(2) </a:t>
            </a:r>
            <a:r>
              <a:rPr lang="en-US" sz="2400" dirty="0">
                <a:solidFill>
                  <a:schemeClr val="tx2">
                    <a:lumMod val="50000"/>
                    <a:lumOff val="50000"/>
                  </a:schemeClr>
                </a:solidFill>
              </a:rPr>
              <a:t>Mary</a:t>
            </a:r>
            <a:r>
              <a:rPr lang="en-US" sz="2400" dirty="0"/>
              <a:t> likes </a:t>
            </a:r>
            <a:r>
              <a:rPr lang="en-US" sz="2400" dirty="0">
                <a:solidFill>
                  <a:schemeClr val="accent2">
                    <a:lumMod val="50000"/>
                  </a:schemeClr>
                </a:solidFill>
              </a:rPr>
              <a:t>John</a:t>
            </a:r>
            <a:r>
              <a:rPr lang="en-US" sz="2400" dirty="0"/>
              <a:t>.</a:t>
            </a:r>
          </a:p>
          <a:p>
            <a:pPr marL="0" indent="0">
              <a:buFont typeface="Wingdings 3"/>
              <a:buNone/>
            </a:pPr>
            <a:r>
              <a:rPr lang="en-US" sz="2400" dirty="0"/>
              <a:t>	(3) </a:t>
            </a:r>
            <a:r>
              <a:rPr lang="en-US" sz="2400" dirty="0">
                <a:solidFill>
                  <a:schemeClr val="tx2">
                    <a:lumMod val="50000"/>
                    <a:lumOff val="50000"/>
                  </a:schemeClr>
                </a:solidFill>
              </a:rPr>
              <a:t>Mary</a:t>
            </a:r>
            <a:r>
              <a:rPr lang="en-US" sz="2400" dirty="0"/>
              <a:t> gave </a:t>
            </a:r>
            <a:r>
              <a:rPr lang="en-US" sz="2400" dirty="0">
                <a:solidFill>
                  <a:schemeClr val="accent2">
                    <a:lumMod val="50000"/>
                  </a:schemeClr>
                </a:solidFill>
              </a:rPr>
              <a:t>a letter </a:t>
            </a:r>
            <a:r>
              <a:rPr lang="en-US" sz="2400" dirty="0">
                <a:solidFill>
                  <a:srgbClr val="FFC000"/>
                </a:solidFill>
              </a:rPr>
              <a:t>to John</a:t>
            </a:r>
            <a:r>
              <a:rPr lang="en-US" sz="2400" dirty="0"/>
              <a:t>.</a:t>
            </a:r>
          </a:p>
          <a:p>
            <a:pPr marL="0" indent="0">
              <a:buFont typeface="Wingdings 3"/>
              <a:buNone/>
            </a:pPr>
            <a:endParaRPr lang="en-US" sz="2400" dirty="0"/>
          </a:p>
          <a:p>
            <a:pPr>
              <a:buFont typeface="Wingdings" panose="05000000000000000000" pitchFamily="2" charset="2"/>
              <a:buChar char="à"/>
            </a:pPr>
            <a:r>
              <a:rPr lang="en-US" sz="2400" dirty="0">
                <a:sym typeface="Wingdings" panose="05000000000000000000" pitchFamily="2" charset="2"/>
              </a:rPr>
              <a:t> Underlying idea: </a:t>
            </a:r>
          </a:p>
          <a:p>
            <a:pPr marL="457200" lvl="1" indent="0">
              <a:buFont typeface="Verdana"/>
              <a:buNone/>
            </a:pPr>
            <a:r>
              <a:rPr lang="en-US" sz="2000" dirty="0">
                <a:sym typeface="Wingdings" panose="05000000000000000000" pitchFamily="2" charset="2"/>
              </a:rPr>
              <a:t>Number of participants in semantics = number of arguments in syntax</a:t>
            </a:r>
            <a:endParaRPr lang="el-GR" sz="2000" dirty="0"/>
          </a:p>
        </p:txBody>
      </p:sp>
      <p:sp>
        <p:nvSpPr>
          <p:cNvPr id="10" name="Slide Number Placeholder 9">
            <a:extLst>
              <a:ext uri="{FF2B5EF4-FFF2-40B4-BE49-F238E27FC236}">
                <a16:creationId xmlns="" xmlns:a16="http://schemas.microsoft.com/office/drawing/2014/main" id="{A473F4F2-2591-315E-846C-9B5483477613}"/>
              </a:ext>
            </a:extLst>
          </p:cNvPr>
          <p:cNvSpPr>
            <a:spLocks noGrp="1"/>
          </p:cNvSpPr>
          <p:nvPr>
            <p:ph type="sldNum" sz="quarter" idx="12"/>
          </p:nvPr>
        </p:nvSpPr>
        <p:spPr/>
        <p:txBody>
          <a:bodyPr/>
          <a:lstStyle/>
          <a:p>
            <a:fld id="{084E6F96-DBA9-4966-8C10-B0B4DAA302D2}" type="slidenum">
              <a:rPr lang="el-GR" smtClean="0"/>
              <a:pPr/>
              <a:t>27</a:t>
            </a:fld>
            <a:endParaRPr lang="el-G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6B14DD76-2604-7142-6B73-C5667B075495}"/>
              </a:ext>
            </a:extLst>
          </p:cNvPr>
          <p:cNvSpPr txBox="1">
            <a:spLocks/>
          </p:cNvSpPr>
          <p:nvPr/>
        </p:nvSpPr>
        <p:spPr>
          <a:xfrm>
            <a:off x="838678" y="1052736"/>
            <a:ext cx="7507168" cy="684624"/>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b="0" dirty="0" err="1">
                <a:effectLst>
                  <a:outerShdw blurRad="38100" dist="38100" dir="2700000" algn="tl">
                    <a:srgbClr val="000000">
                      <a:alpha val="43137"/>
                    </a:srgbClr>
                  </a:outerShdw>
                </a:effectLst>
              </a:rPr>
              <a:t>Tesnière</a:t>
            </a:r>
            <a:r>
              <a:rPr lang="en-US" b="0" dirty="0">
                <a:effectLst>
                  <a:outerShdw blurRad="38100" dist="38100" dir="2700000" algn="tl">
                    <a:srgbClr val="000000">
                      <a:alpha val="43137"/>
                    </a:srgbClr>
                  </a:outerShdw>
                </a:effectLst>
              </a:rPr>
              <a:t> (1959)</a:t>
            </a:r>
            <a:endParaRPr lang="el-GR" b="0" dirty="0">
              <a:effectLst>
                <a:outerShdw blurRad="38100" dist="38100" dir="2700000" algn="tl">
                  <a:srgbClr val="000000">
                    <a:alpha val="43137"/>
                  </a:srgbClr>
                </a:outerShdw>
              </a:effectLst>
            </a:endParaRPr>
          </a:p>
        </p:txBody>
      </p:sp>
      <p:sp>
        <p:nvSpPr>
          <p:cNvPr id="3" name="Θέση περιεχομένου 2">
            <a:extLst>
              <a:ext uri="{FF2B5EF4-FFF2-40B4-BE49-F238E27FC236}">
                <a16:creationId xmlns="" xmlns:a16="http://schemas.microsoft.com/office/drawing/2014/main" id="{884B1996-524F-A6F3-7777-E02FCAA0B34B}"/>
              </a:ext>
            </a:extLst>
          </p:cNvPr>
          <p:cNvSpPr txBox="1">
            <a:spLocks/>
          </p:cNvSpPr>
          <p:nvPr/>
        </p:nvSpPr>
        <p:spPr>
          <a:xfrm>
            <a:off x="611560" y="1988840"/>
            <a:ext cx="7920880" cy="1162347"/>
          </a:xfrm>
          <a:prstGeom prst="rect">
            <a:avLst/>
          </a:prstGeom>
        </p:spPr>
        <p:txBody>
          <a:bodyPr>
            <a:normAutofit fontScale="92500"/>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r>
              <a:rPr lang="en-US" sz="2400" dirty="0"/>
              <a:t>Verb = central structural element of the sentence, all other elements depend on it [dependency grammar]</a:t>
            </a:r>
          </a:p>
          <a:p>
            <a:r>
              <a:rPr lang="en-US" sz="2400" dirty="0"/>
              <a:t>Verb classes according to the number of arguments:</a:t>
            </a:r>
          </a:p>
        </p:txBody>
      </p:sp>
      <p:graphicFrame>
        <p:nvGraphicFramePr>
          <p:cNvPr id="10" name="Πίνακας 9">
            <a:extLst>
              <a:ext uri="{FF2B5EF4-FFF2-40B4-BE49-F238E27FC236}">
                <a16:creationId xmlns="" xmlns:a16="http://schemas.microsoft.com/office/drawing/2014/main" id="{38949A31-F5D8-E3E2-3EAE-7FE17D755C26}"/>
              </a:ext>
            </a:extLst>
          </p:cNvPr>
          <p:cNvGraphicFramePr>
            <a:graphicFrameLocks noGrp="1"/>
          </p:cNvGraphicFramePr>
          <p:nvPr>
            <p:extLst>
              <p:ext uri="{D42A27DB-BD31-4B8C-83A1-F6EECF244321}">
                <p14:modId xmlns="" xmlns:p14="http://schemas.microsoft.com/office/powerpoint/2010/main" val="191043960"/>
              </p:ext>
            </p:extLst>
          </p:nvPr>
        </p:nvGraphicFramePr>
        <p:xfrm>
          <a:off x="683568" y="3501008"/>
          <a:ext cx="7920880" cy="1854200"/>
        </p:xfrm>
        <a:graphic>
          <a:graphicData uri="http://schemas.openxmlformats.org/drawingml/2006/table">
            <a:tbl>
              <a:tblPr firstRow="1" bandRow="1">
                <a:tableStyleId>{C083E6E3-FA7D-4D7B-A595-EF9225AFEA82}</a:tableStyleId>
              </a:tblPr>
              <a:tblGrid>
                <a:gridCol w="1806516">
                  <a:extLst>
                    <a:ext uri="{9D8B030D-6E8A-4147-A177-3AD203B41FA5}">
                      <a16:colId xmlns="" xmlns:a16="http://schemas.microsoft.com/office/drawing/2014/main" val="608348547"/>
                    </a:ext>
                  </a:extLst>
                </a:gridCol>
                <a:gridCol w="2709775">
                  <a:extLst>
                    <a:ext uri="{9D8B030D-6E8A-4147-A177-3AD203B41FA5}">
                      <a16:colId xmlns="" xmlns:a16="http://schemas.microsoft.com/office/drawing/2014/main" val="3129832621"/>
                    </a:ext>
                  </a:extLst>
                </a:gridCol>
                <a:gridCol w="3404589">
                  <a:extLst>
                    <a:ext uri="{9D8B030D-6E8A-4147-A177-3AD203B41FA5}">
                      <a16:colId xmlns="" xmlns:a16="http://schemas.microsoft.com/office/drawing/2014/main" val="2377471118"/>
                    </a:ext>
                  </a:extLst>
                </a:gridCol>
              </a:tblGrid>
              <a:tr h="370840">
                <a:tc>
                  <a:txBody>
                    <a:bodyPr/>
                    <a:lstStyle/>
                    <a:p>
                      <a:r>
                        <a:rPr lang="en-US" dirty="0"/>
                        <a:t>Verb class</a:t>
                      </a:r>
                      <a:endParaRPr lang="el-GR" dirty="0"/>
                    </a:p>
                  </a:txBody>
                  <a:tcPr/>
                </a:tc>
                <a:tc>
                  <a:txBody>
                    <a:bodyPr/>
                    <a:lstStyle/>
                    <a:p>
                      <a:r>
                        <a:rPr lang="en-US" dirty="0"/>
                        <a:t>Number of </a:t>
                      </a:r>
                      <a:r>
                        <a:rPr lang="en-US" dirty="0" err="1"/>
                        <a:t>args</a:t>
                      </a:r>
                      <a:r>
                        <a:rPr lang="en-US" dirty="0"/>
                        <a:t> (0-3)</a:t>
                      </a:r>
                      <a:endParaRPr lang="el-GR" dirty="0"/>
                    </a:p>
                  </a:txBody>
                  <a:tcPr/>
                </a:tc>
                <a:tc>
                  <a:txBody>
                    <a:bodyPr/>
                    <a:lstStyle/>
                    <a:p>
                      <a:r>
                        <a:rPr lang="en-US" dirty="0"/>
                        <a:t>Examples</a:t>
                      </a:r>
                      <a:endParaRPr lang="el-GR" dirty="0"/>
                    </a:p>
                  </a:txBody>
                  <a:tcPr/>
                </a:tc>
                <a:extLst>
                  <a:ext uri="{0D108BD9-81ED-4DB2-BD59-A6C34878D82A}">
                    <a16:rowId xmlns="" xmlns:a16="http://schemas.microsoft.com/office/drawing/2014/main" val="160004171"/>
                  </a:ext>
                </a:extLst>
              </a:tr>
              <a:tr h="370840">
                <a:tc>
                  <a:txBody>
                    <a:bodyPr/>
                    <a:lstStyle/>
                    <a:p>
                      <a:r>
                        <a:rPr lang="en-US" dirty="0" err="1"/>
                        <a:t>Avalent</a:t>
                      </a:r>
                      <a:endParaRPr lang="el-GR" dirty="0"/>
                    </a:p>
                  </a:txBody>
                  <a:tcPr/>
                </a:tc>
                <a:tc>
                  <a:txBody>
                    <a:bodyPr/>
                    <a:lstStyle/>
                    <a:p>
                      <a:pPr algn="ctr"/>
                      <a:r>
                        <a:rPr lang="en-US" dirty="0"/>
                        <a:t>0</a:t>
                      </a:r>
                      <a:endParaRPr lang="el-GR" dirty="0"/>
                    </a:p>
                  </a:txBody>
                  <a:tcPr anchor="ctr"/>
                </a:tc>
                <a:tc>
                  <a:txBody>
                    <a:bodyPr/>
                    <a:lstStyle/>
                    <a:p>
                      <a:r>
                        <a:rPr lang="en-US" dirty="0"/>
                        <a:t>It rains.</a:t>
                      </a:r>
                      <a:endParaRPr lang="el-GR" i="1" dirty="0"/>
                    </a:p>
                  </a:txBody>
                  <a:tcPr/>
                </a:tc>
                <a:extLst>
                  <a:ext uri="{0D108BD9-81ED-4DB2-BD59-A6C34878D82A}">
                    <a16:rowId xmlns="" xmlns:a16="http://schemas.microsoft.com/office/drawing/2014/main" val="962915260"/>
                  </a:ext>
                </a:extLst>
              </a:tr>
              <a:tr h="370840">
                <a:tc>
                  <a:txBody>
                    <a:bodyPr/>
                    <a:lstStyle/>
                    <a:p>
                      <a:r>
                        <a:rPr lang="en-US" dirty="0"/>
                        <a:t>Monovalent</a:t>
                      </a:r>
                      <a:endParaRPr lang="el-GR" dirty="0"/>
                    </a:p>
                  </a:txBody>
                  <a:tcPr/>
                </a:tc>
                <a:tc>
                  <a:txBody>
                    <a:bodyPr/>
                    <a:lstStyle/>
                    <a:p>
                      <a:pPr algn="ctr"/>
                      <a:r>
                        <a:rPr lang="en-US" dirty="0"/>
                        <a:t>1</a:t>
                      </a:r>
                      <a:endParaRPr lang="el-GR" dirty="0"/>
                    </a:p>
                  </a:txBody>
                  <a:tcPr anchor="ctr"/>
                </a:tc>
                <a:tc>
                  <a:txBody>
                    <a:bodyPr/>
                    <a:lstStyle/>
                    <a:p>
                      <a:r>
                        <a:rPr lang="en-US" dirty="0"/>
                        <a:t>John sleeps.</a:t>
                      </a:r>
                      <a:endParaRPr lang="el-GR" i="1" dirty="0"/>
                    </a:p>
                  </a:txBody>
                  <a:tcPr/>
                </a:tc>
                <a:extLst>
                  <a:ext uri="{0D108BD9-81ED-4DB2-BD59-A6C34878D82A}">
                    <a16:rowId xmlns="" xmlns:a16="http://schemas.microsoft.com/office/drawing/2014/main" val="3550723897"/>
                  </a:ext>
                </a:extLst>
              </a:tr>
              <a:tr h="370840">
                <a:tc>
                  <a:txBody>
                    <a:bodyPr/>
                    <a:lstStyle/>
                    <a:p>
                      <a:r>
                        <a:rPr lang="en-US" dirty="0"/>
                        <a:t>Divalent</a:t>
                      </a:r>
                      <a:endParaRPr lang="el-GR" dirty="0"/>
                    </a:p>
                  </a:txBody>
                  <a:tcPr/>
                </a:tc>
                <a:tc>
                  <a:txBody>
                    <a:bodyPr/>
                    <a:lstStyle/>
                    <a:p>
                      <a:pPr algn="ctr"/>
                      <a:r>
                        <a:rPr lang="en-US" dirty="0"/>
                        <a:t>2</a:t>
                      </a:r>
                      <a:endParaRPr lang="el-GR" dirty="0"/>
                    </a:p>
                  </a:txBody>
                  <a:tcPr anchor="ctr"/>
                </a:tc>
                <a:tc>
                  <a:txBody>
                    <a:bodyPr/>
                    <a:lstStyle/>
                    <a:p>
                      <a:r>
                        <a:rPr lang="en-US" dirty="0"/>
                        <a:t>John sees Mary.</a:t>
                      </a:r>
                      <a:endParaRPr lang="el-GR" i="1" dirty="0"/>
                    </a:p>
                  </a:txBody>
                  <a:tcPr/>
                </a:tc>
                <a:extLst>
                  <a:ext uri="{0D108BD9-81ED-4DB2-BD59-A6C34878D82A}">
                    <a16:rowId xmlns="" xmlns:a16="http://schemas.microsoft.com/office/drawing/2014/main" val="2662976040"/>
                  </a:ext>
                </a:extLst>
              </a:tr>
              <a:tr h="370840">
                <a:tc>
                  <a:txBody>
                    <a:bodyPr/>
                    <a:lstStyle/>
                    <a:p>
                      <a:r>
                        <a:rPr lang="en-US" dirty="0"/>
                        <a:t>Trivalent</a:t>
                      </a:r>
                      <a:endParaRPr lang="el-GR" dirty="0"/>
                    </a:p>
                  </a:txBody>
                  <a:tcPr/>
                </a:tc>
                <a:tc>
                  <a:txBody>
                    <a:bodyPr/>
                    <a:lstStyle/>
                    <a:p>
                      <a:pPr algn="ctr"/>
                      <a:r>
                        <a:rPr lang="en-US" dirty="0"/>
                        <a:t>3</a:t>
                      </a:r>
                      <a:endParaRPr lang="el-GR" dirty="0"/>
                    </a:p>
                  </a:txBody>
                  <a:tcPr anchor="ctr"/>
                </a:tc>
                <a:tc>
                  <a:txBody>
                    <a:bodyPr/>
                    <a:lstStyle/>
                    <a:p>
                      <a:r>
                        <a:rPr lang="en-US" dirty="0"/>
                        <a:t>John gives Mary a book.</a:t>
                      </a:r>
                      <a:endParaRPr lang="el-GR" i="1" dirty="0"/>
                    </a:p>
                  </a:txBody>
                  <a:tcPr/>
                </a:tc>
                <a:extLst>
                  <a:ext uri="{0D108BD9-81ED-4DB2-BD59-A6C34878D82A}">
                    <a16:rowId xmlns="" xmlns:a16="http://schemas.microsoft.com/office/drawing/2014/main" val="657901530"/>
                  </a:ext>
                </a:extLst>
              </a:tr>
            </a:tbl>
          </a:graphicData>
        </a:graphic>
      </p:graphicFrame>
      <p:sp>
        <p:nvSpPr>
          <p:cNvPr id="11" name="Slide Number Placeholder 10">
            <a:extLst>
              <a:ext uri="{FF2B5EF4-FFF2-40B4-BE49-F238E27FC236}">
                <a16:creationId xmlns="" xmlns:a16="http://schemas.microsoft.com/office/drawing/2014/main" id="{7FB48323-B182-0572-05FC-0D2526863EE9}"/>
              </a:ext>
            </a:extLst>
          </p:cNvPr>
          <p:cNvSpPr>
            <a:spLocks noGrp="1"/>
          </p:cNvSpPr>
          <p:nvPr>
            <p:ph type="sldNum" sz="quarter" idx="12"/>
          </p:nvPr>
        </p:nvSpPr>
        <p:spPr/>
        <p:txBody>
          <a:bodyPr/>
          <a:lstStyle/>
          <a:p>
            <a:fld id="{084E6F96-DBA9-4966-8C10-B0B4DAA302D2}" type="slidenum">
              <a:rPr lang="el-GR" smtClean="0"/>
              <a:pPr/>
              <a:t>28</a:t>
            </a:fld>
            <a:endParaRPr lang="el-G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a:extLst>
              <a:ext uri="{FF2B5EF4-FFF2-40B4-BE49-F238E27FC236}">
                <a16:creationId xmlns="" xmlns:a16="http://schemas.microsoft.com/office/drawing/2014/main" id="{B56B43C9-98DA-9BF9-18D4-BD3B629E7B80}"/>
              </a:ext>
            </a:extLst>
          </p:cNvPr>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a:extLst>
              <a:ext uri="{FF2B5EF4-FFF2-40B4-BE49-F238E27FC236}">
                <a16:creationId xmlns="" xmlns:a16="http://schemas.microsoft.com/office/drawing/2014/main" id="{E3BCAC6F-6796-4353-8D31-0E2F377CEC8E}"/>
              </a:ext>
            </a:extLst>
          </p:cNvPr>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a:extLst>
              <a:ext uri="{FF2B5EF4-FFF2-40B4-BE49-F238E27FC236}">
                <a16:creationId xmlns="" xmlns:a16="http://schemas.microsoft.com/office/drawing/2014/main" id="{68A25219-FB4B-1257-5C5B-1323EEE4FAB0}"/>
              </a:ext>
            </a:extLst>
          </p:cNvPr>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a:extLst>
              <a:ext uri="{FF2B5EF4-FFF2-40B4-BE49-F238E27FC236}">
                <a16:creationId xmlns="" xmlns:a16="http://schemas.microsoft.com/office/drawing/2014/main" id="{0DCD85D5-EE0C-A821-C966-3A2EC803B8EA}"/>
              </a:ext>
            </a:extLst>
          </p:cNvPr>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a:extLst>
              <a:ext uri="{FF2B5EF4-FFF2-40B4-BE49-F238E27FC236}">
                <a16:creationId xmlns="" xmlns:a16="http://schemas.microsoft.com/office/drawing/2014/main" id="{C24FDF85-E83F-70D2-C742-A4A9B155A5C1}"/>
              </a:ext>
            </a:extLst>
          </p:cNvPr>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a:extLst>
              <a:ext uri="{FF2B5EF4-FFF2-40B4-BE49-F238E27FC236}">
                <a16:creationId xmlns="" xmlns:a16="http://schemas.microsoft.com/office/drawing/2014/main" id="{6FED4458-A783-9426-0646-1B3FC463C1AB}"/>
              </a:ext>
            </a:extLst>
          </p:cNvPr>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FA54DBB1-3889-060C-394C-1F38D66FB44E}"/>
              </a:ext>
            </a:extLst>
          </p:cNvPr>
          <p:cNvSpPr txBox="1">
            <a:spLocks/>
          </p:cNvSpPr>
          <p:nvPr/>
        </p:nvSpPr>
        <p:spPr>
          <a:xfrm>
            <a:off x="805269" y="692696"/>
            <a:ext cx="6719059" cy="1044664"/>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b="0" dirty="0"/>
              <a:t>Basic argument frame</a:t>
            </a:r>
            <a:endParaRPr lang="el-GR" b="0" dirty="0"/>
          </a:p>
        </p:txBody>
      </p:sp>
      <p:sp>
        <p:nvSpPr>
          <p:cNvPr id="3" name="Θέση περιεχομένου 2">
            <a:extLst>
              <a:ext uri="{FF2B5EF4-FFF2-40B4-BE49-F238E27FC236}">
                <a16:creationId xmlns="" xmlns:a16="http://schemas.microsoft.com/office/drawing/2014/main" id="{332CCB3A-0314-1AFB-CDD0-52B28D25AFC6}"/>
              </a:ext>
            </a:extLst>
          </p:cNvPr>
          <p:cNvSpPr txBox="1">
            <a:spLocks/>
          </p:cNvSpPr>
          <p:nvPr/>
        </p:nvSpPr>
        <p:spPr>
          <a:xfrm>
            <a:off x="805269" y="1730954"/>
            <a:ext cx="7799179" cy="4434350"/>
          </a:xfrm>
          <a:prstGeom prst="rect">
            <a:avLst/>
          </a:prstGeom>
        </p:spPr>
        <p:txBody>
          <a:bodyPr>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buFont typeface="Wingdings 3"/>
              <a:buNone/>
            </a:pPr>
            <a:r>
              <a:rPr lang="en-US" sz="2400" dirty="0"/>
              <a:t>Basic argument frame = the most frequent/default argument set of a verb</a:t>
            </a:r>
          </a:p>
          <a:p>
            <a:pPr marL="0" indent="0">
              <a:buFont typeface="Wingdings 3"/>
              <a:buNone/>
            </a:pPr>
            <a:r>
              <a:rPr lang="en-US" sz="2400" dirty="0"/>
              <a:t>e.g. </a:t>
            </a:r>
            <a:r>
              <a:rPr lang="en-US" sz="2400" dirty="0">
                <a:solidFill>
                  <a:srgbClr val="0070C0"/>
                </a:solidFill>
              </a:rPr>
              <a:t>He saw her.</a:t>
            </a:r>
            <a:r>
              <a:rPr lang="en-US" sz="2400" dirty="0">
                <a:solidFill>
                  <a:srgbClr val="002060"/>
                </a:solidFill>
              </a:rPr>
              <a:t> </a:t>
            </a:r>
            <a:r>
              <a:rPr lang="en-US" sz="2400" dirty="0">
                <a:sym typeface="Wingdings" panose="05000000000000000000" pitchFamily="2" charset="2"/>
              </a:rPr>
              <a:t> </a:t>
            </a:r>
            <a:r>
              <a:rPr lang="fr-FR" sz="2400" dirty="0">
                <a:sym typeface="Wingdings" panose="05000000000000000000" pitchFamily="2" charset="2"/>
              </a:rPr>
              <a:t> </a:t>
            </a:r>
            <a:r>
              <a:rPr lang="fr-FR" sz="2400" dirty="0">
                <a:solidFill>
                  <a:srgbClr val="002060"/>
                </a:solidFill>
                <a:sym typeface="Wingdings" panose="05000000000000000000" pitchFamily="2" charset="2"/>
              </a:rPr>
              <a:t>1-nom.V.2-acc </a:t>
            </a:r>
          </a:p>
          <a:p>
            <a:pPr marL="342900" indent="-342900"/>
            <a:endParaRPr lang="en-US" sz="2000" dirty="0"/>
          </a:p>
          <a:p>
            <a:pPr marL="0" indent="0">
              <a:buNone/>
            </a:pPr>
            <a:r>
              <a:rPr lang="en-US" sz="2400" dirty="0"/>
              <a:t>But: not only one argument frame</a:t>
            </a:r>
          </a:p>
          <a:p>
            <a:pPr marL="0" indent="0">
              <a:buNone/>
            </a:pPr>
            <a:r>
              <a:rPr lang="en-US" sz="2400" dirty="0">
                <a:sym typeface="Wingdings" panose="05000000000000000000" pitchFamily="2" charset="2"/>
              </a:rPr>
              <a:t> </a:t>
            </a:r>
            <a:r>
              <a:rPr lang="en-US" sz="2400" dirty="0">
                <a:solidFill>
                  <a:srgbClr val="0070C0"/>
                </a:solidFill>
                <a:sym typeface="Wingdings" panose="05000000000000000000" pitchFamily="2" charset="2"/>
              </a:rPr>
              <a:t>I see. </a:t>
            </a:r>
            <a:r>
              <a:rPr lang="en-US" sz="2400" dirty="0">
                <a:sym typeface="Wingdings" panose="05000000000000000000" pitchFamily="2" charset="2"/>
              </a:rPr>
              <a:t>(= I understand.)</a:t>
            </a:r>
            <a:endParaRPr lang="en-US" sz="2400" dirty="0"/>
          </a:p>
          <a:p>
            <a:pPr marL="598932" lvl="1" indent="-342900">
              <a:buFont typeface="Wingdings" panose="05000000000000000000" pitchFamily="2" charset="2"/>
              <a:buChar char="Ø"/>
            </a:pPr>
            <a:r>
              <a:rPr lang="fr-FR" sz="2000" dirty="0" err="1">
                <a:sym typeface="Wingdings" panose="05000000000000000000" pitchFamily="2" charset="2"/>
              </a:rPr>
              <a:t>number</a:t>
            </a:r>
            <a:r>
              <a:rPr lang="fr-FR" sz="2000" dirty="0">
                <a:sym typeface="Wingdings" panose="05000000000000000000" pitchFamily="2" charset="2"/>
              </a:rPr>
              <a:t> of arguments</a:t>
            </a:r>
          </a:p>
          <a:p>
            <a:pPr marL="598932" lvl="1" indent="-342900">
              <a:buFont typeface="Wingdings" panose="05000000000000000000" pitchFamily="2" charset="2"/>
              <a:buChar char="Ø"/>
            </a:pPr>
            <a:r>
              <a:rPr lang="en-US" sz="2000" dirty="0"/>
              <a:t>case/type of the arguments</a:t>
            </a:r>
          </a:p>
          <a:p>
            <a:pPr marL="598932" lvl="1" indent="-342900">
              <a:buFont typeface="Wingdings" panose="05000000000000000000" pitchFamily="2" charset="2"/>
              <a:buChar char="Ø"/>
            </a:pPr>
            <a:r>
              <a:rPr lang="en-US" sz="2000" dirty="0"/>
              <a:t>word order</a:t>
            </a:r>
          </a:p>
          <a:p>
            <a:pPr marL="0" indent="0">
              <a:buNone/>
            </a:pPr>
            <a:endParaRPr lang="el-GR" dirty="0"/>
          </a:p>
        </p:txBody>
      </p:sp>
      <p:sp>
        <p:nvSpPr>
          <p:cNvPr id="10" name="Slide Number Placeholder 9">
            <a:extLst>
              <a:ext uri="{FF2B5EF4-FFF2-40B4-BE49-F238E27FC236}">
                <a16:creationId xmlns="" xmlns:a16="http://schemas.microsoft.com/office/drawing/2014/main" id="{35066FE9-1AAA-0AB1-43A3-D6298ECDD045}"/>
              </a:ext>
            </a:extLst>
          </p:cNvPr>
          <p:cNvSpPr>
            <a:spLocks noGrp="1"/>
          </p:cNvSpPr>
          <p:nvPr>
            <p:ph type="sldNum" sz="quarter" idx="12"/>
          </p:nvPr>
        </p:nvSpPr>
        <p:spPr/>
        <p:txBody>
          <a:bodyPr/>
          <a:lstStyle/>
          <a:p>
            <a:fld id="{084E6F96-DBA9-4966-8C10-B0B4DAA302D2}" type="slidenum">
              <a:rPr lang="el-GR" smtClean="0"/>
              <a:pPr/>
              <a:t>29</a:t>
            </a:fld>
            <a:endParaRPr lang="el-G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3" name="Τίτλος 1">
            <a:extLst>
              <a:ext uri="{FF2B5EF4-FFF2-40B4-BE49-F238E27FC236}">
                <a16:creationId xmlns="" xmlns:a16="http://schemas.microsoft.com/office/drawing/2014/main" id="{02C72917-086C-0159-C6E6-626E88B6F932}"/>
              </a:ext>
            </a:extLst>
          </p:cNvPr>
          <p:cNvSpPr txBox="1">
            <a:spLocks/>
          </p:cNvSpPr>
          <p:nvPr/>
        </p:nvSpPr>
        <p:spPr>
          <a:xfrm>
            <a:off x="539552" y="730271"/>
            <a:ext cx="6719059" cy="1044664"/>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b="0" dirty="0"/>
              <a:t>Valency Alternations</a:t>
            </a:r>
            <a:endParaRPr lang="el-GR" b="0" dirty="0"/>
          </a:p>
        </p:txBody>
      </p:sp>
      <p:sp>
        <p:nvSpPr>
          <p:cNvPr id="10" name="Θέση περιεχομένου 2">
            <a:extLst>
              <a:ext uri="{FF2B5EF4-FFF2-40B4-BE49-F238E27FC236}">
                <a16:creationId xmlns="" xmlns:a16="http://schemas.microsoft.com/office/drawing/2014/main" id="{79EA7FE7-67C2-C8FB-F41C-8FE20F1522B8}"/>
              </a:ext>
            </a:extLst>
          </p:cNvPr>
          <p:cNvSpPr txBox="1">
            <a:spLocks/>
          </p:cNvSpPr>
          <p:nvPr/>
        </p:nvSpPr>
        <p:spPr>
          <a:xfrm>
            <a:off x="539552" y="1584723"/>
            <a:ext cx="8208912" cy="1044664"/>
          </a:xfrm>
          <a:prstGeom prst="rect">
            <a:avLst/>
          </a:prstGeom>
        </p:spPr>
        <p:txBody>
          <a:bodyPr>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buFont typeface="Wingdings 3"/>
              <a:buNone/>
            </a:pPr>
            <a:r>
              <a:rPr lang="en-US" sz="2400" dirty="0"/>
              <a:t>Valency alternations = a verb changes the number and/or type of arguments it licenses</a:t>
            </a:r>
          </a:p>
          <a:p>
            <a:pPr marL="0" indent="0">
              <a:buFont typeface="Wingdings 3"/>
              <a:buNone/>
            </a:pPr>
            <a:endParaRPr lang="en-US" sz="2400" dirty="0"/>
          </a:p>
        </p:txBody>
      </p:sp>
      <p:sp>
        <p:nvSpPr>
          <p:cNvPr id="2" name="Ορθογώνιο: Στρογγύλεμα γωνιών 1">
            <a:extLst>
              <a:ext uri="{FF2B5EF4-FFF2-40B4-BE49-F238E27FC236}">
                <a16:creationId xmlns="" xmlns:a16="http://schemas.microsoft.com/office/drawing/2014/main" id="{8BF03B9C-E6E3-A326-588B-8A8C7D1A4C85}"/>
              </a:ext>
            </a:extLst>
          </p:cNvPr>
          <p:cNvSpPr/>
          <p:nvPr/>
        </p:nvSpPr>
        <p:spPr>
          <a:xfrm>
            <a:off x="0" y="2540949"/>
            <a:ext cx="6502878" cy="1479155"/>
          </a:xfrm>
          <a:prstGeom prst="roundRect">
            <a:avLst/>
          </a:prstGeom>
          <a:solidFill>
            <a:schemeClr val="accent1">
              <a:lumMod val="20000"/>
              <a:lumOff val="80000"/>
            </a:schemeClr>
          </a:solidFill>
          <a:ln w="6350">
            <a:solidFill>
              <a:schemeClr val="bg2">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marL="514350" indent="-514350">
              <a:buFont typeface="+mj-lt"/>
              <a:buAutoNum type="arabicPeriod"/>
            </a:pPr>
            <a:r>
              <a:rPr lang="en-US" dirty="0"/>
              <a:t>Middle alternation</a:t>
            </a:r>
          </a:p>
          <a:p>
            <a:r>
              <a:rPr lang="en-US" i="1" dirty="0"/>
              <a:t>	</a:t>
            </a:r>
            <a:r>
              <a:rPr lang="en-US" u="sng" dirty="0">
                <a:solidFill>
                  <a:srgbClr val="0070C0"/>
                </a:solidFill>
              </a:rPr>
              <a:t>Jane</a:t>
            </a:r>
            <a:r>
              <a:rPr lang="en-US" dirty="0">
                <a:solidFill>
                  <a:srgbClr val="0070C0"/>
                </a:solidFill>
              </a:rPr>
              <a:t> broke </a:t>
            </a:r>
            <a:r>
              <a:rPr lang="en-US" u="sng" dirty="0">
                <a:solidFill>
                  <a:srgbClr val="0070C0"/>
                </a:solidFill>
              </a:rPr>
              <a:t>the crystal</a:t>
            </a:r>
            <a:r>
              <a:rPr lang="en-US" dirty="0">
                <a:solidFill>
                  <a:srgbClr val="0070C0"/>
                </a:solidFill>
              </a:rPr>
              <a:t>. // The c</a:t>
            </a:r>
            <a:r>
              <a:rPr lang="en-US" u="sng" dirty="0">
                <a:solidFill>
                  <a:srgbClr val="0070C0"/>
                </a:solidFill>
              </a:rPr>
              <a:t>rystal</a:t>
            </a:r>
            <a:r>
              <a:rPr lang="en-US" dirty="0">
                <a:solidFill>
                  <a:srgbClr val="0070C0"/>
                </a:solidFill>
              </a:rPr>
              <a:t> broke.</a:t>
            </a:r>
          </a:p>
          <a:p>
            <a:r>
              <a:rPr lang="en-US" dirty="0">
                <a:solidFill>
                  <a:srgbClr val="0070C0"/>
                </a:solidFill>
              </a:rPr>
              <a:t>	</a:t>
            </a:r>
            <a:r>
              <a:rPr lang="en-US" u="sng" dirty="0">
                <a:solidFill>
                  <a:srgbClr val="0070C0"/>
                </a:solidFill>
              </a:rPr>
              <a:t>Margaret</a:t>
            </a:r>
            <a:r>
              <a:rPr lang="en-US" dirty="0">
                <a:solidFill>
                  <a:srgbClr val="0070C0"/>
                </a:solidFill>
              </a:rPr>
              <a:t> cut </a:t>
            </a:r>
            <a:r>
              <a:rPr lang="en-US" u="sng" dirty="0">
                <a:solidFill>
                  <a:srgbClr val="0070C0"/>
                </a:solidFill>
              </a:rPr>
              <a:t>the board</a:t>
            </a:r>
            <a:r>
              <a:rPr lang="en-US" dirty="0">
                <a:solidFill>
                  <a:srgbClr val="0070C0"/>
                </a:solidFill>
              </a:rPr>
              <a:t>. // ??</a:t>
            </a:r>
            <a:r>
              <a:rPr lang="en-US" u="sng" dirty="0">
                <a:solidFill>
                  <a:srgbClr val="0070C0"/>
                </a:solidFill>
              </a:rPr>
              <a:t>The board </a:t>
            </a:r>
            <a:r>
              <a:rPr lang="en-US" dirty="0">
                <a:solidFill>
                  <a:srgbClr val="0070C0"/>
                </a:solidFill>
              </a:rPr>
              <a:t>cut.</a:t>
            </a:r>
            <a:endParaRPr lang="el-GR" dirty="0"/>
          </a:p>
        </p:txBody>
      </p:sp>
      <p:sp>
        <p:nvSpPr>
          <p:cNvPr id="11" name="Ορθογώνιο: Στρογγύλεμα γωνιών 10">
            <a:extLst>
              <a:ext uri="{FF2B5EF4-FFF2-40B4-BE49-F238E27FC236}">
                <a16:creationId xmlns="" xmlns:a16="http://schemas.microsoft.com/office/drawing/2014/main" id="{93901B27-F070-D970-5331-35EC47AB8E01}"/>
              </a:ext>
            </a:extLst>
          </p:cNvPr>
          <p:cNvSpPr/>
          <p:nvPr/>
        </p:nvSpPr>
        <p:spPr>
          <a:xfrm>
            <a:off x="1187624" y="3794123"/>
            <a:ext cx="6502878" cy="1479155"/>
          </a:xfrm>
          <a:prstGeom prst="roundRect">
            <a:avLst/>
          </a:prstGeom>
          <a:solidFill>
            <a:schemeClr val="accent1">
              <a:lumMod val="40000"/>
              <a:lumOff val="60000"/>
            </a:schemeClr>
          </a:solidFill>
          <a:ln w="63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14350" indent="-514350">
              <a:buFont typeface="+mj-lt"/>
              <a:buAutoNum type="arabicPeriod" startAt="2"/>
            </a:pPr>
            <a:r>
              <a:rPr lang="en-US" dirty="0">
                <a:solidFill>
                  <a:schemeClr val="tx1"/>
                </a:solidFill>
              </a:rPr>
              <a:t>Causative/Inchoative alternation</a:t>
            </a:r>
          </a:p>
          <a:p>
            <a:r>
              <a:rPr lang="en-US" dirty="0"/>
              <a:t>	</a:t>
            </a:r>
            <a:r>
              <a:rPr lang="en-US" dirty="0">
                <a:solidFill>
                  <a:srgbClr val="0070C0"/>
                </a:solidFill>
              </a:rPr>
              <a:t>They stood </a:t>
            </a:r>
            <a:r>
              <a:rPr lang="en-US" u="sng" dirty="0">
                <a:solidFill>
                  <a:srgbClr val="0070C0"/>
                </a:solidFill>
              </a:rPr>
              <a:t>the statue </a:t>
            </a:r>
            <a:r>
              <a:rPr lang="en-US" dirty="0">
                <a:solidFill>
                  <a:srgbClr val="0070C0"/>
                </a:solidFill>
              </a:rPr>
              <a:t>on the pedestal. </a:t>
            </a:r>
          </a:p>
          <a:p>
            <a:r>
              <a:rPr lang="en-US" dirty="0">
                <a:solidFill>
                  <a:srgbClr val="0070C0"/>
                </a:solidFill>
              </a:rPr>
              <a:t>	</a:t>
            </a:r>
            <a:r>
              <a:rPr lang="en-US" u="sng" dirty="0">
                <a:solidFill>
                  <a:srgbClr val="0070C0"/>
                </a:solidFill>
              </a:rPr>
              <a:t>The statue </a:t>
            </a:r>
            <a:r>
              <a:rPr lang="en-US" dirty="0">
                <a:solidFill>
                  <a:srgbClr val="0070C0"/>
                </a:solidFill>
              </a:rPr>
              <a:t>stood on the pedestal.</a:t>
            </a:r>
          </a:p>
        </p:txBody>
      </p:sp>
      <p:sp>
        <p:nvSpPr>
          <p:cNvPr id="12" name="Ορθογώνιο: Στρογγύλεμα γωνιών 11">
            <a:extLst>
              <a:ext uri="{FF2B5EF4-FFF2-40B4-BE49-F238E27FC236}">
                <a16:creationId xmlns="" xmlns:a16="http://schemas.microsoft.com/office/drawing/2014/main" id="{0EEBD499-DE38-78B2-3D75-4E0C14D57580}"/>
              </a:ext>
            </a:extLst>
          </p:cNvPr>
          <p:cNvSpPr/>
          <p:nvPr/>
        </p:nvSpPr>
        <p:spPr>
          <a:xfrm>
            <a:off x="2627784" y="5068257"/>
            <a:ext cx="6502878" cy="1479155"/>
          </a:xfrm>
          <a:prstGeom prst="roundRect">
            <a:avLst/>
          </a:prstGeom>
          <a:solidFill>
            <a:schemeClr val="accent1">
              <a:lumMod val="60000"/>
              <a:lumOff val="40000"/>
            </a:schemeClr>
          </a:solidFill>
          <a:ln w="635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14350" indent="-514350">
              <a:buFont typeface="+mj-lt"/>
              <a:buAutoNum type="arabicPeriod" startAt="3"/>
            </a:pPr>
            <a:r>
              <a:rPr lang="en-US" dirty="0">
                <a:solidFill>
                  <a:schemeClr val="tx1"/>
                </a:solidFill>
              </a:rPr>
              <a:t>Dative alternation</a:t>
            </a:r>
          </a:p>
          <a:p>
            <a:r>
              <a:rPr lang="en-US" dirty="0"/>
              <a:t>	</a:t>
            </a:r>
            <a:r>
              <a:rPr lang="en-US" dirty="0">
                <a:solidFill>
                  <a:srgbClr val="0070C0"/>
                </a:solidFill>
              </a:rPr>
              <a:t>They gave </a:t>
            </a:r>
            <a:r>
              <a:rPr lang="en-US" u="sng" dirty="0">
                <a:solidFill>
                  <a:srgbClr val="0070C0"/>
                </a:solidFill>
              </a:rPr>
              <a:t>him</a:t>
            </a:r>
            <a:r>
              <a:rPr lang="en-US" dirty="0">
                <a:solidFill>
                  <a:srgbClr val="0070C0"/>
                </a:solidFill>
              </a:rPr>
              <a:t> cake.</a:t>
            </a:r>
          </a:p>
          <a:p>
            <a:r>
              <a:rPr lang="en-US" dirty="0">
                <a:solidFill>
                  <a:srgbClr val="0070C0"/>
                </a:solidFill>
              </a:rPr>
              <a:t>	They gave cake </a:t>
            </a:r>
            <a:r>
              <a:rPr lang="en-US" u="sng" dirty="0">
                <a:solidFill>
                  <a:srgbClr val="0070C0"/>
                </a:solidFill>
              </a:rPr>
              <a:t>to him</a:t>
            </a:r>
            <a:r>
              <a:rPr lang="en-US" dirty="0">
                <a:solidFill>
                  <a:srgbClr val="0070C0"/>
                </a:solidFill>
              </a:rPr>
              <a:t>.</a:t>
            </a:r>
          </a:p>
        </p:txBody>
      </p:sp>
      <p:sp>
        <p:nvSpPr>
          <p:cNvPr id="13" name="Slide Number Placeholder 12">
            <a:extLst>
              <a:ext uri="{FF2B5EF4-FFF2-40B4-BE49-F238E27FC236}">
                <a16:creationId xmlns="" xmlns:a16="http://schemas.microsoft.com/office/drawing/2014/main" id="{319AEC34-8BFC-B835-9BDE-5FA73356D755}"/>
              </a:ext>
            </a:extLst>
          </p:cNvPr>
          <p:cNvSpPr>
            <a:spLocks noGrp="1"/>
          </p:cNvSpPr>
          <p:nvPr>
            <p:ph type="sldNum" sz="quarter" idx="12"/>
          </p:nvPr>
        </p:nvSpPr>
        <p:spPr/>
        <p:txBody>
          <a:bodyPr/>
          <a:lstStyle/>
          <a:p>
            <a:fld id="{084E6F96-DBA9-4966-8C10-B0B4DAA302D2}" type="slidenum">
              <a:rPr lang="el-GR" smtClean="0"/>
              <a:pPr/>
              <a:t>30</a:t>
            </a:fld>
            <a:endParaRPr lang="el-G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89B0CE84-302E-D43A-05A2-4C3BDCAA0E18}"/>
              </a:ext>
            </a:extLst>
          </p:cNvPr>
          <p:cNvSpPr txBox="1">
            <a:spLocks/>
          </p:cNvSpPr>
          <p:nvPr/>
        </p:nvSpPr>
        <p:spPr>
          <a:xfrm>
            <a:off x="1097280" y="764704"/>
            <a:ext cx="6499056"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b="0" dirty="0" err="1"/>
              <a:t>Valency</a:t>
            </a:r>
            <a:r>
              <a:rPr lang="en-US" b="0" dirty="0"/>
              <a:t> Alternations (2) </a:t>
            </a:r>
            <a:endParaRPr lang="el-GR" b="0" dirty="0"/>
          </a:p>
        </p:txBody>
      </p:sp>
      <p:sp>
        <p:nvSpPr>
          <p:cNvPr id="11" name="Ορθογώνιο: Στρογγύλεμα γωνιών 10">
            <a:extLst>
              <a:ext uri="{FF2B5EF4-FFF2-40B4-BE49-F238E27FC236}">
                <a16:creationId xmlns="" xmlns:a16="http://schemas.microsoft.com/office/drawing/2014/main" id="{2848131C-5D22-A99E-2A67-C5B67A7BC19D}"/>
              </a:ext>
            </a:extLst>
          </p:cNvPr>
          <p:cNvSpPr/>
          <p:nvPr/>
        </p:nvSpPr>
        <p:spPr>
          <a:xfrm>
            <a:off x="0" y="1615274"/>
            <a:ext cx="6502878" cy="1813726"/>
          </a:xfrm>
          <a:prstGeom prst="roundRect">
            <a:avLst/>
          </a:prstGeom>
          <a:solidFill>
            <a:schemeClr val="accent1">
              <a:lumMod val="20000"/>
              <a:lumOff val="80000"/>
            </a:schemeClr>
          </a:solidFill>
          <a:ln w="6350">
            <a:solidFill>
              <a:schemeClr val="bg2">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marL="514350" indent="-514350">
              <a:buFont typeface="+mj-lt"/>
              <a:buAutoNum type="arabicPeriod" startAt="4"/>
            </a:pPr>
            <a:r>
              <a:rPr lang="en-US" sz="2000" dirty="0"/>
              <a:t>Unspecified Object Alternation</a:t>
            </a:r>
          </a:p>
          <a:p>
            <a:r>
              <a:rPr lang="en-US" dirty="0"/>
              <a:t>	</a:t>
            </a:r>
            <a:r>
              <a:rPr lang="en-US" dirty="0">
                <a:solidFill>
                  <a:srgbClr val="0070C0"/>
                </a:solidFill>
              </a:rPr>
              <a:t>Mike ate all the cake.</a:t>
            </a:r>
          </a:p>
          <a:p>
            <a:r>
              <a:rPr lang="en-US" dirty="0">
                <a:solidFill>
                  <a:srgbClr val="0070C0"/>
                </a:solidFill>
              </a:rPr>
              <a:t>	Mike ate.</a:t>
            </a:r>
          </a:p>
          <a:p>
            <a:r>
              <a:rPr lang="en-US" dirty="0">
                <a:solidFill>
                  <a:srgbClr val="0070C0"/>
                </a:solidFill>
              </a:rPr>
              <a:t>	Mike put the flowers in the vase.</a:t>
            </a:r>
          </a:p>
          <a:p>
            <a:r>
              <a:rPr lang="en-US" dirty="0">
                <a:solidFill>
                  <a:srgbClr val="0070C0"/>
                </a:solidFill>
              </a:rPr>
              <a:t>	??Mike put. </a:t>
            </a:r>
          </a:p>
        </p:txBody>
      </p:sp>
      <p:sp>
        <p:nvSpPr>
          <p:cNvPr id="12" name="Ορθογώνιο: Στρογγύλεμα γωνιών 11">
            <a:extLst>
              <a:ext uri="{FF2B5EF4-FFF2-40B4-BE49-F238E27FC236}">
                <a16:creationId xmlns="" xmlns:a16="http://schemas.microsoft.com/office/drawing/2014/main" id="{1539B615-6CB4-68CF-09C0-AD057F19DC8A}"/>
              </a:ext>
            </a:extLst>
          </p:cNvPr>
          <p:cNvSpPr/>
          <p:nvPr/>
        </p:nvSpPr>
        <p:spPr>
          <a:xfrm>
            <a:off x="1320561" y="3216959"/>
            <a:ext cx="6502878" cy="1813726"/>
          </a:xfrm>
          <a:prstGeom prst="roundRect">
            <a:avLst/>
          </a:prstGeom>
          <a:solidFill>
            <a:schemeClr val="accent1">
              <a:lumMod val="40000"/>
              <a:lumOff val="60000"/>
            </a:schemeClr>
          </a:solidFill>
          <a:ln w="6350">
            <a:solidFill>
              <a:schemeClr val="bg2">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marL="514350" indent="-514350">
              <a:buFont typeface="+mj-lt"/>
              <a:buAutoNum type="arabicPeriod" startAt="5"/>
            </a:pPr>
            <a:r>
              <a:rPr lang="en-US" sz="2000" dirty="0"/>
              <a:t>Understood Reflexive Object Alternation</a:t>
            </a:r>
          </a:p>
          <a:p>
            <a:r>
              <a:rPr lang="en-US" dirty="0"/>
              <a:t>	</a:t>
            </a:r>
            <a:r>
              <a:rPr lang="en-US" dirty="0">
                <a:solidFill>
                  <a:srgbClr val="0070C0"/>
                </a:solidFill>
              </a:rPr>
              <a:t>Jill dressed herself in a hurry.</a:t>
            </a:r>
          </a:p>
          <a:p>
            <a:r>
              <a:rPr lang="en-US" dirty="0">
                <a:solidFill>
                  <a:srgbClr val="0070C0"/>
                </a:solidFill>
              </a:rPr>
              <a:t>	Jill dressed in a hurry.</a:t>
            </a:r>
          </a:p>
          <a:p>
            <a:r>
              <a:rPr lang="en-US" dirty="0">
                <a:solidFill>
                  <a:srgbClr val="0070C0"/>
                </a:solidFill>
              </a:rPr>
              <a:t>	Jill cut herself.</a:t>
            </a:r>
          </a:p>
          <a:p>
            <a:r>
              <a:rPr lang="en-US" dirty="0">
                <a:solidFill>
                  <a:srgbClr val="0070C0"/>
                </a:solidFill>
              </a:rPr>
              <a:t>	??Jill cut.</a:t>
            </a:r>
          </a:p>
        </p:txBody>
      </p:sp>
      <p:sp>
        <p:nvSpPr>
          <p:cNvPr id="13" name="Ορθογώνιο: Στρογγύλεμα γωνιών 12">
            <a:extLst>
              <a:ext uri="{FF2B5EF4-FFF2-40B4-BE49-F238E27FC236}">
                <a16:creationId xmlns="" xmlns:a16="http://schemas.microsoft.com/office/drawing/2014/main" id="{398328F4-0CB5-65EA-E7FA-979F7034A95C}"/>
              </a:ext>
            </a:extLst>
          </p:cNvPr>
          <p:cNvSpPr/>
          <p:nvPr/>
        </p:nvSpPr>
        <p:spPr>
          <a:xfrm>
            <a:off x="2627784" y="4796959"/>
            <a:ext cx="6502878" cy="1813726"/>
          </a:xfrm>
          <a:prstGeom prst="roundRect">
            <a:avLst/>
          </a:prstGeom>
          <a:solidFill>
            <a:schemeClr val="accent1">
              <a:lumMod val="60000"/>
              <a:lumOff val="40000"/>
            </a:schemeClr>
          </a:solidFill>
          <a:ln w="6350">
            <a:solidFill>
              <a:schemeClr val="bg2">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l-GR" sz="2000" dirty="0">
                <a:solidFill>
                  <a:schemeClr val="tx1"/>
                </a:solidFill>
              </a:rPr>
              <a:t>6.    </a:t>
            </a:r>
            <a:r>
              <a:rPr lang="en-US" sz="2000" dirty="0"/>
              <a:t>Understood Reciprocal Object Alternation</a:t>
            </a:r>
          </a:p>
          <a:p>
            <a:r>
              <a:rPr lang="en-US" dirty="0"/>
              <a:t>	</a:t>
            </a:r>
            <a:r>
              <a:rPr lang="en-US" dirty="0">
                <a:solidFill>
                  <a:srgbClr val="0070C0"/>
                </a:solidFill>
              </a:rPr>
              <a:t>Anne met Cathy.</a:t>
            </a:r>
          </a:p>
          <a:p>
            <a:r>
              <a:rPr lang="en-US" dirty="0">
                <a:solidFill>
                  <a:srgbClr val="0070C0"/>
                </a:solidFill>
              </a:rPr>
              <a:t>	Anne and Cathy met.</a:t>
            </a:r>
          </a:p>
          <a:p>
            <a:r>
              <a:rPr lang="en-US" dirty="0">
                <a:solidFill>
                  <a:srgbClr val="0070C0"/>
                </a:solidFill>
              </a:rPr>
              <a:t>	Joe and Carter gossiped.</a:t>
            </a:r>
          </a:p>
          <a:p>
            <a:r>
              <a:rPr lang="en-US" dirty="0">
                <a:solidFill>
                  <a:srgbClr val="0070C0"/>
                </a:solidFill>
              </a:rPr>
              <a:t>	??Joe gossiped Carter.</a:t>
            </a:r>
            <a:endParaRPr lang="el-GR" dirty="0">
              <a:solidFill>
                <a:srgbClr val="0070C0"/>
              </a:solidFill>
            </a:endParaRPr>
          </a:p>
        </p:txBody>
      </p:sp>
      <p:sp>
        <p:nvSpPr>
          <p:cNvPr id="3" name="Slide Number Placeholder 2">
            <a:extLst>
              <a:ext uri="{FF2B5EF4-FFF2-40B4-BE49-F238E27FC236}">
                <a16:creationId xmlns="" xmlns:a16="http://schemas.microsoft.com/office/drawing/2014/main" id="{4CC37368-FB57-FF91-CD77-F0261F1CF1BA}"/>
              </a:ext>
            </a:extLst>
          </p:cNvPr>
          <p:cNvSpPr>
            <a:spLocks noGrp="1"/>
          </p:cNvSpPr>
          <p:nvPr>
            <p:ph type="sldNum" sz="quarter" idx="12"/>
          </p:nvPr>
        </p:nvSpPr>
        <p:spPr/>
        <p:txBody>
          <a:bodyPr/>
          <a:lstStyle/>
          <a:p>
            <a:fld id="{084E6F96-DBA9-4966-8C10-B0B4DAA302D2}" type="slidenum">
              <a:rPr lang="el-GR" smtClean="0"/>
              <a:pPr/>
              <a:t>31</a:t>
            </a:fld>
            <a:endParaRPr lang="el-G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54EB3F82-5B17-DC10-8D1E-0E17B68D65EA}"/>
              </a:ext>
            </a:extLst>
          </p:cNvPr>
          <p:cNvSpPr txBox="1">
            <a:spLocks/>
          </p:cNvSpPr>
          <p:nvPr/>
        </p:nvSpPr>
        <p:spPr>
          <a:xfrm>
            <a:off x="1097280" y="764704"/>
            <a:ext cx="7363152"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b="0" dirty="0"/>
              <a:t>Valency Alternations (3) </a:t>
            </a:r>
            <a:endParaRPr lang="el-GR" b="0" dirty="0"/>
          </a:p>
        </p:txBody>
      </p:sp>
      <p:sp>
        <p:nvSpPr>
          <p:cNvPr id="10" name="Θέση περιεχομένου 2">
            <a:extLst>
              <a:ext uri="{FF2B5EF4-FFF2-40B4-BE49-F238E27FC236}">
                <a16:creationId xmlns="" xmlns:a16="http://schemas.microsoft.com/office/drawing/2014/main" id="{01DE8A26-BDFB-A43E-C561-CEB435696121}"/>
              </a:ext>
            </a:extLst>
          </p:cNvPr>
          <p:cNvSpPr txBox="1">
            <a:spLocks/>
          </p:cNvSpPr>
          <p:nvPr/>
        </p:nvSpPr>
        <p:spPr>
          <a:xfrm>
            <a:off x="4860032" y="1737359"/>
            <a:ext cx="4189802" cy="30368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	</a:t>
            </a:r>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l-GR" sz="2400" dirty="0"/>
          </a:p>
        </p:txBody>
      </p:sp>
      <p:sp>
        <p:nvSpPr>
          <p:cNvPr id="11" name="Θέση περιεχομένου 2">
            <a:extLst>
              <a:ext uri="{FF2B5EF4-FFF2-40B4-BE49-F238E27FC236}">
                <a16:creationId xmlns="" xmlns:a16="http://schemas.microsoft.com/office/drawing/2014/main" id="{E7EFB880-03D3-81D8-0D4E-43C6F9318600}"/>
              </a:ext>
            </a:extLst>
          </p:cNvPr>
          <p:cNvSpPr txBox="1">
            <a:spLocks/>
          </p:cNvSpPr>
          <p:nvPr/>
        </p:nvSpPr>
        <p:spPr>
          <a:xfrm>
            <a:off x="755576" y="4941168"/>
            <a:ext cx="8280920" cy="13151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	etc.…</a:t>
            </a:r>
          </a:p>
          <a:p>
            <a:pPr marL="0" indent="0">
              <a:buNone/>
            </a:pPr>
            <a:r>
              <a:rPr lang="en-US" sz="2000" dirty="0">
                <a:sym typeface="Wingdings" panose="05000000000000000000" pitchFamily="2" charset="2"/>
              </a:rPr>
              <a:t> Valency alternations vary from one language to another</a:t>
            </a:r>
          </a:p>
          <a:p>
            <a:pPr marL="0" indent="0">
              <a:buNone/>
            </a:pPr>
            <a:r>
              <a:rPr lang="en-US" sz="2000" dirty="0">
                <a:sym typeface="Wingdings" panose="05000000000000000000" pitchFamily="2" charset="2"/>
              </a:rPr>
              <a:t> Levin (1993): identifies up to 50 alternations for English</a:t>
            </a:r>
            <a:endParaRPr lang="en-US" sz="2000" dirty="0"/>
          </a:p>
          <a:p>
            <a:pPr marL="0" indent="0">
              <a:buFont typeface="Arial" panose="020B0604020202020204" pitchFamily="34" charset="0"/>
              <a:buNone/>
            </a:pPr>
            <a:endParaRPr lang="en-US" sz="2000" dirty="0"/>
          </a:p>
          <a:p>
            <a:pPr marL="0" indent="0">
              <a:buFont typeface="Arial" panose="020B0604020202020204" pitchFamily="34" charset="0"/>
              <a:buNone/>
            </a:pPr>
            <a:endParaRPr lang="en-US" sz="2000" dirty="0"/>
          </a:p>
          <a:p>
            <a:pPr marL="0" indent="0">
              <a:buFont typeface="Arial" panose="020B0604020202020204" pitchFamily="34" charset="0"/>
              <a:buNone/>
            </a:pPr>
            <a:endParaRPr lang="en-US" sz="2000" dirty="0"/>
          </a:p>
          <a:p>
            <a:pPr marL="0" indent="0">
              <a:buFont typeface="Arial" panose="020B0604020202020204" pitchFamily="34" charset="0"/>
              <a:buNone/>
            </a:pPr>
            <a:endParaRPr lang="en-US" sz="2000" dirty="0"/>
          </a:p>
          <a:p>
            <a:pPr marL="0" indent="0">
              <a:buFont typeface="Arial" panose="020B0604020202020204" pitchFamily="34" charset="0"/>
              <a:buNone/>
            </a:pPr>
            <a:endParaRPr lang="el-GR" sz="2000" dirty="0"/>
          </a:p>
        </p:txBody>
      </p:sp>
      <p:sp>
        <p:nvSpPr>
          <p:cNvPr id="12" name="Ορθογώνιο: Στρογγύλεμα γωνιών 11">
            <a:extLst>
              <a:ext uri="{FF2B5EF4-FFF2-40B4-BE49-F238E27FC236}">
                <a16:creationId xmlns="" xmlns:a16="http://schemas.microsoft.com/office/drawing/2014/main" id="{52A143A4-EDA8-0246-5275-A8F546AC80EE}"/>
              </a:ext>
            </a:extLst>
          </p:cNvPr>
          <p:cNvSpPr/>
          <p:nvPr/>
        </p:nvSpPr>
        <p:spPr>
          <a:xfrm>
            <a:off x="243180" y="1571732"/>
            <a:ext cx="7214138" cy="1887334"/>
          </a:xfrm>
          <a:prstGeom prst="roundRect">
            <a:avLst/>
          </a:prstGeom>
          <a:solidFill>
            <a:schemeClr val="accent1">
              <a:lumMod val="20000"/>
              <a:lumOff val="80000"/>
            </a:schemeClr>
          </a:solidFill>
          <a:ln w="6350">
            <a:solidFill>
              <a:schemeClr val="bg2">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marL="514350" indent="-514350">
              <a:buFont typeface="+mj-lt"/>
              <a:buAutoNum type="arabicPeriod" startAt="7"/>
            </a:pPr>
            <a:r>
              <a:rPr lang="en-US" sz="2000" dirty="0"/>
              <a:t>Locative preposition drop</a:t>
            </a:r>
          </a:p>
          <a:p>
            <a:r>
              <a:rPr lang="en-US" sz="2000" dirty="0"/>
              <a:t>	</a:t>
            </a:r>
            <a:r>
              <a:rPr lang="en-US" dirty="0">
                <a:solidFill>
                  <a:srgbClr val="0070C0"/>
                </a:solidFill>
              </a:rPr>
              <a:t>Martha climbed </a:t>
            </a:r>
            <a:r>
              <a:rPr lang="en-US" u="sng" dirty="0">
                <a:solidFill>
                  <a:srgbClr val="0070C0"/>
                </a:solidFill>
              </a:rPr>
              <a:t>up</a:t>
            </a:r>
            <a:r>
              <a:rPr lang="en-US" dirty="0">
                <a:solidFill>
                  <a:srgbClr val="0070C0"/>
                </a:solidFill>
              </a:rPr>
              <a:t> a mountain.</a:t>
            </a:r>
          </a:p>
          <a:p>
            <a:r>
              <a:rPr lang="en-US" dirty="0">
                <a:solidFill>
                  <a:srgbClr val="0070C0"/>
                </a:solidFill>
              </a:rPr>
              <a:t>	Martha climbed a mountain.</a:t>
            </a:r>
          </a:p>
          <a:p>
            <a:r>
              <a:rPr lang="en-US" dirty="0">
                <a:solidFill>
                  <a:srgbClr val="0070C0"/>
                </a:solidFill>
              </a:rPr>
              <a:t>	Sharon came </a:t>
            </a:r>
            <a:r>
              <a:rPr lang="en-US" u="sng" dirty="0">
                <a:solidFill>
                  <a:srgbClr val="0070C0"/>
                </a:solidFill>
              </a:rPr>
              <a:t>into</a:t>
            </a:r>
            <a:r>
              <a:rPr lang="en-US" dirty="0">
                <a:solidFill>
                  <a:srgbClr val="0070C0"/>
                </a:solidFill>
              </a:rPr>
              <a:t> the room.</a:t>
            </a:r>
          </a:p>
          <a:p>
            <a:r>
              <a:rPr lang="en-US" dirty="0">
                <a:solidFill>
                  <a:srgbClr val="0070C0"/>
                </a:solidFill>
              </a:rPr>
              <a:t>	??Sharon came the room.</a:t>
            </a:r>
          </a:p>
        </p:txBody>
      </p:sp>
      <p:sp>
        <p:nvSpPr>
          <p:cNvPr id="13" name="Ορθογώνιο: Στρογγύλεμα γωνιών 12">
            <a:extLst>
              <a:ext uri="{FF2B5EF4-FFF2-40B4-BE49-F238E27FC236}">
                <a16:creationId xmlns="" xmlns:a16="http://schemas.microsoft.com/office/drawing/2014/main" id="{786517B6-8BB6-6379-BA90-6A17D741385F}"/>
              </a:ext>
            </a:extLst>
          </p:cNvPr>
          <p:cNvSpPr/>
          <p:nvPr/>
        </p:nvSpPr>
        <p:spPr>
          <a:xfrm>
            <a:off x="1835696" y="3252469"/>
            <a:ext cx="7128792" cy="1760895"/>
          </a:xfrm>
          <a:prstGeom prst="roundRect">
            <a:avLst/>
          </a:prstGeom>
          <a:solidFill>
            <a:schemeClr val="accent1">
              <a:lumMod val="40000"/>
              <a:lumOff val="60000"/>
            </a:schemeClr>
          </a:solidFill>
          <a:ln w="6350">
            <a:solidFill>
              <a:schemeClr val="bg2">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l-GR" sz="1600" dirty="0">
                <a:solidFill>
                  <a:schemeClr val="tx1"/>
                </a:solidFill>
              </a:rPr>
              <a:t>8.    </a:t>
            </a:r>
            <a:r>
              <a:rPr lang="en-US" dirty="0"/>
              <a:t>Benefactive Alternation</a:t>
            </a:r>
          </a:p>
          <a:p>
            <a:r>
              <a:rPr lang="en-US" dirty="0"/>
              <a:t>	</a:t>
            </a:r>
            <a:r>
              <a:rPr lang="en-US" dirty="0">
                <a:solidFill>
                  <a:srgbClr val="0070C0"/>
                </a:solidFill>
              </a:rPr>
              <a:t>Martha carved a toy </a:t>
            </a:r>
            <a:r>
              <a:rPr lang="en-US" u="sng" dirty="0">
                <a:solidFill>
                  <a:srgbClr val="0070C0"/>
                </a:solidFill>
              </a:rPr>
              <a:t>for the baby</a:t>
            </a:r>
            <a:r>
              <a:rPr lang="en-US" dirty="0">
                <a:solidFill>
                  <a:srgbClr val="0070C0"/>
                </a:solidFill>
              </a:rPr>
              <a:t>.</a:t>
            </a:r>
          </a:p>
          <a:p>
            <a:r>
              <a:rPr lang="en-US" dirty="0">
                <a:solidFill>
                  <a:srgbClr val="0070C0"/>
                </a:solidFill>
              </a:rPr>
              <a:t>	Martha carved </a:t>
            </a:r>
            <a:r>
              <a:rPr lang="en-US" u="sng" dirty="0">
                <a:solidFill>
                  <a:srgbClr val="0070C0"/>
                </a:solidFill>
              </a:rPr>
              <a:t>the baby </a:t>
            </a:r>
            <a:r>
              <a:rPr lang="en-US" dirty="0">
                <a:solidFill>
                  <a:srgbClr val="0070C0"/>
                </a:solidFill>
              </a:rPr>
              <a:t>a toy.</a:t>
            </a:r>
          </a:p>
          <a:p>
            <a:r>
              <a:rPr lang="en-US" dirty="0">
                <a:solidFill>
                  <a:srgbClr val="0070C0"/>
                </a:solidFill>
              </a:rPr>
              <a:t>	The architect selected</a:t>
            </a:r>
            <a:r>
              <a:rPr lang="el-GR" dirty="0">
                <a:solidFill>
                  <a:srgbClr val="0070C0"/>
                </a:solidFill>
              </a:rPr>
              <a:t> </a:t>
            </a:r>
            <a:r>
              <a:rPr lang="en-US" dirty="0">
                <a:solidFill>
                  <a:srgbClr val="0070C0"/>
                </a:solidFill>
              </a:rPr>
              <a:t>a house </a:t>
            </a:r>
            <a:r>
              <a:rPr lang="en-US" u="sng" dirty="0">
                <a:solidFill>
                  <a:srgbClr val="0070C0"/>
                </a:solidFill>
              </a:rPr>
              <a:t>for the couple</a:t>
            </a:r>
            <a:r>
              <a:rPr lang="en-US" dirty="0">
                <a:solidFill>
                  <a:srgbClr val="0070C0"/>
                </a:solidFill>
              </a:rPr>
              <a:t>.</a:t>
            </a:r>
          </a:p>
          <a:p>
            <a:r>
              <a:rPr lang="en-US" dirty="0">
                <a:solidFill>
                  <a:srgbClr val="0070C0"/>
                </a:solidFill>
              </a:rPr>
              <a:t>	?? The architect selected	</a:t>
            </a:r>
            <a:r>
              <a:rPr lang="en-US" u="sng" dirty="0">
                <a:solidFill>
                  <a:srgbClr val="0070C0"/>
                </a:solidFill>
              </a:rPr>
              <a:t>the</a:t>
            </a:r>
            <a:r>
              <a:rPr lang="el-GR" u="sng" dirty="0">
                <a:solidFill>
                  <a:srgbClr val="0070C0"/>
                </a:solidFill>
              </a:rPr>
              <a:t> </a:t>
            </a:r>
            <a:r>
              <a:rPr lang="en-US" u="sng" dirty="0">
                <a:solidFill>
                  <a:srgbClr val="0070C0"/>
                </a:solidFill>
              </a:rPr>
              <a:t>couple </a:t>
            </a:r>
            <a:r>
              <a:rPr lang="en-US" dirty="0">
                <a:solidFill>
                  <a:srgbClr val="0070C0"/>
                </a:solidFill>
              </a:rPr>
              <a:t>a house</a:t>
            </a:r>
            <a:r>
              <a:rPr lang="el-GR" dirty="0">
                <a:solidFill>
                  <a:srgbClr val="0070C0"/>
                </a:solidFill>
              </a:rPr>
              <a:t>.</a:t>
            </a:r>
            <a:endParaRPr lang="en-US" dirty="0">
              <a:solidFill>
                <a:srgbClr val="0070C0"/>
              </a:solidFill>
            </a:endParaRPr>
          </a:p>
        </p:txBody>
      </p:sp>
      <p:sp>
        <p:nvSpPr>
          <p:cNvPr id="3" name="Slide Number Placeholder 2">
            <a:extLst>
              <a:ext uri="{FF2B5EF4-FFF2-40B4-BE49-F238E27FC236}">
                <a16:creationId xmlns="" xmlns:a16="http://schemas.microsoft.com/office/drawing/2014/main" id="{174AC852-D303-F40F-DCA8-1091D572A5CD}"/>
              </a:ext>
            </a:extLst>
          </p:cNvPr>
          <p:cNvSpPr>
            <a:spLocks noGrp="1"/>
          </p:cNvSpPr>
          <p:nvPr>
            <p:ph type="sldNum" sz="quarter" idx="12"/>
          </p:nvPr>
        </p:nvSpPr>
        <p:spPr/>
        <p:txBody>
          <a:bodyPr/>
          <a:lstStyle/>
          <a:p>
            <a:fld id="{084E6F96-DBA9-4966-8C10-B0B4DAA302D2}" type="slidenum">
              <a:rPr lang="el-GR" smtClean="0"/>
              <a:pPr/>
              <a:t>32</a:t>
            </a:fld>
            <a:endParaRPr lang="el-G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04A5A2F2-4466-069C-92BC-FB5378E48A86}"/>
              </a:ext>
            </a:extLst>
          </p:cNvPr>
          <p:cNvSpPr txBox="1">
            <a:spLocks/>
          </p:cNvSpPr>
          <p:nvPr/>
        </p:nvSpPr>
        <p:spPr>
          <a:xfrm>
            <a:off x="1097280" y="764704"/>
            <a:ext cx="7363152"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err="1"/>
              <a:t>AthDGC</a:t>
            </a:r>
            <a:r>
              <a:rPr lang="en-US" sz="4400" b="0" dirty="0"/>
              <a:t> Valency Lexicon</a:t>
            </a:r>
            <a:endParaRPr lang="el-GR" b="0" dirty="0"/>
          </a:p>
        </p:txBody>
      </p:sp>
      <p:sp>
        <p:nvSpPr>
          <p:cNvPr id="3" name="Θέση περιεχομένου 2">
            <a:extLst>
              <a:ext uri="{FF2B5EF4-FFF2-40B4-BE49-F238E27FC236}">
                <a16:creationId xmlns="" xmlns:a16="http://schemas.microsoft.com/office/drawing/2014/main" id="{22F3BE2E-9592-3026-586F-738B7636C327}"/>
              </a:ext>
            </a:extLst>
          </p:cNvPr>
          <p:cNvSpPr txBox="1">
            <a:spLocks/>
          </p:cNvSpPr>
          <p:nvPr/>
        </p:nvSpPr>
        <p:spPr>
          <a:xfrm>
            <a:off x="179512" y="1730954"/>
            <a:ext cx="5616624" cy="4434350"/>
          </a:xfrm>
          <a:prstGeom prst="rect">
            <a:avLst/>
          </a:prstGeom>
        </p:spPr>
        <p:txBody>
          <a:bodyPr>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457200" indent="-457200"/>
            <a:r>
              <a:rPr lang="en-US" sz="2500" dirty="0"/>
              <a:t>One lexicon per language </a:t>
            </a:r>
            <a:endParaRPr lang="el-GR" sz="2500" dirty="0"/>
          </a:p>
          <a:p>
            <a:pPr marL="457200" indent="-457200">
              <a:buNone/>
            </a:pPr>
            <a:r>
              <a:rPr lang="en-US" sz="2500" dirty="0"/>
              <a:t>	(1 for Greek, 1 for English)</a:t>
            </a:r>
            <a:endParaRPr lang="el-GR" sz="2500" dirty="0"/>
          </a:p>
          <a:p>
            <a:pPr marL="457200" indent="-457200">
              <a:buNone/>
            </a:pPr>
            <a:endParaRPr lang="en-US" dirty="0"/>
          </a:p>
          <a:p>
            <a:pPr marL="457200" indent="-457200"/>
            <a:r>
              <a:rPr lang="en-US" sz="2500" dirty="0"/>
              <a:t>Valency lexicon = </a:t>
            </a:r>
            <a:endParaRPr lang="el-GR" sz="2500" dirty="0"/>
          </a:p>
          <a:p>
            <a:pPr marL="457200" indent="-457200">
              <a:buNone/>
            </a:pPr>
            <a:r>
              <a:rPr lang="en-US" sz="2500" dirty="0"/>
              <a:t>	list of verbs + valency information</a:t>
            </a:r>
            <a:endParaRPr lang="el-GR" sz="2500" dirty="0"/>
          </a:p>
        </p:txBody>
      </p:sp>
      <p:pic>
        <p:nvPicPr>
          <p:cNvPr id="11" name="Εικόνα 10">
            <a:extLst>
              <a:ext uri="{FF2B5EF4-FFF2-40B4-BE49-F238E27FC236}">
                <a16:creationId xmlns="" xmlns:a16="http://schemas.microsoft.com/office/drawing/2014/main" id="{F54230AA-E910-FE22-FAB9-CA57280C0876}"/>
              </a:ext>
            </a:extLst>
          </p:cNvPr>
          <p:cNvPicPr>
            <a:picLocks noChangeAspect="1"/>
          </p:cNvPicPr>
          <p:nvPr/>
        </p:nvPicPr>
        <p:blipFill>
          <a:blip r:embed="rId4" cstate="print"/>
          <a:stretch>
            <a:fillRect/>
          </a:stretch>
        </p:blipFill>
        <p:spPr>
          <a:xfrm>
            <a:off x="5580112" y="1412776"/>
            <a:ext cx="3355638" cy="4267240"/>
          </a:xfrm>
          <a:prstGeom prst="rect">
            <a:avLst/>
          </a:prstGeom>
        </p:spPr>
      </p:pic>
      <p:sp>
        <p:nvSpPr>
          <p:cNvPr id="10" name="Slide Number Placeholder 9">
            <a:extLst>
              <a:ext uri="{FF2B5EF4-FFF2-40B4-BE49-F238E27FC236}">
                <a16:creationId xmlns="" xmlns:a16="http://schemas.microsoft.com/office/drawing/2014/main" id="{C0670D5B-AE99-EEF3-FD39-D6B36B84D3E7}"/>
              </a:ext>
            </a:extLst>
          </p:cNvPr>
          <p:cNvSpPr>
            <a:spLocks noGrp="1"/>
          </p:cNvSpPr>
          <p:nvPr>
            <p:ph type="sldNum" sz="quarter" idx="12"/>
          </p:nvPr>
        </p:nvSpPr>
        <p:spPr/>
        <p:txBody>
          <a:bodyPr/>
          <a:lstStyle/>
          <a:p>
            <a:fld id="{084E6F96-DBA9-4966-8C10-B0B4DAA302D2}" type="slidenum">
              <a:rPr lang="el-GR" smtClean="0"/>
              <a:pPr/>
              <a:t>33</a:t>
            </a:fld>
            <a:endParaRPr lang="el-G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a:extLst>
              <a:ext uri="{FF2B5EF4-FFF2-40B4-BE49-F238E27FC236}">
                <a16:creationId xmlns="" xmlns:a16="http://schemas.microsoft.com/office/drawing/2014/main" id="{3D37D41E-D8EB-8AA5-B65B-3BC36813C653}"/>
              </a:ext>
            </a:extLst>
          </p:cNvPr>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a:extLst>
              <a:ext uri="{FF2B5EF4-FFF2-40B4-BE49-F238E27FC236}">
                <a16:creationId xmlns="" xmlns:a16="http://schemas.microsoft.com/office/drawing/2014/main" id="{806F6CD8-73F3-C7A8-D0F9-789DF50CCEB3}"/>
              </a:ext>
            </a:extLst>
          </p:cNvPr>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a:extLst>
              <a:ext uri="{FF2B5EF4-FFF2-40B4-BE49-F238E27FC236}">
                <a16:creationId xmlns="" xmlns:a16="http://schemas.microsoft.com/office/drawing/2014/main" id="{95C852CE-DDF8-18F8-18AB-E1E10DFBBF85}"/>
              </a:ext>
            </a:extLst>
          </p:cNvPr>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a:extLst>
              <a:ext uri="{FF2B5EF4-FFF2-40B4-BE49-F238E27FC236}">
                <a16:creationId xmlns="" xmlns:a16="http://schemas.microsoft.com/office/drawing/2014/main" id="{E5F64E58-1C71-88B0-3347-9888CF1C534F}"/>
              </a:ext>
            </a:extLst>
          </p:cNvPr>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a:extLst>
              <a:ext uri="{FF2B5EF4-FFF2-40B4-BE49-F238E27FC236}">
                <a16:creationId xmlns="" xmlns:a16="http://schemas.microsoft.com/office/drawing/2014/main" id="{6FB45E24-7B09-1246-66EA-09D4CE854553}"/>
              </a:ext>
            </a:extLst>
          </p:cNvPr>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a:extLst>
              <a:ext uri="{FF2B5EF4-FFF2-40B4-BE49-F238E27FC236}">
                <a16:creationId xmlns="" xmlns:a16="http://schemas.microsoft.com/office/drawing/2014/main" id="{7AB606DA-0116-F41E-9076-D61BAB7396C1}"/>
              </a:ext>
            </a:extLst>
          </p:cNvPr>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3B337A44-24CA-A0CD-4D40-FE80AB913AC1}"/>
              </a:ext>
            </a:extLst>
          </p:cNvPr>
          <p:cNvSpPr txBox="1">
            <a:spLocks/>
          </p:cNvSpPr>
          <p:nvPr/>
        </p:nvSpPr>
        <p:spPr>
          <a:xfrm>
            <a:off x="395536" y="529458"/>
            <a:ext cx="8486424"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a:t>Annotation through the PROIEL platform</a:t>
            </a:r>
            <a:endParaRPr lang="el-GR" b="0" dirty="0"/>
          </a:p>
        </p:txBody>
      </p:sp>
      <p:sp>
        <p:nvSpPr>
          <p:cNvPr id="10" name="Slide Number Placeholder 9">
            <a:extLst>
              <a:ext uri="{FF2B5EF4-FFF2-40B4-BE49-F238E27FC236}">
                <a16:creationId xmlns="" xmlns:a16="http://schemas.microsoft.com/office/drawing/2014/main" id="{9888260C-1C99-AA3E-175D-6551C69C1D96}"/>
              </a:ext>
            </a:extLst>
          </p:cNvPr>
          <p:cNvSpPr>
            <a:spLocks noGrp="1"/>
          </p:cNvSpPr>
          <p:nvPr>
            <p:ph type="sldNum" sz="quarter" idx="12"/>
          </p:nvPr>
        </p:nvSpPr>
        <p:spPr/>
        <p:txBody>
          <a:bodyPr/>
          <a:lstStyle/>
          <a:p>
            <a:fld id="{084E6F96-DBA9-4966-8C10-B0B4DAA302D2}" type="slidenum">
              <a:rPr lang="el-GR" smtClean="0"/>
              <a:pPr/>
              <a:t>34</a:t>
            </a:fld>
            <a:endParaRPr lang="el-GR"/>
          </a:p>
        </p:txBody>
      </p:sp>
      <p:pic>
        <p:nvPicPr>
          <p:cNvPr id="11" name="Εικόνα 10">
            <a:extLst>
              <a:ext uri="{FF2B5EF4-FFF2-40B4-BE49-F238E27FC236}">
                <a16:creationId xmlns="" xmlns:a16="http://schemas.microsoft.com/office/drawing/2014/main" id="{F311BFA7-2A24-0C3A-8C32-8D5A190AC4CB}"/>
              </a:ext>
            </a:extLst>
          </p:cNvPr>
          <p:cNvPicPr>
            <a:picLocks noChangeAspect="1"/>
          </p:cNvPicPr>
          <p:nvPr/>
        </p:nvPicPr>
        <p:blipFill>
          <a:blip r:embed="rId4" cstate="print"/>
          <a:stretch>
            <a:fillRect/>
          </a:stretch>
        </p:blipFill>
        <p:spPr>
          <a:xfrm>
            <a:off x="-11147" y="2020614"/>
            <a:ext cx="9144000" cy="3249348"/>
          </a:xfrm>
          <a:prstGeom prst="rect">
            <a:avLst/>
          </a:prstGeom>
        </p:spPr>
      </p:pic>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a:extLst>
              <a:ext uri="{FF2B5EF4-FFF2-40B4-BE49-F238E27FC236}">
                <a16:creationId xmlns="" xmlns:a16="http://schemas.microsoft.com/office/drawing/2014/main" id="{EFE07AEA-F325-410D-FFD8-F01980E45560}"/>
              </a:ext>
            </a:extLst>
          </p:cNvPr>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a:extLst>
              <a:ext uri="{FF2B5EF4-FFF2-40B4-BE49-F238E27FC236}">
                <a16:creationId xmlns="" xmlns:a16="http://schemas.microsoft.com/office/drawing/2014/main" id="{4C8E6157-5651-020D-7EDB-182A5B284619}"/>
              </a:ext>
            </a:extLst>
          </p:cNvPr>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a:extLst>
              <a:ext uri="{FF2B5EF4-FFF2-40B4-BE49-F238E27FC236}">
                <a16:creationId xmlns="" xmlns:a16="http://schemas.microsoft.com/office/drawing/2014/main" id="{D91AE3D3-20B2-FD47-EAC0-E744EC5DD177}"/>
              </a:ext>
            </a:extLst>
          </p:cNvPr>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a:extLst>
              <a:ext uri="{FF2B5EF4-FFF2-40B4-BE49-F238E27FC236}">
                <a16:creationId xmlns="" xmlns:a16="http://schemas.microsoft.com/office/drawing/2014/main" id="{EC5A1928-906F-AD5A-CE99-11B0825D293B}"/>
              </a:ext>
            </a:extLst>
          </p:cNvPr>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a:extLst>
              <a:ext uri="{FF2B5EF4-FFF2-40B4-BE49-F238E27FC236}">
                <a16:creationId xmlns="" xmlns:a16="http://schemas.microsoft.com/office/drawing/2014/main" id="{B685013B-3679-FE65-DE4A-C5FD8B22F28C}"/>
              </a:ext>
            </a:extLst>
          </p:cNvPr>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a:extLst>
              <a:ext uri="{FF2B5EF4-FFF2-40B4-BE49-F238E27FC236}">
                <a16:creationId xmlns="" xmlns:a16="http://schemas.microsoft.com/office/drawing/2014/main" id="{C2EE6DA6-5C0E-BD11-8150-D89C77600803}"/>
              </a:ext>
            </a:extLst>
          </p:cNvPr>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E11063E1-3A62-9162-E767-68C60A5BF19D}"/>
              </a:ext>
            </a:extLst>
          </p:cNvPr>
          <p:cNvSpPr txBox="1">
            <a:spLocks/>
          </p:cNvSpPr>
          <p:nvPr/>
        </p:nvSpPr>
        <p:spPr>
          <a:xfrm>
            <a:off x="395536" y="529458"/>
            <a:ext cx="8486424"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a:t>Annotation through the PROIEL platform</a:t>
            </a:r>
            <a:endParaRPr lang="el-GR" b="0" dirty="0"/>
          </a:p>
        </p:txBody>
      </p:sp>
      <p:sp>
        <p:nvSpPr>
          <p:cNvPr id="10" name="Slide Number Placeholder 9">
            <a:extLst>
              <a:ext uri="{FF2B5EF4-FFF2-40B4-BE49-F238E27FC236}">
                <a16:creationId xmlns="" xmlns:a16="http://schemas.microsoft.com/office/drawing/2014/main" id="{652A4C96-39E5-852D-B72D-911AD94F4D7F}"/>
              </a:ext>
            </a:extLst>
          </p:cNvPr>
          <p:cNvSpPr>
            <a:spLocks noGrp="1"/>
          </p:cNvSpPr>
          <p:nvPr>
            <p:ph type="sldNum" sz="quarter" idx="12"/>
          </p:nvPr>
        </p:nvSpPr>
        <p:spPr/>
        <p:txBody>
          <a:bodyPr/>
          <a:lstStyle/>
          <a:p>
            <a:fld id="{084E6F96-DBA9-4966-8C10-B0B4DAA302D2}" type="slidenum">
              <a:rPr lang="el-GR" smtClean="0"/>
              <a:pPr/>
              <a:t>35</a:t>
            </a:fld>
            <a:endParaRPr lang="el-GR"/>
          </a:p>
        </p:txBody>
      </p:sp>
      <p:pic>
        <p:nvPicPr>
          <p:cNvPr id="13" name="Εικόνα 12">
            <a:extLst>
              <a:ext uri="{FF2B5EF4-FFF2-40B4-BE49-F238E27FC236}">
                <a16:creationId xmlns="" xmlns:a16="http://schemas.microsoft.com/office/drawing/2014/main" id="{000D5663-AF6B-B9E1-824B-63349AC43857}"/>
              </a:ext>
            </a:extLst>
          </p:cNvPr>
          <p:cNvPicPr>
            <a:picLocks noChangeAspect="1"/>
          </p:cNvPicPr>
          <p:nvPr/>
        </p:nvPicPr>
        <p:blipFill>
          <a:blip r:embed="rId4" cstate="print"/>
          <a:stretch>
            <a:fillRect/>
          </a:stretch>
        </p:blipFill>
        <p:spPr>
          <a:xfrm>
            <a:off x="262040" y="1816762"/>
            <a:ext cx="8619920" cy="3813196"/>
          </a:xfrm>
          <a:prstGeom prst="rect">
            <a:avLst/>
          </a:prstGeom>
        </p:spPr>
      </p:pic>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a:extLst>
              <a:ext uri="{FF2B5EF4-FFF2-40B4-BE49-F238E27FC236}">
                <a16:creationId xmlns="" xmlns:a16="http://schemas.microsoft.com/office/drawing/2014/main" id="{07EC7B69-9F1A-65B5-734B-B244FC753DC7}"/>
              </a:ext>
            </a:extLst>
          </p:cNvPr>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a:extLst>
              <a:ext uri="{FF2B5EF4-FFF2-40B4-BE49-F238E27FC236}">
                <a16:creationId xmlns="" xmlns:a16="http://schemas.microsoft.com/office/drawing/2014/main" id="{5D9BF01E-7951-E081-9B68-C887E9589708}"/>
              </a:ext>
            </a:extLst>
          </p:cNvPr>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a:extLst>
              <a:ext uri="{FF2B5EF4-FFF2-40B4-BE49-F238E27FC236}">
                <a16:creationId xmlns="" xmlns:a16="http://schemas.microsoft.com/office/drawing/2014/main" id="{6B5DAA2A-730E-9852-6A51-CF9CB16DB317}"/>
              </a:ext>
            </a:extLst>
          </p:cNvPr>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a:extLst>
              <a:ext uri="{FF2B5EF4-FFF2-40B4-BE49-F238E27FC236}">
                <a16:creationId xmlns="" xmlns:a16="http://schemas.microsoft.com/office/drawing/2014/main" id="{D7CE2042-5CBE-0A1F-0061-D2CE9942B40C}"/>
              </a:ext>
            </a:extLst>
          </p:cNvPr>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a:extLst>
              <a:ext uri="{FF2B5EF4-FFF2-40B4-BE49-F238E27FC236}">
                <a16:creationId xmlns="" xmlns:a16="http://schemas.microsoft.com/office/drawing/2014/main" id="{CA81F9B3-C1D2-C1D8-9292-EBA0E22F0649}"/>
              </a:ext>
            </a:extLst>
          </p:cNvPr>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a:extLst>
              <a:ext uri="{FF2B5EF4-FFF2-40B4-BE49-F238E27FC236}">
                <a16:creationId xmlns="" xmlns:a16="http://schemas.microsoft.com/office/drawing/2014/main" id="{9DBEA74A-92C1-FE4C-82E4-2C3905020E45}"/>
              </a:ext>
            </a:extLst>
          </p:cNvPr>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6904D0C7-BE74-3BC4-36B3-1EA005FD1A56}"/>
              </a:ext>
            </a:extLst>
          </p:cNvPr>
          <p:cNvSpPr txBox="1">
            <a:spLocks/>
          </p:cNvSpPr>
          <p:nvPr/>
        </p:nvSpPr>
        <p:spPr>
          <a:xfrm>
            <a:off x="395536" y="529458"/>
            <a:ext cx="8486424"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a:t>Annotation through the PROIEL platform</a:t>
            </a:r>
            <a:endParaRPr lang="el-GR" b="0" dirty="0"/>
          </a:p>
        </p:txBody>
      </p:sp>
      <p:sp>
        <p:nvSpPr>
          <p:cNvPr id="10" name="Slide Number Placeholder 9">
            <a:extLst>
              <a:ext uri="{FF2B5EF4-FFF2-40B4-BE49-F238E27FC236}">
                <a16:creationId xmlns="" xmlns:a16="http://schemas.microsoft.com/office/drawing/2014/main" id="{22164E52-215B-AF2D-08E0-9FCAC2E86748}"/>
              </a:ext>
            </a:extLst>
          </p:cNvPr>
          <p:cNvSpPr>
            <a:spLocks noGrp="1"/>
          </p:cNvSpPr>
          <p:nvPr>
            <p:ph type="sldNum" sz="quarter" idx="12"/>
          </p:nvPr>
        </p:nvSpPr>
        <p:spPr/>
        <p:txBody>
          <a:bodyPr/>
          <a:lstStyle/>
          <a:p>
            <a:fld id="{084E6F96-DBA9-4966-8C10-B0B4DAA302D2}" type="slidenum">
              <a:rPr lang="el-GR" smtClean="0"/>
              <a:pPr/>
              <a:t>36</a:t>
            </a:fld>
            <a:endParaRPr lang="el-GR"/>
          </a:p>
        </p:txBody>
      </p:sp>
      <p:pic>
        <p:nvPicPr>
          <p:cNvPr id="11" name="Εικόνα 10">
            <a:extLst>
              <a:ext uri="{FF2B5EF4-FFF2-40B4-BE49-F238E27FC236}">
                <a16:creationId xmlns="" xmlns:a16="http://schemas.microsoft.com/office/drawing/2014/main" id="{F4F1787A-8BE0-0BB9-004B-7B28C4445B9C}"/>
              </a:ext>
            </a:extLst>
          </p:cNvPr>
          <p:cNvPicPr>
            <a:picLocks noChangeAspect="1"/>
          </p:cNvPicPr>
          <p:nvPr/>
        </p:nvPicPr>
        <p:blipFill>
          <a:blip r:embed="rId4" cstate="print"/>
          <a:stretch>
            <a:fillRect/>
          </a:stretch>
        </p:blipFill>
        <p:spPr>
          <a:xfrm>
            <a:off x="1691680" y="1916832"/>
            <a:ext cx="5008149" cy="4291955"/>
          </a:xfrm>
          <a:prstGeom prst="rect">
            <a:avLst/>
          </a:prstGeom>
        </p:spPr>
      </p:pic>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a:extLst>
              <a:ext uri="{FF2B5EF4-FFF2-40B4-BE49-F238E27FC236}">
                <a16:creationId xmlns="" xmlns:a16="http://schemas.microsoft.com/office/drawing/2014/main" id="{A4706252-7D60-A329-AABD-DF5A9535882C}"/>
              </a:ext>
            </a:extLst>
          </p:cNvPr>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a:extLst>
              <a:ext uri="{FF2B5EF4-FFF2-40B4-BE49-F238E27FC236}">
                <a16:creationId xmlns="" xmlns:a16="http://schemas.microsoft.com/office/drawing/2014/main" id="{36996C72-CBC0-4B6C-6DAC-F7012501DB1D}"/>
              </a:ext>
            </a:extLst>
          </p:cNvPr>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a:extLst>
              <a:ext uri="{FF2B5EF4-FFF2-40B4-BE49-F238E27FC236}">
                <a16:creationId xmlns="" xmlns:a16="http://schemas.microsoft.com/office/drawing/2014/main" id="{81B2B31B-3165-CE13-3100-48EE1249956B}"/>
              </a:ext>
            </a:extLst>
          </p:cNvPr>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a:extLst>
              <a:ext uri="{FF2B5EF4-FFF2-40B4-BE49-F238E27FC236}">
                <a16:creationId xmlns="" xmlns:a16="http://schemas.microsoft.com/office/drawing/2014/main" id="{780ABC3E-5E1B-2210-8285-ABD7628E9B63}"/>
              </a:ext>
            </a:extLst>
          </p:cNvPr>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a:extLst>
              <a:ext uri="{FF2B5EF4-FFF2-40B4-BE49-F238E27FC236}">
                <a16:creationId xmlns="" xmlns:a16="http://schemas.microsoft.com/office/drawing/2014/main" id="{36FEAA9A-67C0-F299-C36D-58E2D6AB55FA}"/>
              </a:ext>
            </a:extLst>
          </p:cNvPr>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a:extLst>
              <a:ext uri="{FF2B5EF4-FFF2-40B4-BE49-F238E27FC236}">
                <a16:creationId xmlns="" xmlns:a16="http://schemas.microsoft.com/office/drawing/2014/main" id="{0F4A3DB3-51C0-DFB1-0EA9-D15291236859}"/>
              </a:ext>
            </a:extLst>
          </p:cNvPr>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71CEF536-DCE1-10CF-BDE7-4205C9DB0D68}"/>
              </a:ext>
            </a:extLst>
          </p:cNvPr>
          <p:cNvSpPr txBox="1">
            <a:spLocks/>
          </p:cNvSpPr>
          <p:nvPr/>
        </p:nvSpPr>
        <p:spPr>
          <a:xfrm>
            <a:off x="35496" y="529458"/>
            <a:ext cx="9145016" cy="1135893"/>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algn="ctr"/>
            <a:r>
              <a:rPr lang="en-US" sz="2400" b="0" dirty="0" err="1"/>
              <a:t>AthDGC</a:t>
            </a:r>
            <a:r>
              <a:rPr lang="en-US" sz="2400" b="0" dirty="0"/>
              <a:t> Valency Lexicon</a:t>
            </a:r>
            <a:r>
              <a:rPr lang="el-GR" sz="2400" b="0" dirty="0"/>
              <a:t> </a:t>
            </a:r>
            <a:endParaRPr lang="en-US" sz="2400" b="0" dirty="0"/>
          </a:p>
          <a:p>
            <a:pPr algn="ctr"/>
            <a:r>
              <a:rPr lang="en-US" sz="2400" b="0" dirty="0"/>
              <a:t>a .</a:t>
            </a:r>
            <a:r>
              <a:rPr lang="en-US" sz="2400" b="0" dirty="0" err="1"/>
              <a:t>cvs</a:t>
            </a:r>
            <a:r>
              <a:rPr lang="en-US" sz="2400" b="0" dirty="0"/>
              <a:t> file </a:t>
            </a:r>
            <a:r>
              <a:rPr lang="el-GR" sz="2400" b="0" dirty="0"/>
              <a:t>–</a:t>
            </a:r>
            <a:r>
              <a:rPr lang="en-US" sz="2400" b="0" dirty="0"/>
              <a:t>Cooperation with Harvard CHS (</a:t>
            </a:r>
            <a:r>
              <a:rPr lang="en-US" sz="2400" b="0" dirty="0" err="1"/>
              <a:t>Arkas</a:t>
            </a:r>
            <a:r>
              <a:rPr lang="en-US" sz="2400" b="0" dirty="0"/>
              <a:t> Team)</a:t>
            </a:r>
            <a:endParaRPr lang="el-GR" sz="2400" b="0" dirty="0"/>
          </a:p>
        </p:txBody>
      </p:sp>
      <p:sp>
        <p:nvSpPr>
          <p:cNvPr id="10" name="Slide Number Placeholder 9">
            <a:extLst>
              <a:ext uri="{FF2B5EF4-FFF2-40B4-BE49-F238E27FC236}">
                <a16:creationId xmlns="" xmlns:a16="http://schemas.microsoft.com/office/drawing/2014/main" id="{CBD8B88F-64AD-6E84-C0DD-DAEE8EB66B50}"/>
              </a:ext>
            </a:extLst>
          </p:cNvPr>
          <p:cNvSpPr>
            <a:spLocks noGrp="1"/>
          </p:cNvSpPr>
          <p:nvPr>
            <p:ph type="sldNum" sz="quarter" idx="12"/>
          </p:nvPr>
        </p:nvSpPr>
        <p:spPr/>
        <p:txBody>
          <a:bodyPr/>
          <a:lstStyle/>
          <a:p>
            <a:fld id="{084E6F96-DBA9-4966-8C10-B0B4DAA302D2}" type="slidenum">
              <a:rPr lang="el-GR" smtClean="0"/>
              <a:pPr/>
              <a:t>37</a:t>
            </a:fld>
            <a:endParaRPr lang="el-GR"/>
          </a:p>
        </p:txBody>
      </p:sp>
      <p:pic>
        <p:nvPicPr>
          <p:cNvPr id="12" name="Εικόνα 11">
            <a:extLst>
              <a:ext uri="{FF2B5EF4-FFF2-40B4-BE49-F238E27FC236}">
                <a16:creationId xmlns="" xmlns:a16="http://schemas.microsoft.com/office/drawing/2014/main" id="{2B8DD61E-9B74-4770-FED9-462A482075EF}"/>
              </a:ext>
            </a:extLst>
          </p:cNvPr>
          <p:cNvPicPr>
            <a:picLocks noChangeAspect="1"/>
          </p:cNvPicPr>
          <p:nvPr/>
        </p:nvPicPr>
        <p:blipFill>
          <a:blip r:embed="rId4" cstate="print"/>
          <a:stretch>
            <a:fillRect/>
          </a:stretch>
        </p:blipFill>
        <p:spPr>
          <a:xfrm>
            <a:off x="114710" y="1408993"/>
            <a:ext cx="8894799" cy="4855846"/>
          </a:xfrm>
          <a:prstGeom prst="rect">
            <a:avLst/>
          </a:prstGeom>
        </p:spPr>
      </p:pic>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7B419AD7-7AF6-4F68-C4C6-8DA9EAC0E3BE}"/>
              </a:ext>
            </a:extLst>
          </p:cNvPr>
          <p:cNvSpPr txBox="1">
            <a:spLocks/>
          </p:cNvSpPr>
          <p:nvPr/>
        </p:nvSpPr>
        <p:spPr>
          <a:xfrm>
            <a:off x="35496" y="529458"/>
            <a:ext cx="9145016" cy="1135893"/>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algn="ctr"/>
            <a:r>
              <a:rPr lang="en-US" sz="2400" b="0" dirty="0" err="1"/>
              <a:t>AthDGC</a:t>
            </a:r>
            <a:r>
              <a:rPr lang="en-US" sz="2400" b="0" dirty="0"/>
              <a:t> Valency Lexicon</a:t>
            </a:r>
            <a:r>
              <a:rPr lang="el-GR" sz="2400" b="0" dirty="0"/>
              <a:t> </a:t>
            </a:r>
            <a:endParaRPr lang="en-US" sz="2400" b="0" dirty="0"/>
          </a:p>
          <a:p>
            <a:pPr algn="ctr"/>
            <a:r>
              <a:rPr lang="en-US" sz="2400" b="0" dirty="0"/>
              <a:t>a .</a:t>
            </a:r>
            <a:r>
              <a:rPr lang="en-US" sz="2400" b="0" dirty="0" err="1"/>
              <a:t>cvs</a:t>
            </a:r>
            <a:r>
              <a:rPr lang="en-US" sz="2400" b="0" dirty="0"/>
              <a:t> file </a:t>
            </a:r>
            <a:r>
              <a:rPr lang="el-GR" sz="2400" b="0" dirty="0"/>
              <a:t>–</a:t>
            </a:r>
            <a:r>
              <a:rPr lang="en-US" sz="2400" b="0" dirty="0"/>
              <a:t>Cooperation with Harvard CHS (</a:t>
            </a:r>
            <a:r>
              <a:rPr lang="en-US" sz="2400" b="0" dirty="0" err="1"/>
              <a:t>Arkas</a:t>
            </a:r>
            <a:r>
              <a:rPr lang="en-US" sz="2400" b="0" dirty="0"/>
              <a:t> Team)</a:t>
            </a:r>
            <a:endParaRPr lang="el-GR" sz="2400" b="0" dirty="0"/>
          </a:p>
        </p:txBody>
      </p:sp>
      <p:graphicFrame>
        <p:nvGraphicFramePr>
          <p:cNvPr id="3" name="Πίνακας 2">
            <a:extLst>
              <a:ext uri="{FF2B5EF4-FFF2-40B4-BE49-F238E27FC236}">
                <a16:creationId xmlns="" xmlns:a16="http://schemas.microsoft.com/office/drawing/2014/main" id="{CC137796-77AD-8EB0-3908-54CB7D2FE346}"/>
              </a:ext>
            </a:extLst>
          </p:cNvPr>
          <p:cNvGraphicFramePr>
            <a:graphicFrameLocks noGrp="1"/>
          </p:cNvGraphicFramePr>
          <p:nvPr>
            <p:extLst>
              <p:ext uri="{D42A27DB-BD31-4B8C-83A1-F6EECF244321}">
                <p14:modId xmlns="" xmlns:p14="http://schemas.microsoft.com/office/powerpoint/2010/main" val="3652798562"/>
              </p:ext>
            </p:extLst>
          </p:nvPr>
        </p:nvGraphicFramePr>
        <p:xfrm>
          <a:off x="143509" y="1877913"/>
          <a:ext cx="8928990" cy="2053761"/>
        </p:xfrm>
        <a:graphic>
          <a:graphicData uri="http://schemas.openxmlformats.org/drawingml/2006/table">
            <a:tbl>
              <a:tblPr firstRow="1" bandRow="1">
                <a:tableStyleId>{5940675A-B579-460E-94D1-54222C63F5DA}</a:tableStyleId>
              </a:tblPr>
              <a:tblGrid>
                <a:gridCol w="1044115">
                  <a:extLst>
                    <a:ext uri="{9D8B030D-6E8A-4147-A177-3AD203B41FA5}">
                      <a16:colId xmlns="" xmlns:a16="http://schemas.microsoft.com/office/drawing/2014/main" val="67285584"/>
                    </a:ext>
                  </a:extLst>
                </a:gridCol>
                <a:gridCol w="1224136">
                  <a:extLst>
                    <a:ext uri="{9D8B030D-6E8A-4147-A177-3AD203B41FA5}">
                      <a16:colId xmlns="" xmlns:a16="http://schemas.microsoft.com/office/drawing/2014/main" val="1887354883"/>
                    </a:ext>
                  </a:extLst>
                </a:gridCol>
                <a:gridCol w="1558459">
                  <a:extLst>
                    <a:ext uri="{9D8B030D-6E8A-4147-A177-3AD203B41FA5}">
                      <a16:colId xmlns="" xmlns:a16="http://schemas.microsoft.com/office/drawing/2014/main" val="500754830"/>
                    </a:ext>
                  </a:extLst>
                </a:gridCol>
                <a:gridCol w="1275570">
                  <a:extLst>
                    <a:ext uri="{9D8B030D-6E8A-4147-A177-3AD203B41FA5}">
                      <a16:colId xmlns="" xmlns:a16="http://schemas.microsoft.com/office/drawing/2014/main" val="911689426"/>
                    </a:ext>
                  </a:extLst>
                </a:gridCol>
                <a:gridCol w="1275570">
                  <a:extLst>
                    <a:ext uri="{9D8B030D-6E8A-4147-A177-3AD203B41FA5}">
                      <a16:colId xmlns="" xmlns:a16="http://schemas.microsoft.com/office/drawing/2014/main" val="1840079110"/>
                    </a:ext>
                  </a:extLst>
                </a:gridCol>
                <a:gridCol w="1275570">
                  <a:extLst>
                    <a:ext uri="{9D8B030D-6E8A-4147-A177-3AD203B41FA5}">
                      <a16:colId xmlns="" xmlns:a16="http://schemas.microsoft.com/office/drawing/2014/main" val="2397981844"/>
                    </a:ext>
                  </a:extLst>
                </a:gridCol>
                <a:gridCol w="1275570">
                  <a:extLst>
                    <a:ext uri="{9D8B030D-6E8A-4147-A177-3AD203B41FA5}">
                      <a16:colId xmlns="" xmlns:a16="http://schemas.microsoft.com/office/drawing/2014/main" val="2117131384"/>
                    </a:ext>
                  </a:extLst>
                </a:gridCol>
              </a:tblGrid>
              <a:tr h="865041">
                <a:tc>
                  <a:txBody>
                    <a:bodyPr/>
                    <a:lstStyle/>
                    <a:p>
                      <a:r>
                        <a:rPr lang="en-US" b="1" dirty="0" err="1"/>
                        <a:t>subdoc</a:t>
                      </a:r>
                      <a:endParaRPr lang="el-GR" b="1" dirty="0"/>
                    </a:p>
                  </a:txBody>
                  <a:tcPr/>
                </a:tc>
                <a:tc>
                  <a:txBody>
                    <a:bodyPr/>
                    <a:lstStyle/>
                    <a:p>
                      <a:r>
                        <a:rPr lang="en-US" b="1" dirty="0"/>
                        <a:t>Valency no</a:t>
                      </a:r>
                      <a:endParaRPr lang="el-GR" b="1" dirty="0"/>
                    </a:p>
                  </a:txBody>
                  <a:tcPr/>
                </a:tc>
                <a:tc>
                  <a:txBody>
                    <a:bodyPr/>
                    <a:lstStyle/>
                    <a:p>
                      <a:r>
                        <a:rPr lang="en-US" b="1" dirty="0"/>
                        <a:t>Children</a:t>
                      </a:r>
                      <a:endParaRPr lang="el-GR" b="1" dirty="0"/>
                    </a:p>
                  </a:txBody>
                  <a:tcPr/>
                </a:tc>
                <a:tc>
                  <a:txBody>
                    <a:bodyPr/>
                    <a:lstStyle/>
                    <a:p>
                      <a:r>
                        <a:rPr lang="en-US" b="1" dirty="0"/>
                        <a:t>Form</a:t>
                      </a:r>
                      <a:endParaRPr lang="el-GR" b="1" dirty="0"/>
                    </a:p>
                  </a:txBody>
                  <a:tcPr/>
                </a:tc>
                <a:tc>
                  <a:txBody>
                    <a:bodyPr/>
                    <a:lstStyle/>
                    <a:p>
                      <a:r>
                        <a:rPr lang="en-US" b="1" dirty="0"/>
                        <a:t>Lemma</a:t>
                      </a:r>
                      <a:endParaRPr lang="el-GR" b="1" dirty="0"/>
                    </a:p>
                  </a:txBody>
                  <a:tcPr/>
                </a:tc>
                <a:tc>
                  <a:txBody>
                    <a:bodyPr/>
                    <a:lstStyle/>
                    <a:p>
                      <a:r>
                        <a:rPr lang="en-US" b="1" dirty="0" err="1"/>
                        <a:t>Postag</a:t>
                      </a:r>
                      <a:endParaRPr lang="el-GR" b="1" dirty="0"/>
                    </a:p>
                  </a:txBody>
                  <a:tcPr/>
                </a:tc>
                <a:tc>
                  <a:txBody>
                    <a:bodyPr/>
                    <a:lstStyle/>
                    <a:p>
                      <a:r>
                        <a:rPr lang="en-US" b="1" dirty="0"/>
                        <a:t>Relation</a:t>
                      </a:r>
                      <a:endParaRPr lang="el-GR" b="1" dirty="0"/>
                    </a:p>
                  </a:txBody>
                  <a:tcPr/>
                </a:tc>
                <a:extLst>
                  <a:ext uri="{0D108BD9-81ED-4DB2-BD59-A6C34878D82A}">
                    <a16:rowId xmlns="" xmlns:a16="http://schemas.microsoft.com/office/drawing/2014/main" val="3197611301"/>
                  </a:ext>
                </a:extLst>
              </a:tr>
              <a:tr h="865041">
                <a:tc>
                  <a:txBody>
                    <a:bodyPr/>
                    <a:lstStyle/>
                    <a:p>
                      <a:r>
                        <a:rPr lang="en-US" dirty="0"/>
                        <a:t>01Sphr_0000_0001_0002</a:t>
                      </a:r>
                      <a:endParaRPr lang="el-GR" dirty="0"/>
                    </a:p>
                  </a:txBody>
                  <a:tcPr/>
                </a:tc>
                <a:tc>
                  <a:txBody>
                    <a:bodyPr/>
                    <a:lstStyle/>
                    <a:p>
                      <a:r>
                        <a:rPr lang="en-US" dirty="0"/>
                        <a:t>2</a:t>
                      </a:r>
                      <a:endParaRPr lang="el-GR" dirty="0"/>
                    </a:p>
                  </a:txBody>
                  <a:tcPr/>
                </a:tc>
                <a:tc>
                  <a:txBody>
                    <a:bodyPr/>
                    <a:lstStyle/>
                    <a:p>
                      <a:r>
                        <a:rPr lang="en-US" dirty="0" err="1"/>
                        <a:t>xobj</a:t>
                      </a:r>
                      <a:r>
                        <a:rPr lang="en-US" dirty="0"/>
                        <a:t> | </a:t>
                      </a:r>
                      <a:r>
                        <a:rPr lang="el-GR" dirty="0" err="1"/>
                        <a:t>πρῶτος</a:t>
                      </a:r>
                      <a:endParaRPr lang="el-GR" dirty="0"/>
                    </a:p>
                  </a:txBody>
                  <a:tcPr/>
                </a:tc>
                <a:tc>
                  <a:txBody>
                    <a:bodyPr/>
                    <a:lstStyle/>
                    <a:p>
                      <a:r>
                        <a:rPr lang="el-GR" dirty="0" err="1"/>
                        <a:t>ἦν</a:t>
                      </a:r>
                      <a:endParaRPr lang="el-GR" dirty="0"/>
                    </a:p>
                  </a:txBody>
                  <a:tcPr/>
                </a:tc>
                <a:tc>
                  <a:txBody>
                    <a:bodyPr/>
                    <a:lstStyle/>
                    <a:p>
                      <a:r>
                        <a:rPr lang="el-GR" dirty="0" err="1"/>
                        <a:t>εἰμί</a:t>
                      </a:r>
                      <a:r>
                        <a:rPr lang="el-GR" dirty="0"/>
                        <a:t> </a:t>
                      </a:r>
                    </a:p>
                  </a:txBody>
                  <a:tcPr/>
                </a:tc>
                <a:tc>
                  <a:txBody>
                    <a:bodyPr/>
                    <a:lstStyle/>
                    <a:p>
                      <a:r>
                        <a:rPr lang="en-US" dirty="0"/>
                        <a:t>v3sia---</a:t>
                      </a:r>
                      <a:endParaRPr lang="el-GR" dirty="0"/>
                    </a:p>
                  </a:txBody>
                  <a:tcPr/>
                </a:tc>
                <a:tc>
                  <a:txBody>
                    <a:bodyPr/>
                    <a:lstStyle/>
                    <a:p>
                      <a:r>
                        <a:rPr lang="en-US" dirty="0"/>
                        <a:t>pred</a:t>
                      </a:r>
                      <a:endParaRPr lang="el-GR" dirty="0"/>
                    </a:p>
                  </a:txBody>
                  <a:tcPr/>
                </a:tc>
                <a:extLst>
                  <a:ext uri="{0D108BD9-81ED-4DB2-BD59-A6C34878D82A}">
                    <a16:rowId xmlns="" xmlns:a16="http://schemas.microsoft.com/office/drawing/2014/main" val="1782012174"/>
                  </a:ext>
                </a:extLst>
              </a:tr>
            </a:tbl>
          </a:graphicData>
        </a:graphic>
      </p:graphicFrame>
      <p:graphicFrame>
        <p:nvGraphicFramePr>
          <p:cNvPr id="14" name="Πίνακας 13">
            <a:extLst>
              <a:ext uri="{FF2B5EF4-FFF2-40B4-BE49-F238E27FC236}">
                <a16:creationId xmlns="" xmlns:a16="http://schemas.microsoft.com/office/drawing/2014/main" id="{C2E31B59-26B1-F819-BC51-175DF6A8B0FB}"/>
              </a:ext>
            </a:extLst>
          </p:cNvPr>
          <p:cNvGraphicFramePr>
            <a:graphicFrameLocks noGrp="1"/>
          </p:cNvGraphicFramePr>
          <p:nvPr>
            <p:extLst>
              <p:ext uri="{D42A27DB-BD31-4B8C-83A1-F6EECF244321}">
                <p14:modId xmlns="" xmlns:p14="http://schemas.microsoft.com/office/powerpoint/2010/main" val="2172018033"/>
              </p:ext>
            </p:extLst>
          </p:nvPr>
        </p:nvGraphicFramePr>
        <p:xfrm>
          <a:off x="251520" y="3973497"/>
          <a:ext cx="8677477" cy="1854200"/>
        </p:xfrm>
        <a:graphic>
          <a:graphicData uri="http://schemas.openxmlformats.org/drawingml/2006/table">
            <a:tbl>
              <a:tblPr firstRow="1" bandRow="1">
                <a:tableStyleId>{5940675A-B579-460E-94D1-54222C63F5DA}</a:tableStyleId>
              </a:tblPr>
              <a:tblGrid>
                <a:gridCol w="2179605">
                  <a:extLst>
                    <a:ext uri="{9D8B030D-6E8A-4147-A177-3AD203B41FA5}">
                      <a16:colId xmlns="" xmlns:a16="http://schemas.microsoft.com/office/drawing/2014/main" val="3154323285"/>
                    </a:ext>
                  </a:extLst>
                </a:gridCol>
                <a:gridCol w="1282475">
                  <a:extLst>
                    <a:ext uri="{9D8B030D-6E8A-4147-A177-3AD203B41FA5}">
                      <a16:colId xmlns="" xmlns:a16="http://schemas.microsoft.com/office/drawing/2014/main" val="3349825051"/>
                    </a:ext>
                  </a:extLst>
                </a:gridCol>
                <a:gridCol w="1709966">
                  <a:extLst>
                    <a:ext uri="{9D8B030D-6E8A-4147-A177-3AD203B41FA5}">
                      <a16:colId xmlns="" xmlns:a16="http://schemas.microsoft.com/office/drawing/2014/main" val="4377026"/>
                    </a:ext>
                  </a:extLst>
                </a:gridCol>
                <a:gridCol w="2051960">
                  <a:extLst>
                    <a:ext uri="{9D8B030D-6E8A-4147-A177-3AD203B41FA5}">
                      <a16:colId xmlns="" xmlns:a16="http://schemas.microsoft.com/office/drawing/2014/main" val="2996253322"/>
                    </a:ext>
                  </a:extLst>
                </a:gridCol>
                <a:gridCol w="1453471">
                  <a:extLst>
                    <a:ext uri="{9D8B030D-6E8A-4147-A177-3AD203B41FA5}">
                      <a16:colId xmlns="" xmlns:a16="http://schemas.microsoft.com/office/drawing/2014/main" val="294847137"/>
                    </a:ext>
                  </a:extLst>
                </a:gridCol>
              </a:tblGrid>
              <a:tr h="370840">
                <a:tc>
                  <a:txBody>
                    <a:bodyPr/>
                    <a:lstStyle/>
                    <a:p>
                      <a:r>
                        <a:rPr lang="el-GR" dirty="0" err="1"/>
                        <a:t>Παϊαζήτης</a:t>
                      </a:r>
                      <a:endParaRPr lang="el-GR"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l-GR" dirty="0" err="1">
                          <a:solidFill>
                            <a:srgbClr val="FF0000"/>
                          </a:solidFill>
                        </a:rPr>
                        <a:t>ἦν</a:t>
                      </a:r>
                      <a:endParaRPr lang="el-GR"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l-GR" dirty="0"/>
                        <a:t>πέμπτος</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l-GR" dirty="0" err="1"/>
                        <a:t>αὐθέντης</a:t>
                      </a:r>
                      <a:endParaRPr lang="el-GR"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l-GR" dirty="0" err="1"/>
                        <a:t>τῆς</a:t>
                      </a:r>
                      <a:endParaRPr lang="el-GR"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 xmlns:a16="http://schemas.microsoft.com/office/drawing/2014/main" val="688680529"/>
                  </a:ext>
                </a:extLst>
              </a:tr>
              <a:tr h="370840">
                <a:tc>
                  <a:txBody>
                    <a:bodyPr/>
                    <a:lstStyle/>
                    <a:p>
                      <a:r>
                        <a:rPr lang="en-US" dirty="0"/>
                        <a:t>Paiazitis.</a:t>
                      </a:r>
                      <a:r>
                        <a:rPr lang="en-US" sz="1200" dirty="0"/>
                        <a:t>NOM.SG</a:t>
                      </a:r>
                      <a:endParaRPr lang="el-GR"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be.</a:t>
                      </a:r>
                      <a:r>
                        <a:rPr lang="en-US" sz="1200" dirty="0"/>
                        <a:t>3SG.PST</a:t>
                      </a:r>
                      <a:endParaRPr lang="el-GR"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fifth.</a:t>
                      </a:r>
                      <a:r>
                        <a:rPr kumimoji="0" lang="en-US" sz="1200" b="0" i="0" u="none" strike="noStrike" kern="1200" cap="none" spc="0" normalizeH="0" baseline="0" noProof="0" dirty="0">
                          <a:ln>
                            <a:noFill/>
                          </a:ln>
                          <a:solidFill>
                            <a:prstClr val="black"/>
                          </a:solidFill>
                          <a:effectLst/>
                          <a:uLnTx/>
                          <a:uFillTx/>
                          <a:latin typeface="+mn-lt"/>
                          <a:ea typeface="+mn-ea"/>
                          <a:cs typeface="+mn-cs"/>
                        </a:rPr>
                        <a:t> NOM.SG</a:t>
                      </a:r>
                      <a:endParaRPr lang="el-GR"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master.</a:t>
                      </a:r>
                      <a:r>
                        <a:rPr kumimoji="0" lang="en-US" sz="1200" b="0" i="0" u="none" strike="noStrike" kern="1200" cap="none" spc="0" normalizeH="0" baseline="0" noProof="0" dirty="0">
                          <a:ln>
                            <a:noFill/>
                          </a:ln>
                          <a:solidFill>
                            <a:prstClr val="black"/>
                          </a:solidFill>
                          <a:effectLst/>
                          <a:uLnTx/>
                          <a:uFillTx/>
                          <a:latin typeface="+mn-lt"/>
                          <a:ea typeface="+mn-ea"/>
                          <a:cs typeface="+mn-cs"/>
                        </a:rPr>
                        <a:t> NOM.SG</a:t>
                      </a:r>
                      <a:endParaRPr lang="el-GR"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the.</a:t>
                      </a:r>
                      <a:r>
                        <a:rPr lang="en-US" sz="1200" dirty="0"/>
                        <a:t>GEN.SG</a:t>
                      </a:r>
                      <a:endParaRPr lang="el-GR"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 xmlns:a16="http://schemas.microsoft.com/office/drawing/2014/main" val="2101748932"/>
                  </a:ext>
                </a:extLst>
              </a:tr>
              <a:tr h="370840">
                <a:tc>
                  <a:txBody>
                    <a:bodyPr/>
                    <a:lstStyle/>
                    <a:p>
                      <a:r>
                        <a:rPr lang="el-GR" dirty="0" err="1"/>
                        <a:t>γενεᾶς</a:t>
                      </a:r>
                      <a:endParaRPr lang="el-GR"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dirty="0" err="1"/>
                        <a:t>αὐτοῦ</a:t>
                      </a:r>
                      <a:r>
                        <a:rPr lang="el-GR" dirty="0"/>
                        <a:t>.</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l-G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l-G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l-GR"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 xmlns:a16="http://schemas.microsoft.com/office/drawing/2014/main" val="2429154696"/>
                  </a:ext>
                </a:extLst>
              </a:tr>
              <a:tr h="370840">
                <a:tc>
                  <a:txBody>
                    <a:bodyPr/>
                    <a:lstStyle/>
                    <a:p>
                      <a:r>
                        <a:rPr lang="en-US" dirty="0" err="1"/>
                        <a:t>generarion</a:t>
                      </a:r>
                      <a:r>
                        <a:rPr lang="en-US" dirty="0"/>
                        <a:t>.</a:t>
                      </a:r>
                      <a:r>
                        <a:rPr kumimoji="0" lang="en-US" sz="1200" b="0" i="0" u="none" strike="noStrike" kern="1200" cap="none" spc="0" normalizeH="0" baseline="0" noProof="0" dirty="0">
                          <a:ln>
                            <a:noFill/>
                          </a:ln>
                          <a:solidFill>
                            <a:prstClr val="black"/>
                          </a:solidFill>
                          <a:effectLst/>
                          <a:uLnTx/>
                          <a:uFillTx/>
                          <a:latin typeface="+mn-lt"/>
                          <a:ea typeface="+mn-ea"/>
                          <a:cs typeface="+mn-cs"/>
                        </a:rPr>
                        <a:t> GEN.SG</a:t>
                      </a:r>
                      <a:endParaRPr lang="el-GR"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he.</a:t>
                      </a:r>
                      <a:r>
                        <a:rPr kumimoji="0" lang="en-US" sz="1200" b="0" i="0" u="none" strike="noStrike" kern="1200" cap="none" spc="0" normalizeH="0" baseline="0" noProof="0" dirty="0">
                          <a:ln>
                            <a:noFill/>
                          </a:ln>
                          <a:solidFill>
                            <a:prstClr val="black"/>
                          </a:solidFill>
                          <a:effectLst/>
                          <a:uLnTx/>
                          <a:uFillTx/>
                          <a:latin typeface="+mn-lt"/>
                          <a:ea typeface="+mn-ea"/>
                          <a:cs typeface="+mn-cs"/>
                        </a:rPr>
                        <a:t> GEN.SG</a:t>
                      </a:r>
                      <a:endParaRPr lang="el-GR"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l-G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l-G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l-GR"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 xmlns:a16="http://schemas.microsoft.com/office/drawing/2014/main" val="4250763619"/>
                  </a:ext>
                </a:extLst>
              </a:tr>
              <a:tr h="370840">
                <a:tc gridSpan="5">
                  <a:txBody>
                    <a:bodyPr/>
                    <a:lstStyle/>
                    <a:p>
                      <a:r>
                        <a:rPr lang="en-US" dirty="0" err="1"/>
                        <a:t>Paiazitis</a:t>
                      </a:r>
                      <a:r>
                        <a:rPr lang="en-US" dirty="0"/>
                        <a:t> </a:t>
                      </a:r>
                      <a:r>
                        <a:rPr lang="en-US" dirty="0">
                          <a:solidFill>
                            <a:srgbClr val="FF0000"/>
                          </a:solidFill>
                        </a:rPr>
                        <a:t>was</a:t>
                      </a:r>
                      <a:r>
                        <a:rPr lang="en-US" dirty="0"/>
                        <a:t> the fifth master of his generation. </a:t>
                      </a:r>
                      <a:endParaRPr lang="el-GR"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l-GR" dirty="0"/>
                    </a:p>
                  </a:txBody>
                  <a:tcPr/>
                </a:tc>
                <a:tc hMerge="1">
                  <a:txBody>
                    <a:bodyPr/>
                    <a:lstStyle/>
                    <a:p>
                      <a:endParaRPr lang="el-GR"/>
                    </a:p>
                  </a:txBody>
                  <a:tcPr/>
                </a:tc>
                <a:tc hMerge="1">
                  <a:txBody>
                    <a:bodyPr/>
                    <a:lstStyle/>
                    <a:p>
                      <a:endParaRPr lang="el-GR"/>
                    </a:p>
                  </a:txBody>
                  <a:tcPr/>
                </a:tc>
                <a:tc hMerge="1">
                  <a:txBody>
                    <a:bodyPr/>
                    <a:lstStyle/>
                    <a:p>
                      <a:endParaRPr lang="el-GR" dirty="0"/>
                    </a:p>
                  </a:txBody>
                  <a:tcPr/>
                </a:tc>
                <a:extLst>
                  <a:ext uri="{0D108BD9-81ED-4DB2-BD59-A6C34878D82A}">
                    <a16:rowId xmlns="" xmlns:a16="http://schemas.microsoft.com/office/drawing/2014/main" val="4247974134"/>
                  </a:ext>
                </a:extLst>
              </a:tr>
            </a:tbl>
          </a:graphicData>
        </a:graphic>
      </p:graphicFrame>
      <p:sp>
        <p:nvSpPr>
          <p:cNvPr id="10" name="Slide Number Placeholder 9">
            <a:extLst>
              <a:ext uri="{FF2B5EF4-FFF2-40B4-BE49-F238E27FC236}">
                <a16:creationId xmlns="" xmlns:a16="http://schemas.microsoft.com/office/drawing/2014/main" id="{6F95097C-51AB-DBE5-3A14-3BB6B9DB5D08}"/>
              </a:ext>
            </a:extLst>
          </p:cNvPr>
          <p:cNvSpPr>
            <a:spLocks noGrp="1"/>
          </p:cNvSpPr>
          <p:nvPr>
            <p:ph type="sldNum" sz="quarter" idx="12"/>
          </p:nvPr>
        </p:nvSpPr>
        <p:spPr/>
        <p:txBody>
          <a:bodyPr/>
          <a:lstStyle/>
          <a:p>
            <a:fld id="{084E6F96-DBA9-4966-8C10-B0B4DAA302D2}" type="slidenum">
              <a:rPr lang="el-GR" smtClean="0"/>
              <a:pPr/>
              <a:t>38</a:t>
            </a:fld>
            <a:endParaRPr lang="el-G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5AECD9EF-9159-FBE4-7692-69A412AC7AF6}"/>
              </a:ext>
            </a:extLst>
          </p:cNvPr>
          <p:cNvSpPr txBox="1">
            <a:spLocks/>
          </p:cNvSpPr>
          <p:nvPr/>
        </p:nvSpPr>
        <p:spPr>
          <a:xfrm>
            <a:off x="1043608" y="620688"/>
            <a:ext cx="7363152"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err="1"/>
              <a:t>AthDGC</a:t>
            </a:r>
            <a:r>
              <a:rPr lang="en-US" sz="4400" b="0" dirty="0"/>
              <a:t> Valency Lexicon</a:t>
            </a:r>
            <a:endParaRPr lang="el-GR" b="0" dirty="0"/>
          </a:p>
        </p:txBody>
      </p:sp>
      <p:sp>
        <p:nvSpPr>
          <p:cNvPr id="3" name="TextBox 2">
            <a:extLst>
              <a:ext uri="{FF2B5EF4-FFF2-40B4-BE49-F238E27FC236}">
                <a16:creationId xmlns="" xmlns:a16="http://schemas.microsoft.com/office/drawing/2014/main" id="{6007C082-8A6D-4FD5-45D0-42DE6E81BC44}"/>
              </a:ext>
            </a:extLst>
          </p:cNvPr>
          <p:cNvSpPr txBox="1"/>
          <p:nvPr/>
        </p:nvSpPr>
        <p:spPr>
          <a:xfrm>
            <a:off x="419339" y="1480530"/>
            <a:ext cx="8424936" cy="923330"/>
          </a:xfrm>
          <a:prstGeom prst="rect">
            <a:avLst/>
          </a:prstGeom>
          <a:noFill/>
        </p:spPr>
        <p:txBody>
          <a:bodyPr wrap="square">
            <a:spAutoFit/>
          </a:bodyPr>
          <a:lstStyle/>
          <a:p>
            <a:r>
              <a:rPr lang="el-GR" sz="3600" dirty="0"/>
              <a:t>‘</a:t>
            </a:r>
            <a:r>
              <a:rPr lang="en-US" sz="3600" dirty="0"/>
              <a:t>write</a:t>
            </a:r>
            <a:r>
              <a:rPr lang="el-GR" sz="3600" dirty="0"/>
              <a:t>’</a:t>
            </a:r>
            <a:endParaRPr lang="en-US" dirty="0"/>
          </a:p>
          <a:p>
            <a:r>
              <a:rPr lang="en-US" dirty="0"/>
              <a:t>Modern English, Frequency in the corpus: </a:t>
            </a:r>
            <a:r>
              <a:rPr lang="en-US" dirty="0">
                <a:solidFill>
                  <a:schemeClr val="bg1">
                    <a:lumMod val="50000"/>
                  </a:schemeClr>
                </a:solidFill>
              </a:rPr>
              <a:t>1015</a:t>
            </a:r>
          </a:p>
        </p:txBody>
      </p:sp>
      <p:graphicFrame>
        <p:nvGraphicFramePr>
          <p:cNvPr id="10" name="Πίνακας 9">
            <a:extLst>
              <a:ext uri="{FF2B5EF4-FFF2-40B4-BE49-F238E27FC236}">
                <a16:creationId xmlns="" xmlns:a16="http://schemas.microsoft.com/office/drawing/2014/main" id="{9FBC9317-BAD4-9F0D-ABED-954F2402FC43}"/>
              </a:ext>
            </a:extLst>
          </p:cNvPr>
          <p:cNvGraphicFramePr>
            <a:graphicFrameLocks noGrp="1"/>
          </p:cNvGraphicFramePr>
          <p:nvPr>
            <p:extLst>
              <p:ext uri="{D42A27DB-BD31-4B8C-83A1-F6EECF244321}">
                <p14:modId xmlns="" xmlns:p14="http://schemas.microsoft.com/office/powerpoint/2010/main" val="3604689199"/>
              </p:ext>
            </p:extLst>
          </p:nvPr>
        </p:nvGraphicFramePr>
        <p:xfrm>
          <a:off x="395536" y="2636912"/>
          <a:ext cx="8424936" cy="1936570"/>
        </p:xfrm>
        <a:graphic>
          <a:graphicData uri="http://schemas.openxmlformats.org/drawingml/2006/table">
            <a:tbl>
              <a:tblPr firstRow="1" bandRow="1">
                <a:tableStyleId>{5940675A-B579-460E-94D1-54222C63F5DA}</a:tableStyleId>
              </a:tblPr>
              <a:tblGrid>
                <a:gridCol w="3115338">
                  <a:extLst>
                    <a:ext uri="{9D8B030D-6E8A-4147-A177-3AD203B41FA5}">
                      <a16:colId xmlns="" xmlns:a16="http://schemas.microsoft.com/office/drawing/2014/main" val="4043654411"/>
                    </a:ext>
                  </a:extLst>
                </a:gridCol>
                <a:gridCol w="2501286">
                  <a:extLst>
                    <a:ext uri="{9D8B030D-6E8A-4147-A177-3AD203B41FA5}">
                      <a16:colId xmlns="" xmlns:a16="http://schemas.microsoft.com/office/drawing/2014/main" val="3991075884"/>
                    </a:ext>
                  </a:extLst>
                </a:gridCol>
                <a:gridCol w="2808312">
                  <a:extLst>
                    <a:ext uri="{9D8B030D-6E8A-4147-A177-3AD203B41FA5}">
                      <a16:colId xmlns="" xmlns:a16="http://schemas.microsoft.com/office/drawing/2014/main" val="296243753"/>
                    </a:ext>
                  </a:extLst>
                </a:gridCol>
              </a:tblGrid>
              <a:tr h="387314">
                <a:tc>
                  <a:txBody>
                    <a:bodyPr/>
                    <a:lstStyle/>
                    <a:p>
                      <a:r>
                        <a:rPr lang="en-US" b="1" dirty="0"/>
                        <a:t>Arguments</a:t>
                      </a:r>
                      <a:endParaRPr lang="el-GR" dirty="0"/>
                    </a:p>
                  </a:txBody>
                  <a:tcPr/>
                </a:tc>
                <a:tc>
                  <a:txBody>
                    <a:bodyPr/>
                    <a:lstStyle/>
                    <a:p>
                      <a:pPr algn="r"/>
                      <a:r>
                        <a:rPr lang="en-US" b="1" dirty="0"/>
                        <a:t>Voice</a:t>
                      </a:r>
                      <a:endParaRPr lang="el-GR" b="1" dirty="0"/>
                    </a:p>
                  </a:txBody>
                  <a:tcPr/>
                </a:tc>
                <a:tc>
                  <a:txBody>
                    <a:bodyPr/>
                    <a:lstStyle/>
                    <a:p>
                      <a:pPr algn="r"/>
                      <a:r>
                        <a:rPr lang="en-US" b="1" dirty="0"/>
                        <a:t>Frequency</a:t>
                      </a:r>
                      <a:endParaRPr lang="el-GR" b="1" dirty="0"/>
                    </a:p>
                  </a:txBody>
                  <a:tcPr/>
                </a:tc>
                <a:extLst>
                  <a:ext uri="{0D108BD9-81ED-4DB2-BD59-A6C34878D82A}">
                    <a16:rowId xmlns="" xmlns:a16="http://schemas.microsoft.com/office/drawing/2014/main" val="1961844204"/>
                  </a:ext>
                </a:extLst>
              </a:tr>
              <a:tr h="387314">
                <a:tc>
                  <a:txBody>
                    <a:bodyPr/>
                    <a:lstStyle/>
                    <a:p>
                      <a:r>
                        <a:rPr lang="en-US" dirty="0"/>
                        <a:t>SUB(nom).V</a:t>
                      </a:r>
                      <a:endParaRPr lang="el-GR" dirty="0"/>
                    </a:p>
                  </a:txBody>
                  <a:tcPr/>
                </a:tc>
                <a:tc>
                  <a:txBody>
                    <a:bodyPr/>
                    <a:lstStyle/>
                    <a:p>
                      <a:pPr algn="r"/>
                      <a:r>
                        <a:rPr lang="en-US" dirty="0"/>
                        <a:t>active</a:t>
                      </a:r>
                      <a:endParaRPr lang="el-GR" dirty="0"/>
                    </a:p>
                  </a:txBody>
                  <a:tcPr/>
                </a:tc>
                <a:tc>
                  <a:txBody>
                    <a:bodyPr/>
                    <a:lstStyle/>
                    <a:p>
                      <a:pPr algn="r"/>
                      <a:r>
                        <a:rPr lang="en-US" dirty="0">
                          <a:solidFill>
                            <a:schemeClr val="bg1">
                              <a:lumMod val="50000"/>
                            </a:schemeClr>
                          </a:solidFill>
                        </a:rPr>
                        <a:t>403</a:t>
                      </a:r>
                      <a:endParaRPr lang="el-GR" dirty="0">
                        <a:solidFill>
                          <a:schemeClr val="bg1">
                            <a:lumMod val="50000"/>
                          </a:schemeClr>
                        </a:solidFill>
                      </a:endParaRPr>
                    </a:p>
                  </a:txBody>
                  <a:tcPr/>
                </a:tc>
                <a:extLst>
                  <a:ext uri="{0D108BD9-81ED-4DB2-BD59-A6C34878D82A}">
                    <a16:rowId xmlns="" xmlns:a16="http://schemas.microsoft.com/office/drawing/2014/main" val="3153273380"/>
                  </a:ext>
                </a:extLst>
              </a:tr>
              <a:tr h="3873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SUB(nom).V.OBJ(acc)</a:t>
                      </a:r>
                      <a:endParaRPr lang="el-GR" dirty="0"/>
                    </a:p>
                  </a:txBody>
                  <a:tcPr/>
                </a:tc>
                <a:tc>
                  <a:txBody>
                    <a:bodyPr/>
                    <a:lstStyle/>
                    <a:p>
                      <a:pPr algn="r"/>
                      <a:r>
                        <a:rPr lang="en-US" dirty="0"/>
                        <a:t>active</a:t>
                      </a:r>
                      <a:endParaRPr lang="el-GR" dirty="0"/>
                    </a:p>
                  </a:txBody>
                  <a:tcPr/>
                </a:tc>
                <a:tc>
                  <a:txBody>
                    <a:bodyPr/>
                    <a:lstStyle/>
                    <a:p>
                      <a:pPr algn="r"/>
                      <a:r>
                        <a:rPr lang="en-US" dirty="0">
                          <a:solidFill>
                            <a:schemeClr val="bg1">
                              <a:lumMod val="50000"/>
                            </a:schemeClr>
                          </a:solidFill>
                        </a:rPr>
                        <a:t>112</a:t>
                      </a:r>
                      <a:endParaRPr lang="el-GR" dirty="0">
                        <a:solidFill>
                          <a:schemeClr val="bg1">
                            <a:lumMod val="50000"/>
                          </a:schemeClr>
                        </a:solidFill>
                      </a:endParaRPr>
                    </a:p>
                  </a:txBody>
                  <a:tcPr/>
                </a:tc>
                <a:extLst>
                  <a:ext uri="{0D108BD9-81ED-4DB2-BD59-A6C34878D82A}">
                    <a16:rowId xmlns="" xmlns:a16="http://schemas.microsoft.com/office/drawing/2014/main" val="2085344665"/>
                  </a:ext>
                </a:extLst>
              </a:tr>
              <a:tr h="387314">
                <a:tc>
                  <a:txBody>
                    <a:bodyPr/>
                    <a:lstStyle/>
                    <a:p>
                      <a:r>
                        <a:rPr lang="en-US" dirty="0"/>
                        <a:t>SUB(nom).V.OBL(</a:t>
                      </a:r>
                      <a:r>
                        <a:rPr lang="en-US" dirty="0" err="1"/>
                        <a:t>to+acc</a:t>
                      </a:r>
                      <a:r>
                        <a:rPr lang="en-US" dirty="0"/>
                        <a:t>)</a:t>
                      </a:r>
                      <a:endParaRPr lang="el-GR" dirty="0"/>
                    </a:p>
                  </a:txBody>
                  <a:tcPr/>
                </a:tc>
                <a:tc>
                  <a:txBody>
                    <a:bodyPr/>
                    <a:lstStyle/>
                    <a:p>
                      <a:pPr algn="r"/>
                      <a:r>
                        <a:rPr lang="en-US" dirty="0"/>
                        <a:t>active</a:t>
                      </a:r>
                      <a:endParaRPr lang="el-GR" dirty="0"/>
                    </a:p>
                  </a:txBody>
                  <a:tcPr/>
                </a:tc>
                <a:tc>
                  <a:txBody>
                    <a:bodyPr/>
                    <a:lstStyle/>
                    <a:p>
                      <a:pPr algn="r"/>
                      <a:r>
                        <a:rPr lang="en-US" dirty="0">
                          <a:solidFill>
                            <a:schemeClr val="bg1">
                              <a:lumMod val="50000"/>
                            </a:schemeClr>
                          </a:solidFill>
                        </a:rPr>
                        <a:t>60</a:t>
                      </a:r>
                      <a:endParaRPr lang="el-GR" dirty="0">
                        <a:solidFill>
                          <a:schemeClr val="bg1">
                            <a:lumMod val="50000"/>
                          </a:schemeClr>
                        </a:solidFill>
                      </a:endParaRPr>
                    </a:p>
                  </a:txBody>
                  <a:tcPr/>
                </a:tc>
                <a:extLst>
                  <a:ext uri="{0D108BD9-81ED-4DB2-BD59-A6C34878D82A}">
                    <a16:rowId xmlns="" xmlns:a16="http://schemas.microsoft.com/office/drawing/2014/main" val="2988238778"/>
                  </a:ext>
                </a:extLst>
              </a:tr>
              <a:tr h="387314">
                <a:tc>
                  <a:txBody>
                    <a:bodyPr/>
                    <a:lstStyle/>
                    <a:p>
                      <a:r>
                        <a:rPr lang="en-US" dirty="0"/>
                        <a:t>SUB(nom).V</a:t>
                      </a:r>
                      <a:endParaRPr lang="el-GR" dirty="0"/>
                    </a:p>
                  </a:txBody>
                  <a:tcPr/>
                </a:tc>
                <a:tc>
                  <a:txBody>
                    <a:bodyPr/>
                    <a:lstStyle/>
                    <a:p>
                      <a:pPr algn="r"/>
                      <a:r>
                        <a:rPr lang="en-US" dirty="0"/>
                        <a:t>non-active</a:t>
                      </a:r>
                      <a:endParaRPr lang="el-GR" dirty="0"/>
                    </a:p>
                  </a:txBody>
                  <a:tcPr/>
                </a:tc>
                <a:tc>
                  <a:txBody>
                    <a:bodyPr/>
                    <a:lstStyle/>
                    <a:p>
                      <a:pPr algn="r"/>
                      <a:r>
                        <a:rPr lang="en-US" dirty="0">
                          <a:solidFill>
                            <a:schemeClr val="bg1">
                              <a:lumMod val="50000"/>
                            </a:schemeClr>
                          </a:solidFill>
                        </a:rPr>
                        <a:t>57</a:t>
                      </a:r>
                      <a:endParaRPr lang="el-GR" dirty="0">
                        <a:solidFill>
                          <a:schemeClr val="bg1">
                            <a:lumMod val="50000"/>
                          </a:schemeClr>
                        </a:solidFill>
                      </a:endParaRPr>
                    </a:p>
                  </a:txBody>
                  <a:tcPr/>
                </a:tc>
                <a:extLst>
                  <a:ext uri="{0D108BD9-81ED-4DB2-BD59-A6C34878D82A}">
                    <a16:rowId xmlns="" xmlns:a16="http://schemas.microsoft.com/office/drawing/2014/main" val="3954540667"/>
                  </a:ext>
                </a:extLst>
              </a:tr>
            </a:tbl>
          </a:graphicData>
        </a:graphic>
      </p:graphicFrame>
      <p:sp>
        <p:nvSpPr>
          <p:cNvPr id="11" name="TextBox 10">
            <a:extLst>
              <a:ext uri="{FF2B5EF4-FFF2-40B4-BE49-F238E27FC236}">
                <a16:creationId xmlns="" xmlns:a16="http://schemas.microsoft.com/office/drawing/2014/main" id="{AC556E6F-7675-844E-D225-03E1495FF0D8}"/>
              </a:ext>
            </a:extLst>
          </p:cNvPr>
          <p:cNvSpPr txBox="1"/>
          <p:nvPr/>
        </p:nvSpPr>
        <p:spPr>
          <a:xfrm>
            <a:off x="537891" y="4581128"/>
            <a:ext cx="8068217" cy="1569660"/>
          </a:xfrm>
          <a:prstGeom prst="rect">
            <a:avLst/>
          </a:prstGeom>
          <a:noFill/>
        </p:spPr>
        <p:txBody>
          <a:bodyPr wrap="square">
            <a:spAutoFit/>
          </a:bodyPr>
          <a:lstStyle/>
          <a:p>
            <a:r>
              <a:rPr lang="en-US" sz="1600" dirty="0"/>
              <a:t>								</a:t>
            </a:r>
            <a:r>
              <a:rPr lang="en-US" sz="1600" dirty="0" err="1"/>
              <a:t>etc</a:t>
            </a:r>
            <a:r>
              <a:rPr lang="en-US" sz="1600" dirty="0"/>
              <a:t>…</a:t>
            </a:r>
          </a:p>
          <a:p>
            <a:pPr marL="285750" indent="-285750">
              <a:buFont typeface="Arial" panose="020B0604020202020204" pitchFamily="34" charset="0"/>
              <a:buChar char="•"/>
            </a:pPr>
            <a:r>
              <a:rPr lang="en-US" sz="1600" u="sng" dirty="0"/>
              <a:t>You</a:t>
            </a:r>
            <a:r>
              <a:rPr lang="en-US" sz="1600" dirty="0"/>
              <a:t> </a:t>
            </a:r>
            <a:r>
              <a:rPr lang="en-US" sz="1600" dirty="0">
                <a:solidFill>
                  <a:srgbClr val="FF0000"/>
                </a:solidFill>
              </a:rPr>
              <a:t>write</a:t>
            </a:r>
            <a:r>
              <a:rPr lang="en-US" sz="1600" dirty="0"/>
              <a:t> uncommonly fast.</a:t>
            </a:r>
          </a:p>
          <a:p>
            <a:pPr marL="285750" indent="-285750">
              <a:buFont typeface="Arial" panose="020B0604020202020204" pitchFamily="34" charset="0"/>
              <a:buChar char="•"/>
            </a:pPr>
            <a:r>
              <a:rPr lang="en-US" sz="1600" dirty="0"/>
              <a:t>because </a:t>
            </a:r>
            <a:r>
              <a:rPr lang="en-US" sz="1600" u="sng" dirty="0"/>
              <a:t>he</a:t>
            </a:r>
            <a:r>
              <a:rPr lang="en-US" sz="1600" dirty="0"/>
              <a:t> does not </a:t>
            </a:r>
            <a:r>
              <a:rPr lang="en-US" sz="1600" dirty="0">
                <a:solidFill>
                  <a:srgbClr val="FF0000"/>
                </a:solidFill>
              </a:rPr>
              <a:t>write</a:t>
            </a:r>
            <a:r>
              <a:rPr lang="en-US" sz="1600" dirty="0"/>
              <a:t> with ease.</a:t>
            </a:r>
          </a:p>
          <a:p>
            <a:pPr marL="285750" indent="-285750">
              <a:buFont typeface="Arial" panose="020B0604020202020204" pitchFamily="34" charset="0"/>
              <a:buChar char="•"/>
            </a:pPr>
            <a:r>
              <a:rPr lang="en-US" sz="1600" dirty="0"/>
              <a:t>…a person </a:t>
            </a:r>
            <a:r>
              <a:rPr lang="en-US" sz="1600" u="sng" dirty="0"/>
              <a:t>who</a:t>
            </a:r>
            <a:r>
              <a:rPr lang="en-US" sz="1600" dirty="0"/>
              <a:t> can </a:t>
            </a:r>
            <a:r>
              <a:rPr lang="en-US" sz="1600" dirty="0">
                <a:solidFill>
                  <a:srgbClr val="FF0000"/>
                </a:solidFill>
              </a:rPr>
              <a:t>write</a:t>
            </a:r>
            <a:r>
              <a:rPr lang="en-US" sz="1600" dirty="0"/>
              <a:t> a long </a:t>
            </a:r>
            <a:r>
              <a:rPr lang="en-US" sz="1600" u="sng" dirty="0"/>
              <a:t>letter</a:t>
            </a:r>
            <a:r>
              <a:rPr lang="en-US" sz="1600" dirty="0"/>
              <a:t> with ease…</a:t>
            </a:r>
          </a:p>
          <a:p>
            <a:pPr marL="285750" indent="-285750">
              <a:buFont typeface="Arial" panose="020B0604020202020204" pitchFamily="34" charset="0"/>
              <a:buChar char="•"/>
            </a:pPr>
            <a:r>
              <a:rPr lang="en-US" sz="1600" dirty="0"/>
              <a:t>and when </a:t>
            </a:r>
            <a:r>
              <a:rPr lang="en-US" sz="1600" u="sng" dirty="0"/>
              <a:t>I</a:t>
            </a:r>
            <a:r>
              <a:rPr lang="en-US" sz="1600" dirty="0"/>
              <a:t> next </a:t>
            </a:r>
            <a:r>
              <a:rPr lang="en-US" sz="1600" dirty="0">
                <a:solidFill>
                  <a:srgbClr val="FF0000"/>
                </a:solidFill>
              </a:rPr>
              <a:t>write</a:t>
            </a:r>
            <a:r>
              <a:rPr lang="en-US" sz="1600" dirty="0"/>
              <a:t> </a:t>
            </a:r>
            <a:r>
              <a:rPr lang="en-US" sz="1600" u="sng" dirty="0"/>
              <a:t>to her</a:t>
            </a:r>
            <a:r>
              <a:rPr lang="en-US" sz="1600" dirty="0"/>
              <a:t> …</a:t>
            </a:r>
          </a:p>
          <a:p>
            <a:pPr marL="285750" indent="-285750">
              <a:buFont typeface="Arial" panose="020B0604020202020204" pitchFamily="34" charset="0"/>
              <a:buChar char="•"/>
            </a:pPr>
            <a:r>
              <a:rPr lang="en-US" sz="1600" u="sng" dirty="0"/>
              <a:t>it</a:t>
            </a:r>
            <a:r>
              <a:rPr lang="en-US" sz="1600" dirty="0"/>
              <a:t> had been </a:t>
            </a:r>
            <a:r>
              <a:rPr lang="en-US" sz="1600" dirty="0">
                <a:solidFill>
                  <a:srgbClr val="FF0000"/>
                </a:solidFill>
              </a:rPr>
              <a:t>written</a:t>
            </a:r>
            <a:r>
              <a:rPr lang="en-US" sz="1600" dirty="0"/>
              <a:t> five days ago.</a:t>
            </a:r>
          </a:p>
        </p:txBody>
      </p:sp>
      <p:sp>
        <p:nvSpPr>
          <p:cNvPr id="12" name="Slide Number Placeholder 11">
            <a:extLst>
              <a:ext uri="{FF2B5EF4-FFF2-40B4-BE49-F238E27FC236}">
                <a16:creationId xmlns="" xmlns:a16="http://schemas.microsoft.com/office/drawing/2014/main" id="{BD41AC20-25C4-0155-80D1-5077F9DA93A0}"/>
              </a:ext>
            </a:extLst>
          </p:cNvPr>
          <p:cNvSpPr>
            <a:spLocks noGrp="1"/>
          </p:cNvSpPr>
          <p:nvPr>
            <p:ph type="sldNum" sz="quarter" idx="12"/>
          </p:nvPr>
        </p:nvSpPr>
        <p:spPr/>
        <p:txBody>
          <a:bodyPr/>
          <a:lstStyle/>
          <a:p>
            <a:fld id="{084E6F96-DBA9-4966-8C10-B0B4DAA302D2}" type="slidenum">
              <a:rPr lang="el-GR" smtClean="0"/>
              <a:pPr/>
              <a:t>39</a:t>
            </a:fld>
            <a:endParaRPr lang="el-G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a:extLst>
              <a:ext uri="{FF2B5EF4-FFF2-40B4-BE49-F238E27FC236}">
                <a16:creationId xmlns="" xmlns:a16="http://schemas.microsoft.com/office/drawing/2014/main" id="{E4847052-CDC6-898B-7A6A-1A082F8F0194}"/>
              </a:ext>
            </a:extLst>
          </p:cNvPr>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a:extLst>
              <a:ext uri="{FF2B5EF4-FFF2-40B4-BE49-F238E27FC236}">
                <a16:creationId xmlns="" xmlns:a16="http://schemas.microsoft.com/office/drawing/2014/main" id="{F088A852-8E0A-7F06-7915-0FC0C340BC66}"/>
              </a:ext>
            </a:extLst>
          </p:cNvPr>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a:extLst>
              <a:ext uri="{FF2B5EF4-FFF2-40B4-BE49-F238E27FC236}">
                <a16:creationId xmlns="" xmlns:a16="http://schemas.microsoft.com/office/drawing/2014/main" id="{DB924CD8-5977-CC96-0EA5-F17D0D814256}"/>
              </a:ext>
            </a:extLst>
          </p:cNvPr>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a:extLst>
              <a:ext uri="{FF2B5EF4-FFF2-40B4-BE49-F238E27FC236}">
                <a16:creationId xmlns="" xmlns:a16="http://schemas.microsoft.com/office/drawing/2014/main" id="{E956A2DB-A7A4-A93E-B0B9-6D0683158299}"/>
              </a:ext>
            </a:extLst>
          </p:cNvPr>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a:extLst>
              <a:ext uri="{FF2B5EF4-FFF2-40B4-BE49-F238E27FC236}">
                <a16:creationId xmlns="" xmlns:a16="http://schemas.microsoft.com/office/drawing/2014/main" id="{D01CF9ED-DFDD-B32A-08D5-275760006139}"/>
              </a:ext>
            </a:extLst>
          </p:cNvPr>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a:extLst>
              <a:ext uri="{FF2B5EF4-FFF2-40B4-BE49-F238E27FC236}">
                <a16:creationId xmlns="" xmlns:a16="http://schemas.microsoft.com/office/drawing/2014/main" id="{D89CE6FA-C800-6313-8E72-024A8F99E5FE}"/>
              </a:ext>
            </a:extLst>
          </p:cNvPr>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4DB85ECB-2F86-D9B2-5E54-713B53AE806F}"/>
              </a:ext>
            </a:extLst>
          </p:cNvPr>
          <p:cNvSpPr txBox="1">
            <a:spLocks/>
          </p:cNvSpPr>
          <p:nvPr/>
        </p:nvSpPr>
        <p:spPr>
          <a:xfrm>
            <a:off x="1043608" y="620688"/>
            <a:ext cx="7363152"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err="1"/>
              <a:t>AthDGC</a:t>
            </a:r>
            <a:r>
              <a:rPr lang="en-US" sz="4400" b="0" dirty="0"/>
              <a:t> Valency Lexicon</a:t>
            </a:r>
            <a:endParaRPr lang="el-GR" b="0" dirty="0"/>
          </a:p>
        </p:txBody>
      </p:sp>
      <p:sp>
        <p:nvSpPr>
          <p:cNvPr id="3" name="TextBox 2">
            <a:extLst>
              <a:ext uri="{FF2B5EF4-FFF2-40B4-BE49-F238E27FC236}">
                <a16:creationId xmlns="" xmlns:a16="http://schemas.microsoft.com/office/drawing/2014/main" id="{BC1A7DF6-2866-02C8-B2AD-D42F3EF07961}"/>
              </a:ext>
            </a:extLst>
          </p:cNvPr>
          <p:cNvSpPr txBox="1"/>
          <p:nvPr/>
        </p:nvSpPr>
        <p:spPr>
          <a:xfrm>
            <a:off x="419339" y="1480530"/>
            <a:ext cx="8424936" cy="923330"/>
          </a:xfrm>
          <a:prstGeom prst="rect">
            <a:avLst/>
          </a:prstGeom>
          <a:noFill/>
        </p:spPr>
        <p:txBody>
          <a:bodyPr wrap="square">
            <a:spAutoFit/>
          </a:bodyPr>
          <a:lstStyle/>
          <a:p>
            <a:r>
              <a:rPr lang="el-GR" sz="3600" dirty="0"/>
              <a:t>‘</a:t>
            </a:r>
            <a:r>
              <a:rPr lang="en-US" sz="3600" dirty="0" err="1"/>
              <a:t>writen</a:t>
            </a:r>
            <a:r>
              <a:rPr lang="el-GR" sz="3600" dirty="0"/>
              <a:t>’</a:t>
            </a:r>
            <a:endParaRPr lang="en-US" dirty="0"/>
          </a:p>
          <a:p>
            <a:r>
              <a:rPr lang="en-US" dirty="0"/>
              <a:t>Middle English, Frequency in the corpus: </a:t>
            </a:r>
            <a:r>
              <a:rPr lang="en-US" dirty="0">
                <a:solidFill>
                  <a:schemeClr val="bg1">
                    <a:lumMod val="50000"/>
                  </a:schemeClr>
                </a:solidFill>
              </a:rPr>
              <a:t>103</a:t>
            </a:r>
          </a:p>
        </p:txBody>
      </p:sp>
      <p:graphicFrame>
        <p:nvGraphicFramePr>
          <p:cNvPr id="10" name="Πίνακας 9">
            <a:extLst>
              <a:ext uri="{FF2B5EF4-FFF2-40B4-BE49-F238E27FC236}">
                <a16:creationId xmlns="" xmlns:a16="http://schemas.microsoft.com/office/drawing/2014/main" id="{BFED7591-C92D-ABC7-4F8A-7F18BF36241C}"/>
              </a:ext>
            </a:extLst>
          </p:cNvPr>
          <p:cNvGraphicFramePr>
            <a:graphicFrameLocks noGrp="1"/>
          </p:cNvGraphicFramePr>
          <p:nvPr>
            <p:extLst>
              <p:ext uri="{D42A27DB-BD31-4B8C-83A1-F6EECF244321}">
                <p14:modId xmlns="" xmlns:p14="http://schemas.microsoft.com/office/powerpoint/2010/main" val="80722380"/>
              </p:ext>
            </p:extLst>
          </p:nvPr>
        </p:nvGraphicFramePr>
        <p:xfrm>
          <a:off x="448550" y="2453186"/>
          <a:ext cx="8424936" cy="1161942"/>
        </p:xfrm>
        <a:graphic>
          <a:graphicData uri="http://schemas.openxmlformats.org/drawingml/2006/table">
            <a:tbl>
              <a:tblPr firstRow="1" bandRow="1">
                <a:tableStyleId>{5940675A-B579-460E-94D1-54222C63F5DA}</a:tableStyleId>
              </a:tblPr>
              <a:tblGrid>
                <a:gridCol w="3691402">
                  <a:extLst>
                    <a:ext uri="{9D8B030D-6E8A-4147-A177-3AD203B41FA5}">
                      <a16:colId xmlns="" xmlns:a16="http://schemas.microsoft.com/office/drawing/2014/main" val="4043654411"/>
                    </a:ext>
                  </a:extLst>
                </a:gridCol>
                <a:gridCol w="1925222">
                  <a:extLst>
                    <a:ext uri="{9D8B030D-6E8A-4147-A177-3AD203B41FA5}">
                      <a16:colId xmlns="" xmlns:a16="http://schemas.microsoft.com/office/drawing/2014/main" val="3991075884"/>
                    </a:ext>
                  </a:extLst>
                </a:gridCol>
                <a:gridCol w="2808312">
                  <a:extLst>
                    <a:ext uri="{9D8B030D-6E8A-4147-A177-3AD203B41FA5}">
                      <a16:colId xmlns="" xmlns:a16="http://schemas.microsoft.com/office/drawing/2014/main" val="296243753"/>
                    </a:ext>
                  </a:extLst>
                </a:gridCol>
              </a:tblGrid>
              <a:tr h="387314">
                <a:tc>
                  <a:txBody>
                    <a:bodyPr/>
                    <a:lstStyle/>
                    <a:p>
                      <a:r>
                        <a:rPr lang="en-US" b="1" dirty="0"/>
                        <a:t>Arguments</a:t>
                      </a:r>
                      <a:endParaRPr lang="el-GR" dirty="0"/>
                    </a:p>
                  </a:txBody>
                  <a:tcPr/>
                </a:tc>
                <a:tc>
                  <a:txBody>
                    <a:bodyPr/>
                    <a:lstStyle/>
                    <a:p>
                      <a:pPr algn="r"/>
                      <a:r>
                        <a:rPr lang="en-US" b="1" dirty="0"/>
                        <a:t>Voice</a:t>
                      </a:r>
                      <a:endParaRPr lang="el-GR" b="1" dirty="0"/>
                    </a:p>
                  </a:txBody>
                  <a:tcPr/>
                </a:tc>
                <a:tc>
                  <a:txBody>
                    <a:bodyPr/>
                    <a:lstStyle/>
                    <a:p>
                      <a:pPr algn="r"/>
                      <a:r>
                        <a:rPr lang="en-US" b="1" dirty="0"/>
                        <a:t>Frequency</a:t>
                      </a:r>
                      <a:endParaRPr lang="el-GR" b="1" dirty="0"/>
                    </a:p>
                  </a:txBody>
                  <a:tcPr/>
                </a:tc>
                <a:extLst>
                  <a:ext uri="{0D108BD9-81ED-4DB2-BD59-A6C34878D82A}">
                    <a16:rowId xmlns="" xmlns:a16="http://schemas.microsoft.com/office/drawing/2014/main" val="1961844204"/>
                  </a:ext>
                </a:extLst>
              </a:tr>
              <a:tr h="3873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SUB(nom).V.OBJ(acc)</a:t>
                      </a:r>
                      <a:endParaRPr lang="el-GR" dirty="0"/>
                    </a:p>
                  </a:txBody>
                  <a:tcPr/>
                </a:tc>
                <a:tc>
                  <a:txBody>
                    <a:bodyPr/>
                    <a:lstStyle/>
                    <a:p>
                      <a:pPr algn="r"/>
                      <a:r>
                        <a:rPr lang="en-US" dirty="0"/>
                        <a:t>active</a:t>
                      </a:r>
                      <a:endParaRPr lang="el-GR" dirty="0"/>
                    </a:p>
                  </a:txBody>
                  <a:tcPr/>
                </a:tc>
                <a:tc>
                  <a:txBody>
                    <a:bodyPr/>
                    <a:lstStyle/>
                    <a:p>
                      <a:pPr algn="r"/>
                      <a:r>
                        <a:rPr lang="en-US" dirty="0">
                          <a:solidFill>
                            <a:schemeClr val="bg1">
                              <a:lumMod val="50000"/>
                            </a:schemeClr>
                          </a:solidFill>
                        </a:rPr>
                        <a:t>54</a:t>
                      </a:r>
                      <a:endParaRPr lang="el-GR" dirty="0">
                        <a:solidFill>
                          <a:schemeClr val="bg1">
                            <a:lumMod val="50000"/>
                          </a:schemeClr>
                        </a:solidFill>
                      </a:endParaRPr>
                    </a:p>
                  </a:txBody>
                  <a:tcPr/>
                </a:tc>
                <a:extLst>
                  <a:ext uri="{0D108BD9-81ED-4DB2-BD59-A6C34878D82A}">
                    <a16:rowId xmlns="" xmlns:a16="http://schemas.microsoft.com/office/drawing/2014/main" val="842739667"/>
                  </a:ext>
                </a:extLst>
              </a:tr>
              <a:tr h="3873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SUB(nom). V</a:t>
                      </a:r>
                      <a:endParaRPr lang="el-GR" dirty="0"/>
                    </a:p>
                  </a:txBody>
                  <a:tcPr/>
                </a:tc>
                <a:tc>
                  <a:txBody>
                    <a:bodyPr/>
                    <a:lstStyle/>
                    <a:p>
                      <a:pPr algn="r"/>
                      <a:r>
                        <a:rPr lang="en-US" dirty="0"/>
                        <a:t>non-active</a:t>
                      </a:r>
                      <a:endParaRPr lang="el-GR" dirty="0"/>
                    </a:p>
                  </a:txBody>
                  <a:tcPr/>
                </a:tc>
                <a:tc>
                  <a:txBody>
                    <a:bodyPr/>
                    <a:lstStyle/>
                    <a:p>
                      <a:pPr algn="r"/>
                      <a:r>
                        <a:rPr lang="en-US" dirty="0">
                          <a:solidFill>
                            <a:schemeClr val="bg1">
                              <a:lumMod val="50000"/>
                            </a:schemeClr>
                          </a:solidFill>
                        </a:rPr>
                        <a:t>10</a:t>
                      </a:r>
                      <a:endParaRPr lang="el-GR" dirty="0">
                        <a:solidFill>
                          <a:schemeClr val="bg1">
                            <a:lumMod val="50000"/>
                          </a:schemeClr>
                        </a:solidFill>
                      </a:endParaRPr>
                    </a:p>
                  </a:txBody>
                  <a:tcPr/>
                </a:tc>
                <a:extLst>
                  <a:ext uri="{0D108BD9-81ED-4DB2-BD59-A6C34878D82A}">
                    <a16:rowId xmlns="" xmlns:a16="http://schemas.microsoft.com/office/drawing/2014/main" val="2085344665"/>
                  </a:ext>
                </a:extLst>
              </a:tr>
            </a:tbl>
          </a:graphicData>
        </a:graphic>
      </p:graphicFrame>
      <p:sp>
        <p:nvSpPr>
          <p:cNvPr id="12" name="TextBox 11">
            <a:extLst>
              <a:ext uri="{FF2B5EF4-FFF2-40B4-BE49-F238E27FC236}">
                <a16:creationId xmlns="" xmlns:a16="http://schemas.microsoft.com/office/drawing/2014/main" id="{3DF1EEC7-3283-2705-C573-3042132FCC05}"/>
              </a:ext>
            </a:extLst>
          </p:cNvPr>
          <p:cNvSpPr txBox="1"/>
          <p:nvPr/>
        </p:nvSpPr>
        <p:spPr>
          <a:xfrm>
            <a:off x="626909" y="3928988"/>
            <a:ext cx="8068217" cy="2308324"/>
          </a:xfrm>
          <a:prstGeom prst="rect">
            <a:avLst/>
          </a:prstGeom>
          <a:noFill/>
        </p:spPr>
        <p:txBody>
          <a:bodyPr wrap="square">
            <a:spAutoFit/>
          </a:bodyPr>
          <a:lstStyle/>
          <a:p>
            <a:pPr marL="285750" indent="-285750">
              <a:buFont typeface="Arial" panose="020B0604020202020204" pitchFamily="34" charset="0"/>
              <a:buChar char="•"/>
            </a:pPr>
            <a:r>
              <a:rPr lang="en-US" sz="1600" u="sng" dirty="0"/>
              <a:t>Reum Beel </a:t>
            </a:r>
            <a:r>
              <a:rPr lang="en-US" sz="1600" u="sng" dirty="0" err="1"/>
              <a:t>Theem</a:t>
            </a:r>
            <a:r>
              <a:rPr lang="en-US" sz="1600" u="sng" dirty="0"/>
              <a:t> and </a:t>
            </a:r>
            <a:r>
              <a:rPr lang="en-US" sz="1600" u="sng" dirty="0" err="1"/>
              <a:t>Samsai</a:t>
            </a:r>
            <a:r>
              <a:rPr lang="en-US" sz="1600" u="sng" dirty="0"/>
              <a:t> </a:t>
            </a:r>
            <a:r>
              <a:rPr lang="en-US" sz="1600" dirty="0"/>
              <a:t>the </a:t>
            </a:r>
            <a:r>
              <a:rPr lang="en-US" sz="1600" dirty="0" err="1"/>
              <a:t>scryuen</a:t>
            </a:r>
            <a:r>
              <a:rPr lang="en-US" sz="1600" dirty="0"/>
              <a:t> </a:t>
            </a:r>
            <a:r>
              <a:rPr lang="en-US" sz="1600" dirty="0" err="1">
                <a:solidFill>
                  <a:srgbClr val="FF0000"/>
                </a:solidFill>
              </a:rPr>
              <a:t>writen</a:t>
            </a:r>
            <a:r>
              <a:rPr lang="en-US" sz="1600" dirty="0"/>
              <a:t> </a:t>
            </a:r>
            <a:r>
              <a:rPr lang="en-US" sz="1600" dirty="0" err="1"/>
              <a:t>sich</a:t>
            </a:r>
            <a:r>
              <a:rPr lang="en-US" sz="1600" dirty="0"/>
              <a:t> </a:t>
            </a:r>
            <a:r>
              <a:rPr lang="en-US" sz="1600" dirty="0" err="1"/>
              <a:t>oon</a:t>
            </a:r>
            <a:r>
              <a:rPr lang="en-US" sz="1600" dirty="0"/>
              <a:t> </a:t>
            </a:r>
            <a:r>
              <a:rPr lang="en-US" sz="1600" u="sng" dirty="0"/>
              <a:t>epistle</a:t>
            </a:r>
            <a:r>
              <a:rPr lang="en-US" sz="1600" dirty="0"/>
              <a:t> </a:t>
            </a:r>
            <a:r>
              <a:rPr lang="en-US" sz="1600" dirty="0" err="1"/>
              <a:t>fro</a:t>
            </a:r>
            <a:r>
              <a:rPr lang="en-US" sz="1600" dirty="0"/>
              <a:t> Jerusalem to the </a:t>
            </a:r>
            <a:r>
              <a:rPr lang="en-US" sz="1600" dirty="0" err="1"/>
              <a:t>kyng</a:t>
            </a:r>
            <a:r>
              <a:rPr lang="en-US" sz="1600" dirty="0"/>
              <a:t> </a:t>
            </a:r>
            <a:r>
              <a:rPr lang="en-US" sz="1600" dirty="0" err="1"/>
              <a:t>Artaxerses</a:t>
            </a:r>
            <a:r>
              <a:rPr lang="en-US" sz="1600" dirty="0"/>
              <a:t>;</a:t>
            </a:r>
          </a:p>
          <a:p>
            <a:r>
              <a:rPr lang="en-US" sz="1600" dirty="0"/>
              <a:t>    (“Reum </a:t>
            </a:r>
            <a:r>
              <a:rPr lang="en-US" sz="1600" dirty="0" err="1"/>
              <a:t>Beelteem</a:t>
            </a:r>
            <a:r>
              <a:rPr lang="en-US" sz="1600" dirty="0"/>
              <a:t> and </a:t>
            </a:r>
            <a:r>
              <a:rPr lang="en-US" sz="1600" dirty="0" err="1"/>
              <a:t>Samsai</a:t>
            </a:r>
            <a:r>
              <a:rPr lang="en-US" sz="1600" dirty="0"/>
              <a:t> the scribe wrote a letter from Jerusalem to king</a:t>
            </a:r>
          </a:p>
          <a:p>
            <a:r>
              <a:rPr lang="en-US" sz="1600" dirty="0"/>
              <a:t>    Artaxerxes in this manner”)</a:t>
            </a:r>
          </a:p>
          <a:p>
            <a:pPr marL="285750" indent="-285750">
              <a:buFont typeface="Arial" panose="020B0604020202020204" pitchFamily="34" charset="0"/>
              <a:buChar char="•"/>
            </a:pPr>
            <a:r>
              <a:rPr lang="en-US" sz="1600" dirty="0" err="1"/>
              <a:t>Forsothe</a:t>
            </a:r>
            <a:r>
              <a:rPr lang="en-US" sz="1600" dirty="0"/>
              <a:t> of his </a:t>
            </a:r>
            <a:r>
              <a:rPr lang="en-US" sz="1600" dirty="0" err="1"/>
              <a:t>vnclennesse</a:t>
            </a:r>
            <a:r>
              <a:rPr lang="en-US" sz="1600" dirty="0"/>
              <a:t> and his </a:t>
            </a:r>
            <a:r>
              <a:rPr lang="en-US" sz="1600" dirty="0" err="1"/>
              <a:t>vnreligioustee</a:t>
            </a:r>
            <a:r>
              <a:rPr lang="en-US" sz="1600" dirty="0"/>
              <a:t> </a:t>
            </a:r>
            <a:r>
              <a:rPr lang="en-US" sz="1600" u="sng" dirty="0"/>
              <a:t>it</a:t>
            </a:r>
            <a:r>
              <a:rPr lang="en-US" sz="1600" dirty="0"/>
              <a:t> is </a:t>
            </a:r>
            <a:r>
              <a:rPr lang="en-US" sz="1600" dirty="0" err="1">
                <a:solidFill>
                  <a:srgbClr val="FF0000"/>
                </a:solidFill>
              </a:rPr>
              <a:t>writen</a:t>
            </a:r>
            <a:r>
              <a:rPr lang="en-US" sz="1600" dirty="0"/>
              <a:t> in the book of the </a:t>
            </a:r>
            <a:r>
              <a:rPr lang="en-US" sz="1600" dirty="0" err="1"/>
              <a:t>tymes</a:t>
            </a:r>
            <a:r>
              <a:rPr lang="en-US" sz="1600" dirty="0"/>
              <a:t> of </a:t>
            </a:r>
            <a:r>
              <a:rPr lang="en-US" sz="1600" dirty="0" err="1"/>
              <a:t>kyngis</a:t>
            </a:r>
            <a:r>
              <a:rPr lang="en-US" sz="1600" dirty="0"/>
              <a:t>.</a:t>
            </a:r>
          </a:p>
          <a:p>
            <a:r>
              <a:rPr lang="en-US" sz="1600" dirty="0"/>
              <a:t>    (Indeed, of his uncleanness and his </a:t>
            </a:r>
            <a:r>
              <a:rPr lang="en-US" sz="1600" dirty="0" err="1"/>
              <a:t>unreligiousness</a:t>
            </a:r>
            <a:r>
              <a:rPr lang="en-US" sz="1600" dirty="0"/>
              <a:t> it is written in the book </a:t>
            </a:r>
          </a:p>
          <a:p>
            <a:r>
              <a:rPr lang="en-US" sz="1600" dirty="0"/>
              <a:t>    of the history of kings.</a:t>
            </a:r>
          </a:p>
          <a:p>
            <a:pPr marL="285750" indent="-285750">
              <a:buFont typeface="Arial" panose="020B0604020202020204" pitchFamily="34" charset="0"/>
              <a:buChar char="•"/>
            </a:pPr>
            <a:endParaRPr lang="en-US" sz="1600" dirty="0"/>
          </a:p>
        </p:txBody>
      </p:sp>
      <p:sp>
        <p:nvSpPr>
          <p:cNvPr id="11" name="Slide Number Placeholder 10">
            <a:extLst>
              <a:ext uri="{FF2B5EF4-FFF2-40B4-BE49-F238E27FC236}">
                <a16:creationId xmlns="" xmlns:a16="http://schemas.microsoft.com/office/drawing/2014/main" id="{F4A6D309-8EB9-ED58-9055-19DC106D2E32}"/>
              </a:ext>
            </a:extLst>
          </p:cNvPr>
          <p:cNvSpPr>
            <a:spLocks noGrp="1"/>
          </p:cNvSpPr>
          <p:nvPr>
            <p:ph type="sldNum" sz="quarter" idx="12"/>
          </p:nvPr>
        </p:nvSpPr>
        <p:spPr/>
        <p:txBody>
          <a:bodyPr/>
          <a:lstStyle/>
          <a:p>
            <a:fld id="{084E6F96-DBA9-4966-8C10-B0B4DAA302D2}" type="slidenum">
              <a:rPr lang="el-GR" smtClean="0"/>
              <a:pPr/>
              <a:t>40</a:t>
            </a:fld>
            <a:endParaRPr lang="el-G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a:extLst>
              <a:ext uri="{FF2B5EF4-FFF2-40B4-BE49-F238E27FC236}">
                <a16:creationId xmlns="" xmlns:a16="http://schemas.microsoft.com/office/drawing/2014/main" id="{938D233C-C45D-CEFD-1A1B-3FBB0FCC0D9A}"/>
              </a:ext>
            </a:extLst>
          </p:cNvPr>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a:extLst>
              <a:ext uri="{FF2B5EF4-FFF2-40B4-BE49-F238E27FC236}">
                <a16:creationId xmlns="" xmlns:a16="http://schemas.microsoft.com/office/drawing/2014/main" id="{15FBCD10-B8C2-D87F-3CF6-49241A72405E}"/>
              </a:ext>
            </a:extLst>
          </p:cNvPr>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a:extLst>
              <a:ext uri="{FF2B5EF4-FFF2-40B4-BE49-F238E27FC236}">
                <a16:creationId xmlns="" xmlns:a16="http://schemas.microsoft.com/office/drawing/2014/main" id="{234AF2FF-9E9D-087A-E1C7-D180656BAC70}"/>
              </a:ext>
            </a:extLst>
          </p:cNvPr>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a:extLst>
              <a:ext uri="{FF2B5EF4-FFF2-40B4-BE49-F238E27FC236}">
                <a16:creationId xmlns="" xmlns:a16="http://schemas.microsoft.com/office/drawing/2014/main" id="{5E7547D3-9C13-0CD7-2222-CE36AB1C96E0}"/>
              </a:ext>
            </a:extLst>
          </p:cNvPr>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a:extLst>
              <a:ext uri="{FF2B5EF4-FFF2-40B4-BE49-F238E27FC236}">
                <a16:creationId xmlns="" xmlns:a16="http://schemas.microsoft.com/office/drawing/2014/main" id="{50B30E8E-9B00-9CC6-2451-33CDF0C32D21}"/>
              </a:ext>
            </a:extLst>
          </p:cNvPr>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a:extLst>
              <a:ext uri="{FF2B5EF4-FFF2-40B4-BE49-F238E27FC236}">
                <a16:creationId xmlns="" xmlns:a16="http://schemas.microsoft.com/office/drawing/2014/main" id="{13DA7A68-2779-9A31-C579-65455FAE6AA6}"/>
              </a:ext>
            </a:extLst>
          </p:cNvPr>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1F94A3FC-B4E7-D5D4-8338-C3EEAD408C7F}"/>
              </a:ext>
            </a:extLst>
          </p:cNvPr>
          <p:cNvSpPr txBox="1">
            <a:spLocks/>
          </p:cNvSpPr>
          <p:nvPr/>
        </p:nvSpPr>
        <p:spPr>
          <a:xfrm>
            <a:off x="1043608" y="620688"/>
            <a:ext cx="7363152"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err="1"/>
              <a:t>AthDGC</a:t>
            </a:r>
            <a:r>
              <a:rPr lang="en-US" sz="4400" b="0" dirty="0"/>
              <a:t> Valency Lexicon</a:t>
            </a:r>
            <a:endParaRPr lang="el-GR" b="0" dirty="0"/>
          </a:p>
        </p:txBody>
      </p:sp>
      <p:sp>
        <p:nvSpPr>
          <p:cNvPr id="3" name="TextBox 2">
            <a:extLst>
              <a:ext uri="{FF2B5EF4-FFF2-40B4-BE49-F238E27FC236}">
                <a16:creationId xmlns="" xmlns:a16="http://schemas.microsoft.com/office/drawing/2014/main" id="{A9B2C2DD-5224-95DD-019A-EECA43E786D2}"/>
              </a:ext>
            </a:extLst>
          </p:cNvPr>
          <p:cNvSpPr txBox="1"/>
          <p:nvPr/>
        </p:nvSpPr>
        <p:spPr>
          <a:xfrm>
            <a:off x="419339" y="1480530"/>
            <a:ext cx="8424936" cy="923330"/>
          </a:xfrm>
          <a:prstGeom prst="rect">
            <a:avLst/>
          </a:prstGeom>
          <a:noFill/>
        </p:spPr>
        <p:txBody>
          <a:bodyPr wrap="square">
            <a:spAutoFit/>
          </a:bodyPr>
          <a:lstStyle/>
          <a:p>
            <a:r>
              <a:rPr lang="el-GR" sz="3600" dirty="0"/>
              <a:t>‘</a:t>
            </a:r>
            <a:r>
              <a:rPr lang="en-US" sz="3600" dirty="0" err="1"/>
              <a:t>writan</a:t>
            </a:r>
            <a:r>
              <a:rPr lang="el-GR" sz="3600" dirty="0"/>
              <a:t>’</a:t>
            </a:r>
            <a:endParaRPr lang="en-US" dirty="0"/>
          </a:p>
          <a:p>
            <a:r>
              <a:rPr lang="en-US" dirty="0"/>
              <a:t>Old English, Frequency in the corpus: 10</a:t>
            </a:r>
          </a:p>
        </p:txBody>
      </p:sp>
      <p:graphicFrame>
        <p:nvGraphicFramePr>
          <p:cNvPr id="10" name="Πίνακας 9">
            <a:extLst>
              <a:ext uri="{FF2B5EF4-FFF2-40B4-BE49-F238E27FC236}">
                <a16:creationId xmlns="" xmlns:a16="http://schemas.microsoft.com/office/drawing/2014/main" id="{A0824ACB-6F7C-FE1C-5E2D-026BEE7EC3D4}"/>
              </a:ext>
            </a:extLst>
          </p:cNvPr>
          <p:cNvGraphicFramePr>
            <a:graphicFrameLocks noGrp="1"/>
          </p:cNvGraphicFramePr>
          <p:nvPr>
            <p:extLst>
              <p:ext uri="{D42A27DB-BD31-4B8C-83A1-F6EECF244321}">
                <p14:modId xmlns="" xmlns:p14="http://schemas.microsoft.com/office/powerpoint/2010/main" val="3961437597"/>
              </p:ext>
            </p:extLst>
          </p:nvPr>
        </p:nvGraphicFramePr>
        <p:xfrm>
          <a:off x="448550" y="2453186"/>
          <a:ext cx="8424936" cy="1549256"/>
        </p:xfrm>
        <a:graphic>
          <a:graphicData uri="http://schemas.openxmlformats.org/drawingml/2006/table">
            <a:tbl>
              <a:tblPr firstRow="1" bandRow="1">
                <a:tableStyleId>{5940675A-B579-460E-94D1-54222C63F5DA}</a:tableStyleId>
              </a:tblPr>
              <a:tblGrid>
                <a:gridCol w="3691402">
                  <a:extLst>
                    <a:ext uri="{9D8B030D-6E8A-4147-A177-3AD203B41FA5}">
                      <a16:colId xmlns="" xmlns:a16="http://schemas.microsoft.com/office/drawing/2014/main" val="4043654411"/>
                    </a:ext>
                  </a:extLst>
                </a:gridCol>
                <a:gridCol w="1925222">
                  <a:extLst>
                    <a:ext uri="{9D8B030D-6E8A-4147-A177-3AD203B41FA5}">
                      <a16:colId xmlns="" xmlns:a16="http://schemas.microsoft.com/office/drawing/2014/main" val="3991075884"/>
                    </a:ext>
                  </a:extLst>
                </a:gridCol>
                <a:gridCol w="2808312">
                  <a:extLst>
                    <a:ext uri="{9D8B030D-6E8A-4147-A177-3AD203B41FA5}">
                      <a16:colId xmlns="" xmlns:a16="http://schemas.microsoft.com/office/drawing/2014/main" val="296243753"/>
                    </a:ext>
                  </a:extLst>
                </a:gridCol>
              </a:tblGrid>
              <a:tr h="387314">
                <a:tc>
                  <a:txBody>
                    <a:bodyPr/>
                    <a:lstStyle/>
                    <a:p>
                      <a:r>
                        <a:rPr lang="en-US" b="1" dirty="0"/>
                        <a:t>Arguments</a:t>
                      </a:r>
                      <a:endParaRPr lang="el-GR" dirty="0"/>
                    </a:p>
                  </a:txBody>
                  <a:tcPr/>
                </a:tc>
                <a:tc>
                  <a:txBody>
                    <a:bodyPr/>
                    <a:lstStyle/>
                    <a:p>
                      <a:pPr algn="r"/>
                      <a:r>
                        <a:rPr lang="en-US" b="1" dirty="0"/>
                        <a:t>Voice</a:t>
                      </a:r>
                      <a:endParaRPr lang="el-GR" b="1" dirty="0"/>
                    </a:p>
                  </a:txBody>
                  <a:tcPr/>
                </a:tc>
                <a:tc>
                  <a:txBody>
                    <a:bodyPr/>
                    <a:lstStyle/>
                    <a:p>
                      <a:pPr algn="r"/>
                      <a:r>
                        <a:rPr lang="en-US" b="1" dirty="0"/>
                        <a:t>Frequency</a:t>
                      </a:r>
                      <a:endParaRPr lang="el-GR" b="1" dirty="0"/>
                    </a:p>
                  </a:txBody>
                  <a:tcPr/>
                </a:tc>
                <a:extLst>
                  <a:ext uri="{0D108BD9-81ED-4DB2-BD59-A6C34878D82A}">
                    <a16:rowId xmlns="" xmlns:a16="http://schemas.microsoft.com/office/drawing/2014/main" val="1961844204"/>
                  </a:ext>
                </a:extLst>
              </a:tr>
              <a:tr h="3873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SUB(nom).V.OBJ(acc)</a:t>
                      </a:r>
                      <a:endParaRPr lang="el-GR" dirty="0"/>
                    </a:p>
                  </a:txBody>
                  <a:tcPr/>
                </a:tc>
                <a:tc>
                  <a:txBody>
                    <a:bodyPr/>
                    <a:lstStyle/>
                    <a:p>
                      <a:pPr algn="r"/>
                      <a:r>
                        <a:rPr lang="en-US" dirty="0"/>
                        <a:t>active</a:t>
                      </a:r>
                      <a:endParaRPr lang="el-GR" dirty="0"/>
                    </a:p>
                  </a:txBody>
                  <a:tcPr/>
                </a:tc>
                <a:tc>
                  <a:txBody>
                    <a:bodyPr/>
                    <a:lstStyle/>
                    <a:p>
                      <a:pPr algn="r"/>
                      <a:r>
                        <a:rPr lang="en-US" dirty="0"/>
                        <a:t>1</a:t>
                      </a:r>
                      <a:endParaRPr lang="el-GR" dirty="0"/>
                    </a:p>
                  </a:txBody>
                  <a:tcPr/>
                </a:tc>
                <a:extLst>
                  <a:ext uri="{0D108BD9-81ED-4DB2-BD59-A6C34878D82A}">
                    <a16:rowId xmlns="" xmlns:a16="http://schemas.microsoft.com/office/drawing/2014/main" val="842739667"/>
                  </a:ext>
                </a:extLst>
              </a:tr>
              <a:tr h="3873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SUB(nom).OBL(DAT).V.OBJ(acc)</a:t>
                      </a:r>
                      <a:endParaRPr lang="el-GR" dirty="0"/>
                    </a:p>
                  </a:txBody>
                  <a:tcPr/>
                </a:tc>
                <a:tc>
                  <a:txBody>
                    <a:bodyPr/>
                    <a:lstStyle/>
                    <a:p>
                      <a:pPr algn="r"/>
                      <a:r>
                        <a:rPr lang="en-US" dirty="0"/>
                        <a:t>active</a:t>
                      </a:r>
                      <a:endParaRPr lang="el-GR" dirty="0"/>
                    </a:p>
                  </a:txBody>
                  <a:tcPr/>
                </a:tc>
                <a:tc>
                  <a:txBody>
                    <a:bodyPr/>
                    <a:lstStyle/>
                    <a:p>
                      <a:pPr algn="r"/>
                      <a:r>
                        <a:rPr lang="en-US" dirty="0"/>
                        <a:t>1</a:t>
                      </a:r>
                      <a:endParaRPr lang="el-GR" dirty="0"/>
                    </a:p>
                  </a:txBody>
                  <a:tcPr/>
                </a:tc>
                <a:extLst>
                  <a:ext uri="{0D108BD9-81ED-4DB2-BD59-A6C34878D82A}">
                    <a16:rowId xmlns="" xmlns:a16="http://schemas.microsoft.com/office/drawing/2014/main" val="2085344665"/>
                  </a:ext>
                </a:extLst>
              </a:tr>
              <a:tr h="387314">
                <a:tc>
                  <a:txBody>
                    <a:bodyPr/>
                    <a:lstStyle/>
                    <a:p>
                      <a:r>
                        <a:rPr lang="en-US" dirty="0"/>
                        <a:t>SUB(nom).OBL(DAT).V.COMP</a:t>
                      </a:r>
                      <a:endParaRPr lang="el-GR" dirty="0"/>
                    </a:p>
                  </a:txBody>
                  <a:tcPr/>
                </a:tc>
                <a:tc>
                  <a:txBody>
                    <a:bodyPr/>
                    <a:lstStyle/>
                    <a:p>
                      <a:pPr algn="r"/>
                      <a:r>
                        <a:rPr lang="en-US" dirty="0"/>
                        <a:t>active</a:t>
                      </a:r>
                      <a:endParaRPr lang="el-GR" dirty="0"/>
                    </a:p>
                  </a:txBody>
                  <a:tcPr/>
                </a:tc>
                <a:tc>
                  <a:txBody>
                    <a:bodyPr/>
                    <a:lstStyle/>
                    <a:p>
                      <a:pPr algn="r"/>
                      <a:r>
                        <a:rPr lang="en-US" dirty="0"/>
                        <a:t>1</a:t>
                      </a:r>
                      <a:endParaRPr lang="el-GR" dirty="0"/>
                    </a:p>
                  </a:txBody>
                  <a:tcPr/>
                </a:tc>
                <a:extLst>
                  <a:ext uri="{0D108BD9-81ED-4DB2-BD59-A6C34878D82A}">
                    <a16:rowId xmlns="" xmlns:a16="http://schemas.microsoft.com/office/drawing/2014/main" val="2988238778"/>
                  </a:ext>
                </a:extLst>
              </a:tr>
            </a:tbl>
          </a:graphicData>
        </a:graphic>
      </p:graphicFrame>
      <p:sp>
        <p:nvSpPr>
          <p:cNvPr id="11" name="TextBox 10">
            <a:extLst>
              <a:ext uri="{FF2B5EF4-FFF2-40B4-BE49-F238E27FC236}">
                <a16:creationId xmlns="" xmlns:a16="http://schemas.microsoft.com/office/drawing/2014/main" id="{E9434D6F-E985-E6DE-EB7D-31B2E22D2C4F}"/>
              </a:ext>
            </a:extLst>
          </p:cNvPr>
          <p:cNvSpPr txBox="1"/>
          <p:nvPr/>
        </p:nvSpPr>
        <p:spPr>
          <a:xfrm>
            <a:off x="251520" y="4438096"/>
            <a:ext cx="8068217" cy="1569660"/>
          </a:xfrm>
          <a:prstGeom prst="rect">
            <a:avLst/>
          </a:prstGeom>
          <a:noFill/>
        </p:spPr>
        <p:txBody>
          <a:bodyPr wrap="square">
            <a:spAutoFit/>
          </a:bodyPr>
          <a:lstStyle/>
          <a:p>
            <a:pPr marL="285750" indent="-285750">
              <a:buFont typeface="Arial" panose="020B0604020202020204" pitchFamily="34" charset="0"/>
              <a:buChar char="•"/>
            </a:pPr>
            <a:r>
              <a:rPr lang="en-US" sz="1600" dirty="0"/>
              <a:t>Moyses </a:t>
            </a:r>
            <a:r>
              <a:rPr lang="en-US" sz="1600" dirty="0" err="1"/>
              <a:t>lyfde</a:t>
            </a:r>
            <a:r>
              <a:rPr lang="en-US" sz="1600" dirty="0"/>
              <a:t> </a:t>
            </a:r>
            <a:r>
              <a:rPr lang="en-US" sz="1600" dirty="0" err="1"/>
              <a:t>þæt</a:t>
            </a:r>
            <a:r>
              <a:rPr lang="en-US" sz="1600" dirty="0"/>
              <a:t> </a:t>
            </a:r>
            <a:r>
              <a:rPr lang="en-US" sz="1600" u="sng" dirty="0"/>
              <a:t>man</a:t>
            </a:r>
            <a:r>
              <a:rPr lang="en-US" sz="1600" dirty="0"/>
              <a:t> </a:t>
            </a:r>
            <a:r>
              <a:rPr lang="en-US" sz="1600" dirty="0">
                <a:solidFill>
                  <a:srgbClr val="FF0000"/>
                </a:solidFill>
              </a:rPr>
              <a:t>write</a:t>
            </a:r>
            <a:r>
              <a:rPr lang="en-US" sz="1600" dirty="0"/>
              <a:t> </a:t>
            </a:r>
            <a:r>
              <a:rPr lang="en-US" sz="1600" dirty="0" err="1"/>
              <a:t>hiwgedales</a:t>
            </a:r>
            <a:r>
              <a:rPr lang="en-US" sz="1600" dirty="0"/>
              <a:t> </a:t>
            </a:r>
            <a:r>
              <a:rPr lang="en-US" sz="1600" u="sng" dirty="0" err="1"/>
              <a:t>boc</a:t>
            </a:r>
            <a:r>
              <a:rPr lang="en-US" sz="1600" dirty="0"/>
              <a:t> &amp; hi </a:t>
            </a:r>
            <a:r>
              <a:rPr lang="en-US" sz="1600" dirty="0" err="1"/>
              <a:t>forlete</a:t>
            </a:r>
            <a:r>
              <a:rPr lang="en-US" sz="1600" dirty="0"/>
              <a:t>.</a:t>
            </a:r>
          </a:p>
          <a:p>
            <a:r>
              <a:rPr lang="en-US" sz="1600" dirty="0"/>
              <a:t>    (Moses allowed the man to write a bill of divorce and abandon her.)</a:t>
            </a:r>
          </a:p>
          <a:p>
            <a:pPr marL="285750" indent="-285750">
              <a:buFont typeface="Arial" panose="020B0604020202020204" pitchFamily="34" charset="0"/>
              <a:buChar char="•"/>
            </a:pPr>
            <a:r>
              <a:rPr lang="en-US" sz="1600" dirty="0"/>
              <a:t>for </a:t>
            </a:r>
            <a:r>
              <a:rPr lang="en-US" sz="1600" dirty="0" err="1"/>
              <a:t>eower</a:t>
            </a:r>
            <a:r>
              <a:rPr lang="en-US" sz="1600" dirty="0"/>
              <a:t> </a:t>
            </a:r>
            <a:r>
              <a:rPr lang="en-US" sz="1600" dirty="0" err="1"/>
              <a:t>heortan</a:t>
            </a:r>
            <a:r>
              <a:rPr lang="en-US" sz="1600" dirty="0"/>
              <a:t> </a:t>
            </a:r>
            <a:r>
              <a:rPr lang="en-US" sz="1600" dirty="0" err="1"/>
              <a:t>heardnesse</a:t>
            </a:r>
            <a:r>
              <a:rPr lang="en-US" sz="1600" dirty="0"/>
              <a:t> </a:t>
            </a:r>
            <a:r>
              <a:rPr lang="en-US" sz="1600" u="sng" dirty="0"/>
              <a:t>he</a:t>
            </a:r>
            <a:r>
              <a:rPr lang="en-US" sz="1600" dirty="0"/>
              <a:t> </a:t>
            </a:r>
            <a:r>
              <a:rPr lang="en-US" sz="1600" u="sng" dirty="0" err="1"/>
              <a:t>eow</a:t>
            </a:r>
            <a:r>
              <a:rPr lang="en-US" sz="1600" dirty="0"/>
              <a:t> </a:t>
            </a:r>
            <a:r>
              <a:rPr lang="en-US" sz="1600" dirty="0" err="1">
                <a:solidFill>
                  <a:srgbClr val="FF0000"/>
                </a:solidFill>
              </a:rPr>
              <a:t>wrat</a:t>
            </a:r>
            <a:r>
              <a:rPr lang="en-US" sz="1600" dirty="0"/>
              <a:t> </a:t>
            </a:r>
            <a:r>
              <a:rPr lang="en-US" sz="1600" dirty="0" err="1"/>
              <a:t>þis</a:t>
            </a:r>
            <a:r>
              <a:rPr lang="en-US" sz="1600" dirty="0"/>
              <a:t> </a:t>
            </a:r>
            <a:r>
              <a:rPr lang="en-US" sz="1600" u="sng" dirty="0" err="1"/>
              <a:t>bebod</a:t>
            </a:r>
            <a:r>
              <a:rPr lang="en-US" sz="1600" dirty="0"/>
              <a:t>.</a:t>
            </a:r>
          </a:p>
          <a:p>
            <a:r>
              <a:rPr lang="en-US" sz="1600" dirty="0"/>
              <a:t>    (for your heart’s hardness he wrote you this command)</a:t>
            </a:r>
          </a:p>
          <a:p>
            <a:pPr marL="285750" indent="-285750">
              <a:buFont typeface="Arial" panose="020B0604020202020204" pitchFamily="34" charset="0"/>
              <a:buChar char="•"/>
            </a:pPr>
            <a:r>
              <a:rPr lang="en-US" sz="1600" dirty="0" err="1"/>
              <a:t>Lareow</a:t>
            </a:r>
            <a:r>
              <a:rPr lang="en-US" sz="1600" dirty="0"/>
              <a:t>, </a:t>
            </a:r>
            <a:r>
              <a:rPr lang="en-US" sz="1600" u="sng" dirty="0"/>
              <a:t>Moyses</a:t>
            </a:r>
            <a:r>
              <a:rPr lang="en-US" sz="1600" dirty="0"/>
              <a:t> </a:t>
            </a:r>
            <a:r>
              <a:rPr lang="en-US" sz="1600" u="sng" dirty="0"/>
              <a:t>us</a:t>
            </a:r>
            <a:r>
              <a:rPr lang="en-US" sz="1600" dirty="0"/>
              <a:t> </a:t>
            </a:r>
            <a:r>
              <a:rPr lang="en-US" sz="1600" dirty="0" err="1">
                <a:solidFill>
                  <a:srgbClr val="FF0000"/>
                </a:solidFill>
              </a:rPr>
              <a:t>wrat</a:t>
            </a:r>
            <a:r>
              <a:rPr lang="en-US" sz="1600" dirty="0"/>
              <a:t>, </a:t>
            </a:r>
            <a:r>
              <a:rPr lang="en-US" sz="1600" u="sng" dirty="0"/>
              <a:t>gif </a:t>
            </a:r>
            <a:r>
              <a:rPr lang="en-US" sz="1600" u="sng" dirty="0" err="1"/>
              <a:t>hwæs</a:t>
            </a:r>
            <a:r>
              <a:rPr lang="en-US" sz="1600" u="sng" dirty="0"/>
              <a:t> </a:t>
            </a:r>
            <a:r>
              <a:rPr lang="en-US" sz="1600" u="sng" dirty="0" err="1"/>
              <a:t>broðor</a:t>
            </a:r>
            <a:r>
              <a:rPr lang="en-US" sz="1600" u="sng" dirty="0"/>
              <a:t> dead </a:t>
            </a:r>
            <a:r>
              <a:rPr lang="en-US" sz="1600" u="sng" dirty="0" err="1"/>
              <a:t>bið</a:t>
            </a:r>
            <a:r>
              <a:rPr lang="en-US" sz="1600" u="sng" dirty="0"/>
              <a:t> </a:t>
            </a:r>
            <a:r>
              <a:rPr lang="en-US" sz="1600" dirty="0"/>
              <a:t>…</a:t>
            </a:r>
          </a:p>
          <a:p>
            <a:r>
              <a:rPr lang="en-US" sz="1600" dirty="0"/>
              <a:t>    (Teacher, Moses, wrote us if someone’s brother is dead…)</a:t>
            </a:r>
          </a:p>
        </p:txBody>
      </p:sp>
      <p:sp>
        <p:nvSpPr>
          <p:cNvPr id="12" name="Slide Number Placeholder 11">
            <a:extLst>
              <a:ext uri="{FF2B5EF4-FFF2-40B4-BE49-F238E27FC236}">
                <a16:creationId xmlns="" xmlns:a16="http://schemas.microsoft.com/office/drawing/2014/main" id="{E38FDB56-BB53-16A0-7E65-8F5A2CC95156}"/>
              </a:ext>
            </a:extLst>
          </p:cNvPr>
          <p:cNvSpPr>
            <a:spLocks noGrp="1"/>
          </p:cNvSpPr>
          <p:nvPr>
            <p:ph type="sldNum" sz="quarter" idx="12"/>
          </p:nvPr>
        </p:nvSpPr>
        <p:spPr/>
        <p:txBody>
          <a:bodyPr/>
          <a:lstStyle/>
          <a:p>
            <a:fld id="{084E6F96-DBA9-4966-8C10-B0B4DAA302D2}" type="slidenum">
              <a:rPr lang="el-GR" smtClean="0"/>
              <a:pPr/>
              <a:t>41</a:t>
            </a:fld>
            <a:endParaRPr lang="el-G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a:extLst>
              <a:ext uri="{FF2B5EF4-FFF2-40B4-BE49-F238E27FC236}">
                <a16:creationId xmlns="" xmlns:a16="http://schemas.microsoft.com/office/drawing/2014/main" id="{2149FCB5-0022-351F-3F5A-DBB48210119B}"/>
              </a:ext>
            </a:extLst>
          </p:cNvPr>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a:extLst>
              <a:ext uri="{FF2B5EF4-FFF2-40B4-BE49-F238E27FC236}">
                <a16:creationId xmlns="" xmlns:a16="http://schemas.microsoft.com/office/drawing/2014/main" id="{C12F49D5-1EB4-2C98-47CE-7EA7F16942F3}"/>
              </a:ext>
            </a:extLst>
          </p:cNvPr>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a:extLst>
              <a:ext uri="{FF2B5EF4-FFF2-40B4-BE49-F238E27FC236}">
                <a16:creationId xmlns="" xmlns:a16="http://schemas.microsoft.com/office/drawing/2014/main" id="{F216A2F5-2B93-C691-47EE-27B62B67F38A}"/>
              </a:ext>
            </a:extLst>
          </p:cNvPr>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a:extLst>
              <a:ext uri="{FF2B5EF4-FFF2-40B4-BE49-F238E27FC236}">
                <a16:creationId xmlns="" xmlns:a16="http://schemas.microsoft.com/office/drawing/2014/main" id="{AAD12818-095B-ADBE-70B1-82027C0DAE5D}"/>
              </a:ext>
            </a:extLst>
          </p:cNvPr>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a:extLst>
              <a:ext uri="{FF2B5EF4-FFF2-40B4-BE49-F238E27FC236}">
                <a16:creationId xmlns="" xmlns:a16="http://schemas.microsoft.com/office/drawing/2014/main" id="{BE00D432-31F4-1149-58B0-B58C275E73B0}"/>
              </a:ext>
            </a:extLst>
          </p:cNvPr>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a:extLst>
              <a:ext uri="{FF2B5EF4-FFF2-40B4-BE49-F238E27FC236}">
                <a16:creationId xmlns="" xmlns:a16="http://schemas.microsoft.com/office/drawing/2014/main" id="{12A32351-A98F-1E43-2056-9B14C8EDF7B7}"/>
              </a:ext>
            </a:extLst>
          </p:cNvPr>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Τίτλος"/>
          <p:cNvSpPr>
            <a:spLocks noGrp="1"/>
          </p:cNvSpPr>
          <p:nvPr>
            <p:ph type="ctrTitle"/>
          </p:nvPr>
        </p:nvSpPr>
        <p:spPr>
          <a:xfrm>
            <a:off x="685800" y="2132856"/>
            <a:ext cx="7772400" cy="1872208"/>
          </a:xfrm>
        </p:spPr>
        <p:txBody>
          <a:bodyPr>
            <a:normAutofit/>
          </a:bodyPr>
          <a:lstStyle/>
          <a:p>
            <a:pPr algn="ctr"/>
            <a:r>
              <a:rPr lang="en-US" dirty="0"/>
              <a:t>Challenges encountered</a:t>
            </a:r>
            <a:r>
              <a:rPr lang="el-GR" dirty="0"/>
              <a:t/>
            </a:r>
            <a:br>
              <a:rPr lang="el-GR" dirty="0"/>
            </a:br>
            <a:endParaRPr lang="el-GR" dirty="0"/>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a:extLst>
              <a:ext uri="{FF2B5EF4-FFF2-40B4-BE49-F238E27FC236}">
                <a16:creationId xmlns="" xmlns:a16="http://schemas.microsoft.com/office/drawing/2014/main" id="{3CF15D30-D33B-082C-DB4C-7698DB5FD27D}"/>
              </a:ext>
            </a:extLst>
          </p:cNvPr>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a:extLst>
              <a:ext uri="{FF2B5EF4-FFF2-40B4-BE49-F238E27FC236}">
                <a16:creationId xmlns="" xmlns:a16="http://schemas.microsoft.com/office/drawing/2014/main" id="{1C8C5F05-DF7E-0A6F-A083-E8BD3FFC25BD}"/>
              </a:ext>
            </a:extLst>
          </p:cNvPr>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a:extLst>
              <a:ext uri="{FF2B5EF4-FFF2-40B4-BE49-F238E27FC236}">
                <a16:creationId xmlns="" xmlns:a16="http://schemas.microsoft.com/office/drawing/2014/main" id="{8F06C08A-134B-960F-E8D5-94633C959FD2}"/>
              </a:ext>
            </a:extLst>
          </p:cNvPr>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a:extLst>
              <a:ext uri="{FF2B5EF4-FFF2-40B4-BE49-F238E27FC236}">
                <a16:creationId xmlns="" xmlns:a16="http://schemas.microsoft.com/office/drawing/2014/main" id="{DF0BDE4C-0590-33E5-BB19-15E2E1914AF7}"/>
              </a:ext>
            </a:extLst>
          </p:cNvPr>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a:extLst>
              <a:ext uri="{FF2B5EF4-FFF2-40B4-BE49-F238E27FC236}">
                <a16:creationId xmlns="" xmlns:a16="http://schemas.microsoft.com/office/drawing/2014/main" id="{B9CBF89E-7C77-895F-6A19-B09020E74FEA}"/>
              </a:ext>
            </a:extLst>
          </p:cNvPr>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a:extLst>
              <a:ext uri="{FF2B5EF4-FFF2-40B4-BE49-F238E27FC236}">
                <a16:creationId xmlns="" xmlns:a16="http://schemas.microsoft.com/office/drawing/2014/main" id="{BA8A430D-5BCA-2316-3088-F266597F9FDB}"/>
              </a:ext>
            </a:extLst>
          </p:cNvPr>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37A13DD3-046D-3D69-4C62-1927CC8CF2DB}"/>
              </a:ext>
            </a:extLst>
          </p:cNvPr>
          <p:cNvSpPr txBox="1">
            <a:spLocks/>
          </p:cNvSpPr>
          <p:nvPr/>
        </p:nvSpPr>
        <p:spPr>
          <a:xfrm>
            <a:off x="805268" y="620688"/>
            <a:ext cx="7601491"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a:t>Text processing</a:t>
            </a:r>
            <a:endParaRPr lang="el-GR" sz="4400" b="0" dirty="0"/>
          </a:p>
        </p:txBody>
      </p:sp>
      <p:sp>
        <p:nvSpPr>
          <p:cNvPr id="3" name="Θέση περιεχομένου 2">
            <a:extLst>
              <a:ext uri="{FF2B5EF4-FFF2-40B4-BE49-F238E27FC236}">
                <a16:creationId xmlns="" xmlns:a16="http://schemas.microsoft.com/office/drawing/2014/main" id="{11065D63-949E-44DB-F1EA-88C4ED49D1D5}"/>
              </a:ext>
            </a:extLst>
          </p:cNvPr>
          <p:cNvSpPr txBox="1">
            <a:spLocks/>
          </p:cNvSpPr>
          <p:nvPr/>
        </p:nvSpPr>
        <p:spPr>
          <a:xfrm>
            <a:off x="805268" y="1684574"/>
            <a:ext cx="7601491" cy="520290"/>
          </a:xfrm>
          <a:prstGeom prst="rect">
            <a:avLst/>
          </a:prstGeom>
        </p:spPr>
        <p:txBody>
          <a:bodyPr>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457200" indent="-457200"/>
            <a:r>
              <a:rPr lang="en-US" sz="2400" dirty="0"/>
              <a:t>Texts for the corpus (copyright-free):</a:t>
            </a:r>
          </a:p>
          <a:p>
            <a:pPr marL="713232" lvl="1" indent="-457200"/>
            <a:endParaRPr lang="en-US" sz="2000" dirty="0"/>
          </a:p>
          <a:p>
            <a:pPr marL="457200" indent="-457200"/>
            <a:endParaRPr lang="en-US" sz="2400" dirty="0"/>
          </a:p>
        </p:txBody>
      </p:sp>
      <p:graphicFrame>
        <p:nvGraphicFramePr>
          <p:cNvPr id="10" name="Πίνακας 9">
            <a:extLst>
              <a:ext uri="{FF2B5EF4-FFF2-40B4-BE49-F238E27FC236}">
                <a16:creationId xmlns="" xmlns:a16="http://schemas.microsoft.com/office/drawing/2014/main" id="{881316AB-6E65-221F-E1C7-784606263F69}"/>
              </a:ext>
            </a:extLst>
          </p:cNvPr>
          <p:cNvGraphicFramePr>
            <a:graphicFrameLocks noGrp="1"/>
          </p:cNvGraphicFramePr>
          <p:nvPr>
            <p:extLst>
              <p:ext uri="{D42A27DB-BD31-4B8C-83A1-F6EECF244321}">
                <p14:modId xmlns="" xmlns:p14="http://schemas.microsoft.com/office/powerpoint/2010/main" val="3921974275"/>
              </p:ext>
            </p:extLst>
          </p:nvPr>
        </p:nvGraphicFramePr>
        <p:xfrm>
          <a:off x="503548" y="2328662"/>
          <a:ext cx="8136904" cy="3388360"/>
        </p:xfrm>
        <a:graphic>
          <a:graphicData uri="http://schemas.openxmlformats.org/drawingml/2006/table">
            <a:tbl>
              <a:tblPr firstRow="1" bandRow="1">
                <a:tableStyleId>{5940675A-B579-460E-94D1-54222C63F5DA}</a:tableStyleId>
              </a:tblPr>
              <a:tblGrid>
                <a:gridCol w="4248472">
                  <a:extLst>
                    <a:ext uri="{9D8B030D-6E8A-4147-A177-3AD203B41FA5}">
                      <a16:colId xmlns="" xmlns:a16="http://schemas.microsoft.com/office/drawing/2014/main" val="1887387218"/>
                    </a:ext>
                  </a:extLst>
                </a:gridCol>
                <a:gridCol w="3888432">
                  <a:extLst>
                    <a:ext uri="{9D8B030D-6E8A-4147-A177-3AD203B41FA5}">
                      <a16:colId xmlns="" xmlns:a16="http://schemas.microsoft.com/office/drawing/2014/main" val="600700373"/>
                    </a:ext>
                  </a:extLst>
                </a:gridCol>
              </a:tblGrid>
              <a:tr h="370840">
                <a:tc>
                  <a:txBody>
                    <a:bodyPr/>
                    <a:lstStyle/>
                    <a:p>
                      <a:r>
                        <a:rPr lang="en-US" dirty="0"/>
                        <a:t>Texts from other treebanks (in .xml format)</a:t>
                      </a:r>
                    </a:p>
                  </a:txBody>
                  <a:tcPr/>
                </a:tc>
                <a:tc>
                  <a:txBody>
                    <a:bodyPr/>
                    <a:lstStyle/>
                    <a:p>
                      <a:r>
                        <a:rPr lang="en-US" b="1" dirty="0"/>
                        <a:t>Minor corrections (e.g. missing tags, </a:t>
                      </a:r>
                      <a:r>
                        <a:rPr kumimoji="0" lang="en-US" sz="1800" b="1" i="0" u="none" strike="noStrike" kern="1200" dirty="0">
                          <a:solidFill>
                            <a:schemeClr val="tx1"/>
                          </a:solidFill>
                          <a:effectLst/>
                          <a:latin typeface="+mn-lt"/>
                          <a:ea typeface="+mn-ea"/>
                          <a:cs typeface="+mn-cs"/>
                        </a:rPr>
                        <a:t>unwanted characters</a:t>
                      </a:r>
                      <a:r>
                        <a:rPr lang="en-US" b="1" dirty="0"/>
                        <a:t>)</a:t>
                      </a:r>
                      <a:endParaRPr lang="el-GR" b="1" dirty="0"/>
                    </a:p>
                  </a:txBody>
                  <a:tcPr/>
                </a:tc>
                <a:extLst>
                  <a:ext uri="{0D108BD9-81ED-4DB2-BD59-A6C34878D82A}">
                    <a16:rowId xmlns="" xmlns:a16="http://schemas.microsoft.com/office/drawing/2014/main" val="3400481277"/>
                  </a:ext>
                </a:extLst>
              </a:tr>
              <a:tr h="370840">
                <a:tc>
                  <a:txBody>
                    <a:bodyPr/>
                    <a:lstStyle/>
                    <a:p>
                      <a:r>
                        <a:rPr lang="en-US" dirty="0"/>
                        <a:t>Texts from online collections, such as Project Gutenberg or Bible Gateway (in .txt or .html format)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Minor corrections (e.g. missing tags, </a:t>
                      </a:r>
                      <a:r>
                        <a:rPr kumimoji="0" lang="en-US" sz="1800" b="1" i="0" u="none" strike="noStrike" kern="1200" dirty="0">
                          <a:solidFill>
                            <a:schemeClr val="tx1"/>
                          </a:solidFill>
                          <a:effectLst/>
                          <a:latin typeface="+mn-lt"/>
                          <a:ea typeface="+mn-ea"/>
                          <a:cs typeface="+mn-cs"/>
                        </a:rPr>
                        <a:t>unwanted characters, text normalization</a:t>
                      </a:r>
                      <a:r>
                        <a:rPr lang="en-US" b="1" dirty="0"/>
                        <a:t>)</a:t>
                      </a:r>
                      <a:endParaRPr lang="el-GR" b="1" dirty="0"/>
                    </a:p>
                  </a:txBody>
                  <a:tcPr/>
                </a:tc>
                <a:extLst>
                  <a:ext uri="{0D108BD9-81ED-4DB2-BD59-A6C34878D82A}">
                    <a16:rowId xmlns="" xmlns:a16="http://schemas.microsoft.com/office/drawing/2014/main" val="7761470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Scanned books or manuscripts from digital libraries and archives, such as the Internet Archive, Bodleian Library (in .pdf format containing images of the pages)</a:t>
                      </a:r>
                    </a:p>
                  </a:txBody>
                  <a:tcPr/>
                </a:tc>
                <a:tc>
                  <a:txBody>
                    <a:bodyPr/>
                    <a:lstStyle/>
                    <a:p>
                      <a:r>
                        <a:rPr kumimoji="0" lang="en-US" sz="1800" b="1" i="0" u="none" strike="noStrike" kern="1200" dirty="0">
                          <a:solidFill>
                            <a:schemeClr val="tx1"/>
                          </a:solidFill>
                          <a:effectLst/>
                          <a:latin typeface="+mn-lt"/>
                          <a:ea typeface="+mn-ea"/>
                          <a:cs typeface="+mn-cs"/>
                        </a:rPr>
                        <a:t>OCR + manual correction</a:t>
                      </a:r>
                      <a:endParaRPr lang="el-GR" b="1" dirty="0"/>
                    </a:p>
                  </a:txBody>
                  <a:tcPr/>
                </a:tc>
                <a:extLst>
                  <a:ext uri="{0D108BD9-81ED-4DB2-BD59-A6C34878D82A}">
                    <a16:rowId xmlns="" xmlns:a16="http://schemas.microsoft.com/office/drawing/2014/main" val="2671497572"/>
                  </a:ext>
                </a:extLst>
              </a:tr>
              <a:tr h="370840">
                <a:tc>
                  <a:txBody>
                    <a:bodyPr/>
                    <a:lstStyle/>
                    <a:p>
                      <a:r>
                        <a:rPr lang="en-US" dirty="0"/>
                        <a:t>Printed books</a:t>
                      </a:r>
                      <a:endParaRPr lang="el-GR" dirty="0"/>
                    </a:p>
                  </a:txBody>
                  <a:tcPr/>
                </a:tc>
                <a:tc>
                  <a:txBody>
                    <a:bodyPr/>
                    <a:lstStyle/>
                    <a:p>
                      <a:r>
                        <a:rPr kumimoji="0" lang="en-US" sz="1800" b="1" i="0" u="none" strike="noStrike" kern="1200" dirty="0">
                          <a:solidFill>
                            <a:schemeClr val="tx1"/>
                          </a:solidFill>
                          <a:effectLst/>
                          <a:latin typeface="+mn-lt"/>
                          <a:ea typeface="+mn-ea"/>
                          <a:cs typeface="+mn-cs"/>
                        </a:rPr>
                        <a:t>scan + OCR + manual correction</a:t>
                      </a:r>
                      <a:endParaRPr lang="el-GR" b="1" dirty="0"/>
                    </a:p>
                  </a:txBody>
                  <a:tcPr/>
                </a:tc>
                <a:extLst>
                  <a:ext uri="{0D108BD9-81ED-4DB2-BD59-A6C34878D82A}">
                    <a16:rowId xmlns="" xmlns:a16="http://schemas.microsoft.com/office/drawing/2014/main" val="1129602688"/>
                  </a:ext>
                </a:extLst>
              </a:tr>
            </a:tbl>
          </a:graphicData>
        </a:graphic>
      </p:graphicFrame>
      <p:sp>
        <p:nvSpPr>
          <p:cNvPr id="11" name="Slide Number Placeholder 10">
            <a:extLst>
              <a:ext uri="{FF2B5EF4-FFF2-40B4-BE49-F238E27FC236}">
                <a16:creationId xmlns="" xmlns:a16="http://schemas.microsoft.com/office/drawing/2014/main" id="{65BF32B0-1B2C-1C99-C1A7-215E0F0F8374}"/>
              </a:ext>
            </a:extLst>
          </p:cNvPr>
          <p:cNvSpPr>
            <a:spLocks noGrp="1"/>
          </p:cNvSpPr>
          <p:nvPr>
            <p:ph type="sldNum" sz="quarter" idx="12"/>
          </p:nvPr>
        </p:nvSpPr>
        <p:spPr/>
        <p:txBody>
          <a:bodyPr/>
          <a:lstStyle/>
          <a:p>
            <a:fld id="{084E6F96-DBA9-4966-8C10-B0B4DAA302D2}" type="slidenum">
              <a:rPr lang="el-GR" smtClean="0"/>
              <a:pPr/>
              <a:t>43</a:t>
            </a:fld>
            <a:endParaRPr lang="el-G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a:extLst>
              <a:ext uri="{FF2B5EF4-FFF2-40B4-BE49-F238E27FC236}">
                <a16:creationId xmlns="" xmlns:a16="http://schemas.microsoft.com/office/drawing/2014/main" id="{66DF65EA-923C-56E4-DECD-FDDF1677355B}"/>
              </a:ext>
            </a:extLst>
          </p:cNvPr>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a:extLst>
              <a:ext uri="{FF2B5EF4-FFF2-40B4-BE49-F238E27FC236}">
                <a16:creationId xmlns="" xmlns:a16="http://schemas.microsoft.com/office/drawing/2014/main" id="{BE6B0CC7-4CFC-0ABD-8FEA-A275212F3052}"/>
              </a:ext>
            </a:extLst>
          </p:cNvPr>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a:extLst>
              <a:ext uri="{FF2B5EF4-FFF2-40B4-BE49-F238E27FC236}">
                <a16:creationId xmlns="" xmlns:a16="http://schemas.microsoft.com/office/drawing/2014/main" id="{F5C214A1-4DD6-CB76-EB13-BEF6B532FDD3}"/>
              </a:ext>
            </a:extLst>
          </p:cNvPr>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a:extLst>
              <a:ext uri="{FF2B5EF4-FFF2-40B4-BE49-F238E27FC236}">
                <a16:creationId xmlns="" xmlns:a16="http://schemas.microsoft.com/office/drawing/2014/main" id="{90DDAECC-45D3-5EC9-7001-FEC84877502B}"/>
              </a:ext>
            </a:extLst>
          </p:cNvPr>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a:extLst>
              <a:ext uri="{FF2B5EF4-FFF2-40B4-BE49-F238E27FC236}">
                <a16:creationId xmlns="" xmlns:a16="http://schemas.microsoft.com/office/drawing/2014/main" id="{7EE3B413-1A8A-2491-8355-D006424A7DD0}"/>
              </a:ext>
            </a:extLst>
          </p:cNvPr>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a:extLst>
              <a:ext uri="{FF2B5EF4-FFF2-40B4-BE49-F238E27FC236}">
                <a16:creationId xmlns="" xmlns:a16="http://schemas.microsoft.com/office/drawing/2014/main" id="{CD3DDD63-9D28-42AE-6668-B3FF3CC60408}"/>
              </a:ext>
            </a:extLst>
          </p:cNvPr>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221348B8-E0D5-AB78-BBCE-FCFA60455A0D}"/>
              </a:ext>
            </a:extLst>
          </p:cNvPr>
          <p:cNvSpPr txBox="1">
            <a:spLocks/>
          </p:cNvSpPr>
          <p:nvPr/>
        </p:nvSpPr>
        <p:spPr>
          <a:xfrm>
            <a:off x="805268" y="620688"/>
            <a:ext cx="7601491"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a:t>Orthographic variation</a:t>
            </a:r>
            <a:endParaRPr lang="el-GR" sz="4400" b="0" dirty="0"/>
          </a:p>
        </p:txBody>
      </p:sp>
      <p:sp>
        <p:nvSpPr>
          <p:cNvPr id="3" name="Θέση περιεχομένου 2">
            <a:extLst>
              <a:ext uri="{FF2B5EF4-FFF2-40B4-BE49-F238E27FC236}">
                <a16:creationId xmlns="" xmlns:a16="http://schemas.microsoft.com/office/drawing/2014/main" id="{DA71BC61-2F97-49C8-65D3-AD3214D15F80}"/>
              </a:ext>
            </a:extLst>
          </p:cNvPr>
          <p:cNvSpPr txBox="1">
            <a:spLocks/>
          </p:cNvSpPr>
          <p:nvPr/>
        </p:nvSpPr>
        <p:spPr>
          <a:xfrm>
            <a:off x="805268" y="1684574"/>
            <a:ext cx="7601491" cy="4192698"/>
          </a:xfrm>
          <a:prstGeom prst="rect">
            <a:avLst/>
          </a:prstGeom>
        </p:spPr>
        <p:txBody>
          <a:bodyPr>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457200" indent="-457200"/>
            <a:r>
              <a:rPr lang="en-US" sz="2400" dirty="0"/>
              <a:t>For example: Old and Middle English:</a:t>
            </a:r>
          </a:p>
          <a:p>
            <a:pPr marL="713232" lvl="1" indent="-457200"/>
            <a:r>
              <a:rPr lang="en-US" sz="1600" dirty="0"/>
              <a:t>u instead of v, </a:t>
            </a:r>
            <a:r>
              <a:rPr lang="en-US" sz="1600" dirty="0" err="1"/>
              <a:t>i</a:t>
            </a:r>
            <a:r>
              <a:rPr lang="en-US" sz="1600" dirty="0"/>
              <a:t> instead of j</a:t>
            </a:r>
          </a:p>
          <a:p>
            <a:pPr marL="713232" lvl="1" indent="-457200"/>
            <a:r>
              <a:rPr lang="en-US" sz="1600" dirty="0"/>
              <a:t>same word, different orthographies: </a:t>
            </a:r>
            <a:r>
              <a:rPr lang="en-US" sz="1600" dirty="0" err="1"/>
              <a:t>gyue</a:t>
            </a:r>
            <a:r>
              <a:rPr lang="en-US" sz="1600" dirty="0"/>
              <a:t>, </a:t>
            </a:r>
            <a:r>
              <a:rPr lang="en-US" sz="1600" dirty="0" err="1"/>
              <a:t>yyue</a:t>
            </a:r>
            <a:r>
              <a:rPr lang="en-US" sz="1600" dirty="0"/>
              <a:t>, </a:t>
            </a:r>
            <a:r>
              <a:rPr lang="en-US" sz="1600" dirty="0" err="1"/>
              <a:t>yiue</a:t>
            </a:r>
            <a:r>
              <a:rPr lang="en-US" sz="1600" dirty="0"/>
              <a:t>, </a:t>
            </a:r>
            <a:r>
              <a:rPr lang="en-US" sz="1600" dirty="0" err="1"/>
              <a:t>giue</a:t>
            </a:r>
            <a:r>
              <a:rPr lang="en-US" sz="1600" dirty="0"/>
              <a:t> = give</a:t>
            </a:r>
          </a:p>
          <a:p>
            <a:pPr marL="457200" indent="-457200"/>
            <a:endParaRPr lang="en-US" sz="2000" dirty="0"/>
          </a:p>
          <a:p>
            <a:pPr marL="342900" indent="-342900"/>
            <a:endParaRPr lang="en-US" sz="2000" dirty="0">
              <a:sym typeface="Wingdings" panose="05000000000000000000" pitchFamily="2" charset="2"/>
            </a:endParaRPr>
          </a:p>
          <a:p>
            <a:pPr marL="342900" indent="-342900"/>
            <a:endParaRPr lang="en-US" sz="2000" dirty="0">
              <a:sym typeface="Wingdings" panose="05000000000000000000" pitchFamily="2" charset="2"/>
            </a:endParaRPr>
          </a:p>
          <a:p>
            <a:pPr marL="342900" indent="-342900"/>
            <a:endParaRPr lang="en-US" sz="2000" dirty="0">
              <a:sym typeface="Wingdings" panose="05000000000000000000" pitchFamily="2" charset="2"/>
            </a:endParaRPr>
          </a:p>
          <a:p>
            <a:pPr marL="342900" indent="-342900"/>
            <a:endParaRPr lang="en-US" sz="2000" dirty="0">
              <a:highlight>
                <a:srgbClr val="FFFF00"/>
              </a:highlight>
              <a:sym typeface="Wingdings" panose="05000000000000000000" pitchFamily="2" charset="2"/>
            </a:endParaRPr>
          </a:p>
          <a:p>
            <a:pPr marL="342900" indent="-342900"/>
            <a:r>
              <a:rPr lang="en-US" sz="2000" dirty="0">
                <a:sym typeface="Wingdings" panose="05000000000000000000" pitchFamily="2" charset="2"/>
              </a:rPr>
              <a:t>Our decision: keep original orthography</a:t>
            </a:r>
          </a:p>
          <a:p>
            <a:pPr marL="0" indent="0">
              <a:buNone/>
            </a:pPr>
            <a:r>
              <a:rPr lang="en-US" sz="2000" dirty="0">
                <a:sym typeface="Wingdings" panose="05000000000000000000" pitchFamily="2" charset="2"/>
              </a:rPr>
              <a:t>    BUT create custom dictionaries for each text</a:t>
            </a:r>
            <a:endParaRPr lang="en-US" sz="2000" dirty="0"/>
          </a:p>
          <a:p>
            <a:pPr marL="457200" indent="-457200"/>
            <a:endParaRPr lang="en-US" sz="2400" dirty="0"/>
          </a:p>
        </p:txBody>
      </p:sp>
      <p:sp>
        <p:nvSpPr>
          <p:cNvPr id="11" name="Ορθογώνιο: Στρογγύλεμα γωνιών 10">
            <a:extLst>
              <a:ext uri="{FF2B5EF4-FFF2-40B4-BE49-F238E27FC236}">
                <a16:creationId xmlns="" xmlns:a16="http://schemas.microsoft.com/office/drawing/2014/main" id="{3E087A79-BD29-97C3-CC17-C505578C0168}"/>
              </a:ext>
            </a:extLst>
          </p:cNvPr>
          <p:cNvSpPr/>
          <p:nvPr/>
        </p:nvSpPr>
        <p:spPr>
          <a:xfrm>
            <a:off x="861597" y="2780928"/>
            <a:ext cx="7488832" cy="1512168"/>
          </a:xfrm>
          <a:prstGeom prst="roundRect">
            <a:avLst/>
          </a:prstGeom>
          <a:solidFill>
            <a:schemeClr val="accent2">
              <a:lumMod val="20000"/>
              <a:lumOff val="80000"/>
            </a:schemeClr>
          </a:solid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r>
              <a:rPr lang="en-US" dirty="0">
                <a:solidFill>
                  <a:schemeClr val="tx1"/>
                </a:solidFill>
              </a:rPr>
              <a:t>Challenges: automatic dictionary does not recognize different tokens of the same words </a:t>
            </a:r>
          </a:p>
          <a:p>
            <a:r>
              <a:rPr lang="en-US" dirty="0">
                <a:solidFill>
                  <a:schemeClr val="tx1"/>
                </a:solidFill>
                <a:sym typeface="Wingdings" panose="05000000000000000000" pitchFamily="2" charset="2"/>
              </a:rPr>
              <a:t>	 harder tokenization</a:t>
            </a:r>
          </a:p>
          <a:p>
            <a:r>
              <a:rPr lang="en-US" dirty="0">
                <a:solidFill>
                  <a:schemeClr val="tx1"/>
                </a:solidFill>
                <a:sym typeface="Wingdings" panose="05000000000000000000" pitchFamily="2" charset="2"/>
              </a:rPr>
              <a:t>	 harder for the automatic morphological parser</a:t>
            </a:r>
          </a:p>
        </p:txBody>
      </p:sp>
      <p:sp>
        <p:nvSpPr>
          <p:cNvPr id="10" name="Slide Number Placeholder 9">
            <a:extLst>
              <a:ext uri="{FF2B5EF4-FFF2-40B4-BE49-F238E27FC236}">
                <a16:creationId xmlns="" xmlns:a16="http://schemas.microsoft.com/office/drawing/2014/main" id="{61753B70-9B3A-05D5-BAC1-4908A80DDDD3}"/>
              </a:ext>
            </a:extLst>
          </p:cNvPr>
          <p:cNvSpPr>
            <a:spLocks noGrp="1"/>
          </p:cNvSpPr>
          <p:nvPr>
            <p:ph type="sldNum" sz="quarter" idx="12"/>
          </p:nvPr>
        </p:nvSpPr>
        <p:spPr/>
        <p:txBody>
          <a:bodyPr/>
          <a:lstStyle/>
          <a:p>
            <a:fld id="{084E6F96-DBA9-4966-8C10-B0B4DAA302D2}" type="slidenum">
              <a:rPr lang="el-GR" smtClean="0"/>
              <a:pPr/>
              <a:t>44</a:t>
            </a:fld>
            <a:endParaRPr lang="el-G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a:extLst>
              <a:ext uri="{FF2B5EF4-FFF2-40B4-BE49-F238E27FC236}">
                <a16:creationId xmlns="" xmlns:a16="http://schemas.microsoft.com/office/drawing/2014/main" id="{8753854F-C0E5-406E-EEF4-46F3E1915B74}"/>
              </a:ext>
            </a:extLst>
          </p:cNvPr>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a:extLst>
              <a:ext uri="{FF2B5EF4-FFF2-40B4-BE49-F238E27FC236}">
                <a16:creationId xmlns="" xmlns:a16="http://schemas.microsoft.com/office/drawing/2014/main" id="{75043807-0F27-3D44-D171-89439684BA80}"/>
              </a:ext>
            </a:extLst>
          </p:cNvPr>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a:extLst>
              <a:ext uri="{FF2B5EF4-FFF2-40B4-BE49-F238E27FC236}">
                <a16:creationId xmlns="" xmlns:a16="http://schemas.microsoft.com/office/drawing/2014/main" id="{B0C118FA-979A-99F2-E6CE-21C7884783AA}"/>
              </a:ext>
            </a:extLst>
          </p:cNvPr>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a:extLst>
              <a:ext uri="{FF2B5EF4-FFF2-40B4-BE49-F238E27FC236}">
                <a16:creationId xmlns="" xmlns:a16="http://schemas.microsoft.com/office/drawing/2014/main" id="{A56EBEB1-A176-2320-8F88-6A5460752036}"/>
              </a:ext>
            </a:extLst>
          </p:cNvPr>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a:extLst>
              <a:ext uri="{FF2B5EF4-FFF2-40B4-BE49-F238E27FC236}">
                <a16:creationId xmlns="" xmlns:a16="http://schemas.microsoft.com/office/drawing/2014/main" id="{E3C88852-2406-B68F-2D0C-2F6383DE5AEF}"/>
              </a:ext>
            </a:extLst>
          </p:cNvPr>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a:extLst>
              <a:ext uri="{FF2B5EF4-FFF2-40B4-BE49-F238E27FC236}">
                <a16:creationId xmlns="" xmlns:a16="http://schemas.microsoft.com/office/drawing/2014/main" id="{05E131D5-C32C-F2AB-B425-8C8B1A5B147F}"/>
              </a:ext>
            </a:extLst>
          </p:cNvPr>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63647858-76D2-AA73-978C-6266C1BCE0F9}"/>
              </a:ext>
            </a:extLst>
          </p:cNvPr>
          <p:cNvSpPr txBox="1">
            <a:spLocks/>
          </p:cNvSpPr>
          <p:nvPr/>
        </p:nvSpPr>
        <p:spPr>
          <a:xfrm>
            <a:off x="479869" y="635320"/>
            <a:ext cx="8317432" cy="1728192"/>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a:t>Automatic </a:t>
            </a:r>
            <a:r>
              <a:rPr lang="en-US" sz="4400" b="0" dirty="0" err="1"/>
              <a:t>valency</a:t>
            </a:r>
            <a:r>
              <a:rPr lang="en-US" sz="4400" b="0" dirty="0"/>
              <a:t> extraction: Subjects</a:t>
            </a:r>
            <a:endParaRPr lang="el-GR" sz="4400" b="0" dirty="0"/>
          </a:p>
        </p:txBody>
      </p:sp>
      <p:sp>
        <p:nvSpPr>
          <p:cNvPr id="3" name="Θέση περιεχομένου 2">
            <a:extLst>
              <a:ext uri="{FF2B5EF4-FFF2-40B4-BE49-F238E27FC236}">
                <a16:creationId xmlns="" xmlns:a16="http://schemas.microsoft.com/office/drawing/2014/main" id="{E027A835-2F75-87D6-C002-E0D130E90622}"/>
              </a:ext>
            </a:extLst>
          </p:cNvPr>
          <p:cNvSpPr txBox="1">
            <a:spLocks/>
          </p:cNvSpPr>
          <p:nvPr/>
        </p:nvSpPr>
        <p:spPr>
          <a:xfrm>
            <a:off x="822036" y="2780928"/>
            <a:ext cx="7601491" cy="3456384"/>
          </a:xfrm>
          <a:prstGeom prst="rect">
            <a:avLst/>
          </a:prstGeom>
        </p:spPr>
        <p:txBody>
          <a:bodyPr>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457200" indent="-457200"/>
            <a:r>
              <a:rPr lang="en-US" sz="2400" dirty="0"/>
              <a:t>Subjects = problematic</a:t>
            </a:r>
          </a:p>
          <a:p>
            <a:pPr marL="713232" lvl="1" indent="-457200"/>
            <a:r>
              <a:rPr lang="en-US" sz="2000" dirty="0"/>
              <a:t>null subjects in pro-drop languages (e.g. Greek)</a:t>
            </a:r>
          </a:p>
          <a:p>
            <a:pPr marL="713232" lvl="1" indent="-457200"/>
            <a:r>
              <a:rPr lang="en-US" sz="2000" dirty="0"/>
              <a:t>null subject verbs vs </a:t>
            </a:r>
            <a:r>
              <a:rPr lang="en-US" sz="2000" dirty="0" err="1"/>
              <a:t>avalent</a:t>
            </a:r>
            <a:r>
              <a:rPr lang="en-US" sz="2000" dirty="0"/>
              <a:t> verbs (impersonal verbs, weather verbs) </a:t>
            </a:r>
            <a:r>
              <a:rPr lang="en-US" sz="2000" dirty="0">
                <a:sym typeface="Wingdings" panose="05000000000000000000" pitchFamily="2" charset="2"/>
              </a:rPr>
              <a:t></a:t>
            </a:r>
            <a:r>
              <a:rPr lang="en-US" sz="2000" dirty="0"/>
              <a:t> hard to distinguish automatically</a:t>
            </a:r>
          </a:p>
          <a:p>
            <a:pPr marL="713232" lvl="1" indent="-457200"/>
            <a:r>
              <a:rPr lang="en-US" sz="2000" dirty="0"/>
              <a:t>null objects too? </a:t>
            </a:r>
            <a:r>
              <a:rPr lang="en-US" sz="2000" dirty="0">
                <a:sym typeface="Wingdings" panose="05000000000000000000" pitchFamily="2" charset="2"/>
              </a:rPr>
              <a:t> harder to locate</a:t>
            </a:r>
          </a:p>
          <a:p>
            <a:pPr marL="256032" lvl="1" indent="0">
              <a:buNone/>
            </a:pPr>
            <a:endParaRPr lang="en-US" sz="2000" dirty="0"/>
          </a:p>
          <a:p>
            <a:pPr marL="713232" lvl="1" indent="-457200"/>
            <a:endParaRPr lang="en-US" sz="2000" dirty="0"/>
          </a:p>
          <a:p>
            <a:pPr marL="713232" lvl="1" indent="-457200"/>
            <a:endParaRPr lang="en-US" sz="2000" dirty="0"/>
          </a:p>
        </p:txBody>
      </p:sp>
      <p:sp>
        <p:nvSpPr>
          <p:cNvPr id="10" name="Slide Number Placeholder 9">
            <a:extLst>
              <a:ext uri="{FF2B5EF4-FFF2-40B4-BE49-F238E27FC236}">
                <a16:creationId xmlns="" xmlns:a16="http://schemas.microsoft.com/office/drawing/2014/main" id="{A5429DE9-9F12-F7E1-A175-8DEBD12E997D}"/>
              </a:ext>
            </a:extLst>
          </p:cNvPr>
          <p:cNvSpPr>
            <a:spLocks noGrp="1"/>
          </p:cNvSpPr>
          <p:nvPr>
            <p:ph type="sldNum" sz="quarter" idx="12"/>
          </p:nvPr>
        </p:nvSpPr>
        <p:spPr/>
        <p:txBody>
          <a:bodyPr/>
          <a:lstStyle/>
          <a:p>
            <a:fld id="{084E6F96-DBA9-4966-8C10-B0B4DAA302D2}" type="slidenum">
              <a:rPr lang="el-GR" smtClean="0"/>
              <a:pPr/>
              <a:t>45</a:t>
            </a:fld>
            <a:endParaRPr lang="el-G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a:extLst>
              <a:ext uri="{FF2B5EF4-FFF2-40B4-BE49-F238E27FC236}">
                <a16:creationId xmlns="" xmlns:a16="http://schemas.microsoft.com/office/drawing/2014/main" id="{D459AEB0-FB9E-EA7E-976F-4432DDDA1EA1}"/>
              </a:ext>
            </a:extLst>
          </p:cNvPr>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a:extLst>
              <a:ext uri="{FF2B5EF4-FFF2-40B4-BE49-F238E27FC236}">
                <a16:creationId xmlns="" xmlns:a16="http://schemas.microsoft.com/office/drawing/2014/main" id="{AB7B8D1C-C0E9-5C88-5777-34E53F1F2745}"/>
              </a:ext>
            </a:extLst>
          </p:cNvPr>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a:extLst>
              <a:ext uri="{FF2B5EF4-FFF2-40B4-BE49-F238E27FC236}">
                <a16:creationId xmlns="" xmlns:a16="http://schemas.microsoft.com/office/drawing/2014/main" id="{9A3B5260-3E63-FCC0-BD0F-597AB2BCFAE7}"/>
              </a:ext>
            </a:extLst>
          </p:cNvPr>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a:extLst>
              <a:ext uri="{FF2B5EF4-FFF2-40B4-BE49-F238E27FC236}">
                <a16:creationId xmlns="" xmlns:a16="http://schemas.microsoft.com/office/drawing/2014/main" id="{974A0930-3ECC-0872-4AAE-3A8AFC2E8691}"/>
              </a:ext>
            </a:extLst>
          </p:cNvPr>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a:extLst>
              <a:ext uri="{FF2B5EF4-FFF2-40B4-BE49-F238E27FC236}">
                <a16:creationId xmlns="" xmlns:a16="http://schemas.microsoft.com/office/drawing/2014/main" id="{D795890C-C68C-15C6-6414-64D7EBB5C841}"/>
              </a:ext>
            </a:extLst>
          </p:cNvPr>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a:extLst>
              <a:ext uri="{FF2B5EF4-FFF2-40B4-BE49-F238E27FC236}">
                <a16:creationId xmlns="" xmlns:a16="http://schemas.microsoft.com/office/drawing/2014/main" id="{90BFF13D-66EF-E4F8-ACFD-EB6D3F328612}"/>
              </a:ext>
            </a:extLst>
          </p:cNvPr>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64C6AB27-7AF2-9879-382D-C227E1175E65}"/>
              </a:ext>
            </a:extLst>
          </p:cNvPr>
          <p:cNvSpPr txBox="1">
            <a:spLocks/>
          </p:cNvSpPr>
          <p:nvPr/>
        </p:nvSpPr>
        <p:spPr>
          <a:xfrm>
            <a:off x="419338" y="620688"/>
            <a:ext cx="8545149"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a:t>Automatic valency extraction: Subjects</a:t>
            </a:r>
            <a:endParaRPr lang="el-GR" sz="4400" b="0" dirty="0"/>
          </a:p>
        </p:txBody>
      </p:sp>
      <p:sp>
        <p:nvSpPr>
          <p:cNvPr id="10" name="Ορθογώνιο: Στρογγύλεμα γωνιών 9">
            <a:extLst>
              <a:ext uri="{FF2B5EF4-FFF2-40B4-BE49-F238E27FC236}">
                <a16:creationId xmlns="" xmlns:a16="http://schemas.microsoft.com/office/drawing/2014/main" id="{3A9FC85C-04F1-D926-4114-5A01BCA9CF3B}"/>
              </a:ext>
            </a:extLst>
          </p:cNvPr>
          <p:cNvSpPr/>
          <p:nvPr/>
        </p:nvSpPr>
        <p:spPr>
          <a:xfrm>
            <a:off x="419339" y="2116622"/>
            <a:ext cx="3600400" cy="4248472"/>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marL="457200" indent="-457200"/>
            <a:r>
              <a:rPr lang="en-US" sz="2400" dirty="0">
                <a:sym typeface="Wingdings" panose="05000000000000000000" pitchFamily="2" charset="2"/>
              </a:rPr>
              <a:t>Possible solutions:</a:t>
            </a:r>
          </a:p>
          <a:p>
            <a:pPr marL="713232" lvl="1" indent="-457200">
              <a:buFont typeface="+mj-lt"/>
              <a:buAutoNum type="arabicPeriod"/>
            </a:pPr>
            <a:r>
              <a:rPr lang="en-US" sz="2000" dirty="0">
                <a:sym typeface="Wingdings" panose="05000000000000000000" pitchFamily="2" charset="2"/>
              </a:rPr>
              <a:t>do not extract subjects at all (e.g. </a:t>
            </a:r>
            <a:r>
              <a:rPr lang="en-US" sz="2000" dirty="0" err="1">
                <a:sym typeface="Wingdings" panose="05000000000000000000" pitchFamily="2" charset="2"/>
              </a:rPr>
              <a:t>HoDeL</a:t>
            </a:r>
            <a:r>
              <a:rPr lang="en-US" sz="2000" dirty="0">
                <a:sym typeface="Wingdings" panose="05000000000000000000" pitchFamily="2" charset="2"/>
              </a:rPr>
              <a:t>, see Zanchi 2021; </a:t>
            </a:r>
            <a:r>
              <a:rPr lang="en-US" sz="2000" dirty="0" err="1">
                <a:sym typeface="Wingdings" panose="05000000000000000000" pitchFamily="2" charset="2"/>
              </a:rPr>
              <a:t>Syntacticus</a:t>
            </a:r>
            <a:r>
              <a:rPr lang="en-US" sz="2000" dirty="0">
                <a:sym typeface="Wingdings" panose="05000000000000000000" pitchFamily="2" charset="2"/>
              </a:rPr>
              <a:t> for PROIEL)</a:t>
            </a:r>
          </a:p>
          <a:p>
            <a:pPr marL="713232" lvl="1" indent="-457200">
              <a:buFont typeface="+mj-lt"/>
              <a:buAutoNum type="arabicPeriod"/>
            </a:pPr>
            <a:r>
              <a:rPr lang="en-US" sz="2000" dirty="0">
                <a:sym typeface="Wingdings" panose="05000000000000000000" pitchFamily="2" charset="2"/>
              </a:rPr>
              <a:t>fully-manual annotation (e.g. </a:t>
            </a:r>
            <a:r>
              <a:rPr lang="en-US" sz="2000" dirty="0" err="1">
                <a:sym typeface="Wingdings" panose="05000000000000000000" pitchFamily="2" charset="2"/>
              </a:rPr>
              <a:t>PaVeDa</a:t>
            </a:r>
            <a:r>
              <a:rPr lang="en-US" sz="2000" dirty="0">
                <a:sym typeface="Wingdings" panose="05000000000000000000" pitchFamily="2" charset="2"/>
              </a:rPr>
              <a:t>, see </a:t>
            </a:r>
            <a:r>
              <a:rPr lang="en-US" sz="2000" dirty="0" err="1">
                <a:sym typeface="Wingdings" panose="05000000000000000000" pitchFamily="2" charset="2"/>
              </a:rPr>
              <a:t>Luraghi</a:t>
            </a:r>
            <a:r>
              <a:rPr lang="en-US" sz="2000" dirty="0">
                <a:sym typeface="Wingdings" panose="05000000000000000000" pitchFamily="2" charset="2"/>
              </a:rPr>
              <a:t> et al. 2024)</a:t>
            </a:r>
          </a:p>
          <a:p>
            <a:pPr algn="ctr"/>
            <a:endParaRPr lang="el-GR" dirty="0"/>
          </a:p>
        </p:txBody>
      </p:sp>
      <p:sp>
        <p:nvSpPr>
          <p:cNvPr id="11" name="Ορθογώνιο: Στρογγύλεμα γωνιών 10">
            <a:extLst>
              <a:ext uri="{FF2B5EF4-FFF2-40B4-BE49-F238E27FC236}">
                <a16:creationId xmlns="" xmlns:a16="http://schemas.microsoft.com/office/drawing/2014/main" id="{FD9D73A8-7F3C-C200-9613-25135289ECF8}"/>
              </a:ext>
            </a:extLst>
          </p:cNvPr>
          <p:cNvSpPr/>
          <p:nvPr/>
        </p:nvSpPr>
        <p:spPr>
          <a:xfrm>
            <a:off x="4827373" y="2116622"/>
            <a:ext cx="3600400" cy="4248472"/>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marL="457200" indent="-457200"/>
            <a:r>
              <a:rPr lang="en-US" sz="2400" dirty="0">
                <a:sym typeface="Wingdings" panose="05000000000000000000" pitchFamily="2" charset="2"/>
              </a:rPr>
              <a:t>Our decision:</a:t>
            </a:r>
          </a:p>
          <a:p>
            <a:pPr marL="713232" lvl="1" indent="-457200">
              <a:buFont typeface="+mj-lt"/>
              <a:buAutoNum type="arabicPeriod"/>
            </a:pPr>
            <a:r>
              <a:rPr lang="en-US" sz="2000" dirty="0">
                <a:sym typeface="Wingdings" panose="05000000000000000000" pitchFamily="2" charset="2"/>
              </a:rPr>
              <a:t>Extract all overt subjects </a:t>
            </a:r>
          </a:p>
          <a:p>
            <a:pPr marL="713232" lvl="1" indent="-457200">
              <a:buFont typeface="+mj-lt"/>
              <a:buAutoNum type="arabicPeriod"/>
            </a:pPr>
            <a:r>
              <a:rPr lang="en-US" sz="2000" dirty="0">
                <a:sym typeface="Wingdings" panose="05000000000000000000" pitchFamily="2" charset="2"/>
              </a:rPr>
              <a:t>If overt subject not present  mark the subject as expressed by the verb suffix (V[subj])</a:t>
            </a:r>
          </a:p>
          <a:p>
            <a:pPr marL="713232" lvl="1" indent="-457200">
              <a:buFont typeface="+mj-lt"/>
              <a:buAutoNum type="arabicPeriod"/>
            </a:pPr>
            <a:r>
              <a:rPr lang="en-US" sz="2000" dirty="0">
                <a:sym typeface="Wingdings" panose="05000000000000000000" pitchFamily="2" charset="2"/>
              </a:rPr>
              <a:t>Manually delete the subject from </a:t>
            </a:r>
            <a:r>
              <a:rPr lang="en-US" sz="2000" dirty="0" err="1">
                <a:sym typeface="Wingdings" panose="05000000000000000000" pitchFamily="2" charset="2"/>
              </a:rPr>
              <a:t>avalent</a:t>
            </a:r>
            <a:r>
              <a:rPr lang="en-US" sz="2000" dirty="0">
                <a:sym typeface="Wingdings" panose="05000000000000000000" pitchFamily="2" charset="2"/>
              </a:rPr>
              <a:t> verbs</a:t>
            </a:r>
          </a:p>
        </p:txBody>
      </p:sp>
      <p:sp>
        <p:nvSpPr>
          <p:cNvPr id="3" name="Slide Number Placeholder 2">
            <a:extLst>
              <a:ext uri="{FF2B5EF4-FFF2-40B4-BE49-F238E27FC236}">
                <a16:creationId xmlns="" xmlns:a16="http://schemas.microsoft.com/office/drawing/2014/main" id="{1733DDCB-29C0-7297-C70E-E81C5E38BDD1}"/>
              </a:ext>
            </a:extLst>
          </p:cNvPr>
          <p:cNvSpPr>
            <a:spLocks noGrp="1"/>
          </p:cNvSpPr>
          <p:nvPr>
            <p:ph type="sldNum" sz="quarter" idx="12"/>
          </p:nvPr>
        </p:nvSpPr>
        <p:spPr/>
        <p:txBody>
          <a:bodyPr/>
          <a:lstStyle/>
          <a:p>
            <a:fld id="{084E6F96-DBA9-4966-8C10-B0B4DAA302D2}" type="slidenum">
              <a:rPr lang="el-GR" smtClean="0"/>
              <a:pPr/>
              <a:t>46</a:t>
            </a:fld>
            <a:endParaRPr lang="el-G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D8CFC5CC-8E0D-4239-AF79-EA8A9A7AFB78}"/>
              </a:ext>
            </a:extLst>
          </p:cNvPr>
          <p:cNvSpPr txBox="1">
            <a:spLocks/>
          </p:cNvSpPr>
          <p:nvPr/>
        </p:nvSpPr>
        <p:spPr>
          <a:xfrm>
            <a:off x="805268" y="620688"/>
            <a:ext cx="7601491"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000" b="0" dirty="0"/>
              <a:t>Morphological annotation – Modern Greek</a:t>
            </a:r>
            <a:endParaRPr lang="el-GR" sz="4000" b="0" dirty="0"/>
          </a:p>
        </p:txBody>
      </p:sp>
      <p:sp>
        <p:nvSpPr>
          <p:cNvPr id="3" name="Θέση περιεχομένου 2">
            <a:extLst>
              <a:ext uri="{FF2B5EF4-FFF2-40B4-BE49-F238E27FC236}">
                <a16:creationId xmlns="" xmlns:a16="http://schemas.microsoft.com/office/drawing/2014/main" id="{073A6002-EF7E-881A-8CAA-D9E10F9B59D8}"/>
              </a:ext>
            </a:extLst>
          </p:cNvPr>
          <p:cNvSpPr txBox="1">
            <a:spLocks/>
          </p:cNvSpPr>
          <p:nvPr/>
        </p:nvSpPr>
        <p:spPr>
          <a:xfrm>
            <a:off x="831457" y="2034075"/>
            <a:ext cx="7601491" cy="1368152"/>
          </a:xfrm>
          <a:prstGeom prst="rect">
            <a:avLst/>
          </a:prstGeom>
        </p:spPr>
        <p:txBody>
          <a:bodyPr>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457200" indent="-457200"/>
            <a:r>
              <a:rPr lang="en-US" sz="2400" dirty="0"/>
              <a:t>PROIEL: uses traditional metalanguage for the morphological description of Ancient Greek</a:t>
            </a:r>
          </a:p>
          <a:p>
            <a:pPr marL="457200" indent="-457200"/>
            <a:endParaRPr lang="en-US" sz="2400" dirty="0"/>
          </a:p>
          <a:p>
            <a:pPr marL="457200" indent="-457200"/>
            <a:endParaRPr lang="en-US" sz="2400" dirty="0"/>
          </a:p>
          <a:p>
            <a:pPr marL="457200" indent="-457200"/>
            <a:endParaRPr lang="en-US" sz="2400" dirty="0"/>
          </a:p>
          <a:p>
            <a:pPr marL="457200" indent="-457200"/>
            <a:endParaRPr lang="el-GR" sz="2400" dirty="0"/>
          </a:p>
        </p:txBody>
      </p:sp>
      <p:pic>
        <p:nvPicPr>
          <p:cNvPr id="13" name="Εικόνα 12">
            <a:extLst>
              <a:ext uri="{FF2B5EF4-FFF2-40B4-BE49-F238E27FC236}">
                <a16:creationId xmlns="" xmlns:a16="http://schemas.microsoft.com/office/drawing/2014/main" id="{C69C8D2E-C7A1-7CC8-D7A5-6B63DE80CF30}"/>
              </a:ext>
            </a:extLst>
          </p:cNvPr>
          <p:cNvPicPr>
            <a:picLocks noChangeAspect="1"/>
          </p:cNvPicPr>
          <p:nvPr/>
        </p:nvPicPr>
        <p:blipFill>
          <a:blip r:embed="rId4" cstate="print"/>
          <a:stretch>
            <a:fillRect/>
          </a:stretch>
        </p:blipFill>
        <p:spPr>
          <a:xfrm>
            <a:off x="0" y="2856822"/>
            <a:ext cx="9178013" cy="3706819"/>
          </a:xfrm>
          <a:prstGeom prst="rect">
            <a:avLst/>
          </a:prstGeom>
        </p:spPr>
      </p:pic>
      <p:sp>
        <p:nvSpPr>
          <p:cNvPr id="10" name="Slide Number Placeholder 9">
            <a:extLst>
              <a:ext uri="{FF2B5EF4-FFF2-40B4-BE49-F238E27FC236}">
                <a16:creationId xmlns="" xmlns:a16="http://schemas.microsoft.com/office/drawing/2014/main" id="{A20E19A8-15B9-5B9D-2C20-BEFD19F69DC1}"/>
              </a:ext>
            </a:extLst>
          </p:cNvPr>
          <p:cNvSpPr>
            <a:spLocks noGrp="1"/>
          </p:cNvSpPr>
          <p:nvPr>
            <p:ph type="sldNum" sz="quarter" idx="12"/>
          </p:nvPr>
        </p:nvSpPr>
        <p:spPr/>
        <p:txBody>
          <a:bodyPr/>
          <a:lstStyle/>
          <a:p>
            <a:fld id="{084E6F96-DBA9-4966-8C10-B0B4DAA302D2}" type="slidenum">
              <a:rPr lang="el-GR" smtClean="0"/>
              <a:pPr/>
              <a:t>47</a:t>
            </a:fld>
            <a:endParaRPr lang="el-G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47074F0E-3C6B-97A9-FC56-3D0B458D1DD5}"/>
              </a:ext>
            </a:extLst>
          </p:cNvPr>
          <p:cNvSpPr txBox="1">
            <a:spLocks/>
          </p:cNvSpPr>
          <p:nvPr/>
        </p:nvSpPr>
        <p:spPr>
          <a:xfrm>
            <a:off x="805268" y="620688"/>
            <a:ext cx="7601491"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a:t>Annotation scheme - Morphology</a:t>
            </a:r>
            <a:endParaRPr lang="el-GR" sz="4400" b="0" dirty="0"/>
          </a:p>
        </p:txBody>
      </p:sp>
      <p:sp>
        <p:nvSpPr>
          <p:cNvPr id="3" name="Θέση περιεχομένου 2">
            <a:extLst>
              <a:ext uri="{FF2B5EF4-FFF2-40B4-BE49-F238E27FC236}">
                <a16:creationId xmlns="" xmlns:a16="http://schemas.microsoft.com/office/drawing/2014/main" id="{37DA0A5D-1127-43C7-0EA0-4B42FC81374C}"/>
              </a:ext>
            </a:extLst>
          </p:cNvPr>
          <p:cNvSpPr txBox="1">
            <a:spLocks/>
          </p:cNvSpPr>
          <p:nvPr/>
        </p:nvSpPr>
        <p:spPr>
          <a:xfrm>
            <a:off x="831457" y="2124739"/>
            <a:ext cx="7601491" cy="4112573"/>
          </a:xfrm>
          <a:prstGeom prst="rect">
            <a:avLst/>
          </a:prstGeom>
        </p:spPr>
        <p:txBody>
          <a:bodyPr>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457200" indent="-457200"/>
            <a:r>
              <a:rPr lang="en-US" sz="2400" dirty="0"/>
              <a:t>conflates tense (past – present – future) with aspect (perfective – imperfective), e.g.</a:t>
            </a:r>
          </a:p>
          <a:p>
            <a:pPr marL="457200" indent="-457200"/>
            <a:endParaRPr lang="en-US" sz="2400" dirty="0"/>
          </a:p>
          <a:p>
            <a:pPr marL="256032" lvl="1" indent="0">
              <a:buNone/>
            </a:pPr>
            <a:endParaRPr lang="en-US" sz="2000" dirty="0"/>
          </a:p>
          <a:p>
            <a:pPr marL="256032" lvl="1" indent="0">
              <a:buNone/>
            </a:pPr>
            <a:endParaRPr lang="en-US" sz="2000" dirty="0"/>
          </a:p>
          <a:p>
            <a:pPr marL="256032" lvl="1" indent="0">
              <a:buNone/>
            </a:pPr>
            <a:endParaRPr lang="en-US" sz="2000" dirty="0"/>
          </a:p>
          <a:p>
            <a:pPr marL="256032" lvl="1" indent="0">
              <a:buNone/>
            </a:pPr>
            <a:endParaRPr lang="en-US" sz="2000" dirty="0"/>
          </a:p>
          <a:p>
            <a:pPr marL="256032" lvl="1" indent="0">
              <a:buNone/>
            </a:pPr>
            <a:endParaRPr lang="en-US" sz="2000" dirty="0"/>
          </a:p>
          <a:p>
            <a:pPr marL="457200" indent="-457200"/>
            <a:r>
              <a:rPr lang="en-US" sz="2400" dirty="0"/>
              <a:t>difference between AG and MG verbal systems</a:t>
            </a:r>
          </a:p>
          <a:p>
            <a:pPr marL="713232" lvl="1" indent="-457200"/>
            <a:r>
              <a:rPr lang="en-US" sz="2000" dirty="0"/>
              <a:t>a lot of periphrastic verbal forms </a:t>
            </a:r>
            <a:r>
              <a:rPr lang="en-US" sz="2000" dirty="0">
                <a:sym typeface="Wingdings" panose="05000000000000000000" pitchFamily="2" charset="2"/>
              </a:rPr>
              <a:t> impossible to fit into the traditional 6 categories</a:t>
            </a:r>
            <a:endParaRPr lang="en-US" sz="2000" dirty="0"/>
          </a:p>
          <a:p>
            <a:pPr marL="457200" indent="-457200"/>
            <a:endParaRPr lang="en-US" sz="2400" dirty="0"/>
          </a:p>
          <a:p>
            <a:pPr marL="457200" indent="-457200"/>
            <a:endParaRPr lang="en-US" sz="2400" dirty="0"/>
          </a:p>
          <a:p>
            <a:pPr marL="457200" indent="-457200"/>
            <a:endParaRPr lang="en-US" sz="2400" dirty="0"/>
          </a:p>
          <a:p>
            <a:pPr marL="457200" indent="-457200"/>
            <a:endParaRPr lang="el-GR" sz="2400" dirty="0"/>
          </a:p>
        </p:txBody>
      </p:sp>
      <p:sp>
        <p:nvSpPr>
          <p:cNvPr id="10" name="Ορθογώνιο: Στρογγύλεμα γωνιών 9">
            <a:extLst>
              <a:ext uri="{FF2B5EF4-FFF2-40B4-BE49-F238E27FC236}">
                <a16:creationId xmlns="" xmlns:a16="http://schemas.microsoft.com/office/drawing/2014/main" id="{C37E7CC0-C3B5-9B4A-45EE-40CA06E29070}"/>
              </a:ext>
            </a:extLst>
          </p:cNvPr>
          <p:cNvSpPr/>
          <p:nvPr/>
        </p:nvSpPr>
        <p:spPr>
          <a:xfrm>
            <a:off x="995798" y="3140968"/>
            <a:ext cx="7152403" cy="1592293"/>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13232" lvl="1" indent="-457200">
              <a:buFont typeface="Arial" pitchFamily="34" charset="0"/>
              <a:buChar char="•"/>
            </a:pPr>
            <a:r>
              <a:rPr lang="en-US" sz="2000" dirty="0">
                <a:solidFill>
                  <a:schemeClr val="tx1"/>
                </a:solidFill>
              </a:rPr>
              <a:t>aorist = [+past], [+perfective], </a:t>
            </a:r>
          </a:p>
          <a:p>
            <a:pPr marL="713232" lvl="1" indent="-457200">
              <a:buFont typeface="Arial" pitchFamily="34" charset="0"/>
              <a:buChar char="•"/>
            </a:pPr>
            <a:r>
              <a:rPr lang="en-US" sz="2000" dirty="0">
                <a:solidFill>
                  <a:schemeClr val="tx1"/>
                </a:solidFill>
              </a:rPr>
              <a:t>imperfect = [+past], [-perfective] </a:t>
            </a:r>
            <a:endParaRPr lang="el-GR" sz="2000" dirty="0">
              <a:solidFill>
                <a:schemeClr val="tx1"/>
              </a:solidFill>
            </a:endParaRPr>
          </a:p>
          <a:p>
            <a:pPr marL="713232" lvl="1" indent="-457200"/>
            <a:endParaRPr lang="en-US" sz="2000" dirty="0">
              <a:solidFill>
                <a:schemeClr val="tx1"/>
              </a:solidFill>
            </a:endParaRPr>
          </a:p>
          <a:p>
            <a:pPr marL="256032" lvl="1" indent="0" algn="r">
              <a:buNone/>
            </a:pPr>
            <a:r>
              <a:rPr lang="en-US" sz="1400" dirty="0">
                <a:solidFill>
                  <a:schemeClr val="tx1"/>
                </a:solidFill>
              </a:rPr>
              <a:t>(Holton, </a:t>
            </a:r>
            <a:r>
              <a:rPr lang="en-US" sz="1400" dirty="0" err="1">
                <a:solidFill>
                  <a:schemeClr val="tx1"/>
                </a:solidFill>
              </a:rPr>
              <a:t>Mackridge</a:t>
            </a:r>
            <a:r>
              <a:rPr lang="en-US" sz="1400" dirty="0">
                <a:solidFill>
                  <a:schemeClr val="tx1"/>
                </a:solidFill>
              </a:rPr>
              <a:t>, and </a:t>
            </a:r>
            <a:r>
              <a:rPr lang="en-US" sz="1400" dirty="0" err="1">
                <a:solidFill>
                  <a:schemeClr val="tx1"/>
                </a:solidFill>
              </a:rPr>
              <a:t>Philippaki</a:t>
            </a:r>
            <a:r>
              <a:rPr lang="en-US" sz="1400" dirty="0">
                <a:solidFill>
                  <a:schemeClr val="tx1"/>
                </a:solidFill>
              </a:rPr>
              <a:t>-Warburton 2014: 121-122)</a:t>
            </a:r>
          </a:p>
        </p:txBody>
      </p:sp>
      <p:sp>
        <p:nvSpPr>
          <p:cNvPr id="11" name="Slide Number Placeholder 10">
            <a:extLst>
              <a:ext uri="{FF2B5EF4-FFF2-40B4-BE49-F238E27FC236}">
                <a16:creationId xmlns="" xmlns:a16="http://schemas.microsoft.com/office/drawing/2014/main" id="{43DAD03D-DCF0-B087-1B79-6B92BA0FD3EC}"/>
              </a:ext>
            </a:extLst>
          </p:cNvPr>
          <p:cNvSpPr>
            <a:spLocks noGrp="1"/>
          </p:cNvSpPr>
          <p:nvPr>
            <p:ph type="sldNum" sz="quarter" idx="12"/>
          </p:nvPr>
        </p:nvSpPr>
        <p:spPr/>
        <p:txBody>
          <a:bodyPr/>
          <a:lstStyle/>
          <a:p>
            <a:fld id="{084E6F96-DBA9-4966-8C10-B0B4DAA302D2}" type="slidenum">
              <a:rPr lang="el-GR" smtClean="0"/>
              <a:pPr/>
              <a:t>48</a:t>
            </a:fld>
            <a:endParaRPr lang="el-G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44A3FD54-77DF-B390-A07E-8B4EC0B725D7}"/>
              </a:ext>
            </a:extLst>
          </p:cNvPr>
          <p:cNvSpPr txBox="1">
            <a:spLocks/>
          </p:cNvSpPr>
          <p:nvPr/>
        </p:nvSpPr>
        <p:spPr>
          <a:xfrm>
            <a:off x="805268" y="620688"/>
            <a:ext cx="7601491"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a:t>A new annotation scheme for MG</a:t>
            </a:r>
            <a:endParaRPr lang="el-GR" sz="4400" b="0" dirty="0"/>
          </a:p>
        </p:txBody>
      </p:sp>
      <p:graphicFrame>
        <p:nvGraphicFramePr>
          <p:cNvPr id="10" name="Πίνακας 9">
            <a:extLst>
              <a:ext uri="{FF2B5EF4-FFF2-40B4-BE49-F238E27FC236}">
                <a16:creationId xmlns="" xmlns:a16="http://schemas.microsoft.com/office/drawing/2014/main" id="{1E8288A9-081D-CA99-E084-03EC2E7C0BAC}"/>
              </a:ext>
            </a:extLst>
          </p:cNvPr>
          <p:cNvGraphicFramePr>
            <a:graphicFrameLocks noGrp="1"/>
          </p:cNvGraphicFramePr>
          <p:nvPr>
            <p:extLst>
              <p:ext uri="{D42A27DB-BD31-4B8C-83A1-F6EECF244321}">
                <p14:modId xmlns="" xmlns:p14="http://schemas.microsoft.com/office/powerpoint/2010/main" val="3025303677"/>
              </p:ext>
            </p:extLst>
          </p:nvPr>
        </p:nvGraphicFramePr>
        <p:xfrm>
          <a:off x="358140" y="2155696"/>
          <a:ext cx="4213860" cy="3108960"/>
        </p:xfrm>
        <a:graphic>
          <a:graphicData uri="http://schemas.openxmlformats.org/drawingml/2006/table">
            <a:tbl>
              <a:tblPr/>
              <a:tblGrid>
                <a:gridCol w="1508760">
                  <a:extLst>
                    <a:ext uri="{9D8B030D-6E8A-4147-A177-3AD203B41FA5}">
                      <a16:colId xmlns="" xmlns:a16="http://schemas.microsoft.com/office/drawing/2014/main" val="1841060676"/>
                    </a:ext>
                  </a:extLst>
                </a:gridCol>
                <a:gridCol w="1303020">
                  <a:extLst>
                    <a:ext uri="{9D8B030D-6E8A-4147-A177-3AD203B41FA5}">
                      <a16:colId xmlns="" xmlns:a16="http://schemas.microsoft.com/office/drawing/2014/main" val="2977678539"/>
                    </a:ext>
                  </a:extLst>
                </a:gridCol>
                <a:gridCol w="1402080">
                  <a:extLst>
                    <a:ext uri="{9D8B030D-6E8A-4147-A177-3AD203B41FA5}">
                      <a16:colId xmlns="" xmlns:a16="http://schemas.microsoft.com/office/drawing/2014/main" val="1435458050"/>
                    </a:ext>
                  </a:extLst>
                </a:gridCol>
              </a:tblGrid>
              <a:tr h="0">
                <a:tc>
                  <a:txBody>
                    <a:bodyPr/>
                    <a:lstStyle/>
                    <a:p>
                      <a:pPr algn="just" rtl="0" fontAlgn="t">
                        <a:buNone/>
                      </a:pPr>
                      <a:r>
                        <a:rPr lang="en-US" sz="1200" b="0" i="0" u="none" strike="noStrike">
                          <a:solidFill>
                            <a:srgbClr val="000000"/>
                          </a:solidFill>
                          <a:effectLst/>
                          <a:latin typeface="Aptos" panose="020B0004020202020204" pitchFamily="34" charset="0"/>
                        </a:rPr>
                        <a:t>PROEIL Ancient Greek tags</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Modern Greek verb forms</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a:solidFill>
                            <a:srgbClr val="000000"/>
                          </a:solidFill>
                          <a:effectLst/>
                          <a:latin typeface="Aptos" panose="020B0004020202020204" pitchFamily="34" charset="0"/>
                        </a:rPr>
                        <a:t>Modern Greek </a:t>
                      </a:r>
                      <a:r>
                        <a:rPr lang="en-US" sz="1200" b="0" i="0" u="none" strike="noStrike" dirty="0" err="1">
                          <a:solidFill>
                            <a:srgbClr val="000000"/>
                          </a:solidFill>
                          <a:effectLst/>
                          <a:latin typeface="Aptos" panose="020B0004020202020204" pitchFamily="34" charset="0"/>
                        </a:rPr>
                        <a:t>tagset</a:t>
                      </a:r>
                      <a:endParaRPr lang="en-US"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3954633865"/>
                  </a:ext>
                </a:extLst>
              </a:tr>
              <a:tr h="0">
                <a:tc gridSpan="3">
                  <a:txBody>
                    <a:bodyPr/>
                    <a:lstStyle/>
                    <a:p>
                      <a:pPr algn="just" rtl="0" fontAlgn="t">
                        <a:buNone/>
                      </a:pPr>
                      <a:r>
                        <a:rPr lang="en-US" sz="1200" b="1" i="0" u="none" strike="noStrike" dirty="0">
                          <a:solidFill>
                            <a:srgbClr val="000000"/>
                          </a:solidFill>
                          <a:effectLst/>
                          <a:latin typeface="Aptos" panose="020B0004020202020204" pitchFamily="34" charset="0"/>
                        </a:rPr>
                        <a:t>Indicative</a:t>
                      </a:r>
                      <a:endParaRPr lang="en-US"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l-GR"/>
                    </a:p>
                  </a:txBody>
                  <a:tcPr/>
                </a:tc>
                <a:tc hMerge="1">
                  <a:txBody>
                    <a:bodyPr/>
                    <a:lstStyle/>
                    <a:p>
                      <a:endParaRPr lang="el-GR"/>
                    </a:p>
                  </a:txBody>
                  <a:tcPr/>
                </a:tc>
                <a:extLst>
                  <a:ext uri="{0D108BD9-81ED-4DB2-BD59-A6C34878D82A}">
                    <a16:rowId xmlns="" xmlns:a16="http://schemas.microsoft.com/office/drawing/2014/main" val="1180668141"/>
                  </a:ext>
                </a:extLst>
              </a:tr>
              <a:tr h="0">
                <a:tc>
                  <a:txBody>
                    <a:bodyPr/>
                    <a:lstStyle/>
                    <a:p>
                      <a:pPr algn="just" rtl="0" fontAlgn="t">
                        <a:buNone/>
                      </a:pPr>
                      <a:r>
                        <a:rPr lang="en-US" sz="1200" b="0" i="0" u="none" strike="noStrike">
                          <a:solidFill>
                            <a:srgbClr val="000000"/>
                          </a:solidFill>
                          <a:effectLst/>
                          <a:latin typeface="Aptos" panose="020B0004020202020204" pitchFamily="34" charset="0"/>
                        </a:rPr>
                        <a:t>Present</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err="1">
                          <a:solidFill>
                            <a:srgbClr val="000000"/>
                          </a:solidFill>
                          <a:effectLst/>
                          <a:latin typeface="Aptos" panose="020B0004020202020204" pitchFamily="34" charset="0"/>
                        </a:rPr>
                        <a:t>grafo</a:t>
                      </a:r>
                      <a:endParaRPr lang="en-US"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nonpast, imperfective</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57060626"/>
                  </a:ext>
                </a:extLst>
              </a:tr>
              <a:tr h="0">
                <a:tc>
                  <a:txBody>
                    <a:bodyPr/>
                    <a:lstStyle/>
                    <a:p>
                      <a:pPr algn="just" rtl="0" fontAlgn="t">
                        <a:buNone/>
                      </a:pPr>
                      <a:r>
                        <a:rPr lang="el-GR" sz="1200" b="0" i="0" u="none" strike="noStrike" dirty="0">
                          <a:solidFill>
                            <a:srgbClr val="000000"/>
                          </a:solidFill>
                          <a:effectLst/>
                          <a:latin typeface="Aptos" panose="020B0004020202020204" pitchFamily="34" charset="0"/>
                        </a:rPr>
                        <a:t>???</a:t>
                      </a:r>
                      <a:endParaRPr lang="el-GR"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err="1">
                          <a:solidFill>
                            <a:srgbClr val="000000"/>
                          </a:solidFill>
                          <a:effectLst/>
                          <a:latin typeface="Aptos" panose="020B0004020202020204" pitchFamily="34" charset="0"/>
                        </a:rPr>
                        <a:t>grapso</a:t>
                      </a:r>
                      <a:endParaRPr lang="en-US"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nonpast, perfective</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2655887912"/>
                  </a:ext>
                </a:extLst>
              </a:tr>
              <a:tr h="0">
                <a:tc>
                  <a:txBody>
                    <a:bodyPr/>
                    <a:lstStyle/>
                    <a:p>
                      <a:pPr algn="just" rtl="0" fontAlgn="t">
                        <a:buNone/>
                      </a:pPr>
                      <a:r>
                        <a:rPr lang="en-US" sz="1200" b="0" i="0" u="none" strike="noStrike">
                          <a:solidFill>
                            <a:srgbClr val="000000"/>
                          </a:solidFill>
                          <a:effectLst/>
                          <a:latin typeface="Aptos" panose="020B0004020202020204" pitchFamily="34" charset="0"/>
                        </a:rPr>
                        <a:t>Imperfect</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err="1">
                          <a:solidFill>
                            <a:srgbClr val="000000"/>
                          </a:solidFill>
                          <a:effectLst/>
                          <a:latin typeface="Aptos" panose="020B0004020202020204" pitchFamily="34" charset="0"/>
                        </a:rPr>
                        <a:t>egrafa</a:t>
                      </a:r>
                      <a:endParaRPr lang="en-US"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past, imperfective</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4182832000"/>
                  </a:ext>
                </a:extLst>
              </a:tr>
              <a:tr h="0">
                <a:tc>
                  <a:txBody>
                    <a:bodyPr/>
                    <a:lstStyle/>
                    <a:p>
                      <a:pPr algn="just" rtl="0" fontAlgn="t">
                        <a:buNone/>
                      </a:pPr>
                      <a:r>
                        <a:rPr lang="en-US" sz="1200" b="0" i="0" u="none" strike="noStrike">
                          <a:solidFill>
                            <a:srgbClr val="000000"/>
                          </a:solidFill>
                          <a:effectLst/>
                          <a:latin typeface="Aptos" panose="020B0004020202020204" pitchFamily="34" charset="0"/>
                        </a:rPr>
                        <a:t>Aorist</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err="1">
                          <a:solidFill>
                            <a:srgbClr val="000000"/>
                          </a:solidFill>
                          <a:effectLst/>
                          <a:latin typeface="Aptos" panose="020B0004020202020204" pitchFamily="34" charset="0"/>
                        </a:rPr>
                        <a:t>egrapsa</a:t>
                      </a:r>
                      <a:endParaRPr lang="en-US"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past, perfective</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300791341"/>
                  </a:ext>
                </a:extLst>
              </a:tr>
              <a:tr h="0">
                <a:tc>
                  <a:txBody>
                    <a:bodyPr/>
                    <a:lstStyle/>
                    <a:p>
                      <a:pPr algn="just" rtl="0" fontAlgn="t">
                        <a:buNone/>
                      </a:pPr>
                      <a:r>
                        <a:rPr lang="en-US" sz="1200" b="0" i="0" u="none" strike="noStrike">
                          <a:solidFill>
                            <a:srgbClr val="000000"/>
                          </a:solidFill>
                          <a:effectLst/>
                          <a:latin typeface="Aptos" panose="020B0004020202020204" pitchFamily="34" charset="0"/>
                        </a:rPr>
                        <a:t>Perfect</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echo grapsi</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echo=verb, grapsi=nonfinite</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873101902"/>
                  </a:ext>
                </a:extLst>
              </a:tr>
              <a:tr h="0">
                <a:tc>
                  <a:txBody>
                    <a:bodyPr/>
                    <a:lstStyle/>
                    <a:p>
                      <a:pPr algn="just" rtl="0" fontAlgn="t">
                        <a:buNone/>
                      </a:pPr>
                      <a:r>
                        <a:rPr lang="en-US" sz="1200" b="0" i="0" u="none" strike="noStrike">
                          <a:solidFill>
                            <a:srgbClr val="000000"/>
                          </a:solidFill>
                          <a:effectLst/>
                          <a:latin typeface="Aptos" panose="020B0004020202020204" pitchFamily="34" charset="0"/>
                        </a:rPr>
                        <a:t>Pluperfect</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icha grapsi</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err="1">
                          <a:solidFill>
                            <a:srgbClr val="000000"/>
                          </a:solidFill>
                          <a:effectLst/>
                          <a:latin typeface="Aptos" panose="020B0004020202020204" pitchFamily="34" charset="0"/>
                        </a:rPr>
                        <a:t>icha</a:t>
                      </a:r>
                      <a:r>
                        <a:rPr lang="en-US" sz="1200" b="0" i="0" u="none" strike="noStrike" dirty="0">
                          <a:solidFill>
                            <a:srgbClr val="000000"/>
                          </a:solidFill>
                          <a:effectLst/>
                          <a:latin typeface="Aptos" panose="020B0004020202020204" pitchFamily="34" charset="0"/>
                        </a:rPr>
                        <a:t>=verb, </a:t>
                      </a:r>
                      <a:r>
                        <a:rPr lang="en-US" sz="1200" b="0" i="0" u="none" strike="noStrike" dirty="0" err="1">
                          <a:solidFill>
                            <a:srgbClr val="000000"/>
                          </a:solidFill>
                          <a:effectLst/>
                          <a:latin typeface="Aptos" panose="020B0004020202020204" pitchFamily="34" charset="0"/>
                        </a:rPr>
                        <a:t>grapsi</a:t>
                      </a:r>
                      <a:r>
                        <a:rPr lang="en-US" sz="1200" b="0" i="0" u="none" strike="noStrike" dirty="0">
                          <a:solidFill>
                            <a:srgbClr val="000000"/>
                          </a:solidFill>
                          <a:effectLst/>
                          <a:latin typeface="Aptos" panose="020B0004020202020204" pitchFamily="34" charset="0"/>
                        </a:rPr>
                        <a:t>=nonfinite</a:t>
                      </a:r>
                      <a:endParaRPr lang="en-US"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2218342977"/>
                  </a:ext>
                </a:extLst>
              </a:tr>
            </a:tbl>
          </a:graphicData>
        </a:graphic>
      </p:graphicFrame>
      <p:graphicFrame>
        <p:nvGraphicFramePr>
          <p:cNvPr id="11" name="Πίνακας 10">
            <a:extLst>
              <a:ext uri="{FF2B5EF4-FFF2-40B4-BE49-F238E27FC236}">
                <a16:creationId xmlns="" xmlns:a16="http://schemas.microsoft.com/office/drawing/2014/main" id="{B3167184-87FE-366B-E1FC-316A32225B9D}"/>
              </a:ext>
            </a:extLst>
          </p:cNvPr>
          <p:cNvGraphicFramePr>
            <a:graphicFrameLocks noGrp="1"/>
          </p:cNvGraphicFramePr>
          <p:nvPr>
            <p:extLst>
              <p:ext uri="{D42A27DB-BD31-4B8C-83A1-F6EECF244321}">
                <p14:modId xmlns="" xmlns:p14="http://schemas.microsoft.com/office/powerpoint/2010/main" val="2638687986"/>
              </p:ext>
            </p:extLst>
          </p:nvPr>
        </p:nvGraphicFramePr>
        <p:xfrm>
          <a:off x="4788024" y="2155696"/>
          <a:ext cx="4213860" cy="3931920"/>
        </p:xfrm>
        <a:graphic>
          <a:graphicData uri="http://schemas.openxmlformats.org/drawingml/2006/table">
            <a:tbl>
              <a:tblPr/>
              <a:tblGrid>
                <a:gridCol w="1508760">
                  <a:extLst>
                    <a:ext uri="{9D8B030D-6E8A-4147-A177-3AD203B41FA5}">
                      <a16:colId xmlns="" xmlns:a16="http://schemas.microsoft.com/office/drawing/2014/main" val="667884361"/>
                    </a:ext>
                  </a:extLst>
                </a:gridCol>
                <a:gridCol w="1303020">
                  <a:extLst>
                    <a:ext uri="{9D8B030D-6E8A-4147-A177-3AD203B41FA5}">
                      <a16:colId xmlns="" xmlns:a16="http://schemas.microsoft.com/office/drawing/2014/main" val="3466548251"/>
                    </a:ext>
                  </a:extLst>
                </a:gridCol>
                <a:gridCol w="1402080">
                  <a:extLst>
                    <a:ext uri="{9D8B030D-6E8A-4147-A177-3AD203B41FA5}">
                      <a16:colId xmlns="" xmlns:a16="http://schemas.microsoft.com/office/drawing/2014/main" val="249243534"/>
                    </a:ext>
                  </a:extLst>
                </a:gridCol>
              </a:tblGrid>
              <a:tr h="0">
                <a:tc gridSpan="3">
                  <a:txBody>
                    <a:bodyPr/>
                    <a:lstStyle/>
                    <a:p>
                      <a:pPr algn="just" rtl="0" fontAlgn="t">
                        <a:buNone/>
                      </a:pPr>
                      <a:r>
                        <a:rPr lang="en-US" sz="1200" b="1" i="0" u="none" strike="noStrike">
                          <a:solidFill>
                            <a:srgbClr val="000000"/>
                          </a:solidFill>
                          <a:effectLst/>
                          <a:latin typeface="Aptos" panose="020B0004020202020204" pitchFamily="34" charset="0"/>
                        </a:rPr>
                        <a:t>Verb forms with </a:t>
                      </a:r>
                      <a:r>
                        <a:rPr lang="en-US" sz="1200" b="1" i="1" u="none" strike="noStrike">
                          <a:solidFill>
                            <a:srgbClr val="000000"/>
                          </a:solidFill>
                          <a:effectLst/>
                          <a:latin typeface="Aptos" panose="020B0004020202020204" pitchFamily="34" charset="0"/>
                        </a:rPr>
                        <a:t>na</a:t>
                      </a:r>
                      <a:r>
                        <a:rPr lang="en-US" sz="1200" b="1" i="0" u="none" strike="noStrike">
                          <a:solidFill>
                            <a:srgbClr val="000000"/>
                          </a:solidFill>
                          <a:effectLst/>
                          <a:latin typeface="Aptos" panose="020B0004020202020204" pitchFamily="34" charset="0"/>
                        </a:rPr>
                        <a:t>/</a:t>
                      </a:r>
                      <a:r>
                        <a:rPr lang="en-US" sz="1200" b="1" i="1" u="none" strike="noStrike">
                          <a:solidFill>
                            <a:srgbClr val="000000"/>
                          </a:solidFill>
                          <a:effectLst/>
                          <a:latin typeface="Aptos" panose="020B0004020202020204" pitchFamily="34" charset="0"/>
                        </a:rPr>
                        <a:t>as</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l-GR"/>
                    </a:p>
                  </a:txBody>
                  <a:tcPr/>
                </a:tc>
                <a:tc hMerge="1">
                  <a:txBody>
                    <a:bodyPr/>
                    <a:lstStyle/>
                    <a:p>
                      <a:endParaRPr lang="el-GR"/>
                    </a:p>
                  </a:txBody>
                  <a:tcPr/>
                </a:tc>
                <a:extLst>
                  <a:ext uri="{0D108BD9-81ED-4DB2-BD59-A6C34878D82A}">
                    <a16:rowId xmlns="" xmlns:a16="http://schemas.microsoft.com/office/drawing/2014/main" val="2668197282"/>
                  </a:ext>
                </a:extLst>
              </a:tr>
              <a:tr h="0">
                <a:tc>
                  <a:txBody>
                    <a:bodyPr/>
                    <a:lstStyle/>
                    <a:p>
                      <a:pPr algn="just" rtl="0" fontAlgn="t">
                        <a:buNone/>
                      </a:pPr>
                      <a:r>
                        <a:rPr lang="en-US" sz="1200" b="0" i="0" u="none" strike="noStrike">
                          <a:solidFill>
                            <a:srgbClr val="000000"/>
                          </a:solidFill>
                          <a:effectLst/>
                          <a:latin typeface="Aptos" panose="020B0004020202020204" pitchFamily="34" charset="0"/>
                        </a:rPr>
                        <a:t>subjunctive, present</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na/as grafo</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na/as=particle, </a:t>
                      </a:r>
                      <a:endParaRPr lang="en-US">
                        <a:effectLst/>
                      </a:endParaRPr>
                    </a:p>
                    <a:p>
                      <a:pPr algn="just" rtl="0" fontAlgn="t">
                        <a:buNone/>
                      </a:pPr>
                      <a:r>
                        <a:rPr lang="en-US" sz="1200" b="0" i="0" u="none" strike="noStrike">
                          <a:solidFill>
                            <a:srgbClr val="000000"/>
                          </a:solidFill>
                          <a:effectLst/>
                          <a:latin typeface="Aptos" panose="020B0004020202020204" pitchFamily="34" charset="0"/>
                        </a:rPr>
                        <a:t>grafo (see above)</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3583490286"/>
                  </a:ext>
                </a:extLst>
              </a:tr>
              <a:tr h="0">
                <a:tc>
                  <a:txBody>
                    <a:bodyPr/>
                    <a:lstStyle/>
                    <a:p>
                      <a:pPr algn="just" rtl="0" fontAlgn="t">
                        <a:buNone/>
                      </a:pPr>
                      <a:r>
                        <a:rPr lang="en-US" sz="1200" b="0" i="0" u="none" strike="noStrike" dirty="0">
                          <a:solidFill>
                            <a:srgbClr val="000000"/>
                          </a:solidFill>
                          <a:effectLst/>
                          <a:latin typeface="Aptos" panose="020B0004020202020204" pitchFamily="34" charset="0"/>
                        </a:rPr>
                        <a:t>subjunctive, aorist</a:t>
                      </a:r>
                      <a:endParaRPr lang="en-US"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na/as grapso</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na/as=particle, </a:t>
                      </a:r>
                      <a:endParaRPr lang="en-US">
                        <a:effectLst/>
                      </a:endParaRPr>
                    </a:p>
                    <a:p>
                      <a:pPr algn="just" rtl="0" fontAlgn="t">
                        <a:buNone/>
                      </a:pPr>
                      <a:r>
                        <a:rPr lang="en-US" sz="1200" b="0" i="0" u="none" strike="noStrike">
                          <a:solidFill>
                            <a:srgbClr val="000000"/>
                          </a:solidFill>
                          <a:effectLst/>
                          <a:latin typeface="Aptos" panose="020B0004020202020204" pitchFamily="34" charset="0"/>
                        </a:rPr>
                        <a:t>grapso (see above)</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2807803638"/>
                  </a:ext>
                </a:extLst>
              </a:tr>
              <a:tr h="0">
                <a:tc>
                  <a:txBody>
                    <a:bodyPr/>
                    <a:lstStyle/>
                    <a:p>
                      <a:pPr algn="just" rtl="0" fontAlgn="t">
                        <a:buNone/>
                      </a:pPr>
                      <a:r>
                        <a:rPr lang="el-GR" sz="1200" b="0" i="0" u="none" strike="noStrike">
                          <a:solidFill>
                            <a:srgbClr val="000000"/>
                          </a:solidFill>
                          <a:effectLst/>
                          <a:latin typeface="Aptos" panose="020B0004020202020204" pitchFamily="34" charset="0"/>
                        </a:rPr>
                        <a:t>???</a:t>
                      </a:r>
                      <a:endParaRPr lang="el-GR">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na/as egrafa</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na/as=particle, </a:t>
                      </a:r>
                      <a:endParaRPr lang="en-US">
                        <a:effectLst/>
                      </a:endParaRPr>
                    </a:p>
                    <a:p>
                      <a:pPr algn="just" rtl="0" fontAlgn="t">
                        <a:buNone/>
                      </a:pPr>
                      <a:r>
                        <a:rPr lang="en-US" sz="1200" b="0" i="0" u="none" strike="noStrike">
                          <a:solidFill>
                            <a:srgbClr val="000000"/>
                          </a:solidFill>
                          <a:effectLst/>
                          <a:latin typeface="Aptos" panose="020B0004020202020204" pitchFamily="34" charset="0"/>
                        </a:rPr>
                        <a:t>egrafa (see above)</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439926910"/>
                  </a:ext>
                </a:extLst>
              </a:tr>
              <a:tr h="0">
                <a:tc>
                  <a:txBody>
                    <a:bodyPr/>
                    <a:lstStyle/>
                    <a:p>
                      <a:pPr algn="just" rtl="0" fontAlgn="t">
                        <a:buNone/>
                      </a:pPr>
                      <a:r>
                        <a:rPr lang="el-GR" sz="1200" b="0" i="0" u="none" strike="noStrike">
                          <a:solidFill>
                            <a:srgbClr val="000000"/>
                          </a:solidFill>
                          <a:effectLst/>
                          <a:latin typeface="Aptos" panose="020B0004020202020204" pitchFamily="34" charset="0"/>
                        </a:rPr>
                        <a:t>???</a:t>
                      </a:r>
                      <a:endParaRPr lang="el-GR">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na/as egrapsa</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na/as=particle, </a:t>
                      </a:r>
                      <a:endParaRPr lang="en-US">
                        <a:effectLst/>
                      </a:endParaRPr>
                    </a:p>
                    <a:p>
                      <a:pPr algn="just" rtl="0" fontAlgn="t">
                        <a:buNone/>
                      </a:pPr>
                      <a:r>
                        <a:rPr lang="en-US" sz="1200" b="0" i="0" u="none" strike="noStrike">
                          <a:solidFill>
                            <a:srgbClr val="000000"/>
                          </a:solidFill>
                          <a:effectLst/>
                          <a:latin typeface="Aptos" panose="020B0004020202020204" pitchFamily="34" charset="0"/>
                        </a:rPr>
                        <a:t>egrapsa (see above)</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4464641"/>
                  </a:ext>
                </a:extLst>
              </a:tr>
              <a:tr h="0">
                <a:tc>
                  <a:txBody>
                    <a:bodyPr/>
                    <a:lstStyle/>
                    <a:p>
                      <a:pPr algn="just" rtl="0" fontAlgn="t">
                        <a:buNone/>
                      </a:pPr>
                      <a:r>
                        <a:rPr lang="en-US" sz="1200" b="0" i="0" u="none" strike="noStrike">
                          <a:solidFill>
                            <a:srgbClr val="000000"/>
                          </a:solidFill>
                          <a:effectLst/>
                          <a:latin typeface="Aptos" panose="020B0004020202020204" pitchFamily="34" charset="0"/>
                        </a:rPr>
                        <a:t>subjunctive, perfect</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na/as echo grapsi</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na/as=particle, </a:t>
                      </a:r>
                      <a:endParaRPr lang="en-US">
                        <a:effectLst/>
                      </a:endParaRPr>
                    </a:p>
                    <a:p>
                      <a:pPr algn="just" rtl="0" fontAlgn="t">
                        <a:buNone/>
                      </a:pPr>
                      <a:r>
                        <a:rPr lang="en-US" sz="1200" b="0" i="0" u="none" strike="noStrike">
                          <a:solidFill>
                            <a:srgbClr val="000000"/>
                          </a:solidFill>
                          <a:effectLst/>
                          <a:latin typeface="Aptos" panose="020B0004020202020204" pitchFamily="34" charset="0"/>
                        </a:rPr>
                        <a:t>echo grapsi (see above)</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4013735148"/>
                  </a:ext>
                </a:extLst>
              </a:tr>
              <a:tr h="0">
                <a:tc>
                  <a:txBody>
                    <a:bodyPr/>
                    <a:lstStyle/>
                    <a:p>
                      <a:pPr algn="just" rtl="0" fontAlgn="t">
                        <a:buNone/>
                      </a:pPr>
                      <a:r>
                        <a:rPr lang="en-US" sz="1200" b="0" i="0" u="none" strike="noStrike">
                          <a:solidFill>
                            <a:srgbClr val="000000"/>
                          </a:solidFill>
                          <a:effectLst/>
                          <a:latin typeface="Aptos" panose="020B0004020202020204" pitchFamily="34" charset="0"/>
                        </a:rPr>
                        <a:t>subjunctive, pluperfect</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na/as icha grapsi</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err="1">
                          <a:solidFill>
                            <a:srgbClr val="000000"/>
                          </a:solidFill>
                          <a:effectLst/>
                          <a:latin typeface="Aptos" panose="020B0004020202020204" pitchFamily="34" charset="0"/>
                        </a:rPr>
                        <a:t>na</a:t>
                      </a:r>
                      <a:r>
                        <a:rPr lang="en-US" sz="1200" b="0" i="0" u="none" strike="noStrike" dirty="0">
                          <a:solidFill>
                            <a:srgbClr val="000000"/>
                          </a:solidFill>
                          <a:effectLst/>
                          <a:latin typeface="Aptos" panose="020B0004020202020204" pitchFamily="34" charset="0"/>
                        </a:rPr>
                        <a:t>/as=particle, </a:t>
                      </a:r>
                      <a:endParaRPr lang="en-US" dirty="0">
                        <a:effectLst/>
                      </a:endParaRPr>
                    </a:p>
                    <a:p>
                      <a:pPr algn="just" rtl="0" fontAlgn="t">
                        <a:buNone/>
                      </a:pPr>
                      <a:r>
                        <a:rPr lang="en-US" sz="1200" b="0" i="0" u="none" strike="noStrike" dirty="0" err="1">
                          <a:solidFill>
                            <a:srgbClr val="000000"/>
                          </a:solidFill>
                          <a:effectLst/>
                          <a:latin typeface="Aptos" panose="020B0004020202020204" pitchFamily="34" charset="0"/>
                        </a:rPr>
                        <a:t>icha</a:t>
                      </a:r>
                      <a:r>
                        <a:rPr lang="en-US" sz="1200" b="0" i="0" u="none" strike="noStrike" dirty="0">
                          <a:solidFill>
                            <a:srgbClr val="000000"/>
                          </a:solidFill>
                          <a:effectLst/>
                          <a:latin typeface="Aptos" panose="020B0004020202020204" pitchFamily="34" charset="0"/>
                        </a:rPr>
                        <a:t> </a:t>
                      </a:r>
                      <a:r>
                        <a:rPr lang="en-US" sz="1200" b="0" i="0" u="none" strike="noStrike" dirty="0" err="1">
                          <a:solidFill>
                            <a:srgbClr val="000000"/>
                          </a:solidFill>
                          <a:effectLst/>
                          <a:latin typeface="Aptos" panose="020B0004020202020204" pitchFamily="34" charset="0"/>
                        </a:rPr>
                        <a:t>grapsi</a:t>
                      </a:r>
                      <a:r>
                        <a:rPr lang="en-US" sz="1200" b="0" i="0" u="none" strike="noStrike" dirty="0">
                          <a:solidFill>
                            <a:srgbClr val="000000"/>
                          </a:solidFill>
                          <a:effectLst/>
                          <a:latin typeface="Aptos" panose="020B0004020202020204" pitchFamily="34" charset="0"/>
                        </a:rPr>
                        <a:t> (see above)</a:t>
                      </a:r>
                      <a:endParaRPr lang="en-US"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3187372577"/>
                  </a:ext>
                </a:extLst>
              </a:tr>
            </a:tbl>
          </a:graphicData>
        </a:graphic>
      </p:graphicFrame>
      <p:sp>
        <p:nvSpPr>
          <p:cNvPr id="3" name="Slide Number Placeholder 2">
            <a:extLst>
              <a:ext uri="{FF2B5EF4-FFF2-40B4-BE49-F238E27FC236}">
                <a16:creationId xmlns="" xmlns:a16="http://schemas.microsoft.com/office/drawing/2014/main" id="{B76F9E49-31B8-1401-0C99-211EE09C4A8D}"/>
              </a:ext>
            </a:extLst>
          </p:cNvPr>
          <p:cNvSpPr>
            <a:spLocks noGrp="1"/>
          </p:cNvSpPr>
          <p:nvPr>
            <p:ph type="sldNum" sz="quarter" idx="12"/>
          </p:nvPr>
        </p:nvSpPr>
        <p:spPr/>
        <p:txBody>
          <a:bodyPr/>
          <a:lstStyle/>
          <a:p>
            <a:fld id="{084E6F96-DBA9-4966-8C10-B0B4DAA302D2}" type="slidenum">
              <a:rPr lang="el-GR" smtClean="0"/>
              <a:pPr/>
              <a:t>49</a:t>
            </a:fld>
            <a:endParaRPr lang="el-G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a:extLst>
              <a:ext uri="{FF2B5EF4-FFF2-40B4-BE49-F238E27FC236}">
                <a16:creationId xmlns="" xmlns:a16="http://schemas.microsoft.com/office/drawing/2014/main" id="{C0619CFB-8ABC-82D3-CB43-01808A5F2C67}"/>
              </a:ext>
            </a:extLst>
          </p:cNvPr>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a:extLst>
              <a:ext uri="{FF2B5EF4-FFF2-40B4-BE49-F238E27FC236}">
                <a16:creationId xmlns="" xmlns:a16="http://schemas.microsoft.com/office/drawing/2014/main" id="{D9862EFE-8502-2DE3-655C-D3C8DFBB9BDA}"/>
              </a:ext>
            </a:extLst>
          </p:cNvPr>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a:extLst>
              <a:ext uri="{FF2B5EF4-FFF2-40B4-BE49-F238E27FC236}">
                <a16:creationId xmlns="" xmlns:a16="http://schemas.microsoft.com/office/drawing/2014/main" id="{C23D17DF-D0A4-CE89-571D-F5374C762088}"/>
              </a:ext>
            </a:extLst>
          </p:cNvPr>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a:extLst>
              <a:ext uri="{FF2B5EF4-FFF2-40B4-BE49-F238E27FC236}">
                <a16:creationId xmlns="" xmlns:a16="http://schemas.microsoft.com/office/drawing/2014/main" id="{43F770C0-B0B6-955D-8E12-056CD7D3D587}"/>
              </a:ext>
            </a:extLst>
          </p:cNvPr>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a:extLst>
              <a:ext uri="{FF2B5EF4-FFF2-40B4-BE49-F238E27FC236}">
                <a16:creationId xmlns="" xmlns:a16="http://schemas.microsoft.com/office/drawing/2014/main" id="{42A1BEFB-813D-1B5E-3B2E-85FF92EBC842}"/>
              </a:ext>
            </a:extLst>
          </p:cNvPr>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a:extLst>
              <a:ext uri="{FF2B5EF4-FFF2-40B4-BE49-F238E27FC236}">
                <a16:creationId xmlns="" xmlns:a16="http://schemas.microsoft.com/office/drawing/2014/main" id="{38AAFF87-6202-C536-F94D-746418E914B1}"/>
              </a:ext>
            </a:extLst>
          </p:cNvPr>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9F7D1F9A-A4CD-5F4C-5A6D-B85AD3AED9DD}"/>
              </a:ext>
            </a:extLst>
          </p:cNvPr>
          <p:cNvSpPr txBox="1">
            <a:spLocks/>
          </p:cNvSpPr>
          <p:nvPr/>
        </p:nvSpPr>
        <p:spPr>
          <a:xfrm>
            <a:off x="805268" y="620688"/>
            <a:ext cx="7601491"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a:t>A new annotation scheme for MG</a:t>
            </a:r>
            <a:endParaRPr lang="el-GR" sz="4400" b="0" dirty="0"/>
          </a:p>
        </p:txBody>
      </p:sp>
      <p:graphicFrame>
        <p:nvGraphicFramePr>
          <p:cNvPr id="3" name="Πίνακας 2">
            <a:extLst>
              <a:ext uri="{FF2B5EF4-FFF2-40B4-BE49-F238E27FC236}">
                <a16:creationId xmlns="" xmlns:a16="http://schemas.microsoft.com/office/drawing/2014/main" id="{D9F9315D-F59D-19CE-488C-BB7838F155C1}"/>
              </a:ext>
            </a:extLst>
          </p:cNvPr>
          <p:cNvGraphicFramePr>
            <a:graphicFrameLocks noGrp="1"/>
          </p:cNvGraphicFramePr>
          <p:nvPr>
            <p:extLst>
              <p:ext uri="{D42A27DB-BD31-4B8C-83A1-F6EECF244321}">
                <p14:modId xmlns="" xmlns:p14="http://schemas.microsoft.com/office/powerpoint/2010/main" val="2810493001"/>
              </p:ext>
            </p:extLst>
          </p:nvPr>
        </p:nvGraphicFramePr>
        <p:xfrm>
          <a:off x="2465070" y="2177863"/>
          <a:ext cx="4213860" cy="3931920"/>
        </p:xfrm>
        <a:graphic>
          <a:graphicData uri="http://schemas.openxmlformats.org/drawingml/2006/table">
            <a:tbl>
              <a:tblPr/>
              <a:tblGrid>
                <a:gridCol w="1508760">
                  <a:extLst>
                    <a:ext uri="{9D8B030D-6E8A-4147-A177-3AD203B41FA5}">
                      <a16:colId xmlns="" xmlns:a16="http://schemas.microsoft.com/office/drawing/2014/main" val="1100347153"/>
                    </a:ext>
                  </a:extLst>
                </a:gridCol>
                <a:gridCol w="1303020">
                  <a:extLst>
                    <a:ext uri="{9D8B030D-6E8A-4147-A177-3AD203B41FA5}">
                      <a16:colId xmlns="" xmlns:a16="http://schemas.microsoft.com/office/drawing/2014/main" val="2202472417"/>
                    </a:ext>
                  </a:extLst>
                </a:gridCol>
                <a:gridCol w="1402080">
                  <a:extLst>
                    <a:ext uri="{9D8B030D-6E8A-4147-A177-3AD203B41FA5}">
                      <a16:colId xmlns="" xmlns:a16="http://schemas.microsoft.com/office/drawing/2014/main" val="1735579613"/>
                    </a:ext>
                  </a:extLst>
                </a:gridCol>
              </a:tblGrid>
              <a:tr h="0">
                <a:tc gridSpan="3">
                  <a:txBody>
                    <a:bodyPr/>
                    <a:lstStyle/>
                    <a:p>
                      <a:pPr algn="just" rtl="0" fontAlgn="t">
                        <a:buNone/>
                      </a:pPr>
                      <a:r>
                        <a:rPr lang="en-US" sz="1200" b="1" i="0" u="none" strike="noStrike">
                          <a:solidFill>
                            <a:srgbClr val="000000"/>
                          </a:solidFill>
                          <a:effectLst/>
                          <a:latin typeface="Aptos" panose="020B0004020202020204" pitchFamily="34" charset="0"/>
                        </a:rPr>
                        <a:t>Verb forms with </a:t>
                      </a:r>
                      <a:r>
                        <a:rPr lang="en-US" sz="1200" b="1" i="1" u="none" strike="noStrike">
                          <a:solidFill>
                            <a:srgbClr val="000000"/>
                          </a:solidFill>
                          <a:effectLst/>
                          <a:latin typeface="Aptos" panose="020B0004020202020204" pitchFamily="34" charset="0"/>
                        </a:rPr>
                        <a:t>tha</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l-GR"/>
                    </a:p>
                  </a:txBody>
                  <a:tcPr/>
                </a:tc>
                <a:tc hMerge="1">
                  <a:txBody>
                    <a:bodyPr/>
                    <a:lstStyle/>
                    <a:p>
                      <a:endParaRPr lang="el-GR"/>
                    </a:p>
                  </a:txBody>
                  <a:tcPr/>
                </a:tc>
                <a:extLst>
                  <a:ext uri="{0D108BD9-81ED-4DB2-BD59-A6C34878D82A}">
                    <a16:rowId xmlns="" xmlns:a16="http://schemas.microsoft.com/office/drawing/2014/main" val="941826631"/>
                  </a:ext>
                </a:extLst>
              </a:tr>
              <a:tr h="0">
                <a:tc>
                  <a:txBody>
                    <a:bodyPr/>
                    <a:lstStyle/>
                    <a:p>
                      <a:pPr algn="just" rtl="0" fontAlgn="t">
                        <a:buNone/>
                      </a:pPr>
                      <a:r>
                        <a:rPr lang="en-US" sz="1200" b="0" i="0" u="none" strike="noStrike">
                          <a:solidFill>
                            <a:srgbClr val="000000"/>
                          </a:solidFill>
                          <a:effectLst/>
                          <a:latin typeface="Aptos" panose="020B0004020202020204" pitchFamily="34" charset="0"/>
                        </a:rPr>
                        <a:t>Future</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tha grafo</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tha=particle, </a:t>
                      </a:r>
                      <a:endParaRPr lang="en-US">
                        <a:effectLst/>
                      </a:endParaRPr>
                    </a:p>
                    <a:p>
                      <a:pPr algn="just" rtl="0" fontAlgn="t">
                        <a:buNone/>
                      </a:pPr>
                      <a:r>
                        <a:rPr lang="en-US" sz="1200" b="0" i="0" u="none" strike="noStrike">
                          <a:solidFill>
                            <a:srgbClr val="000000"/>
                          </a:solidFill>
                          <a:effectLst/>
                          <a:latin typeface="Aptos" panose="020B0004020202020204" pitchFamily="34" charset="0"/>
                        </a:rPr>
                        <a:t>grafo (see above)</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3391481032"/>
                  </a:ext>
                </a:extLst>
              </a:tr>
              <a:tr h="0">
                <a:tc>
                  <a:txBody>
                    <a:bodyPr/>
                    <a:lstStyle/>
                    <a:p>
                      <a:pPr algn="just" rtl="0" fontAlgn="t">
                        <a:buNone/>
                      </a:pPr>
                      <a:r>
                        <a:rPr lang="en-US" sz="1200" b="0" i="0" u="none" strike="noStrike">
                          <a:solidFill>
                            <a:srgbClr val="000000"/>
                          </a:solidFill>
                          <a:effectLst/>
                          <a:latin typeface="Aptos" panose="020B0004020202020204" pitchFamily="34" charset="0"/>
                        </a:rPr>
                        <a:t>Future</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tha grapso</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tha=particle, </a:t>
                      </a:r>
                      <a:endParaRPr lang="en-US">
                        <a:effectLst/>
                      </a:endParaRPr>
                    </a:p>
                    <a:p>
                      <a:pPr algn="just" rtl="0" fontAlgn="t">
                        <a:buNone/>
                      </a:pPr>
                      <a:r>
                        <a:rPr lang="en-US" sz="1200" b="0" i="0" u="none" strike="noStrike">
                          <a:solidFill>
                            <a:srgbClr val="000000"/>
                          </a:solidFill>
                          <a:effectLst/>
                          <a:latin typeface="Aptos" panose="020B0004020202020204" pitchFamily="34" charset="0"/>
                        </a:rPr>
                        <a:t>grapso (see above)</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223305107"/>
                  </a:ext>
                </a:extLst>
              </a:tr>
              <a:tr h="0">
                <a:tc>
                  <a:txBody>
                    <a:bodyPr/>
                    <a:lstStyle/>
                    <a:p>
                      <a:pPr algn="just" rtl="0" fontAlgn="t">
                        <a:buNone/>
                      </a:pPr>
                      <a:r>
                        <a:rPr lang="el-GR" sz="1200" b="0" i="0" u="none" strike="noStrike">
                          <a:solidFill>
                            <a:srgbClr val="000000"/>
                          </a:solidFill>
                          <a:effectLst/>
                          <a:latin typeface="Aptos" panose="020B0004020202020204" pitchFamily="34" charset="0"/>
                        </a:rPr>
                        <a:t>???</a:t>
                      </a:r>
                      <a:endParaRPr lang="el-GR">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tha egrafa</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tha=particle, </a:t>
                      </a:r>
                      <a:endParaRPr lang="en-US">
                        <a:effectLst/>
                      </a:endParaRPr>
                    </a:p>
                    <a:p>
                      <a:pPr algn="just" rtl="0" fontAlgn="t">
                        <a:buNone/>
                      </a:pPr>
                      <a:r>
                        <a:rPr lang="en-US" sz="1200" b="0" i="0" u="none" strike="noStrike">
                          <a:solidFill>
                            <a:srgbClr val="000000"/>
                          </a:solidFill>
                          <a:effectLst/>
                          <a:latin typeface="Aptos" panose="020B0004020202020204" pitchFamily="34" charset="0"/>
                        </a:rPr>
                        <a:t>egrafa (see above)</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3660162920"/>
                  </a:ext>
                </a:extLst>
              </a:tr>
              <a:tr h="0">
                <a:tc>
                  <a:txBody>
                    <a:bodyPr/>
                    <a:lstStyle/>
                    <a:p>
                      <a:pPr algn="just" rtl="0" fontAlgn="t">
                        <a:buNone/>
                      </a:pPr>
                      <a:r>
                        <a:rPr lang="el-GR" sz="1200" b="0" i="0" u="none" strike="noStrike">
                          <a:solidFill>
                            <a:srgbClr val="000000"/>
                          </a:solidFill>
                          <a:effectLst/>
                          <a:latin typeface="Aptos" panose="020B0004020202020204" pitchFamily="34" charset="0"/>
                        </a:rPr>
                        <a:t>???</a:t>
                      </a:r>
                      <a:endParaRPr lang="el-GR">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tha egrapsa</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tha=particle, </a:t>
                      </a:r>
                      <a:endParaRPr lang="en-US">
                        <a:effectLst/>
                      </a:endParaRPr>
                    </a:p>
                    <a:p>
                      <a:pPr algn="just" rtl="0" fontAlgn="t">
                        <a:buNone/>
                      </a:pPr>
                      <a:r>
                        <a:rPr lang="en-US" sz="1200" b="0" i="0" u="none" strike="noStrike">
                          <a:solidFill>
                            <a:srgbClr val="000000"/>
                          </a:solidFill>
                          <a:effectLst/>
                          <a:latin typeface="Aptos" panose="020B0004020202020204" pitchFamily="34" charset="0"/>
                        </a:rPr>
                        <a:t>egrapsa (see above)</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3183209907"/>
                  </a:ext>
                </a:extLst>
              </a:tr>
              <a:tr h="0">
                <a:tc>
                  <a:txBody>
                    <a:bodyPr/>
                    <a:lstStyle/>
                    <a:p>
                      <a:pPr algn="just" rtl="0" fontAlgn="t">
                        <a:buNone/>
                      </a:pPr>
                      <a:r>
                        <a:rPr lang="en-US" sz="1200" b="0" i="0" u="none" strike="noStrike">
                          <a:solidFill>
                            <a:srgbClr val="000000"/>
                          </a:solidFill>
                          <a:effectLst/>
                          <a:latin typeface="Aptos" panose="020B0004020202020204" pitchFamily="34" charset="0"/>
                        </a:rPr>
                        <a:t>future perfect</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tha echo grapsi</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tha=particle, </a:t>
                      </a:r>
                      <a:endParaRPr lang="en-US">
                        <a:effectLst/>
                      </a:endParaRPr>
                    </a:p>
                    <a:p>
                      <a:pPr algn="just" rtl="0" fontAlgn="t">
                        <a:buNone/>
                      </a:pPr>
                      <a:r>
                        <a:rPr lang="en-US" sz="1200" b="0" i="0" u="none" strike="noStrike">
                          <a:solidFill>
                            <a:srgbClr val="000000"/>
                          </a:solidFill>
                          <a:effectLst/>
                          <a:latin typeface="Aptos" panose="020B0004020202020204" pitchFamily="34" charset="0"/>
                        </a:rPr>
                        <a:t>echo grapsi (see above)</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3157885241"/>
                  </a:ext>
                </a:extLst>
              </a:tr>
              <a:tr h="0">
                <a:tc>
                  <a:txBody>
                    <a:bodyPr/>
                    <a:lstStyle/>
                    <a:p>
                      <a:pPr algn="just" rtl="0" fontAlgn="t">
                        <a:buNone/>
                      </a:pPr>
                      <a:r>
                        <a:rPr lang="el-GR" sz="1200" b="0" i="0" u="none" strike="noStrike">
                          <a:solidFill>
                            <a:srgbClr val="000000"/>
                          </a:solidFill>
                          <a:effectLst/>
                          <a:latin typeface="Aptos" panose="020B0004020202020204" pitchFamily="34" charset="0"/>
                        </a:rPr>
                        <a:t>???</a:t>
                      </a:r>
                      <a:endParaRPr lang="el-GR">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a:solidFill>
                            <a:srgbClr val="000000"/>
                          </a:solidFill>
                          <a:effectLst/>
                          <a:latin typeface="Aptos" panose="020B0004020202020204" pitchFamily="34" charset="0"/>
                        </a:rPr>
                        <a:t>tha icha grapsi</a:t>
                      </a:r>
                      <a:endParaRPr lang="en-US">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buNone/>
                      </a:pPr>
                      <a:r>
                        <a:rPr lang="en-US" sz="1200" b="0" i="0" u="none" strike="noStrike" dirty="0" err="1">
                          <a:solidFill>
                            <a:srgbClr val="000000"/>
                          </a:solidFill>
                          <a:effectLst/>
                          <a:latin typeface="Aptos" panose="020B0004020202020204" pitchFamily="34" charset="0"/>
                        </a:rPr>
                        <a:t>tha</a:t>
                      </a:r>
                      <a:r>
                        <a:rPr lang="en-US" sz="1200" b="0" i="0" u="none" strike="noStrike" dirty="0">
                          <a:solidFill>
                            <a:srgbClr val="000000"/>
                          </a:solidFill>
                          <a:effectLst/>
                          <a:latin typeface="Aptos" panose="020B0004020202020204" pitchFamily="34" charset="0"/>
                        </a:rPr>
                        <a:t>=particle, </a:t>
                      </a:r>
                      <a:endParaRPr lang="en-US" dirty="0">
                        <a:effectLst/>
                      </a:endParaRPr>
                    </a:p>
                    <a:p>
                      <a:pPr algn="just" rtl="0" fontAlgn="t">
                        <a:buNone/>
                      </a:pPr>
                      <a:r>
                        <a:rPr lang="en-US" sz="1200" b="0" i="0" u="none" strike="noStrike" dirty="0" err="1">
                          <a:solidFill>
                            <a:srgbClr val="000000"/>
                          </a:solidFill>
                          <a:effectLst/>
                          <a:latin typeface="Aptos" panose="020B0004020202020204" pitchFamily="34" charset="0"/>
                        </a:rPr>
                        <a:t>icha</a:t>
                      </a:r>
                      <a:r>
                        <a:rPr lang="en-US" sz="1200" b="0" i="0" u="none" strike="noStrike" dirty="0">
                          <a:solidFill>
                            <a:srgbClr val="000000"/>
                          </a:solidFill>
                          <a:effectLst/>
                          <a:latin typeface="Aptos" panose="020B0004020202020204" pitchFamily="34" charset="0"/>
                        </a:rPr>
                        <a:t> </a:t>
                      </a:r>
                      <a:r>
                        <a:rPr lang="en-US" sz="1200" b="0" i="0" u="none" strike="noStrike" dirty="0" err="1">
                          <a:solidFill>
                            <a:srgbClr val="000000"/>
                          </a:solidFill>
                          <a:effectLst/>
                          <a:latin typeface="Aptos" panose="020B0004020202020204" pitchFamily="34" charset="0"/>
                        </a:rPr>
                        <a:t>grapsi</a:t>
                      </a:r>
                      <a:r>
                        <a:rPr lang="en-US" sz="1200" b="0" i="0" u="none" strike="noStrike" dirty="0">
                          <a:solidFill>
                            <a:srgbClr val="000000"/>
                          </a:solidFill>
                          <a:effectLst/>
                          <a:latin typeface="Aptos" panose="020B0004020202020204" pitchFamily="34" charset="0"/>
                        </a:rPr>
                        <a:t> (see above)</a:t>
                      </a:r>
                      <a:endParaRPr lang="en-US" dirty="0">
                        <a:effectLst/>
                      </a:endParaRPr>
                    </a:p>
                  </a:txBody>
                  <a:tcPr marL="68580" marR="6858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976900989"/>
                  </a:ext>
                </a:extLst>
              </a:tr>
            </a:tbl>
          </a:graphicData>
        </a:graphic>
      </p:graphicFrame>
      <p:sp>
        <p:nvSpPr>
          <p:cNvPr id="10" name="Slide Number Placeholder 9">
            <a:extLst>
              <a:ext uri="{FF2B5EF4-FFF2-40B4-BE49-F238E27FC236}">
                <a16:creationId xmlns="" xmlns:a16="http://schemas.microsoft.com/office/drawing/2014/main" id="{54C43744-9AF3-254D-A4A8-1887E9A7AE68}"/>
              </a:ext>
            </a:extLst>
          </p:cNvPr>
          <p:cNvSpPr>
            <a:spLocks noGrp="1"/>
          </p:cNvSpPr>
          <p:nvPr>
            <p:ph type="sldNum" sz="quarter" idx="12"/>
          </p:nvPr>
        </p:nvSpPr>
        <p:spPr/>
        <p:txBody>
          <a:bodyPr/>
          <a:lstStyle/>
          <a:p>
            <a:fld id="{084E6F96-DBA9-4966-8C10-B0B4DAA302D2}" type="slidenum">
              <a:rPr lang="el-GR" smtClean="0"/>
              <a:pPr/>
              <a:t>50</a:t>
            </a:fld>
            <a:endParaRPr lang="el-G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78CA0564-2F95-137B-FC26-A0CA15870979}"/>
              </a:ext>
            </a:extLst>
          </p:cNvPr>
          <p:cNvSpPr txBox="1">
            <a:spLocks/>
          </p:cNvSpPr>
          <p:nvPr/>
        </p:nvSpPr>
        <p:spPr>
          <a:xfrm>
            <a:off x="805268" y="620688"/>
            <a:ext cx="7601491"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a:t>A new PROIEL annotation scheme for MG</a:t>
            </a:r>
            <a:endParaRPr lang="el-GR" sz="4400" b="0" dirty="0"/>
          </a:p>
        </p:txBody>
      </p:sp>
      <p:graphicFrame>
        <p:nvGraphicFramePr>
          <p:cNvPr id="3" name="Πίνακας 2">
            <a:extLst>
              <a:ext uri="{FF2B5EF4-FFF2-40B4-BE49-F238E27FC236}">
                <a16:creationId xmlns="" xmlns:a16="http://schemas.microsoft.com/office/drawing/2014/main" id="{F692AEF7-5261-1957-A496-2AFF66FB8714}"/>
              </a:ext>
            </a:extLst>
          </p:cNvPr>
          <p:cNvGraphicFramePr>
            <a:graphicFrameLocks noGrp="1"/>
          </p:cNvGraphicFramePr>
          <p:nvPr>
            <p:extLst>
              <p:ext uri="{D42A27DB-BD31-4B8C-83A1-F6EECF244321}">
                <p14:modId xmlns="" xmlns:p14="http://schemas.microsoft.com/office/powerpoint/2010/main" val="1712353730"/>
              </p:ext>
            </p:extLst>
          </p:nvPr>
        </p:nvGraphicFramePr>
        <p:xfrm>
          <a:off x="1331640" y="2932890"/>
          <a:ext cx="6096000" cy="1112520"/>
        </p:xfrm>
        <a:graphic>
          <a:graphicData uri="http://schemas.openxmlformats.org/drawingml/2006/table">
            <a:tbl>
              <a:tblPr firstRow="1" bandRow="1">
                <a:tableStyleId>{5940675A-B579-460E-94D1-54222C63F5DA}</a:tableStyleId>
              </a:tblPr>
              <a:tblGrid>
                <a:gridCol w="2032000">
                  <a:extLst>
                    <a:ext uri="{9D8B030D-6E8A-4147-A177-3AD203B41FA5}">
                      <a16:colId xmlns="" xmlns:a16="http://schemas.microsoft.com/office/drawing/2014/main" val="1283084484"/>
                    </a:ext>
                  </a:extLst>
                </a:gridCol>
                <a:gridCol w="2032000">
                  <a:extLst>
                    <a:ext uri="{9D8B030D-6E8A-4147-A177-3AD203B41FA5}">
                      <a16:colId xmlns="" xmlns:a16="http://schemas.microsoft.com/office/drawing/2014/main" val="3271559236"/>
                    </a:ext>
                  </a:extLst>
                </a:gridCol>
                <a:gridCol w="2032000">
                  <a:extLst>
                    <a:ext uri="{9D8B030D-6E8A-4147-A177-3AD203B41FA5}">
                      <a16:colId xmlns="" xmlns:a16="http://schemas.microsoft.com/office/drawing/2014/main" val="894107205"/>
                    </a:ext>
                  </a:extLst>
                </a:gridCol>
              </a:tblGrid>
              <a:tr h="370840">
                <a:tc>
                  <a:txBody>
                    <a:bodyPr/>
                    <a:lstStyle/>
                    <a:p>
                      <a:endParaRPr lang="el-GR"/>
                    </a:p>
                  </a:txBody>
                  <a:tcPr/>
                </a:tc>
                <a:tc>
                  <a:txBody>
                    <a:bodyPr/>
                    <a:lstStyle/>
                    <a:p>
                      <a:r>
                        <a:rPr lang="en-US" dirty="0"/>
                        <a:t>imperfective</a:t>
                      </a:r>
                      <a:endParaRPr lang="el-GR" dirty="0"/>
                    </a:p>
                  </a:txBody>
                  <a:tcPr/>
                </a:tc>
                <a:tc>
                  <a:txBody>
                    <a:bodyPr/>
                    <a:lstStyle/>
                    <a:p>
                      <a:r>
                        <a:rPr lang="en-US" dirty="0"/>
                        <a:t>perfective</a:t>
                      </a:r>
                      <a:endParaRPr lang="el-GR" dirty="0"/>
                    </a:p>
                  </a:txBody>
                  <a:tcPr/>
                </a:tc>
                <a:extLst>
                  <a:ext uri="{0D108BD9-81ED-4DB2-BD59-A6C34878D82A}">
                    <a16:rowId xmlns="" xmlns:a16="http://schemas.microsoft.com/office/drawing/2014/main" val="2760006506"/>
                  </a:ext>
                </a:extLst>
              </a:tr>
              <a:tr h="370840">
                <a:tc>
                  <a:txBody>
                    <a:bodyPr/>
                    <a:lstStyle/>
                    <a:p>
                      <a:r>
                        <a:rPr lang="en-US" dirty="0"/>
                        <a:t>non-past</a:t>
                      </a:r>
                      <a:endParaRPr lang="el-GR" dirty="0"/>
                    </a:p>
                  </a:txBody>
                  <a:tcPr/>
                </a:tc>
                <a:tc>
                  <a:txBody>
                    <a:bodyPr/>
                    <a:lstStyle/>
                    <a:p>
                      <a:r>
                        <a:rPr lang="en-US" dirty="0" err="1"/>
                        <a:t>grafo</a:t>
                      </a:r>
                      <a:endParaRPr lang="el-GR" dirty="0"/>
                    </a:p>
                  </a:txBody>
                  <a:tcPr/>
                </a:tc>
                <a:tc>
                  <a:txBody>
                    <a:bodyPr/>
                    <a:lstStyle/>
                    <a:p>
                      <a:r>
                        <a:rPr lang="en-US" dirty="0" err="1"/>
                        <a:t>grapso</a:t>
                      </a:r>
                      <a:endParaRPr lang="el-GR" dirty="0"/>
                    </a:p>
                  </a:txBody>
                  <a:tcPr/>
                </a:tc>
                <a:extLst>
                  <a:ext uri="{0D108BD9-81ED-4DB2-BD59-A6C34878D82A}">
                    <a16:rowId xmlns="" xmlns:a16="http://schemas.microsoft.com/office/drawing/2014/main" val="1935664259"/>
                  </a:ext>
                </a:extLst>
              </a:tr>
              <a:tr h="370840">
                <a:tc>
                  <a:txBody>
                    <a:bodyPr/>
                    <a:lstStyle/>
                    <a:p>
                      <a:r>
                        <a:rPr lang="en-US" dirty="0"/>
                        <a:t>past</a:t>
                      </a:r>
                      <a:endParaRPr lang="el-GR" dirty="0"/>
                    </a:p>
                  </a:txBody>
                  <a:tcPr/>
                </a:tc>
                <a:tc>
                  <a:txBody>
                    <a:bodyPr/>
                    <a:lstStyle/>
                    <a:p>
                      <a:r>
                        <a:rPr lang="en-US" dirty="0" err="1"/>
                        <a:t>egrafa</a:t>
                      </a:r>
                      <a:endParaRPr lang="el-GR" dirty="0"/>
                    </a:p>
                  </a:txBody>
                  <a:tcPr/>
                </a:tc>
                <a:tc>
                  <a:txBody>
                    <a:bodyPr/>
                    <a:lstStyle/>
                    <a:p>
                      <a:r>
                        <a:rPr lang="en-US" dirty="0" err="1"/>
                        <a:t>egrapsa</a:t>
                      </a:r>
                      <a:endParaRPr lang="el-GR" dirty="0"/>
                    </a:p>
                  </a:txBody>
                  <a:tcPr/>
                </a:tc>
                <a:extLst>
                  <a:ext uri="{0D108BD9-81ED-4DB2-BD59-A6C34878D82A}">
                    <a16:rowId xmlns="" xmlns:a16="http://schemas.microsoft.com/office/drawing/2014/main" val="3108232215"/>
                  </a:ext>
                </a:extLst>
              </a:tr>
            </a:tbl>
          </a:graphicData>
        </a:graphic>
      </p:graphicFrame>
      <p:sp>
        <p:nvSpPr>
          <p:cNvPr id="12" name="Θέση περιεχομένου 2">
            <a:extLst>
              <a:ext uri="{FF2B5EF4-FFF2-40B4-BE49-F238E27FC236}">
                <a16:creationId xmlns="" xmlns:a16="http://schemas.microsoft.com/office/drawing/2014/main" id="{5DA44483-75F0-5A3F-985E-21707513A566}"/>
              </a:ext>
            </a:extLst>
          </p:cNvPr>
          <p:cNvSpPr txBox="1">
            <a:spLocks/>
          </p:cNvSpPr>
          <p:nvPr/>
        </p:nvSpPr>
        <p:spPr>
          <a:xfrm>
            <a:off x="831457" y="2034075"/>
            <a:ext cx="7601491" cy="972656"/>
          </a:xfrm>
          <a:prstGeom prst="rect">
            <a:avLst/>
          </a:prstGeom>
        </p:spPr>
        <p:txBody>
          <a:bodyPr>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457200" indent="-457200"/>
            <a:r>
              <a:rPr lang="en-US" sz="2400" dirty="0"/>
              <a:t>See </a:t>
            </a:r>
            <a:r>
              <a:rPr lang="en-US" sz="2400" dirty="0" err="1"/>
              <a:t>Tsangalidis</a:t>
            </a:r>
            <a:r>
              <a:rPr lang="en-US" sz="2400" dirty="0"/>
              <a:t> (2013) and Spyropoulos and </a:t>
            </a:r>
            <a:r>
              <a:rPr lang="en-US" sz="2400" dirty="0" err="1"/>
              <a:t>Stamatogiannis</a:t>
            </a:r>
            <a:r>
              <a:rPr lang="en-US" sz="2400" dirty="0"/>
              <a:t> (2013), among many others </a:t>
            </a:r>
          </a:p>
        </p:txBody>
      </p:sp>
      <p:sp>
        <p:nvSpPr>
          <p:cNvPr id="13" name="Θέση περιεχομένου 2">
            <a:extLst>
              <a:ext uri="{FF2B5EF4-FFF2-40B4-BE49-F238E27FC236}">
                <a16:creationId xmlns="" xmlns:a16="http://schemas.microsoft.com/office/drawing/2014/main" id="{9D995F24-B61A-5A9E-9FAB-00B7CBA90915}"/>
              </a:ext>
            </a:extLst>
          </p:cNvPr>
          <p:cNvSpPr txBox="1">
            <a:spLocks/>
          </p:cNvSpPr>
          <p:nvPr/>
        </p:nvSpPr>
        <p:spPr>
          <a:xfrm>
            <a:off x="838393" y="4223889"/>
            <a:ext cx="7601491" cy="1999990"/>
          </a:xfrm>
          <a:prstGeom prst="rect">
            <a:avLst/>
          </a:prstGeom>
        </p:spPr>
        <p:txBody>
          <a:bodyPr>
            <a:normAutofit lnSpcReduction="10000"/>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457200" indent="-457200"/>
            <a:r>
              <a:rPr lang="en-US" sz="2400" b="1" u="sng" dirty="0"/>
              <a:t>New tags: </a:t>
            </a:r>
          </a:p>
          <a:p>
            <a:pPr marL="713232" lvl="1" indent="-457200"/>
            <a:r>
              <a:rPr lang="en-US" sz="2000" dirty="0"/>
              <a:t>particle: for </a:t>
            </a:r>
            <a:r>
              <a:rPr lang="en-US" sz="2000" dirty="0" err="1"/>
              <a:t>na</a:t>
            </a:r>
            <a:r>
              <a:rPr lang="en-US" sz="2000" dirty="0"/>
              <a:t>/as, </a:t>
            </a:r>
            <a:r>
              <a:rPr lang="en-US" sz="2000" dirty="0" err="1"/>
              <a:t>tha</a:t>
            </a:r>
            <a:endParaRPr lang="en-US" sz="2000" dirty="0"/>
          </a:p>
          <a:p>
            <a:pPr marL="713232" lvl="1" indent="-457200"/>
            <a:r>
              <a:rPr lang="en-US" sz="2000" dirty="0"/>
              <a:t>non-finite: for periphrases of perfect tenses (echo </a:t>
            </a:r>
            <a:r>
              <a:rPr lang="en-US" sz="2000" b="1" dirty="0" err="1"/>
              <a:t>grapsi</a:t>
            </a:r>
            <a:r>
              <a:rPr lang="en-US" sz="2000" dirty="0"/>
              <a:t>, </a:t>
            </a:r>
            <a:r>
              <a:rPr lang="en-US" sz="2000" dirty="0" err="1"/>
              <a:t>icha</a:t>
            </a:r>
            <a:r>
              <a:rPr lang="en-US" sz="2000" dirty="0"/>
              <a:t> </a:t>
            </a:r>
            <a:r>
              <a:rPr lang="en-US" sz="2000" b="1" dirty="0" err="1"/>
              <a:t>grapsi</a:t>
            </a:r>
            <a:r>
              <a:rPr lang="en-US" sz="2000" dirty="0"/>
              <a:t>)</a:t>
            </a:r>
          </a:p>
          <a:p>
            <a:pPr marL="713232" lvl="1" indent="-457200"/>
            <a:r>
              <a:rPr lang="en-US" sz="2000" dirty="0"/>
              <a:t>No subjunctive</a:t>
            </a:r>
          </a:p>
          <a:p>
            <a:pPr marL="713232" lvl="1" indent="-457200"/>
            <a:r>
              <a:rPr lang="en-US" sz="2000" dirty="0"/>
              <a:t>Imperative: unspecified tense</a:t>
            </a:r>
          </a:p>
        </p:txBody>
      </p:sp>
      <p:sp>
        <p:nvSpPr>
          <p:cNvPr id="10" name="Slide Number Placeholder 9">
            <a:extLst>
              <a:ext uri="{FF2B5EF4-FFF2-40B4-BE49-F238E27FC236}">
                <a16:creationId xmlns="" xmlns:a16="http://schemas.microsoft.com/office/drawing/2014/main" id="{EA0ACCB0-F59C-CA31-B778-4C9F5F933472}"/>
              </a:ext>
            </a:extLst>
          </p:cNvPr>
          <p:cNvSpPr>
            <a:spLocks noGrp="1"/>
          </p:cNvSpPr>
          <p:nvPr>
            <p:ph type="sldNum" sz="quarter" idx="12"/>
          </p:nvPr>
        </p:nvSpPr>
        <p:spPr/>
        <p:txBody>
          <a:bodyPr/>
          <a:lstStyle/>
          <a:p>
            <a:fld id="{084E6F96-DBA9-4966-8C10-B0B4DAA302D2}" type="slidenum">
              <a:rPr lang="el-GR" smtClean="0"/>
              <a:pPr/>
              <a:t>51</a:t>
            </a:fld>
            <a:endParaRPr lang="el-G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EA807013-7AAF-D4E0-601A-D570B3957BBF}"/>
              </a:ext>
            </a:extLst>
          </p:cNvPr>
          <p:cNvSpPr txBox="1">
            <a:spLocks/>
          </p:cNvSpPr>
          <p:nvPr/>
        </p:nvSpPr>
        <p:spPr>
          <a:xfrm>
            <a:off x="539552" y="620687"/>
            <a:ext cx="8208912" cy="1355229"/>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a:t>Automatic syntactic parsing: Late Medieval Greek</a:t>
            </a:r>
            <a:endParaRPr lang="el-GR" sz="4400" b="0" dirty="0"/>
          </a:p>
        </p:txBody>
      </p:sp>
      <p:sp>
        <p:nvSpPr>
          <p:cNvPr id="3" name="Θέση περιεχομένου 2">
            <a:extLst>
              <a:ext uri="{FF2B5EF4-FFF2-40B4-BE49-F238E27FC236}">
                <a16:creationId xmlns="" xmlns:a16="http://schemas.microsoft.com/office/drawing/2014/main" id="{50EF77AC-CB97-06E3-2E6A-3C81CE26BE5B}"/>
              </a:ext>
            </a:extLst>
          </p:cNvPr>
          <p:cNvSpPr txBox="1">
            <a:spLocks/>
          </p:cNvSpPr>
          <p:nvPr/>
        </p:nvSpPr>
        <p:spPr>
          <a:xfrm>
            <a:off x="805268" y="2060848"/>
            <a:ext cx="7601491" cy="1854200"/>
          </a:xfrm>
          <a:prstGeom prst="rect">
            <a:avLst/>
          </a:prstGeom>
        </p:spPr>
        <p:txBody>
          <a:bodyPr>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457200" indent="-457200"/>
            <a:endParaRPr lang="en-US" sz="2000" dirty="0">
              <a:sym typeface="Wingdings" panose="05000000000000000000" pitchFamily="2" charset="2"/>
            </a:endParaRPr>
          </a:p>
          <a:p>
            <a:pPr marL="457200" indent="-457200"/>
            <a:r>
              <a:rPr lang="en-US" sz="2000" dirty="0">
                <a:sym typeface="Wingdings" panose="05000000000000000000" pitchFamily="2" charset="2"/>
              </a:rPr>
              <a:t>1 reference text (Sphrantzes) in Late Medieval Greek </a:t>
            </a:r>
            <a:r>
              <a:rPr lang="en-US" sz="2000" dirty="0"/>
              <a:t> </a:t>
            </a:r>
          </a:p>
          <a:p>
            <a:pPr marL="457200" indent="-457200"/>
            <a:r>
              <a:rPr lang="en-US" sz="2000" dirty="0"/>
              <a:t>selected 4 parsers trained in modern or ancient Greek for evaluation </a:t>
            </a:r>
          </a:p>
        </p:txBody>
      </p:sp>
      <p:graphicFrame>
        <p:nvGraphicFramePr>
          <p:cNvPr id="13" name="Πίνακας 12">
            <a:extLst>
              <a:ext uri="{FF2B5EF4-FFF2-40B4-BE49-F238E27FC236}">
                <a16:creationId xmlns="" xmlns:a16="http://schemas.microsoft.com/office/drawing/2014/main" id="{4456E0F5-15E0-B566-E87C-65A354A09C05}"/>
              </a:ext>
            </a:extLst>
          </p:cNvPr>
          <p:cNvGraphicFramePr>
            <a:graphicFrameLocks noGrp="1"/>
          </p:cNvGraphicFramePr>
          <p:nvPr>
            <p:extLst>
              <p:ext uri="{D42A27DB-BD31-4B8C-83A1-F6EECF244321}">
                <p14:modId xmlns="" xmlns:p14="http://schemas.microsoft.com/office/powerpoint/2010/main" val="2244935763"/>
              </p:ext>
            </p:extLst>
          </p:nvPr>
        </p:nvGraphicFramePr>
        <p:xfrm>
          <a:off x="1596008" y="3645024"/>
          <a:ext cx="6096000" cy="1854200"/>
        </p:xfrm>
        <a:graphic>
          <a:graphicData uri="http://schemas.openxmlformats.org/drawingml/2006/table">
            <a:tbl>
              <a:tblPr firstRow="1" bandRow="1">
                <a:tableStyleId>{F5AB1C69-6EDB-4FF4-983F-18BD219EF322}</a:tableStyleId>
              </a:tblPr>
              <a:tblGrid>
                <a:gridCol w="3048000">
                  <a:extLst>
                    <a:ext uri="{9D8B030D-6E8A-4147-A177-3AD203B41FA5}">
                      <a16:colId xmlns="" xmlns:a16="http://schemas.microsoft.com/office/drawing/2014/main" val="1626323965"/>
                    </a:ext>
                  </a:extLst>
                </a:gridCol>
                <a:gridCol w="3048000">
                  <a:extLst>
                    <a:ext uri="{9D8B030D-6E8A-4147-A177-3AD203B41FA5}">
                      <a16:colId xmlns="" xmlns:a16="http://schemas.microsoft.com/office/drawing/2014/main" val="3765409364"/>
                    </a:ext>
                  </a:extLst>
                </a:gridCol>
              </a:tblGrid>
              <a:tr h="370840">
                <a:tc>
                  <a:txBody>
                    <a:bodyPr/>
                    <a:lstStyle/>
                    <a:p>
                      <a:r>
                        <a:rPr lang="en-US" dirty="0"/>
                        <a:t>Parser</a:t>
                      </a:r>
                      <a:endParaRPr lang="el-GR" dirty="0"/>
                    </a:p>
                  </a:txBody>
                  <a:tcPr/>
                </a:tc>
                <a:tc>
                  <a:txBody>
                    <a:bodyPr/>
                    <a:lstStyle/>
                    <a:p>
                      <a:r>
                        <a:rPr lang="en-US" dirty="0"/>
                        <a:t>Trained dataset</a:t>
                      </a:r>
                    </a:p>
                  </a:txBody>
                  <a:tcPr/>
                </a:tc>
                <a:extLst>
                  <a:ext uri="{0D108BD9-81ED-4DB2-BD59-A6C34878D82A}">
                    <a16:rowId xmlns="" xmlns:a16="http://schemas.microsoft.com/office/drawing/2014/main" val="187880994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kern="1200" dirty="0">
                          <a:solidFill>
                            <a:schemeClr val="dk1"/>
                          </a:solidFill>
                          <a:sym typeface="Arial"/>
                        </a:rPr>
                        <a:t>Spacy-ELL</a:t>
                      </a:r>
                      <a:endParaRPr kumimoji="0" lang="en-US" kern="1200" dirty="0">
                        <a:solidFill>
                          <a:schemeClr val="dk1"/>
                        </a:solidFill>
                        <a:latin typeface="+mn-lt"/>
                        <a:ea typeface="+mn-ea"/>
                        <a:cs typeface="+mn-cs"/>
                        <a:sym typeface="Arial"/>
                      </a:endParaRPr>
                    </a:p>
                  </a:txBody>
                  <a:tcPr/>
                </a:tc>
                <a:tc>
                  <a:txBody>
                    <a:bodyPr/>
                    <a:lstStyle/>
                    <a:p>
                      <a:r>
                        <a:rPr lang="en-US" dirty="0"/>
                        <a:t>Modern Greek</a:t>
                      </a:r>
                    </a:p>
                  </a:txBody>
                  <a:tcPr/>
                </a:tc>
                <a:extLst>
                  <a:ext uri="{0D108BD9-81ED-4DB2-BD59-A6C34878D82A}">
                    <a16:rowId xmlns="" xmlns:a16="http://schemas.microsoft.com/office/drawing/2014/main" val="764934871"/>
                  </a:ext>
                </a:extLst>
              </a:tr>
              <a:tr h="370840">
                <a:tc>
                  <a:txBody>
                    <a:bodyPr/>
                    <a:lstStyle/>
                    <a:p>
                      <a:r>
                        <a:rPr lang="en-US" dirty="0" err="1"/>
                        <a:t>Odycy</a:t>
                      </a:r>
                      <a:endParaRPr lang="el-GR" dirty="0"/>
                    </a:p>
                  </a:txBody>
                  <a:tcPr/>
                </a:tc>
                <a:tc>
                  <a:txBody>
                    <a:bodyPr/>
                    <a:lstStyle/>
                    <a:p>
                      <a:r>
                        <a:rPr lang="en-US" dirty="0"/>
                        <a:t>Ancient Greek</a:t>
                      </a:r>
                    </a:p>
                  </a:txBody>
                  <a:tcPr/>
                </a:tc>
                <a:extLst>
                  <a:ext uri="{0D108BD9-81ED-4DB2-BD59-A6C34878D82A}">
                    <a16:rowId xmlns="" xmlns:a16="http://schemas.microsoft.com/office/drawing/2014/main" val="828779584"/>
                  </a:ext>
                </a:extLst>
              </a:tr>
              <a:tr h="370840">
                <a:tc>
                  <a:txBody>
                    <a:bodyPr/>
                    <a:lstStyle/>
                    <a:p>
                      <a:r>
                        <a:rPr lang="en-US" dirty="0"/>
                        <a:t>Grecy</a:t>
                      </a:r>
                      <a:endParaRPr lang="el-GR" dirty="0"/>
                    </a:p>
                  </a:txBody>
                  <a:tcPr/>
                </a:tc>
                <a:tc>
                  <a:txBody>
                    <a:bodyPr/>
                    <a:lstStyle/>
                    <a:p>
                      <a:r>
                        <a:rPr lang="en-US" dirty="0"/>
                        <a:t>Ancient Greek</a:t>
                      </a:r>
                    </a:p>
                  </a:txBody>
                  <a:tcPr/>
                </a:tc>
                <a:extLst>
                  <a:ext uri="{0D108BD9-81ED-4DB2-BD59-A6C34878D82A}">
                    <a16:rowId xmlns="" xmlns:a16="http://schemas.microsoft.com/office/drawing/2014/main" val="3840676273"/>
                  </a:ext>
                </a:extLst>
              </a:tr>
              <a:tr h="370840">
                <a:tc>
                  <a:txBody>
                    <a:bodyPr/>
                    <a:lstStyle/>
                    <a:p>
                      <a:r>
                        <a:rPr lang="en-US" dirty="0"/>
                        <a:t>Stanza-ELL</a:t>
                      </a:r>
                    </a:p>
                  </a:txBody>
                  <a:tcPr/>
                </a:tc>
                <a:tc>
                  <a:txBody>
                    <a:bodyPr/>
                    <a:lstStyle/>
                    <a:p>
                      <a:r>
                        <a:rPr lang="en-US" dirty="0"/>
                        <a:t>Modern Greek</a:t>
                      </a:r>
                    </a:p>
                  </a:txBody>
                  <a:tcPr/>
                </a:tc>
                <a:extLst>
                  <a:ext uri="{0D108BD9-81ED-4DB2-BD59-A6C34878D82A}">
                    <a16:rowId xmlns="" xmlns:a16="http://schemas.microsoft.com/office/drawing/2014/main" val="696980069"/>
                  </a:ext>
                </a:extLst>
              </a:tr>
            </a:tbl>
          </a:graphicData>
        </a:graphic>
      </p:graphicFrame>
      <p:sp>
        <p:nvSpPr>
          <p:cNvPr id="10" name="Slide Number Placeholder 9">
            <a:extLst>
              <a:ext uri="{FF2B5EF4-FFF2-40B4-BE49-F238E27FC236}">
                <a16:creationId xmlns="" xmlns:a16="http://schemas.microsoft.com/office/drawing/2014/main" id="{FCB14562-AB06-FCCB-7040-63930F88BC77}"/>
              </a:ext>
            </a:extLst>
          </p:cNvPr>
          <p:cNvSpPr>
            <a:spLocks noGrp="1"/>
          </p:cNvSpPr>
          <p:nvPr>
            <p:ph type="sldNum" sz="quarter" idx="12"/>
          </p:nvPr>
        </p:nvSpPr>
        <p:spPr/>
        <p:txBody>
          <a:bodyPr/>
          <a:lstStyle/>
          <a:p>
            <a:fld id="{084E6F96-DBA9-4966-8C10-B0B4DAA302D2}" type="slidenum">
              <a:rPr lang="el-GR" smtClean="0"/>
              <a:pPr/>
              <a:t>52</a:t>
            </a:fld>
            <a:endParaRPr lang="el-G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a:extLst>
              <a:ext uri="{FF2B5EF4-FFF2-40B4-BE49-F238E27FC236}">
                <a16:creationId xmlns="" xmlns:a16="http://schemas.microsoft.com/office/drawing/2014/main" id="{9D6AA226-197A-FE6B-CAD2-75DA26BA287D}"/>
              </a:ext>
            </a:extLst>
          </p:cNvPr>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a:extLst>
              <a:ext uri="{FF2B5EF4-FFF2-40B4-BE49-F238E27FC236}">
                <a16:creationId xmlns="" xmlns:a16="http://schemas.microsoft.com/office/drawing/2014/main" id="{DE884DE5-CE9C-55C2-C109-E31B513F0110}"/>
              </a:ext>
            </a:extLst>
          </p:cNvPr>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a:extLst>
              <a:ext uri="{FF2B5EF4-FFF2-40B4-BE49-F238E27FC236}">
                <a16:creationId xmlns="" xmlns:a16="http://schemas.microsoft.com/office/drawing/2014/main" id="{DAB20308-C62E-DA9D-8E46-29AE75C5236F}"/>
              </a:ext>
            </a:extLst>
          </p:cNvPr>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a:extLst>
              <a:ext uri="{FF2B5EF4-FFF2-40B4-BE49-F238E27FC236}">
                <a16:creationId xmlns="" xmlns:a16="http://schemas.microsoft.com/office/drawing/2014/main" id="{6605B91D-C96B-DB5B-2083-90F6B3D59EB1}"/>
              </a:ext>
            </a:extLst>
          </p:cNvPr>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a:extLst>
              <a:ext uri="{FF2B5EF4-FFF2-40B4-BE49-F238E27FC236}">
                <a16:creationId xmlns="" xmlns:a16="http://schemas.microsoft.com/office/drawing/2014/main" id="{A06C4C44-74B9-331F-AF69-24CA7BBF3BCC}"/>
              </a:ext>
            </a:extLst>
          </p:cNvPr>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a:extLst>
              <a:ext uri="{FF2B5EF4-FFF2-40B4-BE49-F238E27FC236}">
                <a16:creationId xmlns="" xmlns:a16="http://schemas.microsoft.com/office/drawing/2014/main" id="{180001B5-8225-40A6-3CEE-3F6888D28417}"/>
              </a:ext>
            </a:extLst>
          </p:cNvPr>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3915CC6E-768B-967B-A5DD-70BB4FA53C34}"/>
              </a:ext>
            </a:extLst>
          </p:cNvPr>
          <p:cNvSpPr txBox="1">
            <a:spLocks/>
          </p:cNvSpPr>
          <p:nvPr/>
        </p:nvSpPr>
        <p:spPr>
          <a:xfrm>
            <a:off x="539552" y="620687"/>
            <a:ext cx="8208912" cy="1355229"/>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a:t>Automatic syntactic parsing: Late Medieval Greek</a:t>
            </a:r>
            <a:endParaRPr lang="el-GR" sz="4400" b="0" dirty="0"/>
          </a:p>
        </p:txBody>
      </p:sp>
      <p:sp>
        <p:nvSpPr>
          <p:cNvPr id="3" name="Θέση περιεχομένου 2">
            <a:extLst>
              <a:ext uri="{FF2B5EF4-FFF2-40B4-BE49-F238E27FC236}">
                <a16:creationId xmlns="" xmlns:a16="http://schemas.microsoft.com/office/drawing/2014/main" id="{234790C1-4205-716A-C7A1-350E876BD8F2}"/>
              </a:ext>
            </a:extLst>
          </p:cNvPr>
          <p:cNvSpPr txBox="1">
            <a:spLocks/>
          </p:cNvSpPr>
          <p:nvPr/>
        </p:nvSpPr>
        <p:spPr>
          <a:xfrm>
            <a:off x="539552" y="2276872"/>
            <a:ext cx="8107720" cy="3168352"/>
          </a:xfrm>
          <a:prstGeom prst="rect">
            <a:avLst/>
          </a:prstGeom>
        </p:spPr>
        <p:txBody>
          <a:bodyPr>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lvl="0" indent="0">
              <a:spcBef>
                <a:spcPts val="600"/>
              </a:spcBef>
              <a:buNone/>
            </a:pPr>
            <a:r>
              <a:rPr lang="en-US" sz="2000" b="1" dirty="0"/>
              <a:t>Problem 1: </a:t>
            </a:r>
            <a:r>
              <a:rPr lang="en-US" sz="2000" dirty="0"/>
              <a:t>Parsers use UD/</a:t>
            </a:r>
            <a:r>
              <a:rPr lang="en-US" sz="2000" dirty="0" err="1"/>
              <a:t>CoNLL</a:t>
            </a:r>
            <a:r>
              <a:rPr lang="en-US" sz="2000" dirty="0"/>
              <a:t>-U Treebank Framework</a:t>
            </a:r>
          </a:p>
          <a:p>
            <a:pPr marL="0" lvl="0" indent="0">
              <a:spcBef>
                <a:spcPts val="600"/>
              </a:spcBef>
              <a:buNone/>
            </a:pPr>
            <a:endParaRPr lang="en-US" sz="2000" b="1" dirty="0"/>
          </a:p>
          <a:p>
            <a:pPr marL="0" lvl="0" indent="0">
              <a:spcBef>
                <a:spcPts val="600"/>
              </a:spcBef>
              <a:buNone/>
            </a:pPr>
            <a:r>
              <a:rPr lang="en-US" sz="2000" b="1" dirty="0"/>
              <a:t>A.1) Evaluate 4 parsers on reference text – </a:t>
            </a:r>
            <a:r>
              <a:rPr lang="en-US" sz="2000" b="1" dirty="0" err="1">
                <a:solidFill>
                  <a:schemeClr val="bg2">
                    <a:lumMod val="50000"/>
                  </a:schemeClr>
                </a:solidFill>
              </a:rPr>
              <a:t>CoNLL</a:t>
            </a:r>
            <a:r>
              <a:rPr lang="en-US" sz="2000" b="1" dirty="0">
                <a:solidFill>
                  <a:schemeClr val="bg2">
                    <a:lumMod val="50000"/>
                  </a:schemeClr>
                </a:solidFill>
              </a:rPr>
              <a:t>-U data </a:t>
            </a:r>
          </a:p>
          <a:p>
            <a:pPr marL="0" lvl="0" indent="0">
              <a:spcBef>
                <a:spcPts val="600"/>
              </a:spcBef>
              <a:buNone/>
            </a:pPr>
            <a:r>
              <a:rPr lang="en-US" sz="2000" dirty="0"/>
              <a:t>convert reference annotated treebank chron-1.xml to </a:t>
            </a:r>
            <a:r>
              <a:rPr lang="en-US" sz="2000" dirty="0" err="1"/>
              <a:t>CoNLL</a:t>
            </a:r>
            <a:r>
              <a:rPr lang="en-US" sz="2000" dirty="0"/>
              <a:t>-U using PROIEL method </a:t>
            </a:r>
          </a:p>
          <a:p>
            <a:pPr marL="0" lvl="0" indent="0">
              <a:spcBef>
                <a:spcPts val="600"/>
              </a:spcBef>
              <a:buNone/>
            </a:pPr>
            <a:r>
              <a:rPr lang="en-US" sz="2000" dirty="0"/>
              <a:t>run 4 parsers → get </a:t>
            </a:r>
            <a:r>
              <a:rPr lang="en-US" sz="2000" dirty="0" err="1"/>
              <a:t>CoNLL</a:t>
            </a:r>
            <a:r>
              <a:rPr lang="en-US" sz="2000" dirty="0"/>
              <a:t>-U results → compare to reference results </a:t>
            </a:r>
          </a:p>
          <a:p>
            <a:pPr marL="0" lvl="0" indent="0">
              <a:spcBef>
                <a:spcPts val="600"/>
              </a:spcBef>
              <a:buNone/>
            </a:pPr>
            <a:r>
              <a:rPr lang="en-US" sz="2000" dirty="0">
                <a:sym typeface="Wingdings" panose="05000000000000000000" pitchFamily="2" charset="2"/>
              </a:rPr>
              <a:t> Are they accurate for </a:t>
            </a:r>
            <a:r>
              <a:rPr lang="en-US" sz="2000" dirty="0" err="1">
                <a:sym typeface="Wingdings" panose="05000000000000000000" pitchFamily="2" charset="2"/>
              </a:rPr>
              <a:t>CoNLL</a:t>
            </a:r>
            <a:r>
              <a:rPr lang="en-US" sz="2000" dirty="0">
                <a:sym typeface="Wingdings" panose="05000000000000000000" pitchFamily="2" charset="2"/>
              </a:rPr>
              <a:t>-U?</a:t>
            </a:r>
            <a:endParaRPr lang="en-US" sz="2000" dirty="0"/>
          </a:p>
        </p:txBody>
      </p:sp>
      <p:sp>
        <p:nvSpPr>
          <p:cNvPr id="10" name="Slide Number Placeholder 9">
            <a:extLst>
              <a:ext uri="{FF2B5EF4-FFF2-40B4-BE49-F238E27FC236}">
                <a16:creationId xmlns="" xmlns:a16="http://schemas.microsoft.com/office/drawing/2014/main" id="{6199A03B-F53F-F2EC-703E-7A5909B6AC12}"/>
              </a:ext>
            </a:extLst>
          </p:cNvPr>
          <p:cNvSpPr>
            <a:spLocks noGrp="1"/>
          </p:cNvSpPr>
          <p:nvPr>
            <p:ph type="sldNum" sz="quarter" idx="12"/>
          </p:nvPr>
        </p:nvSpPr>
        <p:spPr/>
        <p:txBody>
          <a:bodyPr/>
          <a:lstStyle/>
          <a:p>
            <a:fld id="{084E6F96-DBA9-4966-8C10-B0B4DAA302D2}" type="slidenum">
              <a:rPr lang="el-GR" smtClean="0"/>
              <a:pPr/>
              <a:t>53</a:t>
            </a:fld>
            <a:endParaRPr lang="el-G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a:extLst>
              <a:ext uri="{FF2B5EF4-FFF2-40B4-BE49-F238E27FC236}">
                <a16:creationId xmlns="" xmlns:a16="http://schemas.microsoft.com/office/drawing/2014/main" id="{D08D22F5-ECF4-CAB3-F082-C7AA20FA0BDB}"/>
              </a:ext>
            </a:extLst>
          </p:cNvPr>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a:extLst>
              <a:ext uri="{FF2B5EF4-FFF2-40B4-BE49-F238E27FC236}">
                <a16:creationId xmlns="" xmlns:a16="http://schemas.microsoft.com/office/drawing/2014/main" id="{82672298-75B9-96FF-4E32-2512B067D288}"/>
              </a:ext>
            </a:extLst>
          </p:cNvPr>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a:extLst>
              <a:ext uri="{FF2B5EF4-FFF2-40B4-BE49-F238E27FC236}">
                <a16:creationId xmlns="" xmlns:a16="http://schemas.microsoft.com/office/drawing/2014/main" id="{0DA998B8-0F88-7C5B-26D1-1EECCAED20B3}"/>
              </a:ext>
            </a:extLst>
          </p:cNvPr>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a:extLst>
              <a:ext uri="{FF2B5EF4-FFF2-40B4-BE49-F238E27FC236}">
                <a16:creationId xmlns="" xmlns:a16="http://schemas.microsoft.com/office/drawing/2014/main" id="{239740F5-697F-BF67-DC29-2FBB836D4C73}"/>
              </a:ext>
            </a:extLst>
          </p:cNvPr>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a:extLst>
              <a:ext uri="{FF2B5EF4-FFF2-40B4-BE49-F238E27FC236}">
                <a16:creationId xmlns="" xmlns:a16="http://schemas.microsoft.com/office/drawing/2014/main" id="{E21A450B-FDCA-EB6F-8FD2-094D50F9360D}"/>
              </a:ext>
            </a:extLst>
          </p:cNvPr>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a:extLst>
              <a:ext uri="{FF2B5EF4-FFF2-40B4-BE49-F238E27FC236}">
                <a16:creationId xmlns="" xmlns:a16="http://schemas.microsoft.com/office/drawing/2014/main" id="{EB3A716E-CA5E-C4A0-B6D6-C0DF12BB4530}"/>
              </a:ext>
            </a:extLst>
          </p:cNvPr>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B776EE0A-971D-45D3-C9A6-59E21DFEE90E}"/>
              </a:ext>
            </a:extLst>
          </p:cNvPr>
          <p:cNvSpPr txBox="1">
            <a:spLocks/>
          </p:cNvSpPr>
          <p:nvPr/>
        </p:nvSpPr>
        <p:spPr>
          <a:xfrm>
            <a:off x="539552" y="620687"/>
            <a:ext cx="8208912" cy="1355229"/>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a:t>Automatic syntactic parsing: Late Medieval Greek</a:t>
            </a:r>
            <a:endParaRPr lang="el-GR" sz="4400" b="0" dirty="0"/>
          </a:p>
        </p:txBody>
      </p:sp>
      <p:sp>
        <p:nvSpPr>
          <p:cNvPr id="3" name="Θέση περιεχομένου 2">
            <a:extLst>
              <a:ext uri="{FF2B5EF4-FFF2-40B4-BE49-F238E27FC236}">
                <a16:creationId xmlns="" xmlns:a16="http://schemas.microsoft.com/office/drawing/2014/main" id="{94CC8348-9E8E-90AF-5173-0DF88D10C605}"/>
              </a:ext>
            </a:extLst>
          </p:cNvPr>
          <p:cNvSpPr txBox="1">
            <a:spLocks/>
          </p:cNvSpPr>
          <p:nvPr/>
        </p:nvSpPr>
        <p:spPr>
          <a:xfrm>
            <a:off x="539552" y="2276872"/>
            <a:ext cx="8107720" cy="3168352"/>
          </a:xfrm>
          <a:prstGeom prst="rect">
            <a:avLst/>
          </a:prstGeom>
        </p:spPr>
        <p:txBody>
          <a:bodyPr>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lvl="0" indent="0">
              <a:spcBef>
                <a:spcPts val="600"/>
              </a:spcBef>
              <a:buNone/>
            </a:pPr>
            <a:endParaRPr lang="en-US" sz="2000" b="1" dirty="0"/>
          </a:p>
          <a:p>
            <a:pPr marL="0" lvl="0" indent="0">
              <a:spcBef>
                <a:spcPts val="600"/>
              </a:spcBef>
              <a:buNone/>
            </a:pPr>
            <a:r>
              <a:rPr lang="en-US" sz="2000" b="1" dirty="0"/>
              <a:t>A.2) Evaluate 4 parsers on reference text - </a:t>
            </a:r>
            <a:r>
              <a:rPr lang="en-US" sz="2000" b="1" dirty="0">
                <a:solidFill>
                  <a:srgbClr val="00B050"/>
                </a:solidFill>
              </a:rPr>
              <a:t>PROIEL data </a:t>
            </a:r>
          </a:p>
          <a:p>
            <a:pPr marL="0" lvl="0" indent="0">
              <a:spcBef>
                <a:spcPts val="600"/>
              </a:spcBef>
              <a:buClr>
                <a:schemeClr val="dk1"/>
              </a:buClr>
              <a:buSzPct val="45833"/>
              <a:buNone/>
            </a:pPr>
            <a:r>
              <a:rPr lang="en-US" sz="2000" dirty="0"/>
              <a:t>run 4 parsers → get </a:t>
            </a:r>
            <a:r>
              <a:rPr lang="en-US" sz="2000" dirty="0" err="1"/>
              <a:t>CoNLL</a:t>
            </a:r>
            <a:r>
              <a:rPr lang="en-US" sz="2000" dirty="0"/>
              <a:t>-U results → convert to PROIEL using </a:t>
            </a:r>
            <a:r>
              <a:rPr lang="en-US" sz="2000" b="1" u="sng" dirty="0">
                <a:solidFill>
                  <a:schemeClr val="tx1">
                    <a:lumMod val="95000"/>
                    <a:lumOff val="5000"/>
                  </a:schemeClr>
                </a:solidFill>
              </a:rPr>
              <a:t>custom mapping </a:t>
            </a:r>
            <a:r>
              <a:rPr lang="en-US" sz="2000" dirty="0"/>
              <a:t>→ compare results to original PROEIL data </a:t>
            </a:r>
          </a:p>
          <a:p>
            <a:pPr marL="457200" indent="-457200"/>
            <a:r>
              <a:rPr lang="en-US" sz="2000" dirty="0"/>
              <a:t>Are they accurate for PROEIL?</a:t>
            </a:r>
          </a:p>
          <a:p>
            <a:pPr marL="457200" indent="-457200"/>
            <a:endParaRPr lang="en-US" sz="2000" dirty="0"/>
          </a:p>
          <a:p>
            <a:pPr marL="457200" indent="-457200"/>
            <a:r>
              <a:rPr lang="en-US" sz="2000" dirty="0"/>
              <a:t>Most data available in </a:t>
            </a:r>
            <a:r>
              <a:rPr lang="en-US" sz="2000" dirty="0" err="1"/>
              <a:t>CoNLL</a:t>
            </a:r>
            <a:r>
              <a:rPr lang="en-US" sz="2000" dirty="0"/>
              <a:t>-U </a:t>
            </a:r>
            <a:r>
              <a:rPr lang="en-US" sz="2000" dirty="0">
                <a:sym typeface="Wingdings" panose="05000000000000000000" pitchFamily="2" charset="2"/>
              </a:rPr>
              <a:t> conversion to PROEIL can speed up corpus compilation</a:t>
            </a:r>
            <a:endParaRPr lang="en-US" sz="2000" dirty="0"/>
          </a:p>
        </p:txBody>
      </p:sp>
      <p:sp>
        <p:nvSpPr>
          <p:cNvPr id="10" name="Slide Number Placeholder 9">
            <a:extLst>
              <a:ext uri="{FF2B5EF4-FFF2-40B4-BE49-F238E27FC236}">
                <a16:creationId xmlns="" xmlns:a16="http://schemas.microsoft.com/office/drawing/2014/main" id="{4452930D-3B28-DE5B-EE07-490ECFF29637}"/>
              </a:ext>
            </a:extLst>
          </p:cNvPr>
          <p:cNvSpPr>
            <a:spLocks noGrp="1"/>
          </p:cNvSpPr>
          <p:nvPr>
            <p:ph type="sldNum" sz="quarter" idx="12"/>
          </p:nvPr>
        </p:nvSpPr>
        <p:spPr/>
        <p:txBody>
          <a:bodyPr/>
          <a:lstStyle/>
          <a:p>
            <a:fld id="{084E6F96-DBA9-4966-8C10-B0B4DAA302D2}" type="slidenum">
              <a:rPr lang="el-GR" smtClean="0"/>
              <a:pPr/>
              <a:t>54</a:t>
            </a:fld>
            <a:endParaRPr lang="el-G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Θέση περιεχομένου 2">
            <a:extLst>
              <a:ext uri="{FF2B5EF4-FFF2-40B4-BE49-F238E27FC236}">
                <a16:creationId xmlns="" xmlns:a16="http://schemas.microsoft.com/office/drawing/2014/main" id="{3F6557F7-142E-D6DD-808E-101A51569118}"/>
              </a:ext>
            </a:extLst>
          </p:cNvPr>
          <p:cNvSpPr txBox="1">
            <a:spLocks/>
          </p:cNvSpPr>
          <p:nvPr/>
        </p:nvSpPr>
        <p:spPr>
          <a:xfrm>
            <a:off x="805268" y="5661248"/>
            <a:ext cx="8087212" cy="576064"/>
          </a:xfrm>
          <a:prstGeom prst="rect">
            <a:avLst/>
          </a:prstGeom>
        </p:spPr>
        <p:txBody>
          <a:bodyPr>
            <a:normAutofit fontScale="92500" lnSpcReduction="20000"/>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457200" indent="-457200"/>
            <a:r>
              <a:rPr lang="en-US" sz="2000" dirty="0"/>
              <a:t>very low F1 scores &lt;0.42 </a:t>
            </a:r>
            <a:r>
              <a:rPr lang="en-US" sz="2000" dirty="0">
                <a:sym typeface="Wingdings" panose="05000000000000000000" pitchFamily="2" charset="2"/>
              </a:rPr>
              <a:t> </a:t>
            </a:r>
            <a:r>
              <a:rPr lang="en-US" sz="2000" dirty="0"/>
              <a:t>models have poor performance in Late Medieval Greek texts</a:t>
            </a:r>
          </a:p>
        </p:txBody>
      </p:sp>
      <p:sp>
        <p:nvSpPr>
          <p:cNvPr id="3" name="Τίτλος 1">
            <a:extLst>
              <a:ext uri="{FF2B5EF4-FFF2-40B4-BE49-F238E27FC236}">
                <a16:creationId xmlns="" xmlns:a16="http://schemas.microsoft.com/office/drawing/2014/main" id="{34D77E80-66B7-51EF-6098-8907D195C5AD}"/>
              </a:ext>
            </a:extLst>
          </p:cNvPr>
          <p:cNvSpPr txBox="1">
            <a:spLocks/>
          </p:cNvSpPr>
          <p:nvPr/>
        </p:nvSpPr>
        <p:spPr>
          <a:xfrm>
            <a:off x="539552" y="620688"/>
            <a:ext cx="8208912"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a:t>Automatic syntactic parsing: Results</a:t>
            </a:r>
            <a:endParaRPr lang="el-GR" sz="4400" b="0" dirty="0"/>
          </a:p>
        </p:txBody>
      </p:sp>
      <p:sp>
        <p:nvSpPr>
          <p:cNvPr id="10" name="Θέση περιεχομένου 2">
            <a:extLst>
              <a:ext uri="{FF2B5EF4-FFF2-40B4-BE49-F238E27FC236}">
                <a16:creationId xmlns="" xmlns:a16="http://schemas.microsoft.com/office/drawing/2014/main" id="{F1B58447-902D-87C0-C623-16A89D0C62C2}"/>
              </a:ext>
            </a:extLst>
          </p:cNvPr>
          <p:cNvSpPr txBox="1">
            <a:spLocks/>
          </p:cNvSpPr>
          <p:nvPr/>
        </p:nvSpPr>
        <p:spPr>
          <a:xfrm>
            <a:off x="251520" y="2204864"/>
            <a:ext cx="3190668" cy="3203808"/>
          </a:xfrm>
          <a:prstGeom prst="rect">
            <a:avLst/>
          </a:prstGeom>
        </p:spPr>
        <p:txBody>
          <a:bodyPr>
            <a:normAutofit fontScale="92500" lnSpcReduction="10000"/>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457200" indent="-457200"/>
            <a:r>
              <a:rPr lang="en-US" sz="2000" dirty="0"/>
              <a:t>a simplified score = average (number of relations discovered successfully for each sentence compared to that of the original treebank)</a:t>
            </a:r>
          </a:p>
          <a:p>
            <a:pPr marL="457200" indent="-457200"/>
            <a:endParaRPr lang="en-US" sz="2000" dirty="0"/>
          </a:p>
          <a:p>
            <a:pPr marL="457200" indent="-457200"/>
            <a:r>
              <a:rPr lang="en-US" sz="2000" dirty="0"/>
              <a:t>F1 score (overall and across different UD syntactic classes)</a:t>
            </a:r>
          </a:p>
          <a:p>
            <a:pPr marL="457200" indent="-457200"/>
            <a:endParaRPr lang="en-US" sz="2000" dirty="0"/>
          </a:p>
        </p:txBody>
      </p:sp>
      <p:pic>
        <p:nvPicPr>
          <p:cNvPr id="12" name="Google Shape;176;p1">
            <a:extLst>
              <a:ext uri="{FF2B5EF4-FFF2-40B4-BE49-F238E27FC236}">
                <a16:creationId xmlns="" xmlns:a16="http://schemas.microsoft.com/office/drawing/2014/main" id="{4CC913CE-48B9-5F99-8C09-CA56CD1B00BC}"/>
              </a:ext>
            </a:extLst>
          </p:cNvPr>
          <p:cNvPicPr/>
          <p:nvPr/>
        </p:nvPicPr>
        <p:blipFill rotWithShape="1">
          <a:blip r:embed="rId3" cstate="print">
            <a:alphaModFix/>
          </a:blip>
          <a:srcRect/>
          <a:stretch/>
        </p:blipFill>
        <p:spPr>
          <a:xfrm>
            <a:off x="3618170" y="2203263"/>
            <a:ext cx="5274310" cy="3155950"/>
          </a:xfrm>
          <a:prstGeom prst="rect">
            <a:avLst/>
          </a:prstGeom>
          <a:noFill/>
          <a:ln>
            <a:noFill/>
          </a:ln>
        </p:spPr>
      </p:pic>
      <p:sp>
        <p:nvSpPr>
          <p:cNvPr id="11" name="Slide Number Placeholder 10">
            <a:extLst>
              <a:ext uri="{FF2B5EF4-FFF2-40B4-BE49-F238E27FC236}">
                <a16:creationId xmlns="" xmlns:a16="http://schemas.microsoft.com/office/drawing/2014/main" id="{0E48C9DF-E53D-1786-5E60-A4FBD17B9789}"/>
              </a:ext>
            </a:extLst>
          </p:cNvPr>
          <p:cNvSpPr>
            <a:spLocks noGrp="1"/>
          </p:cNvSpPr>
          <p:nvPr>
            <p:ph type="sldNum" sz="quarter" idx="12"/>
          </p:nvPr>
        </p:nvSpPr>
        <p:spPr/>
        <p:txBody>
          <a:bodyPr/>
          <a:lstStyle/>
          <a:p>
            <a:fld id="{084E6F96-DBA9-4966-8C10-B0B4DAA302D2}" type="slidenum">
              <a:rPr lang="el-GR" smtClean="0"/>
              <a:pPr/>
              <a:t>55</a:t>
            </a:fld>
            <a:endParaRPr lang="el-G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a:extLst>
              <a:ext uri="{FF2B5EF4-FFF2-40B4-BE49-F238E27FC236}">
                <a16:creationId xmlns="" xmlns:a16="http://schemas.microsoft.com/office/drawing/2014/main" id="{0ED31D2F-5948-EA77-8E1D-FC7F3FC48C68}"/>
              </a:ext>
            </a:extLst>
          </p:cNvPr>
          <p:cNvPicPr>
            <a:picLocks noChangeAspect="1" noChangeArrowheads="1"/>
          </p:cNvPicPr>
          <p:nvPr/>
        </p:nvPicPr>
        <p:blipFill>
          <a:blip r:embed="rId3"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a:extLst>
              <a:ext uri="{FF2B5EF4-FFF2-40B4-BE49-F238E27FC236}">
                <a16:creationId xmlns="" xmlns:a16="http://schemas.microsoft.com/office/drawing/2014/main" id="{DFD2FB8A-C828-AE14-BA63-09EB2BD66501}"/>
              </a:ext>
            </a:extLst>
          </p:cNvPr>
          <p:cNvPicPr>
            <a:picLocks noChangeAspect="1" noChangeArrowheads="1"/>
          </p:cNvPicPr>
          <p:nvPr/>
        </p:nvPicPr>
        <p:blipFill>
          <a:blip r:embed="rId3"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a:extLst>
              <a:ext uri="{FF2B5EF4-FFF2-40B4-BE49-F238E27FC236}">
                <a16:creationId xmlns="" xmlns:a16="http://schemas.microsoft.com/office/drawing/2014/main" id="{5AAA0EE6-E8BD-4322-BEF4-6686AB41881A}"/>
              </a:ext>
            </a:extLst>
          </p:cNvPr>
          <p:cNvPicPr>
            <a:picLocks noChangeAspect="1" noChangeArrowheads="1"/>
          </p:cNvPicPr>
          <p:nvPr/>
        </p:nvPicPr>
        <p:blipFill>
          <a:blip r:embed="rId3"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a:extLst>
              <a:ext uri="{FF2B5EF4-FFF2-40B4-BE49-F238E27FC236}">
                <a16:creationId xmlns="" xmlns:a16="http://schemas.microsoft.com/office/drawing/2014/main" id="{7E0BAE62-8C54-2985-254B-107CD2E7B58E}"/>
              </a:ext>
            </a:extLst>
          </p:cNvPr>
          <p:cNvPicPr>
            <a:picLocks noChangeAspect="1" noChangeArrowheads="1"/>
          </p:cNvPicPr>
          <p:nvPr/>
        </p:nvPicPr>
        <p:blipFill>
          <a:blip r:embed="rId3"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a:extLst>
              <a:ext uri="{FF2B5EF4-FFF2-40B4-BE49-F238E27FC236}">
                <a16:creationId xmlns="" xmlns:a16="http://schemas.microsoft.com/office/drawing/2014/main" id="{7B36B6EE-BFB7-7BD3-5DD0-430441535DE9}"/>
              </a:ext>
            </a:extLst>
          </p:cNvPr>
          <p:cNvPicPr>
            <a:picLocks noChangeAspect="1" noChangeArrowheads="1"/>
          </p:cNvPicPr>
          <p:nvPr/>
        </p:nvPicPr>
        <p:blipFill>
          <a:blip r:embed="rId3"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a:extLst>
              <a:ext uri="{FF2B5EF4-FFF2-40B4-BE49-F238E27FC236}">
                <a16:creationId xmlns="" xmlns:a16="http://schemas.microsoft.com/office/drawing/2014/main" id="{B991A0CB-AF4E-2762-9A46-2C74F74079BB}"/>
              </a:ext>
            </a:extLst>
          </p:cNvPr>
          <p:cNvPicPr>
            <a:picLocks noChangeAspect="1" noChangeArrowheads="1"/>
          </p:cNvPicPr>
          <p:nvPr/>
        </p:nvPicPr>
        <p:blipFill>
          <a:blip r:embed="rId3"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3" name="Τίτλος 1">
            <a:extLst>
              <a:ext uri="{FF2B5EF4-FFF2-40B4-BE49-F238E27FC236}">
                <a16:creationId xmlns="" xmlns:a16="http://schemas.microsoft.com/office/drawing/2014/main" id="{7FE2C6B7-6EF8-C173-CA1C-F453E74F15A8}"/>
              </a:ext>
            </a:extLst>
          </p:cNvPr>
          <p:cNvSpPr txBox="1">
            <a:spLocks/>
          </p:cNvSpPr>
          <p:nvPr/>
        </p:nvSpPr>
        <p:spPr>
          <a:xfrm>
            <a:off x="539552" y="620688"/>
            <a:ext cx="8208912"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a:t>Automatic syntactic parsing: Results</a:t>
            </a:r>
            <a:endParaRPr lang="el-GR" sz="4400" b="0" dirty="0"/>
          </a:p>
        </p:txBody>
      </p:sp>
      <p:sp>
        <p:nvSpPr>
          <p:cNvPr id="10" name="Θέση περιεχομένου 2">
            <a:extLst>
              <a:ext uri="{FF2B5EF4-FFF2-40B4-BE49-F238E27FC236}">
                <a16:creationId xmlns="" xmlns:a16="http://schemas.microsoft.com/office/drawing/2014/main" id="{BF058900-CC7E-FC90-0DEB-5093AE16049F}"/>
              </a:ext>
            </a:extLst>
          </p:cNvPr>
          <p:cNvSpPr txBox="1">
            <a:spLocks/>
          </p:cNvSpPr>
          <p:nvPr/>
        </p:nvSpPr>
        <p:spPr>
          <a:xfrm>
            <a:off x="539552" y="2359039"/>
            <a:ext cx="3190668" cy="3203808"/>
          </a:xfrm>
          <a:prstGeom prst="rect">
            <a:avLst/>
          </a:prstGeom>
        </p:spPr>
        <p:txBody>
          <a:bodyPr>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285750" indent="-285750"/>
            <a:r>
              <a:rPr lang="en-US" sz="2000"/>
              <a:t>Best results: semi-automatic annotation = as time-consuming as manual annotation</a:t>
            </a:r>
          </a:p>
          <a:p>
            <a:pPr marL="256032" lvl="1" indent="0">
              <a:buNone/>
            </a:pPr>
            <a:endParaRPr lang="en-US" sz="1600"/>
          </a:p>
          <a:p>
            <a:pPr marL="256032" lvl="1" indent="0">
              <a:buNone/>
            </a:pPr>
            <a:r>
              <a:rPr lang="en-US" sz="1800"/>
              <a:t>BUT better results in shorter sentences </a:t>
            </a:r>
            <a:r>
              <a:rPr lang="en-US" sz="1800">
                <a:sym typeface="Wingdings" panose="05000000000000000000" pitchFamily="2" charset="2"/>
              </a:rPr>
              <a:t> break up large sentences?</a:t>
            </a:r>
            <a:endParaRPr lang="en-US" sz="1800" dirty="0"/>
          </a:p>
        </p:txBody>
      </p:sp>
      <p:sp>
        <p:nvSpPr>
          <p:cNvPr id="11" name="Slide Number Placeholder 10">
            <a:extLst>
              <a:ext uri="{FF2B5EF4-FFF2-40B4-BE49-F238E27FC236}">
                <a16:creationId xmlns="" xmlns:a16="http://schemas.microsoft.com/office/drawing/2014/main" id="{8FB138B3-1054-8F51-A70E-00978C86435B}"/>
              </a:ext>
            </a:extLst>
          </p:cNvPr>
          <p:cNvSpPr>
            <a:spLocks noGrp="1"/>
          </p:cNvSpPr>
          <p:nvPr>
            <p:ph type="sldNum" sz="quarter" idx="12"/>
          </p:nvPr>
        </p:nvSpPr>
        <p:spPr/>
        <p:txBody>
          <a:bodyPr/>
          <a:lstStyle/>
          <a:p>
            <a:fld id="{084E6F96-DBA9-4966-8C10-B0B4DAA302D2}" type="slidenum">
              <a:rPr lang="el-GR" smtClean="0"/>
              <a:pPr/>
              <a:t>56</a:t>
            </a:fld>
            <a:endParaRPr lang="el-GR"/>
          </a:p>
        </p:txBody>
      </p:sp>
      <p:sp>
        <p:nvSpPr>
          <p:cNvPr id="14" name="Ορθογώνιο: Στρογγύλεμα γωνιών 13">
            <a:extLst>
              <a:ext uri="{FF2B5EF4-FFF2-40B4-BE49-F238E27FC236}">
                <a16:creationId xmlns="" xmlns:a16="http://schemas.microsoft.com/office/drawing/2014/main" id="{EFAE0750-251C-590E-0E1C-55FFA90D1C8F}"/>
              </a:ext>
            </a:extLst>
          </p:cNvPr>
          <p:cNvSpPr/>
          <p:nvPr/>
        </p:nvSpPr>
        <p:spPr>
          <a:xfrm>
            <a:off x="4995071" y="2107646"/>
            <a:ext cx="3318433" cy="3553602"/>
          </a:xfrm>
          <a:prstGeom prst="roundRect">
            <a:avLst/>
          </a:prstGeom>
          <a:solidFill>
            <a:schemeClr val="accent2">
              <a:lumMod val="20000"/>
              <a:lumOff val="80000"/>
            </a:schemeClr>
          </a:solid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ctr"/>
            <a:r>
              <a:rPr lang="en-US" sz="2000" b="1" u="sng" dirty="0" err="1">
                <a:solidFill>
                  <a:schemeClr val="tx1"/>
                </a:solidFill>
              </a:rPr>
              <a:t>CoNLL</a:t>
            </a:r>
            <a:r>
              <a:rPr lang="en-US" sz="2000" b="1" u="sng" dirty="0">
                <a:solidFill>
                  <a:schemeClr val="tx1"/>
                </a:solidFill>
              </a:rPr>
              <a:t>-U vs PROEIL</a:t>
            </a:r>
            <a:r>
              <a:rPr lang="en-US" sz="2000" dirty="0">
                <a:solidFill>
                  <a:schemeClr val="tx1"/>
                </a:solidFill>
              </a:rPr>
              <a:t>:</a:t>
            </a:r>
            <a:endParaRPr lang="en-US" sz="1600" dirty="0">
              <a:solidFill>
                <a:schemeClr val="tx1"/>
              </a:solidFill>
            </a:endParaRPr>
          </a:p>
          <a:p>
            <a:pPr marL="457200" indent="-457200">
              <a:buFont typeface="Arial" panose="020B0604020202020204" pitchFamily="34" charset="0"/>
              <a:buChar char="•"/>
            </a:pPr>
            <a:r>
              <a:rPr lang="en-US" sz="2000" dirty="0">
                <a:solidFill>
                  <a:schemeClr val="tx1"/>
                </a:solidFill>
              </a:rPr>
              <a:t>PROIEL has more fine-grained distinctions compared to UD-</a:t>
            </a:r>
            <a:r>
              <a:rPr lang="en-US" sz="2000" dirty="0" err="1">
                <a:solidFill>
                  <a:schemeClr val="tx1"/>
                </a:solidFill>
              </a:rPr>
              <a:t>ConLL</a:t>
            </a:r>
            <a:r>
              <a:rPr lang="en-US" sz="2000" dirty="0">
                <a:solidFill>
                  <a:schemeClr val="tx1"/>
                </a:solidFill>
              </a:rPr>
              <a:t> structural differences</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Θέση περιεχομένου 2">
            <a:extLst>
              <a:ext uri="{FF2B5EF4-FFF2-40B4-BE49-F238E27FC236}">
                <a16:creationId xmlns="" xmlns:a16="http://schemas.microsoft.com/office/drawing/2014/main" id="{9723618D-8F9A-C8BF-4C41-580F306B3BC0}"/>
              </a:ext>
            </a:extLst>
          </p:cNvPr>
          <p:cNvSpPr txBox="1">
            <a:spLocks/>
          </p:cNvSpPr>
          <p:nvPr/>
        </p:nvSpPr>
        <p:spPr>
          <a:xfrm>
            <a:off x="564398" y="2304012"/>
            <a:ext cx="8064896" cy="3491840"/>
          </a:xfrm>
          <a:prstGeom prst="rect">
            <a:avLst/>
          </a:prstGeom>
        </p:spPr>
        <p:txBody>
          <a:bodyPr>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457200" indent="-457200">
              <a:buFont typeface="+mj-lt"/>
              <a:buAutoNum type="arabicPeriod"/>
            </a:pPr>
            <a:r>
              <a:rPr lang="en-US" sz="2000" dirty="0"/>
              <a:t>Expand on the least represented languages of the corpus (Old and Middle French, Old English)</a:t>
            </a:r>
          </a:p>
          <a:p>
            <a:pPr marL="457200" indent="-457200">
              <a:buFont typeface="+mj-lt"/>
              <a:buAutoNum type="arabicPeriod"/>
            </a:pPr>
            <a:r>
              <a:rPr lang="en-US" sz="2000" dirty="0"/>
              <a:t>Add new languages (Gothic)</a:t>
            </a:r>
          </a:p>
          <a:p>
            <a:pPr marL="457200" indent="-457200">
              <a:buFont typeface="+mj-lt"/>
              <a:buAutoNum type="arabicPeriod"/>
            </a:pPr>
            <a:r>
              <a:rPr lang="en-US" sz="2000" dirty="0"/>
              <a:t>Automate syntactic annotation:</a:t>
            </a:r>
          </a:p>
          <a:p>
            <a:pPr marL="713232" lvl="1" indent="-457200"/>
            <a:r>
              <a:rPr lang="en-US" sz="1800" dirty="0"/>
              <a:t>a more accurate conversion pipeline from UD-</a:t>
            </a:r>
            <a:r>
              <a:rPr lang="en-US" sz="1800" dirty="0" err="1"/>
              <a:t>ConLL</a:t>
            </a:r>
            <a:r>
              <a:rPr lang="en-US" sz="1800" dirty="0"/>
              <a:t> to PROIEL</a:t>
            </a:r>
          </a:p>
          <a:p>
            <a:pPr marL="713232" lvl="1" indent="-457200"/>
            <a:r>
              <a:rPr lang="en-US" sz="1800" dirty="0"/>
              <a:t>training existing syntactic parsers </a:t>
            </a:r>
          </a:p>
          <a:p>
            <a:pPr marL="457200" indent="-457200"/>
            <a:endParaRPr lang="en-US" sz="2000" dirty="0"/>
          </a:p>
          <a:p>
            <a:pPr marL="457200" indent="-457200"/>
            <a:endParaRPr lang="en-US" sz="2000" dirty="0"/>
          </a:p>
          <a:p>
            <a:pPr marL="457200" indent="-457200"/>
            <a:endParaRPr lang="en-US" sz="2000" dirty="0"/>
          </a:p>
        </p:txBody>
      </p:sp>
      <p:sp>
        <p:nvSpPr>
          <p:cNvPr id="3" name="Τίτλος 1">
            <a:extLst>
              <a:ext uri="{FF2B5EF4-FFF2-40B4-BE49-F238E27FC236}">
                <a16:creationId xmlns="" xmlns:a16="http://schemas.microsoft.com/office/drawing/2014/main" id="{69BB137A-8354-0C11-B632-FCD682D8904F}"/>
              </a:ext>
            </a:extLst>
          </p:cNvPr>
          <p:cNvSpPr txBox="1">
            <a:spLocks/>
          </p:cNvSpPr>
          <p:nvPr/>
        </p:nvSpPr>
        <p:spPr>
          <a:xfrm>
            <a:off x="805269" y="798666"/>
            <a:ext cx="7583155"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US" sz="4400" b="0" dirty="0"/>
              <a:t>On-going work</a:t>
            </a:r>
            <a:endParaRPr lang="el-GR" b="0" dirty="0"/>
          </a:p>
        </p:txBody>
      </p:sp>
      <p:sp>
        <p:nvSpPr>
          <p:cNvPr id="10" name="Slide Number Placeholder 9">
            <a:extLst>
              <a:ext uri="{FF2B5EF4-FFF2-40B4-BE49-F238E27FC236}">
                <a16:creationId xmlns="" xmlns:a16="http://schemas.microsoft.com/office/drawing/2014/main" id="{067BA8EF-2CA1-A0BD-1152-DB0498DA497A}"/>
              </a:ext>
            </a:extLst>
          </p:cNvPr>
          <p:cNvSpPr>
            <a:spLocks noGrp="1"/>
          </p:cNvSpPr>
          <p:nvPr>
            <p:ph type="sldNum" sz="quarter" idx="12"/>
          </p:nvPr>
        </p:nvSpPr>
        <p:spPr/>
        <p:txBody>
          <a:bodyPr/>
          <a:lstStyle/>
          <a:p>
            <a:fld id="{084E6F96-DBA9-4966-8C10-B0B4DAA302D2}" type="slidenum">
              <a:rPr lang="el-GR" smtClean="0"/>
              <a:pPr/>
              <a:t>57</a:t>
            </a:fld>
            <a:endParaRPr lang="el-G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a:extLst>
              <a:ext uri="{FF2B5EF4-FFF2-40B4-BE49-F238E27FC236}">
                <a16:creationId xmlns="" xmlns:a16="http://schemas.microsoft.com/office/drawing/2014/main" id="{678EDAB0-215E-86F6-9776-083DF9128C0B}"/>
              </a:ext>
            </a:extLst>
          </p:cNvPr>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a:extLst>
              <a:ext uri="{FF2B5EF4-FFF2-40B4-BE49-F238E27FC236}">
                <a16:creationId xmlns="" xmlns:a16="http://schemas.microsoft.com/office/drawing/2014/main" id="{A21A7F8D-972F-AD79-262E-FF48DD9CDC83}"/>
              </a:ext>
            </a:extLst>
          </p:cNvPr>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a:extLst>
              <a:ext uri="{FF2B5EF4-FFF2-40B4-BE49-F238E27FC236}">
                <a16:creationId xmlns="" xmlns:a16="http://schemas.microsoft.com/office/drawing/2014/main" id="{396D1A6B-F7F2-2162-09DC-12CAFF2D69E2}"/>
              </a:ext>
            </a:extLst>
          </p:cNvPr>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a:extLst>
              <a:ext uri="{FF2B5EF4-FFF2-40B4-BE49-F238E27FC236}">
                <a16:creationId xmlns="" xmlns:a16="http://schemas.microsoft.com/office/drawing/2014/main" id="{ECE6DE29-FEE1-21FE-4E42-151CA7513C1B}"/>
              </a:ext>
            </a:extLst>
          </p:cNvPr>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a:extLst>
              <a:ext uri="{FF2B5EF4-FFF2-40B4-BE49-F238E27FC236}">
                <a16:creationId xmlns="" xmlns:a16="http://schemas.microsoft.com/office/drawing/2014/main" id="{133939F1-E1DB-8ED5-A839-81CCD1C83A2A}"/>
              </a:ext>
            </a:extLst>
          </p:cNvPr>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a:extLst>
              <a:ext uri="{FF2B5EF4-FFF2-40B4-BE49-F238E27FC236}">
                <a16:creationId xmlns="" xmlns:a16="http://schemas.microsoft.com/office/drawing/2014/main" id="{6072FE8B-5048-2524-0857-C8EEDDF88050}"/>
              </a:ext>
            </a:extLst>
          </p:cNvPr>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Τίτλος">
            <a:extLst>
              <a:ext uri="{FF2B5EF4-FFF2-40B4-BE49-F238E27FC236}">
                <a16:creationId xmlns="" xmlns:a16="http://schemas.microsoft.com/office/drawing/2014/main" id="{C8C35C36-EA26-4A01-ED6E-2AEA09E737F3}"/>
              </a:ext>
            </a:extLst>
          </p:cNvPr>
          <p:cNvSpPr>
            <a:spLocks noGrp="1"/>
          </p:cNvSpPr>
          <p:nvPr>
            <p:ph type="title"/>
          </p:nvPr>
        </p:nvSpPr>
        <p:spPr>
          <a:xfrm>
            <a:off x="395536" y="407699"/>
            <a:ext cx="7834064" cy="926976"/>
          </a:xfrm>
        </p:spPr>
        <p:txBody>
          <a:bodyPr/>
          <a:lstStyle/>
          <a:p>
            <a:r>
              <a:rPr lang="en-US" dirty="0"/>
              <a:t>References</a:t>
            </a:r>
            <a:endParaRPr lang="el-GR" dirty="0">
              <a:highlight>
                <a:srgbClr val="FF0000"/>
              </a:highlight>
            </a:endParaRPr>
          </a:p>
        </p:txBody>
      </p:sp>
      <p:sp>
        <p:nvSpPr>
          <p:cNvPr id="11" name="10 - TextBox">
            <a:extLst>
              <a:ext uri="{FF2B5EF4-FFF2-40B4-BE49-F238E27FC236}">
                <a16:creationId xmlns="" xmlns:a16="http://schemas.microsoft.com/office/drawing/2014/main" id="{A61F1A2F-8757-9060-3E16-0D9ED74EC80C}"/>
              </a:ext>
            </a:extLst>
          </p:cNvPr>
          <p:cNvSpPr txBox="1"/>
          <p:nvPr/>
        </p:nvSpPr>
        <p:spPr>
          <a:xfrm>
            <a:off x="395536" y="1212915"/>
            <a:ext cx="8352928" cy="5078313"/>
          </a:xfrm>
          <a:prstGeom prst="rect">
            <a:avLst/>
          </a:prstGeom>
          <a:noFill/>
        </p:spPr>
        <p:txBody>
          <a:bodyPr wrap="square" rtlCol="0">
            <a:spAutoFit/>
          </a:bodyPr>
          <a:lstStyle/>
          <a:p>
            <a:r>
              <a:rPr lang="en-US" dirty="0"/>
              <a:t>Liu, G., &amp; Du, Y. (2019). A corpus-based study of </a:t>
            </a:r>
            <a:r>
              <a:rPr lang="en-US" dirty="0" err="1"/>
              <a:t>valency</a:t>
            </a:r>
            <a:r>
              <a:rPr lang="en-US" dirty="0"/>
              <a:t> sentence patterns of English verbs. </a:t>
            </a:r>
            <a:r>
              <a:rPr lang="en-US" i="1" dirty="0"/>
              <a:t>Theory and Practice in Language Studies, 9</a:t>
            </a:r>
            <a:r>
              <a:rPr lang="en-US" dirty="0"/>
              <a:t>(6), 655–665.</a:t>
            </a:r>
            <a:endParaRPr lang="el-GR" dirty="0"/>
          </a:p>
          <a:p>
            <a:endParaRPr lang="el-GR" dirty="0"/>
          </a:p>
          <a:p>
            <a:r>
              <a:rPr lang="en-US" dirty="0" err="1"/>
              <a:t>Eckhoff</a:t>
            </a:r>
            <a:r>
              <a:rPr lang="en-US" dirty="0"/>
              <a:t>, H. M., </a:t>
            </a:r>
            <a:r>
              <a:rPr lang="en-US" dirty="0" err="1"/>
              <a:t>Bech</a:t>
            </a:r>
            <a:r>
              <a:rPr lang="en-US" dirty="0"/>
              <a:t>, K., </a:t>
            </a:r>
            <a:r>
              <a:rPr lang="en-US" dirty="0" err="1"/>
              <a:t>Bouma</a:t>
            </a:r>
            <a:r>
              <a:rPr lang="en-US" dirty="0"/>
              <a:t>, G., </a:t>
            </a:r>
            <a:r>
              <a:rPr lang="en-US" dirty="0" err="1"/>
              <a:t>Eide</a:t>
            </a:r>
            <a:r>
              <a:rPr lang="en-US" dirty="0"/>
              <a:t>, K., </a:t>
            </a:r>
            <a:r>
              <a:rPr lang="en-US" dirty="0" err="1"/>
              <a:t>Haug</a:t>
            </a:r>
            <a:r>
              <a:rPr lang="en-US" dirty="0"/>
              <a:t>, D., Haugen, O. E., &amp; </a:t>
            </a:r>
            <a:r>
              <a:rPr lang="en-US" dirty="0" err="1"/>
              <a:t>Jøhndal</a:t>
            </a:r>
            <a:r>
              <a:rPr lang="en-US" dirty="0"/>
              <a:t>, M. (2018). The PROIEL </a:t>
            </a:r>
            <a:r>
              <a:rPr lang="en-US" dirty="0" err="1"/>
              <a:t>treebank</a:t>
            </a:r>
            <a:r>
              <a:rPr lang="en-US" dirty="0"/>
              <a:t> family: A standard for early attestations of Indo-European languages. </a:t>
            </a:r>
            <a:r>
              <a:rPr lang="en-US" i="1" dirty="0"/>
              <a:t>Language Resources and Evaluation, 52</a:t>
            </a:r>
            <a:r>
              <a:rPr lang="en-US" dirty="0"/>
              <a:t>(1), 29–65.</a:t>
            </a:r>
          </a:p>
          <a:p>
            <a:endParaRPr lang="en-US" dirty="0"/>
          </a:p>
          <a:p>
            <a:r>
              <a:rPr lang="en-US" dirty="0" err="1"/>
              <a:t>Gianollo</a:t>
            </a:r>
            <a:r>
              <a:rPr lang="en-US" dirty="0"/>
              <a:t>, C. (2011). Native syntax and translation effects: Adnominal arguments in the Greek and Latin New Testament. In E. </a:t>
            </a:r>
            <a:r>
              <a:rPr lang="en-US" dirty="0" err="1"/>
              <a:t>Welo</a:t>
            </a:r>
            <a:r>
              <a:rPr lang="en-US" dirty="0"/>
              <a:t> (Ed.), </a:t>
            </a:r>
            <a:r>
              <a:rPr lang="en-US" i="1" dirty="0"/>
              <a:t>Indo‑European Syntax and Pragmatics: Contrastive Approaches</a:t>
            </a:r>
            <a:r>
              <a:rPr lang="en-US" dirty="0"/>
              <a:t> (Vol. 3(3), pp. 75–101). Oslo, Norway: Department of Linguistics and Scandinavian Studies, University of Oslo.</a:t>
            </a:r>
          </a:p>
          <a:p>
            <a:endParaRPr lang="en-US" dirty="0"/>
          </a:p>
          <a:p>
            <a:r>
              <a:rPr lang="en-US" dirty="0" err="1"/>
              <a:t>Haug</a:t>
            </a:r>
            <a:r>
              <a:rPr lang="en-US" dirty="0"/>
              <a:t>, D. T. (2008, July 16). </a:t>
            </a:r>
            <a:r>
              <a:rPr lang="en-US" i="1" dirty="0"/>
              <a:t>Detecting word order freezing in old Indo-European languages</a:t>
            </a:r>
            <a:r>
              <a:rPr lang="en-US" dirty="0"/>
              <a:t> [Conference presentation]. New Reflections on Grammaticalization 4, Leuven, Belgium.</a:t>
            </a:r>
          </a:p>
        </p:txBody>
      </p:sp>
      <p:sp>
        <p:nvSpPr>
          <p:cNvPr id="2" name="Slide Number Placeholder 1">
            <a:extLst>
              <a:ext uri="{FF2B5EF4-FFF2-40B4-BE49-F238E27FC236}">
                <a16:creationId xmlns="" xmlns:a16="http://schemas.microsoft.com/office/drawing/2014/main" id="{8D54C262-1BB2-9972-F8A7-A5AA5472378D}"/>
              </a:ext>
            </a:extLst>
          </p:cNvPr>
          <p:cNvSpPr>
            <a:spLocks noGrp="1"/>
          </p:cNvSpPr>
          <p:nvPr>
            <p:ph type="sldNum" sz="quarter" idx="12"/>
          </p:nvPr>
        </p:nvSpPr>
        <p:spPr/>
        <p:txBody>
          <a:bodyPr/>
          <a:lstStyle/>
          <a:p>
            <a:fld id="{084E6F96-DBA9-4966-8C10-B0B4DAA302D2}" type="slidenum">
              <a:rPr lang="el-GR" smtClean="0"/>
              <a:pPr/>
              <a:t>58</a:t>
            </a:fld>
            <a:endParaRPr lang="el-G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Τίτλος"/>
          <p:cNvSpPr>
            <a:spLocks noGrp="1"/>
          </p:cNvSpPr>
          <p:nvPr>
            <p:ph type="title"/>
          </p:nvPr>
        </p:nvSpPr>
        <p:spPr>
          <a:xfrm>
            <a:off x="421195" y="285668"/>
            <a:ext cx="8229600" cy="1143000"/>
          </a:xfrm>
        </p:spPr>
        <p:txBody>
          <a:bodyPr/>
          <a:lstStyle/>
          <a:p>
            <a:r>
              <a:rPr lang="en-US" dirty="0"/>
              <a:t>References</a:t>
            </a:r>
            <a:endParaRPr lang="el-GR" dirty="0">
              <a:highlight>
                <a:srgbClr val="FF0000"/>
              </a:highlight>
            </a:endParaRPr>
          </a:p>
        </p:txBody>
      </p:sp>
      <p:sp>
        <p:nvSpPr>
          <p:cNvPr id="11" name="10 - TextBox"/>
          <p:cNvSpPr txBox="1"/>
          <p:nvPr/>
        </p:nvSpPr>
        <p:spPr>
          <a:xfrm>
            <a:off x="323527" y="1339034"/>
            <a:ext cx="8424937" cy="4708981"/>
          </a:xfrm>
          <a:prstGeom prst="rect">
            <a:avLst/>
          </a:prstGeom>
          <a:noFill/>
        </p:spPr>
        <p:txBody>
          <a:bodyPr wrap="square" rtlCol="0">
            <a:spAutoFit/>
          </a:bodyPr>
          <a:lstStyle/>
          <a:p>
            <a:r>
              <a:rPr lang="en-US" sz="2000" dirty="0"/>
              <a:t>Haug, D. T. T. (2010). </a:t>
            </a:r>
            <a:r>
              <a:rPr lang="en-US" sz="2000" i="1" dirty="0"/>
              <a:t>PROIEL guidelines for annotation</a:t>
            </a:r>
            <a:r>
              <a:rPr lang="en-US" sz="2000" dirty="0"/>
              <a:t>. Department of Philosophy, Classics, History of Arts and Ideas, University of Oslo. Retrieved from</a:t>
            </a:r>
            <a:r>
              <a:rPr lang="en-US" sz="2000" dirty="0">
                <a:hlinkClick r:id="rId3"/>
              </a:rPr>
              <a:t> </a:t>
            </a:r>
            <a:r>
              <a:rPr lang="en-US" sz="2000" u="sng" dirty="0">
                <a:hlinkClick r:id="rId4"/>
              </a:rPr>
              <a:t>https://dev.syntacticus.org/proiel-annotators-handbook-v1.pdf</a:t>
            </a:r>
            <a:endParaRPr lang="en-US" sz="2000" u="sng" dirty="0"/>
          </a:p>
          <a:p>
            <a:endParaRPr lang="en-US" sz="2000" dirty="0"/>
          </a:p>
          <a:p>
            <a:r>
              <a:rPr lang="en-US" sz="2000" dirty="0" err="1"/>
              <a:t>Haug</a:t>
            </a:r>
            <a:r>
              <a:rPr lang="en-US" sz="2000" dirty="0"/>
              <a:t>, D. T. T., &amp; </a:t>
            </a:r>
            <a:r>
              <a:rPr lang="en-US" sz="2000" dirty="0" err="1"/>
              <a:t>Jøhndal</a:t>
            </a:r>
            <a:r>
              <a:rPr lang="en-US" sz="2000" dirty="0"/>
              <a:t>, M. L. (2008). Creating a parallel </a:t>
            </a:r>
            <a:r>
              <a:rPr lang="en-US" sz="2000" dirty="0" err="1"/>
              <a:t>treebank</a:t>
            </a:r>
            <a:r>
              <a:rPr lang="en-US" sz="2000" dirty="0"/>
              <a:t> of the old Indo-European Bible translations. In </a:t>
            </a:r>
            <a:r>
              <a:rPr lang="en-US" sz="2000" i="1" dirty="0"/>
              <a:t>Proceedings of the 6th International Conference on Language Resources and Evaluation (LREC’08)</a:t>
            </a:r>
            <a:r>
              <a:rPr lang="en-US" sz="2000" dirty="0"/>
              <a:t>. European Language Resources Association (ELRA).</a:t>
            </a:r>
          </a:p>
          <a:p>
            <a:endParaRPr lang="en-US" sz="2000" dirty="0"/>
          </a:p>
          <a:p>
            <a:r>
              <a:rPr lang="en-US" sz="2000" dirty="0" err="1"/>
              <a:t>Inglese</a:t>
            </a:r>
            <a:r>
              <a:rPr lang="en-US" sz="2000" dirty="0"/>
              <a:t>, G., Molina, M., &amp; </a:t>
            </a:r>
            <a:r>
              <a:rPr lang="en-US" sz="2000" dirty="0" err="1"/>
              <a:t>Eckhoff</a:t>
            </a:r>
            <a:r>
              <a:rPr lang="en-US" sz="2000" dirty="0"/>
              <a:t>, H. M. (2018). Incorporating Hittite into PROIEL: A pilot project. In </a:t>
            </a:r>
            <a:r>
              <a:rPr lang="en-US" sz="2000" i="1" dirty="0"/>
              <a:t>Proceedings of the Second Workshop on Corpus-Based Research in the Humanities (CRH-2)</a:t>
            </a:r>
            <a:r>
              <a:rPr lang="en-US" sz="2000" dirty="0"/>
              <a:t> (Vol. 1, pp. 1–10).</a:t>
            </a:r>
          </a:p>
        </p:txBody>
      </p:sp>
      <p:sp>
        <p:nvSpPr>
          <p:cNvPr id="2" name="Slide Number Placeholder 1">
            <a:extLst>
              <a:ext uri="{FF2B5EF4-FFF2-40B4-BE49-F238E27FC236}">
                <a16:creationId xmlns="" xmlns:a16="http://schemas.microsoft.com/office/drawing/2014/main" id="{3DA6817F-BBB4-CA27-FFDE-AA846BD6F09E}"/>
              </a:ext>
            </a:extLst>
          </p:cNvPr>
          <p:cNvSpPr>
            <a:spLocks noGrp="1"/>
          </p:cNvSpPr>
          <p:nvPr>
            <p:ph type="sldNum" sz="quarter" idx="12"/>
          </p:nvPr>
        </p:nvSpPr>
        <p:spPr/>
        <p:txBody>
          <a:bodyPr/>
          <a:lstStyle/>
          <a:p>
            <a:fld id="{084E6F96-DBA9-4966-8C10-B0B4DAA302D2}" type="slidenum">
              <a:rPr lang="el-GR" smtClean="0"/>
              <a:pPr/>
              <a:t>59</a:t>
            </a:fld>
            <a:endParaRPr lang="el-G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TextBox"/>
          <p:cNvSpPr txBox="1"/>
          <p:nvPr/>
        </p:nvSpPr>
        <p:spPr>
          <a:xfrm>
            <a:off x="467545" y="836712"/>
            <a:ext cx="8179728" cy="5324535"/>
          </a:xfrm>
          <a:prstGeom prst="rect">
            <a:avLst/>
          </a:prstGeom>
          <a:noFill/>
        </p:spPr>
        <p:txBody>
          <a:bodyPr wrap="square" rtlCol="0">
            <a:spAutoFit/>
          </a:bodyPr>
          <a:lstStyle/>
          <a:p>
            <a:r>
              <a:rPr lang="en-US" sz="2000" dirty="0" err="1"/>
              <a:t>Malchukov</a:t>
            </a:r>
            <a:r>
              <a:rPr lang="en-US" sz="2000" dirty="0"/>
              <a:t>, A., &amp; </a:t>
            </a:r>
            <a:r>
              <a:rPr lang="en-US" sz="2000" dirty="0" err="1"/>
              <a:t>Comrie</a:t>
            </a:r>
            <a:r>
              <a:rPr lang="en-US" sz="2000" dirty="0"/>
              <a:t>, B. (Eds.). (2015). </a:t>
            </a:r>
            <a:r>
              <a:rPr lang="en-US" sz="2000" i="1" dirty="0" err="1"/>
              <a:t>Valency</a:t>
            </a:r>
            <a:r>
              <a:rPr lang="en-US" sz="2000" i="1" dirty="0"/>
              <a:t> classes in the world’s languages.</a:t>
            </a:r>
            <a:r>
              <a:rPr lang="en-US" sz="2000" dirty="0"/>
              <a:t> Berlin, Germany; New York, NY: Mouton de </a:t>
            </a:r>
            <a:r>
              <a:rPr lang="en-US" sz="2000" dirty="0" err="1"/>
              <a:t>Gruyter</a:t>
            </a:r>
            <a:r>
              <a:rPr lang="en-US" sz="2000" dirty="0"/>
              <a:t>.</a:t>
            </a:r>
          </a:p>
          <a:p>
            <a:endParaRPr lang="en-US" sz="2000" dirty="0"/>
          </a:p>
          <a:p>
            <a:r>
              <a:rPr lang="en-US" sz="2000" dirty="0"/>
              <a:t>Klein, J. (2011). Negation and polarity in the Greek, Gothic, Classical Armenian, and Old Church Slavic Gospels: A preliminary study. In E. </a:t>
            </a:r>
            <a:r>
              <a:rPr lang="en-US" sz="2000" dirty="0" err="1"/>
              <a:t>Welo</a:t>
            </a:r>
            <a:r>
              <a:rPr lang="en-US" sz="2000" dirty="0"/>
              <a:t> (Ed.), </a:t>
            </a:r>
            <a:r>
              <a:rPr lang="en-US" sz="2000" i="1" dirty="0"/>
              <a:t>Indo-European syntax and pragmatics: Contrastive approaches</a:t>
            </a:r>
            <a:r>
              <a:rPr lang="en-US" sz="2000" dirty="0"/>
              <a:t> (Vol. 3(3), pp. 131–154). Oslo, Norway: Department of Linguistics and Scandinavian Studies, University of Oslo.</a:t>
            </a:r>
          </a:p>
          <a:p>
            <a:endParaRPr lang="en-US" sz="2000" dirty="0"/>
          </a:p>
          <a:p>
            <a:r>
              <a:rPr lang="en-US" sz="2000" dirty="0" err="1"/>
              <a:t>Lavidas</a:t>
            </a:r>
            <a:r>
              <a:rPr lang="en-US" sz="2000" dirty="0"/>
              <a:t>, N. (2009). Transitivity Alternations in </a:t>
            </a:r>
            <a:r>
              <a:rPr lang="en-US" sz="2000" dirty="0" err="1"/>
              <a:t>Diachrony</a:t>
            </a:r>
            <a:r>
              <a:rPr lang="en-US" sz="2000" dirty="0"/>
              <a:t>. Changes in Argument Structure and Voice Morphology. Newcastle upon Tyne: Cambridge Scholars Publishing.</a:t>
            </a:r>
          </a:p>
          <a:p>
            <a:endParaRPr lang="en-US" sz="2000" dirty="0"/>
          </a:p>
          <a:p>
            <a:r>
              <a:rPr lang="en-US" sz="2000" dirty="0" err="1"/>
              <a:t>Lavidas</a:t>
            </a:r>
            <a:r>
              <a:rPr lang="en-US" sz="2000" dirty="0"/>
              <a:t>, N. (2021). </a:t>
            </a:r>
            <a:r>
              <a:rPr lang="en-US" sz="2000" i="1" dirty="0"/>
              <a:t>The </a:t>
            </a:r>
            <a:r>
              <a:rPr lang="en-US" sz="2000" i="1" dirty="0" err="1"/>
              <a:t>diachrony</a:t>
            </a:r>
            <a:r>
              <a:rPr lang="en-US" sz="2000" i="1" dirty="0"/>
              <a:t> of written language contact: A contrastive approach.</a:t>
            </a:r>
            <a:r>
              <a:rPr lang="en-US" sz="2000" dirty="0"/>
              <a:t> Leiden:Brill.</a:t>
            </a:r>
          </a:p>
        </p:txBody>
      </p:sp>
      <p:sp>
        <p:nvSpPr>
          <p:cNvPr id="2" name="Slide Number Placeholder 1">
            <a:extLst>
              <a:ext uri="{FF2B5EF4-FFF2-40B4-BE49-F238E27FC236}">
                <a16:creationId xmlns="" xmlns:a16="http://schemas.microsoft.com/office/drawing/2014/main" id="{82898F85-022E-B51B-CD36-564AAE13435E}"/>
              </a:ext>
            </a:extLst>
          </p:cNvPr>
          <p:cNvSpPr>
            <a:spLocks noGrp="1"/>
          </p:cNvSpPr>
          <p:nvPr>
            <p:ph type="sldNum" sz="quarter" idx="12"/>
          </p:nvPr>
        </p:nvSpPr>
        <p:spPr/>
        <p:txBody>
          <a:bodyPr/>
          <a:lstStyle/>
          <a:p>
            <a:fld id="{084E6F96-DBA9-4966-8C10-B0B4DAA302D2}" type="slidenum">
              <a:rPr lang="el-GR" smtClean="0"/>
              <a:pPr/>
              <a:t>60</a:t>
            </a:fld>
            <a:endParaRPr lang="el-G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a:extLst>
              <a:ext uri="{FF2B5EF4-FFF2-40B4-BE49-F238E27FC236}">
                <a16:creationId xmlns="" xmlns:a16="http://schemas.microsoft.com/office/drawing/2014/main" id="{1D0ED6AF-F17F-444C-06A0-F24387410B81}"/>
              </a:ext>
            </a:extLst>
          </p:cNvPr>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a:extLst>
              <a:ext uri="{FF2B5EF4-FFF2-40B4-BE49-F238E27FC236}">
                <a16:creationId xmlns="" xmlns:a16="http://schemas.microsoft.com/office/drawing/2014/main" id="{0614AACC-88DA-1B9A-8159-E2A60A770B2E}"/>
              </a:ext>
            </a:extLst>
          </p:cNvPr>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a:extLst>
              <a:ext uri="{FF2B5EF4-FFF2-40B4-BE49-F238E27FC236}">
                <a16:creationId xmlns="" xmlns:a16="http://schemas.microsoft.com/office/drawing/2014/main" id="{BA572A9E-9C33-63A6-614A-4F0A29F49D17}"/>
              </a:ext>
            </a:extLst>
          </p:cNvPr>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a:extLst>
              <a:ext uri="{FF2B5EF4-FFF2-40B4-BE49-F238E27FC236}">
                <a16:creationId xmlns="" xmlns:a16="http://schemas.microsoft.com/office/drawing/2014/main" id="{F2C895A4-F219-9739-E1EF-519FC81F8848}"/>
              </a:ext>
            </a:extLst>
          </p:cNvPr>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a:extLst>
              <a:ext uri="{FF2B5EF4-FFF2-40B4-BE49-F238E27FC236}">
                <a16:creationId xmlns="" xmlns:a16="http://schemas.microsoft.com/office/drawing/2014/main" id="{D5EE3042-AEA6-C67D-CFE5-56B04CCB26D6}"/>
              </a:ext>
            </a:extLst>
          </p:cNvPr>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a:extLst>
              <a:ext uri="{FF2B5EF4-FFF2-40B4-BE49-F238E27FC236}">
                <a16:creationId xmlns="" xmlns:a16="http://schemas.microsoft.com/office/drawing/2014/main" id="{796A3B72-FA6F-0049-F388-43B9369DAC25}"/>
              </a:ext>
            </a:extLst>
          </p:cNvPr>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TextBox">
            <a:extLst>
              <a:ext uri="{FF2B5EF4-FFF2-40B4-BE49-F238E27FC236}">
                <a16:creationId xmlns="" xmlns:a16="http://schemas.microsoft.com/office/drawing/2014/main" id="{65A0BA92-5ABC-890A-4E38-E3F21E9C60BA}"/>
              </a:ext>
            </a:extLst>
          </p:cNvPr>
          <p:cNvSpPr txBox="1"/>
          <p:nvPr/>
        </p:nvSpPr>
        <p:spPr>
          <a:xfrm>
            <a:off x="395536" y="836712"/>
            <a:ext cx="8352928" cy="5324535"/>
          </a:xfrm>
          <a:prstGeom prst="rect">
            <a:avLst/>
          </a:prstGeom>
          <a:noFill/>
        </p:spPr>
        <p:txBody>
          <a:bodyPr wrap="square" rtlCol="0">
            <a:spAutoFit/>
          </a:bodyPr>
          <a:lstStyle/>
          <a:p>
            <a:r>
              <a:rPr lang="en-US" sz="2000" dirty="0" err="1"/>
              <a:t>Lavidas</a:t>
            </a:r>
            <a:r>
              <a:rPr lang="en-US" sz="2000" dirty="0"/>
              <a:t>, N., &amp; Haug, D. T. (2019). </a:t>
            </a:r>
            <a:r>
              <a:rPr lang="en-US" sz="2000" i="1" dirty="0"/>
              <a:t>Postclassical Greek and </a:t>
            </a:r>
            <a:r>
              <a:rPr lang="en-US" sz="2000" i="1" dirty="0" err="1"/>
              <a:t>treebanks</a:t>
            </a:r>
            <a:r>
              <a:rPr lang="en-US" sz="2000" i="1" dirty="0"/>
              <a:t> for a diachronic analysis</a:t>
            </a:r>
            <a:r>
              <a:rPr lang="en-US" sz="2000" dirty="0"/>
              <a:t>. In D. </a:t>
            </a:r>
            <a:r>
              <a:rPr lang="en-US" sz="2000" dirty="0" err="1"/>
              <a:t>Rafiyenko</a:t>
            </a:r>
            <a:r>
              <a:rPr lang="en-US" sz="2000" dirty="0"/>
              <a:t> &amp; I. A. </a:t>
            </a:r>
            <a:r>
              <a:rPr lang="en-US" sz="2000" dirty="0" err="1"/>
              <a:t>Seržant</a:t>
            </a:r>
            <a:r>
              <a:rPr lang="en-US" sz="2000" dirty="0"/>
              <a:t> (Eds.), </a:t>
            </a:r>
            <a:r>
              <a:rPr lang="en-US" sz="2000" i="1" dirty="0"/>
              <a:t>Postclassical Greek: Contemporary approaches to philology and linguistics</a:t>
            </a:r>
            <a:r>
              <a:rPr lang="en-US" sz="2000" dirty="0"/>
              <a:t> (pp. 163–202). Berlin, Germany: De </a:t>
            </a:r>
            <a:r>
              <a:rPr lang="en-US" sz="2000" dirty="0" err="1"/>
              <a:t>Gruyter</a:t>
            </a:r>
            <a:r>
              <a:rPr lang="en-US" sz="2000" dirty="0"/>
              <a:t> Mouton</a:t>
            </a:r>
          </a:p>
          <a:p>
            <a:endParaRPr lang="en-US" sz="2000" dirty="0"/>
          </a:p>
          <a:p>
            <a:r>
              <a:rPr lang="en-US" sz="2000" dirty="0" err="1"/>
              <a:t>Luraghi</a:t>
            </a:r>
            <a:r>
              <a:rPr lang="en-US" sz="2000" dirty="0"/>
              <a:t>, S., et al. (2024). </a:t>
            </a:r>
            <a:r>
              <a:rPr lang="en-US" sz="2000" i="1" dirty="0"/>
              <a:t>Introducing </a:t>
            </a:r>
            <a:r>
              <a:rPr lang="en-US" sz="2000" i="1" dirty="0" err="1"/>
              <a:t>PaVeDa</a:t>
            </a:r>
            <a:r>
              <a:rPr lang="en-US" sz="2000" i="1" dirty="0"/>
              <a:t> – Pavia Verbs Database: </a:t>
            </a:r>
            <a:r>
              <a:rPr lang="en-US" sz="2000" i="1" dirty="0" err="1"/>
              <a:t>Valency</a:t>
            </a:r>
            <a:r>
              <a:rPr lang="en-US" sz="2000" i="1" dirty="0"/>
              <a:t> patterns and pattern comparison in Ancient Indo-European languages</a:t>
            </a:r>
            <a:r>
              <a:rPr lang="en-US" sz="2000" dirty="0"/>
              <a:t>. In </a:t>
            </a:r>
            <a:r>
              <a:rPr lang="en-US" sz="2000" i="1" dirty="0"/>
              <a:t>Proceedings of the LT4HALA 2024 Workshop</a:t>
            </a:r>
          </a:p>
          <a:p>
            <a:endParaRPr lang="en-US" sz="2000" i="1" dirty="0"/>
          </a:p>
          <a:p>
            <a:r>
              <a:rPr lang="en-US" sz="2000" dirty="0" err="1"/>
              <a:t>Luraghi</a:t>
            </a:r>
            <a:r>
              <a:rPr lang="en-US" sz="2000" dirty="0"/>
              <a:t>, S., &amp; </a:t>
            </a:r>
            <a:r>
              <a:rPr lang="en-US" sz="2000" dirty="0" err="1"/>
              <a:t>Sausa</a:t>
            </a:r>
            <a:r>
              <a:rPr lang="en-US" sz="2000" dirty="0"/>
              <a:t>, E. (2016). New approaches to New Testament Greek linguistics. </a:t>
            </a:r>
            <a:r>
              <a:rPr lang="en-US" sz="2000" i="1" dirty="0" err="1"/>
              <a:t>Studi</a:t>
            </a:r>
            <a:r>
              <a:rPr lang="en-US" sz="2000" i="1" dirty="0"/>
              <a:t> </a:t>
            </a:r>
            <a:r>
              <a:rPr lang="en-US" sz="2000" i="1" dirty="0" err="1"/>
              <a:t>Italiani</a:t>
            </a:r>
            <a:r>
              <a:rPr lang="en-US" sz="2000" i="1" dirty="0"/>
              <a:t> </a:t>
            </a:r>
            <a:r>
              <a:rPr lang="en-US" sz="2000" i="1" dirty="0" err="1"/>
              <a:t>di</a:t>
            </a:r>
            <a:r>
              <a:rPr lang="en-US" sz="2000" i="1" dirty="0"/>
              <a:t> </a:t>
            </a:r>
            <a:r>
              <a:rPr lang="en-US" sz="2000" i="1" dirty="0" err="1"/>
              <a:t>Linguistica</a:t>
            </a:r>
            <a:r>
              <a:rPr lang="en-US" sz="2000" i="1" dirty="0"/>
              <a:t> </a:t>
            </a:r>
            <a:r>
              <a:rPr lang="en-US" sz="2000" i="1" dirty="0" err="1"/>
              <a:t>Teorica</a:t>
            </a:r>
            <a:r>
              <a:rPr lang="en-US" sz="2000" i="1" dirty="0"/>
              <a:t> e </a:t>
            </a:r>
            <a:r>
              <a:rPr lang="en-US" sz="2000" i="1" dirty="0" err="1"/>
              <a:t>Applicata</a:t>
            </a:r>
            <a:r>
              <a:rPr lang="en-US" sz="2000" i="1" dirty="0"/>
              <a:t>, 45</a:t>
            </a:r>
            <a:r>
              <a:rPr lang="en-US" sz="2000" dirty="0"/>
              <a:t>(1), 123–143.</a:t>
            </a:r>
          </a:p>
          <a:p>
            <a:endParaRPr lang="en-US" sz="2000" dirty="0"/>
          </a:p>
          <a:p>
            <a:r>
              <a:rPr lang="en-US" sz="2000" dirty="0"/>
              <a:t>Levin, B. (1993). </a:t>
            </a:r>
            <a:r>
              <a:rPr lang="en-US" sz="2000" i="1" dirty="0"/>
              <a:t>English verb classes and alternations: A preliminary investigation</a:t>
            </a:r>
            <a:r>
              <a:rPr lang="en-US" sz="2000" dirty="0"/>
              <a:t>. Chicago, IL: University of Chicago Press.</a:t>
            </a:r>
          </a:p>
        </p:txBody>
      </p:sp>
      <p:sp>
        <p:nvSpPr>
          <p:cNvPr id="2" name="Slide Number Placeholder 1">
            <a:extLst>
              <a:ext uri="{FF2B5EF4-FFF2-40B4-BE49-F238E27FC236}">
                <a16:creationId xmlns="" xmlns:a16="http://schemas.microsoft.com/office/drawing/2014/main" id="{0F8EE172-56B9-EE85-1AB4-89D0CD596882}"/>
              </a:ext>
            </a:extLst>
          </p:cNvPr>
          <p:cNvSpPr>
            <a:spLocks noGrp="1"/>
          </p:cNvSpPr>
          <p:nvPr>
            <p:ph type="sldNum" sz="quarter" idx="12"/>
          </p:nvPr>
        </p:nvSpPr>
        <p:spPr/>
        <p:txBody>
          <a:bodyPr/>
          <a:lstStyle/>
          <a:p>
            <a:fld id="{084E6F96-DBA9-4966-8C10-B0B4DAA302D2}" type="slidenum">
              <a:rPr lang="el-GR" smtClean="0"/>
              <a:pPr/>
              <a:t>61</a:t>
            </a:fld>
            <a:endParaRPr lang="el-G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TextBox"/>
          <p:cNvSpPr txBox="1"/>
          <p:nvPr/>
        </p:nvSpPr>
        <p:spPr>
          <a:xfrm>
            <a:off x="390181" y="980728"/>
            <a:ext cx="8251737" cy="5078313"/>
          </a:xfrm>
          <a:prstGeom prst="rect">
            <a:avLst/>
          </a:prstGeom>
          <a:noFill/>
        </p:spPr>
        <p:txBody>
          <a:bodyPr wrap="square" rtlCol="0">
            <a:spAutoFit/>
          </a:bodyPr>
          <a:lstStyle/>
          <a:p>
            <a:r>
              <a:rPr lang="en-US" dirty="0" err="1"/>
              <a:t>Nikiforidou</a:t>
            </a:r>
            <a:r>
              <a:rPr lang="en-US" dirty="0"/>
              <a:t>, K. (1991). The meanings of the genitive: A case study in semantic structure and semantic change. </a:t>
            </a:r>
            <a:r>
              <a:rPr lang="en-US" i="1" dirty="0"/>
              <a:t>Cognitive Linguistics</a:t>
            </a:r>
            <a:r>
              <a:rPr lang="en-US" dirty="0"/>
              <a:t>, </a:t>
            </a:r>
            <a:r>
              <a:rPr lang="en-US" i="1" dirty="0"/>
              <a:t>2</a:t>
            </a:r>
            <a:r>
              <a:rPr lang="en-US" dirty="0"/>
              <a:t>(2), 149-206.</a:t>
            </a:r>
          </a:p>
          <a:p>
            <a:endParaRPr lang="en-US" dirty="0"/>
          </a:p>
          <a:p>
            <a:r>
              <a:rPr lang="en-US" dirty="0" err="1"/>
              <a:t>Sitaridou</a:t>
            </a:r>
            <a:r>
              <a:rPr lang="en-US" dirty="0"/>
              <a:t>, I., </a:t>
            </a:r>
            <a:r>
              <a:rPr lang="en-US" dirty="0" err="1"/>
              <a:t>Pusch</a:t>
            </a:r>
            <a:r>
              <a:rPr lang="en-US" dirty="0"/>
              <a:t>, C. D., </a:t>
            </a:r>
            <a:r>
              <a:rPr lang="en-US" dirty="0" err="1"/>
              <a:t>Kabatek</a:t>
            </a:r>
            <a:r>
              <a:rPr lang="en-US" dirty="0"/>
              <a:t>, J., &amp; </a:t>
            </a:r>
            <a:r>
              <a:rPr lang="en-US" dirty="0" err="1"/>
              <a:t>Raible</a:t>
            </a:r>
            <a:r>
              <a:rPr lang="en-US" dirty="0"/>
              <a:t>, W. (2005). A corpus-based study of null subjects in Old French and Occitan. In </a:t>
            </a:r>
            <a:r>
              <a:rPr lang="en-US" i="1" dirty="0"/>
              <a:t>Corpora and historical linguistics: Investigating language change through corpora and databases</a:t>
            </a:r>
            <a:r>
              <a:rPr lang="en-US" dirty="0"/>
              <a:t> (pp. 360–374).</a:t>
            </a:r>
          </a:p>
          <a:p>
            <a:endParaRPr lang="en-US" dirty="0"/>
          </a:p>
          <a:p>
            <a:r>
              <a:rPr lang="en-US" dirty="0" err="1"/>
              <a:t>Spyropoulos</a:t>
            </a:r>
            <a:r>
              <a:rPr lang="en-US" dirty="0"/>
              <a:t>, V., &amp; </a:t>
            </a:r>
            <a:r>
              <a:rPr lang="en-US" dirty="0" err="1"/>
              <a:t>Stamatogiannis</a:t>
            </a:r>
            <a:r>
              <a:rPr lang="en-US" dirty="0"/>
              <a:t>, N. (2013). </a:t>
            </a:r>
            <a:r>
              <a:rPr lang="en-US" dirty="0" err="1"/>
              <a:t>Sýntomī</a:t>
            </a:r>
            <a:r>
              <a:rPr lang="en-US" dirty="0"/>
              <a:t> </a:t>
            </a:r>
            <a:r>
              <a:rPr lang="en-US" dirty="0" err="1"/>
              <a:t>perigrafī</a:t>
            </a:r>
            <a:r>
              <a:rPr lang="en-US" dirty="0"/>
              <a:t>́ </a:t>
            </a:r>
            <a:r>
              <a:rPr lang="en-US" dirty="0" err="1"/>
              <a:t>tīs</a:t>
            </a:r>
            <a:r>
              <a:rPr lang="en-US" dirty="0"/>
              <a:t> </a:t>
            </a:r>
            <a:r>
              <a:rPr lang="en-US" dirty="0" err="1"/>
              <a:t>rīmatikī́s</a:t>
            </a:r>
            <a:r>
              <a:rPr lang="en-US" dirty="0"/>
              <a:t> </a:t>
            </a:r>
            <a:r>
              <a:rPr lang="en-US" dirty="0" err="1"/>
              <a:t>morfosýntaxīs</a:t>
            </a:r>
            <a:r>
              <a:rPr lang="en-US" dirty="0"/>
              <a:t> </a:t>
            </a:r>
            <a:r>
              <a:rPr lang="en-US" dirty="0" err="1"/>
              <a:t>tīs</a:t>
            </a:r>
            <a:r>
              <a:rPr lang="en-US" dirty="0"/>
              <a:t> </a:t>
            </a:r>
            <a:r>
              <a:rPr lang="en-US" dirty="0" err="1"/>
              <a:t>Ellīnikī́s</a:t>
            </a:r>
            <a:r>
              <a:rPr lang="en-US" dirty="0"/>
              <a:t> [‘A short description of the verbal </a:t>
            </a:r>
            <a:r>
              <a:rPr lang="en-US" dirty="0" err="1"/>
              <a:t>morphosyntax</a:t>
            </a:r>
            <a:r>
              <a:rPr lang="en-US" dirty="0"/>
              <a:t> of the Greek language’]. In </a:t>
            </a:r>
            <a:r>
              <a:rPr lang="en-US" dirty="0" err="1"/>
              <a:t>Revythiadou</a:t>
            </a:r>
            <a:r>
              <a:rPr lang="en-US" dirty="0"/>
              <a:t>, A., &amp; </a:t>
            </a:r>
            <a:r>
              <a:rPr lang="en-US" dirty="0" err="1"/>
              <a:t>Spyropoulos</a:t>
            </a:r>
            <a:r>
              <a:rPr lang="en-US" dirty="0"/>
              <a:t>, V. (Eds.), </a:t>
            </a:r>
            <a:r>
              <a:rPr lang="en-US" i="1" dirty="0" err="1"/>
              <a:t>Antiparavolikī</a:t>
            </a:r>
            <a:r>
              <a:rPr lang="en-US" i="1" dirty="0"/>
              <a:t>́ </a:t>
            </a:r>
            <a:r>
              <a:rPr lang="en-US" i="1" dirty="0" err="1"/>
              <a:t>melétī</a:t>
            </a:r>
            <a:r>
              <a:rPr lang="en-US" i="1" dirty="0"/>
              <a:t> </a:t>
            </a:r>
            <a:r>
              <a:rPr lang="en-US" i="1" dirty="0" err="1"/>
              <a:t>grammatikṓn</a:t>
            </a:r>
            <a:r>
              <a:rPr lang="en-US" i="1" dirty="0"/>
              <a:t> </a:t>
            </a:r>
            <a:r>
              <a:rPr lang="en-US" i="1" dirty="0" err="1"/>
              <a:t>domṓn</a:t>
            </a:r>
            <a:r>
              <a:rPr lang="en-US" i="1" dirty="0"/>
              <a:t> </a:t>
            </a:r>
            <a:r>
              <a:rPr lang="en-US" i="1" dirty="0" err="1"/>
              <a:t>Alvanikī́s</a:t>
            </a:r>
            <a:r>
              <a:rPr lang="en-US" i="1" dirty="0"/>
              <a:t> </a:t>
            </a:r>
            <a:r>
              <a:rPr lang="en-US" i="1" dirty="0" err="1"/>
              <a:t>kai</a:t>
            </a:r>
            <a:r>
              <a:rPr lang="en-US" i="1" dirty="0"/>
              <a:t> </a:t>
            </a:r>
            <a:r>
              <a:rPr lang="en-US" i="1" dirty="0" err="1"/>
              <a:t>Ellīnikī́s</a:t>
            </a:r>
            <a:r>
              <a:rPr lang="en-US" dirty="0"/>
              <a:t> [‘Comparative study of the grammatical structures of Albanian and Greek’]. Thessaloniki: Special Account for Research Funds (ELKE), Auth.</a:t>
            </a:r>
            <a:r>
              <a:rPr lang="en-US" dirty="0">
                <a:hlinkClick r:id="rId3"/>
              </a:rPr>
              <a:t> </a:t>
            </a:r>
            <a:r>
              <a:rPr lang="en-US" u="sng" dirty="0">
                <a:hlinkClick r:id="rId3"/>
              </a:rPr>
              <a:t>http://www.diapolis.auth.gr/diapolis_files/drasi5/Drasi5_website/Drasi5_Ypodrasi_5_2/Ebook_Alb_Gr.pdf</a:t>
            </a:r>
            <a:endParaRPr lang="en-US" dirty="0"/>
          </a:p>
        </p:txBody>
      </p:sp>
      <p:sp>
        <p:nvSpPr>
          <p:cNvPr id="2" name="Slide Number Placeholder 1">
            <a:extLst>
              <a:ext uri="{FF2B5EF4-FFF2-40B4-BE49-F238E27FC236}">
                <a16:creationId xmlns="" xmlns:a16="http://schemas.microsoft.com/office/drawing/2014/main" id="{C294A572-8EBE-2214-90F0-95CBAB9FD906}"/>
              </a:ext>
            </a:extLst>
          </p:cNvPr>
          <p:cNvSpPr>
            <a:spLocks noGrp="1"/>
          </p:cNvSpPr>
          <p:nvPr>
            <p:ph type="sldNum" sz="quarter" idx="12"/>
          </p:nvPr>
        </p:nvSpPr>
        <p:spPr/>
        <p:txBody>
          <a:bodyPr/>
          <a:lstStyle/>
          <a:p>
            <a:fld id="{084E6F96-DBA9-4966-8C10-B0B4DAA302D2}" type="slidenum">
              <a:rPr lang="el-GR" smtClean="0"/>
              <a:pPr/>
              <a:t>62</a:t>
            </a:fld>
            <a:endParaRPr lang="el-G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a:extLst>
              <a:ext uri="{FF2B5EF4-FFF2-40B4-BE49-F238E27FC236}">
                <a16:creationId xmlns="" xmlns:a16="http://schemas.microsoft.com/office/drawing/2014/main" id="{66B20043-FF1A-928E-5FCE-C1B6B62E8034}"/>
              </a:ext>
            </a:extLst>
          </p:cNvPr>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a:extLst>
              <a:ext uri="{FF2B5EF4-FFF2-40B4-BE49-F238E27FC236}">
                <a16:creationId xmlns="" xmlns:a16="http://schemas.microsoft.com/office/drawing/2014/main" id="{93676E98-C9B0-2361-BBEA-4619B60E4C86}"/>
              </a:ext>
            </a:extLst>
          </p:cNvPr>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a:extLst>
              <a:ext uri="{FF2B5EF4-FFF2-40B4-BE49-F238E27FC236}">
                <a16:creationId xmlns="" xmlns:a16="http://schemas.microsoft.com/office/drawing/2014/main" id="{B211026E-FE0E-6774-D349-FACC4A310F8F}"/>
              </a:ext>
            </a:extLst>
          </p:cNvPr>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a:extLst>
              <a:ext uri="{FF2B5EF4-FFF2-40B4-BE49-F238E27FC236}">
                <a16:creationId xmlns="" xmlns:a16="http://schemas.microsoft.com/office/drawing/2014/main" id="{23497F7F-7B39-5566-FEA2-B23FC9CC3360}"/>
              </a:ext>
            </a:extLst>
          </p:cNvPr>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a:extLst>
              <a:ext uri="{FF2B5EF4-FFF2-40B4-BE49-F238E27FC236}">
                <a16:creationId xmlns="" xmlns:a16="http://schemas.microsoft.com/office/drawing/2014/main" id="{75E4D7EB-E0C7-14C0-46BF-6824B55001E7}"/>
              </a:ext>
            </a:extLst>
          </p:cNvPr>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a:extLst>
              <a:ext uri="{FF2B5EF4-FFF2-40B4-BE49-F238E27FC236}">
                <a16:creationId xmlns="" xmlns:a16="http://schemas.microsoft.com/office/drawing/2014/main" id="{BC1CD517-038C-58B9-7E26-493BB3ED76A3}"/>
              </a:ext>
            </a:extLst>
          </p:cNvPr>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TextBox">
            <a:extLst>
              <a:ext uri="{FF2B5EF4-FFF2-40B4-BE49-F238E27FC236}">
                <a16:creationId xmlns="" xmlns:a16="http://schemas.microsoft.com/office/drawing/2014/main" id="{43CD7ED8-940B-401D-A766-52B41B220ABE}"/>
              </a:ext>
            </a:extLst>
          </p:cNvPr>
          <p:cNvSpPr txBox="1"/>
          <p:nvPr/>
        </p:nvSpPr>
        <p:spPr>
          <a:xfrm>
            <a:off x="539551" y="692696"/>
            <a:ext cx="8107721" cy="5632311"/>
          </a:xfrm>
          <a:prstGeom prst="rect">
            <a:avLst/>
          </a:prstGeom>
          <a:noFill/>
        </p:spPr>
        <p:txBody>
          <a:bodyPr wrap="square" rtlCol="0">
            <a:spAutoFit/>
          </a:bodyPr>
          <a:lstStyle/>
          <a:p>
            <a:endParaRPr lang="en-US" sz="2000" dirty="0"/>
          </a:p>
          <a:p>
            <a:r>
              <a:rPr lang="fr-FR" sz="2000" dirty="0" err="1"/>
              <a:t>Tesnière</a:t>
            </a:r>
            <a:r>
              <a:rPr lang="fr-FR" sz="2000" dirty="0"/>
              <a:t>, L. (1959). </a:t>
            </a:r>
            <a:r>
              <a:rPr lang="fr-FR" sz="2000" i="1" dirty="0"/>
              <a:t>Eléments de Syntaxe Structurale</a:t>
            </a:r>
            <a:r>
              <a:rPr lang="fr-FR" sz="2000" dirty="0"/>
              <a:t>. Paris: </a:t>
            </a:r>
            <a:r>
              <a:rPr lang="fr-FR" sz="2000" dirty="0" err="1"/>
              <a:t>Klincksieck</a:t>
            </a:r>
            <a:endParaRPr lang="fr-FR" sz="2000" dirty="0"/>
          </a:p>
          <a:p>
            <a:endParaRPr lang="fr-FR" sz="2000" dirty="0"/>
          </a:p>
          <a:p>
            <a:r>
              <a:rPr lang="en-US" sz="2000" dirty="0" err="1"/>
              <a:t>Tsangalidis</a:t>
            </a:r>
            <a:r>
              <a:rPr lang="en-US" sz="2000" dirty="0"/>
              <a:t>, A. (2013). To </a:t>
            </a:r>
            <a:r>
              <a:rPr lang="en-US" sz="2000" dirty="0" err="1"/>
              <a:t>rīmatikó</a:t>
            </a:r>
            <a:r>
              <a:rPr lang="en-US" sz="2000" dirty="0"/>
              <a:t> </a:t>
            </a:r>
            <a:r>
              <a:rPr lang="en-US" sz="2000" dirty="0" err="1"/>
              <a:t>sýstīma</a:t>
            </a:r>
            <a:r>
              <a:rPr lang="en-US" sz="2000" dirty="0"/>
              <a:t> </a:t>
            </a:r>
            <a:r>
              <a:rPr lang="en-US" sz="2000" dirty="0" err="1"/>
              <a:t>tīs</a:t>
            </a:r>
            <a:r>
              <a:rPr lang="en-US" sz="2000" dirty="0"/>
              <a:t> </a:t>
            </a:r>
            <a:r>
              <a:rPr lang="en-US" sz="2000" dirty="0" err="1"/>
              <a:t>Néas</a:t>
            </a:r>
            <a:r>
              <a:rPr lang="en-US" sz="2000" dirty="0"/>
              <a:t> </a:t>
            </a:r>
            <a:r>
              <a:rPr lang="en-US" sz="2000" dirty="0" err="1"/>
              <a:t>Ellīnikī́s</a:t>
            </a:r>
            <a:r>
              <a:rPr lang="en-US" sz="2000" dirty="0"/>
              <a:t>: </a:t>
            </a:r>
            <a:r>
              <a:rPr lang="en-US" sz="2000" dirty="0" err="1"/>
              <a:t>Zītī́mata</a:t>
            </a:r>
            <a:r>
              <a:rPr lang="en-US" sz="2000" dirty="0"/>
              <a:t> </a:t>
            </a:r>
            <a:r>
              <a:rPr lang="en-US" sz="2000" dirty="0" err="1"/>
              <a:t>orologías</a:t>
            </a:r>
            <a:r>
              <a:rPr lang="en-US" sz="2000" dirty="0"/>
              <a:t> </a:t>
            </a:r>
            <a:r>
              <a:rPr lang="en-US" sz="2000" dirty="0" err="1"/>
              <a:t>kai</a:t>
            </a:r>
            <a:r>
              <a:rPr lang="en-US" sz="2000" dirty="0"/>
              <a:t> </a:t>
            </a:r>
            <a:r>
              <a:rPr lang="en-US" sz="2000" dirty="0" err="1"/>
              <a:t>perigrafī́s</a:t>
            </a:r>
            <a:r>
              <a:rPr lang="en-US" sz="2000" dirty="0"/>
              <a:t> </a:t>
            </a:r>
            <a:r>
              <a:rPr lang="en-US" sz="2000" dirty="0" err="1"/>
              <a:t>tīs</a:t>
            </a:r>
            <a:r>
              <a:rPr lang="en-US" sz="2000" dirty="0"/>
              <a:t> </a:t>
            </a:r>
            <a:r>
              <a:rPr lang="en-US" sz="2000" dirty="0" err="1"/>
              <a:t>néas</a:t>
            </a:r>
            <a:r>
              <a:rPr lang="en-US" sz="2000" dirty="0"/>
              <a:t> </a:t>
            </a:r>
            <a:r>
              <a:rPr lang="en-US" sz="2000" dirty="0" err="1"/>
              <a:t>ellīnikī́s</a:t>
            </a:r>
            <a:r>
              <a:rPr lang="en-US" sz="2000" dirty="0"/>
              <a:t> [‘The verbal system of Modern Greek: Issues of terminology and description of Modern Greek’]. </a:t>
            </a:r>
            <a:r>
              <a:rPr lang="en-US" sz="2000" i="1" dirty="0" err="1"/>
              <a:t>Diadromés</a:t>
            </a:r>
            <a:r>
              <a:rPr lang="en-US" sz="2000" i="1" dirty="0"/>
              <a:t> </a:t>
            </a:r>
            <a:r>
              <a:rPr lang="en-US" sz="2000" i="1" dirty="0" err="1"/>
              <a:t>stī</a:t>
            </a:r>
            <a:r>
              <a:rPr lang="en-US" sz="2000" i="1" dirty="0"/>
              <a:t> </a:t>
            </a:r>
            <a:r>
              <a:rPr lang="en-US" sz="2000" i="1" dirty="0" err="1"/>
              <a:t>didaskalía</a:t>
            </a:r>
            <a:r>
              <a:rPr lang="en-US" sz="2000" i="1" dirty="0"/>
              <a:t> </a:t>
            </a:r>
            <a:r>
              <a:rPr lang="en-US" sz="2000" i="1" dirty="0" err="1"/>
              <a:t>tīs</a:t>
            </a:r>
            <a:r>
              <a:rPr lang="en-US" sz="2000" i="1" dirty="0"/>
              <a:t> </a:t>
            </a:r>
            <a:r>
              <a:rPr lang="en-US" sz="2000" i="1" dirty="0" err="1"/>
              <a:t>néas</a:t>
            </a:r>
            <a:r>
              <a:rPr lang="en-US" sz="2000" i="1" dirty="0"/>
              <a:t> </a:t>
            </a:r>
            <a:r>
              <a:rPr lang="en-US" sz="2000" i="1" dirty="0" err="1"/>
              <a:t>ellīnikī́s</a:t>
            </a:r>
            <a:r>
              <a:rPr lang="en-US" sz="2000" i="1" dirty="0"/>
              <a:t> se </a:t>
            </a:r>
            <a:r>
              <a:rPr lang="en-US" sz="2000" i="1" dirty="0" err="1"/>
              <a:t>allóglōssous</a:t>
            </a:r>
            <a:r>
              <a:rPr lang="en-US" sz="2000" i="1" dirty="0"/>
              <a:t> </a:t>
            </a:r>
            <a:r>
              <a:rPr lang="en-US" sz="2000" i="1" dirty="0" err="1"/>
              <a:t>stīn</a:t>
            </a:r>
            <a:r>
              <a:rPr lang="en-US" sz="2000" i="1" dirty="0"/>
              <a:t> </a:t>
            </a:r>
            <a:r>
              <a:rPr lang="en-US" sz="2000" i="1" dirty="0" err="1"/>
              <a:t>Elláda</a:t>
            </a:r>
            <a:r>
              <a:rPr lang="en-US" sz="2000" i="1" dirty="0"/>
              <a:t> </a:t>
            </a:r>
            <a:r>
              <a:rPr lang="en-US" sz="2000" dirty="0"/>
              <a:t>[‘Trajectories for the teaching of Modern Greek to non-</a:t>
            </a:r>
            <a:r>
              <a:rPr lang="en-US" sz="2000" dirty="0" err="1"/>
              <a:t>Greeek</a:t>
            </a:r>
            <a:r>
              <a:rPr lang="en-US" sz="2000" dirty="0"/>
              <a:t> speakers in </a:t>
            </a:r>
            <a:r>
              <a:rPr lang="en-US" sz="2000" dirty="0" err="1"/>
              <a:t>Greeece</a:t>
            </a:r>
            <a:r>
              <a:rPr lang="en-US" sz="2000" dirty="0"/>
              <a:t>’]. Thessaloniki: Centre for the Greek Language.</a:t>
            </a:r>
            <a:r>
              <a:rPr lang="en-US" sz="2000" dirty="0">
                <a:hlinkClick r:id="rId3"/>
              </a:rPr>
              <a:t> </a:t>
            </a:r>
            <a:r>
              <a:rPr lang="en-US" sz="2000" u="sng" dirty="0">
                <a:hlinkClick r:id="rId3"/>
              </a:rPr>
              <a:t>http://elearning.greek language.gr/pluginfile.php/1134/</a:t>
            </a:r>
            <a:r>
              <a:rPr lang="en-US" sz="2000" u="sng" dirty="0" err="1">
                <a:hlinkClick r:id="rId3"/>
              </a:rPr>
              <a:t>mod_resource</a:t>
            </a:r>
            <a:r>
              <a:rPr lang="en-US" sz="2000" u="sng" dirty="0">
                <a:hlinkClick r:id="rId3"/>
              </a:rPr>
              <a:t>/content/5/rimaorologia.pdf</a:t>
            </a:r>
            <a:endParaRPr lang="fr-FR" sz="2000" dirty="0"/>
          </a:p>
          <a:p>
            <a:endParaRPr lang="en-US" sz="2000" dirty="0"/>
          </a:p>
          <a:p>
            <a:r>
              <a:rPr lang="en-US" sz="2000" dirty="0" err="1"/>
              <a:t>Zanchi</a:t>
            </a:r>
            <a:r>
              <a:rPr lang="en-US" sz="2000" dirty="0"/>
              <a:t>, C. (2021). The Homeric Dependency Lexicon: What it is and how to use it. </a:t>
            </a:r>
            <a:r>
              <a:rPr lang="en-US" sz="2000" i="1" dirty="0"/>
              <a:t>Journal of Greek Linguistics, 21</a:t>
            </a:r>
            <a:r>
              <a:rPr lang="en-US" sz="2000" dirty="0"/>
              <a:t>(2), 263–297. </a:t>
            </a:r>
            <a:br>
              <a:rPr lang="en-US" sz="2000" dirty="0"/>
            </a:br>
            <a:endParaRPr lang="el-GR" sz="2000" dirty="0"/>
          </a:p>
        </p:txBody>
      </p:sp>
      <p:sp>
        <p:nvSpPr>
          <p:cNvPr id="2" name="Slide Number Placeholder 1">
            <a:extLst>
              <a:ext uri="{FF2B5EF4-FFF2-40B4-BE49-F238E27FC236}">
                <a16:creationId xmlns="" xmlns:a16="http://schemas.microsoft.com/office/drawing/2014/main" id="{14B9E38D-7308-D47A-F46F-C65E463F74EB}"/>
              </a:ext>
            </a:extLst>
          </p:cNvPr>
          <p:cNvSpPr>
            <a:spLocks noGrp="1"/>
          </p:cNvSpPr>
          <p:nvPr>
            <p:ph type="sldNum" sz="quarter" idx="12"/>
          </p:nvPr>
        </p:nvSpPr>
        <p:spPr/>
        <p:txBody>
          <a:bodyPr/>
          <a:lstStyle/>
          <a:p>
            <a:fld id="{084E6F96-DBA9-4966-8C10-B0B4DAA302D2}" type="slidenum">
              <a:rPr lang="el-GR" smtClean="0"/>
              <a:pPr/>
              <a:t>63</a:t>
            </a:fld>
            <a:endParaRPr lang="el-G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2" name="Τίτλος 1">
            <a:extLst>
              <a:ext uri="{FF2B5EF4-FFF2-40B4-BE49-F238E27FC236}">
                <a16:creationId xmlns="" xmlns:a16="http://schemas.microsoft.com/office/drawing/2014/main" id="{95AB4395-AFEE-66DD-8637-9801CDA5105A}"/>
              </a:ext>
            </a:extLst>
          </p:cNvPr>
          <p:cNvSpPr txBox="1">
            <a:spLocks/>
          </p:cNvSpPr>
          <p:nvPr/>
        </p:nvSpPr>
        <p:spPr>
          <a:xfrm>
            <a:off x="-2628800" y="1196752"/>
            <a:ext cx="3528392" cy="97265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endParaRPr lang="el-GR" dirty="0"/>
          </a:p>
        </p:txBody>
      </p:sp>
      <p:sp>
        <p:nvSpPr>
          <p:cNvPr id="3" name="Θέση περιεχομένου 2">
            <a:extLst>
              <a:ext uri="{FF2B5EF4-FFF2-40B4-BE49-F238E27FC236}">
                <a16:creationId xmlns="" xmlns:a16="http://schemas.microsoft.com/office/drawing/2014/main" id="{1B9D0EF9-0F24-9B25-ED53-7D8B77098667}"/>
              </a:ext>
            </a:extLst>
          </p:cNvPr>
          <p:cNvSpPr txBox="1">
            <a:spLocks/>
          </p:cNvSpPr>
          <p:nvPr/>
        </p:nvSpPr>
        <p:spPr>
          <a:xfrm>
            <a:off x="251520" y="2675727"/>
            <a:ext cx="8892480" cy="1512168"/>
          </a:xfrm>
          <a:prstGeom prst="rect">
            <a:avLst/>
          </a:prstGeom>
        </p:spPr>
        <p:txBody>
          <a:bodyPr>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a:buNone/>
            </a:pPr>
            <a:r>
              <a:rPr lang="en-US" sz="1800" b="1" dirty="0">
                <a:latin typeface="Arial" pitchFamily="34" charset="0"/>
                <a:cs typeface="Arial" pitchFamily="34" charset="0"/>
              </a:rPr>
              <a:t>Contact us at:</a:t>
            </a:r>
          </a:p>
          <a:p>
            <a:pPr marL="0" indent="0" algn="ctr">
              <a:buNone/>
            </a:pPr>
            <a:r>
              <a:rPr lang="en-US" sz="1800" dirty="0">
                <a:latin typeface="Arial" pitchFamily="34" charset="0"/>
                <a:cs typeface="Arial" pitchFamily="34" charset="0"/>
              </a:rPr>
              <a:t>Professor </a:t>
            </a:r>
            <a:r>
              <a:rPr lang="en-US" sz="1800" dirty="0" err="1">
                <a:latin typeface="Arial" pitchFamily="34" charset="0"/>
                <a:cs typeface="Arial" pitchFamily="34" charset="0"/>
              </a:rPr>
              <a:t>Nikolaos</a:t>
            </a:r>
            <a:r>
              <a:rPr lang="en-US" sz="1800" dirty="0">
                <a:latin typeface="Arial" pitchFamily="34" charset="0"/>
                <a:cs typeface="Arial" pitchFamily="34" charset="0"/>
              </a:rPr>
              <a:t> </a:t>
            </a:r>
            <a:r>
              <a:rPr lang="en-US" sz="1800" dirty="0" err="1">
                <a:latin typeface="Arial" pitchFamily="34" charset="0"/>
                <a:cs typeface="Arial" pitchFamily="34" charset="0"/>
              </a:rPr>
              <a:t>Lavidas</a:t>
            </a:r>
            <a:r>
              <a:rPr lang="en-US" sz="1800" dirty="0">
                <a:latin typeface="Arial" pitchFamily="34" charset="0"/>
                <a:cs typeface="Arial" pitchFamily="34" charset="0"/>
              </a:rPr>
              <a:t>: </a:t>
            </a:r>
            <a:r>
              <a:rPr lang="en-US" sz="1800" spc="-9" dirty="0">
                <a:latin typeface="Arial" pitchFamily="34" charset="0"/>
                <a:cs typeface="Arial" pitchFamily="34" charset="0"/>
                <a:hlinkClick r:id="rId3"/>
              </a:rPr>
              <a:t>nlavidas@enl.uoa.gr</a:t>
            </a:r>
            <a:endParaRPr lang="en-US" sz="1800" dirty="0">
              <a:latin typeface="Arial" pitchFamily="34" charset="0"/>
              <a:cs typeface="Arial" pitchFamily="34" charset="0"/>
            </a:endParaRPr>
          </a:p>
          <a:p>
            <a:pPr marL="0" indent="0" algn="ctr">
              <a:buNone/>
            </a:pPr>
            <a:r>
              <a:rPr lang="en-US" sz="1800" dirty="0" err="1">
                <a:latin typeface="Arial" pitchFamily="34" charset="0"/>
                <a:cs typeface="Arial" pitchFamily="34" charset="0"/>
              </a:rPr>
              <a:t>Eleni</a:t>
            </a:r>
            <a:r>
              <a:rPr lang="en-US" sz="1800" dirty="0">
                <a:latin typeface="Arial" pitchFamily="34" charset="0"/>
                <a:cs typeface="Arial" pitchFamily="34" charset="0"/>
              </a:rPr>
              <a:t> </a:t>
            </a:r>
            <a:r>
              <a:rPr lang="en-US" sz="1800" dirty="0" err="1">
                <a:latin typeface="Arial" pitchFamily="34" charset="0"/>
                <a:cs typeface="Arial" pitchFamily="34" charset="0"/>
              </a:rPr>
              <a:t>Plakoutsi</a:t>
            </a:r>
            <a:r>
              <a:rPr lang="en-US" sz="1800" dirty="0">
                <a:latin typeface="Arial" pitchFamily="34" charset="0"/>
                <a:cs typeface="Arial" pitchFamily="34" charset="0"/>
              </a:rPr>
              <a:t>: </a:t>
            </a:r>
            <a:r>
              <a:rPr lang="en-US" sz="1800" dirty="0">
                <a:latin typeface="Arial" pitchFamily="34" charset="0"/>
                <a:cs typeface="Arial" pitchFamily="34" charset="0"/>
                <a:hlinkClick r:id="rId4"/>
              </a:rPr>
              <a:t>eleni2plak@gmail.com</a:t>
            </a:r>
            <a:r>
              <a:rPr lang="en-US" sz="1800" dirty="0">
                <a:latin typeface="Arial" pitchFamily="34" charset="0"/>
                <a:cs typeface="Arial" pitchFamily="34" charset="0"/>
              </a:rPr>
              <a:t> </a:t>
            </a:r>
          </a:p>
          <a:p>
            <a:pPr marL="0" indent="0" algn="ctr">
              <a:buNone/>
            </a:pPr>
            <a:r>
              <a:rPr lang="en-US" sz="1800" dirty="0">
                <a:latin typeface="Arial" pitchFamily="34" charset="0"/>
                <a:cs typeface="Arial" pitchFamily="34" charset="0"/>
              </a:rPr>
              <a:t>Anastasia </a:t>
            </a:r>
            <a:r>
              <a:rPr lang="en-US" sz="1800" dirty="0" err="1">
                <a:latin typeface="Arial" pitchFamily="34" charset="0"/>
                <a:cs typeface="Arial" pitchFamily="34" charset="0"/>
              </a:rPr>
              <a:t>Tsiropina</a:t>
            </a:r>
            <a:r>
              <a:rPr lang="en-US" sz="1800" dirty="0">
                <a:latin typeface="Arial" pitchFamily="34" charset="0"/>
                <a:cs typeface="Arial" pitchFamily="34" charset="0"/>
              </a:rPr>
              <a:t>: </a:t>
            </a:r>
            <a:r>
              <a:rPr lang="en-US" sz="1800" dirty="0">
                <a:latin typeface="Arial" pitchFamily="34" charset="0"/>
                <a:cs typeface="Arial" pitchFamily="34" charset="0"/>
                <a:hlinkClick r:id="rId5"/>
              </a:rPr>
              <a:t>natasatsirop@gmail.com</a:t>
            </a:r>
            <a:r>
              <a:rPr lang="en-US" sz="1800" dirty="0">
                <a:latin typeface="Arial" pitchFamily="34" charset="0"/>
                <a:cs typeface="Arial" pitchFamily="34" charset="0"/>
              </a:rPr>
              <a:t> </a:t>
            </a:r>
          </a:p>
          <a:p>
            <a:pPr marL="0" indent="0" algn="ctr">
              <a:buNone/>
            </a:pPr>
            <a:endParaRPr lang="en-US" sz="1800" dirty="0">
              <a:latin typeface="Arial" pitchFamily="34" charset="0"/>
              <a:cs typeface="Arial" pitchFamily="34" charset="0"/>
            </a:endParaRPr>
          </a:p>
          <a:p>
            <a:pPr marL="457200" indent="-457200" algn="ctr"/>
            <a:endParaRPr lang="en-US" sz="1800" dirty="0">
              <a:latin typeface="Arial" pitchFamily="34" charset="0"/>
              <a:cs typeface="Arial" pitchFamily="34" charset="0"/>
            </a:endParaRPr>
          </a:p>
          <a:p>
            <a:pPr marL="457200" indent="-457200" algn="ctr"/>
            <a:endParaRPr lang="en-US" sz="2000" dirty="0"/>
          </a:p>
          <a:p>
            <a:pPr marL="457200" indent="-457200" algn="ctr"/>
            <a:endParaRPr lang="en-US" sz="2000" dirty="0"/>
          </a:p>
        </p:txBody>
      </p:sp>
      <p:sp>
        <p:nvSpPr>
          <p:cNvPr id="11" name="AutoShape 2">
            <a:extLst>
              <a:ext uri="{FF2B5EF4-FFF2-40B4-BE49-F238E27FC236}">
                <a16:creationId xmlns="" xmlns:a16="http://schemas.microsoft.com/office/drawing/2014/main" id="{9EAD7E6B-25D9-D975-A895-1605808E5675}"/>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l-GR"/>
          </a:p>
        </p:txBody>
      </p:sp>
      <p:sp>
        <p:nvSpPr>
          <p:cNvPr id="14" name="13 - Τίτλος"/>
          <p:cNvSpPr>
            <a:spLocks noGrp="1"/>
          </p:cNvSpPr>
          <p:nvPr>
            <p:ph type="title" idx="4294967295"/>
          </p:nvPr>
        </p:nvSpPr>
        <p:spPr>
          <a:xfrm>
            <a:off x="899592" y="836712"/>
            <a:ext cx="7337871" cy="1537320"/>
          </a:xfrm>
        </p:spPr>
        <p:txBody>
          <a:bodyPr>
            <a:normAutofit fontScale="90000"/>
          </a:bodyPr>
          <a:lstStyle/>
          <a:p>
            <a:pPr algn="ctr"/>
            <a:r>
              <a:rPr lang="en-US" dirty="0"/>
              <a:t>Thank you!</a:t>
            </a:r>
            <a:br>
              <a:rPr lang="en-US" dirty="0"/>
            </a:br>
            <a:r>
              <a:rPr lang="en-US" dirty="0"/>
              <a:t/>
            </a:r>
            <a:br>
              <a:rPr lang="en-US" dirty="0"/>
            </a:br>
            <a:r>
              <a:rPr lang="en-US" sz="2200" dirty="0">
                <a:solidFill>
                  <a:schemeClr val="accent1">
                    <a:lumMod val="75000"/>
                  </a:schemeClr>
                </a:solidFill>
              </a:rPr>
              <a:t>Discussion &amp; Questions</a:t>
            </a:r>
            <a:r>
              <a:rPr lang="el-GR" sz="2200" dirty="0">
                <a:solidFill>
                  <a:schemeClr val="accent1">
                    <a:lumMod val="75000"/>
                  </a:schemeClr>
                </a:solidFill>
              </a:rPr>
              <a:t/>
            </a:r>
            <a:br>
              <a:rPr lang="el-GR" sz="2200" dirty="0">
                <a:solidFill>
                  <a:schemeClr val="accent1">
                    <a:lumMod val="75000"/>
                  </a:schemeClr>
                </a:solidFill>
              </a:rPr>
            </a:br>
            <a:endParaRPr lang="el-GR" sz="2200" dirty="0">
              <a:solidFill>
                <a:schemeClr val="accent1">
                  <a:lumMod val="75000"/>
                </a:schemeClr>
              </a:solidFill>
            </a:endParaRPr>
          </a:p>
        </p:txBody>
      </p:sp>
      <p:sp>
        <p:nvSpPr>
          <p:cNvPr id="16" name="object 6"/>
          <p:cNvSpPr txBox="1"/>
          <p:nvPr/>
        </p:nvSpPr>
        <p:spPr>
          <a:xfrm>
            <a:off x="2483768" y="4619943"/>
            <a:ext cx="4903939" cy="230832"/>
          </a:xfrm>
          <a:prstGeom prst="rect">
            <a:avLst/>
          </a:prstGeom>
        </p:spPr>
        <p:txBody>
          <a:bodyPr vert="horz" wrap="square" lIns="0" tIns="0" rIns="0" bIns="0" rtlCol="0">
            <a:spAutoFit/>
          </a:bodyPr>
          <a:lstStyle/>
          <a:p>
            <a:pPr marL="0" marR="0">
              <a:lnSpc>
                <a:spcPts val="1759"/>
              </a:lnSpc>
              <a:spcBef>
                <a:spcPts val="0"/>
              </a:spcBef>
              <a:spcAft>
                <a:spcPts val="0"/>
              </a:spcAft>
            </a:pPr>
            <a:r>
              <a:rPr b="1" spc="12" dirty="0">
                <a:solidFill>
                  <a:srgbClr val="333333"/>
                </a:solidFill>
                <a:latin typeface="Arial"/>
                <a:cs typeface="Arial"/>
              </a:rPr>
              <a:t>Project:</a:t>
            </a:r>
            <a:r>
              <a:rPr b="1" dirty="0">
                <a:solidFill>
                  <a:srgbClr val="333333"/>
                </a:solidFill>
                <a:latin typeface="Arial"/>
                <a:cs typeface="Arial"/>
              </a:rPr>
              <a:t> </a:t>
            </a:r>
            <a:r>
              <a:rPr spc="-12" dirty="0">
                <a:solidFill>
                  <a:srgbClr val="333333"/>
                </a:solidFill>
                <a:latin typeface="Arial"/>
                <a:cs typeface="Arial"/>
              </a:rPr>
              <a:t>H.F.R.I.</a:t>
            </a:r>
            <a:r>
              <a:rPr spc="26" dirty="0">
                <a:solidFill>
                  <a:srgbClr val="333333"/>
                </a:solidFill>
                <a:latin typeface="Arial"/>
                <a:cs typeface="Arial"/>
              </a:rPr>
              <a:t> </a:t>
            </a:r>
            <a:r>
              <a:rPr spc="12" dirty="0">
                <a:solidFill>
                  <a:srgbClr val="333333"/>
                </a:solidFill>
                <a:latin typeface="Arial"/>
                <a:cs typeface="Arial"/>
              </a:rPr>
              <a:t>Project</a:t>
            </a:r>
            <a:r>
              <a:rPr dirty="0">
                <a:solidFill>
                  <a:srgbClr val="333333"/>
                </a:solidFill>
                <a:latin typeface="Arial"/>
                <a:cs typeface="Arial"/>
              </a:rPr>
              <a:t> </a:t>
            </a:r>
            <a:r>
              <a:rPr spc="16" dirty="0">
                <a:solidFill>
                  <a:srgbClr val="333333"/>
                </a:solidFill>
                <a:latin typeface="Arial"/>
                <a:cs typeface="Arial"/>
              </a:rPr>
              <a:t>Number</a:t>
            </a:r>
            <a:r>
              <a:rPr dirty="0">
                <a:solidFill>
                  <a:srgbClr val="333333"/>
                </a:solidFill>
                <a:latin typeface="Arial"/>
                <a:cs typeface="Arial"/>
              </a:rPr>
              <a:t> </a:t>
            </a:r>
            <a:r>
              <a:rPr spc="14" dirty="0">
                <a:solidFill>
                  <a:srgbClr val="333333"/>
                </a:solidFill>
                <a:latin typeface="Arial"/>
                <a:cs typeface="Arial"/>
              </a:rPr>
              <a:t>15284</a:t>
            </a:r>
          </a:p>
        </p:txBody>
      </p:sp>
      <p:sp>
        <p:nvSpPr>
          <p:cNvPr id="17" name="16 - TextBox"/>
          <p:cNvSpPr txBox="1"/>
          <p:nvPr/>
        </p:nvSpPr>
        <p:spPr>
          <a:xfrm>
            <a:off x="1403648" y="5196007"/>
            <a:ext cx="6768752" cy="1661993"/>
          </a:xfrm>
          <a:prstGeom prst="rect">
            <a:avLst/>
          </a:prstGeom>
          <a:noFill/>
        </p:spPr>
        <p:txBody>
          <a:bodyPr wrap="square" rtlCol="0">
            <a:spAutoFit/>
          </a:bodyPr>
          <a:lstStyle/>
          <a:p>
            <a:pPr algn="ctr"/>
            <a:r>
              <a:rPr lang="en-US" sz="1600" b="1" dirty="0">
                <a:latin typeface="Calibri" pitchFamily="34" charset="0"/>
                <a:cs typeface="Calibri" pitchFamily="34" charset="0"/>
              </a:rPr>
              <a:t>The 25</a:t>
            </a:r>
            <a:r>
              <a:rPr lang="en-US" sz="1600" b="1" baseline="30000" dirty="0">
                <a:latin typeface="Calibri" pitchFamily="34" charset="0"/>
                <a:cs typeface="Calibri" pitchFamily="34" charset="0"/>
              </a:rPr>
              <a:t>th</a:t>
            </a:r>
            <a:r>
              <a:rPr lang="en-US" sz="1600" b="1" dirty="0">
                <a:latin typeface="Calibri" pitchFamily="34" charset="0"/>
                <a:cs typeface="Calibri" pitchFamily="34" charset="0"/>
              </a:rPr>
              <a:t> International Conference of the Department of Linguistics (CIDL25)</a:t>
            </a:r>
          </a:p>
          <a:p>
            <a:pPr algn="ctr"/>
            <a:r>
              <a:rPr lang="en-US" sz="1600" b="1" dirty="0">
                <a:latin typeface="Calibri" pitchFamily="34" charset="0"/>
                <a:cs typeface="Calibri" pitchFamily="34" charset="0"/>
              </a:rPr>
              <a:t> Linguistic Intersections: from Natural Language to Artificial Intelligence. </a:t>
            </a:r>
          </a:p>
          <a:p>
            <a:pPr algn="ctr"/>
            <a:r>
              <a:rPr lang="en-US" sz="1600" b="1" dirty="0">
                <a:latin typeface="Calibri" pitchFamily="34" charset="0"/>
                <a:cs typeface="Calibri" pitchFamily="34" charset="0"/>
              </a:rPr>
              <a:t>21-22 November 2025</a:t>
            </a:r>
          </a:p>
          <a:p>
            <a:pPr algn="ctr"/>
            <a:r>
              <a:rPr lang="en-US" sz="1600" b="1" dirty="0">
                <a:latin typeface="Calibri" pitchFamily="34" charset="0"/>
                <a:cs typeface="Calibri" pitchFamily="34" charset="0"/>
              </a:rPr>
              <a:t>Bucharest, Romania</a:t>
            </a:r>
            <a:r>
              <a:rPr lang="en-US" b="1" dirty="0">
                <a:latin typeface="Calibri" pitchFamily="34" charset="0"/>
                <a:cs typeface="Calibri" pitchFamily="34" charset="0"/>
              </a:rPr>
              <a:t> </a:t>
            </a:r>
          </a:p>
          <a:p>
            <a:pPr algn="ctr"/>
            <a:endParaRPr lang="en-US" dirty="0">
              <a:latin typeface="Calibri" pitchFamily="34" charset="0"/>
              <a:cs typeface="Calibri" pitchFamily="34" charset="0"/>
            </a:endParaRPr>
          </a:p>
          <a:p>
            <a:endParaRPr lang="el-GR" dirty="0"/>
          </a:p>
        </p:txBody>
      </p:sp>
      <p:sp>
        <p:nvSpPr>
          <p:cNvPr id="10" name="Slide Number Placeholder 9">
            <a:extLst>
              <a:ext uri="{FF2B5EF4-FFF2-40B4-BE49-F238E27FC236}">
                <a16:creationId xmlns="" xmlns:a16="http://schemas.microsoft.com/office/drawing/2014/main" id="{3730B8EF-6347-B12E-294F-19CE8FEB4A1A}"/>
              </a:ext>
            </a:extLst>
          </p:cNvPr>
          <p:cNvSpPr>
            <a:spLocks noGrp="1"/>
          </p:cNvSpPr>
          <p:nvPr>
            <p:ph type="sldNum" sz="quarter" idx="12"/>
          </p:nvPr>
        </p:nvSpPr>
        <p:spPr/>
        <p:txBody>
          <a:bodyPr/>
          <a:lstStyle/>
          <a:p>
            <a:fld id="{084E6F96-DBA9-4966-8C10-B0B4DAA302D2}" type="slidenum">
              <a:rPr lang="el-GR" smtClean="0"/>
              <a:pPr/>
              <a:t>64</a:t>
            </a:fld>
            <a:endParaRPr lang="el-G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Τίτλος"/>
          <p:cNvSpPr>
            <a:spLocks noGrp="1"/>
          </p:cNvSpPr>
          <p:nvPr>
            <p:ph type="title"/>
          </p:nvPr>
        </p:nvSpPr>
        <p:spPr/>
        <p:txBody>
          <a:bodyPr/>
          <a:lstStyle/>
          <a:p>
            <a:r>
              <a:rPr lang="en-US" dirty="0"/>
              <a:t>Digitization</a:t>
            </a:r>
            <a:endParaRPr lang="el-GR" dirty="0"/>
          </a:p>
        </p:txBody>
      </p:sp>
      <p:sp>
        <p:nvSpPr>
          <p:cNvPr id="12" name="11 - Στρογγυλεμένο ορθογώνιο"/>
          <p:cNvSpPr/>
          <p:nvPr/>
        </p:nvSpPr>
        <p:spPr>
          <a:xfrm>
            <a:off x="3923928" y="2492896"/>
            <a:ext cx="5220072" cy="3456384"/>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u="sng" dirty="0">
                <a:solidFill>
                  <a:schemeClr val="tx1"/>
                </a:solidFill>
              </a:rPr>
              <a:t>Benefit</a:t>
            </a:r>
            <a:r>
              <a:rPr lang="en-US" sz="2000" dirty="0">
                <a:solidFill>
                  <a:schemeClr val="tx1"/>
                </a:solidFill>
              </a:rPr>
              <a:t>:</a:t>
            </a:r>
          </a:p>
          <a:p>
            <a:pPr algn="ctr">
              <a:buNone/>
            </a:pPr>
            <a:r>
              <a:rPr lang="en-US" sz="2000" dirty="0">
                <a:solidFill>
                  <a:schemeClr val="tx1"/>
                </a:solidFill>
              </a:rPr>
              <a:t>Ready-made </a:t>
            </a:r>
            <a:r>
              <a:rPr lang="en-US" sz="2000" b="1" dirty="0">
                <a:solidFill>
                  <a:schemeClr val="tx1"/>
                </a:solidFill>
              </a:rPr>
              <a:t>dictionaries</a:t>
            </a:r>
            <a:r>
              <a:rPr lang="en-US" sz="2000" dirty="0">
                <a:solidFill>
                  <a:schemeClr val="tx1"/>
                </a:solidFill>
              </a:rPr>
              <a:t> </a:t>
            </a:r>
          </a:p>
          <a:p>
            <a:pPr algn="ctr">
              <a:buNone/>
            </a:pPr>
            <a:endParaRPr lang="en-US" sz="2000" b="1" dirty="0">
              <a:solidFill>
                <a:schemeClr val="tx1"/>
              </a:solidFill>
            </a:endParaRPr>
          </a:p>
          <a:p>
            <a:pPr algn="ctr">
              <a:buNone/>
            </a:pPr>
            <a:endParaRPr lang="en-US" sz="2000" b="1" dirty="0">
              <a:solidFill>
                <a:schemeClr val="tx1"/>
              </a:solidFill>
            </a:endParaRPr>
          </a:p>
          <a:p>
            <a:pPr algn="ctr">
              <a:buNone/>
            </a:pPr>
            <a:endParaRPr lang="en-US" sz="2000" b="1" dirty="0">
              <a:solidFill>
                <a:schemeClr val="tx1"/>
              </a:solidFill>
            </a:endParaRPr>
          </a:p>
          <a:p>
            <a:pPr algn="ctr">
              <a:buNone/>
            </a:pPr>
            <a:endParaRPr lang="en-US" sz="2000" b="1" dirty="0">
              <a:solidFill>
                <a:schemeClr val="tx1"/>
              </a:solidFill>
            </a:endParaRPr>
          </a:p>
          <a:p>
            <a:pPr algn="ctr">
              <a:buFont typeface="Arial" pitchFamily="34" charset="0"/>
              <a:buChar char="•"/>
            </a:pPr>
            <a:r>
              <a:rPr lang="en-US" sz="2000" b="1" dirty="0">
                <a:solidFill>
                  <a:schemeClr val="tx1"/>
                </a:solidFill>
              </a:rPr>
              <a:t>lemmatization of the texts </a:t>
            </a:r>
          </a:p>
          <a:p>
            <a:pPr algn="ctr"/>
            <a:endParaRPr lang="en-US" sz="2000" dirty="0">
              <a:solidFill>
                <a:schemeClr val="tx1"/>
              </a:solidFill>
            </a:endParaRPr>
          </a:p>
          <a:p>
            <a:pPr algn="ctr">
              <a:buFont typeface="Arial" pitchFamily="34" charset="0"/>
              <a:buChar char="•"/>
            </a:pPr>
            <a:r>
              <a:rPr lang="en-US" sz="2000" b="1" dirty="0">
                <a:solidFill>
                  <a:schemeClr val="tx1"/>
                </a:solidFill>
              </a:rPr>
              <a:t>creation of an annotation basis </a:t>
            </a:r>
            <a:r>
              <a:rPr lang="en-US" sz="2000" dirty="0">
                <a:solidFill>
                  <a:schemeClr val="tx1"/>
                </a:solidFill>
              </a:rPr>
              <a:t>for the corpus.</a:t>
            </a:r>
          </a:p>
        </p:txBody>
      </p:sp>
      <p:sp>
        <p:nvSpPr>
          <p:cNvPr id="13" name="12 - Βέλος προς τα κάτω"/>
          <p:cNvSpPr/>
          <p:nvPr/>
        </p:nvSpPr>
        <p:spPr>
          <a:xfrm>
            <a:off x="6300192" y="3429000"/>
            <a:ext cx="288032" cy="1008112"/>
          </a:xfrm>
          <a:prstGeom prst="downArrow">
            <a:avLst/>
          </a:prstGeom>
          <a:solidFill>
            <a:schemeClr val="accent3">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5" name="14 - Κατακόρυφος πάπυρος"/>
          <p:cNvSpPr/>
          <p:nvPr/>
        </p:nvSpPr>
        <p:spPr>
          <a:xfrm>
            <a:off x="467544" y="1268760"/>
            <a:ext cx="3456384" cy="3816424"/>
          </a:xfrm>
          <a:prstGeom prst="verticalScroll">
            <a:avLst/>
          </a:prstGeom>
          <a:solidFill>
            <a:srgbClr val="E0C9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AutoNum type="alphaUcParenR"/>
            </a:pPr>
            <a:r>
              <a:rPr lang="en-US" dirty="0">
                <a:solidFill>
                  <a:schemeClr val="tx1"/>
                </a:solidFill>
              </a:rPr>
              <a:t>Texts from other open-source </a:t>
            </a:r>
            <a:r>
              <a:rPr lang="en-US" b="1" dirty="0">
                <a:solidFill>
                  <a:schemeClr val="tx1"/>
                </a:solidFill>
              </a:rPr>
              <a:t>treebanks</a:t>
            </a:r>
            <a:r>
              <a:rPr lang="en-US" dirty="0">
                <a:solidFill>
                  <a:schemeClr val="tx1"/>
                </a:solidFill>
              </a:rPr>
              <a:t> -</a:t>
            </a:r>
            <a:r>
              <a:rPr lang="en-US" i="1" dirty="0">
                <a:solidFill>
                  <a:schemeClr val="tx1"/>
                </a:solidFill>
              </a:rPr>
              <a:t>PROIEL, Perseus database</a:t>
            </a:r>
            <a:r>
              <a:rPr lang="en-US" dirty="0">
                <a:solidFill>
                  <a:schemeClr val="tx1"/>
                </a:solidFill>
              </a:rPr>
              <a:t> </a:t>
            </a:r>
          </a:p>
          <a:p>
            <a:pPr marL="342900" indent="-342900" algn="ctr"/>
            <a:r>
              <a:rPr lang="en-US" sz="1400" dirty="0">
                <a:solidFill>
                  <a:schemeClr val="tx1"/>
                </a:solidFill>
              </a:rPr>
              <a:t>(in .xml format)</a:t>
            </a:r>
            <a:endParaRPr lang="el-GR" dirty="0">
              <a:solidFill>
                <a:schemeClr val="tx1"/>
              </a:solidFill>
            </a:endParaRPr>
          </a:p>
        </p:txBody>
      </p:sp>
      <p:sp>
        <p:nvSpPr>
          <p:cNvPr id="2" name="Slide Number Placeholder 1">
            <a:extLst>
              <a:ext uri="{FF2B5EF4-FFF2-40B4-BE49-F238E27FC236}">
                <a16:creationId xmlns="" xmlns:a16="http://schemas.microsoft.com/office/drawing/2014/main" id="{7034E290-41EC-7EEC-D094-203E7F71E4DD}"/>
              </a:ext>
            </a:extLst>
          </p:cNvPr>
          <p:cNvSpPr>
            <a:spLocks noGrp="1"/>
          </p:cNvSpPr>
          <p:nvPr>
            <p:ph type="sldNum" sz="quarter" idx="12"/>
          </p:nvPr>
        </p:nvSpPr>
        <p:spPr/>
        <p:txBody>
          <a:bodyPr/>
          <a:lstStyle/>
          <a:p>
            <a:fld id="{084E6F96-DBA9-4966-8C10-B0B4DAA302D2}" type="slidenum">
              <a:rPr lang="el-GR" smtClean="0"/>
              <a:pPr/>
              <a:t>65</a:t>
            </a:fld>
            <a:endParaRPr lang="el-G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Τίτλος"/>
          <p:cNvSpPr>
            <a:spLocks noGrp="1"/>
          </p:cNvSpPr>
          <p:nvPr>
            <p:ph type="title"/>
          </p:nvPr>
        </p:nvSpPr>
        <p:spPr/>
        <p:txBody>
          <a:bodyPr/>
          <a:lstStyle/>
          <a:p>
            <a:r>
              <a:rPr lang="en-US" dirty="0"/>
              <a:t>Digitization</a:t>
            </a:r>
            <a:endParaRPr lang="el-GR" dirty="0"/>
          </a:p>
        </p:txBody>
      </p:sp>
      <p:sp>
        <p:nvSpPr>
          <p:cNvPr id="12" name="11 - Στρογγυλεμένο ορθογώνιο"/>
          <p:cNvSpPr/>
          <p:nvPr/>
        </p:nvSpPr>
        <p:spPr>
          <a:xfrm>
            <a:off x="4572000" y="2996952"/>
            <a:ext cx="4104456" cy="1440160"/>
          </a:xfrm>
          <a:prstGeom prst="roundRect">
            <a:avLst/>
          </a:prstGeom>
          <a:solidFill>
            <a:schemeClr val="accent6">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i="1" u="sng" dirty="0">
                <a:solidFill>
                  <a:schemeClr val="tx1"/>
                </a:solidFill>
              </a:rPr>
              <a:t>Limitation</a:t>
            </a:r>
            <a:r>
              <a:rPr lang="en-US" b="1" u="sng" dirty="0">
                <a:solidFill>
                  <a:schemeClr val="tx1"/>
                </a:solidFill>
              </a:rPr>
              <a:t>: </a:t>
            </a:r>
          </a:p>
          <a:p>
            <a:r>
              <a:rPr lang="en-US" dirty="0">
                <a:solidFill>
                  <a:schemeClr val="tx1"/>
                </a:solidFill>
              </a:rPr>
              <a:t>unwanted characters -&gt; difficult to process.</a:t>
            </a:r>
            <a:endParaRPr lang="en-US" dirty="0"/>
          </a:p>
          <a:p>
            <a:endParaRPr lang="en-US" dirty="0"/>
          </a:p>
        </p:txBody>
      </p:sp>
      <p:sp>
        <p:nvSpPr>
          <p:cNvPr id="13" name="12 - Στρογγυλεμένο ορθογώνιο"/>
          <p:cNvSpPr/>
          <p:nvPr/>
        </p:nvSpPr>
        <p:spPr>
          <a:xfrm>
            <a:off x="4499992" y="4653136"/>
            <a:ext cx="4248472" cy="1368152"/>
          </a:xfrm>
          <a:prstGeom prst="roundRect">
            <a:avLst/>
          </a:prstGeom>
          <a:solidFill>
            <a:schemeClr val="accent3">
              <a:lumMod val="20000"/>
              <a:lumOff val="8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i="1" u="sng" dirty="0">
                <a:solidFill>
                  <a:schemeClr val="tx1"/>
                </a:solidFill>
              </a:rPr>
              <a:t>Solution</a:t>
            </a:r>
            <a:r>
              <a:rPr lang="en-US" b="1" dirty="0">
                <a:solidFill>
                  <a:schemeClr val="tx1"/>
                </a:solidFill>
              </a:rPr>
              <a:t>:</a:t>
            </a:r>
          </a:p>
          <a:p>
            <a:r>
              <a:rPr lang="en-US" dirty="0">
                <a:solidFill>
                  <a:schemeClr val="tx1"/>
                </a:solidFill>
              </a:rPr>
              <a:t>Manual review, before importing them into the database.</a:t>
            </a:r>
            <a:endParaRPr lang="el-GR" dirty="0">
              <a:solidFill>
                <a:schemeClr val="tx1"/>
              </a:solidFill>
            </a:endParaRPr>
          </a:p>
        </p:txBody>
      </p:sp>
      <p:sp>
        <p:nvSpPr>
          <p:cNvPr id="14" name="13 - Κατακόρυφος πάπυρος"/>
          <p:cNvSpPr/>
          <p:nvPr/>
        </p:nvSpPr>
        <p:spPr>
          <a:xfrm>
            <a:off x="539552" y="1484784"/>
            <a:ext cx="3456384" cy="3816424"/>
          </a:xfrm>
          <a:prstGeom prst="verticalScroll">
            <a:avLst/>
          </a:prstGeom>
          <a:solidFill>
            <a:srgbClr val="E0C9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buNone/>
            </a:pPr>
            <a:r>
              <a:rPr lang="en-US" dirty="0">
                <a:solidFill>
                  <a:schemeClr val="tx1"/>
                </a:solidFill>
              </a:rPr>
              <a:t>B) Texts from </a:t>
            </a:r>
            <a:r>
              <a:rPr lang="en-US" b="1" dirty="0">
                <a:solidFill>
                  <a:schemeClr val="tx1"/>
                </a:solidFill>
              </a:rPr>
              <a:t>online text collections</a:t>
            </a:r>
            <a:r>
              <a:rPr lang="en-US" dirty="0">
                <a:solidFill>
                  <a:schemeClr val="tx1"/>
                </a:solidFill>
              </a:rPr>
              <a:t>, such as </a:t>
            </a:r>
            <a:r>
              <a:rPr lang="en-US" i="1" dirty="0">
                <a:solidFill>
                  <a:schemeClr val="tx1"/>
                </a:solidFill>
              </a:rPr>
              <a:t>Project Gutenberg </a:t>
            </a:r>
            <a:r>
              <a:rPr lang="en-US" dirty="0">
                <a:solidFill>
                  <a:schemeClr val="tx1"/>
                </a:solidFill>
              </a:rPr>
              <a:t>or </a:t>
            </a:r>
            <a:r>
              <a:rPr lang="en-US" i="1" dirty="0">
                <a:solidFill>
                  <a:schemeClr val="tx1"/>
                </a:solidFill>
              </a:rPr>
              <a:t>Bible Gateway.</a:t>
            </a:r>
          </a:p>
          <a:p>
            <a:pPr fontAlgn="base">
              <a:buNone/>
            </a:pPr>
            <a:r>
              <a:rPr lang="en-US" i="1" dirty="0">
                <a:solidFill>
                  <a:schemeClr val="tx1"/>
                </a:solidFill>
              </a:rPr>
              <a:t> </a:t>
            </a:r>
          </a:p>
          <a:p>
            <a:pPr fontAlgn="base">
              <a:buNone/>
            </a:pPr>
            <a:r>
              <a:rPr lang="en-US" sz="1600" dirty="0">
                <a:solidFill>
                  <a:schemeClr val="tx1"/>
                </a:solidFill>
              </a:rPr>
              <a:t>(in .txt or .html format)</a:t>
            </a:r>
          </a:p>
          <a:p>
            <a:pPr marL="342900" indent="-342900" algn="ctr"/>
            <a:endParaRPr lang="el-GR" dirty="0">
              <a:solidFill>
                <a:schemeClr val="tx1"/>
              </a:solidFill>
            </a:endParaRPr>
          </a:p>
        </p:txBody>
      </p:sp>
      <p:sp>
        <p:nvSpPr>
          <p:cNvPr id="2" name="Slide Number Placeholder 1">
            <a:extLst>
              <a:ext uri="{FF2B5EF4-FFF2-40B4-BE49-F238E27FC236}">
                <a16:creationId xmlns="" xmlns:a16="http://schemas.microsoft.com/office/drawing/2014/main" id="{3EF22B92-6F2C-8464-061F-09FD90B6F16E}"/>
              </a:ext>
            </a:extLst>
          </p:cNvPr>
          <p:cNvSpPr>
            <a:spLocks noGrp="1"/>
          </p:cNvSpPr>
          <p:nvPr>
            <p:ph type="sldNum" sz="quarter" idx="12"/>
          </p:nvPr>
        </p:nvSpPr>
        <p:spPr/>
        <p:txBody>
          <a:bodyPr/>
          <a:lstStyle/>
          <a:p>
            <a:fld id="{084E6F96-DBA9-4966-8C10-B0B4DAA302D2}" type="slidenum">
              <a:rPr lang="el-GR" smtClean="0"/>
              <a:pPr/>
              <a:t>66</a:t>
            </a:fld>
            <a:endParaRPr lang="el-G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2"/>
          <p:cNvPicPr>
            <a:picLocks noChangeAspect="1" noChangeArrowheads="1"/>
          </p:cNvPicPr>
          <p:nvPr/>
        </p:nvPicPr>
        <p:blipFill>
          <a:blip r:embed="rId2" cstate="print"/>
          <a:srcRect b="26317"/>
          <a:stretch>
            <a:fillRect/>
          </a:stretch>
        </p:blipFill>
        <p:spPr bwMode="auto">
          <a:xfrm>
            <a:off x="4954198" y="0"/>
            <a:ext cx="4189802" cy="529458"/>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b="26317"/>
          <a:stretch>
            <a:fillRect/>
          </a:stretch>
        </p:blipFill>
        <p:spPr bwMode="auto">
          <a:xfrm>
            <a:off x="805269" y="0"/>
            <a:ext cx="4189802" cy="529458"/>
          </a:xfrm>
          <a:prstGeom prst="rect">
            <a:avLst/>
          </a:prstGeom>
          <a:noFill/>
          <a:ln w="9525">
            <a:noFill/>
            <a:miter lim="800000"/>
            <a:headEnd/>
            <a:tailEnd/>
          </a:ln>
          <a:effectLst/>
        </p:spPr>
      </p:pic>
      <p:pic>
        <p:nvPicPr>
          <p:cNvPr id="6" name="Picture 2"/>
          <p:cNvPicPr>
            <a:picLocks noChangeAspect="1" noChangeArrowheads="1"/>
          </p:cNvPicPr>
          <p:nvPr/>
        </p:nvPicPr>
        <p:blipFill>
          <a:blip r:embed="rId2" cstate="print"/>
          <a:srcRect l="79983" b="26317"/>
          <a:stretch>
            <a:fillRect/>
          </a:stretch>
        </p:blipFill>
        <p:spPr bwMode="auto">
          <a:xfrm>
            <a:off x="0" y="0"/>
            <a:ext cx="838678" cy="529458"/>
          </a:xfrm>
          <a:prstGeom prst="rect">
            <a:avLst/>
          </a:prstGeom>
          <a:noFill/>
          <a:ln w="9525">
            <a:noFill/>
            <a:miter lim="800000"/>
            <a:headEnd/>
            <a:tailEnd/>
          </a:ln>
          <a:effectLst/>
        </p:spPr>
      </p:pic>
      <p:pic>
        <p:nvPicPr>
          <p:cNvPr id="7" name="Picture 2"/>
          <p:cNvPicPr>
            <a:picLocks noChangeAspect="1" noChangeArrowheads="1"/>
          </p:cNvPicPr>
          <p:nvPr/>
        </p:nvPicPr>
        <p:blipFill>
          <a:blip r:embed="rId2" cstate="print"/>
          <a:srcRect b="26317"/>
          <a:stretch>
            <a:fillRect/>
          </a:stretch>
        </p:blipFill>
        <p:spPr bwMode="auto">
          <a:xfrm>
            <a:off x="4954198" y="6328542"/>
            <a:ext cx="4189802" cy="529458"/>
          </a:xfrm>
          <a:prstGeom prst="rect">
            <a:avLst/>
          </a:prstGeom>
          <a:noFill/>
          <a:ln w="9525">
            <a:noFill/>
            <a:miter lim="800000"/>
            <a:headEnd/>
            <a:tailEnd/>
          </a:ln>
          <a:effectLst/>
        </p:spPr>
      </p:pic>
      <p:pic>
        <p:nvPicPr>
          <p:cNvPr id="8" name="Picture 2"/>
          <p:cNvPicPr>
            <a:picLocks noChangeAspect="1" noChangeArrowheads="1"/>
          </p:cNvPicPr>
          <p:nvPr/>
        </p:nvPicPr>
        <p:blipFill>
          <a:blip r:embed="rId2" cstate="print"/>
          <a:srcRect b="26317"/>
          <a:stretch>
            <a:fillRect/>
          </a:stretch>
        </p:blipFill>
        <p:spPr bwMode="auto">
          <a:xfrm>
            <a:off x="805269" y="6328542"/>
            <a:ext cx="4189802" cy="529458"/>
          </a:xfrm>
          <a:prstGeom prst="rect">
            <a:avLst/>
          </a:prstGeom>
          <a:noFill/>
          <a:ln w="9525">
            <a:noFill/>
            <a:miter lim="800000"/>
            <a:headEnd/>
            <a:tailEnd/>
          </a:ln>
          <a:effectLst/>
        </p:spPr>
      </p:pic>
      <p:pic>
        <p:nvPicPr>
          <p:cNvPr id="9" name="Picture 2"/>
          <p:cNvPicPr>
            <a:picLocks noChangeAspect="1" noChangeArrowheads="1"/>
          </p:cNvPicPr>
          <p:nvPr/>
        </p:nvPicPr>
        <p:blipFill>
          <a:blip r:embed="rId2" cstate="print"/>
          <a:srcRect l="79983" b="26317"/>
          <a:stretch>
            <a:fillRect/>
          </a:stretch>
        </p:blipFill>
        <p:spPr bwMode="auto">
          <a:xfrm>
            <a:off x="0" y="6328542"/>
            <a:ext cx="838678" cy="529458"/>
          </a:xfrm>
          <a:prstGeom prst="rect">
            <a:avLst/>
          </a:prstGeom>
          <a:noFill/>
          <a:ln w="9525">
            <a:noFill/>
            <a:miter lim="800000"/>
            <a:headEnd/>
            <a:tailEnd/>
          </a:ln>
          <a:effectLst/>
        </p:spPr>
      </p:pic>
      <p:sp>
        <p:nvSpPr>
          <p:cNvPr id="10" name="9 - Τίτλος"/>
          <p:cNvSpPr>
            <a:spLocks noGrp="1"/>
          </p:cNvSpPr>
          <p:nvPr>
            <p:ph type="title"/>
          </p:nvPr>
        </p:nvSpPr>
        <p:spPr/>
        <p:txBody>
          <a:bodyPr/>
          <a:lstStyle/>
          <a:p>
            <a:r>
              <a:rPr lang="en-US" dirty="0"/>
              <a:t>Digitization</a:t>
            </a:r>
            <a:endParaRPr lang="el-GR" dirty="0"/>
          </a:p>
        </p:txBody>
      </p:sp>
      <p:sp>
        <p:nvSpPr>
          <p:cNvPr id="13" name="12 - Κατακόρυφος πάπυρος"/>
          <p:cNvSpPr/>
          <p:nvPr/>
        </p:nvSpPr>
        <p:spPr>
          <a:xfrm>
            <a:off x="0" y="1484784"/>
            <a:ext cx="3995936" cy="4320480"/>
          </a:xfrm>
          <a:prstGeom prst="verticalScroll">
            <a:avLst/>
          </a:prstGeom>
          <a:solidFill>
            <a:srgbClr val="E0C9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buNone/>
            </a:pPr>
            <a:r>
              <a:rPr lang="en-US" dirty="0">
                <a:solidFill>
                  <a:schemeClr val="tx1"/>
                </a:solidFill>
              </a:rPr>
              <a:t>C) </a:t>
            </a:r>
            <a:r>
              <a:rPr lang="en-US" b="1" dirty="0">
                <a:solidFill>
                  <a:schemeClr val="tx1"/>
                </a:solidFill>
              </a:rPr>
              <a:t>Scanned books or manuscripts</a:t>
            </a:r>
            <a:r>
              <a:rPr lang="en-US" dirty="0">
                <a:solidFill>
                  <a:schemeClr val="tx1"/>
                </a:solidFill>
              </a:rPr>
              <a:t> from digital libraries and archives (</a:t>
            </a:r>
            <a:r>
              <a:rPr lang="en-US" dirty="0" err="1">
                <a:solidFill>
                  <a:schemeClr val="tx1"/>
                </a:solidFill>
              </a:rPr>
              <a:t>e.g.the</a:t>
            </a:r>
            <a:r>
              <a:rPr lang="en-US" dirty="0">
                <a:solidFill>
                  <a:schemeClr val="tx1"/>
                </a:solidFill>
              </a:rPr>
              <a:t> </a:t>
            </a:r>
            <a:r>
              <a:rPr lang="en-US" i="1" dirty="0">
                <a:solidFill>
                  <a:schemeClr val="tx1"/>
                </a:solidFill>
              </a:rPr>
              <a:t>Internet Archive</a:t>
            </a:r>
            <a:r>
              <a:rPr lang="en-US" dirty="0">
                <a:solidFill>
                  <a:schemeClr val="tx1"/>
                </a:solidFill>
              </a:rPr>
              <a:t>)</a:t>
            </a:r>
          </a:p>
          <a:p>
            <a:pPr fontAlgn="base">
              <a:buNone/>
            </a:pPr>
            <a:r>
              <a:rPr lang="en-US" dirty="0">
                <a:solidFill>
                  <a:schemeClr val="tx1"/>
                </a:solidFill>
              </a:rPr>
              <a:t> </a:t>
            </a:r>
          </a:p>
          <a:p>
            <a:pPr fontAlgn="base">
              <a:buNone/>
            </a:pPr>
            <a:r>
              <a:rPr lang="en-US" sz="1600" dirty="0">
                <a:solidFill>
                  <a:schemeClr val="tx1"/>
                </a:solidFill>
              </a:rPr>
              <a:t>(in .</a:t>
            </a:r>
            <a:r>
              <a:rPr lang="en-US" sz="1600" dirty="0" err="1">
                <a:solidFill>
                  <a:schemeClr val="tx1"/>
                </a:solidFill>
              </a:rPr>
              <a:t>pdf</a:t>
            </a:r>
            <a:r>
              <a:rPr lang="en-US" sz="1600" dirty="0">
                <a:solidFill>
                  <a:schemeClr val="tx1"/>
                </a:solidFill>
              </a:rPr>
              <a:t> format containing images of the pages)</a:t>
            </a:r>
          </a:p>
          <a:p>
            <a:pPr fontAlgn="base">
              <a:buNone/>
            </a:pPr>
            <a:endParaRPr lang="en-US" dirty="0">
              <a:solidFill>
                <a:schemeClr val="tx1"/>
              </a:solidFill>
            </a:endParaRPr>
          </a:p>
          <a:p>
            <a:pPr fontAlgn="base">
              <a:buNone/>
            </a:pPr>
            <a:r>
              <a:rPr lang="en-US" dirty="0">
                <a:solidFill>
                  <a:schemeClr val="tx1"/>
                </a:solidFill>
              </a:rPr>
              <a:t>D) </a:t>
            </a:r>
            <a:r>
              <a:rPr lang="en-US" b="1" dirty="0">
                <a:solidFill>
                  <a:schemeClr val="tx1"/>
                </a:solidFill>
              </a:rPr>
              <a:t>Printed</a:t>
            </a:r>
            <a:r>
              <a:rPr lang="en-US" dirty="0">
                <a:solidFill>
                  <a:schemeClr val="tx1"/>
                </a:solidFill>
              </a:rPr>
              <a:t> </a:t>
            </a:r>
            <a:r>
              <a:rPr lang="en-US" b="1" dirty="0">
                <a:solidFill>
                  <a:schemeClr val="tx1"/>
                </a:solidFill>
              </a:rPr>
              <a:t>books</a:t>
            </a:r>
          </a:p>
        </p:txBody>
      </p:sp>
      <p:sp>
        <p:nvSpPr>
          <p:cNvPr id="15" name="14 - Στρογγυλεμένο ορθογώνιο"/>
          <p:cNvSpPr/>
          <p:nvPr/>
        </p:nvSpPr>
        <p:spPr>
          <a:xfrm>
            <a:off x="3923928" y="2852936"/>
            <a:ext cx="5112568" cy="3096344"/>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r>
              <a:rPr lang="en-US" b="1" dirty="0">
                <a:solidFill>
                  <a:schemeClr val="tx1"/>
                </a:solidFill>
              </a:rPr>
              <a:t>Digitization-</a:t>
            </a:r>
            <a:r>
              <a:rPr lang="en-US" dirty="0">
                <a:solidFill>
                  <a:schemeClr val="tx1"/>
                </a:solidFill>
              </a:rPr>
              <a:t>&gt;</a:t>
            </a:r>
            <a:r>
              <a:rPr lang="en-US" i="1" dirty="0">
                <a:solidFill>
                  <a:schemeClr val="tx1"/>
                </a:solidFill>
              </a:rPr>
              <a:t>Optional Character Recognition </a:t>
            </a:r>
            <a:r>
              <a:rPr lang="en-US" dirty="0">
                <a:solidFill>
                  <a:schemeClr val="tx1"/>
                </a:solidFill>
              </a:rPr>
              <a:t>(</a:t>
            </a:r>
            <a:r>
              <a:rPr lang="en-US" b="1" dirty="0">
                <a:solidFill>
                  <a:schemeClr val="tx1"/>
                </a:solidFill>
              </a:rPr>
              <a:t>OCR</a:t>
            </a:r>
            <a:r>
              <a:rPr lang="en-US" dirty="0">
                <a:solidFill>
                  <a:schemeClr val="tx1"/>
                </a:solidFill>
              </a:rPr>
              <a:t>) </a:t>
            </a:r>
          </a:p>
          <a:p>
            <a:pPr fontAlgn="base"/>
            <a:endParaRPr lang="en-US" dirty="0">
              <a:solidFill>
                <a:schemeClr val="tx1"/>
              </a:solidFill>
            </a:endParaRPr>
          </a:p>
          <a:p>
            <a:pPr marL="342900" indent="-342900" fontAlgn="base">
              <a:buAutoNum type="arabicParenR"/>
            </a:pPr>
            <a:r>
              <a:rPr lang="en-US" i="1" dirty="0">
                <a:solidFill>
                  <a:schemeClr val="tx1"/>
                </a:solidFill>
              </a:rPr>
              <a:t>ABBYY </a:t>
            </a:r>
            <a:r>
              <a:rPr lang="en-US" i="1" dirty="0" err="1">
                <a:solidFill>
                  <a:schemeClr val="tx1"/>
                </a:solidFill>
              </a:rPr>
              <a:t>FineReader</a:t>
            </a:r>
            <a:r>
              <a:rPr lang="en-US" i="1" dirty="0">
                <a:solidFill>
                  <a:schemeClr val="tx1"/>
                </a:solidFill>
              </a:rPr>
              <a:t>  </a:t>
            </a:r>
            <a:r>
              <a:rPr lang="en-US" dirty="0">
                <a:solidFill>
                  <a:schemeClr val="tx1"/>
                </a:solidFill>
              </a:rPr>
              <a:t>(Latin, English, </a:t>
            </a:r>
          </a:p>
          <a:p>
            <a:pPr marL="342900" indent="-342900" fontAlgn="base"/>
            <a:r>
              <a:rPr lang="en-US" dirty="0">
                <a:solidFill>
                  <a:schemeClr val="tx1"/>
                </a:solidFill>
              </a:rPr>
              <a:t>Old French)</a:t>
            </a:r>
          </a:p>
          <a:p>
            <a:pPr marL="342900" indent="-342900" fontAlgn="base"/>
            <a:endParaRPr lang="en-US" dirty="0">
              <a:solidFill>
                <a:schemeClr val="tx1"/>
              </a:solidFill>
            </a:endParaRPr>
          </a:p>
          <a:p>
            <a:pPr fontAlgn="base">
              <a:buNone/>
            </a:pPr>
            <a:r>
              <a:rPr lang="en-US" dirty="0">
                <a:solidFill>
                  <a:schemeClr val="tx1"/>
                </a:solidFill>
              </a:rPr>
              <a:t>2) </a:t>
            </a:r>
            <a:r>
              <a:rPr lang="en-US" i="1" dirty="0">
                <a:solidFill>
                  <a:schemeClr val="tx1"/>
                </a:solidFill>
              </a:rPr>
              <a:t>Google Lens </a:t>
            </a:r>
            <a:r>
              <a:rPr lang="en-US" dirty="0">
                <a:solidFill>
                  <a:schemeClr val="tx1"/>
                </a:solidFill>
              </a:rPr>
              <a:t>(Greek)</a:t>
            </a:r>
          </a:p>
        </p:txBody>
      </p:sp>
      <p:sp>
        <p:nvSpPr>
          <p:cNvPr id="2" name="Slide Number Placeholder 1">
            <a:extLst>
              <a:ext uri="{FF2B5EF4-FFF2-40B4-BE49-F238E27FC236}">
                <a16:creationId xmlns="" xmlns:a16="http://schemas.microsoft.com/office/drawing/2014/main" id="{9915796C-A098-8D5F-DF80-9F8D35FD7544}"/>
              </a:ext>
            </a:extLst>
          </p:cNvPr>
          <p:cNvSpPr>
            <a:spLocks noGrp="1"/>
          </p:cNvSpPr>
          <p:nvPr>
            <p:ph type="sldNum" sz="quarter" idx="12"/>
          </p:nvPr>
        </p:nvSpPr>
        <p:spPr/>
        <p:txBody>
          <a:bodyPr/>
          <a:lstStyle/>
          <a:p>
            <a:fld id="{084E6F96-DBA9-4966-8C10-B0B4DAA302D2}" type="slidenum">
              <a:rPr lang="el-GR" smtClean="0"/>
              <a:pPr/>
              <a:t>67</a:t>
            </a:fld>
            <a:endParaRPr lang="el-G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lgn="ctr">
              <a:defRPr sz="4400" b="1">
                <a:solidFill>
                  <a:srgbClr val="2A5298"/>
                </a:solidFill>
              </a:defRPr>
            </a:pPr>
            <a:r>
              <a:t>References</a:t>
            </a:r>
          </a:p>
        </p:txBody>
      </p:sp>
      <p:sp>
        <p:nvSpPr>
          <p:cNvPr id="3" name="TextBox 2"/>
          <p:cNvSpPr txBox="1"/>
          <p:nvPr/>
        </p:nvSpPr>
        <p:spPr>
          <a:xfrm>
            <a:off x="457200" y="1371600"/>
            <a:ext cx="4114800" cy="5029200"/>
          </a:xfrm>
          <a:prstGeom prst="rect">
            <a:avLst/>
          </a:prstGeom>
          <a:noFill/>
        </p:spPr>
        <p:txBody>
          <a:bodyPr wrap="square">
            <a:spAutoFit/>
          </a:bodyPr>
          <a:lstStyle/>
          <a:p>
            <a:pPr>
              <a:spcAft>
                <a:spcPts val="800"/>
              </a:spcAft>
              <a:defRPr sz="1100">
                <a:solidFill>
                  <a:srgbClr val="1E293B"/>
                </a:solidFill>
                <a:latin typeface="Arial"/>
              </a:defRPr>
            </a:pPr>
            <a:r>
              <a:t>Sitaridou, I. (2014). The Romeyka Infinitive: Continuity, Contact and Change in the Hellenic Varieties of Pontus. Diachronica, 31(1), 23-73.</a:t>
            </a:r>
          </a:p>
          <a:p>
            <a:pPr>
              <a:spcAft>
                <a:spcPts val="800"/>
              </a:spcAft>
              <a:defRPr sz="1100">
                <a:solidFill>
                  <a:srgbClr val="1E293B"/>
                </a:solidFill>
                <a:latin typeface="Arial"/>
              </a:defRPr>
            </a:pPr>
          </a:p>
          <a:p>
            <a:pPr>
              <a:spcAft>
                <a:spcPts val="800"/>
              </a:spcAft>
              <a:defRPr sz="1100">
                <a:solidFill>
                  <a:srgbClr val="1E293B"/>
                </a:solidFill>
                <a:latin typeface="Arial"/>
              </a:defRPr>
            </a:pPr>
            <a:r>
              <a:t>Sitaridou, I. (2012). A comparative study of word order in Old Romance. Folia Linguistica, 46(2), 553-604.</a:t>
            </a:r>
          </a:p>
          <a:p>
            <a:pPr>
              <a:spcAft>
                <a:spcPts val="800"/>
              </a:spcAft>
              <a:defRPr sz="1100">
                <a:solidFill>
                  <a:srgbClr val="1E293B"/>
                </a:solidFill>
                <a:latin typeface="Arial"/>
              </a:defRPr>
            </a:pPr>
          </a:p>
          <a:p>
            <a:pPr>
              <a:spcAft>
                <a:spcPts val="800"/>
              </a:spcAft>
              <a:defRPr sz="1100">
                <a:solidFill>
                  <a:srgbClr val="1E293B"/>
                </a:solidFill>
                <a:latin typeface="Arial"/>
              </a:defRPr>
            </a:pPr>
            <a:r>
              <a:t>Nikiforidou, K. (1991). The meanings of the genitive: A case study in semantic structure and semantic change. Cognitive Linguistics, 2(2), 149-206.</a:t>
            </a:r>
          </a:p>
          <a:p>
            <a:pPr>
              <a:spcAft>
                <a:spcPts val="800"/>
              </a:spcAft>
              <a:defRPr sz="1100">
                <a:solidFill>
                  <a:srgbClr val="1E293B"/>
                </a:solidFill>
                <a:latin typeface="Arial"/>
              </a:defRPr>
            </a:pPr>
          </a:p>
          <a:p>
            <a:pPr>
              <a:spcAft>
                <a:spcPts val="800"/>
              </a:spcAft>
              <a:defRPr sz="1100">
                <a:solidFill>
                  <a:srgbClr val="1E293B"/>
                </a:solidFill>
                <a:latin typeface="Arial"/>
              </a:defRPr>
            </a:pPr>
            <a:r>
              <a:t>Nikiforidou, K., Marmaridou, S., &amp; Mikros, G. K. (2014). What's in a dialogic construction? A constructional approach to polysemy and the grammar of challenge. Cognitive Linguistics, 25(4), 655-699.</a:t>
            </a:r>
          </a:p>
        </p:txBody>
      </p:sp>
      <p:sp>
        <p:nvSpPr>
          <p:cNvPr id="4" name="TextBox 3"/>
          <p:cNvSpPr txBox="1"/>
          <p:nvPr/>
        </p:nvSpPr>
        <p:spPr>
          <a:xfrm>
            <a:off x="4800600" y="1371600"/>
            <a:ext cx="4114800" cy="5029200"/>
          </a:xfrm>
          <a:prstGeom prst="rect">
            <a:avLst/>
          </a:prstGeom>
          <a:noFill/>
        </p:spPr>
        <p:txBody>
          <a:bodyPr wrap="square">
            <a:spAutoFit/>
          </a:bodyPr>
          <a:lstStyle/>
          <a:p>
            <a:pPr>
              <a:spcAft>
                <a:spcPts val="800"/>
              </a:spcAft>
              <a:defRPr sz="1100">
                <a:solidFill>
                  <a:srgbClr val="1E293B"/>
                </a:solidFill>
                <a:latin typeface="Arial"/>
              </a:defRPr>
            </a:pPr>
            <a:r>
              <a:t>Lavidas, N., &amp; Haug, D. T. T. (2020). Postclassical Greek and Treebanks for a Diachronic Analysis. In D. Rafiyenko &amp; I. A. Seržant (Eds.), Postclassical Greek: Contemporary Approaches to Philology and Linguistics (pp. 163-202). De Gruyter Mouton.</a:t>
            </a:r>
          </a:p>
          <a:p>
            <a:pPr>
              <a:spcAft>
                <a:spcPts val="800"/>
              </a:spcAft>
              <a:defRPr sz="1100">
                <a:solidFill>
                  <a:srgbClr val="1E293B"/>
                </a:solidFill>
                <a:latin typeface="Arial"/>
              </a:defRPr>
            </a:pPr>
          </a:p>
          <a:p>
            <a:pPr>
              <a:spcAft>
                <a:spcPts val="800"/>
              </a:spcAft>
              <a:defRPr sz="1100">
                <a:solidFill>
                  <a:srgbClr val="1E293B"/>
                </a:solidFill>
                <a:latin typeface="Arial"/>
              </a:defRPr>
            </a:pPr>
            <a:r>
              <a:t>Mikros, G. K. (2005). Basic quantitative characteristics of the Modern Greek language using the Hellenic National Corpus. Journal of Quantitative Linguistics, 12(2-3), 167-184.</a:t>
            </a:r>
          </a:p>
          <a:p>
            <a:pPr>
              <a:spcAft>
                <a:spcPts val="800"/>
              </a:spcAft>
              <a:defRPr sz="1100">
                <a:solidFill>
                  <a:srgbClr val="1E293B"/>
                </a:solidFill>
                <a:latin typeface="Arial"/>
              </a:defRPr>
            </a:pPr>
          </a:p>
          <a:p>
            <a:pPr>
              <a:spcAft>
                <a:spcPts val="800"/>
              </a:spcAft>
              <a:defRPr sz="1100">
                <a:solidFill>
                  <a:srgbClr val="1E293B"/>
                </a:solidFill>
                <a:latin typeface="Arial"/>
              </a:defRPr>
            </a:pPr>
            <a:r>
              <a:t>Trips, C., &amp; Stein, A. (2019). Contact-induced changes in the argument structure of Middle English verbs on the model of Old French. Journal of Language Contact, 12(1), 232-267.</a:t>
            </a:r>
          </a:p>
          <a:p>
            <a:pPr>
              <a:spcAft>
                <a:spcPts val="800"/>
              </a:spcAft>
              <a:defRPr sz="1100">
                <a:solidFill>
                  <a:srgbClr val="1E293B"/>
                </a:solidFill>
                <a:latin typeface="Arial"/>
              </a:defRPr>
            </a:pPr>
          </a:p>
          <a:p>
            <a:pPr>
              <a:spcAft>
                <a:spcPts val="800"/>
              </a:spcAft>
              <a:defRPr sz="1100">
                <a:solidFill>
                  <a:srgbClr val="1E293B"/>
                </a:solidFill>
                <a:latin typeface="Arial"/>
              </a:defRPr>
            </a:pPr>
            <a:r>
              <a:t>Percillier, M., Schauwecker, Y., Stein, A., &amp; Trips, C. (2024). Carrying Verbs Across the Channel: Modelling Change in Bilingual Medieval England. Palgrave Macmillan.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