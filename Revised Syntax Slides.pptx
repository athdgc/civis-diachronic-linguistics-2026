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Inter"/>
      <p:regular r:id="rId10"/>
      <p:bold r:id="rId11"/>
      <p:italic r:id="rId12"/>
      <p:boldItalic r:id="rId13"/>
    </p:embeddedFont>
    <p:embeddedFont>
      <p:font typeface="Space Grotesk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bold.fntdata"/><Relationship Id="rId10" Type="http://schemas.openxmlformats.org/officeDocument/2006/relationships/font" Target="fonts/Inter-regular.fntdata"/><Relationship Id="rId13" Type="http://schemas.openxmlformats.org/officeDocument/2006/relationships/font" Target="fonts/Inter-boldItalic.fntdata"/><Relationship Id="rId12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paceGrotesk-bold.fntdata"/><Relationship Id="rId14" Type="http://schemas.openxmlformats.org/officeDocument/2006/relationships/font" Target="fonts/SpaceGrotes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11" Type="http://schemas.openxmlformats.org/officeDocument/2006/relationships/image" Target="../media/image13.png"/><Relationship Id="rId10" Type="http://schemas.openxmlformats.org/officeDocument/2006/relationships/image" Target="../media/image5.png"/><Relationship Id="rId9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8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9375" y="1719262"/>
            <a:ext cx="5191125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690092"/>
            <a:ext cx="5191125" cy="389899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5874841"/>
            <a:ext cx="5191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Without structure, language is an optical illusion.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38900" y="1728787"/>
            <a:ext cx="5172075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971550" y="2223492"/>
            <a:ext cx="43910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POP QUIZ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71550" y="2646312"/>
            <a:ext cx="4391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"The lady hit the man with an umbrella."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971550" y="3267223"/>
            <a:ext cx="43910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971550" y="3562498"/>
            <a:ext cx="43910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Who was holding the umbrella?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028700" y="4223444"/>
            <a:ext cx="42767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Option A: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lady used it as a weapon.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028700" y="4701480"/>
            <a:ext cx="42767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Option B: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man was carrying it.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762000" y="537567"/>
            <a:ext cx="11401425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Wait... what did you really see?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571500" y="537567"/>
            <a:ext cx="76200" cy="6762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19262"/>
            <a:ext cx="5191125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75" y="3579316"/>
            <a:ext cx="5191125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9375" y="4427041"/>
            <a:ext cx="5191125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29375" y="5274766"/>
            <a:ext cx="5191125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77025" y="3731716"/>
            <a:ext cx="5715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77025" y="4579441"/>
            <a:ext cx="5715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77025" y="5427166"/>
            <a:ext cx="5715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1025" y="1728787"/>
            <a:ext cx="5172075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6429375" y="2288083"/>
            <a:ext cx="51911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correct syntax tree always splits the sentence into two main branches first. Think of it as the sentence's backbone.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439025" y="3736478"/>
            <a:ext cx="18368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Sentence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root of the entire thought.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439025" y="4584203"/>
            <a:ext cx="282356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Noun Phrase (Subject)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"Who" or "What". (e.g., "The small boy")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7439025" y="5431928"/>
            <a:ext cx="208552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 Phrase (Predicate)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"Action". (e.g., "helped you")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762000" y="566737"/>
            <a:ext cx="11401425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Blueprint: S → NP VP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571500" y="566737"/>
            <a:ext cx="76200" cy="6762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9375" y="1719262"/>
            <a:ext cx="5191125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88953"/>
            <a:ext cx="5191125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2569071"/>
            <a:ext cx="545068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334155"/>
                </a:solidFill>
                <a:latin typeface="Space Grotesk"/>
                <a:ea typeface="Space Grotesk"/>
                <a:cs typeface="Space Grotesk"/>
                <a:sym typeface="Space Grotesk"/>
              </a:rPr>
              <a:t>Your phone is drawing trees.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71500" y="3245346"/>
            <a:ext cx="51911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Every time you speak to Siri, Alexa, or use Google Translate, an AI is instantly building these trees to understand you.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38900" y="1728787"/>
            <a:ext cx="5172075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00100" y="4679453"/>
            <a:ext cx="47720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Key Insight:</a:t>
            </a:r>
            <a:r>
              <a:rPr b="0" i="0" lang="en-US" sz="15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 Machines don't "read" words linearly like us; they parse structure to calculate meaning.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62000" y="566737"/>
            <a:ext cx="11401425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this matters right now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566737"/>
            <a:ext cx="76200" cy="6762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/>
          <p:nvPr/>
        </p:nvSpPr>
        <p:spPr>
          <a:xfrm>
            <a:off x="571500" y="36080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71500" y="43928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8324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1666875" y="2777579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https://images.aeonmedia.co/images/94d113b4-dd5f-492a-91f3-19ea91936db3/sized-psm_v54_d328_optical_illusion_of_a_duck_or_a_rabbit_head.jpg?width=3840&amp;quality=75&amp;format=auto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666875" y="322138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aeon.co</a:t>
            </a:r>
            <a:endParaRPr/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6698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1666875" y="376044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https://miro.medium.com/1*GUKsSnLC76IQ4iCxZgbcmw.png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666875" y="400615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5087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1666875" y="454521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https://static.vecteezy.com/system/resources/previews/017/603/631/non_2x/brain-abstract-digital-human-brain-in-a-distorted-glitch-style-neural-network-iq-testing-artificial-intelligence-virtual-emulation-technology-concept-brainstorm-think-idea-illustration-vector.jpg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666875" y="498901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62000" y="571500"/>
            <a:ext cx="11401425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71500" y="571500"/>
            <a:ext cx="76200" cy="67627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